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Greet the room, then say what today buys them: what a trend is, how to judge its quality, and how to get in and out of one.</a:t>
            </a:r>
          </a:p>
          <a:p>
            <a:r>
              <a:rPr sz="1400"/>
              <a:t>- Say every idea today has a picture beside it. Where the book drew one it is the book's; the rest are 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These are the book's seven learning objectives, trimmed to six lines. The fifth line joins its fifth and sixth.</a:t>
            </a:r>
          </a:p>
          <a:p>
            <a:r>
              <a:rPr sz="1400"/>
              <a:t>- Do not read all of them aloud. Say the first and the last, and that every one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parts are the book's own sections. The marker at the bottom left of every slide says which one we are in.</a:t>
            </a:r>
          </a:p>
          <a:p>
            <a:r>
              <a:rPr sz="1400"/>
              <a:t>- Say the checks carry no marks. Each question slide is followed by its answers on a slide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Link back to Chapter 2: the same three trends. Today's question is what a trend is, and how to tell a healthy one.</a:t>
            </a:r>
          </a:p>
          <a:p>
            <a:r>
              <a:rPr sz="1400"/>
              <a:t>- Point at the chart: the long rise is the primary trend, the fall inside it a secondary reaction, the small swings minor trends.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recall, not a new term: Chapter 2 defined the uptrend the same way. This is review question 1, what is a trend.</a:t>
            </a:r>
          </a:p>
          <a:p>
            <a:r>
              <a:rPr sz="1400"/>
              <a:t>- HH is a higher high and HL a higher low. Where the sequence stops, the figure says the uptrend has technically ended.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labels left to right: H, L, then LH and LL three times over.</a:t>
            </a:r>
          </a:p>
          <a:p>
            <a:r>
              <a:rPr sz="1400"/>
              <a:t>- The definition asks for both, lower highs and lower lows, one after another.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2: the disadvantages of defining market and price action. The book adds that erratic or chaotic price action can make peaks and troughs extremely hard to identify.</a:t>
            </a:r>
          </a:p>
          <a:p>
            <a:r>
              <a:rPr sz="1400"/>
              <a:t>- Ask the room: do we deny that scenarios 3 and 4 were trends? The book leaves it as a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Left to right in the figure: above a trendline, above a chosen level, no reversal of the minimum amount. The converse holds for downtrends.</a:t>
            </a:r>
          </a:p>
          <a:p>
            <a:r>
              <a:rPr sz="1400"/>
              <a:t>- Other overlays the book names: the lower Bollinger, linear regression and moving average band, and the lower boundary of a chart pattern.</a:t>
            </a:r>
          </a:p>
          <a:p>
            <a:r>
              <a:rPr sz="1400"/>
              <a:t>- The chosen level is often a historically significant support, whose violation implies a very high probability of the trend reversing.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Teach this slide before anything is named. Left drawing: one wave. Middle: the same wave, in green, with smaller waves riding along it. Right: smaller ones again riding along those.</a:t>
            </a:r>
          </a:p>
          <a:p>
            <a:r>
              <a:rPr sz="1400"/>
              <a:t>- Each added wave is a subwave of the one it rides on, and one degree lower. Two drawings are two degrees, three are three.</a:t>
            </a:r>
          </a:p>
          <a:p>
            <a:r>
              <a:rPr sz="1400"/>
              <a:t>- A degree is not an angle and not a fixed size: it only says which of two waves is the bigger. The reading rests on the book's figures and its words larger, smaller and subwave; Chapters 3 and 4 used the words and explained neither.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wave cycles laid over one another: the thick line is the HWC, the dotted line the MWC, the thin line the LWC.</a:t>
            </a:r>
          </a:p>
          <a:p>
            <a:r>
              <a:rPr sz="1400"/>
              <a:t>- Higher, medium and lower are relative to each other. The book fixes no size or duration for any of them.</a:t>
            </a:r>
          </a:p>
          <a:p>
            <a:r>
              <a:rPr sz="1400"/>
              <a:t>- It gives the minimum of two degrees as a note, with no reason. Do not supply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plainly that this price is made up, and how. Nothing on the next slides is a measurement of a market; it is a price we built so that the three cycles can be seen.</a:t>
            </a:r>
          </a:p>
          <a:p>
            <a:r>
              <a:rPr sz="1400"/>
              <a:t>- Read the chart like a sum in arithmetic, top to bottom: big, plus medium, plus small, equals the price. All four rows are to one scale, so the small wave really is that small.</a:t>
            </a:r>
          </a:p>
          <a:p>
            <a:r>
              <a:rPr sz="1400"/>
              <a:t>- The gold arrows are one swing of each wave: how long it takes and how tall it is. The dashed uprights show three medium swings inside the big one and four small swings inside each medium one. Any clearly different sizes would have done.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question a student asks of the book's figure is what the three lines are. The thin one is price. The other two are drawn over price to show its bigger swings.</a:t>
            </a:r>
          </a:p>
          <a:p>
            <a:r>
              <a:rPr sz="1400"/>
              <a:t>- Why draw them at all: the book calls it critical that a trader be able to visualize price cycles on the chart. Its figures are freehand sketches, with no bars and no price axis.</a:t>
            </a:r>
          </a:p>
          <a:p>
            <a:r>
              <a:rPr sz="1400"/>
              <a:t>- Be plain that the book stops there. It names no indicator and gives no length, so do not say the lines are moving averages of any period. Moving averages are Chapter 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three rulers from the top. Every fourth small low is also a medium low, and the first and last lows are lows of all three: that is the nesting.</a:t>
            </a:r>
          </a:p>
          <a:p>
            <a:r>
              <a:rPr sz="1400"/>
              <a:t>- Each degree also has its own average size of swing. The book's words are the average wave amplitude and volatility associated with that particular wave degree, and they come up with breakouts in a moment.</a:t>
            </a:r>
          </a:p>
          <a:p>
            <a:r>
              <a:rPr sz="1400"/>
              <a:t>- Chapter 9 comes back to wave degrees and says the relationship between them is relative. Chapter 18 gives Elliott's named degrees. Neither is needed 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calls it critical that a trader be able to visualize price cycles on the chart. Its five inabilities sit on two lines here.</a:t>
            </a:r>
          </a:p>
          <a:p>
            <a:r>
              <a:rPr sz="1400"/>
              <a:t>- The figure labels one rise three ways. Point at the three sets of labels and do not teach the count: that is Chapter 18.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answers to one question on one chart: flat, ranging, trending. Ranging and flatline are the figure's labels; the text says only trend and consolidation, and says mode where Chapter 4 said phase.</a:t>
            </a:r>
          </a:p>
          <a:p>
            <a:r>
              <a:rPr sz="1400"/>
              <a:t>- Chapter 4's consolidation phase was the sideways stretch, one of only two basic phases. Nothing there is withdrawn; this chapter adds that the phase depends on the wave being read.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same idea as the book's sketch, on bars. Point at the gold arrow first: along it every small swing ends higher than the last, an uptrend to anyone trading the bars.</a:t>
            </a:r>
          </a:p>
          <a:p>
            <a:r>
              <a:rPr sz="1400"/>
              <a:t>- Then the dotted line: up to 66, down to 54, three times over. To the trader of that wave nothing has happened.</a:t>
            </a:r>
          </a:p>
          <a:p>
            <a:r>
              <a:rPr sz="1400"/>
              <a:t>- Then the thick line. Three traders, one chart, three true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recall, not a new term, and it is here because the word is about to be used more widely. Chapter 2's line and Chapter 4's consolidation both ended in a breakout from a range.</a:t>
            </a:r>
          </a:p>
          <a:p>
            <a:r>
              <a:rPr sz="1400"/>
              <a:t>- The chart is Chapter 4's own example again: a share ranging between PHP 40 and PHP 44. The gold line is the top of the range, and the breakout is where price gets through it.</a:t>
            </a:r>
          </a:p>
          <a:p>
            <a:r>
              <a:rPr sz="1400"/>
              <a:t>- Ask the room what the breakout was a breakout of. The answer to hold on to is a level: the top of the range.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slide that reconciles the two uses. A breakout is price getting through a level that was holding it. The top of a range is such a level, and so is a prior peak, a trendline or a channel line.</a:t>
            </a:r>
          </a:p>
          <a:p>
            <a:r>
              <a:rPr sz="1400"/>
              <a:t>- It is not new to this chapter either. Chapter 1's price filter asked price to move a set distance past the level, and Chapter 3's breakout level was 10.00.</a:t>
            </a:r>
          </a:p>
          <a:p>
            <a:r>
              <a:rPr sz="1400"/>
              <a:t>- Be straight that the definition is ours, from use. The book says breakout, penetration, violation and breach of a level and never sets one against another; in Chapter 2 it wrote inflection point breakouts for what it had called penetration.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Count the levels in the figure: several small ones, two medium, one large. Each is a horizontal line across a peak, and each is a breakout to somebody.</a:t>
            </a:r>
          </a:p>
          <a:p>
            <a:r>
              <a:rPr sz="1400"/>
              <a:t>- Each wave cycle has peaks of its own, so each has levels of its own. That is read off the figure; the three lines are the book's sentences.</a:t>
            </a:r>
          </a:p>
          <a:p>
            <a:r>
              <a:rPr sz="1400"/>
              <a:t>- Stopsizing comes back in section 5.5. For now: a stop sized for one degree is the wrong size for another.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traders watch one price. Each is waiting for a different gold line, and each calls a different bar the breakout.</a:t>
            </a:r>
          </a:p>
          <a:p>
            <a:r>
              <a:rPr sz="1400"/>
              <a:t>- Read each gold line from its left end, the prior peak, to its right end, the bar that closes above it. The numbers are the order in which the three breakouts happen.</a:t>
            </a:r>
          </a:p>
          <a:p>
            <a:r>
              <a:rPr sz="1400"/>
              <a:t>- Nothing taught in Chapters 2 and 4 is withdrawn. A breakout from a range is a breakout through a level: the edge of the range.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arrow at the top of the figure marks the one moment all three degrees turn at once.</a:t>
            </a:r>
          </a:p>
          <a:p>
            <a:r>
              <a:rPr sz="1400"/>
              <a:t>- It runs one way only: the small waves reverse many times on the way up without the large one turning.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two sentences, one after the other on the same bars: all subwaves of the largest wave reverse together, and waves of higher degrees need not reverse when waves of lower degrees do.</a:t>
            </a:r>
          </a:p>
          <a:p>
            <a:r>
              <a:rPr sz="1400"/>
              <a:t>- Left mark: the dotted line and the bars turn down and the thick line keeps rising. Middle mark: only the bars turn. Gold mark: all three.</a:t>
            </a:r>
          </a:p>
          <a:p>
            <a:r>
              <a:rPr sz="1400"/>
              <a:t>- Chapter 3 used convergence for futures and spot prices at expiry. Same word, a different thing, and the caption says so.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Reversal and retracement have been in use since Chapter 2, and correction has appeared in passing. This slide is where correction and pullback get their meaning: the small case.</a:t>
            </a:r>
          </a:p>
          <a:p>
            <a:r>
              <a:rPr sz="1400"/>
              <a:t>- The book uses all four words through the rest of the chapter. This is the one place it says how they differ.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Top row of the figure: the highs rise and the lows fall together, an uptrend by one measure and a downtrend by the other.</a:t>
            </a:r>
          </a:p>
          <a:p>
            <a:r>
              <a:rPr sz="1400"/>
              <a:t>- Typical price is named and not defined in this chapter. Do not supply a formula.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not teach from this slide. It is the map of this part: say that each number gets a slide and a picture of its own.</a:t>
            </a:r>
          </a:p>
          <a:p>
            <a:r>
              <a:rPr sz="1400"/>
              <a:t>- Price is regarded as the most important indicator of potential future price action. That is why the list is about price.</a:t>
            </a:r>
          </a:p>
          <a:p>
            <a:r>
              <a:rPr sz="1400"/>
              <a:t>- Review question 4 asks for 12 ways price action may be understood. The section lists 16. Teach the 16.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In the figure the long arrows are up cycle amplitudes and the short ones down cycle amplitudes. Both shrink, swing after swing.</a:t>
            </a:r>
          </a:p>
          <a:p>
            <a:r>
              <a:rPr sz="1400"/>
              <a:t>- The book never defines cycle amplitude in words. The plain line is how Figure 5.11 measures it, and the pesos are ours.</a:t>
            </a:r>
          </a:p>
          <a:p>
            <a:r>
              <a:rPr sz="1400"/>
              <a:t>- The pattern for all sixteen: a variation in something, and what that variation says about the trend.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figure's three labels are bearish, neutral or bullish, and bullish or volatile. The text calls the even one bullish in an uptrend.</a:t>
            </a:r>
          </a:p>
          <a:p>
            <a:r>
              <a:rPr sz="1400"/>
              <a:t>- For expanding formations in a downtrend the book says only that the converse applies.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reading as amplitude, with the swings measured sideways: each one takes less time than the one before.</a:t>
            </a:r>
          </a:p>
          <a:p>
            <a:r>
              <a:rPr sz="1400"/>
              <a:t>- The book defines neither word. The two figures do it by where they put their arrows.</a:t>
            </a:r>
          </a:p>
          <a:p>
            <a:r>
              <a:rPr sz="1400"/>
              <a:t>- Chapter 4 named the cycle period once, as the business of Chapter 20. This is the first time it is read.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Consistent symmetry indicates strong trend action: that is the figure's own label.</a:t>
            </a:r>
          </a:p>
          <a:p>
            <a:r>
              <a:rPr sz="1400"/>
              <a:t>- The same figure comes back with channels: here price also fails to reach the lower channel line before it breaks out.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Same shape of rule as the first two: something shrinking in an uptrend is weakness, in a downtrend it is bullish.</a:t>
            </a:r>
          </a:p>
          <a:p>
            <a:r>
              <a:rPr sz="1400"/>
              <a:t>- The ATR in the figure's lower panel gets the next slide to itself: what a true range is, from Chapter 3, and why the book prefers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recall first: Chapter 3 gave the true range beside the Type 4 gap, which is also measured from the last close. Chapter 3's own numbers are on the chart.</a:t>
            </a:r>
          </a:p>
          <a:p>
            <a:r>
              <a:rPr sz="1400"/>
              <a:t>- Then the one thing Chapter 5 adds: the book tracks the bar range with the ATR, because the ATR also sees the gaps between bars.</a:t>
            </a:r>
          </a:p>
          <a:p>
            <a:r>
              <a:rPr sz="1400"/>
              <a:t>- How the true range is averaged into the ATR is Chapter 8. Do not supply a formula or a number of bars.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panels: price, volume, ATR. Price and volume rise together while the ATR falls the whole way up.</a:t>
            </a:r>
          </a:p>
          <a:p>
            <a:r>
              <a:rPr sz="1400"/>
              <a:t>- One characteristic disagreed with everything else on the chart, and it was the one that was right.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recall, not a new term: persistence was Chapter 1's first applied assumption. Here the book says which kind of price persists.</a:t>
            </a:r>
          </a:p>
          <a:p>
            <a:r>
              <a:rPr sz="1400"/>
              <a:t>- Two tests for high quality price, both about the bars: small ranges, and ranges about equal to each other.</a:t>
            </a:r>
          </a:p>
          <a:p>
            <a:r>
              <a:rPr sz="1400"/>
              <a:t>- Left box against right box: the same market, a week apart, easy to track and then hard to track.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Figure 5.17 shows the result, long clean moves against short choppy ones, at a size where no bar can be seen. This chart shows the cause the book names: the bar ranges.</a:t>
            </a:r>
          </a:p>
          <a:p>
            <a:r>
              <a:rPr sz="1400"/>
              <a:t>- Point at the left stretch first: the bars are all about one height. Then the right: no two alike.</a:t>
            </a:r>
          </a:p>
          <a:p>
            <a:r>
              <a:rPr sz="1400"/>
              <a:t>- Do not turn it into a rule the book does not give. It says only that prices tend to persist for longer when these two qualities are present.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text gives the words and the book's next figure prints the formula. The pesos are ours.</a:t>
            </a:r>
          </a:p>
          <a:p>
            <a:r>
              <a:rPr sz="1400"/>
              <a:t>- Read the three bars left to right. The bar is the same height each time; only the right tick, the close, moves down it, and the ratio falls from 0.80 to 0.20.</a:t>
            </a:r>
          </a:p>
          <a:p>
            <a:r>
              <a:rPr sz="1400"/>
              <a:t>- The standard stochastic oscillator compares the close with the last N periods. This one looks inside a single bar. %K is named, not taught.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Price keeps rising while the closes sink within their bars. That is the characteristic: the ratio falling in an uptrend.</a:t>
            </a:r>
          </a:p>
          <a:p>
            <a:r>
              <a:rPr sz="1400"/>
              <a:t>- The lower panel is the ratio itself, bar by bar, sliding down.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figure's labels and stop. Chapter 4 showed one divergence and did not define it. What divergence is, formally, waits for Chapter 9.</a:t>
            </a:r>
          </a:p>
          <a:p>
            <a:r>
              <a:rPr sz="1400"/>
              <a:t>- A simple moving average is used here and not built. Moving averages are Chapter 11.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figure labels six divergences on a real chart, in a panel too fine to read. This is one of the bearish ones, drawn from bars we invented.</a:t>
            </a:r>
          </a:p>
          <a:p>
            <a:r>
              <a:rPr sz="1400"/>
              <a:t>- Two arrows: the one on price rises, the one on the averaged ratio falls. They diverge, and that is all the word means on this slide.</a:t>
            </a:r>
          </a:p>
          <a:p>
            <a:r>
              <a:rPr sz="1400"/>
              <a:t>- Do not go further than Chapter 4 did. Standard, reverse, bullish and bearish divergence are Chapter 9.</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formula is printed on Figure 5.20 and the pesos are ours. The real body was Chapter 3: the boxed space between the open and the close.</a:t>
            </a:r>
          </a:p>
          <a:p>
            <a:r>
              <a:rPr sz="1400"/>
              <a:t>- Bar stochastic asks where the bar closed. This one asks how much of the bar the open-to-close move covered.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Trendline 1 was followed by a steady rise, so the book expects the same after trendline 2, following a minor correction at point 3.</a:t>
            </a:r>
          </a:p>
          <a:p>
            <a:r>
              <a:rPr sz="1400"/>
              <a:t>- It says 3M went on to rise above $140, which the chart does not show. The caption says hourly; the chart itself is daily.</a:t>
            </a:r>
          </a:p>
          <a:p>
            <a:r>
              <a:rPr sz="1400"/>
              <a:t>- Chapter 1's Figure 1.25 showed angular symmetries on a chart and did not say how to read them. This is where the book does.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Speeding up is with the trend, slowing down is against it. Four cases, one rule.</a:t>
            </a:r>
          </a:p>
          <a:p>
            <a:r>
              <a:rPr sz="1400"/>
              <a:t>- After a blow-off or buying climax prices subsequently collapse, the book says. Both climaxes came up in Chapter 4.</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Characteristic 4 and characteristic 8 on one chart. Two warnings agreeing is worth more than either alone.</a:t>
            </a:r>
          </a:p>
          <a:p>
            <a:r>
              <a:rPr sz="1400"/>
              <a:t>- The book's caption calls it diminishing angular momentum.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five parallel strokes on the left are the same angle: angular symmetry again, stated as dollars per day.</a:t>
            </a:r>
          </a:p>
          <a:p>
            <a:r>
              <a:rPr sz="1400"/>
              <a:t>- Two slips in the book on this one figure: the two old rates, and the caption printed under 5.24, which is Figure 5.25's. Say them once, plainly, and teach the idea: a change of rate is a change of regime.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barrier here is a support level set by an earlier low. A strong downtrend meets it and turns.</a:t>
            </a:r>
          </a:p>
          <a:p>
            <a:r>
              <a:rPr sz="1400"/>
              <a:t>- Say overbought and oversold as the figure does. The oscillator itself is Chapter 8.</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With some profit taken off the table, traders react less emotionally at higher prices. That is the book's reason.</a:t>
            </a:r>
          </a:p>
          <a:p>
            <a:r>
              <a:rPr sz="1400"/>
              <a:t>- The grey boxes in the figure say it in full: pent-up profit and emotions create more fear of losing capital and profit.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of the sixteen on one stock: few oscillations, characteristic 10, and a falling ATR, characteristic 4.</a:t>
            </a:r>
          </a:p>
          <a:p>
            <a:r>
              <a:rPr sz="1400"/>
              <a:t>- The second rise toward the historical high has a similar rate and as little profit taking as the first.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longer a consolidation takes to unfold, the greater its disruptive power with respect to the trend, should a reversal occur.</a:t>
            </a:r>
          </a:p>
          <a:p>
            <a:r>
              <a:rPr sz="1400"/>
              <a:t>- The two boxes on the chart hold the same kind of sideways movement. Only their size differs.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names the three gaps breakaway, runaway and exhaustion. Section 5.8 defines them.</a:t>
            </a:r>
          </a:p>
          <a:p>
            <a:r>
              <a:rPr sz="1400"/>
              <a:t>- Chapter 4 met the same three as Sakata's San Ku, three gaps.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period can be any chosen duration of observation. The book's example is a day.</a:t>
            </a:r>
          </a:p>
          <a:p>
            <a:r>
              <a:rPr sz="1400"/>
              <a:t>- When looking for the reversal, pay special attention to supportive and resistive confluences.</a:t>
            </a:r>
          </a:p>
          <a:p>
            <a:r>
              <a:rPr sz="1400"/>
              <a:t>- The book advises a simple backtest to find the most reliable lookback period for either method.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Top row of the figure is overextension, bottom row is the false breakout. The lines are the same; the side differs.</a:t>
            </a:r>
          </a:p>
          <a:p>
            <a:r>
              <a:rPr sz="1400"/>
              <a:t>- The book's caption for this figure is simply price exhaustion.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says very large and very small, very large and very low, each time. The slide drops the word very to fit.</a:t>
            </a:r>
          </a:p>
          <a:p>
            <a:r>
              <a:rPr sz="1400"/>
              <a:t>- Only the squat bar is called a significantly stronger indication of reversal: a large commitment of capital and no further extension in price.</a:t>
            </a:r>
          </a:p>
          <a:p>
            <a:r>
              <a:rPr sz="1400"/>
              <a:t>- The two low volume cases are trend inhibiting, though not necessarily a reversal.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slide recalls the picture rather than drawing a new one: the book gives divergence one sentence here and sends the reader to Chapter 9 for the rest.</a:t>
            </a:r>
          </a:p>
          <a:p>
            <a:r>
              <a:rPr sz="1400"/>
              <a:t>- Two of this chapter's figures have already labelled divergences, and Chapter 4 showed one on the MACD. That is as far as the book has taken it.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1 taught the price, time and algorithmic filters as terms. This section sorts them by what each one pins down: the price, the time, or neither.</a:t>
            </a:r>
          </a:p>
          <a:p>
            <a:r>
              <a:rPr sz="1400"/>
              <a:t>- Without a filter a profitable performance is unrepeatable, the book says, because it cannot be backtested.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is the same list beside a trendline penetration: how far through the line must price go before it counts?</a:t>
            </a:r>
          </a:p>
          <a:p>
            <a:r>
              <a:rPr sz="1400"/>
              <a:t>- Chapter 1's prose called the third family algorithmic and its Figure 1.21 called it event-based. This chapter's list settles it one way and its review question the other.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8: a price-based filter names the price, so the risk on the trade is known before it is taken.</a:t>
            </a:r>
          </a:p>
          <a:p>
            <a:r>
              <a:rPr sz="1400"/>
              <a:t>- The closing violation is still the trigger. The price filter is only there to limit risk should the violation be overextended.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words open a position and two close one. Liquidate belongs to a long, cover belongs to a short.</a:t>
            </a:r>
          </a:p>
          <a:p>
            <a:r>
              <a:rPr sz="1400"/>
              <a:t>- Work the box in the figure aloud: 70 less 50, then 70 less 40. The short made more because it sold high and bought back lower.</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lists these four as what the principle of buying low and selling high involves.</a:t>
            </a:r>
          </a:p>
          <a:p>
            <a:r>
              <a:rPr sz="1400"/>
              <a:t>- Follow the numbers on the chart: trades 1 and 2 ride the rise, trades 3 and 4 ride the fall.</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recall, not a new term: Chapter 1 taught limit and stop entry orders. New today: the exits, and what each order can guarantee.</a:t>
            </a:r>
          </a:p>
          <a:p>
            <a:r>
              <a:rPr sz="1400"/>
              <a:t>- The book's sentence reads 'cannot guarantee that an order will be executed, or filled at the specified price, but it can guarantee execution'. Its later sentences settle it: execution yes, price no.</a:t>
            </a:r>
          </a:p>
          <a:p>
            <a:r>
              <a:rPr sz="1400"/>
              <a:t>- Stop orders may wait as pending, or working, orders. For entry: a buystop or a sellstop. To exit a position that moves adversely: a stoploss.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stop becomes a market order, and the market had no price between 48 and 46.50 to give.</a:t>
            </a:r>
          </a:p>
          <a:p>
            <a:r>
              <a:rPr sz="1400"/>
              <a:t>- Slippage can be positive too. The next slide is the order that only ever gets the positive kind.</a:t>
            </a:r>
          </a:p>
          <a:p>
            <a:r>
              <a:rPr sz="1400"/>
              <a:t>- Chapters 1 and 3 used the word slippage without saying what it is. This is its definition.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Also a recall from Chapter 1, and the mirror of the stop order: the price is guaranteed and the execution is not.</a:t>
            </a:r>
          </a:p>
          <a:p>
            <a:r>
              <a:rPr sz="1400"/>
              <a:t>- A share trades at PHP 50 and a buy limit waits at PHP 47. If it cannot be filled at 47 or better, nothing happens.</a:t>
            </a:r>
          </a:p>
          <a:p>
            <a:r>
              <a:rPr sz="1400"/>
              <a:t>- Limit orders can only be placed as pending, or working, orders, never instantaneously. Only positive slippage is possible with them.</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question to ask before anything else: am I flat, or already in the position? This slide answers it for flat.</a:t>
            </a:r>
          </a:p>
          <a:p>
            <a:r>
              <a:rPr sz="1400"/>
              <a:t>- A buy stop turns into a market order once triggered: the price it fills at after that is not guaranteed.</a:t>
            </a:r>
          </a:p>
          <a:p>
            <a:r>
              <a:rPr sz="1400"/>
              <a:t>- A buy limit never fills worse than its price. It may not fill at all.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Profit is taken with a limit and a loss is cut with a stop, on either side of the market, the same pairing as entries.</a:t>
            </a:r>
          </a:p>
          <a:p>
            <a:r>
              <a:rPr sz="1400"/>
              <a:t>- The limit exit is the profit-take order. Under gapping price action it can sometimes exit with greater profit.</a:t>
            </a:r>
          </a:p>
          <a:p>
            <a:r>
              <a:rPr sz="1400"/>
              <a:t>- Negative slippage can occur on the stoploss if price gaps through it; Chapter 5's own slippage term, a few slides back.</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picture recalls Chart W rather than drawing a new one: an MIT is the same waiting-order shape, just named for its use as a profit exit or an any-price entry.</a:t>
            </a:r>
          </a:p>
          <a:p>
            <a:r>
              <a:rPr sz="1400"/>
              <a:t>- MIT sits in Figure 5.32 as a profit exit, or an entry at any price. The book describes it as shorting above the market using a stop order.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summary of the section. Read the top row, then the bottom row as its mirror.</a:t>
            </a:r>
          </a:p>
          <a:p>
            <a:r>
              <a:rPr sz="1400"/>
              <a:t>- Entries above the market: a buystop if prices are expected to rise higher, a sell limit if they are expected to reverse there.</a:t>
            </a:r>
          </a:p>
          <a:p>
            <a:r>
              <a:rPr sz="1400"/>
              <a:t>- Entries below: a sellstop if prices are expected to continue to decline, a buy limit if they are expected to reverse.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chart shows the first three. A random entry and a pattern entry have nothing to mark on one line.</a:t>
            </a:r>
          </a:p>
          <a:p>
            <a:r>
              <a:rPr sz="1400"/>
              <a:t>- Pattern or sequence-based entries follow a particular sequence of bars, or a completed pattern. The book's examples are DeMark Sequential and Japanese candlestick entries.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recall: all three were Chapter 2 terms in this course, under Dow Theory. The book's own sentence here says Chapter 4.</a:t>
            </a:r>
          </a:p>
          <a:p>
            <a:r>
              <a:rPr sz="1400"/>
              <a:t>- In each drawing the signal is marked where price breaks the level between the two peaks, or the two troughs.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other name for an inflection point is a swing point. Peaks give resistance levels and troughs give support levels.</a:t>
            </a:r>
          </a:p>
          <a:p>
            <a:r>
              <a:rPr sz="1400"/>
              <a:t>- Fewer flanking bars: the level is considered less significant and less reliable.</a:t>
            </a:r>
          </a:p>
          <a:p>
            <a:r>
              <a:rPr sz="1400"/>
              <a:t>- Chapters 2 and 3 used the words inflection point in passing. Its strength, and the definition, are new today.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Top row of the figure: horizontal levels. Bottom row: the same thing on sloping trendlines.</a:t>
            </a:r>
          </a:p>
          <a:p>
            <a:r>
              <a:rPr sz="1400"/>
              <a:t>- Follow one drawing through: price is stopped by the line, breaks it, comes back, and is held from the other side.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gives this figure no sentence of its own. Its two labels are the two lines on the slide.</a:t>
            </a:r>
          </a:p>
          <a:p>
            <a:r>
              <a:rPr sz="1400"/>
              <a:t>- Count the levels on the way down, then on the way up. Every one was used twice.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Horizontal levels and the channel's sloping lines are both barriers, and both change roles.</a:t>
            </a:r>
          </a:p>
          <a:p>
            <a:r>
              <a:rPr sz="1400"/>
              <a:t>- The book reads the lower panel as confirming oversold at each support; it cannot be verified at this size, so the slide does not assert it.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gives two of its reasons. Both are about where the entry sits: near the trendline, so the stop is small.</a:t>
            </a:r>
          </a:p>
          <a:p>
            <a:r>
              <a:rPr sz="1400"/>
              <a:t>- In the figure every entry is at the trendline. That is a barrier entry from the first slide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For the oscillator filter: crossing above its signal line signifies potential longer-term bullishness, crossing below potential bearishness.</a:t>
            </a:r>
          </a:p>
          <a:p>
            <a:r>
              <a:rPr sz="1400"/>
              <a:t>- For containment: price staying above the moving average or trendline signifies an uptrend still intact. That was section 5.1.</a:t>
            </a:r>
          </a:p>
          <a:p>
            <a:r>
              <a:rPr sz="1400"/>
              <a:t>- Three popular filters, which the book says is by no means exhaustive. Moving averages are Chapter 11: the chart draws two and explains neither.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Trailing: the stop advances to the next higher trough in an uptrend, and to the next lower peak in a downtrend.</a:t>
            </a:r>
          </a:p>
          <a:p>
            <a:r>
              <a:rPr sz="1400"/>
              <a:t>- Read the figure top down: where the trades were, what triggered them, what filtered them.</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brackets in the figure are the stopsizes: wide and changing on the left, narrow and steady on the right.</a:t>
            </a:r>
          </a:p>
          <a:p>
            <a:r>
              <a:rPr sz="1400"/>
              <a:t>- For a barrier entry the significant peak or trough is usually the point of entry itself. That is why its stop is always close.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chart is one line of arithmetic: tradesize is the risk per trade divided by the stopsize.</a:t>
            </a:r>
          </a:p>
          <a:p>
            <a:r>
              <a:rPr sz="1400"/>
              <a:t>- A narrow stop is hit more often, and with a fixed risk it is hit at full size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7. The advantage: losses are limited whether the stops that get hit are the narrow ones or the wide ones.</a:t>
            </a:r>
          </a:p>
          <a:p>
            <a:r>
              <a:rPr sz="1400"/>
              <a:t>- The author says he first introduced it in The Wiley Trading Guide Volume II. Tradesizing gets Chapter 28.</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chapter objective on calculating the optimum tradesize for breakout trades. The pesos are ours; the five steps are the book's.</a:t>
            </a:r>
          </a:p>
          <a:p>
            <a:r>
              <a:rPr sz="1400"/>
              <a:t>- Why proportional: for stops at or below the threshold the percentage risk varies proportionally with the stopsize, and is always capped at the maximum.</a:t>
            </a:r>
          </a:p>
          <a:p>
            <a:r>
              <a:rPr sz="1400"/>
              <a:t>- Step 4 is a percentage of current capital. The book says 300 to 500 trades if possible.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rule is that lines must not cut through any price action at any point along the line. Its other word for tentative is provisionary.</a:t>
            </a:r>
          </a:p>
          <a:p>
            <a:r>
              <a:rPr sz="1400"/>
              <a:t>- Tentative and valid apply only to conventional trendlines, and not to fan lines, which come at the end of this part.</a:t>
            </a:r>
          </a:p>
          <a:p>
            <a:r>
              <a:rPr sz="1400"/>
              <a:t>- Chapter 1 drew trendlines on its figures and never said how one is made. This is where the book does.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All three lines start at the same trough. The term is set by how much price sits above the line, not by the calendar.</a:t>
            </a:r>
          </a:p>
          <a:p>
            <a:r>
              <a:rPr sz="1400"/>
              <a:t>- The Point and Figure lines are the one exception to two inflection points that the book names. Chapter 15 is Point and Figure.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words: support and resistance are regarded as behavioral consequences of human psychology, biases and emotions.</a:t>
            </a:r>
          </a:p>
          <a:p>
            <a:r>
              <a:rPr sz="1400"/>
              <a:t>- This is the same role reversal as section 5.5, explained: one line, support from above and resistance from below.</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figure runs the whole life of a line: drawn, confirmed at the circle, invalidated, redrawn.</a:t>
            </a:r>
          </a:p>
          <a:p>
            <a:r>
              <a:rPr sz="1400"/>
              <a:t>- Invalidated does not mean ineffective. Price often comes back to an old line, as it does to a neckline.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answer depends on the type and extent of filtering. The book: we yet again observe the problems with defining price action.</a:t>
            </a:r>
          </a:p>
          <a:p>
            <a:r>
              <a:rPr sz="1400"/>
              <a:t>- A price-based filter lets the trader decide exactly how much price excursion represents a valid penetration.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and the next slide are review question 6: the factors that impact trendline reliability. Six of them, two here.</a:t>
            </a:r>
          </a:p>
          <a:p>
            <a:r>
              <a:rPr sz="1400"/>
              <a:t>- The steep trend may not be able to sustain itself over the longer term. Chapter 4 said the book uses whipsaw without defining it; this slide gives it a working definition, ours, since the book never does.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first three share one mechanism: the more visible the line, the more orders gather around it, as on the behavior slide.</a:t>
            </a:r>
          </a:p>
          <a:p>
            <a:r>
              <a:rPr sz="1400"/>
              <a:t>- The fourth is section 5.2 again: a line under a weakening trend is unreliable over the longer term.</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same idea as Chapter 4's minimum measuring objective, measured from a trendline and not from a range.</a:t>
            </a:r>
          </a:p>
          <a:p>
            <a:r>
              <a:rPr sz="1400"/>
              <a:t>- The pesos are ours. The figure shows the method on EURUSD: one arrow up, the same arrow down.</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 picture: this is the book's own list of four strengths and three weaknesses, on five lines.</a:t>
            </a:r>
          </a:p>
          <a:p>
            <a:r>
              <a:rPr sz="1400"/>
              <a:t>- The scaling weakness is Chapter 3: a straight line on a linear scale is not straight on a ratio scale.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left line is a downtrend line of a lower wave degree, drawn inside an uptrend of a higher one. Breaking it continues the larger trend.</a:t>
            </a:r>
          </a:p>
          <a:p>
            <a:r>
              <a:rPr sz="1400"/>
              <a:t>- Wave degrees, from section 5.1, are what make one breach a continuation and another a reversal.</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channel is a trendline and one parallel to it, on the other side of price. Earlier chapters showed channels and never built one.</a:t>
            </a:r>
          </a:p>
          <a:p>
            <a:r>
              <a:rPr sz="1400"/>
              <a:t>- In the figure the rising channel transitions into a falling one. Trough 6 violating the uptrend line may be an early indication of a potential trend change.</a:t>
            </a:r>
          </a:p>
          <a:p>
            <a:r>
              <a:rPr sz="1400"/>
              <a:t>- For alternative approaches to constructing a channel the book refers to Chapter 13.</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wave degrees of section 5.1, drawn as channels: a small channel inside a medium one inside a large one.</a:t>
            </a:r>
          </a:p>
          <a:p>
            <a:r>
              <a:rPr sz="1400"/>
              <a:t>- Fractal-like is the book's phrase. The same shape repeats at every size.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kinds of barrier on one chart: the sloping channel lines and the horizontal retracement levels.</a:t>
            </a:r>
          </a:p>
          <a:p>
            <a:r>
              <a:rPr sz="1400"/>
              <a:t>- Say the slip once: the printed caption belongs to the figure before it.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figure makes this point on a real chart at a size where neither the levels nor a single reaction can be made out. This is the same point, drawn so it can be.</a:t>
            </a:r>
          </a:p>
          <a:p>
            <a:r>
              <a:rPr sz="1400"/>
              <a:t>- Work one level aloud: 38.2 percent of PHP 20 is PHP 7.64, and 40 plus 7.64 is 47.64.</a:t>
            </a:r>
          </a:p>
          <a:p>
            <a:r>
              <a:rPr sz="1400"/>
              <a:t>- Say plainly that the chart was drawn to turn at the levels. It shows what reacting at a level looks like, not that price must.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Channel projection 1 runs from point 3 and was met at point 5. Projection 2 was met at point 6.</a:t>
            </a:r>
          </a:p>
          <a:p>
            <a:r>
              <a:rPr sz="1400"/>
              <a:t>- This is review question 5: a channel pinpoints where a move may stop before price gets there.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other half of review question 5: a failed test of one boundary points at a breakout through the other.</a:t>
            </a:r>
          </a:p>
          <a:p>
            <a:r>
              <a:rPr sz="1400"/>
              <a:t>- The chart is ours. The book makes the point on the figure it used for bar retracement symmetry.</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the extreme first, the highest peak, then walk back to the last minor trough before it. The line joins that to the lowest trough.</a:t>
            </a:r>
          </a:p>
          <a:p>
            <a:r>
              <a:rPr sz="1400"/>
              <a:t>- The author writes that there is no way he can do justice to the approach here, and advises reading Sperandeo's book. The pesos are ours.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conventional trendline starts from the oldest troughs. DeMark's starts from the newest, which is why it is more responsive.</a:t>
            </a:r>
          </a:p>
          <a:p>
            <a:r>
              <a:rPr sz="1400"/>
              <a:t>- Do not teach the pivot selection process. The book sends the reader to DeMark for it.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figure draws three lines on a real chart and marks one Correct. Which troughs each line joins cannot be seen on it, so this is the same picture with the troughs numbered.</a:t>
            </a:r>
          </a:p>
          <a:p>
            <a:r>
              <a:rPr sz="1400"/>
              <a:t>- The line through 3 and 4 is the steepest of the three here, and the closest to the latest price. The book's word for the approach is more responsive.</a:t>
            </a:r>
          </a:p>
          <a:p>
            <a:r>
              <a:rPr sz="1400"/>
              <a:t>- Do not teach the pivot selection process. The book sends the reader to DeMark for it.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All three lines share one starting point: a trough for the decelerating set, a peak for the accelerating one.</a:t>
            </a:r>
          </a:p>
          <a:p>
            <a:r>
              <a:rPr sz="1400"/>
              <a:t>- Tentative and valid do not apply to fan lines. A fan line uses two inflection points but only one is at a peak or trough.</a:t>
            </a:r>
          </a:p>
          <a:p>
            <a:r>
              <a:rPr sz="1400"/>
              <a:t>- The troughs and peaks are too small to read here, so the next slide redraws the idea on an invented chart.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Accelerating fan lines run from a significant higher peak to gradually rising lower peaks. The book says to draw only three of either.</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fan line whose second point is not a peak or trough: it sits along a predetermined vertical axis.</a:t>
            </a:r>
          </a:p>
          <a:p>
            <a:r>
              <a:rPr sz="1400"/>
              <a:t>- Fibonacci ratios are Chapter 10. Today the three percentages are given, not derived. The pesos are ours.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One construction, two sets of ratios: Fibonacci's three percentages, or Gould's two thirds.</a:t>
            </a:r>
          </a:p>
          <a:p>
            <a:r>
              <a:rPr sz="1400"/>
              <a:t>- One-third and two-thirds are also the retracements Dow watched, which is the next section.</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Three points make it: the significant peak, the retracement trough, the retracement peak. The middle line is called the median.</a:t>
            </a:r>
          </a:p>
          <a:p>
            <a:r>
              <a:rPr sz="1400"/>
              <a:t>- It is a channel with a centre line, drawn from three points and not two.</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retracement percentage is a share of the move being retraced, as in Chapter 2. Read the table across, not down: each row is one zone and three ways of naming it.</a:t>
            </a:r>
          </a:p>
          <a:p>
            <a:r>
              <a:rPr sz="1400"/>
              <a:t>- The Gann column is in eighths: 12.5 percent is one-eighth. Nothing here is derived; that waits for the later chapters.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rise on the chart is PHP 20, so a 50 percent retracement gives back PHP 10 and stands at PHP 50.</a:t>
            </a:r>
          </a:p>
          <a:p>
            <a:r>
              <a:rPr sz="1400"/>
              <a:t>- Three people measuring three ways still watch the same three zones. That is what convergence buys.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3 defined a gap and named these four for later, and Chapter 4 met three of them as San Ku. This is where the book says what each one is.</a:t>
            </a:r>
          </a:p>
          <a:p>
            <a:r>
              <a:rPr sz="1400"/>
              <a:t>- Runaway, measuring, midway and continuation are four names for one gap. On the Wheat chart: common gaps inside the consolidation, then the three trend gaps.</a:t>
            </a:r>
          </a:p>
          <a:p>
            <a:r>
              <a:rPr sz="1400"/>
              <a:t>- Prices top after the third gap, the exhaustion gap: characteristic 12 from section 5.2.</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Chapter 4's phases, located by gaps: common gaps in the accumulation, the exhaustion gap opening the distribution.</a:t>
            </a:r>
          </a:p>
          <a:p>
            <a:r>
              <a:rPr sz="1400"/>
              <a:t>- Two signs agree at the top: a third gap, and a significant resistance level. Barrier proximity again.</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gap is a price range nobody traded in. Its edges are levels, and levels act as barriers.</a:t>
            </a:r>
          </a:p>
          <a:p>
            <a:r>
              <a:rPr sz="1400"/>
              <a:t>- The figure also marks angular symmetry in GLD and a cycle-tuned stochastic; neither is legible here and neither is this chapter's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 gap is a range of prices nobody traded in. The band is that range, carried to the right.</a:t>
            </a:r>
          </a:p>
          <a:p>
            <a:r>
              <a:rPr sz="1400"/>
              <a:t>- Left stretch first: the return from above stops at the band. Then the right stretch, its mirror.</a:t>
            </a:r>
          </a:p>
          <a:p>
            <a:r>
              <a:rPr sz="1400"/>
              <a:t>- This is role by side, the same as any barrier: support from above, resistance from below.</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Micro means very short-term and macro means longer-term. The trader only ever trades one way at any one time.</a:t>
            </a:r>
          </a:p>
          <a:p>
            <a:r>
              <a:rPr sz="1400"/>
              <a:t>- The figure's lower half is the bidirectional trader: one buy level above, one sell level below, whichever breaks.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For a detailed look the book refers the reader to The Ultimate Trading Guide, by Hill, Pruitt and Hill.</a:t>
            </a:r>
          </a:p>
          <a:p>
            <a:r>
              <a:rPr sz="1400"/>
              <a:t>- Typical price is named and not defined in this chapter. The forward shift is there to give an early prognostication of market sentiment.</a:t>
            </a:r>
          </a:p>
          <a:p>
            <a:r>
              <a:rPr sz="1400"/>
              <a:t>- The inter-bar trendlines connect the highs and the lows.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book's figure draws the same thing on EURUSD, where the line sits on the bars and cannot be picked out.</a:t>
            </a:r>
          </a:p>
          <a:p>
            <a:r>
              <a:rPr sz="1400"/>
              <a:t>- Three readings, all on the chart: above the line, below the line, and the turn.</a:t>
            </a:r>
          </a:p>
          <a:p>
            <a:r>
              <a:rPr sz="1400"/>
              <a:t>- Our line averages closing prices because typical price is not defined in this chapter. Do not supply a formula for it.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book calls this section a summary. These four are the ones this chapter and the last have already taught.</a:t>
            </a:r>
          </a:p>
          <a:p>
            <a:r>
              <a:rPr sz="1400"/>
              <a:t>- Diminishing volume indicates potential weakness in the trend. Extreme volume is indicative of market tops and bottoms.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 picture: each of these needs a tool the book has not taught yet. Oscillators are Chapter 8, divergence Chapter 9, candlesticks Chapter 14.</a:t>
            </a:r>
          </a:p>
          <a:p>
            <a:r>
              <a:rPr sz="1400"/>
              <a:t>- With the last slide these are the book's seven headings, a to g. Together they answer review question 3.</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all five slowly. This is the summary to copy down.</a:t>
            </a:r>
          </a:p>
          <a:p>
            <a:r>
              <a:rPr sz="1400"/>
              <a:t>- The book's summary is three sentences long. Its one piece of advice is the gold line.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Lines one and six each carry two of the book's eight questions.</a:t>
            </a:r>
          </a:p>
          <a:p>
            <a:r>
              <a:rPr sz="1400"/>
              <a:t>- Say where each answer sits: 5.1, 5.11, 5.2, 5.6, 5.6, then 5.5 and 5.3.</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straight with them: this chapter leans on oscillators and candlesticks the book has not taught yet.</a:t>
            </a:r>
          </a:p>
          <a:p>
            <a:r>
              <a:rPr sz="1400"/>
              <a:t>- Next is Chapter 6, Volume and Open Interest.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5</a:t>
            </a:r>
          </a:p>
          <a:p>
            <a:pPr algn="l">
              <a:lnSpc>
                <a:spcPct val="105000"/>
              </a:lnSpc>
              <a:spcBef>
                <a:spcPts val="1000"/>
              </a:spcBef>
              <a:spcAft>
                <a:spcPts val="0"/>
              </a:spcAft>
            </a:pPr>
            <a:r>
              <a:rPr sz="4400" b="0" i="0">
                <a:solidFill>
                  <a:srgbClr val="FFFFFF"/>
                </a:solidFill>
                <a:latin typeface="Palatino"/>
              </a:rPr>
              <a:t>Trend Analysis</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the significance of a market trend and its underlying characteristics.</a:t>
            </a:r>
          </a:p>
          <a:p>
            <a:pPr algn="l">
              <a:lnSpc>
                <a:spcPct val="118000"/>
              </a:lnSpc>
              <a:spcBef>
                <a:spcPts val="0"/>
              </a:spcBef>
              <a:spcAft>
                <a:spcPts val="1300"/>
              </a:spcAft>
            </a:pPr>
            <a:r>
              <a:rPr sz="2100" b="0" i="0">
                <a:solidFill>
                  <a:srgbClr val="1A1A1A"/>
                </a:solidFill>
                <a:latin typeface="Arial"/>
              </a:rPr>
              <a:t>Recognize the limitations of defining trend and market action.</a:t>
            </a:r>
          </a:p>
          <a:p>
            <a:pPr algn="l">
              <a:lnSpc>
                <a:spcPct val="118000"/>
              </a:lnSpc>
              <a:spcBef>
                <a:spcPts val="0"/>
              </a:spcBef>
              <a:spcAft>
                <a:spcPts val="1300"/>
              </a:spcAft>
            </a:pPr>
            <a:r>
              <a:rPr sz="2100" b="0" i="0">
                <a:solidFill>
                  <a:srgbClr val="1A1A1A"/>
                </a:solidFill>
                <a:latin typeface="Arial"/>
              </a:rPr>
              <a:t>Identify early indications of a potential market reversal.</a:t>
            </a:r>
          </a:p>
          <a:p>
            <a:pPr algn="l">
              <a:lnSpc>
                <a:spcPct val="118000"/>
              </a:lnSpc>
              <a:spcBef>
                <a:spcPts val="0"/>
              </a:spcBef>
              <a:spcAft>
                <a:spcPts val="1300"/>
              </a:spcAft>
            </a:pPr>
            <a:r>
              <a:rPr sz="2100" b="0" i="0">
                <a:solidFill>
                  <a:srgbClr val="1A1A1A"/>
                </a:solidFill>
                <a:latin typeface="Arial"/>
              </a:rPr>
              <a:t>Read the markets in terms of wave cycles of various degrees.</a:t>
            </a:r>
          </a:p>
          <a:p>
            <a:pPr algn="l">
              <a:lnSpc>
                <a:spcPct val="118000"/>
              </a:lnSpc>
              <a:spcBef>
                <a:spcPts val="0"/>
              </a:spcBef>
              <a:spcAft>
                <a:spcPts val="1300"/>
              </a:spcAft>
            </a:pPr>
            <a:r>
              <a:rPr sz="2100" b="0" i="0">
                <a:solidFill>
                  <a:srgbClr val="1A1A1A"/>
                </a:solidFill>
                <a:latin typeface="Arial"/>
              </a:rPr>
              <a:t>Set up effective price filtering, and calculate the optimum tradesize for breakout trades.</a:t>
            </a:r>
          </a:p>
          <a:p>
            <a:pPr algn="l">
              <a:lnSpc>
                <a:spcPct val="118000"/>
              </a:lnSpc>
              <a:spcBef>
                <a:spcPts val="0"/>
              </a:spcBef>
              <a:spcAft>
                <a:spcPts val="1300"/>
              </a:spcAft>
            </a:pPr>
            <a:r>
              <a:rPr sz="2100" b="0" i="0">
                <a:solidFill>
                  <a:srgbClr val="1A1A1A"/>
                </a:solidFill>
                <a:latin typeface="Arial"/>
              </a:rPr>
              <a:t>Use channels, trendlines, fan lines and Drummond geometry to track the market.</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p.125: its seven learning objectives, on six 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this chapter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5.1  What a trend is, and where any definition runs out.</a:t>
            </a:r>
          </a:p>
          <a:p>
            <a:pPr algn="l">
              <a:lnSpc>
                <a:spcPct val="118000"/>
              </a:lnSpc>
              <a:spcBef>
                <a:spcPts val="0"/>
              </a:spcBef>
              <a:spcAft>
                <a:spcPts val="1300"/>
              </a:spcAft>
            </a:pPr>
            <a:r>
              <a:rPr sz="2100" b="0" i="0">
                <a:solidFill>
                  <a:srgbClr val="1A1A1A"/>
                </a:solidFill>
                <a:latin typeface="Arial"/>
              </a:rPr>
              <a:t>5.2  Sixteen price characteristics that show the quality of a trend.</a:t>
            </a:r>
          </a:p>
          <a:p>
            <a:pPr algn="l">
              <a:lnSpc>
                <a:spcPct val="118000"/>
              </a:lnSpc>
              <a:spcBef>
                <a:spcPts val="0"/>
              </a:spcBef>
              <a:spcAft>
                <a:spcPts val="1300"/>
              </a:spcAft>
            </a:pPr>
            <a:r>
              <a:rPr sz="2100" b="0" i="0">
                <a:solidFill>
                  <a:srgbClr val="1A1A1A"/>
                </a:solidFill>
                <a:latin typeface="Arial"/>
              </a:rPr>
              <a:t>5.3 to 5.5  Filters, orders, entries, stops and tradesize.</a:t>
            </a:r>
          </a:p>
          <a:p>
            <a:pPr algn="l">
              <a:lnSpc>
                <a:spcPct val="118000"/>
              </a:lnSpc>
              <a:spcBef>
                <a:spcPts val="0"/>
              </a:spcBef>
              <a:spcAft>
                <a:spcPts val="1300"/>
              </a:spcAft>
            </a:pPr>
            <a:r>
              <a:rPr sz="2100" b="0" i="0">
                <a:solidFill>
                  <a:srgbClr val="1A1A1A"/>
                </a:solidFill>
                <a:latin typeface="Arial"/>
              </a:rPr>
              <a:t>5.6  Trendlines, channels and fan lines.</a:t>
            </a:r>
          </a:p>
          <a:p>
            <a:pPr algn="l">
              <a:lnSpc>
                <a:spcPct val="118000"/>
              </a:lnSpc>
              <a:spcBef>
                <a:spcPts val="0"/>
              </a:spcBef>
              <a:spcAft>
                <a:spcPts val="1300"/>
              </a:spcAft>
            </a:pPr>
            <a:r>
              <a:rPr sz="2100" b="0" i="0">
                <a:solidFill>
                  <a:srgbClr val="1A1A1A"/>
                </a:solidFill>
                <a:latin typeface="Arial"/>
              </a:rPr>
              <a:t>5.7 to 5.11  Retracements, gaps, directionality, Drummond, reversal signs.</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Eleven sections, the book's own. Two of them are long: 5.2 and 5.6.</a:t>
            </a:r>
          </a:p>
        </p:txBody>
      </p:sp>
      <p:sp>
        <p:nvSpPr>
          <p:cNvPr id="10" name="TextBox 9"/>
          <p:cNvSpPr txBox="1"/>
          <p:nvPr/>
        </p:nvSpPr>
        <p:spPr>
          <a:xfrm>
            <a:off x="777240" y="547014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Bottom right of every teaching slide: the book page it comes from, and whose the numbers are. Lettered charts are ours, invented, drawn where the book gives only words or a sketch. Peso amounts are our examples.</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The sections are the book's own, pp.125 to 170.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5.1  Dow sorts trends by how long they last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Primary, or major, trends are longer term: months to years.</a:t>
            </a:r>
          </a:p>
          <a:p>
            <a:pPr algn="l">
              <a:lnSpc>
                <a:spcPct val="105000"/>
              </a:lnSpc>
              <a:spcBef>
                <a:spcPts val="0"/>
              </a:spcBef>
              <a:spcAft>
                <a:spcPts val="1100"/>
              </a:spcAft>
            </a:pPr>
            <a:r>
              <a:rPr sz="1700" b="0" i="0">
                <a:solidFill>
                  <a:srgbClr val="1A1A1A"/>
                </a:solidFill>
                <a:latin typeface="Arial"/>
              </a:rPr>
              <a:t>Secondary trends, or reactions, are medium term: weeks to months.</a:t>
            </a:r>
          </a:p>
          <a:p>
            <a:pPr algn="l">
              <a:lnSpc>
                <a:spcPct val="105000"/>
              </a:lnSpc>
              <a:spcBef>
                <a:spcPts val="0"/>
              </a:spcBef>
              <a:spcAft>
                <a:spcPts val="1100"/>
              </a:spcAft>
            </a:pPr>
            <a:r>
              <a:rPr sz="1700" b="0" i="0">
                <a:solidFill>
                  <a:srgbClr val="1A1A1A"/>
                </a:solidFill>
                <a:latin typeface="Arial"/>
              </a:rPr>
              <a:t>Minor trends are shorter term: days to weeks.</a:t>
            </a:r>
          </a:p>
        </p:txBody>
      </p:sp>
      <p:sp>
        <p:nvSpPr>
          <p:cNvPr id="8" name="Rectangle 7"/>
          <p:cNvSpPr/>
          <p:nvPr/>
        </p:nvSpPr>
        <p:spPr>
          <a:xfrm>
            <a:off x="777240" y="4021074"/>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057650"/>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Dow sorts the three by duration and extent: how long a trend lasts, and how far it runs.</a:t>
            </a:r>
          </a:p>
        </p:txBody>
      </p:sp>
      <p:sp>
        <p:nvSpPr>
          <p:cNvPr id="10" name="TextBox 9"/>
          <p:cNvSpPr txBox="1"/>
          <p:nvPr/>
        </p:nvSpPr>
        <p:spPr>
          <a:xfrm>
            <a:off x="777240" y="519150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2 taught all three, with one extent: a secondary reaction retraces a third to two thirds. Here the book lists durations only.</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p.125: 'classified and defined by their duration and extent'. The chart is ours, on invented prices: this chapter has no figure of the three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uptrend: higher highs and higher lows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2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An uptrend is a series of successively higher highs, the peaks, and higher lows, the troughs.</a:t>
            </a:r>
          </a:p>
          <a:p>
            <a:pPr algn="l">
              <a:lnSpc>
                <a:spcPct val="105000"/>
              </a:lnSpc>
              <a:spcBef>
                <a:spcPts val="0"/>
              </a:spcBef>
              <a:spcAft>
                <a:spcPts val="1100"/>
              </a:spcAft>
            </a:pPr>
            <a:r>
              <a:rPr sz="1700" b="0" i="0">
                <a:solidFill>
                  <a:srgbClr val="1A1A1A"/>
                </a:solidFill>
                <a:latin typeface="Arial"/>
              </a:rPr>
              <a:t>HH: a rally carries above the last peak. HL: a dip holds above the last trough.</a:t>
            </a:r>
          </a:p>
          <a:p>
            <a:pPr algn="l">
              <a:lnSpc>
                <a:spcPct val="105000"/>
              </a:lnSpc>
              <a:spcBef>
                <a:spcPts val="0"/>
              </a:spcBef>
              <a:spcAft>
                <a:spcPts val="1100"/>
              </a:spcAft>
            </a:pPr>
            <a:r>
              <a:rPr sz="1700" b="0" i="0">
                <a:solidFill>
                  <a:srgbClr val="1A1A1A"/>
                </a:solidFill>
                <a:latin typeface="Arial"/>
              </a:rPr>
              <a:t>Right of the figure: the highs and lows stop rising. By the definition, the uptrend has technically ended.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same definition as Chapter 2: Dow's peak and trough analysis.</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 share peaks at PHP 50, dips to 46, peaks at 54, dips to 49: higher highs and higher lows.</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a:t>
            </a:r>
          </a:p>
          <a:p>
            <a:pPr algn="l">
              <a:lnSpc>
                <a:spcPct val="120000"/>
              </a:lnSpc>
              <a:spcBef>
                <a:spcPts val="0"/>
              </a:spcBef>
              <a:spcAft>
                <a:spcPts val="1400"/>
              </a:spcAft>
            </a:pPr>
            <a:r>
              <a:rPr sz="1800" b="0" i="0">
                <a:solidFill>
                  <a:srgbClr val="1A1A1A"/>
                </a:solidFill>
                <a:latin typeface="Palatino"/>
              </a:rPr>
              <a:t>A rising bar chart with every peak marked HH and every trough HL, labelled an uptrend as a sequence of higher highs and higher lows, and a flat stretch at the end where the uptrend has technically ended.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5.1 -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p.126 and Figure 5.1. The pesos in the small print are our example.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downtrend: lower highs and lower lows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3 of 21</a:t>
            </a:r>
          </a:p>
        </p:txBody>
      </p:sp>
      <p:sp>
        <p:nvSpPr>
          <p:cNvPr id="7" name="TextBox 6"/>
          <p:cNvSpPr txBox="1"/>
          <p:nvPr/>
        </p:nvSpPr>
        <p:spPr>
          <a:xfrm>
            <a:off x="777240" y="1965960"/>
            <a:ext cx="62179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A downtrend is represented by a series of successively lower highs and lows. The figure starts from a first peak, H, and a first trough, L.</a:t>
            </a:r>
          </a:p>
          <a:p>
            <a:pPr algn="l">
              <a:lnSpc>
                <a:spcPct val="105000"/>
              </a:lnSpc>
              <a:spcBef>
                <a:spcPts val="0"/>
              </a:spcBef>
              <a:spcAft>
                <a:spcPts val="1100"/>
              </a:spcAft>
            </a:pPr>
            <a:r>
              <a:rPr sz="1900" b="0" i="0">
                <a:solidFill>
                  <a:srgbClr val="1A1A1A"/>
                </a:solidFill>
                <a:latin typeface="Arial"/>
              </a:rPr>
              <a:t>Each rally stops below the last peak: a lower high, LH.</a:t>
            </a:r>
          </a:p>
          <a:p>
            <a:pPr algn="l">
              <a:lnSpc>
                <a:spcPct val="105000"/>
              </a:lnSpc>
              <a:spcBef>
                <a:spcPts val="0"/>
              </a:spcBef>
              <a:spcAft>
                <a:spcPts val="1100"/>
              </a:spcAft>
            </a:pPr>
            <a:r>
              <a:rPr sz="1900" b="0" i="0">
                <a:solidFill>
                  <a:srgbClr val="1A1A1A"/>
                </a:solidFill>
                <a:latin typeface="Arial"/>
              </a:rPr>
              <a:t>Each decline carries below the last trough: a lower low, LL.</a:t>
            </a:r>
          </a:p>
        </p:txBody>
      </p:sp>
      <p:sp>
        <p:nvSpPr>
          <p:cNvPr id="8" name="Rectangle 7"/>
          <p:cNvSpPr/>
          <p:nvPr/>
        </p:nvSpPr>
        <p:spPr>
          <a:xfrm>
            <a:off x="777240" y="4789170"/>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25746"/>
            <a:ext cx="592531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Peak and trough analysis is the most popular definition of a trend.</a:t>
            </a:r>
          </a:p>
        </p:txBody>
      </p:sp>
      <p:sp>
        <p:nvSpPr>
          <p:cNvPr id="10" name="Rectangle 9"/>
          <p:cNvSpPr/>
          <p:nvPr/>
        </p:nvSpPr>
        <p:spPr>
          <a:xfrm>
            <a:off x="7315199" y="1810512"/>
            <a:ext cx="409925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315199" y="1810512"/>
            <a:ext cx="409925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7726679" y="2267712"/>
            <a:ext cx="327629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a:t>
            </a:r>
          </a:p>
          <a:p>
            <a:pPr algn="l">
              <a:lnSpc>
                <a:spcPct val="120000"/>
              </a:lnSpc>
              <a:spcBef>
                <a:spcPts val="0"/>
              </a:spcBef>
              <a:spcAft>
                <a:spcPts val="1400"/>
              </a:spcAft>
            </a:pPr>
            <a:r>
              <a:rPr sz="1800" b="0" i="0">
                <a:solidFill>
                  <a:srgbClr val="1A1A1A"/>
                </a:solidFill>
                <a:latin typeface="Palatino"/>
              </a:rPr>
              <a:t>A falling bar chart labelled a downtrend unfolding, with its first peak marked H, its first trough L, and after them three lower highs marked LH and three lower lows marked LL.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5.2 -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p.126 and Figure 5.2.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definition runs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4 of 21</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Scenarios 1 and 2 show higher highs and higher lows: uptrends under Dow.</a:t>
            </a:r>
          </a:p>
          <a:p>
            <a:pPr algn="l">
              <a:lnSpc>
                <a:spcPct val="105000"/>
              </a:lnSpc>
              <a:spcBef>
                <a:spcPts val="0"/>
              </a:spcBef>
              <a:spcAft>
                <a:spcPts val="1100"/>
              </a:spcAft>
            </a:pPr>
            <a:r>
              <a:rPr sz="1700" b="0" i="0">
                <a:solidFill>
                  <a:srgbClr val="1A1A1A"/>
                </a:solidFill>
                <a:latin typeface="Arial"/>
              </a:rPr>
              <a:t>Scenario 3 has one high, H, and one low, L, then runs to B: no second peak or trough to compare. Scenario 4 never turns.</a:t>
            </a:r>
          </a:p>
          <a:p>
            <a:pPr algn="l">
              <a:lnSpc>
                <a:spcPct val="105000"/>
              </a:lnSpc>
              <a:spcBef>
                <a:spcPts val="0"/>
              </a:spcBef>
              <a:spcAft>
                <a:spcPts val="1100"/>
              </a:spcAft>
            </a:pPr>
            <a:r>
              <a:rPr sz="1700" b="0" i="0">
                <a:solidFill>
                  <a:srgbClr val="1A1A1A"/>
                </a:solidFill>
                <a:latin typeface="Arial"/>
              </a:rPr>
              <a:t>Under the definition neither is an uptrend. Yet in all four, price went from A to B.</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All definitions impose limitations: an actual trend may go unrecognized.</a:t>
            </a:r>
          </a:p>
        </p:txBody>
      </p:sp>
      <p:sp>
        <p:nvSpPr>
          <p:cNvPr id="10" name="TextBox 9"/>
          <p:cNvSpPr txBox="1"/>
          <p:nvPr/>
        </p:nvSpPr>
        <p:spPr>
          <a:xfrm>
            <a:off x="777240" y="546125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So many practitioners prefer an absolute measure: the distance traversed, not how price behaved on the way.</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a:t>
            </a:r>
          </a:p>
          <a:p>
            <a:pPr algn="l">
              <a:lnSpc>
                <a:spcPct val="120000"/>
              </a:lnSpc>
              <a:spcBef>
                <a:spcPts val="0"/>
              </a:spcBef>
              <a:spcAft>
                <a:spcPts val="1400"/>
              </a:spcAft>
            </a:pPr>
            <a:r>
              <a:rPr sz="1800" b="0" i="0">
                <a:solidFill>
                  <a:srgbClr val="1A1A1A"/>
                </a:solidFill>
                <a:latin typeface="Palatino"/>
              </a:rPr>
              <a:t>Four paths from a point A up to a point B. The first two zigzag through higher highs and higher lows and are labelled uptrend. The third has one high and one low, the fourth is a straight line, and both are labelled uptrend with a question mark.</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pp.126-127 and Figure 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other ways to call a trend intact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5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Left: price stays above an overlay indicator: here a trendline. A moving average is another.</a:t>
            </a:r>
          </a:p>
          <a:p>
            <a:pPr algn="l">
              <a:lnSpc>
                <a:spcPct val="105000"/>
              </a:lnSpc>
              <a:spcBef>
                <a:spcPts val="0"/>
              </a:spcBef>
              <a:spcAft>
                <a:spcPts val="1100"/>
              </a:spcAft>
            </a:pPr>
            <a:r>
              <a:rPr sz="1700" b="0" i="0">
                <a:solidFill>
                  <a:srgbClr val="1A1A1A"/>
                </a:solidFill>
                <a:latin typeface="Arial"/>
              </a:rPr>
              <a:t>Middle: price stays above an arbitrarily chosen price level.</a:t>
            </a:r>
          </a:p>
          <a:p>
            <a:pPr algn="l">
              <a:lnSpc>
                <a:spcPct val="105000"/>
              </a:lnSpc>
              <a:spcBef>
                <a:spcPts val="0"/>
              </a:spcBef>
              <a:spcAft>
                <a:spcPts val="1100"/>
              </a:spcAft>
            </a:pPr>
            <a:r>
              <a:rPr sz="1700" b="0" i="0">
                <a:solidFill>
                  <a:srgbClr val="1A1A1A"/>
                </a:solidFill>
                <a:latin typeface="Arial"/>
              </a:rPr>
              <a:t>Right: no reversal of a specified amount. Each grey box is one such amount, as on a Point and Figure or Renko chart.</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While the condition holds, the trend is still intact.</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For a downtrend, below. Trendlines: 5.6. Moving averages, met in Chapter 4: Chapter 11. Point and Figure, Renko: Chapter 3.</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a:t>
            </a:r>
          </a:p>
          <a:p>
            <a:pPr algn="l">
              <a:lnSpc>
                <a:spcPct val="120000"/>
              </a:lnSpc>
              <a:spcBef>
                <a:spcPts val="0"/>
              </a:spcBef>
              <a:spcAft>
                <a:spcPts val="1400"/>
              </a:spcAft>
            </a:pPr>
            <a:r>
              <a:rPr sz="1800" b="0" i="0">
                <a:solidFill>
                  <a:srgbClr val="1A1A1A"/>
                </a:solidFill>
                <a:latin typeface="Palatino"/>
              </a:rPr>
              <a:t>Three rising prices, each labelled trend still intact: one remaining above a dotted trendline, one remaining above a chosen level, and one climbing through stacked boxes with the minimum reversal amount not breached.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5.4 -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pp.127-128 and Figure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What a trend is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Under Dow's peak and trough definition, an uptrend is a series of successively:</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Higher highs and lower lows</a:t>
            </a:r>
          </a:p>
          <a:p>
            <a:pPr algn="l">
              <a:lnSpc>
                <a:spcPct val="112000"/>
              </a:lnSpc>
              <a:spcBef>
                <a:spcPts val="0"/>
              </a:spcBef>
              <a:spcAft>
                <a:spcPts val="900"/>
              </a:spcAft>
            </a:pPr>
            <a:r>
              <a:rPr sz="1500" b="0" i="0">
                <a:solidFill>
                  <a:srgbClr val="FFFFFF"/>
                </a:solidFill>
                <a:latin typeface="Arial"/>
              </a:rPr>
              <a:t>B.  Higher highs and higher lows</a:t>
            </a:r>
          </a:p>
          <a:p>
            <a:pPr algn="l">
              <a:lnSpc>
                <a:spcPct val="112000"/>
              </a:lnSpc>
              <a:spcBef>
                <a:spcPts val="0"/>
              </a:spcBef>
              <a:spcAft>
                <a:spcPts val="900"/>
              </a:spcAft>
            </a:pPr>
            <a:r>
              <a:rPr sz="1500" b="0" i="0">
                <a:solidFill>
                  <a:srgbClr val="FFFFFF"/>
                </a:solidFill>
                <a:latin typeface="Arial"/>
              </a:rPr>
              <a:t>C.  Lower highs and lower lows</a:t>
            </a:r>
          </a:p>
          <a:p>
            <a:pPr algn="l">
              <a:lnSpc>
                <a:spcPct val="112000"/>
              </a:lnSpc>
              <a:spcBef>
                <a:spcPts val="0"/>
              </a:spcBef>
              <a:spcAft>
                <a:spcPts val="900"/>
              </a:spcAft>
            </a:pPr>
            <a:r>
              <a:rPr sz="1500" b="0" i="0">
                <a:solidFill>
                  <a:srgbClr val="FFFFFF"/>
                </a:solidFill>
                <a:latin typeface="Arial"/>
              </a:rPr>
              <a:t>D.  Higher closes only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Price rises from A to B in one straight move, with no peaks or troughs at all. Under Dow's definition this is: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primary uptrend</a:t>
            </a:r>
          </a:p>
          <a:p>
            <a:pPr algn="l">
              <a:lnSpc>
                <a:spcPct val="112000"/>
              </a:lnSpc>
              <a:spcBef>
                <a:spcPts val="0"/>
              </a:spcBef>
              <a:spcAft>
                <a:spcPts val="900"/>
              </a:spcAft>
            </a:pPr>
            <a:r>
              <a:rPr sz="1500" b="0" i="0">
                <a:solidFill>
                  <a:srgbClr val="FFFFFF"/>
                </a:solidFill>
                <a:latin typeface="Arial"/>
              </a:rPr>
              <a:t>B.  A secondary reaction</a:t>
            </a:r>
          </a:p>
          <a:p>
            <a:pPr algn="l">
              <a:lnSpc>
                <a:spcPct val="112000"/>
              </a:lnSpc>
              <a:spcBef>
                <a:spcPts val="0"/>
              </a:spcBef>
              <a:spcAft>
                <a:spcPts val="900"/>
              </a:spcAft>
            </a:pPr>
            <a:r>
              <a:rPr sz="1500" b="0" i="0">
                <a:solidFill>
                  <a:srgbClr val="FFFFFF"/>
                </a:solidFill>
                <a:latin typeface="Arial"/>
              </a:rPr>
              <a:t>C.  A downtrend</a:t>
            </a:r>
          </a:p>
          <a:p>
            <a:pPr algn="l">
              <a:lnSpc>
                <a:spcPct val="112000"/>
              </a:lnSpc>
              <a:spcBef>
                <a:spcPts val="0"/>
              </a:spcBef>
              <a:spcAft>
                <a:spcPts val="900"/>
              </a:spcAft>
            </a:pPr>
            <a:r>
              <a:rPr sz="1500" b="0" i="0">
                <a:solidFill>
                  <a:srgbClr val="FFFFFF"/>
                </a:solidFill>
                <a:latin typeface="Arial"/>
              </a:rPr>
              <a:t>D.  Not classified as an uptrend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11 - 5.1 Definitions  |  Check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What a trend is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Under Dow's peak and trough definition, an uptrend is a series of successively:</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Higher highs and higher lows</a:t>
            </a:r>
          </a:p>
          <a:p>
            <a:pPr algn="l">
              <a:lnSpc>
                <a:spcPct val="115000"/>
              </a:lnSpc>
              <a:spcBef>
                <a:spcPts val="700"/>
              </a:spcBef>
              <a:spcAft>
                <a:spcPts val="0"/>
              </a:spcAft>
            </a:pPr>
            <a:r>
              <a:rPr sz="1600" b="0" i="0">
                <a:solidFill>
                  <a:srgbClr val="1A1A1A"/>
                </a:solidFill>
                <a:latin typeface="Arial"/>
              </a:rPr>
              <a:t>An uptrend is successively higher highs, the peaks, and higher lows, the troughs.</a:t>
            </a:r>
          </a:p>
        </p:txBody>
      </p:sp>
      <p:sp>
        <p:nvSpPr>
          <p:cNvPr id="10" name="Rectangle 9"/>
          <p:cNvSpPr/>
          <p:nvPr/>
        </p:nvSpPr>
        <p:spPr>
          <a:xfrm>
            <a:off x="777240" y="308203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Price rises from A to B in one straight move, with no peaks or troughs at all. Under Dow's definition this is: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Not classified as an uptrend</a:t>
            </a:r>
          </a:p>
          <a:p>
            <a:pPr algn="l">
              <a:lnSpc>
                <a:spcPct val="115000"/>
              </a:lnSpc>
              <a:spcBef>
                <a:spcPts val="700"/>
              </a:spcBef>
              <a:spcAft>
                <a:spcPts val="0"/>
              </a:spcAft>
            </a:pPr>
            <a:r>
              <a:rPr sz="1600" b="0" i="0">
                <a:solidFill>
                  <a:srgbClr val="1A1A1A"/>
                </a:solidFill>
                <a:latin typeface="Arial"/>
              </a:rPr>
              <a:t>With no higher highs or lows there is nothing for the definition to recognize, even though price travelled from A to B.</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Check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wave degree 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6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Price swings up and back down. A run of swings of one size is a wave: the book's wave cycle.</a:t>
            </a:r>
          </a:p>
          <a:p>
            <a:pPr algn="l">
              <a:lnSpc>
                <a:spcPct val="105000"/>
              </a:lnSpc>
              <a:spcBef>
                <a:spcPts val="0"/>
              </a:spcBef>
              <a:spcAft>
                <a:spcPts val="1100"/>
              </a:spcAft>
            </a:pPr>
            <a:r>
              <a:rPr sz="1700" b="0" i="0">
                <a:solidFill>
                  <a:srgbClr val="1A1A1A"/>
                </a:solidFill>
                <a:latin typeface="Arial"/>
              </a:rPr>
              <a:t>Small swings ride inside bigger ones. The smaller wave is a subwave of the bigger.</a:t>
            </a:r>
          </a:p>
          <a:p>
            <a:pPr algn="l">
              <a:lnSpc>
                <a:spcPct val="105000"/>
              </a:lnSpc>
              <a:spcBef>
                <a:spcPts val="0"/>
              </a:spcBef>
              <a:spcAft>
                <a:spcPts val="1100"/>
              </a:spcAft>
            </a:pPr>
            <a:r>
              <a:rPr sz="1700" b="0" i="0">
                <a:solidFill>
                  <a:srgbClr val="1A1A1A"/>
                </a:solidFill>
                <a:latin typeface="Arial"/>
              </a:rPr>
              <a:t>Degree is the rank of a wave by size: the bigger wave is of a higher degree, its subwaves of a lower one.</a:t>
            </a:r>
          </a:p>
          <a:p>
            <a:pPr algn="l">
              <a:lnSpc>
                <a:spcPct val="105000"/>
              </a:lnSpc>
              <a:spcBef>
                <a:spcPts val="0"/>
              </a:spcBef>
              <a:spcAft>
                <a:spcPts val="1100"/>
              </a:spcAft>
            </a:pPr>
            <a:r>
              <a:rPr sz="1700" b="0" i="0">
                <a:solidFill>
                  <a:srgbClr val="1A1A1A"/>
                </a:solidFill>
                <a:latin typeface="Arial"/>
              </a:rPr>
              <a:t>The book: any trend or consolidation can be described in wave cycles, at various wave degrees.</a:t>
            </a:r>
          </a:p>
        </p:txBody>
      </p:sp>
      <p:sp>
        <p:nvSpPr>
          <p:cNvPr id="8" name="TextBox 7"/>
          <p:cNvSpPr txBox="1"/>
          <p:nvPr/>
        </p:nvSpPr>
        <p:spPr>
          <a:xfrm>
            <a:off x="777240" y="554583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Chapters 3 and 4 said wave cycle and cycle degree in passing. The book defines neither; this reading is from its figures.</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b.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B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p.128 says wave cycle, wave degree and subwave and defines none of them. The reading and the chart are ours, from its Figures 5.5 to 5.9.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Wave cycles: HWC, MWC and LWC</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7 of 21</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Three wave degrees on one chart, named by size against each other.</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2120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In the figure: HWC thick, MWC dotted, LWC thin. Three degrees here; the minimum in any trend is two.</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HWC, the higher wave cycle: the highest wave degree. MWC, the medium wave cycle: a subwave of the HWC, of a lower degree. LWC, the lower wave cycle: a subwave of both, at the lowest degree.</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a:t>
            </a:r>
          </a:p>
          <a:p>
            <a:pPr algn="l">
              <a:lnSpc>
                <a:spcPct val="120000"/>
              </a:lnSpc>
              <a:spcBef>
                <a:spcPts val="0"/>
              </a:spcBef>
              <a:spcAft>
                <a:spcPts val="1400"/>
              </a:spcAft>
            </a:pPr>
            <a:r>
              <a:rPr sz="1800" b="0" i="0">
                <a:solidFill>
                  <a:srgbClr val="1A1A1A"/>
                </a:solidFill>
                <a:latin typeface="Palatino"/>
              </a:rPr>
              <a:t>A wave of three degrees: one thick line rising and falling, the higher wave cycle; a dotted line weaving around it, the medium wave cycle; and a thin jagged line weaving around that, the lower wave cycle.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pp.128-129 and Figure 5.5. It gives the minimum of two degrees as a note, with no reason.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Our example: one price, built from three waves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8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Figure 5.5 is a sketch with no prices. To see wave cycles on price bars, we built a price.</a:t>
            </a:r>
          </a:p>
          <a:p>
            <a:pPr algn="l">
              <a:lnSpc>
                <a:spcPct val="105000"/>
              </a:lnSpc>
              <a:spcBef>
                <a:spcPts val="0"/>
              </a:spcBef>
              <a:spcAft>
                <a:spcPts val="1100"/>
              </a:spcAft>
            </a:pPr>
            <a:r>
              <a:rPr sz="1700" b="0" i="0">
                <a:solidFill>
                  <a:srgbClr val="1A1A1A"/>
                </a:solidFill>
                <a:latin typeface="Arial"/>
              </a:rPr>
              <a:t>Rows 1 to 3: a big, a medium and a small wave. Gold arrows measure one swing of each, up and back down.</a:t>
            </a:r>
          </a:p>
          <a:p>
            <a:pPr algn="l">
              <a:lnSpc>
                <a:spcPct val="105000"/>
              </a:lnSpc>
              <a:spcBef>
                <a:spcPts val="0"/>
              </a:spcBef>
              <a:spcAft>
                <a:spcPts val="1100"/>
              </a:spcAft>
            </a:pPr>
            <a:r>
              <a:rPr sz="1700" b="0" i="0">
                <a:solidFill>
                  <a:srgbClr val="1A1A1A"/>
                </a:solidFill>
                <a:latin typeface="Arial"/>
              </a:rPr>
              <a:t>Row 4: at every bar the three are added, around PHP 60, plus a small wobble: the price.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sizes are ours. A real chart carries none.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Why these sizes: so that three medium swings fit in the big one, and four small swings in each medium one.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c.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C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to put the book's Figure 5.5 (p.129) on a price chart. Every number here is one we chose; none is the book's or a market's.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the three cycles are drawn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9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LWC: the small zigzags of the price bars.</a:t>
            </a:r>
          </a:p>
          <a:p>
            <a:pPr algn="l">
              <a:lnSpc>
                <a:spcPct val="105000"/>
              </a:lnSpc>
              <a:spcBef>
                <a:spcPts val="0"/>
              </a:spcBef>
              <a:spcAft>
                <a:spcPts val="1100"/>
              </a:spcAft>
            </a:pPr>
            <a:r>
              <a:rPr sz="1700" b="0" i="0">
                <a:solidFill>
                  <a:srgbClr val="1A1A1A"/>
                </a:solidFill>
                <a:latin typeface="Arial"/>
              </a:rPr>
              <a:t>MWC: the dotted line, the big wave plus the medium, through the middle of the zigzags.</a:t>
            </a:r>
          </a:p>
          <a:p>
            <a:pPr algn="l">
              <a:lnSpc>
                <a:spcPct val="105000"/>
              </a:lnSpc>
              <a:spcBef>
                <a:spcPts val="0"/>
              </a:spcBef>
              <a:spcAft>
                <a:spcPts val="1100"/>
              </a:spcAft>
            </a:pPr>
            <a:r>
              <a:rPr sz="1700" b="0" i="0">
                <a:solidFill>
                  <a:srgbClr val="1A1A1A"/>
                </a:solidFill>
                <a:latin typeface="Arial"/>
              </a:rPr>
              <a:t>HWC: the thick line, the big wave alone, through the middle of the dotted line's swings.</a:t>
            </a:r>
          </a:p>
          <a:p>
            <a:pPr algn="l">
              <a:lnSpc>
                <a:spcPct val="105000"/>
              </a:lnSpc>
              <a:spcBef>
                <a:spcPts val="0"/>
              </a:spcBef>
              <a:spcAft>
                <a:spcPts val="1100"/>
              </a:spcAft>
            </a:pPr>
            <a:r>
              <a:rPr sz="1700" b="0" i="0">
                <a:solidFill>
                  <a:srgbClr val="1A1A1A"/>
                </a:solidFill>
                <a:latin typeface="Arial"/>
              </a:rPr>
              <a:t>The book gives no rule for placing either line. We can place ours because we built the price.</a:t>
            </a:r>
          </a:p>
        </p:txBody>
      </p:sp>
      <p:sp>
        <p:nvSpPr>
          <p:cNvPr id="8" name="Rectangle 7"/>
          <p:cNvSpPr/>
          <p:nvPr/>
        </p:nvSpPr>
        <p:spPr>
          <a:xfrm>
            <a:off x="777240" y="4729734"/>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66310"/>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They look like moving averages. The book does not say they are.</a:t>
            </a:r>
          </a:p>
        </p:txBody>
      </p:sp>
      <p:sp>
        <p:nvSpPr>
          <p:cNvPr id="10" name="TextBox 9"/>
          <p:cNvSpPr txBox="1"/>
          <p:nvPr/>
        </p:nvSpPr>
        <p:spPr>
          <a:xfrm>
            <a:off x="777240" y="562584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Moving averages: met in Chapter 4, taught in Chapter 11.</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d.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D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The book's (pp.128-129, Figure 5.5): thin, dotted and thick lines, and no formula, indicator or number of bars. Ours: the bars, and where both lines sit.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Telling the three cycles apart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10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Each ruler counts the swings of one wave cycle, low to low.</a:t>
            </a:r>
          </a:p>
          <a:p>
            <a:pPr algn="l">
              <a:lnSpc>
                <a:spcPct val="105000"/>
              </a:lnSpc>
              <a:spcBef>
                <a:spcPts val="0"/>
              </a:spcBef>
              <a:spcAft>
                <a:spcPts val="1100"/>
              </a:spcAft>
            </a:pPr>
            <a:r>
              <a:rPr sz="1700" b="0" i="0">
                <a:solidFill>
                  <a:srgbClr val="1A1A1A"/>
                </a:solidFill>
                <a:latin typeface="Arial"/>
              </a:rPr>
              <a:t>Four LWC swings fit inside each MWC swing, and three MWC swings inside the HWC swing. That is what subwave means.</a:t>
            </a:r>
          </a:p>
          <a:p>
            <a:pPr algn="l">
              <a:lnSpc>
                <a:spcPct val="105000"/>
              </a:lnSpc>
              <a:spcBef>
                <a:spcPts val="0"/>
              </a:spcBef>
              <a:spcAft>
                <a:spcPts val="1100"/>
              </a:spcAft>
            </a:pPr>
            <a:r>
              <a:rPr sz="1700" b="0" i="0">
                <a:solidFill>
                  <a:srgbClr val="1A1A1A"/>
                </a:solidFill>
                <a:latin typeface="Arial"/>
              </a:rPr>
              <a:t>A real chart gives no sizes and the book fixes none. So compare: the smallest swings in view are the LWC, the swings they ride on the MWC, the biggest the HWC.</a:t>
            </a:r>
          </a:p>
        </p:txBody>
      </p:sp>
      <p:sp>
        <p:nvSpPr>
          <p:cNvPr id="8" name="Rectangle 7"/>
          <p:cNvSpPr/>
          <p:nvPr/>
        </p:nvSpPr>
        <p:spPr>
          <a:xfrm>
            <a:off x="777240" y="5109210"/>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45786"/>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degree is a rank, never a fixed size.</a:t>
            </a:r>
          </a:p>
        </p:txBody>
      </p:sp>
      <p:sp>
        <p:nvSpPr>
          <p:cNvPr id="10" name="TextBox 9"/>
          <p:cNvSpPr txBox="1"/>
          <p:nvPr/>
        </p:nvSpPr>
        <p:spPr>
          <a:xfrm>
            <a:off x="777240" y="573100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Four and three are this chart's numbers, not a rule.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e.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E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on the book's pp.128-129, which fix no size, duration or timeframe for a wave cycle. The counts are of our invented chart.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Know which wave cycle you are trading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11 of 21</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Without knowing which wave cycle is traded, a trader may be unable to:</a:t>
            </a:r>
          </a:p>
          <a:p>
            <a:pPr algn="l">
              <a:lnSpc>
                <a:spcPct val="105000"/>
              </a:lnSpc>
              <a:spcBef>
                <a:spcPts val="0"/>
              </a:spcBef>
              <a:spcAft>
                <a:spcPts val="1100"/>
              </a:spcAft>
            </a:pPr>
            <a:r>
              <a:rPr sz="1700" b="0" i="0">
                <a:solidFill>
                  <a:srgbClr val="1A1A1A"/>
                </a:solidFill>
                <a:latin typeface="Arial"/>
              </a:rPr>
              <a:t>select consistent breakout levels or effective stoploss levels, or apply effective stopsizing;</a:t>
            </a:r>
          </a:p>
          <a:p>
            <a:pPr algn="l">
              <a:lnSpc>
                <a:spcPct val="105000"/>
              </a:lnSpc>
              <a:spcBef>
                <a:spcPts val="0"/>
              </a:spcBef>
              <a:spcAft>
                <a:spcPts val="1100"/>
              </a:spcAft>
            </a:pPr>
            <a:r>
              <a:rPr sz="1700" b="0" i="0">
                <a:solidFill>
                  <a:srgbClr val="1A1A1A"/>
                </a:solidFill>
                <a:latin typeface="Arial"/>
              </a:rPr>
              <a:t>tell trend from consolidation mode, or find the direction of the predominant trend.</a:t>
            </a:r>
          </a:p>
          <a:p>
            <a:pPr algn="l">
              <a:lnSpc>
                <a:spcPct val="105000"/>
              </a:lnSpc>
              <a:spcBef>
                <a:spcPts val="0"/>
              </a:spcBef>
              <a:spcAft>
                <a:spcPts val="1100"/>
              </a:spcAft>
            </a:pPr>
            <a:r>
              <a:rPr sz="1700" b="0" i="0">
                <a:solidFill>
                  <a:srgbClr val="1A1A1A"/>
                </a:solidFill>
                <a:latin typeface="Arial"/>
              </a:rPr>
              <a:t>The figure labels one rise three ways: [1] on the HWC, 1 to 3 on the MWC, i to v and a to c on the LWC.</a:t>
            </a:r>
          </a:p>
        </p:txBody>
      </p:sp>
      <p:sp>
        <p:nvSpPr>
          <p:cNvPr id="8" name="TextBox 7"/>
          <p:cNvSpPr txBox="1"/>
          <p:nvPr/>
        </p:nvSpPr>
        <p:spPr>
          <a:xfrm>
            <a:off x="777240" y="5273802"/>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labels, question marks included, are Elliott's, Chapter 18: not needed here. Stoploss, a stop loss order: 5.4. Stopsizing: 5.5.</a:t>
            </a:r>
          </a:p>
        </p:txBody>
      </p:sp>
      <p:sp>
        <p:nvSpPr>
          <p:cNvPr id="9" name="Rectangle 8"/>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5.6</a:t>
            </a:r>
          </a:p>
          <a:p>
            <a:pPr algn="l">
              <a:lnSpc>
                <a:spcPct val="120000"/>
              </a:lnSpc>
              <a:spcBef>
                <a:spcPts val="0"/>
              </a:spcBef>
              <a:spcAft>
                <a:spcPts val="1400"/>
              </a:spcAft>
            </a:pPr>
            <a:r>
              <a:rPr sz="1800" b="0" i="0">
                <a:solidFill>
                  <a:srgbClr val="1A1A1A"/>
                </a:solidFill>
                <a:latin typeface="Palatino"/>
              </a:rPr>
              <a:t>One rise labelled at three wave degrees: i to v and a to c at the lowest degree, 1 to 3 at the medium degree, and [1] at the highest, under the heading Elliott wave in terms of wave degrees.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5.6 -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p.129 and Figure 5.6. The book lists the five with no reasons; p.130 explains modes and breakout levels, which follow 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Trending and consolidating at once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12 of 21</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4: a market is either trending or consolidating.</a:t>
            </a:r>
          </a:p>
          <a:p>
            <a:pPr algn="l">
              <a:lnSpc>
                <a:spcPct val="105000"/>
              </a:lnSpc>
              <a:spcBef>
                <a:spcPts val="0"/>
              </a:spcBef>
              <a:spcAft>
                <a:spcPts val="1100"/>
              </a:spcAft>
            </a:pPr>
            <a:r>
              <a:rPr sz="1700" b="0" i="0">
                <a:solidFill>
                  <a:srgbClr val="1A1A1A"/>
                </a:solidFill>
                <a:latin typeface="Arial"/>
              </a:rPr>
              <a:t>Chapter 5 adds: it may be both at once, depending on the wave cycle being observed.</a:t>
            </a:r>
          </a:p>
          <a:p>
            <a:pPr algn="l">
              <a:lnSpc>
                <a:spcPct val="105000"/>
              </a:lnSpc>
              <a:spcBef>
                <a:spcPts val="0"/>
              </a:spcBef>
              <a:spcAft>
                <a:spcPts val="1100"/>
              </a:spcAft>
            </a:pPr>
            <a:r>
              <a:rPr sz="1700" b="0" i="0">
                <a:solidFill>
                  <a:srgbClr val="1A1A1A"/>
                </a:solidFill>
                <a:latin typeface="Arial"/>
              </a:rPr>
              <a:t>Figure: the LWC climbs swing after swing, then falls: trend mode. The MWC swings across one level: ranging. The HWC is flat: flatline.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Ask at which wave degree before asking whether it is trending.</a:t>
            </a:r>
          </a:p>
        </p:txBody>
      </p:sp>
      <p:sp>
        <p:nvSpPr>
          <p:cNvPr id="10" name="TextBox 9"/>
          <p:cNvSpPr txBox="1"/>
          <p:nvPr/>
        </p:nvSpPr>
        <p:spPr>
          <a:xfrm>
            <a:off x="777240" y="5461254"/>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Ranging and flatline are the figure's words; the text says only trend and consolidation mode. Both are consolidation.</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5.7</a:t>
            </a:r>
          </a:p>
          <a:p>
            <a:pPr algn="l">
              <a:lnSpc>
                <a:spcPct val="120000"/>
              </a:lnSpc>
              <a:spcBef>
                <a:spcPts val="0"/>
              </a:spcBef>
              <a:spcAft>
                <a:spcPts val="1400"/>
              </a:spcAft>
            </a:pPr>
            <a:r>
              <a:rPr sz="1800" b="0" i="0">
                <a:solidFill>
                  <a:srgbClr val="1A1A1A"/>
                </a:solidFill>
                <a:latin typeface="Palatino"/>
              </a:rPr>
              <a:t>A flat thick arrow, the higher wave cycle in flatline mode; a dashed wave swinging above and below it, the medium wave cycle in ranging mode; and a thin jagged line climbing each swing, the lower wave cycle in trend mode.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p.130 and Figure 5.7. The Chapter 4 line is this course's Chapter 4 deck.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market, three modes, on price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13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LWC, the small zigzags of the bars: swing after swing they climb, then fall. Trend mode, up and then down.</a:t>
            </a:r>
          </a:p>
          <a:p>
            <a:pPr algn="l">
              <a:lnSpc>
                <a:spcPct val="105000"/>
              </a:lnSpc>
              <a:spcBef>
                <a:spcPts val="0"/>
              </a:spcBef>
              <a:spcAft>
                <a:spcPts val="1100"/>
              </a:spcAft>
            </a:pPr>
            <a:r>
              <a:rPr sz="1700" b="0" i="0">
                <a:solidFill>
                  <a:srgbClr val="1A1A1A"/>
                </a:solidFill>
                <a:latin typeface="Arial"/>
              </a:rPr>
              <a:t>The dotted MWC swings between about PHP 54 and PHP 66 and gets nowhere: ranging mode.</a:t>
            </a:r>
          </a:p>
          <a:p>
            <a:pPr algn="l">
              <a:lnSpc>
                <a:spcPct val="105000"/>
              </a:lnSpc>
              <a:spcBef>
                <a:spcPts val="0"/>
              </a:spcBef>
              <a:spcAft>
                <a:spcPts val="1100"/>
              </a:spcAft>
            </a:pPr>
            <a:r>
              <a:rPr sz="1700" b="0" i="0">
                <a:solidFill>
                  <a:srgbClr val="1A1A1A"/>
                </a:solidFill>
                <a:latin typeface="Arial"/>
              </a:rPr>
              <a:t>The thick HWC stays at PHP 60: flatline mode.</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One chart. Whether it is trending depends on which wave is read.</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three modes are the book's. The bars and the pesos are our invented chart.</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f.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5.7 (p.130) on price bars. Built from a flat line at PHP 60, a 32 bar wave PHP 12 tall and an 8 bar wave PHP 4 tall, so each mode shows.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Wave cycles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Of the three wave cycles, the one that is a subwave of both of the others is the:</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Higher wave cycle, HWC</a:t>
            </a:r>
          </a:p>
          <a:p>
            <a:pPr algn="l">
              <a:lnSpc>
                <a:spcPct val="112000"/>
              </a:lnSpc>
              <a:spcBef>
                <a:spcPts val="0"/>
              </a:spcBef>
              <a:spcAft>
                <a:spcPts val="900"/>
              </a:spcAft>
            </a:pPr>
            <a:r>
              <a:rPr sz="1500" b="0" i="0">
                <a:solidFill>
                  <a:srgbClr val="FFFFFF"/>
                </a:solidFill>
                <a:latin typeface="Arial"/>
              </a:rPr>
              <a:t>B.  Lower wave cycle, LWC</a:t>
            </a:r>
          </a:p>
          <a:p>
            <a:pPr algn="l">
              <a:lnSpc>
                <a:spcPct val="112000"/>
              </a:lnSpc>
              <a:spcBef>
                <a:spcPts val="0"/>
              </a:spcBef>
              <a:spcAft>
                <a:spcPts val="900"/>
              </a:spcAft>
            </a:pPr>
            <a:r>
              <a:rPr sz="1500" b="0" i="0">
                <a:solidFill>
                  <a:srgbClr val="FFFFFF"/>
                </a:solidFill>
                <a:latin typeface="Arial"/>
              </a:rPr>
              <a:t>C.  Medium wave cycle, MWC</a:t>
            </a:r>
          </a:p>
          <a:p>
            <a:pPr algn="l">
              <a:lnSpc>
                <a:spcPct val="112000"/>
              </a:lnSpc>
              <a:spcBef>
                <a:spcPts val="0"/>
              </a:spcBef>
              <a:spcAft>
                <a:spcPts val="900"/>
              </a:spcAft>
            </a:pPr>
            <a:r>
              <a:rPr sz="1500" b="0" i="0">
                <a:solidFill>
                  <a:srgbClr val="FFFFFF"/>
                </a:solidFill>
                <a:latin typeface="Arial"/>
              </a:rPr>
              <a:t>D.  None: each is a subwave of only one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market's lower wave cycle is rising while its medium wave cycle moves sideways. The market is in:</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Trend mode only</a:t>
            </a:r>
          </a:p>
          <a:p>
            <a:pPr algn="l">
              <a:lnSpc>
                <a:spcPct val="112000"/>
              </a:lnSpc>
              <a:spcBef>
                <a:spcPts val="0"/>
              </a:spcBef>
              <a:spcAft>
                <a:spcPts val="900"/>
              </a:spcAft>
            </a:pPr>
            <a:r>
              <a:rPr sz="1500" b="0" i="0">
                <a:solidFill>
                  <a:srgbClr val="FFFFFF"/>
                </a:solidFill>
                <a:latin typeface="Arial"/>
              </a:rPr>
              <a:t>B.  Consolidation mode only</a:t>
            </a:r>
          </a:p>
          <a:p>
            <a:pPr algn="l">
              <a:lnSpc>
                <a:spcPct val="112000"/>
              </a:lnSpc>
              <a:spcBef>
                <a:spcPts val="0"/>
              </a:spcBef>
              <a:spcAft>
                <a:spcPts val="900"/>
              </a:spcAft>
            </a:pPr>
            <a:r>
              <a:rPr sz="1500" b="0" i="0">
                <a:solidFill>
                  <a:srgbClr val="FFFFFF"/>
                </a:solidFill>
                <a:latin typeface="Arial"/>
              </a:rPr>
              <a:t>C.  Both, depending on the wave cycle observed</a:t>
            </a:r>
          </a:p>
          <a:p>
            <a:pPr algn="l">
              <a:lnSpc>
                <a:spcPct val="112000"/>
              </a:lnSpc>
              <a:spcBef>
                <a:spcPts val="0"/>
              </a:spcBef>
              <a:spcAft>
                <a:spcPts val="900"/>
              </a:spcAft>
            </a:pPr>
            <a:r>
              <a:rPr sz="1500" b="0" i="0">
                <a:solidFill>
                  <a:srgbClr val="FFFFFF"/>
                </a:solidFill>
                <a:latin typeface="Arial"/>
              </a:rPr>
              <a:t>D.  Neither, until a breakout occurs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11 - 5.1 Definitions  |  Check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Wave cycles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Of the three wave cycles, the one that is a subwave of both of the others is the: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Lower wave cycle, LWC</a:t>
            </a:r>
          </a:p>
          <a:p>
            <a:pPr algn="l">
              <a:lnSpc>
                <a:spcPct val="115000"/>
              </a:lnSpc>
              <a:spcBef>
                <a:spcPts val="700"/>
              </a:spcBef>
              <a:spcAft>
                <a:spcPts val="0"/>
              </a:spcAft>
            </a:pPr>
            <a:r>
              <a:rPr sz="1600" b="0" i="0">
                <a:solidFill>
                  <a:srgbClr val="1A1A1A"/>
                </a:solidFill>
                <a:latin typeface="Arial"/>
              </a:rPr>
              <a:t>The LWC is a subwave of both the HWC and the MWC, at the lowest wave degree. The MWC is a subwave of the HWC only.</a:t>
            </a:r>
          </a:p>
        </p:txBody>
      </p:sp>
      <p:sp>
        <p:nvSpPr>
          <p:cNvPr id="10" name="Rectangle 9"/>
          <p:cNvSpPr/>
          <p:nvPr/>
        </p:nvSpPr>
        <p:spPr>
          <a:xfrm>
            <a:off x="777240" y="331571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market's lower wave cycle is rising while its medium wave cycle moves sideways. The market is in:</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Both, depending on the wave cycle observed</a:t>
            </a:r>
          </a:p>
          <a:p>
            <a:pPr algn="l">
              <a:lnSpc>
                <a:spcPct val="115000"/>
              </a:lnSpc>
              <a:spcBef>
                <a:spcPts val="700"/>
              </a:spcBef>
              <a:spcAft>
                <a:spcPts val="0"/>
              </a:spcAft>
            </a:pPr>
            <a:r>
              <a:rPr sz="1600" b="0" i="0">
                <a:solidFill>
                  <a:srgbClr val="1A1A1A"/>
                </a:solidFill>
                <a:latin typeface="Arial"/>
              </a:rPr>
              <a:t>A market may be in trend and consolidation modes at the same time, depending on the wave cycle being observed.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Check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Breakout, as Chapters 2 and 4 used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14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2: a line, a narrow sideways range, usually results in a strong breakout.</a:t>
            </a:r>
          </a:p>
          <a:p>
            <a:pPr algn="l">
              <a:lnSpc>
                <a:spcPct val="105000"/>
              </a:lnSpc>
              <a:spcBef>
                <a:spcPts val="0"/>
              </a:spcBef>
              <a:spcAft>
                <a:spcPts val="1100"/>
              </a:spcAft>
            </a:pPr>
            <a:r>
              <a:rPr sz="1700" b="0" i="0">
                <a:solidFill>
                  <a:srgbClr val="1A1A1A"/>
                </a:solidFill>
                <a:latin typeface="Arial"/>
              </a:rPr>
              <a:t>Chapter 4: most call a consolidation over on a clear breakout from the range. The trend phase follows.</a:t>
            </a:r>
          </a:p>
          <a:p>
            <a:pPr algn="l">
              <a:lnSpc>
                <a:spcPct val="105000"/>
              </a:lnSpc>
              <a:spcBef>
                <a:spcPts val="0"/>
              </a:spcBef>
              <a:spcAft>
                <a:spcPts val="1100"/>
              </a:spcAft>
            </a:pPr>
            <a:r>
              <a:rPr sz="1700" b="0" i="0">
                <a:solidFill>
                  <a:srgbClr val="1A1A1A"/>
                </a:solidFill>
                <a:latin typeface="Arial"/>
              </a:rPr>
              <a:t>In both, price leaves a sideways range through its top or its bottom.</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breakout taught so far: price getting out of a range.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Earlier chapters also said breakout, in passing, of a pattern, a neckline and a level. None defined it.</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g.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G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A recall of this course's Chapters 2 and 4. The chart is Chapter 4's own example, a range from PHP 40 to PHP 44.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5: a breakout is through a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15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edge of a range is one kind of level. Chapter 5 uses breakout of every kind:</a:t>
            </a:r>
          </a:p>
          <a:p>
            <a:pPr algn="l">
              <a:lnSpc>
                <a:spcPct val="105000"/>
              </a:lnSpc>
              <a:spcBef>
                <a:spcPts val="0"/>
              </a:spcBef>
              <a:spcAft>
                <a:spcPts val="1100"/>
              </a:spcAft>
            </a:pPr>
            <a:r>
              <a:rPr sz="1700" b="0" i="0">
                <a:solidFill>
                  <a:srgbClr val="1A1A1A"/>
                </a:solidFill>
                <a:latin typeface="Arial"/>
              </a:rPr>
              <a:t>a prior peak or trough, a trendline, a channel line, any overlay such as a moving average.</a:t>
            </a:r>
          </a:p>
          <a:p>
            <a:pPr algn="l">
              <a:lnSpc>
                <a:spcPct val="105000"/>
              </a:lnSpc>
              <a:spcBef>
                <a:spcPts val="0"/>
              </a:spcBef>
              <a:spcAft>
                <a:spcPts val="1100"/>
              </a:spcAft>
            </a:pPr>
            <a:r>
              <a:rPr sz="1700" b="0" i="0">
                <a:solidFill>
                  <a:srgbClr val="1A1A1A"/>
                </a:solidFill>
                <a:latin typeface="Arial"/>
              </a:rPr>
              <a:t>Each time, a level holds price and then price gets through it. A level may slope, as a trendline does.</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One word for all of them: the level need not be the edge of a range.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never defines breakout. Chapter 2 called price going through a previous peak or trough a penetration.</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h.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reading of how the book uses the word: pp.130, 143, 148, 158 to 161. It defines breakout nowhere.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breakout for every wave degree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16 of 21</a:t>
            </a:r>
          </a:p>
        </p:txBody>
      </p:sp>
      <p:sp>
        <p:nvSpPr>
          <p:cNvPr id="7" name="TextBox 6"/>
          <p:cNvSpPr txBox="1"/>
          <p:nvPr/>
        </p:nvSpPr>
        <p:spPr>
          <a:xfrm>
            <a:off x="777240" y="1965960"/>
            <a:ext cx="53949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Breakouts can be defined by wave degree: the level depends on the degree traded.</a:t>
            </a:r>
          </a:p>
          <a:p>
            <a:pPr algn="l">
              <a:lnSpc>
                <a:spcPct val="105000"/>
              </a:lnSpc>
              <a:spcBef>
                <a:spcPts val="0"/>
              </a:spcBef>
              <a:spcAft>
                <a:spcPts val="1100"/>
              </a:spcAft>
            </a:pPr>
            <a:r>
              <a:rPr sz="1700" b="0" i="0">
                <a:solidFill>
                  <a:srgbClr val="1A1A1A"/>
                </a:solidFill>
                <a:latin typeface="Arial"/>
              </a:rPr>
              <a:t>Each B/OUT LEVEL in the figure sits on a prior peak: five peaks, five levels.</a:t>
            </a:r>
          </a:p>
          <a:p>
            <a:pPr algn="l">
              <a:lnSpc>
                <a:spcPct val="105000"/>
              </a:lnSpc>
              <a:spcBef>
                <a:spcPts val="0"/>
              </a:spcBef>
              <a:spcAft>
                <a:spcPts val="1100"/>
              </a:spcAft>
            </a:pPr>
            <a:r>
              <a:rPr sz="1700" b="0" i="0">
                <a:solidFill>
                  <a:srgbClr val="1A1A1A"/>
                </a:solidFill>
                <a:latin typeface="Arial"/>
              </a:rPr>
              <a:t>Knowing the degree, a trader can size the stoploss to its average wave amplitude and volatility.</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1023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Volatility at one wave degree may not manifest at a higher or lower degree.</a:t>
            </a:r>
          </a:p>
        </p:txBody>
      </p:sp>
      <p:sp>
        <p:nvSpPr>
          <p:cNvPr id="10" name="TextBox 9"/>
          <p:cNvSpPr txBox="1"/>
          <p:nvPr/>
        </p:nvSpPr>
        <p:spPr>
          <a:xfrm>
            <a:off x="777240" y="5461254"/>
            <a:ext cx="53949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Our words: a stop sized for the thin line's zigzags is too small for the thick line's one swing. Amplitude: 5.2. Stop sizing: 5.5.</a:t>
            </a:r>
          </a:p>
        </p:txBody>
      </p:sp>
      <p:sp>
        <p:nvSpPr>
          <p:cNvPr id="11" name="Rectangle 10"/>
          <p:cNvSpPr/>
          <p:nvPr/>
        </p:nvSpPr>
        <p:spPr>
          <a:xfrm>
            <a:off x="6492240" y="1810512"/>
            <a:ext cx="492221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92240" y="1810512"/>
            <a:ext cx="492221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03720" y="2267712"/>
            <a:ext cx="409925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5.8</a:t>
            </a:r>
          </a:p>
          <a:p>
            <a:pPr algn="l">
              <a:lnSpc>
                <a:spcPct val="120000"/>
              </a:lnSpc>
              <a:spcBef>
                <a:spcPts val="0"/>
              </a:spcBef>
              <a:spcAft>
                <a:spcPts val="1400"/>
              </a:spcAft>
            </a:pPr>
            <a:r>
              <a:rPr sz="1800" b="0" i="0">
                <a:solidFill>
                  <a:srgbClr val="1A1A1A"/>
                </a:solidFill>
                <a:latin typeface="Palatino"/>
              </a:rPr>
              <a:t>One price path with breakout levels drawn at three sizes: short LWC breakout levels on the small swings, two MWC breakout levels on the medium swings, and one HWC breakout level across the top of the whole move.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92240" y="5650992"/>
            <a:ext cx="492221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5.8 -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p.130 and Figure 5.8. The gold line is the only reason the book gives for sizing the stoploss by degree.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price passes three breakout levels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17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Each dashed gold line is a breakout level: the highest price at a prior peak.</a:t>
            </a:r>
          </a:p>
          <a:p>
            <a:pPr algn="l">
              <a:lnSpc>
                <a:spcPct val="105000"/>
              </a:lnSpc>
              <a:spcBef>
                <a:spcPts val="0"/>
              </a:spcBef>
              <a:spcAft>
                <a:spcPts val="1100"/>
              </a:spcAft>
            </a:pPr>
            <a:r>
              <a:rPr sz="1700" b="0" i="0">
                <a:solidFill>
                  <a:srgbClr val="1A1A1A"/>
                </a:solidFill>
                <a:latin typeface="Arial"/>
              </a:rPr>
              <a:t>1  LWC breakout: past a small peak, about PHP 57.</a:t>
            </a:r>
          </a:p>
          <a:p>
            <a:pPr algn="l">
              <a:lnSpc>
                <a:spcPct val="105000"/>
              </a:lnSpc>
              <a:spcBef>
                <a:spcPts val="0"/>
              </a:spcBef>
              <a:spcAft>
                <a:spcPts val="1100"/>
              </a:spcAft>
            </a:pPr>
            <a:r>
              <a:rPr sz="1700" b="0" i="0">
                <a:solidFill>
                  <a:srgbClr val="1A1A1A"/>
                </a:solidFill>
                <a:latin typeface="Arial"/>
              </a:rPr>
              <a:t>2  MWC breakout: past a peak of the dotted line, about PHP 64.</a:t>
            </a:r>
          </a:p>
          <a:p>
            <a:pPr algn="l">
              <a:lnSpc>
                <a:spcPct val="105000"/>
              </a:lnSpc>
              <a:spcBef>
                <a:spcPts val="0"/>
              </a:spcBef>
              <a:spcAft>
                <a:spcPts val="1100"/>
              </a:spcAft>
            </a:pPr>
            <a:r>
              <a:rPr sz="1700" b="0" i="0">
                <a:solidFill>
                  <a:srgbClr val="1A1A1A"/>
                </a:solidFill>
                <a:latin typeface="Arial"/>
              </a:rPr>
              <a:t>3  HWC breakout: past the top of the whole move, about PHP 76.</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One price, three breakouts: one for each wave degree.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i.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I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5.8 (p.130) on price bars. Each level is the highest bar at a peak, where price was, not the height of the smooth 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Wave-degree convergence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18 of 21</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48463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When the biggest wave turns, every smaller wave turns with it. That is why bigger turning points matter more.</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48463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At a major top the HWC, the MWC and the LWC all turn down together.</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48463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When a large wave cycle reverses, all the wave cycles of lower degrees reverse in sync with it. Waves of higher degrees need not reverse when waves of lower degrees reverse.</a:t>
            </a:r>
          </a:p>
        </p:txBody>
      </p:sp>
      <p:sp>
        <p:nvSpPr>
          <p:cNvPr id="14" name="Rectangle 13"/>
          <p:cNvSpPr/>
          <p:nvPr/>
        </p:nvSpPr>
        <p:spPr>
          <a:xfrm>
            <a:off x="6217919" y="2157984"/>
            <a:ext cx="51965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17919" y="2157984"/>
            <a:ext cx="51965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629399" y="2615184"/>
            <a:ext cx="43735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5.9</a:t>
            </a:r>
          </a:p>
          <a:p>
            <a:pPr algn="l">
              <a:lnSpc>
                <a:spcPct val="120000"/>
              </a:lnSpc>
              <a:spcBef>
                <a:spcPts val="0"/>
              </a:spcBef>
              <a:spcAft>
                <a:spcPts val="1400"/>
              </a:spcAft>
            </a:pPr>
            <a:r>
              <a:rPr sz="1800" b="0" i="0">
                <a:solidFill>
                  <a:srgbClr val="1A1A1A"/>
                </a:solidFill>
                <a:latin typeface="Palatino"/>
              </a:rPr>
              <a:t>The three wave cycles rising to one peak and turning down together, with the peak labelled all subwaves reversing in sync with the highest wave degree.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5.9 -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p.130, and Figure 5.9 on p.131. The book states this as a rule and gives no reason for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Lower degrees turn alone. The highest does not.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19 of 21</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On the way up the LWC turns down again and again, and the rise goes on.</a:t>
            </a:r>
          </a:p>
          <a:p>
            <a:pPr algn="l">
              <a:lnSpc>
                <a:spcPct val="105000"/>
              </a:lnSpc>
              <a:spcBef>
                <a:spcPts val="0"/>
              </a:spcBef>
              <a:spcAft>
                <a:spcPts val="1100"/>
              </a:spcAft>
            </a:pPr>
            <a:r>
              <a:rPr sz="1800" b="0" i="0">
                <a:solidFill>
                  <a:srgbClr val="1A1A1A"/>
                </a:solidFill>
                <a:latin typeface="Arial"/>
              </a:rPr>
              <a:t>The MWC turns down as well, with the LWC, and the HWC still rises.</a:t>
            </a:r>
          </a:p>
          <a:p>
            <a:pPr algn="l">
              <a:lnSpc>
                <a:spcPct val="105000"/>
              </a:lnSpc>
              <a:spcBef>
                <a:spcPts val="0"/>
              </a:spcBef>
              <a:spcAft>
                <a:spcPts val="1100"/>
              </a:spcAft>
            </a:pPr>
            <a:r>
              <a:rPr sz="1800" b="0" i="0">
                <a:solidFill>
                  <a:srgbClr val="1A1A1A"/>
                </a:solidFill>
                <a:latin typeface="Arial"/>
              </a:rPr>
              <a:t>At the top the HWC turns down, and the MWC and the LWC turn with it.</a:t>
            </a:r>
          </a:p>
        </p:txBody>
      </p:sp>
      <p:sp>
        <p:nvSpPr>
          <p:cNvPr id="8" name="Rectangle 7"/>
          <p:cNvSpPr/>
          <p:nvPr/>
        </p:nvSpPr>
        <p:spPr>
          <a:xfrm>
            <a:off x="777240" y="4389120"/>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 turn of the largest wave is a turn of every wave: the significant one.</a:t>
            </a:r>
          </a:p>
        </p:txBody>
      </p:sp>
      <p:sp>
        <p:nvSpPr>
          <p:cNvPr id="10" name="TextBox 9"/>
          <p:cNvSpPr txBox="1"/>
          <p:nvPr/>
        </p:nvSpPr>
        <p:spPr>
          <a:xfrm>
            <a:off x="777240" y="531571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gives no reason. Our waves are set to peak on one bar. Chapter 3's convergence, futures meeting spot, was a different thing.</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j.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5.9 (pp.130-131) on price bars. The three invented waves are set to peak on one bar, so the one turn shows.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Correction and pullback</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20 of 21</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small move against the trend: shallow, usually no more than a few percent.</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share at PHP 50 dips to PHP 49: 2 percent of its price. A correction, or pullback.</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39496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Reversals and retracements imply a turnaround in prices, and may be of any amount or degree. Corrections and pullbacks tend to imply a more shallow reversal or retracement, usually no more than a few percent.</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k.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K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p.131. It puts no number on 'a few percent' and does not say percent of what; our example measures against the price. The chart is ours.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trend in the highs, the lows or the closes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21 of 21</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Trend may also be defined on individual open, high, low and close data.</a:t>
            </a:r>
          </a:p>
          <a:p>
            <a:pPr algn="l">
              <a:lnSpc>
                <a:spcPct val="105000"/>
              </a:lnSpc>
              <a:spcBef>
                <a:spcPts val="0"/>
              </a:spcBef>
              <a:spcAft>
                <a:spcPts val="1100"/>
              </a:spcAft>
            </a:pPr>
            <a:r>
              <a:rPr sz="1700" b="0" i="0">
                <a:solidFill>
                  <a:srgbClr val="1A1A1A"/>
                </a:solidFill>
                <a:latin typeface="Arial"/>
              </a:rPr>
              <a:t>Top row: the same bars are an uptrend in their highs and a downtrend in their lows.</a:t>
            </a:r>
          </a:p>
          <a:p>
            <a:pPr algn="l">
              <a:lnSpc>
                <a:spcPct val="105000"/>
              </a:lnSpc>
              <a:spcBef>
                <a:spcPts val="0"/>
              </a:spcBef>
              <a:spcAft>
                <a:spcPts val="1100"/>
              </a:spcAft>
            </a:pPr>
            <a:r>
              <a:rPr sz="1700" b="0" i="0">
                <a:solidFill>
                  <a:srgbClr val="1A1A1A"/>
                </a:solidFill>
                <a:latin typeface="Arial"/>
              </a:rPr>
              <a:t>Middle: the bars' highs and lows stay level, yet the closes rise bar after bar. An uptrend in the closes: Chapter 3's line chart.</a:t>
            </a:r>
          </a:p>
          <a:p>
            <a:pPr algn="l">
              <a:lnSpc>
                <a:spcPct val="105000"/>
              </a:lnSpc>
              <a:spcBef>
                <a:spcPts val="0"/>
              </a:spcBef>
              <a:spcAft>
                <a:spcPts val="1100"/>
              </a:spcAft>
            </a:pPr>
            <a:r>
              <a:rPr sz="1700" b="0" i="0">
                <a:solidFill>
                  <a:srgbClr val="1A1A1A"/>
                </a:solidFill>
                <a:latin typeface="Arial"/>
              </a:rPr>
              <a:t>Bottom: the mark at the middle of each bar stays level. By that mark, no trend.</a:t>
            </a:r>
          </a:p>
        </p:txBody>
      </p:sp>
      <p:sp>
        <p:nvSpPr>
          <p:cNvPr id="8" name="TextBox 7"/>
          <p:cNvSpPr txBox="1"/>
          <p:nvPr/>
        </p:nvSpPr>
        <p:spPr>
          <a:xfrm>
            <a:off x="777240" y="5273802"/>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 calls that mark the mid or typical price. The book defines neither here, nor the pivot point moving average, the CCI or Floor Trader's Pivot Points.</a:t>
            </a:r>
          </a:p>
        </p:txBody>
      </p:sp>
      <p:sp>
        <p:nvSpPr>
          <p:cNvPr id="9" name="Rectangle 8"/>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5.10</a:t>
            </a:r>
          </a:p>
          <a:p>
            <a:pPr algn="l">
              <a:lnSpc>
                <a:spcPct val="120000"/>
              </a:lnSpc>
              <a:spcBef>
                <a:spcPts val="0"/>
              </a:spcBef>
              <a:spcAft>
                <a:spcPts val="1400"/>
              </a:spcAft>
            </a:pPr>
            <a:r>
              <a:rPr sz="1800" b="0" i="0">
                <a:solidFill>
                  <a:srgbClr val="1A1A1A"/>
                </a:solidFill>
                <a:latin typeface="Palatino"/>
              </a:rPr>
              <a:t>Three rows of bars under the heading OHLC-based trend: bar highs rising while bar lows fall, bar closes rising steadily and labelled equivalent to a line chart, and flatline action based on typical and midprices.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5.10 -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pp.131-132 and Figure 5.10.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Wave degrees and reversals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Turning points of larger wave cycles are more significant than those of smaller ones because:</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Larger cycles always carry more volume</a:t>
            </a:r>
          </a:p>
          <a:p>
            <a:pPr algn="l">
              <a:lnSpc>
                <a:spcPct val="112000"/>
              </a:lnSpc>
              <a:spcBef>
                <a:spcPts val="0"/>
              </a:spcBef>
              <a:spcAft>
                <a:spcPts val="900"/>
              </a:spcAft>
            </a:pPr>
            <a:r>
              <a:rPr sz="1500" b="0" i="0">
                <a:solidFill>
                  <a:srgbClr val="FFFFFF"/>
                </a:solidFill>
                <a:latin typeface="Arial"/>
              </a:rPr>
              <a:t>B.  Smaller cycles never reverse</a:t>
            </a:r>
          </a:p>
          <a:p>
            <a:pPr algn="l">
              <a:lnSpc>
                <a:spcPct val="112000"/>
              </a:lnSpc>
              <a:spcBef>
                <a:spcPts val="0"/>
              </a:spcBef>
              <a:spcAft>
                <a:spcPts val="900"/>
              </a:spcAft>
            </a:pPr>
            <a:r>
              <a:rPr sz="1500" b="0" i="0">
                <a:solidFill>
                  <a:srgbClr val="FFFFFF"/>
                </a:solidFill>
                <a:latin typeface="Arial"/>
              </a:rPr>
              <a:t>C.  Larger cycles are easier to see</a:t>
            </a:r>
          </a:p>
          <a:p>
            <a:pPr algn="l">
              <a:lnSpc>
                <a:spcPct val="112000"/>
              </a:lnSpc>
              <a:spcBef>
                <a:spcPts val="0"/>
              </a:spcBef>
              <a:spcAft>
                <a:spcPts val="900"/>
              </a:spcAft>
            </a:pPr>
            <a:r>
              <a:rPr sz="1500" b="0" i="0">
                <a:solidFill>
                  <a:srgbClr val="FFFFFF"/>
                </a:solidFill>
                <a:latin typeface="Arial"/>
              </a:rPr>
              <a:t>D.  Lower degree cycles all reverse with them</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correction or pullback, as opposed to a reversal or retracement, tends to imply a move that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Shallow, usually no more than a few percent</a:t>
            </a:r>
          </a:p>
          <a:p>
            <a:pPr algn="l">
              <a:lnSpc>
                <a:spcPct val="112000"/>
              </a:lnSpc>
              <a:spcBef>
                <a:spcPts val="0"/>
              </a:spcBef>
              <a:spcAft>
                <a:spcPts val="900"/>
              </a:spcAft>
            </a:pPr>
            <a:r>
              <a:rPr sz="1500" b="0" i="0">
                <a:solidFill>
                  <a:srgbClr val="FFFFFF"/>
                </a:solidFill>
                <a:latin typeface="Arial"/>
              </a:rPr>
              <a:t>B.  Of any amount or degree</a:t>
            </a:r>
          </a:p>
          <a:p>
            <a:pPr algn="l">
              <a:lnSpc>
                <a:spcPct val="112000"/>
              </a:lnSpc>
              <a:spcBef>
                <a:spcPts val="0"/>
              </a:spcBef>
              <a:spcAft>
                <a:spcPts val="900"/>
              </a:spcAft>
            </a:pPr>
            <a:r>
              <a:rPr sz="1500" b="0" i="0">
                <a:solidFill>
                  <a:srgbClr val="FFFFFF"/>
                </a:solidFill>
                <a:latin typeface="Arial"/>
              </a:rPr>
              <a:t>C.  At least half of the prior trend</a:t>
            </a:r>
          </a:p>
          <a:p>
            <a:pPr algn="l">
              <a:lnSpc>
                <a:spcPct val="112000"/>
              </a:lnSpc>
              <a:spcBef>
                <a:spcPts val="0"/>
              </a:spcBef>
              <a:spcAft>
                <a:spcPts val="900"/>
              </a:spcAft>
            </a:pPr>
            <a:r>
              <a:rPr sz="1500" b="0" i="0">
                <a:solidFill>
                  <a:srgbClr val="FFFFFF"/>
                </a:solidFill>
                <a:latin typeface="Arial"/>
              </a:rPr>
              <a:t>D.  Always followed by a new 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11 - 5.1 Definitions  |  Check 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Wave degrees and reversals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Turning points of larger wave cycles are more significant than those of smaller ones because: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Lower degree cycles all reverse with them</a:t>
            </a:r>
          </a:p>
          <a:p>
            <a:pPr algn="l">
              <a:lnSpc>
                <a:spcPct val="115000"/>
              </a:lnSpc>
              <a:spcBef>
                <a:spcPts val="700"/>
              </a:spcBef>
              <a:spcAft>
                <a:spcPts val="0"/>
              </a:spcAft>
            </a:pPr>
            <a:r>
              <a:rPr sz="1600" b="0" i="0">
                <a:solidFill>
                  <a:srgbClr val="1A1A1A"/>
                </a:solidFill>
                <a:latin typeface="Arial"/>
              </a:rPr>
              <a:t>Wave-degree convergence: when a large wave cycle reverses, all the wave cycles of lower degrees reverse with it.</a:t>
            </a:r>
          </a:p>
        </p:txBody>
      </p:sp>
      <p:sp>
        <p:nvSpPr>
          <p:cNvPr id="10" name="Rectangle 9"/>
          <p:cNvSpPr/>
          <p:nvPr/>
        </p:nvSpPr>
        <p:spPr>
          <a:xfrm>
            <a:off x="777240" y="331571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correction or pullback, as opposed to a reversal or retracement, tends to imply a move that is: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Shallow, usually no more than a few percent</a:t>
            </a:r>
          </a:p>
          <a:p>
            <a:pPr algn="l">
              <a:lnSpc>
                <a:spcPct val="115000"/>
              </a:lnSpc>
              <a:spcBef>
                <a:spcPts val="700"/>
              </a:spcBef>
              <a:spcAft>
                <a:spcPts val="0"/>
              </a:spcAft>
            </a:pPr>
            <a:r>
              <a:rPr sz="1600" b="0" i="0">
                <a:solidFill>
                  <a:srgbClr val="1A1A1A"/>
                </a:solidFill>
                <a:latin typeface="Arial"/>
              </a:rPr>
              <a:t>Reversals and retracements may be of any amount. Corrections and pullbacks tend to be shallow, usually no more than a few percent.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11 - 5.1 Definitions  |  Check 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5.2  Sixteen price characteristics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 of 28</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Cycle amplitude.  2 Cycle period.  3 Bar retracement symmetry.</a:t>
            </a:r>
          </a:p>
          <a:p>
            <a:pPr algn="l">
              <a:lnSpc>
                <a:spcPct val="118000"/>
              </a:lnSpc>
              <a:spcBef>
                <a:spcPts val="0"/>
              </a:spcBef>
              <a:spcAft>
                <a:spcPts val="1300"/>
              </a:spcAft>
            </a:pPr>
            <a:r>
              <a:rPr sz="2100" b="0" i="0">
                <a:solidFill>
                  <a:srgbClr val="1A1A1A"/>
                </a:solidFill>
                <a:latin typeface="Arial"/>
              </a:rPr>
              <a:t>4 Average bar range.  5 Price persistence.  6 Average bar stochastic ratio.</a:t>
            </a:r>
          </a:p>
          <a:p>
            <a:pPr algn="l">
              <a:lnSpc>
                <a:spcPct val="118000"/>
              </a:lnSpc>
              <a:spcBef>
                <a:spcPts val="0"/>
              </a:spcBef>
              <a:spcAft>
                <a:spcPts val="1300"/>
              </a:spcAft>
            </a:pPr>
            <a:r>
              <a:rPr sz="2100" b="0" i="0">
                <a:solidFill>
                  <a:srgbClr val="1A1A1A"/>
                </a:solidFill>
                <a:latin typeface="Arial"/>
              </a:rPr>
              <a:t>7 Real body to range ratio.  8 Angular symmetry and momentum.</a:t>
            </a:r>
          </a:p>
          <a:p>
            <a:pPr algn="l">
              <a:lnSpc>
                <a:spcPct val="118000"/>
              </a:lnSpc>
              <a:spcBef>
                <a:spcPts val="0"/>
              </a:spcBef>
              <a:spcAft>
                <a:spcPts val="1300"/>
              </a:spcAft>
            </a:pPr>
            <a:r>
              <a:rPr sz="2100" b="0" i="0">
                <a:solidFill>
                  <a:srgbClr val="1A1A1A"/>
                </a:solidFill>
                <a:latin typeface="Arial"/>
              </a:rPr>
              <a:t>9 Barrier proximity.  10 Frequency and depth of oscillations.</a:t>
            </a:r>
          </a:p>
          <a:p>
            <a:pPr algn="l">
              <a:lnSpc>
                <a:spcPct val="118000"/>
              </a:lnSpc>
              <a:spcBef>
                <a:spcPts val="0"/>
              </a:spcBef>
              <a:spcAft>
                <a:spcPts val="1300"/>
              </a:spcAft>
            </a:pPr>
            <a:r>
              <a:rPr sz="2100" b="0" i="0">
                <a:solidFill>
                  <a:srgbClr val="1A1A1A"/>
                </a:solidFill>
                <a:latin typeface="Arial"/>
              </a:rPr>
              <a:t>11 Size and duration of a consolidation.  12 Third gap exhaustion.</a:t>
            </a:r>
          </a:p>
          <a:p>
            <a:pPr algn="l">
              <a:lnSpc>
                <a:spcPct val="118000"/>
              </a:lnSpc>
              <a:spcBef>
                <a:spcPts val="0"/>
              </a:spcBef>
              <a:spcAft>
                <a:spcPts val="1300"/>
              </a:spcAft>
            </a:pPr>
            <a:r>
              <a:rPr sz="2100" b="0" i="0">
                <a:solidFill>
                  <a:srgbClr val="1A1A1A"/>
                </a:solidFill>
                <a:latin typeface="Arial"/>
              </a:rPr>
              <a:t>13 Average period range.  14 Overextension.  15 Volume spread.  16 Divergence.</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Each is taught in this order on the slides that follow. Variations in these may impact future price activity. The book calls reading pure price action the highest skill any trader can aspire to.</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p.132. For most of the sixteen the book states what a change signals and gives no reason. Where it gives one, the slide gives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1  Cycle amplitude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9436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The height of each leg of a swing, as the figure marks it.</a:t>
            </a:r>
          </a:p>
        </p:txBody>
      </p:sp>
      <p:sp>
        <p:nvSpPr>
          <p:cNvPr id="10" name="Rectangle 9"/>
          <p:cNvSpPr/>
          <p:nvPr/>
        </p:nvSpPr>
        <p:spPr>
          <a:xfrm>
            <a:off x="777240" y="3233927"/>
            <a:ext cx="64008" cy="46024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94360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Rallies of PHP 6, then 4, then 2: decreasing amplitude.</a:t>
            </a:r>
          </a:p>
        </p:txBody>
      </p:sp>
      <p:sp>
        <p:nvSpPr>
          <p:cNvPr id="12" name="Rectangle 11"/>
          <p:cNvSpPr/>
          <p:nvPr/>
        </p:nvSpPr>
        <p:spPr>
          <a:xfrm>
            <a:off x="777240" y="3950207"/>
            <a:ext cx="64008" cy="17556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04487"/>
            <a:ext cx="5943600" cy="18653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Decreasing cycle amplitude is an early indication of potential underlying weakness in an uptrend, and a bullish indication in a downtrend. In an uptrend the up cycle amplitudes must, on average, be larger than the down ones; the converse in a downtrend. The change in successive amplitudes matters most.</a:t>
            </a:r>
          </a:p>
        </p:txBody>
      </p:sp>
      <p:sp>
        <p:nvSpPr>
          <p:cNvPr id="14" name="Rectangle 13"/>
          <p:cNvSpPr/>
          <p:nvPr/>
        </p:nvSpPr>
        <p:spPr>
          <a:xfrm>
            <a:off x="7315199" y="2157984"/>
            <a:ext cx="40992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315199" y="2157984"/>
            <a:ext cx="40992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726679" y="2615184"/>
            <a:ext cx="327629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5.11</a:t>
            </a:r>
          </a:p>
          <a:p>
            <a:pPr algn="l">
              <a:lnSpc>
                <a:spcPct val="120000"/>
              </a:lnSpc>
              <a:spcBef>
                <a:spcPts val="0"/>
              </a:spcBef>
              <a:spcAft>
                <a:spcPts val="1400"/>
              </a:spcAft>
            </a:pPr>
            <a:r>
              <a:rPr sz="1800" b="0" i="0">
                <a:solidFill>
                  <a:srgbClr val="1A1A1A"/>
                </a:solidFill>
                <a:latin typeface="Palatino"/>
              </a:rPr>
              <a:t>A rising wave between two converging dashed lines, each swing smaller than the last, with the up cycle amplitudes and the down cycle amplitudes measured by vertical arrows, labelled gradually decreasing up and down cycle amplitudes.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5.11 -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p.132 and Figure 5.11. It gives no reason why a shrinking amplitude means weakness. The pesos are our example.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Contracting, even and expanding amplitude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3 of 28</a:t>
            </a:r>
          </a:p>
        </p:txBody>
      </p:sp>
      <p:sp>
        <p:nvSpPr>
          <p:cNvPr id="7" name="TextBox 6"/>
          <p:cNvSpPr txBox="1"/>
          <p:nvPr/>
        </p:nvSpPr>
        <p:spPr>
          <a:xfrm>
            <a:off x="777240" y="1965960"/>
            <a:ext cx="52120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Contracting formations are bearish in an uptrend and bullish in a downtrend.</a:t>
            </a:r>
          </a:p>
          <a:p>
            <a:pPr algn="l">
              <a:lnSpc>
                <a:spcPct val="105000"/>
              </a:lnSpc>
              <a:spcBef>
                <a:spcPts val="0"/>
              </a:spcBef>
              <a:spcAft>
                <a:spcPts val="1100"/>
              </a:spcAft>
            </a:pPr>
            <a:r>
              <a:rPr sz="1700" b="0" i="0">
                <a:solidFill>
                  <a:srgbClr val="1A1A1A"/>
                </a:solidFill>
                <a:latin typeface="Arial"/>
              </a:rPr>
              <a:t>Expanding formations, with both boundary lines pointing upward, are generally bullish in an uptrend; the converse in a downtrend.</a:t>
            </a:r>
          </a:p>
          <a:p>
            <a:pPr algn="l">
              <a:lnSpc>
                <a:spcPct val="105000"/>
              </a:lnSpc>
              <a:spcBef>
                <a:spcPts val="0"/>
              </a:spcBef>
              <a:spcAft>
                <a:spcPts val="1100"/>
              </a:spcAft>
            </a:pPr>
            <a:r>
              <a:rPr sz="1700" b="0" i="0">
                <a:solidFill>
                  <a:srgbClr val="1A1A1A"/>
                </a:solidFill>
                <a:latin typeface="Arial"/>
              </a:rPr>
              <a:t>Steady, consistent amplitude is bullish in an uptrend and bearish in a downtrend.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9194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steady trend is regarded as the most reliable in extent and duration.</a:t>
            </a:r>
          </a:p>
        </p:txBody>
      </p:sp>
      <p:sp>
        <p:nvSpPr>
          <p:cNvPr id="10" name="TextBox 9"/>
          <p:cNvSpPr txBox="1"/>
          <p:nvPr/>
        </p:nvSpPr>
        <p:spPr>
          <a:xfrm>
            <a:off x="777240" y="5461254"/>
            <a:ext cx="52120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 labels even Neutral / Bullish and expanding Bullish / Volatile; the book does not reconcile them.</a:t>
            </a:r>
          </a:p>
        </p:txBody>
      </p:sp>
      <p:sp>
        <p:nvSpPr>
          <p:cNvPr id="11" name="Rectangle 10"/>
          <p:cNvSpPr/>
          <p:nvPr/>
        </p:nvSpPr>
        <p:spPr>
          <a:xfrm>
            <a:off x="6309359" y="1810512"/>
            <a:ext cx="51050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09359" y="1810512"/>
            <a:ext cx="51050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720840" y="2267712"/>
            <a:ext cx="42821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5.12</a:t>
            </a:r>
          </a:p>
          <a:p>
            <a:pPr algn="l">
              <a:lnSpc>
                <a:spcPct val="120000"/>
              </a:lnSpc>
              <a:spcBef>
                <a:spcPts val="0"/>
              </a:spcBef>
              <a:spcAft>
                <a:spcPts val="1400"/>
              </a:spcAft>
            </a:pPr>
            <a:r>
              <a:rPr sz="1800" b="0" i="0">
                <a:solidFill>
                  <a:srgbClr val="1A1A1A"/>
                </a:solidFill>
                <a:latin typeface="Palatino"/>
              </a:rPr>
              <a:t>Three idealized uptrends side by side: contracting price action between converging lines, labelled bearish; even price action between parallel lines, labelled neutral or bullish; and expanding price action between diverging lines, labelled bullish or volatile.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309359" y="5650992"/>
            <a:ext cx="51050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5.12 -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p.133 and Figure 5.12. The book states these readings and gives no reason for them.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2  Cycle period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4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How long each swing takes, as the figure marks it: across, from one peak to the next.</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An uptrend's peaks come 30 bars apart, then 20, then 12: a decreasing cycle period.</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76072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Decreasing cycle periods are also an early indication of potential weakness in a trend. A gradual reduction in the cycle period during an uptrend: there may be underlying weakness in the uptrend. During a downtrend: a bullish indication.</a:t>
            </a:r>
          </a:p>
        </p:txBody>
      </p:sp>
      <p:sp>
        <p:nvSpPr>
          <p:cNvPr id="14" name="Rectangle 13"/>
          <p:cNvSpPr/>
          <p:nvPr/>
        </p:nvSpPr>
        <p:spPr>
          <a:xfrm>
            <a:off x="7132319" y="2157984"/>
            <a:ext cx="42821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132319" y="2157984"/>
            <a:ext cx="42821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543799" y="2615184"/>
            <a:ext cx="34591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5.13</a:t>
            </a:r>
          </a:p>
          <a:p>
            <a:pPr algn="l">
              <a:lnSpc>
                <a:spcPct val="120000"/>
              </a:lnSpc>
              <a:spcBef>
                <a:spcPts val="0"/>
              </a:spcBef>
              <a:spcAft>
                <a:spcPts val="1400"/>
              </a:spcAft>
            </a:pPr>
            <a:r>
              <a:rPr sz="1800" b="0" i="0">
                <a:solidFill>
                  <a:srgbClr val="1A1A1A"/>
                </a:solidFill>
                <a:latin typeface="Palatino"/>
              </a:rPr>
              <a:t>A rising wave between two converging lines whose peaks come closer and closer together, with the horizontal distance between peaks marked by arrows that shorten, labelled gradually decreasing cycle periods.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132319" y="5650992"/>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5.13 -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p.133 and Figure 5.13. It gives no reason. The bar counts 30, 20 and 12 are our example.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3  Bar retracement symmetry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5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48463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In a strong trend each retracement takes about the same number of bars. Count them.</a:t>
            </a:r>
          </a:p>
        </p:txBody>
      </p:sp>
      <p:sp>
        <p:nvSpPr>
          <p:cNvPr id="10" name="Rectangle 9"/>
          <p:cNvSpPr/>
          <p:nvPr/>
        </p:nvSpPr>
        <p:spPr>
          <a:xfrm>
            <a:off x="777240" y="323392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48463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In the figure three retracements take 28, 30 and 26 bars: consistent symmetry. The next takes 14: symmetry broken, and a strong upside move follows, at A.</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48463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change in the number of bars in a retracement is an early indication of a potential change in trend behavior.</a:t>
            </a:r>
          </a:p>
        </p:txBody>
      </p:sp>
      <p:sp>
        <p:nvSpPr>
          <p:cNvPr id="14" name="Rectangle 13"/>
          <p:cNvSpPr/>
          <p:nvPr/>
        </p:nvSpPr>
        <p:spPr>
          <a:xfrm>
            <a:off x="6217919" y="2157984"/>
            <a:ext cx="51965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17919" y="2157984"/>
            <a:ext cx="51965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629399" y="2615184"/>
            <a:ext cx="43735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5.14</a:t>
            </a:r>
          </a:p>
          <a:p>
            <a:pPr algn="l">
              <a:lnSpc>
                <a:spcPct val="120000"/>
              </a:lnSpc>
              <a:spcBef>
                <a:spcPts val="0"/>
              </a:spcBef>
              <a:spcAft>
                <a:spcPts val="1400"/>
              </a:spcAft>
            </a:pPr>
            <a:r>
              <a:rPr sz="1800" b="0" i="0">
                <a:solidFill>
                  <a:srgbClr val="1A1A1A"/>
                </a:solidFill>
                <a:latin typeface="Palatino"/>
              </a:rPr>
              <a:t>A rising channel in which three retracements of 28, 30 and 26 bars are labelled consistent symmetry indicates strong trend action, then a retracement of only 14 bars circled as symmetry broken, a trend behavior change, before price leaves the channel upward at a point A.</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5.14 -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p.134 and Figure 5.14: the bar counts 28, 30, 26 and 14 are printed on the figure. It gives no reason.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4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Amplitude and symmetry</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an uptrend, the cycle amplitude decreases swing after swing. This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sign that the trend is strengthening</a:t>
            </a:r>
          </a:p>
          <a:p>
            <a:pPr algn="l">
              <a:lnSpc>
                <a:spcPct val="112000"/>
              </a:lnSpc>
              <a:spcBef>
                <a:spcPts val="0"/>
              </a:spcBef>
              <a:spcAft>
                <a:spcPts val="900"/>
              </a:spcAft>
            </a:pPr>
            <a:r>
              <a:rPr sz="1500" b="0" i="0">
                <a:solidFill>
                  <a:srgbClr val="FFFFFF"/>
                </a:solidFill>
                <a:latin typeface="Arial"/>
              </a:rPr>
              <a:t>B.  A bullish indication</a:t>
            </a:r>
          </a:p>
          <a:p>
            <a:pPr algn="l">
              <a:lnSpc>
                <a:spcPct val="112000"/>
              </a:lnSpc>
              <a:spcBef>
                <a:spcPts val="0"/>
              </a:spcBef>
              <a:spcAft>
                <a:spcPts val="900"/>
              </a:spcAft>
            </a:pPr>
            <a:r>
              <a:rPr sz="1500" b="0" i="0">
                <a:solidFill>
                  <a:srgbClr val="FFFFFF"/>
                </a:solidFill>
                <a:latin typeface="Arial"/>
              </a:rPr>
              <a:t>C.  An early indication of potential weakness</a:t>
            </a:r>
          </a:p>
          <a:p>
            <a:pPr algn="l">
              <a:lnSpc>
                <a:spcPct val="112000"/>
              </a:lnSpc>
              <a:spcBef>
                <a:spcPts val="0"/>
              </a:spcBef>
              <a:spcAft>
                <a:spcPts val="900"/>
              </a:spcAft>
            </a:pPr>
            <a:r>
              <a:rPr sz="1500" b="0" i="0">
                <a:solidFill>
                  <a:srgbClr val="FFFFFF"/>
                </a:solidFill>
                <a:latin typeface="Arial"/>
              </a:rPr>
              <a:t>D.  Of no significance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Retracements in an uptrend have taken 28, 30 and 26 bars. The next one takes 14. This suggests: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potential change in trend behavior</a:t>
            </a:r>
          </a:p>
          <a:p>
            <a:pPr algn="l">
              <a:lnSpc>
                <a:spcPct val="112000"/>
              </a:lnSpc>
              <a:spcBef>
                <a:spcPts val="0"/>
              </a:spcBef>
              <a:spcAft>
                <a:spcPts val="900"/>
              </a:spcAft>
            </a:pPr>
            <a:r>
              <a:rPr sz="1500" b="0" i="0">
                <a:solidFill>
                  <a:srgbClr val="FFFFFF"/>
                </a:solidFill>
                <a:latin typeface="Arial"/>
              </a:rPr>
              <a:t>B.  Nothing, because the trend is still up</a:t>
            </a:r>
          </a:p>
          <a:p>
            <a:pPr algn="l">
              <a:lnSpc>
                <a:spcPct val="112000"/>
              </a:lnSpc>
              <a:spcBef>
                <a:spcPts val="0"/>
              </a:spcBef>
              <a:spcAft>
                <a:spcPts val="900"/>
              </a:spcAft>
            </a:pPr>
            <a:r>
              <a:rPr sz="1500" b="0" i="0">
                <a:solidFill>
                  <a:srgbClr val="FFFFFF"/>
                </a:solidFill>
                <a:latin typeface="Arial"/>
              </a:rPr>
              <a:t>C.  An increase in cycle amplitude</a:t>
            </a:r>
          </a:p>
          <a:p>
            <a:pPr algn="l">
              <a:lnSpc>
                <a:spcPct val="112000"/>
              </a:lnSpc>
              <a:spcBef>
                <a:spcPts val="0"/>
              </a:spcBef>
              <a:spcAft>
                <a:spcPts val="900"/>
              </a:spcAft>
            </a:pPr>
            <a:r>
              <a:rPr sz="1500" b="0" i="0">
                <a:solidFill>
                  <a:srgbClr val="FFFFFF"/>
                </a:solidFill>
                <a:latin typeface="Arial"/>
              </a:rPr>
              <a:t>D.  That a downtrend has begun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11 - 5.2 Quality of trend  |  Check 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Amplitude and symmetry</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an uptrend, the cycle amplitude decreases swing after swing. This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An early indication of potential weakness</a:t>
            </a:r>
          </a:p>
          <a:p>
            <a:pPr algn="l">
              <a:lnSpc>
                <a:spcPct val="115000"/>
              </a:lnSpc>
              <a:spcBef>
                <a:spcPts val="700"/>
              </a:spcBef>
              <a:spcAft>
                <a:spcPts val="0"/>
              </a:spcAft>
            </a:pPr>
            <a:r>
              <a:rPr sz="1600" b="0" i="0">
                <a:solidFill>
                  <a:srgbClr val="1A1A1A"/>
                </a:solidFill>
                <a:latin typeface="Arial"/>
              </a:rPr>
              <a:t>Decreasing cycle amplitude in an uptrend is an early indication of potential underlying weakness. In a downtrend it would be bullish.</a:t>
            </a:r>
          </a:p>
        </p:txBody>
      </p:sp>
      <p:sp>
        <p:nvSpPr>
          <p:cNvPr id="10" name="Rectangle 9"/>
          <p:cNvSpPr/>
          <p:nvPr/>
        </p:nvSpPr>
        <p:spPr>
          <a:xfrm>
            <a:off x="777240" y="331571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Retracements in an uptrend have taken 28, 30 and 26 bars. The next one takes 14. This suggests: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potential change in trend behavior</a:t>
            </a:r>
          </a:p>
          <a:p>
            <a:pPr algn="l">
              <a:lnSpc>
                <a:spcPct val="115000"/>
              </a:lnSpc>
              <a:spcBef>
                <a:spcPts val="700"/>
              </a:spcBef>
              <a:spcAft>
                <a:spcPts val="0"/>
              </a:spcAft>
            </a:pPr>
            <a:r>
              <a:rPr sz="1600" b="0" i="0">
                <a:solidFill>
                  <a:srgbClr val="1A1A1A"/>
                </a:solidFill>
                <a:latin typeface="Arial"/>
              </a:rPr>
              <a:t>A change in the number of bars in a retracement is an early indication of a potential change in trend behavior.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Check 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4  Average bar range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6 of 28</a:t>
            </a:r>
          </a:p>
        </p:txBody>
      </p:sp>
      <p:sp>
        <p:nvSpPr>
          <p:cNvPr id="8" name="Rectangle 7"/>
          <p:cNvSpPr/>
          <p:nvPr/>
        </p:nvSpPr>
        <p:spPr>
          <a:xfrm>
            <a:off x="777240" y="2258568"/>
            <a:ext cx="64008" cy="4754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943600" cy="585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800" b="1" i="0">
                <a:solidFill>
                  <a:srgbClr val="1A1A1A"/>
                </a:solidFill>
                <a:latin typeface="Arial"/>
              </a:rPr>
              <a:t>The average height of the bars, low to high.</a:t>
            </a:r>
          </a:p>
        </p:txBody>
      </p:sp>
      <p:sp>
        <p:nvSpPr>
          <p:cNvPr id="10" name="Rectangle 9"/>
          <p:cNvSpPr/>
          <p:nvPr/>
        </p:nvSpPr>
        <p:spPr>
          <a:xfrm>
            <a:off x="777240" y="2990087"/>
            <a:ext cx="64008" cy="7498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44368"/>
            <a:ext cx="5943600" cy="8595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800" b="0" i="0">
                <a:solidFill>
                  <a:srgbClr val="1A1A1A"/>
                </a:solidFill>
                <a:latin typeface="Arial"/>
              </a:rPr>
              <a:t>Daily ranges average PHP 3.00 one month, 2.40 the next, 1.80 the next: a decreasing average bar range.</a:t>
            </a:r>
          </a:p>
        </p:txBody>
      </p:sp>
      <p:sp>
        <p:nvSpPr>
          <p:cNvPr id="12" name="Rectangle 11"/>
          <p:cNvSpPr/>
          <p:nvPr/>
        </p:nvSpPr>
        <p:spPr>
          <a:xfrm>
            <a:off x="777240" y="3995927"/>
            <a:ext cx="64008" cy="12984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50207"/>
            <a:ext cx="5943600" cy="14081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800" b="0" i="0">
                <a:solidFill>
                  <a:srgbClr val="1A1A1A"/>
                </a:solidFill>
                <a:latin typeface="Arial"/>
              </a:rPr>
              <a:t>A decrease in the average bar range is an early indication of potential weakness in an uptrend, and a bullish indication in a downtrend. The bar range can be tracked using the average true range, ATR.</a:t>
            </a:r>
          </a:p>
        </p:txBody>
      </p:sp>
      <p:sp>
        <p:nvSpPr>
          <p:cNvPr id="14" name="Rectangle 13"/>
          <p:cNvSpPr/>
          <p:nvPr/>
        </p:nvSpPr>
        <p:spPr>
          <a:xfrm>
            <a:off x="7315199" y="2157984"/>
            <a:ext cx="40992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315199" y="2157984"/>
            <a:ext cx="40992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726679" y="2615184"/>
            <a:ext cx="327629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5.15</a:t>
            </a:r>
          </a:p>
          <a:p>
            <a:pPr algn="l">
              <a:lnSpc>
                <a:spcPct val="120000"/>
              </a:lnSpc>
              <a:spcBef>
                <a:spcPts val="0"/>
              </a:spcBef>
              <a:spcAft>
                <a:spcPts val="1400"/>
              </a:spcAft>
            </a:pPr>
            <a:r>
              <a:rPr sz="1800" b="0" i="0">
                <a:solidFill>
                  <a:srgbClr val="1A1A1A"/>
                </a:solidFill>
                <a:latin typeface="Palatino"/>
              </a:rPr>
              <a:t>A rising run of candlesticks, each shorter than the one before, labelled gradually decreasing bar range, over a lower panel in which the ATR declines.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5.15 -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p.134, Figure 5.15, whose lower panel is the ATR: next slide. Its text fixes no number of bars to average; its real charts print ATR(14) unexplained. Pesos ours.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ATR: a bar range that counts the gaps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7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3: a bar's true range is the greater of its own range and the distance from the last close to its high or low.</a:t>
            </a:r>
          </a:p>
          <a:p>
            <a:pPr algn="l">
              <a:lnSpc>
                <a:spcPct val="105000"/>
              </a:lnSpc>
              <a:spcBef>
                <a:spcPts val="0"/>
              </a:spcBef>
              <a:spcAft>
                <a:spcPts val="1100"/>
              </a:spcAft>
            </a:pPr>
            <a:r>
              <a:rPr sz="1700" b="0" i="0">
                <a:solidFill>
                  <a:srgbClr val="1A1A1A"/>
                </a:solidFill>
                <a:latin typeface="Arial"/>
              </a:rPr>
              <a:t>On Chapter 3's two bars: bar range 2.50, true range 6.00.</a:t>
            </a:r>
          </a:p>
          <a:p>
            <a:pPr algn="l">
              <a:lnSpc>
                <a:spcPct val="105000"/>
              </a:lnSpc>
              <a:spcBef>
                <a:spcPts val="0"/>
              </a:spcBef>
              <a:spcAft>
                <a:spcPts val="1100"/>
              </a:spcAft>
            </a:pPr>
            <a:r>
              <a:rPr sz="1700" b="0" i="0">
                <a:solidFill>
                  <a:srgbClr val="1A1A1A"/>
                </a:solidFill>
                <a:latin typeface="Arial"/>
              </a:rPr>
              <a:t>The ATR is the average of the true ranges.</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Unlike average bar range, the ATR accounts for gaps between the bars as well.</a:t>
            </a:r>
          </a:p>
        </p:txBody>
      </p:sp>
      <p:sp>
        <p:nvSpPr>
          <p:cNvPr id="10" name="TextBox 9"/>
          <p:cNvSpPr txBox="1"/>
          <p:nvPr/>
        </p:nvSpPr>
        <p:spPr>
          <a:xfrm>
            <a:off x="777240" y="546354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3 met it with the Type 4 gap. The book calls the ATR an oscillator: that, and how it is averaged, is Chapter 8.</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l.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L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p.134: the gold sentence is the book's own; counting gaps is its only given reason. Recall: Chapter 3's slide "The true range, and the Type 4 gap". The chart is ours.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declining ATR in a steady uptrend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8 of 28</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GLD, the SPDR Gold Trust Shares, weekly: a steady uptrend, the figure's strong uptrend, while the ATR in the bottom panel declines.</a:t>
            </a:r>
          </a:p>
          <a:p>
            <a:pPr algn="l">
              <a:lnSpc>
                <a:spcPct val="105000"/>
              </a:lnSpc>
              <a:spcBef>
                <a:spcPts val="0"/>
              </a:spcBef>
              <a:spcAft>
                <a:spcPts val="1100"/>
              </a:spcAft>
            </a:pPr>
            <a:r>
              <a:rPr sz="2000" b="0" i="0">
                <a:solidFill>
                  <a:srgbClr val="1A1A1A"/>
                </a:solidFill>
                <a:latin typeface="Arial"/>
              </a:rPr>
              <a:t>Volume, the bars under the price, rises: bullish. But the ATR is indicating otherwise.</a:t>
            </a:r>
          </a:p>
        </p:txBody>
      </p:sp>
      <p:sp>
        <p:nvSpPr>
          <p:cNvPr id="8" name="Rectangle 7"/>
          <p:cNvSpPr/>
          <p:nvPr/>
        </p:nvSpPr>
        <p:spPr>
          <a:xfrm>
            <a:off x="777240" y="4096511"/>
            <a:ext cx="82296" cy="4663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6108192" cy="46634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Price declined after the volume climax.</a:t>
            </a:r>
          </a:p>
        </p:txBody>
      </p:sp>
      <p:sp>
        <p:nvSpPr>
          <p:cNvPr id="10" name="TextBox 9"/>
          <p:cNvSpPr txBox="1"/>
          <p:nvPr/>
        </p:nvSpPr>
        <p:spPr>
          <a:xfrm>
            <a:off x="777240" y="4764023"/>
            <a:ext cx="64008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Volume climax: the book's phrase, undefined here; the burst of volume near the top. It adds that a large bearish candlestick, circled at the top, completes the picture: too small to see here, and not needed. The ATR's turn up at the end goes without comment.</a:t>
            </a:r>
          </a:p>
        </p:txBody>
      </p:sp>
      <p:sp>
        <p:nvSpPr>
          <p:cNvPr id="11" name="Rectangle 10"/>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5.16</a:t>
            </a:r>
          </a:p>
          <a:p>
            <a:pPr algn="l">
              <a:lnSpc>
                <a:spcPct val="120000"/>
              </a:lnSpc>
              <a:spcBef>
                <a:spcPts val="0"/>
              </a:spcBef>
              <a:spcAft>
                <a:spcPts val="1400"/>
              </a:spcAft>
            </a:pPr>
            <a:r>
              <a:rPr sz="1800" b="0" i="0">
                <a:solidFill>
                  <a:srgbClr val="1A1A1A"/>
                </a:solidFill>
                <a:latin typeface="Palatino"/>
              </a:rPr>
              <a:t>The weekly GLD chart in three panels: price in a strong uptrend to a circled pair of candlesticks at the top, volume increasing beneath it, and the ATR declining all the way up before turning.</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5.16 -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pp.134-135 and Figure 5.16.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  Price persistence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9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 trend persists for longer when price is of high quality: relatively small, and approximately equal, bar ranges.</a:t>
            </a:r>
          </a:p>
          <a:p>
            <a:pPr algn="l">
              <a:lnSpc>
                <a:spcPct val="105000"/>
              </a:lnSpc>
              <a:spcBef>
                <a:spcPts val="0"/>
              </a:spcBef>
              <a:spcAft>
                <a:spcPts val="1100"/>
              </a:spcAft>
            </a:pPr>
            <a:r>
              <a:rPr sz="1800" b="0" i="0">
                <a:solidFill>
                  <a:srgbClr val="1A1A1A"/>
                </a:solidFill>
                <a:latin typeface="Arial"/>
              </a:rPr>
              <a:t>Price then moves predictably. Trends and reversals are clear and decisive, and volatility is relatively low.</a:t>
            </a:r>
          </a:p>
          <a:p>
            <a:pPr algn="l">
              <a:lnSpc>
                <a:spcPct val="105000"/>
              </a:lnSpc>
              <a:spcBef>
                <a:spcPts val="0"/>
              </a:spcBef>
              <a:spcAft>
                <a:spcPts val="1100"/>
              </a:spcAft>
            </a:pPr>
            <a:r>
              <a:rPr sz="1800" b="0" i="0">
                <a:solidFill>
                  <a:srgbClr val="1A1A1A"/>
                </a:solidFill>
                <a:latin typeface="Arial"/>
              </a:rPr>
              <a:t>Left box: long, clean moves, greater persistence. Right box: short, choppy moves, lesser persistence.</a:t>
            </a:r>
          </a:p>
        </p:txBody>
      </p:sp>
      <p:sp>
        <p:nvSpPr>
          <p:cNvPr id="8" name="TextBox 7"/>
          <p:cNvSpPr txBox="1"/>
          <p:nvPr/>
        </p:nvSpPr>
        <p:spPr>
          <a:xfrm>
            <a:off x="777240" y="525322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Persistence, Chapter 1: price behavior persists. Low volatility here: small bars, not small moves, in our reading. The bars are too small to see: the next slide draws them.</a:t>
            </a:r>
          </a:p>
        </p:txBody>
      </p:sp>
      <p:sp>
        <p:nvSpPr>
          <p:cNvPr id="9" name="Rectangle 8"/>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5.17</a:t>
            </a:r>
          </a:p>
          <a:p>
            <a:pPr algn="l">
              <a:lnSpc>
                <a:spcPct val="120000"/>
              </a:lnSpc>
              <a:spcBef>
                <a:spcPts val="0"/>
              </a:spcBef>
              <a:spcAft>
                <a:spcPts val="1400"/>
              </a:spcAft>
            </a:pPr>
            <a:r>
              <a:rPr sz="1800" b="0" i="0">
                <a:solidFill>
                  <a:srgbClr val="1A1A1A"/>
                </a:solidFill>
                <a:latin typeface="Palatino"/>
              </a:rPr>
              <a:t>An hourly GBPJPY chart with two boxes: higher quality price action with greater persistence, where the swings are long and clean, and lower quality price action with lesser persistence, where they are short and choppy.</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5.17 -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pp.135-136, Figure 5.17: hourly GBPJPY. The book does not say what low volatility is measured by, or name the curved bands.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High and lower quality price, on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10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Left, high quality: every bar's range is relatively small, and about equal to the last.</a:t>
            </a:r>
          </a:p>
          <a:p>
            <a:pPr algn="l">
              <a:lnSpc>
                <a:spcPct val="105000"/>
              </a:lnSpc>
              <a:spcBef>
                <a:spcPts val="0"/>
              </a:spcBef>
              <a:spcAft>
                <a:spcPts val="1100"/>
              </a:spcAft>
            </a:pPr>
            <a:r>
              <a:rPr sz="1700" b="0" i="0">
                <a:solidFill>
                  <a:srgbClr val="1A1A1A"/>
                </a:solidFill>
                <a:latin typeface="Arial"/>
              </a:rPr>
              <a:t>Price moves predictably: a clean trend up, and a clear, decisive reversal.</a:t>
            </a:r>
          </a:p>
          <a:p>
            <a:pPr algn="l">
              <a:lnSpc>
                <a:spcPct val="105000"/>
              </a:lnSpc>
              <a:spcBef>
                <a:spcPts val="0"/>
              </a:spcBef>
              <a:spcAft>
                <a:spcPts val="1100"/>
              </a:spcAft>
            </a:pPr>
            <a:r>
              <a:rPr sz="1700" b="0" i="0">
                <a:solidFill>
                  <a:srgbClr val="1A1A1A"/>
                </a:solidFill>
                <a:latin typeface="Arial"/>
              </a:rPr>
              <a:t>Right, lower quality: bar ranges uneven, small then large. Moves are short and choppy, and hard to track.</a:t>
            </a:r>
          </a:p>
        </p:txBody>
      </p:sp>
      <p:sp>
        <p:nvSpPr>
          <p:cNvPr id="8" name="Rectangle 7"/>
          <p:cNvSpPr/>
          <p:nvPr/>
        </p:nvSpPr>
        <p:spPr>
          <a:xfrm>
            <a:off x="777240" y="456514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Small, equal bars: the trend persists.</a:t>
            </a:r>
          </a:p>
        </p:txBody>
      </p:sp>
      <p:sp>
        <p:nvSpPr>
          <p:cNvPr id="10" name="TextBox 9"/>
          <p:cNvSpPr txBox="1"/>
          <p:nvPr/>
        </p:nvSpPr>
        <p:spPr>
          <a:xfrm>
            <a:off x="777240" y="518693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Characteristic 4 watched the bar range shrink. This one asks whether the bars are small and alike. The book does not relate the two.</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m.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M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two tests for high quality price (p.135) on invented bars, because the bars of its Figure 5.17 cannot be seen. It gives no reason for either test.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Bar stochastic</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11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Where a bar closed inside its own range: near the top, the middle or the bottom.</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bar with a low of PHP 40, a high of PHP 50 and a close of PHP 48: (48 - 40) / (50 - 40) = 0.80. It closed near its high.</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39496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relative position of the closing price within the bar itself, measured as a ratio: (C - L) / (H - L). The book calls it essentially a one-period %K, and does not explain %K here.</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n.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N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p.135; the formula is printed on its Figure 5.18 (p.136). The pesos and the chart are ours, picked to give 0.80, 0.50 and 0.20.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  The average bar stochastic ratio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12 of 28</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In an uptrend, a gradual decline in closes with respect to the bar is an early indication of potential weakness.</a:t>
            </a:r>
          </a:p>
          <a:p>
            <a:pPr algn="l">
              <a:lnSpc>
                <a:spcPct val="105000"/>
              </a:lnSpc>
              <a:spcBef>
                <a:spcPts val="0"/>
              </a:spcBef>
              <a:spcAft>
                <a:spcPts val="1100"/>
              </a:spcAft>
            </a:pPr>
            <a:r>
              <a:rPr sz="2000" b="0" i="0">
                <a:solidFill>
                  <a:srgbClr val="1A1A1A"/>
                </a:solidFill>
                <a:latin typeface="Arial"/>
              </a:rPr>
              <a:t>In a downtrend, a gradual increase is an early indication of potential bullishness.</a:t>
            </a:r>
          </a:p>
        </p:txBody>
      </p:sp>
      <p:sp>
        <p:nvSpPr>
          <p:cNvPr id="8" name="Rectangle 7"/>
          <p:cNvSpPr/>
          <p:nvPr/>
        </p:nvSpPr>
        <p:spPr>
          <a:xfrm>
            <a:off x="777240" y="4096511"/>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537667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In the figure the bars climb while each close sits lower within its bar.</a:t>
            </a:r>
          </a:p>
        </p:txBody>
      </p:sp>
      <p:sp>
        <p:nvSpPr>
          <p:cNvPr id="10" name="TextBox 9"/>
          <p:cNvSpPr txBox="1"/>
          <p:nvPr/>
        </p:nvSpPr>
        <p:spPr>
          <a:xfrm>
            <a:off x="777240" y="5084064"/>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Average: the ratio is watched through a moving average of it, on the next slide.</a:t>
            </a:r>
          </a:p>
        </p:txBody>
      </p:sp>
      <p:sp>
        <p:nvSpPr>
          <p:cNvPr id="11" name="Rectangle 10"/>
          <p:cNvSpPr/>
          <p:nvPr/>
        </p:nvSpPr>
        <p:spPr>
          <a:xfrm>
            <a:off x="6766559" y="1810512"/>
            <a:ext cx="46478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66559" y="1810512"/>
            <a:ext cx="46478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78040" y="2267712"/>
            <a:ext cx="38249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5.18</a:t>
            </a:r>
          </a:p>
          <a:p>
            <a:pPr algn="l">
              <a:lnSpc>
                <a:spcPct val="120000"/>
              </a:lnSpc>
              <a:spcBef>
                <a:spcPts val="0"/>
              </a:spcBef>
              <a:spcAft>
                <a:spcPts val="1400"/>
              </a:spcAft>
            </a:pPr>
            <a:r>
              <a:rPr sz="1800" b="0" i="0">
                <a:solidFill>
                  <a:srgbClr val="1A1A1A"/>
                </a:solidFill>
                <a:latin typeface="Palatino"/>
              </a:rPr>
              <a:t>A rising run of bars whose closes sit lower and lower within each bar, labelled declining closing prices with respect to the bar range, with the formula bar stochastic = (C - L) / (H - L) and a lower panel in which the bar stochastic declines.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5.18 -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p.135, and Figure 5.18 on p.136. It gives no reason for the sign.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ratio, averaged, on a real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13 of 28</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ratio is monitored with a simple moving average, SMA. Lower panel: a 3-period SMA, the average of the last three bars' ratios.</a:t>
            </a:r>
          </a:p>
          <a:p>
            <a:pPr algn="l">
              <a:lnSpc>
                <a:spcPct val="105000"/>
              </a:lnSpc>
              <a:spcBef>
                <a:spcPts val="0"/>
              </a:spcBef>
              <a:spcAft>
                <a:spcPts val="1100"/>
              </a:spcAft>
            </a:pPr>
            <a:r>
              <a:rPr sz="1700" b="0" i="0">
                <a:solidFill>
                  <a:srgbClr val="1A1A1A"/>
                </a:solidFill>
                <a:latin typeface="Arial"/>
              </a:rPr>
              <a:t>The book: it accurately identifies bearish divergences in uptrends and bullish ones in downtrends, which the figure labels.</a:t>
            </a:r>
          </a:p>
          <a:p>
            <a:pPr algn="l">
              <a:lnSpc>
                <a:spcPct val="105000"/>
              </a:lnSpc>
              <a:spcBef>
                <a:spcPts val="0"/>
              </a:spcBef>
              <a:spcAft>
                <a:spcPts val="1100"/>
              </a:spcAft>
            </a:pPr>
            <a:r>
              <a:rPr sz="1700" b="0" i="0">
                <a:solidFill>
                  <a:srgbClr val="1A1A1A"/>
                </a:solidFill>
                <a:latin typeface="Arial"/>
              </a:rPr>
              <a:t>The panel cannot be read at this size. The next slide draws one bearish divergence.</a:t>
            </a:r>
          </a:p>
        </p:txBody>
      </p:sp>
      <p:sp>
        <p:nvSpPr>
          <p:cNvPr id="8" name="TextBox 7"/>
          <p:cNvSpPr txBox="1"/>
          <p:nvPr/>
        </p:nvSpPr>
        <p:spPr>
          <a:xfrm>
            <a:off x="777240" y="4837176"/>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Weekly EURUSD. Moving averages: Chapter 11. Divergence, bullish and bearish: Chapter 9.</a:t>
            </a:r>
          </a:p>
        </p:txBody>
      </p:sp>
      <p:sp>
        <p:nvSpPr>
          <p:cNvPr id="9" name="Rectangle 8"/>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5.19</a:t>
            </a:r>
          </a:p>
          <a:p>
            <a:pPr algn="l">
              <a:lnSpc>
                <a:spcPct val="120000"/>
              </a:lnSpc>
              <a:spcBef>
                <a:spcPts val="0"/>
              </a:spcBef>
              <a:spcAft>
                <a:spcPts val="1400"/>
              </a:spcAft>
            </a:pPr>
            <a:r>
              <a:rPr sz="1800" b="0" i="0">
                <a:solidFill>
                  <a:srgbClr val="1A1A1A"/>
                </a:solidFill>
                <a:latin typeface="Palatino"/>
              </a:rPr>
              <a:t>A weekly EURUSD chart over a lower panel carrying a 3-period SMA of the bar stochastic, with three tops labelled bearish divergence and three bottoms labelled bullish divergence.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5.19 -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pp.136-137 and Figure 5.19. It does not say why the average is of three periods.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bearish divergence, drawn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14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Top: price makes a peak, pulls back, then makes a higher peak.</a:t>
            </a:r>
          </a:p>
          <a:p>
            <a:pPr algn="l">
              <a:lnSpc>
                <a:spcPct val="105000"/>
              </a:lnSpc>
              <a:spcBef>
                <a:spcPts val="0"/>
              </a:spcBef>
              <a:spcAft>
                <a:spcPts val="1100"/>
              </a:spcAft>
            </a:pPr>
            <a:r>
              <a:rPr sz="1700" b="0" i="0">
                <a:solidFill>
                  <a:srgbClr val="1A1A1A"/>
                </a:solidFill>
                <a:latin typeface="Arial"/>
              </a:rPr>
              <a:t>Bottom: the three-bar average of the bar stochastic. Its second peak is lower.</a:t>
            </a:r>
          </a:p>
          <a:p>
            <a:pPr algn="l">
              <a:lnSpc>
                <a:spcPct val="105000"/>
              </a:lnSpc>
              <a:spcBef>
                <a:spcPts val="0"/>
              </a:spcBef>
              <a:spcAft>
                <a:spcPts val="1100"/>
              </a:spcAft>
            </a:pPr>
            <a:r>
              <a:rPr sz="1700" b="0" i="0">
                <a:solidFill>
                  <a:srgbClr val="1A1A1A"/>
                </a:solidFill>
                <a:latin typeface="Arial"/>
              </a:rPr>
              <a:t>Price higher, ratio lower: bearish divergence. In the second rally each bar closed lower in its range.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Closes sinking within their bars while price still rises.</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4 showed the same shape on the MACD. Bullish divergence, at bottoms, is left to Chapter 9.</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o.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O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one of Figure 5.19's bearish divergences (book p.136) on invented bars. Divergence as Chapter 4 showed it; the book explains it in Chapter 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7  Real body to range ratio, BRR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15 of 28</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9436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How much of a candlestick is real body: the open-to-close move as a share of the whole bar.</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94360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Open 42, close 48, low 40 and high 50, in pesos: (48 - 42) / (50 - 40) = 0.60.</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94360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BRR = (C - O) / (H - L). A gradual decrease in the real body to candlestick range is an early indication of potential weakness in an uptrend, and a bullish indicator in a downtrend. A simple moving average of the ratio is used to monitor it.</a:t>
            </a:r>
          </a:p>
        </p:txBody>
      </p:sp>
      <p:sp>
        <p:nvSpPr>
          <p:cNvPr id="14" name="Rectangle 13"/>
          <p:cNvSpPr/>
          <p:nvPr/>
        </p:nvSpPr>
        <p:spPr>
          <a:xfrm>
            <a:off x="7315199" y="2157984"/>
            <a:ext cx="40992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315199" y="2157984"/>
            <a:ext cx="40992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726679" y="2615184"/>
            <a:ext cx="327629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5.20</a:t>
            </a:r>
          </a:p>
          <a:p>
            <a:pPr algn="l">
              <a:lnSpc>
                <a:spcPct val="120000"/>
              </a:lnSpc>
              <a:spcBef>
                <a:spcPts val="0"/>
              </a:spcBef>
              <a:spcAft>
                <a:spcPts val="1400"/>
              </a:spcAft>
            </a:pPr>
            <a:r>
              <a:rPr sz="1800" b="0" i="0">
                <a:solidFill>
                  <a:srgbClr val="1A1A1A"/>
                </a:solidFill>
                <a:latin typeface="Palatino"/>
              </a:rPr>
              <a:t>A rising run of candlesticks whose real bodies shrink while their ranges do not, labelled declining BRR, with the formula body to range ratio (BRR) = (C - O) / (H - L) and a lower panel in which the BRR declines.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315199" y="5650992"/>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5.20 -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p.136; the formula is printed on Figure 5.20 (p.137). It gives no reason, and does not say how to treat a falling candle, where C - O is negative. The pesos are ours.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5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Bar range, and where the bar closes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bar has a low of PHP 20, a high of PHP 30 and a close of PHP 22. Its bar stochastic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0.20</a:t>
            </a:r>
          </a:p>
          <a:p>
            <a:pPr algn="l">
              <a:lnSpc>
                <a:spcPct val="112000"/>
              </a:lnSpc>
              <a:spcBef>
                <a:spcPts val="0"/>
              </a:spcBef>
              <a:spcAft>
                <a:spcPts val="900"/>
              </a:spcAft>
            </a:pPr>
            <a:r>
              <a:rPr sz="1500" b="0" i="0">
                <a:solidFill>
                  <a:srgbClr val="FFFFFF"/>
                </a:solidFill>
                <a:latin typeface="Arial"/>
              </a:rPr>
              <a:t>B.  0.50</a:t>
            </a:r>
          </a:p>
          <a:p>
            <a:pPr algn="l">
              <a:lnSpc>
                <a:spcPct val="112000"/>
              </a:lnSpc>
              <a:spcBef>
                <a:spcPts val="0"/>
              </a:spcBef>
              <a:spcAft>
                <a:spcPts val="900"/>
              </a:spcAft>
            </a:pPr>
            <a:r>
              <a:rPr sz="1500" b="0" i="0">
                <a:solidFill>
                  <a:srgbClr val="FFFFFF"/>
                </a:solidFill>
                <a:latin typeface="Arial"/>
              </a:rPr>
              <a:t>C.  0.80</a:t>
            </a:r>
          </a:p>
          <a:p>
            <a:pPr algn="l">
              <a:lnSpc>
                <a:spcPct val="112000"/>
              </a:lnSpc>
              <a:spcBef>
                <a:spcPts val="0"/>
              </a:spcBef>
              <a:spcAft>
                <a:spcPts val="900"/>
              </a:spcAft>
            </a:pPr>
            <a:r>
              <a:rPr sz="1500" b="0" i="0">
                <a:solidFill>
                  <a:srgbClr val="FFFFFF"/>
                </a:solidFill>
                <a:latin typeface="Arial"/>
              </a:rPr>
              <a:t>D.  2.00</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Unlike the average bar range, the average true range (ATR) oscillator:</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Ignores the closing price</a:t>
            </a:r>
          </a:p>
          <a:p>
            <a:pPr algn="l">
              <a:lnSpc>
                <a:spcPct val="112000"/>
              </a:lnSpc>
              <a:spcBef>
                <a:spcPts val="0"/>
              </a:spcBef>
              <a:spcAft>
                <a:spcPts val="900"/>
              </a:spcAft>
            </a:pPr>
            <a:r>
              <a:rPr sz="1500" b="0" i="0">
                <a:solidFill>
                  <a:srgbClr val="FFFFFF"/>
                </a:solidFill>
                <a:latin typeface="Arial"/>
              </a:rPr>
              <a:t>B.  Accounts for gaps between the bars</a:t>
            </a:r>
          </a:p>
          <a:p>
            <a:pPr algn="l">
              <a:lnSpc>
                <a:spcPct val="112000"/>
              </a:lnSpc>
              <a:spcBef>
                <a:spcPts val="0"/>
              </a:spcBef>
              <a:spcAft>
                <a:spcPts val="900"/>
              </a:spcAft>
            </a:pPr>
            <a:r>
              <a:rPr sz="1500" b="0" i="0">
                <a:solidFill>
                  <a:srgbClr val="FFFFFF"/>
                </a:solidFill>
                <a:latin typeface="Arial"/>
              </a:rPr>
              <a:t>C.  Works only in uptrends</a:t>
            </a:r>
          </a:p>
          <a:p>
            <a:pPr algn="l">
              <a:lnSpc>
                <a:spcPct val="112000"/>
              </a:lnSpc>
              <a:spcBef>
                <a:spcPts val="0"/>
              </a:spcBef>
              <a:spcAft>
                <a:spcPts val="900"/>
              </a:spcAft>
            </a:pPr>
            <a:r>
              <a:rPr sz="1500" b="0" i="0">
                <a:solidFill>
                  <a:srgbClr val="FFFFFF"/>
                </a:solidFill>
                <a:latin typeface="Arial"/>
              </a:rPr>
              <a:t>D.  Measures volume, and not price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11 - 5.2 Quality of trend  |  Check 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Bar range, and where the bar closes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bar has a low of PHP 20, a high of PHP 30 and a close of PHP 22. Its bar stochastic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0.20</a:t>
            </a:r>
          </a:p>
          <a:p>
            <a:pPr algn="l">
              <a:lnSpc>
                <a:spcPct val="115000"/>
              </a:lnSpc>
              <a:spcBef>
                <a:spcPts val="700"/>
              </a:spcBef>
              <a:spcAft>
                <a:spcPts val="0"/>
              </a:spcAft>
            </a:pPr>
            <a:r>
              <a:rPr sz="1600" b="0" i="0">
                <a:solidFill>
                  <a:srgbClr val="1A1A1A"/>
                </a:solidFill>
                <a:latin typeface="Arial"/>
              </a:rPr>
              <a:t>(C - L) / (H - L) = (22 - 20) / (30 - 20) = 0.20. The bar closed near its low.</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Unlike the average bar range, the average true range (ATR) oscillator:</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Accounts for gaps between the bars</a:t>
            </a:r>
          </a:p>
          <a:p>
            <a:pPr algn="l">
              <a:lnSpc>
                <a:spcPct val="115000"/>
              </a:lnSpc>
              <a:spcBef>
                <a:spcPts val="700"/>
              </a:spcBef>
              <a:spcAft>
                <a:spcPts val="0"/>
              </a:spcAft>
            </a:pPr>
            <a:r>
              <a:rPr sz="1600" b="0" i="0">
                <a:solidFill>
                  <a:srgbClr val="1A1A1A"/>
                </a:solidFill>
                <a:latin typeface="Arial"/>
              </a:rPr>
              <a:t>The ATR will account for gaps between the bars as well, which a plain average of bar ranges does not.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Check 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8  Angular symmetry and momentum</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16 of 28</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trend rising or falling at a steady angle.</a:t>
            </a:r>
          </a:p>
        </p:txBody>
      </p:sp>
      <p:sp>
        <p:nvSpPr>
          <p:cNvPr id="10" name="Rectangle 9"/>
          <p:cNvSpPr/>
          <p:nvPr/>
        </p:nvSpPr>
        <p:spPr>
          <a:xfrm>
            <a:off x="777240" y="297484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3M Co.: every long line rises at one angle, consistent angular symmetry. Dotted lines 1 and 2 are parallel to each other: a strong predictor of bullishness.</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Any change in angular symmetry is an early indication of potential bullishness or bearishness. Generally an increase in the angle of ascent is bullish, and a decrease bearish.</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5.21</a:t>
            </a:r>
          </a:p>
          <a:p>
            <a:pPr algn="l">
              <a:lnSpc>
                <a:spcPct val="120000"/>
              </a:lnSpc>
              <a:spcBef>
                <a:spcPts val="0"/>
              </a:spcBef>
              <a:spcAft>
                <a:spcPts val="1400"/>
              </a:spcAft>
            </a:pPr>
            <a:r>
              <a:rPr sz="1800" b="0" i="0">
                <a:solidFill>
                  <a:srgbClr val="1A1A1A"/>
                </a:solidFill>
                <a:latin typeface="Palatino"/>
              </a:rPr>
              <a:t>A three year chart of 3M Co. with many trendlines, labelled all lines are rising at the same angle and underlying angular symmetry in 3M Co., two of them dotted and numbered 1 and 2, a point 3 above the second, and a box marked bullish indication.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5.21 -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pp.137-138, Fig. 5.21. Its reason: line 1 was followed by a steady rise. Point 3: where it expects a minor correction first. Momentum is never explained.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Acceleration and deceleration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17 of 28</a:t>
            </a:r>
          </a:p>
        </p:txBody>
      </p:sp>
      <p:sp>
        <p:nvSpPr>
          <p:cNvPr id="7" name="TextBox 6"/>
          <p:cNvSpPr txBox="1"/>
          <p:nvPr/>
        </p:nvSpPr>
        <p:spPr>
          <a:xfrm>
            <a:off x="777240" y="1965960"/>
            <a:ext cx="52120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Upside acceleration in price is bullish. Upside deceleration is bearish.</a:t>
            </a:r>
          </a:p>
          <a:p>
            <a:pPr algn="l">
              <a:lnSpc>
                <a:spcPct val="105000"/>
              </a:lnSpc>
              <a:spcBef>
                <a:spcPts val="0"/>
              </a:spcBef>
              <a:spcAft>
                <a:spcPts val="1100"/>
              </a:spcAft>
            </a:pPr>
            <a:r>
              <a:rPr sz="1800" b="0" i="0">
                <a:solidFill>
                  <a:srgbClr val="1A1A1A"/>
                </a:solidFill>
                <a:latin typeface="Arial"/>
              </a:rPr>
              <a:t>Downside acceleration is bearish. Downside deceleration is bullish.</a:t>
            </a:r>
          </a:p>
          <a:p>
            <a:pPr algn="l">
              <a:lnSpc>
                <a:spcPct val="105000"/>
              </a:lnSpc>
              <a:spcBef>
                <a:spcPts val="0"/>
              </a:spcBef>
              <a:spcAft>
                <a:spcPts val="1100"/>
              </a:spcAft>
            </a:pPr>
            <a:r>
              <a:rPr sz="1800" b="0" i="0">
                <a:solidFill>
                  <a:srgbClr val="1A1A1A"/>
                </a:solidFill>
                <a:latin typeface="Arial"/>
              </a:rPr>
              <a:t>Upside and downside acceleration is normally parabolic in nature.</a:t>
            </a:r>
          </a:p>
        </p:txBody>
      </p:sp>
      <p:sp>
        <p:nvSpPr>
          <p:cNvPr id="8" name="Rectangle 7"/>
          <p:cNvSpPr/>
          <p:nvPr/>
        </p:nvSpPr>
        <p:spPr>
          <a:xfrm>
            <a:off x="777240" y="4389120"/>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491947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An uptrend may not be self-sustaining if its rate of ascent was excessive.</a:t>
            </a:r>
          </a:p>
        </p:txBody>
      </p:sp>
      <p:sp>
        <p:nvSpPr>
          <p:cNvPr id="10" name="TextBox 9"/>
          <p:cNvSpPr txBox="1"/>
          <p:nvPr/>
        </p:nvSpPr>
        <p:spPr>
          <a:xfrm>
            <a:off x="777240" y="5315712"/>
            <a:ext cx="52120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Such rises usually end in a blow-off or buying climax, Chapter 4; downside acceleration may end in a selling climax. The book gives no measure of excessive.</a:t>
            </a:r>
          </a:p>
        </p:txBody>
      </p:sp>
      <p:sp>
        <p:nvSpPr>
          <p:cNvPr id="11" name="Rectangle 10"/>
          <p:cNvSpPr/>
          <p:nvPr/>
        </p:nvSpPr>
        <p:spPr>
          <a:xfrm>
            <a:off x="6309359" y="1810512"/>
            <a:ext cx="51050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09359" y="1810512"/>
            <a:ext cx="51050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720840" y="2267712"/>
            <a:ext cx="42821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5.22</a:t>
            </a:r>
          </a:p>
          <a:p>
            <a:pPr algn="l">
              <a:lnSpc>
                <a:spcPct val="120000"/>
              </a:lnSpc>
              <a:spcBef>
                <a:spcPts val="0"/>
              </a:spcBef>
              <a:spcAft>
                <a:spcPts val="1400"/>
              </a:spcAft>
            </a:pPr>
            <a:r>
              <a:rPr sz="1800" b="0" i="0">
                <a:solidFill>
                  <a:srgbClr val="1A1A1A"/>
                </a:solidFill>
                <a:latin typeface="Palatino"/>
              </a:rPr>
              <a:t>Four curves. Uptrends: one bending upward, upside acceleration, bullish; one flattening, upside deceleration, bearish. Downtrends: one bending downward, downside acceleration, bearish; one flattening, downside deceleration, bullish.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309359" y="5650992"/>
            <a:ext cx="51050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5.22 -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p.138 and Figure 5.22.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Deceleration with a diminishing bar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18 of 28</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An even more potentially bearish scenario in an uptrend.</a:t>
            </a:r>
          </a:p>
          <a:p>
            <a:pPr algn="l">
              <a:lnSpc>
                <a:spcPct val="105000"/>
              </a:lnSpc>
              <a:spcBef>
                <a:spcPts val="0"/>
              </a:spcBef>
              <a:spcAft>
                <a:spcPts val="1100"/>
              </a:spcAft>
            </a:pPr>
            <a:r>
              <a:rPr sz="2000" b="0" i="0">
                <a:solidFill>
                  <a:srgbClr val="1A1A1A"/>
                </a:solidFill>
                <a:latin typeface="Arial"/>
              </a:rPr>
              <a:t>Two characteristics at once: a deceleration in price, and a diminishing bar range.</a:t>
            </a:r>
          </a:p>
        </p:txBody>
      </p:sp>
      <p:sp>
        <p:nvSpPr>
          <p:cNvPr id="8" name="Rectangle 7"/>
          <p:cNvSpPr/>
          <p:nvPr/>
        </p:nvSpPr>
        <p:spPr>
          <a:xfrm>
            <a:off x="777240" y="377647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610819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trend flattens out, and each bar covers less ground than the last.</a:t>
            </a:r>
          </a:p>
        </p:txBody>
      </p:sp>
      <p:sp>
        <p:nvSpPr>
          <p:cNvPr id="10" name="Rectangle 9"/>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5.23</a:t>
            </a:r>
          </a:p>
          <a:p>
            <a:pPr algn="l">
              <a:lnSpc>
                <a:spcPct val="120000"/>
              </a:lnSpc>
              <a:spcBef>
                <a:spcPts val="0"/>
              </a:spcBef>
              <a:spcAft>
                <a:spcPts val="1400"/>
              </a:spcAft>
            </a:pPr>
            <a:r>
              <a:rPr sz="1800" b="0" i="0">
                <a:solidFill>
                  <a:srgbClr val="1A1A1A"/>
                </a:solidFill>
                <a:latin typeface="Palatino"/>
              </a:rPr>
              <a:t>A run of candlesticks rising along a curve that flattens out, each candlestick shorter than the last, labelled gradually decreasing bar range and flattening out action.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5.23 -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pp.138-139 and Figure 5.23.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change in the trend rate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19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Trend rate: dollars risen per day along a leg. Gold's is consistent, leg after leg.</a:t>
            </a:r>
          </a:p>
          <a:p>
            <a:pPr algn="l">
              <a:lnSpc>
                <a:spcPct val="105000"/>
              </a:lnSpc>
              <a:spcBef>
                <a:spcPts val="0"/>
              </a:spcBef>
              <a:spcAft>
                <a:spcPts val="1100"/>
              </a:spcAft>
            </a:pPr>
            <a:r>
              <a:rPr sz="1700" b="0" i="0">
                <a:solidFill>
                  <a:srgbClr val="1A1A1A"/>
                </a:solidFill>
                <a:latin typeface="Arial"/>
              </a:rPr>
              <a:t>Once the rate changes, the market enters a new regime: greater volatility, larger swings.</a:t>
            </a:r>
          </a:p>
          <a:p>
            <a:pPr algn="l">
              <a:lnSpc>
                <a:spcPct val="105000"/>
              </a:lnSpc>
              <a:spcBef>
                <a:spcPts val="0"/>
              </a:spcBef>
              <a:spcAft>
                <a:spcPts val="1100"/>
              </a:spcAft>
            </a:pPr>
            <a:r>
              <a:rPr sz="1700" b="0" i="0">
                <a:solidFill>
                  <a:srgbClr val="1A1A1A"/>
                </a:solidFill>
                <a:latin typeface="Arial"/>
              </a:rPr>
              <a:t>The new rate of $10.30 a day may be unsustainable over the longer term.</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Gold in fact declined rapidly thereafter, not shown on the chart.</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old rate is about $3.30 a day in the book's text, $3.80 on its figure. $10.30 is 2.7 times $3.80, a rise of about 170 percent; the figure prints 'approx. 270% increase'.</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5.24</a:t>
            </a:r>
          </a:p>
          <a:p>
            <a:pPr algn="l">
              <a:lnSpc>
                <a:spcPct val="120000"/>
              </a:lnSpc>
              <a:spcBef>
                <a:spcPts val="0"/>
              </a:spcBef>
              <a:spcAft>
                <a:spcPts val="1400"/>
              </a:spcAft>
            </a:pPr>
            <a:r>
              <a:rPr sz="1800" b="0" i="0">
                <a:solidFill>
                  <a:srgbClr val="1A1A1A"/>
                </a:solidFill>
                <a:latin typeface="Palatino"/>
              </a:rPr>
              <a:t>A daily Gold chart headed trend rate analysis on Gold: five rising legs each drawn at an uptrend rate of $3.80 a day, labelled previous market behavior, then steeper legs at $10.30 a day, an approximately 270 percent increase, labelled new market behavior, more volatile.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5.24 -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p.139 and Figure 5.24. The dollar rates are the book's, and it does not show how they were measured.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9  Barrier proximity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20 of 28</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How near a trend is to a strong price barrier: a support below or a resistance above. The nearer, the likelier a turn.</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iShares MSCI Emerging Markets rebounds at strong support, a line across an earlier low, with the oscillator below at its low: oversold.</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There is always a high probability that a trend may reverse as it approaches a strong and significant price barrier.</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5.25</a:t>
            </a:r>
          </a:p>
          <a:p>
            <a:pPr algn="l">
              <a:lnSpc>
                <a:spcPct val="120000"/>
              </a:lnSpc>
              <a:spcBef>
                <a:spcPts val="0"/>
              </a:spcBef>
              <a:spcAft>
                <a:spcPts val="1400"/>
              </a:spcAft>
            </a:pPr>
            <a:r>
              <a:rPr sz="1800" b="0" i="0">
                <a:solidFill>
                  <a:srgbClr val="1A1A1A"/>
                </a:solidFill>
                <a:latin typeface="Palatino"/>
              </a:rPr>
              <a:t>A daily chart of iShares MSCI Emerging Markets: a strong downtrend falls to a support barrier drawn from an earlier low and price rebounds, with the cycle-tuned stochastic below circled at oversold.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5.25 -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pp.139-140, Figure 5.25. No measure of strong is given. What support and resistance are, and why they hold: 5.6. The cycle-tuned stochastic, oversold: Chapter 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6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Acceleration and barriers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Upside deceleration in an uptrend is regarded as: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Bullish</a:t>
            </a:r>
          </a:p>
          <a:p>
            <a:pPr algn="l">
              <a:lnSpc>
                <a:spcPct val="112000"/>
              </a:lnSpc>
              <a:spcBef>
                <a:spcPts val="0"/>
              </a:spcBef>
              <a:spcAft>
                <a:spcPts val="900"/>
              </a:spcAft>
            </a:pPr>
            <a:r>
              <a:rPr sz="1500" b="0" i="0">
                <a:solidFill>
                  <a:srgbClr val="FFFFFF"/>
                </a:solidFill>
                <a:latin typeface="Arial"/>
              </a:rPr>
              <a:t>B.  Bearish</a:t>
            </a:r>
          </a:p>
          <a:p>
            <a:pPr algn="l">
              <a:lnSpc>
                <a:spcPct val="112000"/>
              </a:lnSpc>
              <a:spcBef>
                <a:spcPts val="0"/>
              </a:spcBef>
              <a:spcAft>
                <a:spcPts val="900"/>
              </a:spcAft>
            </a:pPr>
            <a:r>
              <a:rPr sz="1500" b="0" i="0">
                <a:solidFill>
                  <a:srgbClr val="FFFFFF"/>
                </a:solidFill>
                <a:latin typeface="Arial"/>
              </a:rPr>
              <a:t>C.  Neutral</a:t>
            </a:r>
          </a:p>
          <a:p>
            <a:pPr algn="l">
              <a:lnSpc>
                <a:spcPct val="112000"/>
              </a:lnSpc>
              <a:spcBef>
                <a:spcPts val="0"/>
              </a:spcBef>
              <a:spcAft>
                <a:spcPts val="900"/>
              </a:spcAft>
            </a:pPr>
            <a:r>
              <a:rPr sz="1500" b="0" i="0">
                <a:solidFill>
                  <a:srgbClr val="FFFFFF"/>
                </a:solidFill>
                <a:latin typeface="Arial"/>
              </a:rPr>
              <a:t>D.  A buying climax</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strong downtrend approaches a strong and significant support level. The probability of a reversal is: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Low, because the trend is strong</a:t>
            </a:r>
          </a:p>
          <a:p>
            <a:pPr algn="l">
              <a:lnSpc>
                <a:spcPct val="112000"/>
              </a:lnSpc>
              <a:spcBef>
                <a:spcPts val="0"/>
              </a:spcBef>
              <a:spcAft>
                <a:spcPts val="900"/>
              </a:spcAft>
            </a:pPr>
            <a:r>
              <a:rPr sz="1500" b="0" i="0">
                <a:solidFill>
                  <a:srgbClr val="FFFFFF"/>
                </a:solidFill>
                <a:latin typeface="Arial"/>
              </a:rPr>
              <a:t>B.  Unchanged by the level</a:t>
            </a:r>
          </a:p>
          <a:p>
            <a:pPr algn="l">
              <a:lnSpc>
                <a:spcPct val="112000"/>
              </a:lnSpc>
              <a:spcBef>
                <a:spcPts val="0"/>
              </a:spcBef>
              <a:spcAft>
                <a:spcPts val="900"/>
              </a:spcAft>
            </a:pPr>
            <a:r>
              <a:rPr sz="1500" b="0" i="0">
                <a:solidFill>
                  <a:srgbClr val="FFFFFF"/>
                </a:solidFill>
                <a:latin typeface="Arial"/>
              </a:rPr>
              <a:t>C.  Zero until volume rises</a:t>
            </a:r>
          </a:p>
          <a:p>
            <a:pPr algn="l">
              <a:lnSpc>
                <a:spcPct val="112000"/>
              </a:lnSpc>
              <a:spcBef>
                <a:spcPts val="0"/>
              </a:spcBef>
              <a:spcAft>
                <a:spcPts val="900"/>
              </a:spcAft>
            </a:pPr>
            <a:r>
              <a:rPr sz="1500" b="0" i="0">
                <a:solidFill>
                  <a:srgbClr val="FFFFFF"/>
                </a:solidFill>
                <a:latin typeface="Arial"/>
              </a:rPr>
              <a:t>D.  High, because of barrier proximity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11 - 5.2 Quality of trend  |  Check 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Acceleration and barriers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Upside deceleration in an uptrend is regarded as: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Bearish</a:t>
            </a:r>
          </a:p>
          <a:p>
            <a:pPr algn="l">
              <a:lnSpc>
                <a:spcPct val="115000"/>
              </a:lnSpc>
              <a:spcBef>
                <a:spcPts val="700"/>
              </a:spcBef>
              <a:spcAft>
                <a:spcPts val="0"/>
              </a:spcAft>
            </a:pPr>
            <a:r>
              <a:rPr sz="1600" b="0" i="0">
                <a:solidFill>
                  <a:srgbClr val="1A1A1A"/>
                </a:solidFill>
                <a:latin typeface="Arial"/>
              </a:rPr>
              <a:t>Upside acceleration is bullish and upside deceleration is bearish. For downtrends the two are reversed.</a:t>
            </a:r>
          </a:p>
        </p:txBody>
      </p:sp>
      <p:sp>
        <p:nvSpPr>
          <p:cNvPr id="10" name="Rectangle 9"/>
          <p:cNvSpPr/>
          <p:nvPr/>
        </p:nvSpPr>
        <p:spPr>
          <a:xfrm>
            <a:off x="777240" y="331571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strong downtrend approaches a strong and significant support level. The probability of a reversal is: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High, because of barrier proximity</a:t>
            </a:r>
          </a:p>
          <a:p>
            <a:pPr algn="l">
              <a:lnSpc>
                <a:spcPct val="115000"/>
              </a:lnSpc>
              <a:spcBef>
                <a:spcPts val="700"/>
              </a:spcBef>
              <a:spcAft>
                <a:spcPts val="0"/>
              </a:spcAft>
            </a:pPr>
            <a:r>
              <a:rPr sz="1600" b="0" i="0">
                <a:solidFill>
                  <a:srgbClr val="1A1A1A"/>
                </a:solidFill>
                <a:latin typeface="Arial"/>
              </a:rPr>
              <a:t>There is always a high probability that a trend may reverse as it approaches a strong and significant price barrier.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Check 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10  Frequency and depth of oscillations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21 of 28</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An uptrend is more reliable with a reasonable number of oscillations, its dips and rallies: fairly frequent, not too shallow or too deep.</a:t>
            </a:r>
          </a:p>
          <a:p>
            <a:pPr algn="l">
              <a:lnSpc>
                <a:spcPct val="105000"/>
              </a:lnSpc>
              <a:spcBef>
                <a:spcPts val="0"/>
              </a:spcBef>
              <a:spcAft>
                <a:spcPts val="1100"/>
              </a:spcAft>
            </a:pPr>
            <a:r>
              <a:rPr sz="1800" b="0" i="0">
                <a:solidFill>
                  <a:srgbClr val="1A1A1A"/>
                </a:solidFill>
                <a:latin typeface="Arial"/>
              </a:rPr>
              <a:t>That indicates healthy profit taking. With little profit taken, more unrealized profit is at risk, and traders exit rapidly at the slightest hint of bearishness.</a:t>
            </a:r>
          </a:p>
        </p:txBody>
      </p:sp>
      <p:sp>
        <p:nvSpPr>
          <p:cNvPr id="8" name="Rectangle 7"/>
          <p:cNvSpPr/>
          <p:nvPr/>
        </p:nvSpPr>
        <p:spPr>
          <a:xfrm>
            <a:off x="777240" y="4512564"/>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49140"/>
            <a:ext cx="501091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Few oscillations: a trend potentially more bearish at higher prices.</a:t>
            </a:r>
          </a:p>
        </p:txBody>
      </p:sp>
      <p:sp>
        <p:nvSpPr>
          <p:cNvPr id="10" name="TextBox 9"/>
          <p:cNvSpPr txBox="1"/>
          <p:nvPr/>
        </p:nvSpPr>
        <p:spPr>
          <a:xfrm>
            <a:off x="777240" y="5439156"/>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 calls the healthy trend's oscillations deep. The book does not say how deep is too deep.</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5.26</a:t>
            </a:r>
          </a:p>
          <a:p>
            <a:pPr algn="l">
              <a:lnSpc>
                <a:spcPct val="120000"/>
              </a:lnSpc>
              <a:spcBef>
                <a:spcPts val="0"/>
              </a:spcBef>
              <a:spcAft>
                <a:spcPts val="1400"/>
              </a:spcAft>
            </a:pPr>
            <a:r>
              <a:rPr sz="1800" b="0" i="0">
                <a:solidFill>
                  <a:srgbClr val="1A1A1A"/>
                </a:solidFill>
                <a:latin typeface="Palatino"/>
              </a:rPr>
              <a:t>Two uptrends. On the left a large number of deep price oscillations, with less chance of a severe retracement because more profit is taken along the way. On the right a smaller number of shallow oscillations, with a high probability of a more severe retracement.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5.26 -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pp.140-141 and Figure 5.26. The reason on the slide, profit taking, is the book's.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Oscillations on the Apple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22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Apple first oscillates in a steady, rising channel: the two parallel dotted lines (5.6).</a:t>
            </a:r>
          </a:p>
          <a:p>
            <a:pPr algn="l">
              <a:lnSpc>
                <a:spcPct val="105000"/>
              </a:lnSpc>
              <a:spcBef>
                <a:spcPts val="0"/>
              </a:spcBef>
              <a:spcAft>
                <a:spcPts val="1100"/>
              </a:spcAft>
            </a:pPr>
            <a:r>
              <a:rPr sz="1700" b="0" i="0">
                <a:solidFill>
                  <a:srgbClr val="1A1A1A"/>
                </a:solidFill>
                <a:latin typeface="Arial"/>
              </a:rPr>
              <a:t>Then price rises rapidly, with the minimum of oscillations and little profit taking.</a:t>
            </a:r>
          </a:p>
          <a:p>
            <a:pPr algn="l">
              <a:lnSpc>
                <a:spcPct val="105000"/>
              </a:lnSpc>
              <a:spcBef>
                <a:spcPts val="0"/>
              </a:spcBef>
              <a:spcAft>
                <a:spcPts val="1100"/>
              </a:spcAft>
            </a:pPr>
            <a:r>
              <a:rPr sz="1700" b="0" i="0">
                <a:solidFill>
                  <a:srgbClr val="1A1A1A"/>
                </a:solidFill>
                <a:latin typeface="Arial"/>
              </a:rPr>
              <a:t>Between time lines 1 and 2 the ATR declines as prices rise: a bearish indication, which the figure labels bearish divergence.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Apple prices decline substantially thereafter.</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Profit-taking oscillations also occur at various wave degrees within a trend.</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5.27</a:t>
            </a:r>
          </a:p>
          <a:p>
            <a:pPr algn="l">
              <a:lnSpc>
                <a:spcPct val="120000"/>
              </a:lnSpc>
              <a:spcBef>
                <a:spcPts val="0"/>
              </a:spcBef>
              <a:spcAft>
                <a:spcPts val="1400"/>
              </a:spcAft>
            </a:pPr>
            <a:r>
              <a:rPr sz="1800" b="0" i="0">
                <a:solidFill>
                  <a:srgbClr val="1A1A1A"/>
                </a:solidFill>
                <a:latin typeface="Palatino"/>
              </a:rPr>
              <a:t>A daily Apple chart: a relatively healthy trend with deep oscillations inside a rising channel, then a rapidly rising trend with little price oscillation, an eventual sell-off, and an ATR panel displaying bearish divergence between two dotted time lines.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5.27 -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p.141 and Figure 5.27.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11  Size and duration of a consolidation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23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trend interruption, Chapter 4's consolidation, is more significant the greater its magnitude, a taller chart pattern, and the longer it takes, a wider one.</a:t>
            </a:r>
          </a:p>
          <a:p>
            <a:pPr algn="l">
              <a:lnSpc>
                <a:spcPct val="105000"/>
              </a:lnSpc>
              <a:spcBef>
                <a:spcPts val="0"/>
              </a:spcBef>
              <a:spcAft>
                <a:spcPts val="1100"/>
              </a:spcAft>
            </a:pPr>
            <a:r>
              <a:rPr sz="1700" b="0" i="0">
                <a:solidFill>
                  <a:srgbClr val="1A1A1A"/>
                </a:solidFill>
                <a:latin typeface="Arial"/>
              </a:rPr>
              <a:t>Larger trend interruptions normally lead to a greater probability of a reversal.</a:t>
            </a:r>
          </a:p>
        </p:txBody>
      </p:sp>
      <p:sp>
        <p:nvSpPr>
          <p:cNvPr id="8" name="Rectangle 7"/>
          <p:cNvSpPr/>
          <p:nvPr/>
        </p:nvSpPr>
        <p:spPr>
          <a:xfrm>
            <a:off x="777240" y="412851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65092"/>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In short, size takes precedence over form.</a:t>
            </a:r>
          </a:p>
        </p:txBody>
      </p:sp>
      <p:sp>
        <p:nvSpPr>
          <p:cNvPr id="10" name="TextBox 9"/>
          <p:cNvSpPr txBox="1"/>
          <p:nvPr/>
        </p:nvSpPr>
        <p:spPr>
          <a:xfrm>
            <a:off x="777240" y="502462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Form: which pattern. A larger head and shoulders is more bearish in an uptrend; a larger rounding bottom more bullish in a downtrend.</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p.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P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p.141. The chart is ours, on invented prices: the book has no figure for this point.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12  Third gap exhaustion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24 of 28</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1264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Count the gaps in a trend. Watch the third.</a:t>
            </a:r>
          </a:p>
        </p:txBody>
      </p:sp>
      <p:sp>
        <p:nvSpPr>
          <p:cNvPr id="10" name="Rectangle 9"/>
          <p:cNvSpPr/>
          <p:nvPr/>
        </p:nvSpPr>
        <p:spPr>
          <a:xfrm>
            <a:off x="777240" y="2974847"/>
            <a:ext cx="64008" cy="14965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612648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The SPDR Dow Jones Industrial Average ETF tops after gap 3 of its uptrend, and bottoms after gap 3 of the downtrend that follows. The oscillator in the lower panel is at its high, overbought, at the top, and at its low, oversold, at the bottom.</a:t>
            </a:r>
          </a:p>
        </p:txBody>
      </p:sp>
      <p:sp>
        <p:nvSpPr>
          <p:cNvPr id="12" name="Rectangle 11"/>
          <p:cNvSpPr/>
          <p:nvPr/>
        </p:nvSpPr>
        <p:spPr>
          <a:xfrm>
            <a:off x="777240" y="4727448"/>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8"/>
            <a:ext cx="61264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appearance of a third gap in a trend is an indication of potential trend exhaustion and a possible reversal.</a:t>
            </a:r>
          </a:p>
        </p:txBody>
      </p:sp>
      <p:sp>
        <p:nvSpPr>
          <p:cNvPr id="14" name="Rectangle 13"/>
          <p:cNvSpPr/>
          <p:nvPr/>
        </p:nvSpPr>
        <p:spPr>
          <a:xfrm>
            <a:off x="7498079" y="2157984"/>
            <a:ext cx="391637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498079" y="2157984"/>
            <a:ext cx="391637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909559" y="2615184"/>
            <a:ext cx="30934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5.28</a:t>
            </a:r>
          </a:p>
          <a:p>
            <a:pPr algn="l">
              <a:lnSpc>
                <a:spcPct val="120000"/>
              </a:lnSpc>
              <a:spcBef>
                <a:spcPts val="0"/>
              </a:spcBef>
              <a:spcAft>
                <a:spcPts val="1400"/>
              </a:spcAft>
            </a:pPr>
            <a:r>
              <a:rPr sz="1800" b="0" i="0">
                <a:solidFill>
                  <a:srgbClr val="1A1A1A"/>
                </a:solidFill>
                <a:latin typeface="Palatino"/>
              </a:rPr>
              <a:t>A daily chart of the SPDR Dow Jones Industrial Average ETF: a breakaway, a runaway and an exhaustion gap numbered 1, 2 and 3 on the way up, the same three numbered on the way down, and a cycle-tuned stochastic indicating overextension at both third gaps.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5.28 -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pp.141-142 and Figure 5.28. It gives no reason why the third, and does not say which gaps to count; the figure numbers the three that 5.8 names.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7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Oscillations and size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 uptrend rises rapidly with very few oscillations. Compared with an uptrend that oscillates frequently, it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More reliable, because nothing interrupts it</a:t>
            </a:r>
          </a:p>
          <a:p>
            <a:pPr algn="l">
              <a:lnSpc>
                <a:spcPct val="112000"/>
              </a:lnSpc>
              <a:spcBef>
                <a:spcPts val="0"/>
              </a:spcBef>
              <a:spcAft>
                <a:spcPts val="900"/>
              </a:spcAft>
            </a:pPr>
            <a:r>
              <a:rPr sz="1500" b="0" i="0">
                <a:solidFill>
                  <a:srgbClr val="FFFFFF"/>
                </a:solidFill>
                <a:latin typeface="Arial"/>
              </a:rPr>
              <a:t>B.  Certain to continue</a:t>
            </a:r>
          </a:p>
          <a:p>
            <a:pPr algn="l">
              <a:lnSpc>
                <a:spcPct val="112000"/>
              </a:lnSpc>
              <a:spcBef>
                <a:spcPts val="0"/>
              </a:spcBef>
              <a:spcAft>
                <a:spcPts val="900"/>
              </a:spcAft>
            </a:pPr>
            <a:r>
              <a:rPr sz="1500" b="0" i="0">
                <a:solidFill>
                  <a:srgbClr val="FFFFFF"/>
                </a:solidFill>
                <a:latin typeface="Arial"/>
              </a:rPr>
              <a:t>C.  Potentially more bearish at higher prices</a:t>
            </a:r>
          </a:p>
          <a:p>
            <a:pPr algn="l">
              <a:lnSpc>
                <a:spcPct val="112000"/>
              </a:lnSpc>
              <a:spcBef>
                <a:spcPts val="0"/>
              </a:spcBef>
              <a:spcAft>
                <a:spcPts val="900"/>
              </a:spcAft>
            </a:pPr>
            <a:r>
              <a:rPr sz="1500" b="0" i="0">
                <a:solidFill>
                  <a:srgbClr val="FFFFFF"/>
                </a:solidFill>
                <a:latin typeface="Arial"/>
              </a:rPr>
              <a:t>D.  Free of unrealized profit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Two head and shoulders formations appear in strong uptrends. The larger of the two is deemed:</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Less bearish than the smaller one</a:t>
            </a:r>
          </a:p>
          <a:p>
            <a:pPr algn="l">
              <a:lnSpc>
                <a:spcPct val="112000"/>
              </a:lnSpc>
              <a:spcBef>
                <a:spcPts val="0"/>
              </a:spcBef>
              <a:spcAft>
                <a:spcPts val="900"/>
              </a:spcAft>
            </a:pPr>
            <a:r>
              <a:rPr sz="1500" b="0" i="0">
                <a:solidFill>
                  <a:srgbClr val="FFFFFF"/>
                </a:solidFill>
                <a:latin typeface="Arial"/>
              </a:rPr>
              <a:t>B.  More bearish than the smaller one</a:t>
            </a:r>
          </a:p>
          <a:p>
            <a:pPr algn="l">
              <a:lnSpc>
                <a:spcPct val="112000"/>
              </a:lnSpc>
              <a:spcBef>
                <a:spcPts val="0"/>
              </a:spcBef>
              <a:spcAft>
                <a:spcPts val="900"/>
              </a:spcAft>
            </a:pPr>
            <a:r>
              <a:rPr sz="1500" b="0" i="0">
                <a:solidFill>
                  <a:srgbClr val="FFFFFF"/>
                </a:solidFill>
                <a:latin typeface="Arial"/>
              </a:rPr>
              <a:t>C.  Bullish</a:t>
            </a:r>
          </a:p>
          <a:p>
            <a:pPr algn="l">
              <a:lnSpc>
                <a:spcPct val="112000"/>
              </a:lnSpc>
              <a:spcBef>
                <a:spcPts val="0"/>
              </a:spcBef>
              <a:spcAft>
                <a:spcPts val="900"/>
              </a:spcAft>
            </a:pPr>
            <a:r>
              <a:rPr sz="1500" b="0" i="0">
                <a:solidFill>
                  <a:srgbClr val="FFFFFF"/>
                </a:solidFill>
                <a:latin typeface="Arial"/>
              </a:rPr>
              <a:t>D.  Equally bearish, because the form is the same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11 - 5.2 Quality of trend  |  Check 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Oscillations and size</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An uptrend rises rapidly with very few oscillations. Compared with an uptrend that oscillates frequently, it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Potentially more bearish at higher prices</a:t>
            </a:r>
          </a:p>
          <a:p>
            <a:pPr algn="l">
              <a:lnSpc>
                <a:spcPct val="115000"/>
              </a:lnSpc>
              <a:spcBef>
                <a:spcPts val="700"/>
              </a:spcBef>
              <a:spcAft>
                <a:spcPts val="0"/>
              </a:spcAft>
            </a:pPr>
            <a:r>
              <a:rPr sz="1600" b="0" i="0">
                <a:solidFill>
                  <a:srgbClr val="1A1A1A"/>
                </a:solidFill>
                <a:latin typeface="Arial"/>
              </a:rPr>
              <a:t>Little profit taking leaves more pent-up and unrealized profit at risk, so traders exit rapidly at the slightest hint of bearishness.</a:t>
            </a:r>
          </a:p>
        </p:txBody>
      </p:sp>
      <p:sp>
        <p:nvSpPr>
          <p:cNvPr id="10" name="Rectangle 9"/>
          <p:cNvSpPr/>
          <p:nvPr/>
        </p:nvSpPr>
        <p:spPr>
          <a:xfrm>
            <a:off x="777240" y="354939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Two head and shoulders formations appear in strong uptrends. The larger of the two is deemed:</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More bearish than the smaller one</a:t>
            </a:r>
          </a:p>
          <a:p>
            <a:pPr algn="l">
              <a:lnSpc>
                <a:spcPct val="115000"/>
              </a:lnSpc>
              <a:spcBef>
                <a:spcPts val="700"/>
              </a:spcBef>
              <a:spcAft>
                <a:spcPts val="0"/>
              </a:spcAft>
            </a:pPr>
            <a:r>
              <a:rPr sz="1600" b="0" i="0">
                <a:solidFill>
                  <a:srgbClr val="1A1A1A"/>
                </a:solidFill>
                <a:latin typeface="Arial"/>
              </a:rPr>
              <a:t>Larger trend interruptions normally lead to a greater probability of a reversal. Size takes precedence over form.</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Check 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13  Average period range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25 of 28</a:t>
            </a:r>
          </a:p>
        </p:txBody>
      </p:sp>
      <p:sp>
        <p:nvSpPr>
          <p:cNvPr id="8" name="Rectangle 7"/>
          <p:cNvSpPr/>
          <p:nvPr/>
        </p:nvSpPr>
        <p:spPr>
          <a:xfrm>
            <a:off x="777240" y="2258568"/>
            <a:ext cx="64008" cy="4297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394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The usual range of price in one period.</a:t>
            </a:r>
          </a:p>
        </p:txBody>
      </p:sp>
      <p:sp>
        <p:nvSpPr>
          <p:cNvPr id="10" name="Rectangle 9"/>
          <p:cNvSpPr/>
          <p:nvPr/>
        </p:nvSpPr>
        <p:spPr>
          <a:xfrm>
            <a:off x="777240" y="2944368"/>
            <a:ext cx="64008" cy="11155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898648"/>
            <a:ext cx="539496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A foreign exchange (FOREX) pair averages 120 pips a day, a pip being the smallest price step a forex quote moves in. Price beyond that, either way, before the day completes: potential exhaustion.</a:t>
            </a:r>
          </a:p>
        </p:txBody>
      </p:sp>
      <p:sp>
        <p:nvSpPr>
          <p:cNvPr id="12" name="Rectangle 11"/>
          <p:cNvSpPr/>
          <p:nvPr/>
        </p:nvSpPr>
        <p:spPr>
          <a:xfrm>
            <a:off x="777240" y="4315968"/>
            <a:ext cx="64008" cy="13441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270248"/>
            <a:ext cx="5394960" cy="14538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One of the most reliable characteristics of price activity. The average is found with the ATR. A higher mark, the 2 standard deviation value of bar range (twice how far ranges typically spread from that average): ninety percent of period ranges stay below it.</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q.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Q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p.142: 120 pips and ninety percent are its numbers. A breach of the higher mark is a greater overextension.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14  Overextension past an overlay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26 of 28</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price penetration above an uptrending line, or below a downtrending one, is generally regarded as a potential sign of exhaustion, with a reversal expected.</a:t>
            </a:r>
          </a:p>
          <a:p>
            <a:pPr algn="l">
              <a:lnSpc>
                <a:spcPct val="105000"/>
              </a:lnSpc>
              <a:spcBef>
                <a:spcPts val="0"/>
              </a:spcBef>
              <a:spcAft>
                <a:spcPts val="1100"/>
              </a:spcAft>
            </a:pPr>
            <a:r>
              <a:rPr sz="1700" b="0" i="0">
                <a:solidFill>
                  <a:srgbClr val="1A1A1A"/>
                </a:solidFill>
                <a:latin typeface="Arial"/>
              </a:rPr>
              <a:t>Short term penetrations below an uptrending line, or above a downtrending one, are usually regarded as false breakouts.</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51937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With the line's slope: exhaustion. Against it: a false breakout.</a:t>
            </a:r>
          </a:p>
        </p:txBody>
      </p:sp>
      <p:sp>
        <p:nvSpPr>
          <p:cNvPr id="10" name="TextBox 9"/>
          <p:cNvSpPr txBox="1"/>
          <p:nvPr/>
        </p:nvSpPr>
        <p:spPr>
          <a:xfrm>
            <a:off x="777240" y="5296662"/>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line is the heading's overlay barrier: a line drawn over price (5.6). False breakout, in the figure: price pokes through and comes straight back.</a:t>
            </a:r>
          </a:p>
        </p:txBody>
      </p:sp>
      <p:sp>
        <p:nvSpPr>
          <p:cNvPr id="11" name="Rectangle 10"/>
          <p:cNvSpPr/>
          <p:nvPr/>
        </p:nvSpPr>
        <p:spPr>
          <a:xfrm>
            <a:off x="6583679" y="1810512"/>
            <a:ext cx="48307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583679" y="1810512"/>
            <a:ext cx="48307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95159" y="2267712"/>
            <a:ext cx="40078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5.29</a:t>
            </a:r>
          </a:p>
          <a:p>
            <a:pPr algn="l">
              <a:lnSpc>
                <a:spcPct val="120000"/>
              </a:lnSpc>
              <a:spcBef>
                <a:spcPts val="0"/>
              </a:spcBef>
              <a:spcAft>
                <a:spcPts val="1400"/>
              </a:spcAft>
            </a:pPr>
            <a:r>
              <a:rPr sz="1800" b="0" i="0">
                <a:solidFill>
                  <a:srgbClr val="1A1A1A"/>
                </a:solidFill>
                <a:latin typeface="Palatino"/>
              </a:rPr>
              <a:t>Four small charts. Top: price spiking above an uptrending line, and price spiking below a downtrending line, each circled as price exhaustion. Bottom: price dipping below an uptrending line, and price poking above a downtrending line, each circled as a false breakout.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5.29 -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pp.142-143 and Figure 5.29. It gives no reason for either reading, and does not say how short is short term.</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15  Volume spread action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27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Large range, large volume: trend promoting. Close near the high: bullish. Near the low: very bearish.</a:t>
            </a:r>
          </a:p>
          <a:p>
            <a:pPr algn="l">
              <a:lnSpc>
                <a:spcPct val="105000"/>
              </a:lnSpc>
              <a:spcBef>
                <a:spcPts val="0"/>
              </a:spcBef>
              <a:spcAft>
                <a:spcPts val="1100"/>
              </a:spcAft>
            </a:pPr>
            <a:r>
              <a:rPr sz="1700" b="0" i="0">
                <a:solidFill>
                  <a:srgbClr val="1A1A1A"/>
                </a:solidFill>
                <a:latin typeface="Arial"/>
              </a:rPr>
              <a:t>Large range, low volume: trend inhibiting. A lack of commitment.</a:t>
            </a:r>
          </a:p>
          <a:p>
            <a:pPr algn="l">
              <a:lnSpc>
                <a:spcPct val="105000"/>
              </a:lnSpc>
              <a:spcBef>
                <a:spcPts val="0"/>
              </a:spcBef>
              <a:spcAft>
                <a:spcPts val="1100"/>
              </a:spcAft>
            </a:pPr>
            <a:r>
              <a:rPr sz="1700" b="0" i="0">
                <a:solidFill>
                  <a:srgbClr val="1A1A1A"/>
                </a:solidFill>
                <a:latin typeface="Arial"/>
              </a:rPr>
              <a:t>Small range, large volume, the squat bar: inhibiting, and a much stronger reversal sign.</a:t>
            </a:r>
          </a:p>
          <a:p>
            <a:pPr algn="l">
              <a:lnSpc>
                <a:spcPct val="105000"/>
              </a:lnSpc>
              <a:spcBef>
                <a:spcPts val="0"/>
              </a:spcBef>
              <a:spcAft>
                <a:spcPts val="1100"/>
              </a:spcAft>
            </a:pPr>
            <a:r>
              <a:rPr sz="1700" b="0" i="0">
                <a:solidFill>
                  <a:srgbClr val="1A1A1A"/>
                </a:solidFill>
                <a:latin typeface="Arial"/>
              </a:rPr>
              <a:t>Small range, low volume: trend inhibiting.</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Price and volume matter most together when both are extreme.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r.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p.143; the chart is ours. The heading says spread, the text says bar range: not Chapter 3's bid-ask spread. The squat bar's reason is on the chart.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16  Volume and oscillator divergence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28 of 28</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Standard divergence, price and volume or price and any oscillator, may signal a potential reversal or continuation.</a:t>
            </a:r>
          </a:p>
          <a:p>
            <a:pPr algn="l">
              <a:lnSpc>
                <a:spcPct val="105000"/>
              </a:lnSpc>
              <a:spcBef>
                <a:spcPts val="0"/>
              </a:spcBef>
              <a:spcAft>
                <a:spcPts val="1100"/>
              </a:spcAft>
            </a:pPr>
            <a:r>
              <a:rPr sz="1700" b="0" i="0">
                <a:solidFill>
                  <a:srgbClr val="1A1A1A"/>
                </a:solidFill>
                <a:latin typeface="Arial"/>
              </a:rPr>
              <a:t>As Chapter 4 showed: price makes a higher peak while the MACD makes a lower one. Recalled on the right, characteristic 6's own example.</a:t>
            </a:r>
          </a:p>
        </p:txBody>
      </p:sp>
      <p:sp>
        <p:nvSpPr>
          <p:cNvPr id="8" name="Rectangle 7"/>
          <p:cNvSpPr/>
          <p:nvPr/>
        </p:nvSpPr>
        <p:spPr>
          <a:xfrm>
            <a:off x="777240" y="4128516"/>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65092"/>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book names a second kind, reverse divergence, but gives it no sentence of its own here.</a:t>
            </a:r>
          </a:p>
        </p:txBody>
      </p:sp>
      <p:sp>
        <p:nvSpPr>
          <p:cNvPr id="10" name="TextBox 9"/>
          <p:cNvSpPr txBox="1"/>
          <p:nvPr/>
        </p:nvSpPr>
        <p:spPr>
          <a:xfrm>
            <a:off x="777240" y="529894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Reverse divergence, and how either kind signals a continuation, are left to Chapter 9.</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s.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S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p.143, one sentence, then Chapter 9. MACD: Chapter 4. Chart recalls Chart O, a few slides back.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8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Exhaustion and volume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currency pair has an average daily range of 120 pips. By midday it has already moved 130 pips. This is regarded as:</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breakaway gap</a:t>
            </a:r>
          </a:p>
          <a:p>
            <a:pPr algn="l">
              <a:lnSpc>
                <a:spcPct val="112000"/>
              </a:lnSpc>
              <a:spcBef>
                <a:spcPts val="0"/>
              </a:spcBef>
              <a:spcAft>
                <a:spcPts val="900"/>
              </a:spcAft>
            </a:pPr>
            <a:r>
              <a:rPr sz="1500" b="0" i="0">
                <a:solidFill>
                  <a:srgbClr val="FFFFFF"/>
                </a:solidFill>
                <a:latin typeface="Arial"/>
              </a:rPr>
              <a:t>B.  A potential sign of exhaustion</a:t>
            </a:r>
          </a:p>
          <a:p>
            <a:pPr algn="l">
              <a:lnSpc>
                <a:spcPct val="112000"/>
              </a:lnSpc>
              <a:spcBef>
                <a:spcPts val="0"/>
              </a:spcBef>
              <a:spcAft>
                <a:spcPts val="900"/>
              </a:spcAft>
            </a:pPr>
            <a:r>
              <a:rPr sz="1500" b="0" i="0">
                <a:solidFill>
                  <a:srgbClr val="FFFFFF"/>
                </a:solidFill>
                <a:latin typeface="Arial"/>
              </a:rPr>
              <a:t>C.  Proof that the trend will continue</a:t>
            </a:r>
          </a:p>
          <a:p>
            <a:pPr algn="l">
              <a:lnSpc>
                <a:spcPct val="112000"/>
              </a:lnSpc>
              <a:spcBef>
                <a:spcPts val="0"/>
              </a:spcBef>
              <a:spcAft>
                <a:spcPts val="900"/>
              </a:spcAft>
            </a:pPr>
            <a:r>
              <a:rPr sz="1500" b="0" i="0">
                <a:solidFill>
                  <a:srgbClr val="FFFFFF"/>
                </a:solidFill>
                <a:latin typeface="Arial"/>
              </a:rPr>
              <a:t>D.  A decrease in cycle period</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very small bar range on very large volume, the squat bar, is regarded as: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Trend promoting</a:t>
            </a:r>
          </a:p>
          <a:p>
            <a:pPr algn="l">
              <a:lnSpc>
                <a:spcPct val="112000"/>
              </a:lnSpc>
              <a:spcBef>
                <a:spcPts val="0"/>
              </a:spcBef>
              <a:spcAft>
                <a:spcPts val="900"/>
              </a:spcAft>
            </a:pPr>
            <a:r>
              <a:rPr sz="1500" b="0" i="0">
                <a:solidFill>
                  <a:srgbClr val="FFFFFF"/>
                </a:solidFill>
                <a:latin typeface="Arial"/>
              </a:rPr>
              <a:t>B.  A sign of weak commitment only</a:t>
            </a:r>
          </a:p>
          <a:p>
            <a:pPr algn="l">
              <a:lnSpc>
                <a:spcPct val="112000"/>
              </a:lnSpc>
              <a:spcBef>
                <a:spcPts val="0"/>
              </a:spcBef>
              <a:spcAft>
                <a:spcPts val="900"/>
              </a:spcAft>
            </a:pPr>
            <a:r>
              <a:rPr sz="1500" b="0" i="0">
                <a:solidFill>
                  <a:srgbClr val="FFFFFF"/>
                </a:solidFill>
                <a:latin typeface="Arial"/>
              </a:rPr>
              <a:t>C.  Of no significance</a:t>
            </a:r>
          </a:p>
          <a:p>
            <a:pPr algn="l">
              <a:lnSpc>
                <a:spcPct val="112000"/>
              </a:lnSpc>
              <a:spcBef>
                <a:spcPts val="0"/>
              </a:spcBef>
              <a:spcAft>
                <a:spcPts val="900"/>
              </a:spcAft>
            </a:pPr>
            <a:r>
              <a:rPr sz="1500" b="0" i="0">
                <a:solidFill>
                  <a:srgbClr val="FFFFFF"/>
                </a:solidFill>
                <a:latin typeface="Arial"/>
              </a:rPr>
              <a:t>D.  A significantly stronger indication of a potential reversal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11 - 5.2 Quality of trend  |  Check 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Exhaustion and volume</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currency pair has an average daily range of 120 pips. By midday it has already moved 130 pips. This is regarded as: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potential sign of exhaustion</a:t>
            </a:r>
          </a:p>
          <a:p>
            <a:pPr algn="l">
              <a:lnSpc>
                <a:spcPct val="115000"/>
              </a:lnSpc>
              <a:spcBef>
                <a:spcPts val="700"/>
              </a:spcBef>
              <a:spcAft>
                <a:spcPts val="0"/>
              </a:spcAft>
            </a:pPr>
            <a:r>
              <a:rPr sz="1600" b="0" i="0">
                <a:solidFill>
                  <a:srgbClr val="1A1A1A"/>
                </a:solidFill>
                <a:latin typeface="Arial"/>
              </a:rPr>
              <a:t>Price activity beyond the average range before the trading day completes is a potential sign of exhaustion.</a:t>
            </a:r>
          </a:p>
        </p:txBody>
      </p:sp>
      <p:sp>
        <p:nvSpPr>
          <p:cNvPr id="10" name="Rectangle 9"/>
          <p:cNvSpPr/>
          <p:nvPr/>
        </p:nvSpPr>
        <p:spPr>
          <a:xfrm>
            <a:off x="777240" y="354939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very small bar range on very large volume, the squat bar, is regarded as: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significantly stronger indication of a potential reversal</a:t>
            </a:r>
          </a:p>
          <a:p>
            <a:pPr algn="l">
              <a:lnSpc>
                <a:spcPct val="115000"/>
              </a:lnSpc>
              <a:spcBef>
                <a:spcPts val="700"/>
              </a:spcBef>
              <a:spcAft>
                <a:spcPts val="0"/>
              </a:spcAft>
            </a:pPr>
            <a:r>
              <a:rPr sz="1600" b="0" i="0">
                <a:solidFill>
                  <a:srgbClr val="1A1A1A"/>
                </a:solidFill>
                <a:latin typeface="Arial"/>
              </a:rPr>
              <a:t>Trend inhibiting, and a much stronger sign of a potential reversal: much capital committed, and no further extension in price.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11 - 5.2 Quality of trend  |  Check 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5.3  Three categories of filter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11 - 5.3 Filters  |  1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Price-based filters indicate the exact price of entry, but not when.</a:t>
            </a:r>
          </a:p>
          <a:p>
            <a:pPr algn="l">
              <a:lnSpc>
                <a:spcPct val="105000"/>
              </a:lnSpc>
              <a:spcBef>
                <a:spcPts val="0"/>
              </a:spcBef>
              <a:spcAft>
                <a:spcPts val="1100"/>
              </a:spcAft>
            </a:pPr>
            <a:r>
              <a:rPr sz="1600" b="0" i="0">
                <a:solidFill>
                  <a:srgbClr val="1A1A1A"/>
                </a:solidFill>
                <a:latin typeface="Arial"/>
              </a:rPr>
              <a:t>Time-based filters indicate the exact time of entry, but not the price.</a:t>
            </a:r>
          </a:p>
          <a:p>
            <a:pPr algn="l">
              <a:lnSpc>
                <a:spcPct val="105000"/>
              </a:lnSpc>
              <a:spcBef>
                <a:spcPts val="0"/>
              </a:spcBef>
              <a:spcAft>
                <a:spcPts val="1100"/>
              </a:spcAft>
            </a:pPr>
            <a:r>
              <a:rPr sz="1600" b="0" i="0">
                <a:solidFill>
                  <a:srgbClr val="1A1A1A"/>
                </a:solidFill>
                <a:latin typeface="Arial"/>
              </a:rPr>
              <a:t>Event-based filters indicate neither, until an event has occurred.</a:t>
            </a:r>
          </a:p>
        </p:txBody>
      </p:sp>
      <p:sp>
        <p:nvSpPr>
          <p:cNvPr id="8" name="Rectangle 7"/>
          <p:cNvSpPr/>
          <p:nvPr/>
        </p:nvSpPr>
        <p:spPr>
          <a:xfrm>
            <a:off x="777240" y="4197096"/>
            <a:ext cx="82296" cy="9235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33672"/>
            <a:ext cx="4828032" cy="92354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The type of filter, and the extent to which it is employed, sets the exact point of entry and exit.</a:t>
            </a:r>
          </a:p>
        </p:txBody>
      </p:sp>
      <p:sp>
        <p:nvSpPr>
          <p:cNvPr id="10" name="TextBox 9"/>
          <p:cNvSpPr txBox="1"/>
          <p:nvPr/>
        </p:nvSpPr>
        <p:spPr>
          <a:xfrm>
            <a:off x="777240" y="532180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1: filters validate breakouts. Unfiltered, they cannot be backtested, run against past prices to see how they would have performed, the book says.</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t.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T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p.144; backtest glossed in the caption, ours. The chart is ours: the book's own figure lists the filters and does not show the three entries.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filters, one level down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11 - 5.3 Filters  |  2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Price-based. Absolute: a fixed price excursion. Relative: a percentage of the breakout price. Volatility: multiples of ATR or of standard deviation, how far a bar's range typically varies.</a:t>
            </a:r>
          </a:p>
          <a:p>
            <a:pPr algn="l">
              <a:lnSpc>
                <a:spcPct val="105000"/>
              </a:lnSpc>
              <a:spcBef>
                <a:spcPts val="0"/>
              </a:spcBef>
              <a:spcAft>
                <a:spcPts val="1100"/>
              </a:spcAft>
            </a:pPr>
            <a:r>
              <a:rPr sz="1500" b="0" i="0">
                <a:solidFill>
                  <a:srgbClr val="1A1A1A"/>
                </a:solidFill>
                <a:latin typeface="Arial"/>
              </a:rPr>
              <a:t>Time-based: a duration of N closed bars, N being however many the trader chooses.</a:t>
            </a:r>
          </a:p>
          <a:p>
            <a:pPr algn="l">
              <a:lnSpc>
                <a:spcPct val="105000"/>
              </a:lnSpc>
              <a:spcBef>
                <a:spcPts val="0"/>
              </a:spcBef>
              <a:spcAft>
                <a:spcPts val="1100"/>
              </a:spcAft>
            </a:pPr>
            <a:r>
              <a:rPr sz="1500" b="0" i="0">
                <a:solidFill>
                  <a:srgbClr val="1A1A1A"/>
                </a:solidFill>
                <a:latin typeface="Arial"/>
              </a:rPr>
              <a:t>Event-based. Algorithmic: a specific sequence of closed bars, several in a row closing the same way, or of new highs or lows. Event-based measure: a closing violation, or a retest, price returning to touch a broken level.</a:t>
            </a:r>
          </a:p>
        </p:txBody>
      </p:sp>
      <p:sp>
        <p:nvSpPr>
          <p:cNvPr id="8" name="TextBox 7"/>
          <p:cNvSpPr txBox="1"/>
          <p:nvPr/>
        </p:nvSpPr>
        <p:spPr>
          <a:xfrm>
            <a:off x="777240" y="5301233"/>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How far past the line, the ?, before the break counts? Chapter 1 calls the third family algorithmic; here it is a branch of event-based.</a:t>
            </a:r>
          </a:p>
        </p:txBody>
      </p:sp>
      <p:sp>
        <p:nvSpPr>
          <p:cNvPr id="9" name="Rectangle 8"/>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5.30</a:t>
            </a:r>
          </a:p>
          <a:p>
            <a:pPr algn="l">
              <a:lnSpc>
                <a:spcPct val="120000"/>
              </a:lnSpc>
              <a:spcBef>
                <a:spcPts val="0"/>
              </a:spcBef>
              <a:spcAft>
                <a:spcPts val="1400"/>
              </a:spcAft>
            </a:pPr>
            <a:r>
              <a:rPr sz="1800" b="0" i="0">
                <a:solidFill>
                  <a:srgbClr val="1A1A1A"/>
                </a:solidFill>
                <a:latin typeface="Palatino"/>
              </a:rPr>
              <a:t>A price falling through an uptrend line after a failure swing, with a question mark on how far below the line it must go, beside the full list: (A) price-based filters, absolute, relative and volatility measures; (B) time-based filters; (C) event-based filters, algorithmic filters and event-based measures.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5.30 -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pp.144-145, Figure 5.30. N, a sequence, a retest and standard deviation are glossed in one line each; the book gives no number for any of them.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Two-stage filtering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11 - 5.3 Filters  |  3 of 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Stage one: a closing violation triggers entry. But price may close too far beyond the entry level.</a:t>
            </a:r>
          </a:p>
          <a:p>
            <a:pPr algn="l">
              <a:lnSpc>
                <a:spcPct val="105000"/>
              </a:lnSpc>
              <a:spcBef>
                <a:spcPts val="0"/>
              </a:spcBef>
              <a:spcAft>
                <a:spcPts val="1100"/>
              </a:spcAft>
            </a:pPr>
            <a:r>
              <a:rPr sz="1800" b="0" i="0">
                <a:solidFill>
                  <a:srgbClr val="1A1A1A"/>
                </a:solidFill>
                <a:latin typeface="Arial"/>
              </a:rPr>
              <a:t>Stage two: a price-based filter limits entry to within a set distance: a maximum here, where Chapter 1's was a minimum.</a:t>
            </a:r>
          </a:p>
          <a:p>
            <a:pPr algn="l">
              <a:lnSpc>
                <a:spcPct val="105000"/>
              </a:lnSpc>
              <a:spcBef>
                <a:spcPts val="0"/>
              </a:spcBef>
              <a:spcAft>
                <a:spcPts val="1100"/>
              </a:spcAft>
            </a:pPr>
            <a:r>
              <a:rPr sz="1800" b="0" i="0">
                <a:solidFill>
                  <a:srgbClr val="1A1A1A"/>
                </a:solidFill>
                <a:latin typeface="Arial"/>
              </a:rPr>
              <a:t>Time and event filters do not specify the entry price, so controlling risk is ineffective, if not impossible.</a:t>
            </a:r>
          </a:p>
        </p:txBody>
      </p:sp>
      <p:sp>
        <p:nvSpPr>
          <p:cNvPr id="8" name="Rectangle 7"/>
          <p:cNvSpPr/>
          <p:nvPr/>
        </p:nvSpPr>
        <p:spPr>
          <a:xfrm>
            <a:off x="777240" y="5253228"/>
            <a:ext cx="82296" cy="4358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89804"/>
            <a:ext cx="4828032" cy="43586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So price-based filters are preferred.</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u.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U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pp.144-145; the chart is ours. Its reason: with no cap on the risk of a single trade a system may meet risk of ruin, a phrase it does not define.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9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Filters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filter that indicates the exact price of entry, but not when the entry will be initiated,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Time-based</a:t>
            </a:r>
          </a:p>
          <a:p>
            <a:pPr algn="l">
              <a:lnSpc>
                <a:spcPct val="112000"/>
              </a:lnSpc>
              <a:spcBef>
                <a:spcPts val="0"/>
              </a:spcBef>
              <a:spcAft>
                <a:spcPts val="900"/>
              </a:spcAft>
            </a:pPr>
            <a:r>
              <a:rPr sz="1500" b="0" i="0">
                <a:solidFill>
                  <a:srgbClr val="FFFFFF"/>
                </a:solidFill>
                <a:latin typeface="Arial"/>
              </a:rPr>
              <a:t>B.  Event-based</a:t>
            </a:r>
          </a:p>
          <a:p>
            <a:pPr algn="l">
              <a:lnSpc>
                <a:spcPct val="112000"/>
              </a:lnSpc>
              <a:spcBef>
                <a:spcPts val="0"/>
              </a:spcBef>
              <a:spcAft>
                <a:spcPts val="900"/>
              </a:spcAft>
            </a:pPr>
            <a:r>
              <a:rPr sz="1500" b="0" i="0">
                <a:solidFill>
                  <a:srgbClr val="FFFFFF"/>
                </a:solidFill>
                <a:latin typeface="Arial"/>
              </a:rPr>
              <a:t>C.  Price-based</a:t>
            </a:r>
          </a:p>
          <a:p>
            <a:pPr algn="l">
              <a:lnSpc>
                <a:spcPct val="112000"/>
              </a:lnSpc>
              <a:spcBef>
                <a:spcPts val="0"/>
              </a:spcBef>
              <a:spcAft>
                <a:spcPts val="900"/>
              </a:spcAft>
            </a:pPr>
            <a:r>
              <a:rPr sz="1500" b="0" i="0">
                <a:solidFill>
                  <a:srgbClr val="FFFFFF"/>
                </a:solidFill>
                <a:latin typeface="Arial"/>
              </a:rPr>
              <a:t>D.  Algorithmic</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trader enters on a closing violation and adds a price-based filter. The second filter is there to:</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Limit entry to within a specified distance</a:t>
            </a:r>
          </a:p>
          <a:p>
            <a:pPr algn="l">
              <a:lnSpc>
                <a:spcPct val="112000"/>
              </a:lnSpc>
              <a:spcBef>
                <a:spcPts val="0"/>
              </a:spcBef>
              <a:spcAft>
                <a:spcPts val="900"/>
              </a:spcAft>
            </a:pPr>
            <a:r>
              <a:rPr sz="1500" b="0" i="0">
                <a:solidFill>
                  <a:srgbClr val="FFFFFF"/>
                </a:solidFill>
                <a:latin typeface="Arial"/>
              </a:rPr>
              <a:t>B.  Delay the entry by N closed bars</a:t>
            </a:r>
          </a:p>
          <a:p>
            <a:pPr algn="l">
              <a:lnSpc>
                <a:spcPct val="112000"/>
              </a:lnSpc>
              <a:spcBef>
                <a:spcPts val="0"/>
              </a:spcBef>
              <a:spcAft>
                <a:spcPts val="900"/>
              </a:spcAft>
            </a:pPr>
            <a:r>
              <a:rPr sz="1500" b="0" i="0">
                <a:solidFill>
                  <a:srgbClr val="FFFFFF"/>
                </a:solidFill>
                <a:latin typeface="Arial"/>
              </a:rPr>
              <a:t>C.  Confirm the trend with volume</a:t>
            </a:r>
          </a:p>
          <a:p>
            <a:pPr algn="l">
              <a:lnSpc>
                <a:spcPct val="112000"/>
              </a:lnSpc>
              <a:spcBef>
                <a:spcPts val="0"/>
              </a:spcBef>
              <a:spcAft>
                <a:spcPts val="900"/>
              </a:spcAft>
            </a:pPr>
            <a:r>
              <a:rPr sz="1500" b="0" i="0">
                <a:solidFill>
                  <a:srgbClr val="FFFFFF"/>
                </a:solidFill>
                <a:latin typeface="Arial"/>
              </a:rPr>
              <a:t>D.  Replace the closing violation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11 - 5.3 Filters  |  Check 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Filters</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filter that indicates the exact price of entry, but not when the entry will be initiated,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Price-based</a:t>
            </a:r>
          </a:p>
          <a:p>
            <a:pPr algn="l">
              <a:lnSpc>
                <a:spcPct val="115000"/>
              </a:lnSpc>
              <a:spcBef>
                <a:spcPts val="700"/>
              </a:spcBef>
              <a:spcAft>
                <a:spcPts val="0"/>
              </a:spcAft>
            </a:pPr>
            <a:r>
              <a:rPr sz="1600" b="0" i="0">
                <a:solidFill>
                  <a:srgbClr val="1A1A1A"/>
                </a:solidFill>
                <a:latin typeface="Arial"/>
              </a:rPr>
              <a:t>Price-based filters give the exact price and not the time. Time-based filters give the time and not the price.</a:t>
            </a:r>
          </a:p>
        </p:txBody>
      </p:sp>
      <p:sp>
        <p:nvSpPr>
          <p:cNvPr id="10" name="Rectangle 9"/>
          <p:cNvSpPr/>
          <p:nvPr/>
        </p:nvSpPr>
        <p:spPr>
          <a:xfrm>
            <a:off x="777240" y="354939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trader enters on a closing violation and adds a price-based filter. The second filter is there to:</a:t>
            </a:r>
          </a:p>
        </p:txBody>
      </p:sp>
      <p:sp>
        <p:nvSpPr>
          <p:cNvPr id="13" name="TextBox 12"/>
          <p:cNvSpPr txBox="1"/>
          <p:nvPr/>
        </p:nvSpPr>
        <p:spPr>
          <a:xfrm>
            <a:off x="1143000" y="451053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Limit entry to within a specified distance</a:t>
            </a:r>
          </a:p>
          <a:p>
            <a:pPr algn="l">
              <a:lnSpc>
                <a:spcPct val="115000"/>
              </a:lnSpc>
              <a:spcBef>
                <a:spcPts val="700"/>
              </a:spcBef>
              <a:spcAft>
                <a:spcPts val="0"/>
              </a:spcAft>
            </a:pPr>
            <a:r>
              <a:rPr sz="1600" b="0" i="0">
                <a:solidFill>
                  <a:srgbClr val="1A1A1A"/>
                </a:solidFill>
                <a:latin typeface="Arial"/>
              </a:rPr>
              <a:t>Prices may close too far beyond the entry level. The price-based filter limits entry to within a specified distance.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11 - 5.3 Filters  |  Check 9</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5.4  Four ways into and out of the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1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To go long: buying to open a new position.</a:t>
            </a:r>
          </a:p>
          <a:p>
            <a:pPr algn="l">
              <a:lnSpc>
                <a:spcPct val="105000"/>
              </a:lnSpc>
              <a:spcBef>
                <a:spcPts val="0"/>
              </a:spcBef>
              <a:spcAft>
                <a:spcPts val="1100"/>
              </a:spcAft>
            </a:pPr>
            <a:r>
              <a:rPr sz="1800" b="0" i="0">
                <a:solidFill>
                  <a:srgbClr val="1A1A1A"/>
                </a:solidFill>
                <a:latin typeface="Arial"/>
              </a:rPr>
              <a:t>To go short: selling to open a new position.</a:t>
            </a:r>
          </a:p>
          <a:p>
            <a:pPr algn="l">
              <a:lnSpc>
                <a:spcPct val="105000"/>
              </a:lnSpc>
              <a:spcBef>
                <a:spcPts val="0"/>
              </a:spcBef>
              <a:spcAft>
                <a:spcPts val="1100"/>
              </a:spcAft>
            </a:pPr>
            <a:r>
              <a:rPr sz="1800" b="0" i="0">
                <a:solidFill>
                  <a:srgbClr val="1A1A1A"/>
                </a:solidFill>
                <a:latin typeface="Arial"/>
              </a:rPr>
              <a:t>To liquidate: selling to close an old long position.</a:t>
            </a:r>
          </a:p>
          <a:p>
            <a:pPr algn="l">
              <a:lnSpc>
                <a:spcPct val="105000"/>
              </a:lnSpc>
              <a:spcBef>
                <a:spcPts val="0"/>
              </a:spcBef>
              <a:spcAft>
                <a:spcPts val="1100"/>
              </a:spcAft>
            </a:pPr>
            <a:r>
              <a:rPr sz="1800" b="0" i="0">
                <a:solidFill>
                  <a:srgbClr val="1A1A1A"/>
                </a:solidFill>
                <a:latin typeface="Arial"/>
              </a:rPr>
              <a:t>To cover: buying to close an old short position.</a:t>
            </a:r>
          </a:p>
        </p:txBody>
      </p:sp>
      <p:sp>
        <p:nvSpPr>
          <p:cNvPr id="8" name="Rectangle 7"/>
          <p:cNvSpPr/>
          <p:nvPr/>
        </p:nvSpPr>
        <p:spPr>
          <a:xfrm>
            <a:off x="777240" y="455371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90288"/>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In the figure: long from $50 to $70 is $20. Short from $70 to $40 is $30.</a:t>
            </a:r>
          </a:p>
        </p:txBody>
      </p:sp>
      <p:sp>
        <p:nvSpPr>
          <p:cNvPr id="10" name="TextBox 9"/>
          <p:cNvSpPr txBox="1"/>
          <p:nvPr/>
        </p:nvSpPr>
        <p:spPr>
          <a:xfrm>
            <a:off x="777240" y="548030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1's four terms. In cash: no open positions. To square: to exit. To hedge: equal and opposite positions.</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5.31</a:t>
            </a:r>
          </a:p>
          <a:p>
            <a:pPr algn="l">
              <a:lnSpc>
                <a:spcPct val="120000"/>
              </a:lnSpc>
              <a:spcBef>
                <a:spcPts val="0"/>
              </a:spcBef>
              <a:spcAft>
                <a:spcPts val="1400"/>
              </a:spcAft>
            </a:pPr>
            <a:r>
              <a:rPr sz="1800" b="0" i="0">
                <a:solidFill>
                  <a:srgbClr val="1A1A1A"/>
                </a:solidFill>
                <a:latin typeface="Palatino"/>
              </a:rPr>
              <a:t>One price swing with the four orders marked on it: go long, buy to open at a low price of $50; liquidate, sell to close at a higher price of $70; go short, sell to open at a high price of $70; cover, buy to close at a lower price of $40. A box works out the long profit as $20 and the short profit as $30.</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5.31 -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pp.145-146 and Figure 5.31: the dollar amounts are printed on the figure.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scenarios, one principle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2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1  Buying low and selling high.</a:t>
            </a:r>
          </a:p>
          <a:p>
            <a:pPr algn="l">
              <a:lnSpc>
                <a:spcPct val="105000"/>
              </a:lnSpc>
              <a:spcBef>
                <a:spcPts val="0"/>
              </a:spcBef>
              <a:spcAft>
                <a:spcPts val="1100"/>
              </a:spcAft>
            </a:pPr>
            <a:r>
              <a:rPr sz="1900" b="0" i="0">
                <a:solidFill>
                  <a:srgbClr val="1A1A1A"/>
                </a:solidFill>
                <a:latin typeface="Arial"/>
              </a:rPr>
              <a:t>2  Buying high and selling higher.</a:t>
            </a:r>
          </a:p>
          <a:p>
            <a:pPr algn="l">
              <a:lnSpc>
                <a:spcPct val="105000"/>
              </a:lnSpc>
              <a:spcBef>
                <a:spcPts val="0"/>
              </a:spcBef>
              <a:spcAft>
                <a:spcPts val="1100"/>
              </a:spcAft>
            </a:pPr>
            <a:r>
              <a:rPr sz="1900" b="0" i="0">
                <a:solidFill>
                  <a:srgbClr val="1A1A1A"/>
                </a:solidFill>
                <a:latin typeface="Arial"/>
              </a:rPr>
              <a:t>3  Selling high and buying back lower.</a:t>
            </a:r>
          </a:p>
          <a:p>
            <a:pPr algn="l">
              <a:lnSpc>
                <a:spcPct val="105000"/>
              </a:lnSpc>
              <a:spcBef>
                <a:spcPts val="0"/>
              </a:spcBef>
              <a:spcAft>
                <a:spcPts val="1100"/>
              </a:spcAft>
            </a:pPr>
            <a:r>
              <a:rPr sz="1900" b="0" i="0">
                <a:solidFill>
                  <a:srgbClr val="1A1A1A"/>
                </a:solidFill>
                <a:latin typeface="Arial"/>
              </a:rPr>
              <a:t>4  Selling low and buying back even lower.</a:t>
            </a:r>
          </a:p>
        </p:txBody>
      </p:sp>
      <p:sp>
        <p:nvSpPr>
          <p:cNvPr id="8" name="Rectangle 7"/>
          <p:cNvSpPr/>
          <p:nvPr/>
        </p:nvSpPr>
        <p:spPr>
          <a:xfrm>
            <a:off x="777240" y="4041648"/>
            <a:ext cx="82296" cy="10607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078224"/>
            <a:ext cx="4828032" cy="10607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Two longs, two shorts. In every one, the selling price is above the buying price.</a:t>
            </a:r>
          </a:p>
        </p:txBody>
      </p:sp>
      <p:sp>
        <p:nvSpPr>
          <p:cNvPr id="10" name="TextBox 9"/>
          <p:cNvSpPr txBox="1"/>
          <p:nvPr/>
        </p:nvSpPr>
        <p:spPr>
          <a:xfrm>
            <a:off x="777240" y="53035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here files all four under 'the principle of buying low and selling high'. By name only the first is buy low, sell high, as Chapter 1 said.</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v.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V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pp.145-146. The chart is ours, on invented prices.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Stop orders: execution, but not the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3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stop order waits at a set price. Once triggered there, it turns into a market order: enter or exit immediately, at any price.</a:t>
            </a:r>
          </a:p>
          <a:p>
            <a:pPr algn="l">
              <a:lnSpc>
                <a:spcPct val="105000"/>
              </a:lnSpc>
              <a:spcBef>
                <a:spcPts val="0"/>
              </a:spcBef>
              <a:spcAft>
                <a:spcPts val="1100"/>
              </a:spcAft>
            </a:pPr>
            <a:r>
              <a:rPr sz="1700" b="0" i="0">
                <a:solidFill>
                  <a:srgbClr val="1A1A1A"/>
                </a:solidFill>
                <a:latin typeface="Arial"/>
              </a:rPr>
              <a:t>A buystop or sellstop entry is placed when a continuation in price is expected.</a:t>
            </a:r>
          </a:p>
          <a:p>
            <a:pPr algn="l">
              <a:lnSpc>
                <a:spcPct val="105000"/>
              </a:lnSpc>
              <a:spcBef>
                <a:spcPts val="0"/>
              </a:spcBef>
              <a:spcAft>
                <a:spcPts val="1100"/>
              </a:spcAft>
            </a:pPr>
            <a:r>
              <a:rPr sz="1700" b="0" i="0">
                <a:solidFill>
                  <a:srgbClr val="1A1A1A"/>
                </a:solidFill>
                <a:latin typeface="Arial"/>
              </a:rPr>
              <a:t>A stop exit closes a position that moves adversely: the stoploss order.</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can guarantee execution, but not the fill price.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1 taught stop and limit entries. New: the exits, and that a gap can fill a stop away from its price.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w.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W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p.146. The chart is ours, on invented prices.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Slippage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4 of 9</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Filled at a price other than the one you asked for. Negative: worse for you. Positive: better.</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stoploss waits at PHP 48. Price gaps down and the order is filled at PHP 46.50: negative slippage of PHP 1.50 a share.</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39496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difference between the specified order price and the actual filled price. Stoploss orders may experience additional loss under gapping price action, due to negative slippage.</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x.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X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p.146. The pesos and the chart are our example: PHP 48.00 less PHP 46.50 is PHP 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Limit orders: the price, but not execution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5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Instructions to enter or exit a market at a specified price, or better.</a:t>
            </a:r>
          </a:p>
          <a:p>
            <a:pPr algn="l">
              <a:lnSpc>
                <a:spcPct val="105000"/>
              </a:lnSpc>
              <a:spcBef>
                <a:spcPts val="0"/>
              </a:spcBef>
              <a:spcAft>
                <a:spcPts val="1100"/>
              </a:spcAft>
            </a:pPr>
            <a:r>
              <a:rPr sz="1700" b="0" i="0">
                <a:solidFill>
                  <a:srgbClr val="1A1A1A"/>
                </a:solidFill>
                <a:latin typeface="Arial"/>
              </a:rPr>
              <a:t>If the broker cannot fill it at that price or better, it is not executed.</a:t>
            </a:r>
          </a:p>
          <a:p>
            <a:pPr algn="l">
              <a:lnSpc>
                <a:spcPct val="105000"/>
              </a:lnSpc>
              <a:spcBef>
                <a:spcPts val="0"/>
              </a:spcBef>
              <a:spcAft>
                <a:spcPts val="1100"/>
              </a:spcAft>
            </a:pPr>
            <a:r>
              <a:rPr sz="1700" b="0" i="0">
                <a:solidFill>
                  <a:srgbClr val="1A1A1A"/>
                </a:solidFill>
                <a:latin typeface="Arial"/>
              </a:rPr>
              <a:t>A buy limit or sell limit entry is placed when a reversal in price is expected.</a:t>
            </a:r>
          </a:p>
          <a:p>
            <a:pPr algn="l">
              <a:lnSpc>
                <a:spcPct val="105000"/>
              </a:lnSpc>
              <a:spcBef>
                <a:spcPts val="0"/>
              </a:spcBef>
              <a:spcAft>
                <a:spcPts val="1100"/>
              </a:spcAft>
            </a:pPr>
            <a:r>
              <a:rPr sz="1700" b="0" i="0">
                <a:solidFill>
                  <a:srgbClr val="1A1A1A"/>
                </a:solidFill>
                <a:latin typeface="Arial"/>
              </a:rPr>
              <a:t>Placed only as a pending order. Only positive slippage is possible.</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can guarantee the intended price or better, but not execution.</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y.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Y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pp.146-147. The chart is ours, on invented prices.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10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Stop orders, limit orders and slippage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order can guarantee execution, but not the price at which it is filled?</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limit order</a:t>
            </a:r>
          </a:p>
          <a:p>
            <a:pPr algn="l">
              <a:lnSpc>
                <a:spcPct val="112000"/>
              </a:lnSpc>
              <a:spcBef>
                <a:spcPts val="0"/>
              </a:spcBef>
              <a:spcAft>
                <a:spcPts val="900"/>
              </a:spcAft>
            </a:pPr>
            <a:r>
              <a:rPr sz="1500" b="0" i="0">
                <a:solidFill>
                  <a:srgbClr val="FFFFFF"/>
                </a:solidFill>
                <a:latin typeface="Arial"/>
              </a:rPr>
              <a:t>B.  A sell limit order</a:t>
            </a:r>
          </a:p>
          <a:p>
            <a:pPr algn="l">
              <a:lnSpc>
                <a:spcPct val="112000"/>
              </a:lnSpc>
              <a:spcBef>
                <a:spcPts val="0"/>
              </a:spcBef>
              <a:spcAft>
                <a:spcPts val="900"/>
              </a:spcAft>
            </a:pPr>
            <a:r>
              <a:rPr sz="1500" b="0" i="0">
                <a:solidFill>
                  <a:srgbClr val="FFFFFF"/>
                </a:solidFill>
                <a:latin typeface="Arial"/>
              </a:rPr>
              <a:t>C.  A stop order</a:t>
            </a:r>
          </a:p>
          <a:p>
            <a:pPr algn="l">
              <a:lnSpc>
                <a:spcPct val="112000"/>
              </a:lnSpc>
              <a:spcBef>
                <a:spcPts val="0"/>
              </a:spcBef>
              <a:spcAft>
                <a:spcPts val="900"/>
              </a:spcAft>
            </a:pPr>
            <a:r>
              <a:rPr sz="1500" b="0" i="0">
                <a:solidFill>
                  <a:srgbClr val="FFFFFF"/>
                </a:solidFill>
                <a:latin typeface="Arial"/>
              </a:rPr>
              <a:t>D.  A buy limit order</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long position has its stoploss at PHP 30. Price gaps down, and the order is filled at PHP 28.80. The slippage is: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PHP 1.20, positive</a:t>
            </a:r>
          </a:p>
          <a:p>
            <a:pPr algn="l">
              <a:lnSpc>
                <a:spcPct val="112000"/>
              </a:lnSpc>
              <a:spcBef>
                <a:spcPts val="0"/>
              </a:spcBef>
              <a:spcAft>
                <a:spcPts val="900"/>
              </a:spcAft>
            </a:pPr>
            <a:r>
              <a:rPr sz="1500" b="0" i="0">
                <a:solidFill>
                  <a:srgbClr val="FFFFFF"/>
                </a:solidFill>
                <a:latin typeface="Arial"/>
              </a:rPr>
              <a:t>B.  PHP 1.20, negative</a:t>
            </a:r>
          </a:p>
          <a:p>
            <a:pPr algn="l">
              <a:lnSpc>
                <a:spcPct val="112000"/>
              </a:lnSpc>
              <a:spcBef>
                <a:spcPts val="0"/>
              </a:spcBef>
              <a:spcAft>
                <a:spcPts val="900"/>
              </a:spcAft>
            </a:pPr>
            <a:r>
              <a:rPr sz="1500" b="0" i="0">
                <a:solidFill>
                  <a:srgbClr val="FFFFFF"/>
                </a:solidFill>
                <a:latin typeface="Arial"/>
              </a:rPr>
              <a:t>C.  PHP 28.80</a:t>
            </a:r>
          </a:p>
          <a:p>
            <a:pPr algn="l">
              <a:lnSpc>
                <a:spcPct val="112000"/>
              </a:lnSpc>
              <a:spcBef>
                <a:spcPts val="0"/>
              </a:spcBef>
              <a:spcAft>
                <a:spcPts val="900"/>
              </a:spcAft>
            </a:pPr>
            <a:r>
              <a:rPr sz="1500" b="0" i="0">
                <a:solidFill>
                  <a:srgbClr val="FFFFFF"/>
                </a:solidFill>
                <a:latin typeface="Arial"/>
              </a:rPr>
              <a:t>D.  Zero, because the order was filled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11 - 5.4 Participation  |  Check 10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Stop orders, limit orders and slippage</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order can guarantee execution, but not the price at which it is filled?</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stop order</a:t>
            </a:r>
          </a:p>
          <a:p>
            <a:pPr algn="l">
              <a:lnSpc>
                <a:spcPct val="115000"/>
              </a:lnSpc>
              <a:spcBef>
                <a:spcPts val="700"/>
              </a:spcBef>
              <a:spcAft>
                <a:spcPts val="0"/>
              </a:spcAft>
            </a:pPr>
            <a:r>
              <a:rPr sz="1600" b="0" i="0">
                <a:solidFill>
                  <a:srgbClr val="1A1A1A"/>
                </a:solidFill>
                <a:latin typeface="Arial"/>
              </a:rPr>
              <a:t>Once triggered a stop order turns into a market order: it is executed, at whatever price the market gives.</a:t>
            </a:r>
          </a:p>
        </p:txBody>
      </p:sp>
      <p:sp>
        <p:nvSpPr>
          <p:cNvPr id="10" name="Rectangle 9"/>
          <p:cNvSpPr/>
          <p:nvPr/>
        </p:nvSpPr>
        <p:spPr>
          <a:xfrm>
            <a:off x="777240" y="331571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long position has its stoploss at PHP 30. Price gaps down, and the order is filled at PHP 28.80. The slippage is: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PHP 1.20, negative</a:t>
            </a:r>
          </a:p>
          <a:p>
            <a:pPr algn="l">
              <a:lnSpc>
                <a:spcPct val="115000"/>
              </a:lnSpc>
              <a:spcBef>
                <a:spcPts val="700"/>
              </a:spcBef>
              <a:spcAft>
                <a:spcPts val="0"/>
              </a:spcAft>
            </a:pPr>
            <a:r>
              <a:rPr sz="1600" b="0" i="0">
                <a:solidFill>
                  <a:srgbClr val="1A1A1A"/>
                </a:solidFill>
                <a:latin typeface="Arial"/>
              </a:rPr>
              <a:t>Slippage is the difference between the specified order price and the actual filled price: 30.00 - 28.80 = 1.20, against the trader.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Check 10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You do not own it: orders to enter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6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A market order: buy now, at whatever price is quoted. Instant, but the price is not guaranteed.</a:t>
            </a:r>
          </a:p>
          <a:p>
            <a:pPr algn="l">
              <a:lnSpc>
                <a:spcPct val="105000"/>
              </a:lnSpc>
              <a:spcBef>
                <a:spcPts val="0"/>
              </a:spcBef>
              <a:spcAft>
                <a:spcPts val="1100"/>
              </a:spcAft>
            </a:pPr>
            <a:r>
              <a:rPr sz="1600" b="0" i="0">
                <a:solidFill>
                  <a:srgbClr val="1A1A1A"/>
                </a:solidFill>
                <a:latin typeface="Arial"/>
              </a:rPr>
              <a:t>A buy stop: buy at a set price or higher, placed when a continuation up is expected.</a:t>
            </a:r>
          </a:p>
          <a:p>
            <a:pPr algn="l">
              <a:lnSpc>
                <a:spcPct val="105000"/>
              </a:lnSpc>
              <a:spcBef>
                <a:spcPts val="0"/>
              </a:spcBef>
              <a:spcAft>
                <a:spcPts val="1100"/>
              </a:spcAft>
            </a:pPr>
            <a:r>
              <a:rPr sz="1600" b="0" i="0">
                <a:solidFill>
                  <a:srgbClr val="1A1A1A"/>
                </a:solidFill>
                <a:latin typeface="Arial"/>
              </a:rPr>
              <a:t>A buy limit: buy at a set price or lower, placed when a reversal down is expected.</a:t>
            </a:r>
          </a:p>
          <a:p>
            <a:pPr algn="l">
              <a:lnSpc>
                <a:spcPct val="105000"/>
              </a:lnSpc>
              <a:spcBef>
                <a:spcPts val="0"/>
              </a:spcBef>
              <a:spcAft>
                <a:spcPts val="1100"/>
              </a:spcAft>
            </a:pPr>
            <a:r>
              <a:rPr sz="1600" b="0" i="0">
                <a:solidFill>
                  <a:srgbClr val="1A1A1A"/>
                </a:solidFill>
                <a:latin typeface="Arial"/>
              </a:rPr>
              <a:t>To open a short instead, the mirror is a sell limit or a sell stop; this pp.146-148 stretch works only the buy side.</a:t>
            </a:r>
          </a:p>
        </p:txBody>
      </p:sp>
      <p:sp>
        <p:nvSpPr>
          <p:cNvPr id="8" name="TextBox 7"/>
          <p:cNvSpPr txBox="1"/>
          <p:nvPr/>
        </p:nvSpPr>
        <p:spPr>
          <a:xfrm>
            <a:off x="777240" y="5129783"/>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Going short itself was taught earlier, in 5.4 Trend Participation; the book does not pair it with these orders here.</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z.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Z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pp.146-147. The chart is ours, recalling the stop and limit entry slides before, numbered to its own arrows.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You own it: orders to exit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7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market order: sell now, at whatever price is quoted. Instant, but the price is not guaranteed.</a:t>
            </a:r>
          </a:p>
          <a:p>
            <a:pPr algn="l">
              <a:lnSpc>
                <a:spcPct val="105000"/>
              </a:lnSpc>
              <a:spcBef>
                <a:spcPts val="0"/>
              </a:spcBef>
              <a:spcAft>
                <a:spcPts val="1100"/>
              </a:spcAft>
            </a:pPr>
            <a:r>
              <a:rPr sz="1700" b="0" i="0">
                <a:solidFill>
                  <a:srgbClr val="1A1A1A"/>
                </a:solidFill>
                <a:latin typeface="Arial"/>
              </a:rPr>
              <a:t>A sell limit: the profit-take order, above the market. Fills only at that price or better.</a:t>
            </a:r>
          </a:p>
          <a:p>
            <a:pPr algn="l">
              <a:lnSpc>
                <a:spcPct val="105000"/>
              </a:lnSpc>
              <a:spcBef>
                <a:spcPts val="0"/>
              </a:spcBef>
              <a:spcAft>
                <a:spcPts val="1100"/>
              </a:spcAft>
            </a:pPr>
            <a:r>
              <a:rPr sz="1700" b="0" i="0">
                <a:solidFill>
                  <a:srgbClr val="1A1A1A"/>
                </a:solidFill>
                <a:latin typeface="Arial"/>
              </a:rPr>
              <a:t>A sell stop: the stoploss, below the market. Triggers there, then fills at the market, price unknown.</a:t>
            </a:r>
          </a:p>
          <a:p>
            <a:pPr algn="l">
              <a:lnSpc>
                <a:spcPct val="105000"/>
              </a:lnSpc>
              <a:spcBef>
                <a:spcPts val="0"/>
              </a:spcBef>
              <a:spcAft>
                <a:spcPts val="1100"/>
              </a:spcAft>
            </a:pPr>
            <a:r>
              <a:rPr sz="1700" b="0" i="0">
                <a:solidFill>
                  <a:srgbClr val="1A1A1A"/>
                </a:solidFill>
                <a:latin typeface="Arial"/>
              </a:rPr>
              <a:t>A limit exit is not guaranteed. A stop exit is guaranteed, but not its price.</a:t>
            </a:r>
          </a:p>
        </p:txBody>
      </p:sp>
      <p:sp>
        <p:nvSpPr>
          <p:cNvPr id="8" name="TextBox 7"/>
          <p:cNvSpPr txBox="1"/>
          <p:nvPr/>
        </p:nvSpPr>
        <p:spPr>
          <a:xfrm>
            <a:off x="777240" y="554583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says 'or better, that is, higher' of every limit order; for a buy limit on the other slide, better reads lower.</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a.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AA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pp.147-148. The chart is ours, numbered the same way as the entry slide before it.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Other orders the book names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8 of 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Market if Touched, MIT: sells above the market, buys below it, with a stop order. Same shape as the recall, right.</a:t>
            </a:r>
          </a:p>
          <a:p>
            <a:pPr algn="l">
              <a:lnSpc>
                <a:spcPct val="105000"/>
              </a:lnSpc>
              <a:spcBef>
                <a:spcPts val="0"/>
              </a:spcBef>
              <a:spcAft>
                <a:spcPts val="1100"/>
              </a:spcAft>
            </a:pPr>
            <a:r>
              <a:rPr sz="1500" b="0" i="0">
                <a:solidFill>
                  <a:srgbClr val="1A1A1A"/>
                </a:solidFill>
                <a:latin typeface="Arial"/>
              </a:rPr>
              <a:t>Day orders stay pending only until the end of the trading day.</a:t>
            </a:r>
          </a:p>
          <a:p>
            <a:pPr algn="l">
              <a:lnSpc>
                <a:spcPct val="105000"/>
              </a:lnSpc>
              <a:spcBef>
                <a:spcPts val="0"/>
              </a:spcBef>
              <a:spcAft>
                <a:spcPts val="1100"/>
              </a:spcAft>
            </a:pPr>
            <a:r>
              <a:rPr sz="1500" b="0" i="0">
                <a:solidFill>
                  <a:srgbClr val="1A1A1A"/>
                </a:solidFill>
                <a:latin typeface="Arial"/>
              </a:rPr>
              <a:t>Good till Cancelled orders stay active until further notice.</a:t>
            </a:r>
          </a:p>
          <a:p>
            <a:pPr algn="l">
              <a:lnSpc>
                <a:spcPct val="105000"/>
              </a:lnSpc>
              <a:spcBef>
                <a:spcPts val="0"/>
              </a:spcBef>
              <a:spcAft>
                <a:spcPts val="1100"/>
              </a:spcAft>
            </a:pPr>
            <a:r>
              <a:rPr sz="1500" b="0" i="0">
                <a:solidFill>
                  <a:srgbClr val="1A1A1A"/>
                </a:solidFill>
                <a:latin typeface="Arial"/>
              </a:rPr>
              <a:t>Market on Close orders fill in the last minutes, at or near the close.</a:t>
            </a:r>
          </a:p>
          <a:p>
            <a:pPr algn="l">
              <a:lnSpc>
                <a:spcPct val="105000"/>
              </a:lnSpc>
              <a:spcBef>
                <a:spcPts val="0"/>
              </a:spcBef>
              <a:spcAft>
                <a:spcPts val="1100"/>
              </a:spcAft>
            </a:pPr>
            <a:r>
              <a:rPr sz="1500" b="0" i="0">
                <a:solidFill>
                  <a:srgbClr val="1A1A1A"/>
                </a:solidFill>
                <a:latin typeface="Arial"/>
              </a:rPr>
              <a:t>OCO places two opposite orders and cancels whichever does not fill. OTO places a second order once a first fills.</a:t>
            </a:r>
          </a:p>
        </p:txBody>
      </p:sp>
      <p:sp>
        <p:nvSpPr>
          <p:cNvPr id="8" name="Rectangle 7"/>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9" name="Picture 8" descr="chart-ab.png"/>
          <p:cNvPicPr>
            <a:picLocks noChangeAspect="1"/>
          </p:cNvPicPr>
          <p:nvPr/>
        </p:nvPicPr>
        <p:blipFill>
          <a:blip r:embed="rId2"/>
          <a:stretch>
            <a:fillRect/>
          </a:stretch>
        </p:blipFill>
        <p:spPr>
          <a:xfrm>
            <a:off x="6338163" y="1929384"/>
            <a:ext cx="4956048" cy="3511296"/>
          </a:xfrm>
          <a:prstGeom prst="rect">
            <a:avLst/>
          </a:prstGeom>
        </p:spPr>
      </p:pic>
      <p:sp>
        <p:nvSpPr>
          <p:cNvPr id="10" name="TextBox 9"/>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AB - FIN1209 teaching chart, drawn for this course. Illustrative data, not a real instrument.</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pp.147-148. The chart recalls Chart W, a few slides back: the same shape an MIT order uses.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book's table: orders above and below the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9 of 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5.32</a:t>
            </a:r>
          </a:p>
          <a:p>
            <a:pPr algn="l">
              <a:lnSpc>
                <a:spcPct val="120000"/>
              </a:lnSpc>
              <a:spcBef>
                <a:spcPts val="0"/>
              </a:spcBef>
              <a:spcAft>
                <a:spcPts val="1800"/>
              </a:spcAft>
            </a:pPr>
            <a:r>
              <a:rPr sz="2200" b="0" i="0">
                <a:solidFill>
                  <a:srgbClr val="1A1A1A"/>
                </a:solidFill>
                <a:latin typeface="Palatino"/>
              </a:rPr>
              <a:t>A table around the current market price. Orders allowable above the market: buy stop or limit entry, sell limit entry, MIT sell, buy stop to exit a loss, sell limit to exit with profit. Orders allowable under the market: sell stop or limit entry, buy limit entry, MIT buy, sell stop to exit a loss, buy limit to exit with profit.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5.32 - Lim, The Handbook of Technical Analysis (Wiley, 2016)</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p.148, Figure 5.32. 'Stop /limit entry' is the figure's own wording: the book's text places a buystop above and a sellstop below, and explains no stop/limit order.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11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Placing orders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trader is long and wants to take profit if price rises to a level above the market. The order to place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buystop</a:t>
            </a:r>
          </a:p>
          <a:p>
            <a:pPr algn="l">
              <a:lnSpc>
                <a:spcPct val="112000"/>
              </a:lnSpc>
              <a:spcBef>
                <a:spcPts val="0"/>
              </a:spcBef>
              <a:spcAft>
                <a:spcPts val="900"/>
              </a:spcAft>
            </a:pPr>
            <a:r>
              <a:rPr sz="1500" b="0" i="0">
                <a:solidFill>
                  <a:srgbClr val="FFFFFF"/>
                </a:solidFill>
                <a:latin typeface="Arial"/>
              </a:rPr>
              <a:t>B.  A sellstop</a:t>
            </a:r>
          </a:p>
          <a:p>
            <a:pPr algn="l">
              <a:lnSpc>
                <a:spcPct val="112000"/>
              </a:lnSpc>
              <a:spcBef>
                <a:spcPts val="0"/>
              </a:spcBef>
              <a:spcAft>
                <a:spcPts val="900"/>
              </a:spcAft>
            </a:pPr>
            <a:r>
              <a:rPr sz="1500" b="0" i="0">
                <a:solidFill>
                  <a:srgbClr val="FFFFFF"/>
                </a:solidFill>
                <a:latin typeface="Arial"/>
              </a:rPr>
              <a:t>C.  A buy limit</a:t>
            </a:r>
          </a:p>
          <a:p>
            <a:pPr algn="l">
              <a:lnSpc>
                <a:spcPct val="112000"/>
              </a:lnSpc>
              <a:spcBef>
                <a:spcPts val="0"/>
              </a:spcBef>
              <a:spcAft>
                <a:spcPts val="900"/>
              </a:spcAft>
            </a:pPr>
            <a:r>
              <a:rPr sz="1500" b="0" i="0">
                <a:solidFill>
                  <a:srgbClr val="FFFFFF"/>
                </a:solidFill>
                <a:latin typeface="Arial"/>
              </a:rPr>
              <a:t>D.  A sell limit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 order that stays pending only until the end of the trading day is a:</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Day order</a:t>
            </a:r>
          </a:p>
          <a:p>
            <a:pPr algn="l">
              <a:lnSpc>
                <a:spcPct val="112000"/>
              </a:lnSpc>
              <a:spcBef>
                <a:spcPts val="0"/>
              </a:spcBef>
              <a:spcAft>
                <a:spcPts val="900"/>
              </a:spcAft>
            </a:pPr>
            <a:r>
              <a:rPr sz="1500" b="0" i="0">
                <a:solidFill>
                  <a:srgbClr val="FFFFFF"/>
                </a:solidFill>
                <a:latin typeface="Arial"/>
              </a:rPr>
              <a:t>B.  Good till Cancelled order</a:t>
            </a:r>
          </a:p>
          <a:p>
            <a:pPr algn="l">
              <a:lnSpc>
                <a:spcPct val="112000"/>
              </a:lnSpc>
              <a:spcBef>
                <a:spcPts val="0"/>
              </a:spcBef>
              <a:spcAft>
                <a:spcPts val="900"/>
              </a:spcAft>
            </a:pPr>
            <a:r>
              <a:rPr sz="1500" b="0" i="0">
                <a:solidFill>
                  <a:srgbClr val="FFFFFF"/>
                </a:solidFill>
                <a:latin typeface="Arial"/>
              </a:rPr>
              <a:t>C.  Market on Close order</a:t>
            </a:r>
          </a:p>
          <a:p>
            <a:pPr algn="l">
              <a:lnSpc>
                <a:spcPct val="112000"/>
              </a:lnSpc>
              <a:spcBef>
                <a:spcPts val="0"/>
              </a:spcBef>
              <a:spcAft>
                <a:spcPts val="900"/>
              </a:spcAft>
            </a:pPr>
            <a:r>
              <a:rPr sz="1500" b="0" i="0">
                <a:solidFill>
                  <a:srgbClr val="FFFFFF"/>
                </a:solidFill>
                <a:latin typeface="Arial"/>
              </a:rPr>
              <a:t>D.  Contingent order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11 - 5.4 Participation  |  Check 11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Placing orders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trader is long and wants to take profit if price rises to a level above the market. The order to place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sell limit</a:t>
            </a:r>
          </a:p>
          <a:p>
            <a:pPr algn="l">
              <a:lnSpc>
                <a:spcPct val="115000"/>
              </a:lnSpc>
              <a:spcBef>
                <a:spcPts val="700"/>
              </a:spcBef>
              <a:spcAft>
                <a:spcPts val="0"/>
              </a:spcAft>
            </a:pPr>
            <a:r>
              <a:rPr sz="1600" b="0" i="0">
                <a:solidFill>
                  <a:srgbClr val="1A1A1A"/>
                </a:solidFill>
                <a:latin typeface="Arial"/>
              </a:rPr>
              <a:t>Profit taking above the market is a sell limit, normally referred to as a profit-take order.</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An order that stays pending only until the end of the trading day is a:</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Day order</a:t>
            </a:r>
          </a:p>
          <a:p>
            <a:pPr algn="l">
              <a:lnSpc>
                <a:spcPct val="115000"/>
              </a:lnSpc>
              <a:spcBef>
                <a:spcPts val="700"/>
              </a:spcBef>
              <a:spcAft>
                <a:spcPts val="0"/>
              </a:spcAft>
            </a:pPr>
            <a:r>
              <a:rPr sz="1600" b="0" i="0">
                <a:solidFill>
                  <a:srgbClr val="1A1A1A"/>
                </a:solidFill>
                <a:latin typeface="Arial"/>
              </a:rPr>
              <a:t>Day orders instruct the broker to keep an order pending only until the end of the trading day.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11 - 5.4 Participation  |  Check 11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5.5  Ways of initiating an entry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 of 13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Overlay breakout entries: on an upside or downside breakout of a price overlay.</a:t>
            </a:r>
          </a:p>
          <a:p>
            <a:pPr algn="l">
              <a:lnSpc>
                <a:spcPct val="105000"/>
              </a:lnSpc>
              <a:spcBef>
                <a:spcPts val="0"/>
              </a:spcBef>
              <a:spcAft>
                <a:spcPts val="1100"/>
              </a:spcAft>
            </a:pPr>
            <a:r>
              <a:rPr sz="1600" b="0" i="0">
                <a:solidFill>
                  <a:srgbClr val="1A1A1A"/>
                </a:solidFill>
                <a:latin typeface="Arial"/>
              </a:rPr>
              <a:t>Overlay barrier entries: buy at support, short at resistance, or at a retest of the barrier.</a:t>
            </a:r>
          </a:p>
          <a:p>
            <a:pPr algn="l">
              <a:lnSpc>
                <a:spcPct val="105000"/>
              </a:lnSpc>
              <a:spcBef>
                <a:spcPts val="0"/>
              </a:spcBef>
              <a:spcAft>
                <a:spcPts val="1100"/>
              </a:spcAft>
            </a:pPr>
            <a:r>
              <a:rPr sz="1600" b="0" i="0">
                <a:solidFill>
                  <a:srgbClr val="1A1A1A"/>
                </a:solidFill>
                <a:latin typeface="Arial"/>
              </a:rPr>
              <a:t>Failed breakout entries: in the opposite direction, after a failed breakout.</a:t>
            </a:r>
          </a:p>
          <a:p>
            <a:pPr algn="l">
              <a:lnSpc>
                <a:spcPct val="105000"/>
              </a:lnSpc>
              <a:spcBef>
                <a:spcPts val="0"/>
              </a:spcBef>
              <a:spcAft>
                <a:spcPts val="1100"/>
              </a:spcAft>
            </a:pPr>
            <a:r>
              <a:rPr sz="1600" b="0" i="0">
                <a:solidFill>
                  <a:srgbClr val="1A1A1A"/>
                </a:solidFill>
                <a:latin typeface="Arial"/>
              </a:rPr>
              <a:t>Random entries, and pattern or sequence-based entries.</a:t>
            </a:r>
          </a:p>
        </p:txBody>
      </p:sp>
      <p:sp>
        <p:nvSpPr>
          <p:cNvPr id="8" name="TextBox 7"/>
          <p:cNvSpPr txBox="1"/>
          <p:nvPr/>
        </p:nvSpPr>
        <p:spPr>
          <a:xfrm>
            <a:off x="777240" y="487375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announces four ways and lists five, each with or against the trend. Failed breakout: 5.2's false breakout. Pattern entries follow a set sequence of bars or a completed pattern; a random entry is taken with no technical signal at all, usually only to benchmark a strategy against chance.</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c.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AC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pp.148-149; the chart is ours. Overlays it names: channels and trendlines (5.6), pivot points and price envelopes (not taught here).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variations of a top and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2 of 13</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Failure swing: the second peak fails to penetrate the previous peak.</a:t>
            </a:r>
          </a:p>
          <a:p>
            <a:pPr algn="l">
              <a:lnSpc>
                <a:spcPct val="105000"/>
              </a:lnSpc>
              <a:spcBef>
                <a:spcPts val="0"/>
              </a:spcBef>
              <a:spcAft>
                <a:spcPts val="1100"/>
              </a:spcAft>
            </a:pPr>
            <a:r>
              <a:rPr sz="1800" b="0" i="0">
                <a:solidFill>
                  <a:srgbClr val="1A1A1A"/>
                </a:solidFill>
                <a:latin typeface="Arial"/>
              </a:rPr>
              <a:t>Double top: the second peak matches the level of the previous peak.</a:t>
            </a:r>
          </a:p>
          <a:p>
            <a:pPr algn="l">
              <a:lnSpc>
                <a:spcPct val="105000"/>
              </a:lnSpc>
              <a:spcBef>
                <a:spcPts val="0"/>
              </a:spcBef>
              <a:spcAft>
                <a:spcPts val="1100"/>
              </a:spcAft>
            </a:pPr>
            <a:r>
              <a:rPr sz="1800" b="0" i="0">
                <a:solidFill>
                  <a:srgbClr val="1A1A1A"/>
                </a:solidFill>
                <a:latin typeface="Arial"/>
              </a:rPr>
              <a:t>Non-failure swing: the second peak succeeds in penetrating the previous peak.</a:t>
            </a:r>
          </a:p>
          <a:p>
            <a:pPr algn="l">
              <a:lnSpc>
                <a:spcPct val="105000"/>
              </a:lnSpc>
              <a:spcBef>
                <a:spcPts val="0"/>
              </a:spcBef>
              <a:spcAft>
                <a:spcPts val="1100"/>
              </a:spcAft>
            </a:pPr>
            <a:r>
              <a:rPr sz="1800" b="0" i="0">
                <a:solidFill>
                  <a:srgbClr val="1A1A1A"/>
                </a:solidFill>
                <a:latin typeface="Arial"/>
              </a:rPr>
              <a:t>Bottoms are the mirror: a failure swing, a double bottom and a non-failure swing, read on the second trough.</a:t>
            </a:r>
          </a:p>
        </p:txBody>
      </p:sp>
      <p:sp>
        <p:nvSpPr>
          <p:cNvPr id="8" name="TextBox 7"/>
          <p:cNvSpPr txBox="1"/>
          <p:nvPr/>
        </p:nvSpPr>
        <p:spPr>
          <a:xfrm>
            <a:off x="777240" y="5129784"/>
            <a:ext cx="64008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All three were Chapter 2 terms, unchanged. More complex: a head and shoulders, a broadening formation, an island, a diamond, a rounding top or bottom.</a:t>
            </a:r>
          </a:p>
        </p:txBody>
      </p:sp>
      <p:sp>
        <p:nvSpPr>
          <p:cNvPr id="9" name="Rectangle 8"/>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5.33</a:t>
            </a:r>
          </a:p>
          <a:p>
            <a:pPr algn="l">
              <a:lnSpc>
                <a:spcPct val="120000"/>
              </a:lnSpc>
              <a:spcBef>
                <a:spcPts val="0"/>
              </a:spcBef>
              <a:spcAft>
                <a:spcPts val="1400"/>
              </a:spcAft>
            </a:pPr>
            <a:r>
              <a:rPr sz="1800" b="0" i="0">
                <a:solidFill>
                  <a:srgbClr val="1A1A1A"/>
                </a:solidFill>
                <a:latin typeface="Palatino"/>
              </a:rPr>
              <a:t>Two rows of three drawings. Three basic variations of a top reversal: failure swing, double top and non-failure swing, each with its second peak and its sell signal marked. Three basic variations of a bottom reversal: the same three on the second trough, each with its buy signal.</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5.33 -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p.149 and Figure 5.33. The book says 'as we learned in Chapter 4'; in this course they were Chapter 2's terms.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Inflection point of strength 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3 of 13</a:t>
            </a:r>
          </a:p>
        </p:txBody>
      </p:sp>
      <p:sp>
        <p:nvSpPr>
          <p:cNvPr id="8" name="Rectangle 7"/>
          <p:cNvSpPr/>
          <p:nvPr/>
        </p:nvSpPr>
        <p:spPr>
          <a:xfrm>
            <a:off x="777240" y="2258568"/>
            <a:ext cx="64008" cy="10546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11643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An inflection point, a peak or trough, counts for more the more bars flank it. A peak acts as resistance, stopping a rally; a trough acts as support, stopping a decline.</a:t>
            </a:r>
          </a:p>
        </p:txBody>
      </p:sp>
      <p:sp>
        <p:nvSpPr>
          <p:cNvPr id="10" name="Rectangle 9"/>
          <p:cNvSpPr/>
          <p:nvPr/>
        </p:nvSpPr>
        <p:spPr>
          <a:xfrm>
            <a:off x="777240" y="3569208"/>
            <a:ext cx="64008" cy="84124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523488"/>
            <a:ext cx="5394960" cy="950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A peak whose highest bar is higher than the ten bars on either side is of strength 10. One that tops only two bars each side is of strength 2.</a:t>
            </a:r>
          </a:p>
        </p:txBody>
      </p:sp>
      <p:sp>
        <p:nvSpPr>
          <p:cNvPr id="12" name="Rectangle 11"/>
          <p:cNvSpPr/>
          <p:nvPr/>
        </p:nvSpPr>
        <p:spPr>
          <a:xfrm>
            <a:off x="777240" y="4666488"/>
            <a:ext cx="64008" cy="10546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20768"/>
            <a:ext cx="5394960" cy="11643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N bars on either side of the highest peak or lowest trough is an inflection point of strength N. More bars: a more significant peak or trough, and a stronger resistance or support level.</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d.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AD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pp.149-150. It gives no reason, and does not say whether N is the most bars a peak tops. On the chart the small peak fails at the third bar. Strengths 2 and 10 are ours.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Support and resistance role reversal</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4 of 13</a:t>
            </a:r>
          </a:p>
        </p:txBody>
      </p:sp>
      <p:sp>
        <p:nvSpPr>
          <p:cNvPr id="8" name="Rectangle 7"/>
          <p:cNvSpPr/>
          <p:nvPr/>
        </p:nvSpPr>
        <p:spPr>
          <a:xfrm>
            <a:off x="777240" y="2258568"/>
            <a:ext cx="64008" cy="4297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4663440" cy="5394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A breached barrier changes sides.</a:t>
            </a:r>
          </a:p>
        </p:txBody>
      </p:sp>
      <p:sp>
        <p:nvSpPr>
          <p:cNvPr id="10" name="Rectangle 9"/>
          <p:cNvSpPr/>
          <p:nvPr/>
        </p:nvSpPr>
        <p:spPr>
          <a:xfrm>
            <a:off x="777240" y="2944368"/>
            <a:ext cx="64008" cy="6583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898648"/>
            <a:ext cx="4663440" cy="7680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A share holds at PHP 40, then falls through it. On the next rally PHP 40 stops it.</a:t>
            </a:r>
          </a:p>
        </p:txBody>
      </p:sp>
      <p:sp>
        <p:nvSpPr>
          <p:cNvPr id="12" name="Rectangle 11"/>
          <p:cNvSpPr/>
          <p:nvPr/>
        </p:nvSpPr>
        <p:spPr>
          <a:xfrm>
            <a:off x="777240" y="3858768"/>
            <a:ext cx="64008" cy="18013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813048"/>
            <a:ext cx="4663440" cy="1911095"/>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Price barriers change roles once breached: support turns into future resistance, and resistance into future support. All overlay barriers: channels, trendlines (5.6), pivot points and price envelopes, the last two not built in this course, named only as the book's others.</a:t>
            </a:r>
          </a:p>
        </p:txBody>
      </p:sp>
      <p:sp>
        <p:nvSpPr>
          <p:cNvPr id="14" name="Rectangle 13"/>
          <p:cNvSpPr/>
          <p:nvPr/>
        </p:nvSpPr>
        <p:spPr>
          <a:xfrm>
            <a:off x="6035040" y="2157984"/>
            <a:ext cx="537941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035040" y="2157984"/>
            <a:ext cx="537941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446520" y="2615184"/>
            <a:ext cx="455645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5.34</a:t>
            </a:r>
          </a:p>
          <a:p>
            <a:pPr algn="l">
              <a:lnSpc>
                <a:spcPct val="120000"/>
              </a:lnSpc>
              <a:spcBef>
                <a:spcPts val="0"/>
              </a:spcBef>
              <a:spcAft>
                <a:spcPts val="1400"/>
              </a:spcAft>
            </a:pPr>
            <a:r>
              <a:rPr sz="1800" b="0" i="0">
                <a:solidFill>
                  <a:srgbClr val="1A1A1A"/>
                </a:solidFill>
                <a:latin typeface="Palatino"/>
              </a:rPr>
              <a:t>Four drawings in two columns, resistance turning into support and support turning into resistance: the top pair on horizontal levels, the bottom pair on a downtrend line and an uptrend 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035040" y="5650992"/>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5.34 -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p.150, Figure 5.34: top row flat levels, bottom row trendlines (5.6). No reason given here; pesos ours. Support and resistance: the slide just before this one.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Role reversal in a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5 of 13</a:t>
            </a:r>
          </a:p>
        </p:txBody>
      </p:sp>
      <p:sp>
        <p:nvSpPr>
          <p:cNvPr id="7" name="TextBox 6"/>
          <p:cNvSpPr txBox="1"/>
          <p:nvPr/>
        </p:nvSpPr>
        <p:spPr>
          <a:xfrm>
            <a:off x="777240" y="1965960"/>
            <a:ext cx="438912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In a downtrend, support turns into resistance, level after level.</a:t>
            </a:r>
          </a:p>
          <a:p>
            <a:pPr algn="l">
              <a:lnSpc>
                <a:spcPct val="105000"/>
              </a:lnSpc>
              <a:spcBef>
                <a:spcPts val="0"/>
              </a:spcBef>
              <a:spcAft>
                <a:spcPts val="1100"/>
              </a:spcAft>
            </a:pPr>
            <a:r>
              <a:rPr sz="2000" b="0" i="0">
                <a:solidFill>
                  <a:srgbClr val="1A1A1A"/>
                </a:solidFill>
                <a:latin typeface="Arial"/>
              </a:rPr>
              <a:t>In an uptrend, resistance turns into support, level after level.</a:t>
            </a:r>
          </a:p>
        </p:txBody>
      </p:sp>
      <p:sp>
        <p:nvSpPr>
          <p:cNvPr id="8" name="Rectangle 7"/>
          <p:cNvSpPr/>
          <p:nvPr/>
        </p:nvSpPr>
        <p:spPr>
          <a:xfrm>
            <a:off x="777240" y="3776472"/>
            <a:ext cx="82296" cy="14264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096512" cy="142646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Each horizontal line in the figure is one level, met first from one side and then from the other.</a:t>
            </a:r>
          </a:p>
        </p:txBody>
      </p:sp>
      <p:sp>
        <p:nvSpPr>
          <p:cNvPr id="10" name="Rectangle 9"/>
          <p:cNvSpPr/>
          <p:nvPr/>
        </p:nvSpPr>
        <p:spPr>
          <a:xfrm>
            <a:off x="5486399" y="1810512"/>
            <a:ext cx="592805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486399" y="1810512"/>
            <a:ext cx="5928055" cy="5080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5897879" y="2267712"/>
            <a:ext cx="51050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5.35</a:t>
            </a:r>
          </a:p>
          <a:p>
            <a:pPr algn="l">
              <a:lnSpc>
                <a:spcPct val="120000"/>
              </a:lnSpc>
              <a:spcBef>
                <a:spcPts val="0"/>
              </a:spcBef>
              <a:spcAft>
                <a:spcPts val="1400"/>
              </a:spcAft>
            </a:pPr>
            <a:r>
              <a:rPr sz="1800" b="0" i="0">
                <a:solidFill>
                  <a:srgbClr val="1A1A1A"/>
                </a:solidFill>
                <a:latin typeface="Palatino"/>
              </a:rPr>
              <a:t>A price chart falling and then rising, with short horizontal lines at the levels where support turned into resistance in the downtrend and where resistance turned into support in the uptrend.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3" name="TextBox 12"/>
          <p:cNvSpPr txBox="1"/>
          <p:nvPr/>
        </p:nvSpPr>
        <p:spPr>
          <a:xfrm>
            <a:off x="5486399" y="5650992"/>
            <a:ext cx="592805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5.35 - Lim, The Handbook of Technical Analysis (Wiley, 2016)</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p.150, Figure 5.35. The book gives this figure no sentence of its own.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Prior peaks, prior troughs and a channel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6 of 13</a:t>
            </a:r>
          </a:p>
        </p:txBody>
      </p:sp>
      <p:sp>
        <p:nvSpPr>
          <p:cNvPr id="7" name="TextBox 6"/>
          <p:cNvSpPr txBox="1"/>
          <p:nvPr/>
        </p:nvSpPr>
        <p:spPr>
          <a:xfrm>
            <a:off x="777240" y="1965960"/>
            <a:ext cx="43891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EURUSD, 30 minutes: support and resistance at prior peaks and troughs, and on the rising channel.</a:t>
            </a:r>
          </a:p>
          <a:p>
            <a:pPr algn="l">
              <a:lnSpc>
                <a:spcPct val="105000"/>
              </a:lnSpc>
              <a:spcBef>
                <a:spcPts val="0"/>
              </a:spcBef>
              <a:spcAft>
                <a:spcPts val="1100"/>
              </a:spcAft>
            </a:pPr>
            <a:r>
              <a:rPr sz="1700" b="0" i="0">
                <a:solidFill>
                  <a:srgbClr val="1A1A1A"/>
                </a:solidFill>
                <a:latin typeface="Arial"/>
              </a:rPr>
              <a:t>Resistance turning into support, again and again, in an uptrend.</a:t>
            </a:r>
          </a:p>
        </p:txBody>
      </p:sp>
      <p:sp>
        <p:nvSpPr>
          <p:cNvPr id="8" name="Rectangle 7"/>
          <p:cNvSpPr/>
          <p:nvPr/>
        </p:nvSpPr>
        <p:spPr>
          <a:xfrm>
            <a:off x="777240" y="385648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93058"/>
            <a:ext cx="409651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same role reversal as the last two slides, on a real chart instead of an invented one.</a:t>
            </a:r>
          </a:p>
        </p:txBody>
      </p:sp>
      <p:sp>
        <p:nvSpPr>
          <p:cNvPr id="10" name="TextBox 9"/>
          <p:cNvSpPr txBox="1"/>
          <p:nvPr/>
        </p:nvSpPr>
        <p:spPr>
          <a:xfrm>
            <a:off x="777240" y="5026914"/>
            <a:ext cx="43891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figure's lower panel carries an oscillator, the cycle-tuned stochastic, Chapter 8, too small to read here; this slide keeps only what the price panel itself shows.</a:t>
            </a:r>
          </a:p>
        </p:txBody>
      </p:sp>
      <p:sp>
        <p:nvSpPr>
          <p:cNvPr id="11" name="Rectangle 10"/>
          <p:cNvSpPr/>
          <p:nvPr/>
        </p:nvSpPr>
        <p:spPr>
          <a:xfrm>
            <a:off x="5486399" y="1810512"/>
            <a:ext cx="59280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486399" y="1810512"/>
            <a:ext cx="59280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5897879" y="2267712"/>
            <a:ext cx="51050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5.36</a:t>
            </a:r>
          </a:p>
          <a:p>
            <a:pPr algn="l">
              <a:lnSpc>
                <a:spcPct val="120000"/>
              </a:lnSpc>
              <a:spcBef>
                <a:spcPts val="0"/>
              </a:spcBef>
              <a:spcAft>
                <a:spcPts val="1400"/>
              </a:spcAft>
            </a:pPr>
            <a:r>
              <a:rPr sz="1800" b="0" i="0">
                <a:solidFill>
                  <a:srgbClr val="1A1A1A"/>
                </a:solidFill>
                <a:latin typeface="Palatino"/>
              </a:rPr>
              <a:t>A 30 minute EURUSD chart headed resistance turning into support in an uptrend: horizontal levels each marked resistance and then support, a rising channel around them, and a cycle-tuned stochastic below with arrows from its lows up to the support levels.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486399" y="5650992"/>
            <a:ext cx="592805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5.36 -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p.151 and Figure 5.36.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12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Tops, bottoms and role reversal</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At a market top, the second peak fails to penetrate the previous peak. This variation is called a:</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Double top</a:t>
            </a:r>
          </a:p>
          <a:p>
            <a:pPr algn="l">
              <a:lnSpc>
                <a:spcPct val="112000"/>
              </a:lnSpc>
              <a:spcBef>
                <a:spcPts val="0"/>
              </a:spcBef>
              <a:spcAft>
                <a:spcPts val="900"/>
              </a:spcAft>
            </a:pPr>
            <a:r>
              <a:rPr sz="1500" b="0" i="0">
                <a:solidFill>
                  <a:srgbClr val="FFFFFF"/>
                </a:solidFill>
                <a:latin typeface="Arial"/>
              </a:rPr>
              <a:t>B.  Failure swing</a:t>
            </a:r>
          </a:p>
          <a:p>
            <a:pPr algn="l">
              <a:lnSpc>
                <a:spcPct val="112000"/>
              </a:lnSpc>
              <a:spcBef>
                <a:spcPts val="0"/>
              </a:spcBef>
              <a:spcAft>
                <a:spcPts val="900"/>
              </a:spcAft>
            </a:pPr>
            <a:r>
              <a:rPr sz="1500" b="0" i="0">
                <a:solidFill>
                  <a:srgbClr val="FFFFFF"/>
                </a:solidFill>
                <a:latin typeface="Arial"/>
              </a:rPr>
              <a:t>C.  Non-failure swing</a:t>
            </a:r>
          </a:p>
          <a:p>
            <a:pPr algn="l">
              <a:lnSpc>
                <a:spcPct val="112000"/>
              </a:lnSpc>
              <a:spcBef>
                <a:spcPts val="0"/>
              </a:spcBef>
              <a:spcAft>
                <a:spcPts val="900"/>
              </a:spcAft>
            </a:pPr>
            <a:r>
              <a:rPr sz="1500" b="0" i="0">
                <a:solidFill>
                  <a:srgbClr val="FFFFFF"/>
                </a:solidFill>
                <a:latin typeface="Arial"/>
              </a:rPr>
              <a:t>D.  Rounding top</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support level is breached. In technical analysis it is now expected to act as: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Stronger support</a:t>
            </a:r>
          </a:p>
          <a:p>
            <a:pPr algn="l">
              <a:lnSpc>
                <a:spcPct val="112000"/>
              </a:lnSpc>
              <a:spcBef>
                <a:spcPts val="0"/>
              </a:spcBef>
              <a:spcAft>
                <a:spcPts val="900"/>
              </a:spcAft>
            </a:pPr>
            <a:r>
              <a:rPr sz="1500" b="0" i="0">
                <a:solidFill>
                  <a:srgbClr val="FFFFFF"/>
                </a:solidFill>
                <a:latin typeface="Arial"/>
              </a:rPr>
              <a:t>B.  A runaway gap</a:t>
            </a:r>
          </a:p>
          <a:p>
            <a:pPr algn="l">
              <a:lnSpc>
                <a:spcPct val="112000"/>
              </a:lnSpc>
              <a:spcBef>
                <a:spcPts val="0"/>
              </a:spcBef>
              <a:spcAft>
                <a:spcPts val="900"/>
              </a:spcAft>
            </a:pPr>
            <a:r>
              <a:rPr sz="1500" b="0" i="0">
                <a:solidFill>
                  <a:srgbClr val="FFFFFF"/>
                </a:solidFill>
                <a:latin typeface="Arial"/>
              </a:rPr>
              <a:t>C.  Future resistance</a:t>
            </a:r>
          </a:p>
          <a:p>
            <a:pPr algn="l">
              <a:lnSpc>
                <a:spcPct val="112000"/>
              </a:lnSpc>
              <a:spcBef>
                <a:spcPts val="0"/>
              </a:spcBef>
              <a:spcAft>
                <a:spcPts val="900"/>
              </a:spcAft>
            </a:pPr>
            <a:r>
              <a:rPr sz="1500" b="0" i="0">
                <a:solidFill>
                  <a:srgbClr val="FFFFFF"/>
                </a:solidFill>
                <a:latin typeface="Arial"/>
              </a:rPr>
              <a:t>D.  Nothing: a breached level is discarded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11 - 5.5 Inflection points  |  Check 12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Tops, bottoms and role reversal</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At a market top, the second peak fails to penetrate the previous peak. This variation is called a:</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Failure swing</a:t>
            </a:r>
          </a:p>
          <a:p>
            <a:pPr algn="l">
              <a:lnSpc>
                <a:spcPct val="115000"/>
              </a:lnSpc>
              <a:spcBef>
                <a:spcPts val="700"/>
              </a:spcBef>
              <a:spcAft>
                <a:spcPts val="0"/>
              </a:spcAft>
            </a:pPr>
            <a:r>
              <a:rPr sz="1600" b="0" i="0">
                <a:solidFill>
                  <a:srgbClr val="1A1A1A"/>
                </a:solidFill>
                <a:latin typeface="Arial"/>
              </a:rPr>
              <a:t>A failure swing fails to penetrate. A double top matches the previous peak, and a non-failure swing succeeds in penetrating it.</a:t>
            </a:r>
          </a:p>
        </p:txBody>
      </p:sp>
      <p:sp>
        <p:nvSpPr>
          <p:cNvPr id="10" name="Rectangle 9"/>
          <p:cNvSpPr/>
          <p:nvPr/>
        </p:nvSpPr>
        <p:spPr>
          <a:xfrm>
            <a:off x="777240" y="354939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support level is breached. In technical analysis it is now expected to act as: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Future resistance</a:t>
            </a:r>
          </a:p>
          <a:p>
            <a:pPr algn="l">
              <a:lnSpc>
                <a:spcPct val="115000"/>
              </a:lnSpc>
              <a:spcBef>
                <a:spcPts val="700"/>
              </a:spcBef>
              <a:spcAft>
                <a:spcPts val="0"/>
              </a:spcAft>
            </a:pPr>
            <a:r>
              <a:rPr sz="1600" b="0" i="0">
                <a:solidFill>
                  <a:srgbClr val="1A1A1A"/>
                </a:solidFill>
                <a:latin typeface="Arial"/>
              </a:rPr>
              <a:t>Price barriers change roles once breached: support turns into future resistance, and resistance into future support.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Check 12</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Trade in the direction of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7 of 13</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means to buy in an uptrend and short in a downtrend. It is generally easier and safer.</a:t>
            </a:r>
          </a:p>
          <a:p>
            <a:pPr algn="l">
              <a:lnSpc>
                <a:spcPct val="105000"/>
              </a:lnSpc>
              <a:spcBef>
                <a:spcPts val="0"/>
              </a:spcBef>
              <a:spcAft>
                <a:spcPts val="1100"/>
              </a:spcAft>
            </a:pPr>
            <a:r>
              <a:rPr sz="1700" b="0" i="0">
                <a:solidFill>
                  <a:srgbClr val="1A1A1A"/>
                </a:solidFill>
                <a:latin typeface="Arial"/>
              </a:rPr>
              <a:t>Buying dips and selling rallies gets positions at the most advantageous prices, with the smallest stopsizes: the stop goes just beyond the dip or rally, close to the entry.</a:t>
            </a:r>
          </a:p>
          <a:p>
            <a:pPr algn="l">
              <a:lnSpc>
                <a:spcPct val="105000"/>
              </a:lnSpc>
              <a:spcBef>
                <a:spcPts val="0"/>
              </a:spcBef>
              <a:spcAft>
                <a:spcPts val="1100"/>
              </a:spcAft>
            </a:pPr>
            <a:r>
              <a:rPr sz="1700" b="0" i="0">
                <a:solidFill>
                  <a:srgbClr val="1A1A1A"/>
                </a:solidFill>
                <a:latin typeface="Arial"/>
              </a:rPr>
              <a:t>Positions taken with the trend can be held, and so extract greater profit from the markets.</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61081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Buying a dip and selling a rally are retracement entries in the direction of the existing trend.</a:t>
            </a:r>
          </a:p>
        </p:txBody>
      </p:sp>
      <p:sp>
        <p:nvSpPr>
          <p:cNvPr id="10" name="TextBox 9"/>
          <p:cNvSpPr txBox="1"/>
          <p:nvPr/>
        </p:nvSpPr>
        <p:spPr>
          <a:xfrm>
            <a:off x="777240" y="5461254"/>
            <a:ext cx="64008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Stopsize: the distance from entry to stop. Trendlines or channels (5.6) time the entries; a cycle-tuned oscillator (Chapter 8) fine-tunes them.</a:t>
            </a:r>
          </a:p>
        </p:txBody>
      </p:sp>
      <p:sp>
        <p:nvSpPr>
          <p:cNvPr id="11" name="Rectangle 10"/>
          <p:cNvSpPr/>
          <p:nvPr/>
        </p:nvSpPr>
        <p:spPr>
          <a:xfrm>
            <a:off x="7498079" y="1810512"/>
            <a:ext cx="391637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498079" y="1810512"/>
            <a:ext cx="391637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909559" y="2267712"/>
            <a:ext cx="30934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5.37</a:t>
            </a:r>
          </a:p>
          <a:p>
            <a:pPr algn="l">
              <a:lnSpc>
                <a:spcPct val="120000"/>
              </a:lnSpc>
              <a:spcBef>
                <a:spcPts val="0"/>
              </a:spcBef>
              <a:spcAft>
                <a:spcPts val="1400"/>
              </a:spcAft>
            </a:pPr>
            <a:r>
              <a:rPr sz="1800" b="0" i="0">
                <a:solidFill>
                  <a:srgbClr val="1A1A1A"/>
                </a:solidFill>
                <a:latin typeface="Palatino"/>
              </a:rPr>
              <a:t>Two drawings: buying dips in an uptrend, with arrows at each trough along a rising dotted trendline, and selling into rallies in a downtrend, with arrows at each peak along a falling one.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5.37 -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pp.151-152 and Figure 5.37. Both reasons on the slide are the book's.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Trend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8 of 13</a:t>
            </a:r>
          </a:p>
        </p:txBody>
      </p:sp>
      <p:sp>
        <p:nvSpPr>
          <p:cNvPr id="8" name="Rectangle 7"/>
          <p:cNvSpPr/>
          <p:nvPr/>
        </p:nvSpPr>
        <p:spPr>
          <a:xfrm>
            <a:off x="777240" y="2258568"/>
            <a:ext cx="64008" cy="4145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242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Says whether a trend is on. Not 5.3's filters.</a:t>
            </a:r>
          </a:p>
        </p:txBody>
      </p:sp>
      <p:sp>
        <p:nvSpPr>
          <p:cNvPr id="10" name="Rectangle 9"/>
          <p:cNvSpPr/>
          <p:nvPr/>
        </p:nvSpPr>
        <p:spPr>
          <a:xfrm>
            <a:off x="777240" y="2929128"/>
            <a:ext cx="64008" cy="12679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883408"/>
            <a:ext cx="5394960" cy="1377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A moving average: the average of a bar's own close and a set number before it, moving ahead one bar at a time. A double crossover compares a shorter one against a longer: shorter above, a potential uptrend; shorter below, a potential downtrend.</a:t>
            </a:r>
          </a:p>
        </p:txBody>
      </p:sp>
      <p:sp>
        <p:nvSpPr>
          <p:cNvPr id="12" name="Rectangle 11"/>
          <p:cNvSpPr/>
          <p:nvPr/>
        </p:nvSpPr>
        <p:spPr>
          <a:xfrm>
            <a:off x="777240" y="4453128"/>
            <a:ext cx="64008" cy="12679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07408"/>
            <a:ext cx="5394960" cy="1377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It helps to identify a trend amidst the market noise and price volatility. How a moving average is built in general is Chapter 11; this is only its crossing read. Two more: an oscillator crossing its signal line, and price contained above or below an overlay barrier.</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e.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AE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p.152. No reason given for the crossover; signal line is not explained here. The chart is ours: 6 and 18 bar moving averages, chosen so the crossings show.</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filter and a trigger together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9 of 13</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Bottom: the MACD, the filter, says which way. Middle: the stochastic, the trigger, says when.</a:t>
            </a:r>
          </a:p>
          <a:p>
            <a:pPr algn="l">
              <a:lnSpc>
                <a:spcPct val="105000"/>
              </a:lnSpc>
              <a:spcBef>
                <a:spcPts val="0"/>
              </a:spcBef>
              <a:spcAft>
                <a:spcPts val="1100"/>
              </a:spcAft>
            </a:pPr>
            <a:r>
              <a:rPr sz="1600" b="0" i="0">
                <a:solidFill>
                  <a:srgbClr val="1A1A1A"/>
                </a:solidFill>
                <a:latin typeface="Arial"/>
              </a:rPr>
              <a:t>Long: the stochastic crosses above its signal line with the MACD above zero. Short: the reverse.</a:t>
            </a:r>
          </a:p>
          <a:p>
            <a:pPr algn="l">
              <a:lnSpc>
                <a:spcPct val="105000"/>
              </a:lnSpc>
              <a:spcBef>
                <a:spcPts val="0"/>
              </a:spcBef>
              <a:spcAft>
                <a:spcPts val="1100"/>
              </a:spcAft>
            </a:pPr>
            <a:r>
              <a:rPr sz="1600" b="0" i="0">
                <a:solidFill>
                  <a:srgbClr val="1A1A1A"/>
                </a:solidFill>
                <a:latin typeface="Arial"/>
              </a:rPr>
              <a:t>Stops: below the previous trough for a long, trailing up to each higher trough. A short: the mirror.</a:t>
            </a:r>
          </a:p>
        </p:txBody>
      </p:sp>
      <p:sp>
        <p:nvSpPr>
          <p:cNvPr id="8" name="Rectangle 7"/>
          <p:cNvSpPr/>
          <p:nvPr/>
        </p:nvSpPr>
        <p:spPr>
          <a:xfrm>
            <a:off x="777240" y="4197096"/>
            <a:ext cx="82296" cy="9235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233672"/>
            <a:ext cx="5193792" cy="92354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Preview only, not examinable: the MACD, the stochastic and signal lines are not taught in this course until later chapters.</a:t>
            </a:r>
          </a:p>
        </p:txBody>
      </p:sp>
      <p:sp>
        <p:nvSpPr>
          <p:cNvPr id="10" name="TextBox 9"/>
          <p:cNvSpPr txBox="1"/>
          <p:nvPr/>
        </p:nvSpPr>
        <p:spPr>
          <a:xfrm>
            <a:off x="777240" y="5321808"/>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An illustration of one tool for direction, one for timing, shown here only because the book places it in this section. Nothing on this slide is assumed known or tested.</a:t>
            </a:r>
          </a:p>
        </p:txBody>
      </p:sp>
      <p:sp>
        <p:nvSpPr>
          <p:cNvPr id="11" name="Rectangle 10"/>
          <p:cNvSpPr/>
          <p:nvPr/>
        </p:nvSpPr>
        <p:spPr>
          <a:xfrm>
            <a:off x="6583679" y="1810512"/>
            <a:ext cx="48307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583679" y="1810512"/>
            <a:ext cx="48307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95159" y="2267712"/>
            <a:ext cx="40078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5.38</a:t>
            </a:r>
          </a:p>
          <a:p>
            <a:pPr algn="l">
              <a:lnSpc>
                <a:spcPct val="120000"/>
              </a:lnSpc>
              <a:spcBef>
                <a:spcPts val="0"/>
              </a:spcBef>
              <a:spcAft>
                <a:spcPts val="1400"/>
              </a:spcAft>
            </a:pPr>
            <a:r>
              <a:rPr sz="1800" b="0" i="0">
                <a:solidFill>
                  <a:srgbClr val="1A1A1A"/>
                </a:solidFill>
                <a:latin typeface="Palatino"/>
              </a:rPr>
              <a:t>A EURUSD chart with long entries, short entries and trailing stops marked on price, a stochastic panel with the entry crossovers circled, and a MACD panel with three divergences drawn on it.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5.38 -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pp.152-153 and Figure 5.38.</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13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With the trend</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Buying on a dip in an uptrend is an example of:</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failed breakout entry</a:t>
            </a:r>
          </a:p>
          <a:p>
            <a:pPr algn="l">
              <a:lnSpc>
                <a:spcPct val="112000"/>
              </a:lnSpc>
              <a:spcBef>
                <a:spcPts val="0"/>
              </a:spcBef>
              <a:spcAft>
                <a:spcPts val="900"/>
              </a:spcAft>
            </a:pPr>
            <a:r>
              <a:rPr sz="1500" b="0" i="0">
                <a:solidFill>
                  <a:srgbClr val="FFFFFF"/>
                </a:solidFill>
                <a:latin typeface="Arial"/>
              </a:rPr>
              <a:t>B.  A random entry</a:t>
            </a:r>
          </a:p>
          <a:p>
            <a:pPr algn="l">
              <a:lnSpc>
                <a:spcPct val="112000"/>
              </a:lnSpc>
              <a:spcBef>
                <a:spcPts val="0"/>
              </a:spcBef>
              <a:spcAft>
                <a:spcPts val="900"/>
              </a:spcAft>
            </a:pPr>
            <a:r>
              <a:rPr sz="1500" b="0" i="0">
                <a:solidFill>
                  <a:srgbClr val="FFFFFF"/>
                </a:solidFill>
                <a:latin typeface="Arial"/>
              </a:rPr>
              <a:t>C.  A breakout entry against the trend</a:t>
            </a:r>
          </a:p>
          <a:p>
            <a:pPr algn="l">
              <a:lnSpc>
                <a:spcPct val="112000"/>
              </a:lnSpc>
              <a:spcBef>
                <a:spcPts val="0"/>
              </a:spcBef>
              <a:spcAft>
                <a:spcPts val="900"/>
              </a:spcAft>
            </a:pPr>
            <a:r>
              <a:rPr sz="1500" b="0" i="0">
                <a:solidFill>
                  <a:srgbClr val="FFFFFF"/>
                </a:solidFill>
                <a:latin typeface="Arial"/>
              </a:rPr>
              <a:t>D.  A retracement entry in the direction of the existing trend</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 double moving average crossover, the start of a potential uptrend is signified by:</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shorter average crossing above the longer</a:t>
            </a:r>
          </a:p>
          <a:p>
            <a:pPr algn="l">
              <a:lnSpc>
                <a:spcPct val="112000"/>
              </a:lnSpc>
              <a:spcBef>
                <a:spcPts val="0"/>
              </a:spcBef>
              <a:spcAft>
                <a:spcPts val="900"/>
              </a:spcAft>
            </a:pPr>
            <a:r>
              <a:rPr sz="1500" b="0" i="0">
                <a:solidFill>
                  <a:srgbClr val="FFFFFF"/>
                </a:solidFill>
                <a:latin typeface="Arial"/>
              </a:rPr>
              <a:t>B.  The longer average crossing above the shorter</a:t>
            </a:r>
          </a:p>
          <a:p>
            <a:pPr algn="l">
              <a:lnSpc>
                <a:spcPct val="112000"/>
              </a:lnSpc>
              <a:spcBef>
                <a:spcPts val="0"/>
              </a:spcBef>
              <a:spcAft>
                <a:spcPts val="900"/>
              </a:spcAft>
            </a:pPr>
            <a:r>
              <a:rPr sz="1500" b="0" i="0">
                <a:solidFill>
                  <a:srgbClr val="FFFFFF"/>
                </a:solidFill>
                <a:latin typeface="Arial"/>
              </a:rPr>
              <a:t>C.  Price touching either average</a:t>
            </a:r>
          </a:p>
          <a:p>
            <a:pPr algn="l">
              <a:lnSpc>
                <a:spcPct val="112000"/>
              </a:lnSpc>
              <a:spcBef>
                <a:spcPts val="0"/>
              </a:spcBef>
              <a:spcAft>
                <a:spcPts val="900"/>
              </a:spcAft>
            </a:pPr>
            <a:r>
              <a:rPr sz="1500" b="0" i="0">
                <a:solidFill>
                  <a:srgbClr val="FFFFFF"/>
                </a:solidFill>
                <a:latin typeface="Arial"/>
              </a:rPr>
              <a:t>D.  Both averages turning flat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11 - 5.5 Inflection points  |  Check 13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With the trend</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Buying on a dip in an uptrend is an example of:</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 retracement entry in the direction of the existing trend</a:t>
            </a:r>
          </a:p>
          <a:p>
            <a:pPr algn="l">
              <a:lnSpc>
                <a:spcPct val="115000"/>
              </a:lnSpc>
              <a:spcBef>
                <a:spcPts val="700"/>
              </a:spcBef>
              <a:spcAft>
                <a:spcPts val="0"/>
              </a:spcAft>
            </a:pPr>
            <a:r>
              <a:rPr sz="1600" b="0" i="0">
                <a:solidFill>
                  <a:srgbClr val="1A1A1A"/>
                </a:solidFill>
                <a:latin typeface="Arial"/>
              </a:rPr>
              <a:t>Buying on a dip and selling into a rally are retracement entries taken in the direction of the existing trend.</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a double moving average crossover, the start of a potential uptrend is signified by:</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shorter average crossing above the longer</a:t>
            </a:r>
          </a:p>
          <a:p>
            <a:pPr algn="l">
              <a:lnSpc>
                <a:spcPct val="115000"/>
              </a:lnSpc>
              <a:spcBef>
                <a:spcPts val="700"/>
              </a:spcBef>
              <a:spcAft>
                <a:spcPts val="0"/>
              </a:spcAft>
            </a:pPr>
            <a:r>
              <a:rPr sz="1600" b="0" i="0">
                <a:solidFill>
                  <a:srgbClr val="1A1A1A"/>
                </a:solidFill>
                <a:latin typeface="Arial"/>
              </a:rPr>
              <a:t>The shorter crossing above the longer signifies the start of a potential uptrend. Crossing below it, a potential downtrend.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Check 13</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stop goes, and how big it 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10 of 13</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A stop is usually placed just below significant troughs for longs, just above significant peaks for shorts.</a:t>
            </a:r>
          </a:p>
          <a:p>
            <a:pPr algn="l">
              <a:lnSpc>
                <a:spcPct val="105000"/>
              </a:lnSpc>
              <a:spcBef>
                <a:spcPts val="0"/>
              </a:spcBef>
              <a:spcAft>
                <a:spcPts val="1100"/>
              </a:spcAft>
            </a:pPr>
            <a:r>
              <a:rPr sz="1600" b="0" i="0">
                <a:solidFill>
                  <a:srgbClr val="1A1A1A"/>
                </a:solidFill>
                <a:latin typeface="Arial"/>
              </a:rPr>
              <a:t>Entry too far from one: a stop some multiple of ATR or standard deviations away. A qualitative rule only; the book gives no actual multiple.</a:t>
            </a:r>
          </a:p>
          <a:p>
            <a:pPr algn="l">
              <a:lnSpc>
                <a:spcPct val="105000"/>
              </a:lnSpc>
              <a:spcBef>
                <a:spcPts val="0"/>
              </a:spcBef>
              <a:spcAft>
                <a:spcPts val="1100"/>
              </a:spcAft>
            </a:pPr>
            <a:r>
              <a:rPr sz="1600" b="0" i="0">
                <a:solidFill>
                  <a:srgbClr val="1A1A1A"/>
                </a:solidFill>
                <a:latin typeface="Arial"/>
              </a:rPr>
              <a:t>Barrier entries: stopsizes always about the same. The peak or trough is usually the point of entry itself.</a:t>
            </a:r>
          </a:p>
          <a:p>
            <a:pPr algn="l">
              <a:lnSpc>
                <a:spcPct val="105000"/>
              </a:lnSpc>
              <a:spcBef>
                <a:spcPts val="0"/>
              </a:spcBef>
              <a:spcAft>
                <a:spcPts val="1100"/>
              </a:spcAft>
            </a:pPr>
            <a:r>
              <a:rPr sz="1600" b="0" i="0">
                <a:solidFill>
                  <a:srgbClr val="1A1A1A"/>
                </a:solidFill>
                <a:latin typeface="Arial"/>
              </a:rPr>
              <a:t>Breakout entries: stopsizes vary. The peak or trough may be any distance from the entry.</a:t>
            </a:r>
          </a:p>
        </p:txBody>
      </p:sp>
      <p:sp>
        <p:nvSpPr>
          <p:cNvPr id="8" name="TextBox 7"/>
          <p:cNvSpPr txBox="1"/>
          <p:nvPr/>
        </p:nvSpPr>
        <p:spPr>
          <a:xfrm>
            <a:off x="777240" y="5385816"/>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Stopsize: the distance from entry to stop, the figure's brackets.</a:t>
            </a:r>
          </a:p>
        </p:txBody>
      </p:sp>
      <p:sp>
        <p:nvSpPr>
          <p:cNvPr id="9" name="Rectangle 8"/>
          <p:cNvSpPr/>
          <p:nvPr/>
        </p:nvSpPr>
        <p:spPr>
          <a:xfrm>
            <a:off x="6583679" y="1810512"/>
            <a:ext cx="483077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6583679" y="1810512"/>
            <a:ext cx="483077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6995159" y="2267712"/>
            <a:ext cx="40078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5.39</a:t>
            </a:r>
          </a:p>
          <a:p>
            <a:pPr algn="l">
              <a:lnSpc>
                <a:spcPct val="120000"/>
              </a:lnSpc>
              <a:spcBef>
                <a:spcPts val="0"/>
              </a:spcBef>
              <a:spcAft>
                <a:spcPts val="1400"/>
              </a:spcAft>
            </a:pPr>
            <a:r>
              <a:rPr sz="1800" b="0" i="0">
                <a:solidFill>
                  <a:srgbClr val="1A1A1A"/>
                </a:solidFill>
                <a:latin typeface="Palatino"/>
              </a:rPr>
              <a:t>Two columns. Breakout entries: go long at a breakout with the stoploss just below the trough, where the stopsize will vary with each entry. Barrier entries: go long at support with the stoploss just below the barrier, where the stopsize need not vary with each entry. Each is shown on a level and on a trendline.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5.39 -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pp.153-154 and Figure 5.39, which says only that a barrier entry's stopsize need not vary with each entry.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trouble with a varying stopsize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11 of 13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Tradesize, the number of shares, is the risk per trade divided by the stopsize. So it varies with every stop.</a:t>
            </a:r>
          </a:p>
          <a:p>
            <a:pPr algn="l">
              <a:lnSpc>
                <a:spcPct val="105000"/>
              </a:lnSpc>
              <a:spcBef>
                <a:spcPts val="0"/>
              </a:spcBef>
              <a:spcAft>
                <a:spcPts val="1100"/>
              </a:spcAft>
            </a:pPr>
            <a:r>
              <a:rPr sz="1600" b="0" i="0">
                <a:solidFill>
                  <a:srgbClr val="1A1A1A"/>
                </a:solidFill>
                <a:latin typeface="Arial"/>
              </a:rPr>
              <a:t>The book's two worst cases: narrow stops taken out frequently, on a fixed percentage of current capital; or wide stops, on a fixed percentage of original capital.</a:t>
            </a:r>
          </a:p>
        </p:txBody>
      </p:sp>
      <p:sp>
        <p:nvSpPr>
          <p:cNvPr id="8" name="Rectangle 7"/>
          <p:cNvSpPr/>
          <p:nvPr/>
        </p:nvSpPr>
        <p:spPr>
          <a:xfrm>
            <a:off x="777240" y="4288536"/>
            <a:ext cx="82296" cy="405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5112"/>
            <a:ext cx="4828032" cy="40538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Either way the result is significant loss.</a:t>
            </a:r>
          </a:p>
        </p:txBody>
      </p:sp>
      <p:sp>
        <p:nvSpPr>
          <p:cNvPr id="10" name="TextBox 9"/>
          <p:cNvSpPr txBox="1"/>
          <p:nvPr/>
        </p:nvSpPr>
        <p:spPr>
          <a:xfrm>
            <a:off x="777240" y="489508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Taken out: the stop is hit. Why each is bad, our reading: a narrow stop on current capital compounds, each loss shrinks the base the next is sized from; a wide stop on original capital stays large even after capital has shrunk.</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f.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AF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p.153: 'risking a fixed percentage or fixed unit size per trade'. The chart is ours, and is arithmetic: PHP 10,000 at risk divided by each stopsize.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Proportional stopsizing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12 of 13</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One tradesize for every stop up to a threshold. For any wider stop, a smaller one, as before.</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Proportional stopsize, the threshold: PHP 3.00. Risk per trade PHP 10,000. Stops up to 3.00 trade 3,333 shares; a 5.00 stop, 2,000.</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39496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It limits the losses in either scenario by allocating a fixed percentage of original capital to narrow stops, and of current capital for stopsizes that exceed a fixed threshold size.</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g.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AG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pp.153-154; pesos ours. Its sentence speaks of original and current capital; its five steps, next slide, use one risk per trade. Learn the steps.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Five steps to the proportional tradesize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13 of 13</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1  Backtest, run the system on past trades: the average stopsize of 300 to 500, to average out noise. Say PHP 2.00.</a:t>
            </a:r>
          </a:p>
          <a:p>
            <a:pPr algn="l">
              <a:lnSpc>
                <a:spcPct val="105000"/>
              </a:lnSpc>
              <a:spcBef>
                <a:spcPts val="0"/>
              </a:spcBef>
              <a:spcAft>
                <a:spcPts val="1100"/>
              </a:spcAft>
            </a:pPr>
            <a:r>
              <a:rPr sz="1500" b="0" i="0">
                <a:solidFill>
                  <a:srgbClr val="1A1A1A"/>
                </a:solidFill>
                <a:latin typeface="Arial"/>
              </a:rPr>
              <a:t>2  Their two standard deviation value: say PHP 1.00, the same cushion as 13's ninety percent mark.</a:t>
            </a:r>
          </a:p>
          <a:p>
            <a:pPr algn="l">
              <a:lnSpc>
                <a:spcPct val="105000"/>
              </a:lnSpc>
              <a:spcBef>
                <a:spcPts val="0"/>
              </a:spcBef>
              <a:spcAft>
                <a:spcPts val="1100"/>
              </a:spcAft>
            </a:pPr>
            <a:r>
              <a:rPr sz="1500" b="0" i="0">
                <a:solidFill>
                  <a:srgbClr val="1A1A1A"/>
                </a:solidFill>
                <a:latin typeface="Arial"/>
              </a:rPr>
              <a:t>3  Add: the proportional stopsize, PHP 3.00, wide enough for almost every stop seen.</a:t>
            </a:r>
          </a:p>
          <a:p>
            <a:pPr algn="l">
              <a:lnSpc>
                <a:spcPct val="105000"/>
              </a:lnSpc>
              <a:spcBef>
                <a:spcPts val="0"/>
              </a:spcBef>
              <a:spcAft>
                <a:spcPts val="1100"/>
              </a:spcAft>
            </a:pPr>
            <a:r>
              <a:rPr sz="1500" b="0" i="0">
                <a:solidFill>
                  <a:srgbClr val="1A1A1A"/>
                </a:solidFill>
                <a:latin typeface="Arial"/>
              </a:rPr>
              <a:t>4  Maximum risk per trade: 1 percent of current capital. Say PHP 10,000.</a:t>
            </a:r>
          </a:p>
          <a:p>
            <a:pPr algn="l">
              <a:lnSpc>
                <a:spcPct val="105000"/>
              </a:lnSpc>
              <a:spcBef>
                <a:spcPts val="0"/>
              </a:spcBef>
              <a:spcAft>
                <a:spcPts val="1100"/>
              </a:spcAft>
            </a:pPr>
            <a:r>
              <a:rPr sz="1500" b="0" i="0">
                <a:solidFill>
                  <a:srgbClr val="1A1A1A"/>
                </a:solidFill>
                <a:latin typeface="Arial"/>
              </a:rPr>
              <a:t>5  10,000 / 3.00 = 3,333 shares, the proportional tradesize.</a:t>
            </a:r>
          </a:p>
        </p:txBody>
      </p:sp>
      <p:sp>
        <p:nvSpPr>
          <p:cNvPr id="8" name="Rectangle 7"/>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9" name="Picture 8" descr="chart-ah.png"/>
          <p:cNvPicPr>
            <a:picLocks noChangeAspect="1"/>
          </p:cNvPicPr>
          <p:nvPr/>
        </p:nvPicPr>
        <p:blipFill>
          <a:blip r:embed="rId2"/>
          <a:stretch>
            <a:fillRect/>
          </a:stretch>
        </p:blipFill>
        <p:spPr>
          <a:xfrm>
            <a:off x="6338163" y="1929384"/>
            <a:ext cx="4956048" cy="3511296"/>
          </a:xfrm>
          <a:prstGeom prst="rect">
            <a:avLst/>
          </a:prstGeom>
        </p:spPr>
      </p:pic>
      <p:sp>
        <p:nvSpPr>
          <p:cNvPr id="10" name="TextBox 9"/>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AH - FIN1209 teaching chart, drawn for this course. Illustrative data, not a real instrument.</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p.154. No reason for 300 to 500 trades or step 3, beyond 13's 2 SD case. Backtest: 5.3. Pesos, 1 percent: ours.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14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Stops and tradesize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332864"/>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backtest gives an average stopsize of PHP 4.00 and a two standard deviation value of PHP 2.00. The risk per trade is PHP 12,000. The proportional tradesize is:</a:t>
            </a:r>
          </a:p>
        </p:txBody>
      </p:sp>
      <p:sp>
        <p:nvSpPr>
          <p:cNvPr id="9" name="TextBox 8"/>
          <p:cNvSpPr txBox="1"/>
          <p:nvPr/>
        </p:nvSpPr>
        <p:spPr>
          <a:xfrm>
            <a:off x="1051560" y="327139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1,000 shares</a:t>
            </a:r>
          </a:p>
          <a:p>
            <a:pPr algn="l">
              <a:lnSpc>
                <a:spcPct val="112000"/>
              </a:lnSpc>
              <a:spcBef>
                <a:spcPts val="0"/>
              </a:spcBef>
              <a:spcAft>
                <a:spcPts val="900"/>
              </a:spcAft>
            </a:pPr>
            <a:r>
              <a:rPr sz="1500" b="0" i="0">
                <a:solidFill>
                  <a:srgbClr val="FFFFFF"/>
                </a:solidFill>
                <a:latin typeface="Arial"/>
              </a:rPr>
              <a:t>B.  2,000 shares</a:t>
            </a:r>
          </a:p>
          <a:p>
            <a:pPr algn="l">
              <a:lnSpc>
                <a:spcPct val="112000"/>
              </a:lnSpc>
              <a:spcBef>
                <a:spcPts val="0"/>
              </a:spcBef>
              <a:spcAft>
                <a:spcPts val="900"/>
              </a:spcAft>
            </a:pPr>
            <a:r>
              <a:rPr sz="1500" b="0" i="0">
                <a:solidFill>
                  <a:srgbClr val="FFFFFF"/>
                </a:solidFill>
                <a:latin typeface="Arial"/>
              </a:rPr>
              <a:t>C.  3,000 shares</a:t>
            </a:r>
          </a:p>
          <a:p>
            <a:pPr algn="l">
              <a:lnSpc>
                <a:spcPct val="112000"/>
              </a:lnSpc>
              <a:spcBef>
                <a:spcPts val="0"/>
              </a:spcBef>
              <a:spcAft>
                <a:spcPts val="900"/>
              </a:spcAft>
            </a:pPr>
            <a:r>
              <a:rPr sz="1500" b="0" i="0">
                <a:solidFill>
                  <a:srgbClr val="FFFFFF"/>
                </a:solidFill>
                <a:latin typeface="Arial"/>
              </a:rPr>
              <a:t>D.  6,000 shares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Compared with breakout entries, the stopsizes of barrier entries are:</a:t>
            </a:r>
          </a:p>
        </p:txBody>
      </p:sp>
      <p:sp>
        <p:nvSpPr>
          <p:cNvPr id="13" name="TextBox 12"/>
          <p:cNvSpPr txBox="1"/>
          <p:nvPr/>
        </p:nvSpPr>
        <p:spPr>
          <a:xfrm>
            <a:off x="6690207" y="327139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Always wider</a:t>
            </a:r>
          </a:p>
          <a:p>
            <a:pPr algn="l">
              <a:lnSpc>
                <a:spcPct val="112000"/>
              </a:lnSpc>
              <a:spcBef>
                <a:spcPts val="0"/>
              </a:spcBef>
              <a:spcAft>
                <a:spcPts val="900"/>
              </a:spcAft>
            </a:pPr>
            <a:r>
              <a:rPr sz="1500" b="0" i="0">
                <a:solidFill>
                  <a:srgbClr val="FFFFFF"/>
                </a:solidFill>
                <a:latin typeface="Arial"/>
              </a:rPr>
              <a:t>B.  Different with every entry</a:t>
            </a:r>
          </a:p>
          <a:p>
            <a:pPr algn="l">
              <a:lnSpc>
                <a:spcPct val="112000"/>
              </a:lnSpc>
              <a:spcBef>
                <a:spcPts val="0"/>
              </a:spcBef>
              <a:spcAft>
                <a:spcPts val="900"/>
              </a:spcAft>
            </a:pPr>
            <a:r>
              <a:rPr sz="1500" b="0" i="0">
                <a:solidFill>
                  <a:srgbClr val="FFFFFF"/>
                </a:solidFill>
                <a:latin typeface="Arial"/>
              </a:rPr>
              <a:t>C.  Always approximately the same size</a:t>
            </a:r>
          </a:p>
          <a:p>
            <a:pPr algn="l">
              <a:lnSpc>
                <a:spcPct val="112000"/>
              </a:lnSpc>
              <a:spcBef>
                <a:spcPts val="0"/>
              </a:spcBef>
              <a:spcAft>
                <a:spcPts val="900"/>
              </a:spcAft>
            </a:pPr>
            <a:r>
              <a:rPr sz="1500" b="0" i="0">
                <a:solidFill>
                  <a:srgbClr val="FFFFFF"/>
                </a:solidFill>
                <a:latin typeface="Arial"/>
              </a:rPr>
              <a:t>D.  Not needed at all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11 - 5.5 Inflection points  |  Check 14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Stops and tradesize</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backtest gives an average stopsize of PHP 4.00 and a two standard deviation value of PHP 2.00. The risk per trade is PHP 12,000. The proportional tradesize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2,000 shares</a:t>
            </a:r>
          </a:p>
          <a:p>
            <a:pPr algn="l">
              <a:lnSpc>
                <a:spcPct val="115000"/>
              </a:lnSpc>
              <a:spcBef>
                <a:spcPts val="700"/>
              </a:spcBef>
              <a:spcAft>
                <a:spcPts val="0"/>
              </a:spcAft>
            </a:pPr>
            <a:r>
              <a:rPr sz="1600" b="0" i="0">
                <a:solidFill>
                  <a:srgbClr val="1A1A1A"/>
                </a:solidFill>
                <a:latin typeface="Arial"/>
              </a:rPr>
              <a:t>The proportional stopsize is 4.00 + 2.00 = PHP 6.00, and 12,000 / 6.00 = 2,000 shares.</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Compared with breakout entries, the stopsizes of barrier entries are:</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Always approximately the same size</a:t>
            </a:r>
          </a:p>
          <a:p>
            <a:pPr algn="l">
              <a:lnSpc>
                <a:spcPct val="115000"/>
              </a:lnSpc>
              <a:spcBef>
                <a:spcPts val="700"/>
              </a:spcBef>
              <a:spcAft>
                <a:spcPts val="0"/>
              </a:spcAft>
            </a:pPr>
            <a:r>
              <a:rPr sz="1600" b="0" i="0">
                <a:solidFill>
                  <a:srgbClr val="1A1A1A"/>
                </a:solidFill>
                <a:latin typeface="Arial"/>
              </a:rPr>
              <a:t>At a barrier the significant peak or trough is usually the point of entry itself, so the stop sits just behind the barrier every time.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11 - 5.5 Inflection points  |  Check 14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5.6  Trendline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 of 24</a:t>
            </a:r>
          </a:p>
        </p:txBody>
      </p:sp>
      <p:sp>
        <p:nvSpPr>
          <p:cNvPr id="8" name="Rectangle 7"/>
          <p:cNvSpPr/>
          <p:nvPr/>
        </p:nvSpPr>
        <p:spPr>
          <a:xfrm>
            <a:off x="777240" y="2258568"/>
            <a:ext cx="64008" cy="6278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7376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A straight line through two turning points, carried forward, cutting through no price.</a:t>
            </a:r>
          </a:p>
        </p:txBody>
      </p:sp>
      <p:sp>
        <p:nvSpPr>
          <p:cNvPr id="10" name="Rectangle 9"/>
          <p:cNvSpPr/>
          <p:nvPr/>
        </p:nvSpPr>
        <p:spPr>
          <a:xfrm>
            <a:off x="777240" y="3142488"/>
            <a:ext cx="64008" cy="6278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096768"/>
            <a:ext cx="5394960" cy="7376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Join an uptrend's troughs at PHP 40 and PHP 44 and extend the line. A third touch confirms it.</a:t>
            </a:r>
          </a:p>
        </p:txBody>
      </p:sp>
      <p:sp>
        <p:nvSpPr>
          <p:cNvPr id="12" name="Rectangle 11"/>
          <p:cNvSpPr/>
          <p:nvPr/>
        </p:nvSpPr>
        <p:spPr>
          <a:xfrm>
            <a:off x="777240" y="4026408"/>
            <a:ext cx="64008" cy="16946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80688"/>
            <a:ext cx="5394960" cy="18044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A line projected forward into the future from two significant inflection points: troughs for an uptrend, peaks for a downtrend. Two points only fit a line to the past; a third touch is the first time it predicts, which is why it is tentative until then and confirmed, or valid, after. A line price cuts through has already broken it, so it could not still be holding.</a:t>
            </a:r>
          </a:p>
        </p:txBody>
      </p:sp>
      <p:sp>
        <p:nvSpPr>
          <p:cNvPr id="14" name="Rectangle 13"/>
          <p:cNvSpPr/>
          <p:nvPr/>
        </p:nvSpPr>
        <p:spPr>
          <a:xfrm>
            <a:off x="6767931" y="2157984"/>
            <a:ext cx="464515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i.png"/>
          <p:cNvPicPr>
            <a:picLocks noChangeAspect="1"/>
          </p:cNvPicPr>
          <p:nvPr/>
        </p:nvPicPr>
        <p:blipFill>
          <a:blip r:embed="rId2"/>
          <a:stretch>
            <a:fillRect/>
          </a:stretch>
        </p:blipFill>
        <p:spPr>
          <a:xfrm>
            <a:off x="6886803" y="2276856"/>
            <a:ext cx="4407408" cy="3163824"/>
          </a:xfrm>
          <a:prstGeom prst="rect">
            <a:avLst/>
          </a:prstGeom>
        </p:spPr>
      </p:pic>
      <p:sp>
        <p:nvSpPr>
          <p:cNvPr id="16" name="TextBox 15"/>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AI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p.155. No reason given for the third contact or the no-cutting rule beyond our own reading. Price crossing it later is a breach. Pesos and chart ours.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Short, medium and longer-term trendlines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 of 24</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 trendline is short, medium or longer term depending on the amount of price activity it contains above or below it.</a:t>
            </a:r>
          </a:p>
          <a:p>
            <a:pPr algn="l">
              <a:lnSpc>
                <a:spcPct val="105000"/>
              </a:lnSpc>
              <a:spcBef>
                <a:spcPts val="0"/>
              </a:spcBef>
              <a:spcAft>
                <a:spcPts val="1100"/>
              </a:spcAft>
            </a:pPr>
            <a:r>
              <a:rPr sz="1700" b="0" i="0">
                <a:solidFill>
                  <a:srgbClr val="1A1A1A"/>
                </a:solidFill>
                <a:latin typeface="Arial"/>
              </a:rPr>
              <a:t>Longer-term uptrend lines contain more price activity above them than shorter-term uptrend lines.</a:t>
            </a:r>
          </a:p>
          <a:p>
            <a:pPr algn="l">
              <a:lnSpc>
                <a:spcPct val="105000"/>
              </a:lnSpc>
              <a:spcBef>
                <a:spcPts val="0"/>
              </a:spcBef>
              <a:spcAft>
                <a:spcPts val="1100"/>
              </a:spcAft>
            </a:pPr>
            <a:r>
              <a:rPr sz="1700" b="0" i="0">
                <a:solidFill>
                  <a:srgbClr val="1A1A1A"/>
                </a:solidFill>
                <a:latin typeface="Arial"/>
              </a:rPr>
              <a:t>The converse is true for downtrend lines.</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4622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longer-term trendline contains, or supports, more of the price action.</a:t>
            </a:r>
          </a:p>
        </p:txBody>
      </p:sp>
      <p:sp>
        <p:nvSpPr>
          <p:cNvPr id="10" name="TextBox 9"/>
          <p:cNvSpPr txBox="1"/>
          <p:nvPr/>
        </p:nvSpPr>
        <p:spPr>
          <a:xfrm>
            <a:off x="777240" y="5461254"/>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Point and Figure's bullish support and bearish resistance lines are drawn from one reference point, not two.</a:t>
            </a:r>
          </a:p>
        </p:txBody>
      </p:sp>
      <p:sp>
        <p:nvSpPr>
          <p:cNvPr id="11" name="Rectangle 10"/>
          <p:cNvSpPr/>
          <p:nvPr/>
        </p:nvSpPr>
        <p:spPr>
          <a:xfrm>
            <a:off x="5852159" y="1810512"/>
            <a:ext cx="55622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852159" y="1810512"/>
            <a:ext cx="55622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3640" y="2267712"/>
            <a:ext cx="47393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5.40</a:t>
            </a:r>
          </a:p>
          <a:p>
            <a:pPr algn="l">
              <a:lnSpc>
                <a:spcPct val="120000"/>
              </a:lnSpc>
              <a:spcBef>
                <a:spcPts val="0"/>
              </a:spcBef>
              <a:spcAft>
                <a:spcPts val="1400"/>
              </a:spcAft>
            </a:pPr>
            <a:r>
              <a:rPr sz="1800" b="0" i="0">
                <a:solidFill>
                  <a:srgbClr val="1A1A1A"/>
                </a:solidFill>
                <a:latin typeface="Palatino"/>
              </a:rPr>
              <a:t>One rising price with three dotted uptrend lines fanning out from the same low: a steep short-term line, a medium-term line, and a shallow longer-term line that contains or supports more of the price action.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852159" y="5650992"/>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5.40 -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p.155 and Figure 5.40.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a trendline holds: behavior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3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All price overlays, trendlines included, are barriers. Most participants place buy orders above one and sell orders below it.</a:t>
            </a:r>
          </a:p>
          <a:p>
            <a:pPr algn="l">
              <a:lnSpc>
                <a:spcPct val="105000"/>
              </a:lnSpc>
              <a:spcBef>
                <a:spcPts val="0"/>
              </a:spcBef>
              <a:spcAft>
                <a:spcPts val="1100"/>
              </a:spcAft>
            </a:pPr>
            <a:r>
              <a:rPr sz="1700" b="0" i="0">
                <a:solidFill>
                  <a:srgbClr val="1A1A1A"/>
                </a:solidFill>
                <a:latin typeface="Arial"/>
              </a:rPr>
              <a:t>From above, price triggers the buy orders: an upside reaction, temporary support.</a:t>
            </a:r>
          </a:p>
          <a:p>
            <a:pPr algn="l">
              <a:lnSpc>
                <a:spcPct val="105000"/>
              </a:lnSpc>
              <a:spcBef>
                <a:spcPts val="0"/>
              </a:spcBef>
              <a:spcAft>
                <a:spcPts val="1100"/>
              </a:spcAft>
            </a:pPr>
            <a:r>
              <a:rPr sz="1700" b="0" i="0">
                <a:solidFill>
                  <a:srgbClr val="1A1A1A"/>
                </a:solidFill>
                <a:latin typeface="Arial"/>
              </a:rPr>
              <a:t>From below, it triggers the sell orders: a downside reaction, temporary resistance.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Support and resistance are behavioral: human psychology, biases and emotions.</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Chapters 2 and 3 pointed here for support and resistance. This is the book's account of them.</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j.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AJ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pp.155-156, reason included. The chart is ours, on invented prices.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Internal line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4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57784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breached trendline: invalid, still usable.</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57784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Figure: the line through 1 and 2 is confirmed at the circle, then breached: an internal line. A new line runs through 1 and 3.</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57784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Once breached, a trendline is invalidated and thereafter called an internal line. The new uptrend line runs from the original lower trough to the new significant trough; in a downtrend, from the original higher peak to the new peak.</a:t>
            </a:r>
          </a:p>
        </p:txBody>
      </p:sp>
      <p:sp>
        <p:nvSpPr>
          <p:cNvPr id="14" name="Rectangle 13"/>
          <p:cNvSpPr/>
          <p:nvPr/>
        </p:nvSpPr>
        <p:spPr>
          <a:xfrm>
            <a:off x="6949440" y="2157984"/>
            <a:ext cx="446501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949440" y="2157984"/>
            <a:ext cx="446501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360919" y="2615184"/>
            <a:ext cx="364205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5.41</a:t>
            </a:r>
          </a:p>
          <a:p>
            <a:pPr algn="l">
              <a:lnSpc>
                <a:spcPct val="120000"/>
              </a:lnSpc>
              <a:spcBef>
                <a:spcPts val="0"/>
              </a:spcBef>
              <a:spcAft>
                <a:spcPts val="1400"/>
              </a:spcAft>
            </a:pPr>
            <a:r>
              <a:rPr sz="1800" b="0" i="0">
                <a:solidFill>
                  <a:srgbClr val="1A1A1A"/>
                </a:solidFill>
                <a:latin typeface="Palatino"/>
              </a:rPr>
              <a:t>A 30 minute EURUSD chart following one uptrend line: drawn from two troughs at points 1 and 2, confirmed or validated at its first retest, the third point on the line, then invalidated, and a new uptrend line redrawn between points 1 and 3.</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949440" y="5650992"/>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5.41 -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p.156, Figure 5.41. Its example of use: a head and shoulders neckline (Chapter 13), very frequently retested after the breach. It does not say why internal.</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counts as a valid penetration?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5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It depends on the filtering employed. Closing filter rule: valid only once price closes beyond the line.</a:t>
            </a:r>
          </a:p>
          <a:p>
            <a:pPr algn="l">
              <a:lnSpc>
                <a:spcPct val="105000"/>
              </a:lnSpc>
              <a:spcBef>
                <a:spcPts val="0"/>
              </a:spcBef>
              <a:spcAft>
                <a:spcPts val="1100"/>
              </a:spcAft>
            </a:pPr>
            <a:r>
              <a:rPr sz="1700" b="0" i="0">
                <a:solidFill>
                  <a:srgbClr val="1A1A1A"/>
                </a:solidFill>
                <a:latin typeface="Arial"/>
              </a:rPr>
              <a:t>So an intraday low well through an uptrend line, with a close back above it, is significant but invalid.</a:t>
            </a:r>
          </a:p>
          <a:p>
            <a:pPr algn="l">
              <a:lnSpc>
                <a:spcPct val="105000"/>
              </a:lnSpc>
              <a:spcBef>
                <a:spcPts val="0"/>
              </a:spcBef>
              <a:spcAft>
                <a:spcPts val="1100"/>
              </a:spcAft>
            </a:pPr>
            <a:r>
              <a:rPr sz="1700" b="0" i="0">
                <a:solidFill>
                  <a:srgbClr val="1A1A1A"/>
                </a:solidFill>
                <a:latin typeface="Arial"/>
              </a:rPr>
              <a:t>The book's answer: use a price-based filter. A penetration is then valid once price goes a set distance beyond the line, whatever the close.</a:t>
            </a:r>
          </a:p>
        </p:txBody>
      </p:sp>
      <p:sp>
        <p:nvSpPr>
          <p:cNvPr id="8" name="TextBox 7"/>
          <p:cNvSpPr txBox="1"/>
          <p:nvPr/>
        </p:nvSpPr>
        <p:spPr>
          <a:xfrm>
            <a:off x="777240" y="510921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With a time or event filter, the book adds the price filter as a second stage. Valid or not, a new trendline may still be drawn.</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k.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AK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pp.156-157. The chart is ours, on invented prices.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15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Drawing and breaking a trendline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trendline drawn from two troughs becomes a confirmed, or valid, trendline when:</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It is first drawn</a:t>
            </a:r>
          </a:p>
          <a:p>
            <a:pPr algn="l">
              <a:lnSpc>
                <a:spcPct val="112000"/>
              </a:lnSpc>
              <a:spcBef>
                <a:spcPts val="0"/>
              </a:spcBef>
              <a:spcAft>
                <a:spcPts val="900"/>
              </a:spcAft>
            </a:pPr>
            <a:r>
              <a:rPr sz="1500" b="0" i="0">
                <a:solidFill>
                  <a:srgbClr val="FFFFFF"/>
                </a:solidFill>
                <a:latin typeface="Arial"/>
              </a:rPr>
              <a:t>B.  Price breaches it</a:t>
            </a:r>
          </a:p>
          <a:p>
            <a:pPr algn="l">
              <a:lnSpc>
                <a:spcPct val="112000"/>
              </a:lnSpc>
              <a:spcBef>
                <a:spcPts val="0"/>
              </a:spcBef>
              <a:spcAft>
                <a:spcPts val="900"/>
              </a:spcAft>
            </a:pPr>
            <a:r>
              <a:rPr sz="1500" b="0" i="0">
                <a:solidFill>
                  <a:srgbClr val="FFFFFF"/>
                </a:solidFill>
                <a:latin typeface="Arial"/>
              </a:rPr>
              <a:t>C.  Price tests it at a third point of contact</a:t>
            </a:r>
          </a:p>
          <a:p>
            <a:pPr algn="l">
              <a:lnSpc>
                <a:spcPct val="112000"/>
              </a:lnSpc>
              <a:spcBef>
                <a:spcPts val="0"/>
              </a:spcBef>
              <a:spcAft>
                <a:spcPts val="900"/>
              </a:spcAft>
            </a:pPr>
            <a:r>
              <a:rPr sz="1500" b="0" i="0">
                <a:solidFill>
                  <a:srgbClr val="FFFFFF"/>
                </a:solidFill>
                <a:latin typeface="Arial"/>
              </a:rPr>
              <a:t>D.  Volume rises along it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Once a trendline has been invalidated, it is thereafter referred to as: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tentative line</a:t>
            </a:r>
          </a:p>
          <a:p>
            <a:pPr algn="l">
              <a:lnSpc>
                <a:spcPct val="112000"/>
              </a:lnSpc>
              <a:spcBef>
                <a:spcPts val="0"/>
              </a:spcBef>
              <a:spcAft>
                <a:spcPts val="900"/>
              </a:spcAft>
            </a:pPr>
            <a:r>
              <a:rPr sz="1500" b="0" i="0">
                <a:solidFill>
                  <a:srgbClr val="FFFFFF"/>
                </a:solidFill>
                <a:latin typeface="Arial"/>
              </a:rPr>
              <a:t>B.  A valid line</a:t>
            </a:r>
          </a:p>
          <a:p>
            <a:pPr algn="l">
              <a:lnSpc>
                <a:spcPct val="112000"/>
              </a:lnSpc>
              <a:spcBef>
                <a:spcPts val="0"/>
              </a:spcBef>
              <a:spcAft>
                <a:spcPts val="900"/>
              </a:spcAft>
            </a:pPr>
            <a:r>
              <a:rPr sz="1500" b="0" i="0">
                <a:solidFill>
                  <a:srgbClr val="FFFFFF"/>
                </a:solidFill>
                <a:latin typeface="Arial"/>
              </a:rPr>
              <a:t>C.  A neckline</a:t>
            </a:r>
          </a:p>
          <a:p>
            <a:pPr algn="l">
              <a:lnSpc>
                <a:spcPct val="112000"/>
              </a:lnSpc>
              <a:spcBef>
                <a:spcPts val="0"/>
              </a:spcBef>
              <a:spcAft>
                <a:spcPts val="900"/>
              </a:spcAft>
            </a:pPr>
            <a:r>
              <a:rPr sz="1500" b="0" i="0">
                <a:solidFill>
                  <a:srgbClr val="FFFFFF"/>
                </a:solidFill>
                <a:latin typeface="Arial"/>
              </a:rPr>
              <a:t>D.  An internal line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11 - 5.6 Trendlines  |  Check 15</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Drawing and breaking a trendline</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trendline drawn from two troughs becomes a confirmed, or valid, trendline when:</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Price tests it at a third point of contact</a:t>
            </a:r>
          </a:p>
          <a:p>
            <a:pPr algn="l">
              <a:lnSpc>
                <a:spcPct val="115000"/>
              </a:lnSpc>
              <a:spcBef>
                <a:spcPts val="700"/>
              </a:spcBef>
              <a:spcAft>
                <a:spcPts val="0"/>
              </a:spcAft>
            </a:pPr>
            <a:r>
              <a:rPr sz="1600" b="0" i="0">
                <a:solidFill>
                  <a:srgbClr val="1A1A1A"/>
                </a:solidFill>
                <a:latin typeface="Arial"/>
              </a:rPr>
              <a:t>A trendline is only provisionary, or tentative, until it is tested for the first time, at the third point of price contact.</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Once a trendline has been invalidated, it is thereafter referred to as: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An internal line</a:t>
            </a:r>
          </a:p>
          <a:p>
            <a:pPr algn="l">
              <a:lnSpc>
                <a:spcPct val="115000"/>
              </a:lnSpc>
              <a:spcBef>
                <a:spcPts val="700"/>
              </a:spcBef>
              <a:spcAft>
                <a:spcPts val="0"/>
              </a:spcAft>
            </a:pPr>
            <a:r>
              <a:rPr sz="1600" b="0" i="0">
                <a:solidFill>
                  <a:srgbClr val="1A1A1A"/>
                </a:solidFill>
                <a:latin typeface="Arial"/>
              </a:rPr>
              <a:t>A breached trendline is invalidated, but not unusable. It is thereafter referred to as an internal line.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Check 15</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reliable trendline: angle and duration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6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A reliable trendline gives consistent support and resistance. A lot of whipsaws, price crossing the line back and forth without a clean break: unreliable.</a:t>
            </a:r>
          </a:p>
          <a:p>
            <a:pPr algn="l">
              <a:lnSpc>
                <a:spcPct val="105000"/>
              </a:lnSpc>
              <a:spcBef>
                <a:spcPts val="0"/>
              </a:spcBef>
              <a:spcAft>
                <a:spcPts val="1100"/>
              </a:spcAft>
            </a:pPr>
            <a:r>
              <a:rPr sz="1500" b="0" i="0">
                <a:solidFill>
                  <a:srgbClr val="1A1A1A"/>
                </a:solidFill>
                <a:latin typeface="Arial"/>
              </a:rPr>
              <a:t>Angle, read on a linear price scale, Chapter 3: above 45 degrees a steep uptrend is less stable, and may not sustain itself. So is a very shallow one.</a:t>
            </a:r>
          </a:p>
          <a:p>
            <a:pPr algn="l">
              <a:lnSpc>
                <a:spcPct val="105000"/>
              </a:lnSpc>
              <a:spcBef>
                <a:spcPts val="0"/>
              </a:spcBef>
              <a:spcAft>
                <a:spcPts val="1100"/>
              </a:spcAft>
            </a:pPr>
            <a:r>
              <a:rPr sz="1500" b="0" i="0">
                <a:solidFill>
                  <a:srgbClr val="1A1A1A"/>
                </a:solidFill>
                <a:latin typeface="Arial"/>
              </a:rPr>
              <a:t>The most reliable uptrend line rises at approximately 35 to 45 degrees.</a:t>
            </a:r>
          </a:p>
          <a:p>
            <a:pPr algn="l">
              <a:lnSpc>
                <a:spcPct val="105000"/>
              </a:lnSpc>
              <a:spcBef>
                <a:spcPts val="0"/>
              </a:spcBef>
              <a:spcAft>
                <a:spcPts val="1100"/>
              </a:spcAft>
            </a:pPr>
            <a:r>
              <a:rPr sz="1500" b="0" i="0">
                <a:solidFill>
                  <a:srgbClr val="1A1A1A"/>
                </a:solidFill>
                <a:latin typeface="Arial"/>
              </a:rPr>
              <a:t>Duration: longer-term trendlines are generally more reliable than shorter-term ones.</a:t>
            </a:r>
          </a:p>
        </p:txBody>
      </p:sp>
      <p:sp>
        <p:nvSpPr>
          <p:cNvPr id="8" name="TextBox 7"/>
          <p:cNvSpPr txBox="1"/>
          <p:nvPr/>
        </p:nvSpPr>
        <p:spPr>
          <a:xfrm>
            <a:off x="777240" y="546582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 longer-term line is more obvious to all participants and attracts more and larger orders.</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l.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AL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p.157. No reason given for 35 to 45 degrees or the scaling; our reading is linear, Chapter 3. The chart is ours.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reliable trendline: the other four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7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Number of retests: the more a line is retested, the more orders it attracts.</a:t>
            </a:r>
          </a:p>
          <a:p>
            <a:pPr algn="l">
              <a:lnSpc>
                <a:spcPct val="105000"/>
              </a:lnSpc>
              <a:spcBef>
                <a:spcPts val="0"/>
              </a:spcBef>
              <a:spcAft>
                <a:spcPts val="1100"/>
              </a:spcAft>
            </a:pPr>
            <a:r>
              <a:rPr sz="1700" b="0" i="0">
                <a:solidFill>
                  <a:srgbClr val="1A1A1A"/>
                </a:solidFill>
                <a:latin typeface="Arial"/>
              </a:rPr>
              <a:t>Clarity of the retests: the more precise, the more formidable the barrier.</a:t>
            </a:r>
          </a:p>
          <a:p>
            <a:pPr algn="l">
              <a:lnSpc>
                <a:spcPct val="105000"/>
              </a:lnSpc>
              <a:spcBef>
                <a:spcPts val="0"/>
              </a:spcBef>
              <a:spcAft>
                <a:spcPts val="1100"/>
              </a:spcAft>
            </a:pPr>
            <a:r>
              <a:rPr sz="1700" b="0" i="0">
                <a:solidFill>
                  <a:srgbClr val="1A1A1A"/>
                </a:solidFill>
                <a:latin typeface="Arial"/>
              </a:rPr>
              <a:t>Confluence: other bullish or bearish indicators agreeing at the point of contact. A stronger rejection of price.</a:t>
            </a:r>
          </a:p>
          <a:p>
            <a:pPr algn="l">
              <a:lnSpc>
                <a:spcPct val="105000"/>
              </a:lnSpc>
              <a:spcBef>
                <a:spcPts val="0"/>
              </a:spcBef>
              <a:spcAft>
                <a:spcPts val="1100"/>
              </a:spcAft>
            </a:pPr>
            <a:r>
              <a:rPr sz="1700" b="0" i="0">
                <a:solidFill>
                  <a:srgbClr val="1A1A1A"/>
                </a:solidFill>
                <a:latin typeface="Arial"/>
              </a:rPr>
              <a:t>Preceding action: contracting cycle amplitude, cycle period, bar range or body-to-range ratio makes a line suspect.</a:t>
            </a:r>
          </a:p>
        </p:txBody>
      </p:sp>
      <p:sp>
        <p:nvSpPr>
          <p:cNvPr id="8" name="TextBox 7"/>
          <p:cNvSpPr txBox="1"/>
          <p:nvPr/>
        </p:nvSpPr>
        <p:spPr>
          <a:xfrm>
            <a:off x="777240" y="554583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Retests show that traders are aware of the line and paying attention to it.</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m.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AM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pp.157-158, reasons included. The chart is ours, on invented prices.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trendline's minimum price target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8 of 24</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Find the distance that price moved farthest from the trendline.</a:t>
            </a:r>
          </a:p>
          <a:p>
            <a:pPr algn="l">
              <a:lnSpc>
                <a:spcPct val="105000"/>
              </a:lnSpc>
              <a:spcBef>
                <a:spcPts val="0"/>
              </a:spcBef>
              <a:spcAft>
                <a:spcPts val="1100"/>
              </a:spcAft>
            </a:pPr>
            <a:r>
              <a:rPr sz="1700" b="0" i="0">
                <a:solidFill>
                  <a:srgbClr val="1A1A1A"/>
                </a:solidFill>
                <a:latin typeface="Arial"/>
              </a:rPr>
              <a:t>Apply a one-to-one projection of that distance from the breakout point.</a:t>
            </a:r>
          </a:p>
          <a:p>
            <a:pPr algn="l">
              <a:lnSpc>
                <a:spcPct val="105000"/>
              </a:lnSpc>
              <a:spcBef>
                <a:spcPts val="0"/>
              </a:spcBef>
              <a:spcAft>
                <a:spcPts val="1100"/>
              </a:spcAft>
            </a:pPr>
            <a:r>
              <a:rPr sz="1700" b="0" i="0">
                <a:solidFill>
                  <a:srgbClr val="1A1A1A"/>
                </a:solidFill>
                <a:latin typeface="Arial"/>
              </a:rPr>
              <a:t>Farthest distance PHP 6, breakout at PHP 50: the minimum target is 50 - 6 = PHP 44.</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27939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In the figure prices bottom very close to the minimum projected target.</a:t>
            </a:r>
          </a:p>
        </p:txBody>
      </p:sp>
      <p:sp>
        <p:nvSpPr>
          <p:cNvPr id="10" name="TextBox 9"/>
          <p:cNvSpPr txBox="1"/>
          <p:nvPr/>
        </p:nvSpPr>
        <p:spPr>
          <a:xfrm>
            <a:off x="777240" y="5463540"/>
            <a:ext cx="45720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4's minimum measuring objective, from a trendline.</a:t>
            </a:r>
          </a:p>
        </p:txBody>
      </p:sp>
      <p:sp>
        <p:nvSpPr>
          <p:cNvPr id="11" name="Rectangle 10"/>
          <p:cNvSpPr/>
          <p:nvPr/>
        </p:nvSpPr>
        <p:spPr>
          <a:xfrm>
            <a:off x="5669279" y="1810512"/>
            <a:ext cx="57451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669279" y="1810512"/>
            <a:ext cx="57451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80759" y="2267712"/>
            <a:ext cx="49222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5.42</a:t>
            </a:r>
          </a:p>
          <a:p>
            <a:pPr algn="l">
              <a:lnSpc>
                <a:spcPct val="120000"/>
              </a:lnSpc>
              <a:spcBef>
                <a:spcPts val="0"/>
              </a:spcBef>
              <a:spcAft>
                <a:spcPts val="1400"/>
              </a:spcAft>
            </a:pPr>
            <a:r>
              <a:rPr sz="1800" b="0" i="0">
                <a:solidFill>
                  <a:srgbClr val="1A1A1A"/>
                </a:solidFill>
                <a:latin typeface="Palatino"/>
              </a:rPr>
              <a:t>A 30 minute EURUSD chart: the maximum distance of price from the uptrend line measured as a vertical arrow, the same height projected one to one down from the breakout point, and profit-taking activity around the minimum target projection.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669279" y="5650992"/>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5.42 -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p.158 and Figure 5.42. The pesos are our example of the one-to-one projection.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Strengths and weaknesses of trendline analysis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9 of 24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Strengths 1 and 2: straight lines catch any trend change, no need to identify price patterns.</a:t>
            </a:r>
          </a:p>
          <a:p>
            <a:pPr algn="l">
              <a:lnSpc>
                <a:spcPct val="118000"/>
              </a:lnSpc>
              <a:spcBef>
                <a:spcPts val="0"/>
              </a:spcBef>
              <a:spcAft>
                <a:spcPts val="1300"/>
              </a:spcAft>
            </a:pPr>
            <a:r>
              <a:rPr sz="2100" b="0" i="0">
                <a:solidFill>
                  <a:srgbClr val="1A1A1A"/>
                </a:solidFill>
                <a:latin typeface="Arial"/>
              </a:rPr>
              <a:t>Strengths 3 and 4: simple on any timeframe or market, viewable across them all.</a:t>
            </a:r>
          </a:p>
          <a:p>
            <a:pPr algn="l">
              <a:lnSpc>
                <a:spcPct val="118000"/>
              </a:lnSpc>
              <a:spcBef>
                <a:spcPts val="0"/>
              </a:spcBef>
              <a:spcAft>
                <a:spcPts val="1300"/>
              </a:spcAft>
            </a:pPr>
            <a:r>
              <a:rPr sz="2100" b="0" i="0">
                <a:solidFill>
                  <a:srgbClr val="1A1A1A"/>
                </a:solidFill>
                <a:latin typeface="Arial"/>
              </a:rPr>
              <a:t>Weakness 1: subject to whipsaws, the slide before's term; weaker in erratic markets.</a:t>
            </a:r>
          </a:p>
          <a:p>
            <a:pPr algn="l">
              <a:lnSpc>
                <a:spcPct val="118000"/>
              </a:lnSpc>
              <a:spcBef>
                <a:spcPts val="0"/>
              </a:spcBef>
              <a:spcAft>
                <a:spcPts val="1300"/>
              </a:spcAft>
            </a:pPr>
            <a:r>
              <a:rPr sz="2100" b="0" i="0">
                <a:solidFill>
                  <a:srgbClr val="1A1A1A"/>
                </a:solidFill>
                <a:latin typeface="Arial"/>
              </a:rPr>
              <a:t>Weakness 2: affected by the scaling used, Chapter 3's ratio or linear.</a:t>
            </a:r>
          </a:p>
          <a:p>
            <a:pPr algn="l">
              <a:lnSpc>
                <a:spcPct val="118000"/>
              </a:lnSpc>
              <a:spcBef>
                <a:spcPts val="0"/>
              </a:spcBef>
              <a:spcAft>
                <a:spcPts val="1300"/>
              </a:spcAft>
            </a:pPr>
            <a:r>
              <a:rPr sz="2100" b="0" i="0">
                <a:solidFill>
                  <a:srgbClr val="1A1A1A"/>
                </a:solidFill>
                <a:latin typeface="Arial"/>
              </a:rPr>
              <a:t>Weakness 3: a sideways consolidation drifts both ways, crossing a line without a real reversal's break.</a:t>
            </a:r>
          </a:p>
        </p:txBody>
      </p:sp>
      <p:sp>
        <p:nvSpPr>
          <p:cNvPr id="8" name="TextBox 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pp.158-159: its own list. Weakness 3's reason is our reading.</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16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Reliability and targets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most reliable uptrend line has an angle of ascent of approximately:</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10 to 20 degrees</a:t>
            </a:r>
          </a:p>
          <a:p>
            <a:pPr algn="l">
              <a:lnSpc>
                <a:spcPct val="112000"/>
              </a:lnSpc>
              <a:spcBef>
                <a:spcPts val="0"/>
              </a:spcBef>
              <a:spcAft>
                <a:spcPts val="900"/>
              </a:spcAft>
            </a:pPr>
            <a:r>
              <a:rPr sz="1500" b="0" i="0">
                <a:solidFill>
                  <a:srgbClr val="FFFFFF"/>
                </a:solidFill>
                <a:latin typeface="Arial"/>
              </a:rPr>
              <a:t>B.  35 to 45 degrees</a:t>
            </a:r>
          </a:p>
          <a:p>
            <a:pPr algn="l">
              <a:lnSpc>
                <a:spcPct val="112000"/>
              </a:lnSpc>
              <a:spcBef>
                <a:spcPts val="0"/>
              </a:spcBef>
              <a:spcAft>
                <a:spcPts val="900"/>
              </a:spcAft>
            </a:pPr>
            <a:r>
              <a:rPr sz="1500" b="0" i="0">
                <a:solidFill>
                  <a:srgbClr val="FFFFFF"/>
                </a:solidFill>
                <a:latin typeface="Arial"/>
              </a:rPr>
              <a:t>C.  50 to 60 degrees</a:t>
            </a:r>
          </a:p>
          <a:p>
            <a:pPr algn="l">
              <a:lnSpc>
                <a:spcPct val="112000"/>
              </a:lnSpc>
              <a:spcBef>
                <a:spcPts val="0"/>
              </a:spcBef>
              <a:spcAft>
                <a:spcPts val="900"/>
              </a:spcAft>
            </a:pPr>
            <a:r>
              <a:rPr sz="1500" b="0" i="0">
                <a:solidFill>
                  <a:srgbClr val="FFFFFF"/>
                </a:solidFill>
                <a:latin typeface="Arial"/>
              </a:rPr>
              <a:t>D.  75 to 90 degrees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Price moved at most PHP 8 away from an uptrend line, then broke below the line at PHP 60. The minimum price target is: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PHP 44</a:t>
            </a:r>
          </a:p>
          <a:p>
            <a:pPr algn="l">
              <a:lnSpc>
                <a:spcPct val="112000"/>
              </a:lnSpc>
              <a:spcBef>
                <a:spcPts val="0"/>
              </a:spcBef>
              <a:spcAft>
                <a:spcPts val="900"/>
              </a:spcAft>
            </a:pPr>
            <a:r>
              <a:rPr sz="1500" b="0" i="0">
                <a:solidFill>
                  <a:srgbClr val="FFFFFF"/>
                </a:solidFill>
                <a:latin typeface="Arial"/>
              </a:rPr>
              <a:t>B.  PHP 52</a:t>
            </a:r>
          </a:p>
          <a:p>
            <a:pPr algn="l">
              <a:lnSpc>
                <a:spcPct val="112000"/>
              </a:lnSpc>
              <a:spcBef>
                <a:spcPts val="0"/>
              </a:spcBef>
              <a:spcAft>
                <a:spcPts val="900"/>
              </a:spcAft>
            </a:pPr>
            <a:r>
              <a:rPr sz="1500" b="0" i="0">
                <a:solidFill>
                  <a:srgbClr val="FFFFFF"/>
                </a:solidFill>
                <a:latin typeface="Arial"/>
              </a:rPr>
              <a:t>C.  PHP 60</a:t>
            </a:r>
          </a:p>
          <a:p>
            <a:pPr algn="l">
              <a:lnSpc>
                <a:spcPct val="112000"/>
              </a:lnSpc>
              <a:spcBef>
                <a:spcPts val="0"/>
              </a:spcBef>
              <a:spcAft>
                <a:spcPts val="900"/>
              </a:spcAft>
            </a:pPr>
            <a:r>
              <a:rPr sz="1500" b="0" i="0">
                <a:solidFill>
                  <a:srgbClr val="FFFFFF"/>
                </a:solidFill>
                <a:latin typeface="Arial"/>
              </a:rPr>
              <a:t>D.  PHP 68</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11 - 5.6 Trendlines  |  Check 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Reliability and targets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most reliable uptrend line has an angle of ascent of approximately:</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35 to 45 degrees</a:t>
            </a:r>
          </a:p>
          <a:p>
            <a:pPr algn="l">
              <a:lnSpc>
                <a:spcPct val="115000"/>
              </a:lnSpc>
              <a:spcBef>
                <a:spcPts val="700"/>
              </a:spcBef>
              <a:spcAft>
                <a:spcPts val="0"/>
              </a:spcAft>
            </a:pPr>
            <a:r>
              <a:rPr sz="1600" b="0" i="0">
                <a:solidFill>
                  <a:srgbClr val="1A1A1A"/>
                </a:solidFill>
                <a:latin typeface="Arial"/>
              </a:rPr>
              <a:t>Above 45 degrees a trend is less stable, and so is a very shallow one. Approximately 35 to 45 degrees is the most reliable.</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Price moved at most PHP 8 away from an uptrend line, then broke below the line at PHP 60. The minimum price target is: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PHP 52</a:t>
            </a:r>
          </a:p>
          <a:p>
            <a:pPr algn="l">
              <a:lnSpc>
                <a:spcPct val="115000"/>
              </a:lnSpc>
              <a:spcBef>
                <a:spcPts val="700"/>
              </a:spcBef>
              <a:spcAft>
                <a:spcPts val="0"/>
              </a:spcAft>
            </a:pPr>
            <a:r>
              <a:rPr sz="1600" b="0" i="0">
                <a:solidFill>
                  <a:srgbClr val="1A1A1A"/>
                </a:solidFill>
                <a:latin typeface="Arial"/>
              </a:rPr>
              <a:t>A one-to-one projection of the farthest distance from the breakout point: 60 - 8 = PHP 52.</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Check 16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Continuation and reversal trendlines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10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Named by the breakout a trendline allows.</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falling line over a retracement in an uptrend, broken upward: a continuation trendline. For the retracement itself, a lower degree, a reversal.</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39496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Trendlines that allow a breakout in the direction of the existing trend are continuation trendlines; in the opposite direction, reversal trendlines. First ascertain which wave degree is being observed.</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5.43</a:t>
            </a:r>
          </a:p>
          <a:p>
            <a:pPr algn="l">
              <a:lnSpc>
                <a:spcPct val="120000"/>
              </a:lnSpc>
              <a:spcBef>
                <a:spcPts val="0"/>
              </a:spcBef>
              <a:spcAft>
                <a:spcPts val="1400"/>
              </a:spcAft>
            </a:pPr>
            <a:r>
              <a:rPr sz="1800" b="0" i="0">
                <a:solidFill>
                  <a:srgbClr val="1A1A1A"/>
                </a:solidFill>
                <a:latin typeface="Palatino"/>
              </a:rPr>
              <a:t>Two existing uptrends. In the first a falling dotted line over a pullback is broken upward: a continuation trendline, with the breakout in the direction of the existing trend. In the second a rising dotted line under the trend is broken downward: a reversal trendline.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5.43 -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p.159 and Figure 5.43. Why the wave degree matters is our reading; the book says only that it must be ascertained.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Channel, and its return line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11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trendline and a parallel across price.</a:t>
            </a:r>
          </a:p>
        </p:txBody>
      </p:sp>
      <p:sp>
        <p:nvSpPr>
          <p:cNvPr id="10" name="Rectangle 9"/>
          <p:cNvSpPr/>
          <p:nvPr/>
        </p:nvSpPr>
        <p:spPr>
          <a:xfrm>
            <a:off x="777240" y="297484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Rising: an uptrend line on troughs 1 and 2, with a parallel from peak 3. Falling: a downtrend line on peaks 4 and 5, with a parallel from trough 6, which violates the uptrend line.</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line projected parallel to the trendline from a significant peak or trough is the channel, or return, line. Channels indicate potential entry, profit-taking, price target and stoploss levels.</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5.44</a:t>
            </a:r>
          </a:p>
          <a:p>
            <a:pPr algn="l">
              <a:lnSpc>
                <a:spcPct val="120000"/>
              </a:lnSpc>
              <a:spcBef>
                <a:spcPts val="0"/>
              </a:spcBef>
              <a:spcAft>
                <a:spcPts val="1400"/>
              </a:spcAft>
            </a:pPr>
            <a:r>
              <a:rPr sz="1800" b="0" i="0">
                <a:solidFill>
                  <a:srgbClr val="1A1A1A"/>
                </a:solidFill>
                <a:latin typeface="Palatino"/>
              </a:rPr>
              <a:t>A rising channel turning into a falling channel, headed channel transition: an uptrend line through points 1 and 2 with its channel or return line from point 3, then a downtrend line through points 4 and 5 with its channel or return line from point 6.</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5.44 -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pp.159-160 and Figure 5.44.</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Nested channels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12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02920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Channels inside a bigger channel.</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02920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Silver, 4 hour: price moves through smaller channels, rising and falling, inside one larger falling channel.</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02920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smaller channels are contained, or nested, within the larger channel. Nesting can occur at multiple levels, with large channels comprised of ever-decreasing channel sizes. Channel nesting has fractal-like properties.</a:t>
            </a:r>
          </a:p>
        </p:txBody>
      </p:sp>
      <p:sp>
        <p:nvSpPr>
          <p:cNvPr id="14" name="Rectangle 13"/>
          <p:cNvSpPr/>
          <p:nvPr/>
        </p:nvSpPr>
        <p:spPr>
          <a:xfrm>
            <a:off x="6400799" y="2157984"/>
            <a:ext cx="501365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400799" y="2157984"/>
            <a:ext cx="501365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812279" y="2615184"/>
            <a:ext cx="419069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5.45</a:t>
            </a:r>
          </a:p>
          <a:p>
            <a:pPr algn="l">
              <a:lnSpc>
                <a:spcPct val="120000"/>
              </a:lnSpc>
              <a:spcBef>
                <a:spcPts val="0"/>
              </a:spcBef>
              <a:spcAft>
                <a:spcPts val="1400"/>
              </a:spcAft>
            </a:pPr>
            <a:r>
              <a:rPr sz="1800" b="0" i="0">
                <a:solidFill>
                  <a:srgbClr val="1A1A1A"/>
                </a:solidFill>
                <a:latin typeface="Palatino"/>
              </a:rPr>
              <a:t>A 4 hour Silver chart with one larger falling channel drawn across it and many smaller channels, rising and falling, nested within the larger one.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5.45 -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p.160, Figure 5.45 (p.161). Fractal-like, unexplained by the book: the same shape at every size. It says nothing of the lines right of the larger channel.</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Nested channels at Fibonacci levels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13 of 24</a:t>
            </a:r>
          </a:p>
        </p:txBody>
      </p:sp>
      <p:sp>
        <p:nvSpPr>
          <p:cNvPr id="7" name="TextBox 6"/>
          <p:cNvSpPr txBox="1"/>
          <p:nvPr/>
        </p:nvSpPr>
        <p:spPr>
          <a:xfrm>
            <a:off x="777240" y="1965960"/>
            <a:ext cx="43891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Nested channeling again, this time on a chart of the USDCAD.</a:t>
            </a:r>
          </a:p>
          <a:p>
            <a:pPr algn="l">
              <a:lnSpc>
                <a:spcPct val="105000"/>
              </a:lnSpc>
              <a:spcBef>
                <a:spcPts val="0"/>
              </a:spcBef>
              <a:spcAft>
                <a:spcPts val="1100"/>
              </a:spcAft>
            </a:pPr>
            <a:r>
              <a:rPr sz="1600" b="0" i="0">
                <a:solidFill>
                  <a:srgbClr val="1A1A1A"/>
                </a:solidFill>
                <a:latin typeface="Arial"/>
              </a:rPr>
              <a:t>The horizontal lines are Fibonacci retracement levels: set percentages of a prior move.</a:t>
            </a:r>
          </a:p>
          <a:p>
            <a:pPr algn="l">
              <a:lnSpc>
                <a:spcPct val="105000"/>
              </a:lnSpc>
              <a:spcBef>
                <a:spcPts val="0"/>
              </a:spcBef>
              <a:spcAft>
                <a:spcPts val="1100"/>
              </a:spcAft>
            </a:pPr>
            <a:r>
              <a:rPr sz="1600" b="0" i="0">
                <a:solidFill>
                  <a:srgbClr val="1A1A1A"/>
                </a:solidFill>
                <a:latin typeface="Arial"/>
              </a:rPr>
              <a:t>The book's own page, kept for completeness. Neither the channels nor the levels can be read at this size, so nothing here is asked to be verified from it; the next slide redraws the same idea so it can be.</a:t>
            </a:r>
          </a:p>
        </p:txBody>
      </p:sp>
      <p:sp>
        <p:nvSpPr>
          <p:cNvPr id="8" name="TextBox 7"/>
          <p:cNvSpPr txBox="1"/>
          <p:nvPr/>
        </p:nvSpPr>
        <p:spPr>
          <a:xfrm>
            <a:off x="777240" y="5221224"/>
            <a:ext cx="43891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Retracement levels: 5.7, and Chapter 10. The book's printed caption repeats Figure 5.45's and says Silver; its text says USDCAD.</a:t>
            </a:r>
          </a:p>
        </p:txBody>
      </p:sp>
      <p:sp>
        <p:nvSpPr>
          <p:cNvPr id="9" name="Rectangle 8"/>
          <p:cNvSpPr/>
          <p:nvPr/>
        </p:nvSpPr>
        <p:spPr>
          <a:xfrm>
            <a:off x="5486399" y="1810512"/>
            <a:ext cx="5928055" cy="3749039"/>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486399" y="1810512"/>
            <a:ext cx="5928055"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897879" y="2267712"/>
            <a:ext cx="51050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5.46</a:t>
            </a:r>
          </a:p>
          <a:p>
            <a:pPr algn="l">
              <a:lnSpc>
                <a:spcPct val="120000"/>
              </a:lnSpc>
              <a:spcBef>
                <a:spcPts val="0"/>
              </a:spcBef>
              <a:spcAft>
                <a:spcPts val="1400"/>
              </a:spcAft>
            </a:pPr>
            <a:r>
              <a:rPr sz="1800" b="0" i="0">
                <a:solidFill>
                  <a:srgbClr val="1A1A1A"/>
                </a:solidFill>
                <a:latin typeface="Palatino"/>
              </a:rPr>
              <a:t>A price chart with nested channels drawn in solid and dashed lines over a set of horizontal Fibonacci retracement levels, from 0.0 to 100.0, with the channel turns falling on those levels.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2" name="TextBox 11"/>
          <p:cNvSpPr txBox="1"/>
          <p:nvPr/>
        </p:nvSpPr>
        <p:spPr>
          <a:xfrm>
            <a:off x="5486399" y="5650992"/>
            <a:ext cx="592805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5.46 - Lim, The Handbook of Technical Analysis (Wiley, 2016)</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p.160, and Figure 5.46 on p.161.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channel turning at retracement levels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14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A prior fall: PHP 60 down to PHP 40, PHP 20 in all.</a:t>
            </a:r>
          </a:p>
          <a:p>
            <a:pPr algn="l">
              <a:lnSpc>
                <a:spcPct val="105000"/>
              </a:lnSpc>
              <a:spcBef>
                <a:spcPts val="0"/>
              </a:spcBef>
              <a:spcAft>
                <a:spcPts val="1100"/>
              </a:spcAft>
            </a:pPr>
            <a:r>
              <a:rPr sz="1500" b="0" i="0">
                <a:solidFill>
                  <a:srgbClr val="1A1A1A"/>
                </a:solidFill>
                <a:latin typeface="Arial"/>
              </a:rPr>
              <a:t>Levels, measured back up from PHP 40: 38.2 percent is PHP 47.64, 50 percent PHP 50.00, 61.8 percent PHP 52.36.</a:t>
            </a:r>
          </a:p>
          <a:p>
            <a:pPr algn="l">
              <a:lnSpc>
                <a:spcPct val="105000"/>
              </a:lnSpc>
              <a:spcBef>
                <a:spcPts val="0"/>
              </a:spcBef>
              <a:spcAft>
                <a:spcPts val="1100"/>
              </a:spcAft>
            </a:pPr>
            <a:r>
              <a:rPr sz="1500" b="0" i="0">
                <a:solidFill>
                  <a:srgbClr val="1A1A1A"/>
                </a:solidFill>
                <a:latin typeface="Arial"/>
              </a:rPr>
              <a:t>Each swing of the rising channel turns down at one of the levels: the reaction the book says to notice.</a:t>
            </a:r>
          </a:p>
        </p:txBody>
      </p:sp>
      <p:sp>
        <p:nvSpPr>
          <p:cNvPr id="8" name="Rectangle 7"/>
          <p:cNvSpPr/>
          <p:nvPr/>
        </p:nvSpPr>
        <p:spPr>
          <a:xfrm>
            <a:off x="777240" y="4101083"/>
            <a:ext cx="82296" cy="6339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7659"/>
            <a:ext cx="4828032" cy="63398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Two kinds of barrier: sloping channel lines, flat retracement levels.</a:t>
            </a:r>
          </a:p>
        </p:txBody>
      </p:sp>
      <p:sp>
        <p:nvSpPr>
          <p:cNvPr id="10" name="TextBox 9"/>
          <p:cNvSpPr txBox="1"/>
          <p:nvPr/>
        </p:nvSpPr>
        <p:spPr>
          <a:xfrm>
            <a:off x="777240" y="4936235"/>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Preview only, not examinable: 38.2, 50 and 61.8 percent are borrowed here for the book's channel point; where they come from is 5.7 and Chapter 10, not this slide.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n.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AN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what the book says of its Figure 5.46 (p.160), on invented prices, because the figure's levels cannot be read. Drawn so that each swing turns at a level.</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Projecting a price target with a channel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15 of 24</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return line of a channel is a possible price target, providing resistance to price.</a:t>
            </a:r>
          </a:p>
          <a:p>
            <a:pPr algn="l">
              <a:lnSpc>
                <a:spcPct val="105000"/>
              </a:lnSpc>
              <a:spcBef>
                <a:spcPts val="0"/>
              </a:spcBef>
              <a:spcAft>
                <a:spcPts val="1100"/>
              </a:spcAft>
            </a:pPr>
            <a:r>
              <a:rPr sz="1700" b="0" i="0">
                <a:solidFill>
                  <a:srgbClr val="1A1A1A"/>
                </a:solidFill>
                <a:latin typeface="Arial"/>
              </a:rPr>
              <a:t>Solid: an uptrend line through troughs 1 and 2, and its parallel from peak 3, channel projection 1. Price meets it at 5.</a:t>
            </a:r>
          </a:p>
          <a:p>
            <a:pPr algn="l">
              <a:lnSpc>
                <a:spcPct val="105000"/>
              </a:lnSpc>
              <a:spcBef>
                <a:spcPts val="0"/>
              </a:spcBef>
              <a:spcAft>
                <a:spcPts val="1100"/>
              </a:spcAft>
            </a:pPr>
            <a:r>
              <a:rPr sz="1700" b="0" i="0">
                <a:solidFill>
                  <a:srgbClr val="1A1A1A"/>
                </a:solidFill>
                <a:latin typeface="Arial"/>
              </a:rPr>
              <a:t>Dotted: a new, steeper line from trough 2 to trough 4, and its parallel from 5, channel projection 2. Price meets it at 6.</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targets at 5 and 6 were forecast accurately.</a:t>
            </a:r>
          </a:p>
        </p:txBody>
      </p:sp>
      <p:sp>
        <p:nvSpPr>
          <p:cNvPr id="10" name="TextBox 9"/>
          <p:cNvSpPr txBox="1"/>
          <p:nvPr/>
        </p:nvSpPr>
        <p:spPr>
          <a:xfrm>
            <a:off x="777240" y="5733288"/>
            <a:ext cx="530352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line slopes: the target price depends on when price arrives.</a:t>
            </a:r>
          </a:p>
        </p:txBody>
      </p:sp>
      <p:sp>
        <p:nvSpPr>
          <p:cNvPr id="11" name="Rectangle 10"/>
          <p:cNvSpPr/>
          <p:nvPr/>
        </p:nvSpPr>
        <p:spPr>
          <a:xfrm>
            <a:off x="6400799" y="1810512"/>
            <a:ext cx="501365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00799" y="1810512"/>
            <a:ext cx="501365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12279" y="2267712"/>
            <a:ext cx="419069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5.47</a:t>
            </a:r>
          </a:p>
          <a:p>
            <a:pPr algn="l">
              <a:lnSpc>
                <a:spcPct val="120000"/>
              </a:lnSpc>
              <a:spcBef>
                <a:spcPts val="0"/>
              </a:spcBef>
              <a:spcAft>
                <a:spcPts val="1400"/>
              </a:spcAft>
            </a:pPr>
            <a:r>
              <a:rPr sz="1800" b="0" i="0">
                <a:solidFill>
                  <a:srgbClr val="1A1A1A"/>
                </a:solidFill>
                <a:latin typeface="Palatino"/>
              </a:rPr>
              <a:t>A EURUSD chart: a rising line through troughs 1 and 2 carried on to trough 4, channel projection 1 drawn parallel to it from peak 3 and met by price at point 5, and channel projection 2 carried on to point 6.</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400799" y="5650992"/>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5.47 -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p.160, and Figure 5.47 on p.162. The point by point reading of the figure is ours; the book gives it one sentence.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Anticipating a channel breakout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16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Price failing to test one of the channel boundaries may be an early indication of a breakout in the opposite direction.</a:t>
            </a:r>
          </a:p>
          <a:p>
            <a:pPr algn="l">
              <a:lnSpc>
                <a:spcPct val="105000"/>
              </a:lnSpc>
              <a:spcBef>
                <a:spcPts val="0"/>
              </a:spcBef>
              <a:spcAft>
                <a:spcPts val="1100"/>
              </a:spcAft>
            </a:pPr>
            <a:r>
              <a:rPr sz="1700" b="0" i="0">
                <a:solidFill>
                  <a:srgbClr val="1A1A1A"/>
                </a:solidFill>
                <a:latin typeface="Arial"/>
              </a:rPr>
              <a:t>A failure to test a channel bottom in an uptrend, or a channel top in a downtrend, is even stronger evidence of a continuation of the existing trend.</a:t>
            </a:r>
          </a:p>
          <a:p>
            <a:pPr algn="l">
              <a:lnSpc>
                <a:spcPct val="105000"/>
              </a:lnSpc>
              <a:spcBef>
                <a:spcPts val="0"/>
              </a:spcBef>
              <a:spcAft>
                <a:spcPts val="1100"/>
              </a:spcAft>
            </a:pPr>
            <a:r>
              <a:rPr sz="1700" b="0" i="0">
                <a:solidFill>
                  <a:srgbClr val="1A1A1A"/>
                </a:solidFill>
                <a:latin typeface="Arial"/>
              </a:rPr>
              <a:t>Especially so if the channel breakout bar is accompanied by large volume.</a:t>
            </a:r>
          </a:p>
        </p:txBody>
      </p:sp>
      <p:sp>
        <p:nvSpPr>
          <p:cNvPr id="8" name="TextBox 7"/>
          <p:cNvSpPr txBox="1"/>
          <p:nvPr/>
        </p:nvSpPr>
        <p:spPr>
          <a:xfrm>
            <a:off x="777240" y="510921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Not the same case as 5.2's single trendline, where piercing the line itself was exhaustion: here price never even reaches the near boundary, then clears the far one, which 5.2 never addressed.</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o.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AO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pp.160-161. The chart is ours: the book makes the point on its Figure 5.14. Reconciled with 5.2's single-line exhaustion rule below, our reading.</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17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Channels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 rising channel, the line projected parallel to the uptrend line from a significant peak is called the:</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Channel, or return, line</a:t>
            </a:r>
          </a:p>
          <a:p>
            <a:pPr algn="l">
              <a:lnSpc>
                <a:spcPct val="112000"/>
              </a:lnSpc>
              <a:spcBef>
                <a:spcPts val="0"/>
              </a:spcBef>
              <a:spcAft>
                <a:spcPts val="900"/>
              </a:spcAft>
            </a:pPr>
            <a:r>
              <a:rPr sz="1500" b="0" i="0">
                <a:solidFill>
                  <a:srgbClr val="FFFFFF"/>
                </a:solidFill>
                <a:latin typeface="Arial"/>
              </a:rPr>
              <a:t>B.  Internal line</a:t>
            </a:r>
          </a:p>
          <a:p>
            <a:pPr algn="l">
              <a:lnSpc>
                <a:spcPct val="112000"/>
              </a:lnSpc>
              <a:spcBef>
                <a:spcPts val="0"/>
              </a:spcBef>
              <a:spcAft>
                <a:spcPts val="900"/>
              </a:spcAft>
            </a:pPr>
            <a:r>
              <a:rPr sz="1500" b="0" i="0">
                <a:solidFill>
                  <a:srgbClr val="FFFFFF"/>
                </a:solidFill>
                <a:latin typeface="Arial"/>
              </a:rPr>
              <a:t>C.  Neckline</a:t>
            </a:r>
          </a:p>
          <a:p>
            <a:pPr algn="l">
              <a:lnSpc>
                <a:spcPct val="112000"/>
              </a:lnSpc>
              <a:spcBef>
                <a:spcPts val="0"/>
              </a:spcBef>
              <a:spcAft>
                <a:spcPts val="900"/>
              </a:spcAft>
            </a:pPr>
            <a:r>
              <a:rPr sz="1500" b="0" i="0">
                <a:solidFill>
                  <a:srgbClr val="FFFFFF"/>
                </a:solidFill>
                <a:latin typeface="Arial"/>
              </a:rPr>
              <a:t>D.  Reversal trendline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an uptrend, price fails to test the bottom of its rising channel. This is evidence of:</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reversal to the downside</a:t>
            </a:r>
          </a:p>
          <a:p>
            <a:pPr algn="l">
              <a:lnSpc>
                <a:spcPct val="112000"/>
              </a:lnSpc>
              <a:spcBef>
                <a:spcPts val="0"/>
              </a:spcBef>
              <a:spcAft>
                <a:spcPts val="900"/>
              </a:spcAft>
            </a:pPr>
            <a:r>
              <a:rPr sz="1500" b="0" i="0">
                <a:solidFill>
                  <a:srgbClr val="FFFFFF"/>
                </a:solidFill>
                <a:latin typeface="Arial"/>
              </a:rPr>
              <a:t>B.  A failure swing</a:t>
            </a:r>
          </a:p>
          <a:p>
            <a:pPr algn="l">
              <a:lnSpc>
                <a:spcPct val="112000"/>
              </a:lnSpc>
              <a:spcBef>
                <a:spcPts val="0"/>
              </a:spcBef>
              <a:spcAft>
                <a:spcPts val="900"/>
              </a:spcAft>
            </a:pPr>
            <a:r>
              <a:rPr sz="1500" b="0" i="0">
                <a:solidFill>
                  <a:srgbClr val="FFFFFF"/>
                </a:solidFill>
                <a:latin typeface="Arial"/>
              </a:rPr>
              <a:t>C.  A potential continuation of the existing uptrend</a:t>
            </a:r>
          </a:p>
          <a:p>
            <a:pPr algn="l">
              <a:lnSpc>
                <a:spcPct val="112000"/>
              </a:lnSpc>
              <a:spcBef>
                <a:spcPts val="0"/>
              </a:spcBef>
              <a:spcAft>
                <a:spcPts val="900"/>
              </a:spcAft>
            </a:pPr>
            <a:r>
              <a:rPr sz="1500" b="0" i="0">
                <a:solidFill>
                  <a:srgbClr val="FFFFFF"/>
                </a:solidFill>
                <a:latin typeface="Arial"/>
              </a:rPr>
              <a:t>D.  An invalid trendline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11 - 5.6 Trendlines  |  Check 17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Channels</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In a rising channel, the line projected parallel to the uptrend line from a significant peak is called the:</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Channel, or return, line</a:t>
            </a:r>
          </a:p>
          <a:p>
            <a:pPr algn="l">
              <a:lnSpc>
                <a:spcPct val="115000"/>
              </a:lnSpc>
              <a:spcBef>
                <a:spcPts val="700"/>
              </a:spcBef>
              <a:spcAft>
                <a:spcPts val="0"/>
              </a:spcAft>
            </a:pPr>
            <a:r>
              <a:rPr sz="1600" b="0" i="0">
                <a:solidFill>
                  <a:srgbClr val="1A1A1A"/>
                </a:solidFill>
                <a:latin typeface="Arial"/>
              </a:rPr>
              <a:t>The uptrend line is drawn on two significant troughs, and the parallel from a significant peak is the channel or return line.</a:t>
            </a:r>
          </a:p>
        </p:txBody>
      </p:sp>
      <p:sp>
        <p:nvSpPr>
          <p:cNvPr id="10" name="Rectangle 9"/>
          <p:cNvSpPr/>
          <p:nvPr/>
        </p:nvSpPr>
        <p:spPr>
          <a:xfrm>
            <a:off x="777240" y="354939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an uptrend, price fails to test the bottom of its rising channel. This is evidence of:</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potential continuation of the existing uptrend</a:t>
            </a:r>
          </a:p>
          <a:p>
            <a:pPr algn="l">
              <a:lnSpc>
                <a:spcPct val="115000"/>
              </a:lnSpc>
              <a:spcBef>
                <a:spcPts val="700"/>
              </a:spcBef>
              <a:spcAft>
                <a:spcPts val="0"/>
              </a:spcAft>
            </a:pPr>
            <a:r>
              <a:rPr sz="1600" b="0" i="0">
                <a:solidFill>
                  <a:srgbClr val="1A1A1A"/>
                </a:solidFill>
                <a:latin typeface="Arial"/>
              </a:rPr>
              <a:t>A failure to test one boundary points to a breakout through the other. The bottom went untested, so the top: a continuation.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Check 17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Sperandeo trendlines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17 of 24</a:t>
            </a:r>
          </a:p>
        </p:txBody>
      </p:sp>
      <p:sp>
        <p:nvSpPr>
          <p:cNvPr id="8" name="Rectangle 7"/>
          <p:cNvSpPr/>
          <p:nvPr/>
        </p:nvSpPr>
        <p:spPr>
          <a:xfrm>
            <a:off x="777240" y="2258568"/>
            <a:ext cx="64008" cy="62788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7376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400" b="1" i="0">
                <a:solidFill>
                  <a:srgbClr val="1A1A1A"/>
                </a:solidFill>
                <a:latin typeface="Arial"/>
              </a:rPr>
              <a:t>Sperandeo's rule for which two points to join: a minor trough or peak is a small one, smaller than the move it sits inside.</a:t>
            </a:r>
          </a:p>
        </p:txBody>
      </p:sp>
      <p:sp>
        <p:nvSpPr>
          <p:cNvPr id="10" name="Rectangle 9"/>
          <p:cNvSpPr/>
          <p:nvPr/>
        </p:nvSpPr>
        <p:spPr>
          <a:xfrm>
            <a:off x="777240" y="3142488"/>
            <a:ext cx="64008" cy="84124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096768"/>
            <a:ext cx="5760720" cy="950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400" b="0" i="0">
                <a:solidFill>
                  <a:srgbClr val="1A1A1A"/>
                </a:solidFill>
                <a:latin typeface="Arial"/>
              </a:rPr>
              <a:t>An uptrend's lowest trough is PHP 40, and its highest minor trough before the PHP 60 peak is PHP 55: the line runs from the first through the second.</a:t>
            </a:r>
          </a:p>
        </p:txBody>
      </p:sp>
      <p:sp>
        <p:nvSpPr>
          <p:cNvPr id="12" name="Rectangle 11"/>
          <p:cNvSpPr/>
          <p:nvPr/>
        </p:nvSpPr>
        <p:spPr>
          <a:xfrm>
            <a:off x="777240" y="4239768"/>
            <a:ext cx="64008" cy="12679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94048"/>
            <a:ext cx="5760720" cy="1377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400" b="0" i="0">
                <a:solidFill>
                  <a:srgbClr val="1A1A1A"/>
                </a:solidFill>
                <a:latin typeface="Arial"/>
              </a:rPr>
              <a:t>Uptrend line: from the lowest trough to the highest minor trough preceding the highest peak. Downtrend line: the mirror. The rule anchors the line on the most recent higher low before the top, as close under price as the rally allows. From Victor Sperandeo's Trader Vic: Methods of a Wall Street Master.</a:t>
            </a:r>
          </a:p>
        </p:txBody>
      </p:sp>
      <p:sp>
        <p:nvSpPr>
          <p:cNvPr id="14" name="Rectangle 13"/>
          <p:cNvSpPr/>
          <p:nvPr/>
        </p:nvSpPr>
        <p:spPr>
          <a:xfrm>
            <a:off x="7132319" y="2157984"/>
            <a:ext cx="42821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132319" y="2157984"/>
            <a:ext cx="42821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543799" y="2615184"/>
            <a:ext cx="34591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5.48</a:t>
            </a:r>
          </a:p>
          <a:p>
            <a:pPr algn="l">
              <a:lnSpc>
                <a:spcPct val="120000"/>
              </a:lnSpc>
              <a:spcBef>
                <a:spcPts val="0"/>
              </a:spcBef>
              <a:spcAft>
                <a:spcPts val="1400"/>
              </a:spcAft>
            </a:pPr>
            <a:r>
              <a:rPr sz="1800" b="0" i="0">
                <a:solidFill>
                  <a:srgbClr val="1A1A1A"/>
                </a:solidFill>
                <a:latin typeface="Palatino"/>
              </a:rPr>
              <a:t>Two drawings. A Sperandeo uptrend line from the lowest trough through the highest minor trough preceding the highest peak, and a Sperandeo downtrend line from the highest peak through the lowest minor peak preceding the lowest trough.</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132319" y="5650992"/>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5.48 -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p.162, Figure 5.48 (p.163). No reason given for the rule itself. It advises reading Sperandeo's book. Pesos ours.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DeMark trendlines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18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DeMark's rule: join the two newest points.</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2120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Of three uptrend lines in the figure, only the one through the two most recent troughs is marked Correct.</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21208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Uptrend line: from the two most recent qualified troughs. Downtrend line: from the two most recent qualified peaks. From Thomas DeMark's The New Science of Technical Analysis, where the book sends the reader for how a point qualifies.</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5.49</a:t>
            </a:r>
          </a:p>
          <a:p>
            <a:pPr algn="l">
              <a:lnSpc>
                <a:spcPct val="120000"/>
              </a:lnSpc>
              <a:spcBef>
                <a:spcPts val="0"/>
              </a:spcBef>
              <a:spcAft>
                <a:spcPts val="1400"/>
              </a:spcAft>
            </a:pPr>
            <a:r>
              <a:rPr sz="1800" b="0" i="0">
                <a:solidFill>
                  <a:srgbClr val="1A1A1A"/>
                </a:solidFill>
                <a:latin typeface="Palatino"/>
              </a:rPr>
              <a:t>A rising candlestick chart with three uptrend lines drawn from different pairs of troughs: the one through the two most recent troughs is marked correct and the two drawn from older troughs are marked wrong.</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5.49 -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p.162, Fig. 5.49. It calls the approach more responsive, not saying than what, or how a point qualifies. The troughs cannot be told apart here: next slide.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DeMark's line, on numbered troughs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19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An uptrend with four troughs, numbered in the order they form.</a:t>
            </a:r>
          </a:p>
          <a:p>
            <a:pPr algn="l">
              <a:lnSpc>
                <a:spcPct val="105000"/>
              </a:lnSpc>
              <a:spcBef>
                <a:spcPts val="0"/>
              </a:spcBef>
              <a:spcAft>
                <a:spcPts val="1100"/>
              </a:spcAft>
            </a:pPr>
            <a:r>
              <a:rPr sz="1900" b="0" i="0">
                <a:solidFill>
                  <a:srgbClr val="1A1A1A"/>
                </a:solidFill>
                <a:latin typeface="Arial"/>
              </a:rPr>
              <a:t>Correct, DeMark's line: through the two most recent troughs, 3 and 4.</a:t>
            </a:r>
          </a:p>
          <a:p>
            <a:pPr algn="l">
              <a:lnSpc>
                <a:spcPct val="105000"/>
              </a:lnSpc>
              <a:spcBef>
                <a:spcPts val="0"/>
              </a:spcBef>
              <a:spcAft>
                <a:spcPts val="1100"/>
              </a:spcAft>
            </a:pPr>
            <a:r>
              <a:rPr sz="1900" b="0" i="0">
                <a:solidFill>
                  <a:srgbClr val="1A1A1A"/>
                </a:solidFill>
                <a:latin typeface="Arial"/>
              </a:rPr>
              <a:t>Wrong: the lines through 2 and 3, and through 1 and 2. They use older troughs.</a:t>
            </a:r>
          </a:p>
        </p:txBody>
      </p:sp>
      <p:sp>
        <p:nvSpPr>
          <p:cNvPr id="8" name="Rectangle 7"/>
          <p:cNvSpPr/>
          <p:nvPr/>
        </p:nvSpPr>
        <p:spPr>
          <a:xfrm>
            <a:off x="777240" y="4485132"/>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21708"/>
            <a:ext cx="482803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Only the two most recent troughs give DeMark's line.</a:t>
            </a:r>
          </a:p>
        </p:txBody>
      </p:sp>
      <p:sp>
        <p:nvSpPr>
          <p:cNvPr id="10" name="TextBox 9"/>
          <p:cNvSpPr txBox="1"/>
          <p:nvPr/>
        </p:nvSpPr>
        <p:spPr>
          <a:xfrm>
            <a:off x="777240" y="544220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Which troughs qualify is DeMark's own rule; the book sends the reader to his book for it. Here all four are taken to qualify.</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p.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AP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5.49 (p.163) redrawn on invented prices with the troughs numbered, because they cannot be told apart on it.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Standard fan 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20 of 24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21208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Three trendlines fanning out from one point, each flatter than the last.</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2120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Decelerating: from one significant trough, three uptrend lines to later troughs. Accelerating: three downtrend lines, from one peak.</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2120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They indicate a change in trend: violation of the third fan line is strong confirmation. They provide support and resistance, change roles when breached, and trade like any trendline.</a:t>
            </a:r>
          </a:p>
        </p:txBody>
      </p:sp>
      <p:sp>
        <p:nvSpPr>
          <p:cNvPr id="14" name="Rectangle 13"/>
          <p:cNvSpPr/>
          <p:nvPr/>
        </p:nvSpPr>
        <p:spPr>
          <a:xfrm>
            <a:off x="6583679" y="2157984"/>
            <a:ext cx="483077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583679" y="2157984"/>
            <a:ext cx="483077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995159" y="2615184"/>
            <a:ext cx="40078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5.50</a:t>
            </a:r>
          </a:p>
          <a:p>
            <a:pPr algn="l">
              <a:lnSpc>
                <a:spcPct val="120000"/>
              </a:lnSpc>
              <a:spcBef>
                <a:spcPts val="0"/>
              </a:spcBef>
              <a:spcAft>
                <a:spcPts val="1400"/>
              </a:spcAft>
            </a:pPr>
            <a:r>
              <a:rPr sz="1800" b="0" i="0">
                <a:solidFill>
                  <a:srgbClr val="1A1A1A"/>
                </a:solidFill>
                <a:latin typeface="Palatino"/>
              </a:rPr>
              <a:t>Two drawings: decelerating fan lines, three uptrend lines fanning out from one trough and numbered 1st, 2nd and 3rd as they flatten, and accelerating fan lines, three downtrend lines fanning out from one peak.</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583679" y="565099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5.50 -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p.163, Fig. 5.50. No reason for three or the names. Its troughs and peaks are too small to read; the next slide redraws them.</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Standard fan lines, numbered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21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An uptrend, with three fan lines all starting from its first trough.</a:t>
            </a:r>
          </a:p>
          <a:p>
            <a:pPr algn="l">
              <a:lnSpc>
                <a:spcPct val="105000"/>
              </a:lnSpc>
              <a:spcBef>
                <a:spcPts val="0"/>
              </a:spcBef>
              <a:spcAft>
                <a:spcPts val="1100"/>
              </a:spcAft>
            </a:pPr>
            <a:r>
              <a:rPr sz="1700" b="0" i="0">
                <a:solidFill>
                  <a:srgbClr val="1A1A1A"/>
                </a:solidFill>
                <a:latin typeface="Arial"/>
              </a:rPr>
              <a:t>1st, steepest: to the next trough. 2nd, flatter: to the one after. 3rd, flattest: to the last.</a:t>
            </a:r>
          </a:p>
          <a:p>
            <a:pPr algn="l">
              <a:lnSpc>
                <a:spcPct val="105000"/>
              </a:lnSpc>
              <a:spcBef>
                <a:spcPts val="0"/>
              </a:spcBef>
              <a:spcAft>
                <a:spcPts val="1100"/>
              </a:spcAft>
            </a:pPr>
            <a:r>
              <a:rPr sz="1700" b="0" i="0">
                <a:solidFill>
                  <a:srgbClr val="1A1A1A"/>
                </a:solidFill>
                <a:latin typeface="Arial"/>
              </a:rPr>
              <a:t>Accelerating fan lines, from a peak instead, are the same shape mirrored down.</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Each line is numbered in the order the book draws it.</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says to draw only three of either; a line beyond the third carries no rule of its own.</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q.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AQ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Figure 5.50 (p.163) redrawn on invented prices, because its troughs and peaks are too small to read on it.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Fibonacci fan 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22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Fan lines through three Fibonacci levels.</a:t>
            </a:r>
          </a:p>
        </p:txBody>
      </p:sp>
      <p:sp>
        <p:nvSpPr>
          <p:cNvPr id="10" name="Rectangle 9"/>
          <p:cNvSpPr/>
          <p:nvPr/>
        </p:nvSpPr>
        <p:spPr>
          <a:xfrm>
            <a:off x="777240" y="297484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39496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rise from PHP 40 to PHP 60: the vertical line is PHP 20 tall. Measured down from the peak, the three marks are PHP 52.36, 50.00 and 47.64.</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39496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Bearish: identify a significant Fibonacci retracement range. Draw a vertical line from its peak to the trough's price level. Divide it at 38.2, 50 and 61.8 percent. Project three lines from the trough through those levels.</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5.51</a:t>
            </a:r>
          </a:p>
          <a:p>
            <a:pPr algn="l">
              <a:lnSpc>
                <a:spcPct val="120000"/>
              </a:lnSpc>
              <a:spcBef>
                <a:spcPts val="0"/>
              </a:spcBef>
              <a:spcAft>
                <a:spcPts val="1400"/>
              </a:spcAft>
            </a:pPr>
            <a:r>
              <a:rPr sz="1800" b="0" i="0">
                <a:solidFill>
                  <a:srgbClr val="1A1A1A"/>
                </a:solidFill>
                <a:latin typeface="Palatino"/>
              </a:rPr>
              <a:t>A rise from a trough to a peak with a vertical line dropped from the peak to the base, divided at 38.2, 50.0 and 61.8 percent, and three lines projected from the trough through those three points.</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5.51 -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p.164, Figure 5.51. It calls this one bearish and does not say why. The percentages are given, not derived: Fibonacci is Chapter 10, retracements 5.7. Pesos ours.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Speed lines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23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484632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Fibonacci fan lines, drawn with thirds.</a:t>
            </a:r>
          </a:p>
        </p:txBody>
      </p:sp>
      <p:sp>
        <p:nvSpPr>
          <p:cNvPr id="10" name="Rectangle 9"/>
          <p:cNvSpPr/>
          <p:nvPr/>
        </p:nvSpPr>
        <p:spPr>
          <a:xfrm>
            <a:off x="777240" y="297484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48463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The same vertical line, divided into thirds: a 1/3 speed line and a 2/3 speed line.</a:t>
            </a:r>
          </a:p>
        </p:txBody>
      </p:sp>
      <p:sp>
        <p:nvSpPr>
          <p:cNvPr id="12" name="Rectangle 11"/>
          <p:cNvSpPr/>
          <p:nvPr/>
        </p:nvSpPr>
        <p:spPr>
          <a:xfrm>
            <a:off x="777240" y="3950207"/>
            <a:ext cx="64008" cy="17556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04487"/>
            <a:ext cx="4846320" cy="18653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Edson Gould's speed lines track the progress of a trend as it attempts to bottom or top. They are created in exactly the same way as Fibonacci fan lines, except that the retracement ratios are one-third and two-thirds.</a:t>
            </a:r>
          </a:p>
        </p:txBody>
      </p:sp>
      <p:sp>
        <p:nvSpPr>
          <p:cNvPr id="14" name="Rectangle 13"/>
          <p:cNvSpPr/>
          <p:nvPr/>
        </p:nvSpPr>
        <p:spPr>
          <a:xfrm>
            <a:off x="6217919" y="2157984"/>
            <a:ext cx="51965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217919" y="2157984"/>
            <a:ext cx="51965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6629399" y="2615184"/>
            <a:ext cx="43735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5.52</a:t>
            </a:r>
          </a:p>
          <a:p>
            <a:pPr algn="l">
              <a:lnSpc>
                <a:spcPct val="120000"/>
              </a:lnSpc>
              <a:spcBef>
                <a:spcPts val="0"/>
              </a:spcBef>
              <a:spcAft>
                <a:spcPts val="1400"/>
              </a:spcAft>
            </a:pPr>
            <a:r>
              <a:rPr sz="1800" b="0" i="0">
                <a:solidFill>
                  <a:srgbClr val="1A1A1A"/>
                </a:solidFill>
                <a:latin typeface="Palatino"/>
              </a:rPr>
              <a:t>A rise from a trough to a peak with a vertical line dropped from the peak to the base and divided into three thirds, and two lines projected from the trough through the division points: the 1/3 speed line and the 2/3 speed line.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5.52 -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p.164, Figure 5.52 (p.165). No reason for thirds. What they are read for: as with all fan lines, support and resistance (p.163).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Andrew's Pitchfork</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24 of 24</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Three parallel lines drawn from three points.</a:t>
            </a:r>
          </a:p>
        </p:txBody>
      </p:sp>
      <p:sp>
        <p:nvSpPr>
          <p:cNvPr id="10" name="Rectangle 9"/>
          <p:cNvSpPr/>
          <p:nvPr/>
        </p:nvSpPr>
        <p:spPr>
          <a:xfrm>
            <a:off x="777240" y="297484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539496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Daily Silver, in a downtrend: prices react at the median line and tag the upper band.</a:t>
            </a:r>
          </a:p>
        </p:txBody>
      </p:sp>
      <p:sp>
        <p:nvSpPr>
          <p:cNvPr id="12" name="Rectangle 11"/>
          <p:cNvSpPr/>
          <p:nvPr/>
        </p:nvSpPr>
        <p:spPr>
          <a:xfrm>
            <a:off x="777240" y="3950207"/>
            <a:ext cx="64008" cy="17556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04487"/>
            <a:ext cx="5394960" cy="18653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Bearish: find a significant peak, then an upside retracement that does not exceed it. The median line runs from the peak through the midpoint between the retracement trough and peak; parallels run from both. The lines give support and resistance. Bullish: the converse.</a:t>
            </a:r>
          </a:p>
        </p:txBody>
      </p:sp>
      <p:sp>
        <p:nvSpPr>
          <p:cNvPr id="14" name="Rectangle 13"/>
          <p:cNvSpPr/>
          <p:nvPr/>
        </p:nvSpPr>
        <p:spPr>
          <a:xfrm>
            <a:off x="6766559" y="2157984"/>
            <a:ext cx="464789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766559" y="2157984"/>
            <a:ext cx="464789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178040" y="2615184"/>
            <a:ext cx="382493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5.53</a:t>
            </a:r>
          </a:p>
          <a:p>
            <a:pPr algn="l">
              <a:lnSpc>
                <a:spcPct val="120000"/>
              </a:lnSpc>
              <a:spcBef>
                <a:spcPts val="0"/>
              </a:spcBef>
              <a:spcAft>
                <a:spcPts val="1400"/>
              </a:spcAft>
            </a:pPr>
            <a:r>
              <a:rPr sz="1800" b="0" i="0">
                <a:solidFill>
                  <a:srgbClr val="1A1A1A"/>
                </a:solidFill>
                <a:latin typeface="Palatino"/>
              </a:rPr>
              <a:t>A daily Silver chart with a falling pitchfork: a significant peak, a retracement trough and a retracement peak, three parallel falling lines, and labels where prices react at the median line and tag the upper band.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5.53 -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p.165, Figure 5.53. No reason given. Its text calls both reactions support; at the upper band the figure shows price turning down, which is resistance.</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18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Other trendlines and fan lines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DeMark trendlines in an uptrend are constructed from:</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lowest trough and the highest peak</a:t>
            </a:r>
          </a:p>
          <a:p>
            <a:pPr algn="l">
              <a:lnSpc>
                <a:spcPct val="112000"/>
              </a:lnSpc>
              <a:spcBef>
                <a:spcPts val="0"/>
              </a:spcBef>
              <a:spcAft>
                <a:spcPts val="900"/>
              </a:spcAft>
            </a:pPr>
            <a:r>
              <a:rPr sz="1500" b="0" i="0">
                <a:solidFill>
                  <a:srgbClr val="FFFFFF"/>
                </a:solidFill>
                <a:latin typeface="Arial"/>
              </a:rPr>
              <a:t>B.  The two most recent qualified troughs</a:t>
            </a:r>
          </a:p>
          <a:p>
            <a:pPr algn="l">
              <a:lnSpc>
                <a:spcPct val="112000"/>
              </a:lnSpc>
              <a:spcBef>
                <a:spcPts val="0"/>
              </a:spcBef>
              <a:spcAft>
                <a:spcPts val="900"/>
              </a:spcAft>
            </a:pPr>
            <a:r>
              <a:rPr sz="1500" b="0" i="0">
                <a:solidFill>
                  <a:srgbClr val="FFFFFF"/>
                </a:solidFill>
                <a:latin typeface="Arial"/>
              </a:rPr>
              <a:t>C.  The two oldest troughs on the chart</a:t>
            </a:r>
          </a:p>
          <a:p>
            <a:pPr algn="l">
              <a:lnSpc>
                <a:spcPct val="112000"/>
              </a:lnSpc>
              <a:spcBef>
                <a:spcPts val="0"/>
              </a:spcBef>
              <a:spcAft>
                <a:spcPts val="900"/>
              </a:spcAft>
            </a:pPr>
            <a:r>
              <a:rPr sz="1500" b="0" i="0">
                <a:solidFill>
                  <a:srgbClr val="FFFFFF"/>
                </a:solidFill>
                <a:latin typeface="Arial"/>
              </a:rPr>
              <a:t>D.  The lowest trough and the highest minor trough</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Speed lines differ from Fibonacci fan lines in that their retracement ratios are: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38.2, 50 and 61.8 percent</a:t>
            </a:r>
          </a:p>
          <a:p>
            <a:pPr algn="l">
              <a:lnSpc>
                <a:spcPct val="112000"/>
              </a:lnSpc>
              <a:spcBef>
                <a:spcPts val="0"/>
              </a:spcBef>
              <a:spcAft>
                <a:spcPts val="900"/>
              </a:spcAft>
            </a:pPr>
            <a:r>
              <a:rPr sz="1500" b="0" i="0">
                <a:solidFill>
                  <a:srgbClr val="FFFFFF"/>
                </a:solidFill>
                <a:latin typeface="Arial"/>
              </a:rPr>
              <a:t>B.  One-eighth and one-quarter</a:t>
            </a:r>
          </a:p>
          <a:p>
            <a:pPr algn="l">
              <a:lnSpc>
                <a:spcPct val="112000"/>
              </a:lnSpc>
              <a:spcBef>
                <a:spcPts val="0"/>
              </a:spcBef>
              <a:spcAft>
                <a:spcPts val="900"/>
              </a:spcAft>
            </a:pPr>
            <a:r>
              <a:rPr sz="1500" b="0" i="0">
                <a:solidFill>
                  <a:srgbClr val="FFFFFF"/>
                </a:solidFill>
                <a:latin typeface="Arial"/>
              </a:rPr>
              <a:t>C.  25, 50 and 75 percent</a:t>
            </a:r>
          </a:p>
          <a:p>
            <a:pPr algn="l">
              <a:lnSpc>
                <a:spcPct val="112000"/>
              </a:lnSpc>
              <a:spcBef>
                <a:spcPts val="0"/>
              </a:spcBef>
              <a:spcAft>
                <a:spcPts val="900"/>
              </a:spcAft>
            </a:pPr>
            <a:r>
              <a:rPr sz="1500" b="0" i="0">
                <a:solidFill>
                  <a:srgbClr val="FFFFFF"/>
                </a:solidFill>
                <a:latin typeface="Arial"/>
              </a:rPr>
              <a:t>D.  One-third and two-thirds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11 - 5.6 Trendlines  |  Check 18</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Other trendlines and fan lines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DeMark trendlines in an uptrend are constructed from:</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two most recent qualified troughs</a:t>
            </a:r>
          </a:p>
          <a:p>
            <a:pPr algn="l">
              <a:lnSpc>
                <a:spcPct val="115000"/>
              </a:lnSpc>
              <a:spcBef>
                <a:spcPts val="700"/>
              </a:spcBef>
              <a:spcAft>
                <a:spcPts val="0"/>
              </a:spcAft>
            </a:pPr>
            <a:r>
              <a:rPr sz="1600" b="0" i="0">
                <a:solidFill>
                  <a:srgbClr val="1A1A1A"/>
                </a:solidFill>
                <a:latin typeface="Arial"/>
              </a:rPr>
              <a:t>DeMark uses the two most recent qualified troughs in an uptrend, and the two most recent qualified peaks in a downtrend.</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Speed lines differ from Fibonacci fan lines in that their retracement ratios are:</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One-third and two-thirds</a:t>
            </a:r>
          </a:p>
          <a:p>
            <a:pPr algn="l">
              <a:lnSpc>
                <a:spcPct val="115000"/>
              </a:lnSpc>
              <a:spcBef>
                <a:spcPts val="700"/>
              </a:spcBef>
              <a:spcAft>
                <a:spcPts val="0"/>
              </a:spcAft>
            </a:pPr>
            <a:r>
              <a:rPr sz="1600" b="0" i="0">
                <a:solidFill>
                  <a:srgbClr val="1A1A1A"/>
                </a:solidFill>
                <a:latin typeface="Arial"/>
              </a:rPr>
              <a:t>Speed lines are created in exactly the same way as Fibonacci fan lines, except the ratios are one-third and two-thirds.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11 - 5.6 Trendlines  |  Check 18</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5.7  Three ways to measure a retracement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11 - 5.7 Retracements  |  1 of 2</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Fibonacci retracements are based on ratios related to the Fibonacci Phi ratio: Chapter 10. Only the percentages matter here.</a:t>
            </a:r>
          </a:p>
          <a:p>
            <a:pPr algn="l">
              <a:lnSpc>
                <a:spcPct val="105000"/>
              </a:lnSpc>
              <a:spcBef>
                <a:spcPts val="0"/>
              </a:spcBef>
              <a:spcAft>
                <a:spcPts val="1100"/>
              </a:spcAft>
            </a:pPr>
            <a:r>
              <a:rPr sz="1700" b="0" i="0">
                <a:solidFill>
                  <a:srgbClr val="1A1A1A"/>
                </a:solidFill>
                <a:latin typeface="Arial"/>
              </a:rPr>
              <a:t>Dow paid particular attention to the one-third and two-thirds retracements. Gann employed one-third and one-eighth retracement ranges.</a:t>
            </a:r>
          </a:p>
        </p:txBody>
      </p:sp>
      <p:sp>
        <p:nvSpPr>
          <p:cNvPr id="8" name="Rectangle 7"/>
          <p:cNvSpPr/>
          <p:nvPr/>
        </p:nvSpPr>
        <p:spPr>
          <a:xfrm>
            <a:off x="777240" y="4128516"/>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65092"/>
            <a:ext cx="537667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Gann and Dow both regarded 50 percent as the most significant, with most major tops and bottoms forming around it.</a:t>
            </a:r>
          </a:p>
        </p:txBody>
      </p:sp>
      <p:sp>
        <p:nvSpPr>
          <p:cNvPr id="10" name="TextBox 9"/>
          <p:cNvSpPr txBox="1"/>
          <p:nvPr/>
        </p:nvSpPr>
        <p:spPr>
          <a:xfrm>
            <a:off x="777240" y="5298948"/>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Each is a percentage of the move retraced, as in Chapter 2. The table's Gann column is in eighths only, and it brackets Fibonacci's 50; the book explains neither.</a:t>
            </a:r>
          </a:p>
        </p:txBody>
      </p:sp>
      <p:sp>
        <p:nvSpPr>
          <p:cNvPr id="11" name="Rectangle 10"/>
          <p:cNvSpPr/>
          <p:nvPr/>
        </p:nvSpPr>
        <p:spPr>
          <a:xfrm>
            <a:off x="6766559" y="1810512"/>
            <a:ext cx="4647894"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66559" y="1810512"/>
            <a:ext cx="464789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78040" y="2267712"/>
            <a:ext cx="382493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5.54</a:t>
            </a:r>
          </a:p>
          <a:p>
            <a:pPr algn="l">
              <a:lnSpc>
                <a:spcPct val="120000"/>
              </a:lnSpc>
              <a:spcBef>
                <a:spcPts val="0"/>
              </a:spcBef>
              <a:spcAft>
                <a:spcPts val="1400"/>
              </a:spcAft>
            </a:pPr>
            <a:r>
              <a:rPr sz="1800" b="0" i="0">
                <a:solidFill>
                  <a:srgbClr val="1A1A1A"/>
                </a:solidFill>
                <a:latin typeface="Palatino"/>
              </a:rPr>
              <a:t>A table of retracement percentages in three columns. Fibonacci: 23.6, 38.2, 50 in brackets, 61.8 and 78.6. Dow: 33, 50 and 66. Gann: 12.5, 25.0, 37.5, 50.0, 62.5, 75.0 and 87.5.</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766559" y="5650992"/>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5.54 -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p.166 and Figure 5.54. Nothing is derived here: the book leaves that to 'a subsequent chapter', unnamed. Its Chapter 10 is Fibonacci, its Chapter 19 Gann.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three approaches agree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7 of 11 - 5.7 Retracements  |  2 of 2</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Set side by side, the retracement percentages converge strongly around specific ranges.</a:t>
            </a:r>
          </a:p>
          <a:p>
            <a:pPr algn="l">
              <a:lnSpc>
                <a:spcPct val="105000"/>
              </a:lnSpc>
              <a:spcBef>
                <a:spcPts val="0"/>
              </a:spcBef>
              <a:spcAft>
                <a:spcPts val="1100"/>
              </a:spcAft>
            </a:pPr>
            <a:r>
              <a:rPr sz="1900" b="0" i="0">
                <a:solidFill>
                  <a:srgbClr val="1A1A1A"/>
                </a:solidFill>
                <a:latin typeface="Arial"/>
              </a:rPr>
              <a:t>Between 33 and 38.2 percent.</a:t>
            </a:r>
          </a:p>
          <a:p>
            <a:pPr algn="l">
              <a:lnSpc>
                <a:spcPct val="105000"/>
              </a:lnSpc>
              <a:spcBef>
                <a:spcPts val="0"/>
              </a:spcBef>
              <a:spcAft>
                <a:spcPts val="1100"/>
              </a:spcAft>
            </a:pPr>
            <a:r>
              <a:rPr sz="1900" b="0" i="0">
                <a:solidFill>
                  <a:srgbClr val="1A1A1A"/>
                </a:solidFill>
                <a:latin typeface="Arial"/>
              </a:rPr>
              <a:t>At 50 percent.</a:t>
            </a:r>
          </a:p>
          <a:p>
            <a:pPr algn="l">
              <a:lnSpc>
                <a:spcPct val="105000"/>
              </a:lnSpc>
              <a:spcBef>
                <a:spcPts val="0"/>
              </a:spcBef>
              <a:spcAft>
                <a:spcPts val="1100"/>
              </a:spcAft>
            </a:pPr>
            <a:r>
              <a:rPr sz="1900" b="0" i="0">
                <a:solidFill>
                  <a:srgbClr val="1A1A1A"/>
                </a:solidFill>
                <a:latin typeface="Arial"/>
              </a:rPr>
              <a:t>Between 61.8 and 66 percent.</a:t>
            </a:r>
          </a:p>
        </p:txBody>
      </p:sp>
      <p:sp>
        <p:nvSpPr>
          <p:cNvPr id="8" name="Rectangle 7"/>
          <p:cNvSpPr/>
          <p:nvPr/>
        </p:nvSpPr>
        <p:spPr>
          <a:xfrm>
            <a:off x="777240" y="4649724"/>
            <a:ext cx="82296" cy="10607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86300"/>
            <a:ext cx="4828032" cy="10607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Probably the most important retracement percentage of all is the 50 percent level.</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r.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AR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p.166. The chart is ours: a rise from PHP 40 to PHP 60, chosen so that 50 percent falls on PHP 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5.8  Common, breakaway, runaway and exhaustion gaps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1 of 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Each is named for where it opens: in a range, or early, midway or late in a trend.</a:t>
            </a:r>
          </a:p>
        </p:txBody>
      </p:sp>
      <p:sp>
        <p:nvSpPr>
          <p:cNvPr id="10" name="Rectangle 9"/>
          <p:cNvSpPr/>
          <p:nvPr/>
        </p:nvSpPr>
        <p:spPr>
          <a:xfrm>
            <a:off x="777240" y="3233927"/>
            <a:ext cx="64008" cy="460247"/>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Weekly Wheat shows all four.</a:t>
            </a:r>
          </a:p>
        </p:txBody>
      </p:sp>
      <p:sp>
        <p:nvSpPr>
          <p:cNvPr id="12" name="Rectangle 11"/>
          <p:cNvSpPr/>
          <p:nvPr/>
        </p:nvSpPr>
        <p:spPr>
          <a:xfrm>
            <a:off x="777240" y="3950207"/>
            <a:ext cx="64008" cy="175564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904487"/>
            <a:ext cx="5760720" cy="18653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Common: within a trading range, considered insignificant. Breakaway: as price breaks away from a consolidation or chart pattern. Runaway, measuring, midway or continuation: in a strong trend phase; there may be more than one. Exhaustion: at the end of a trend, before a consolidation or reversal.</a:t>
            </a:r>
          </a:p>
        </p:txBody>
      </p:sp>
      <p:sp>
        <p:nvSpPr>
          <p:cNvPr id="14" name="Rectangle 13"/>
          <p:cNvSpPr/>
          <p:nvPr/>
        </p:nvSpPr>
        <p:spPr>
          <a:xfrm>
            <a:off x="7132319" y="2157984"/>
            <a:ext cx="4282135"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132319" y="2157984"/>
            <a:ext cx="4282135"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543799" y="2615184"/>
            <a:ext cx="3459175"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5.55</a:t>
            </a:r>
          </a:p>
          <a:p>
            <a:pPr algn="l">
              <a:lnSpc>
                <a:spcPct val="120000"/>
              </a:lnSpc>
              <a:spcBef>
                <a:spcPts val="0"/>
              </a:spcBef>
              <a:spcAft>
                <a:spcPts val="1400"/>
              </a:spcAft>
            </a:pPr>
            <a:r>
              <a:rPr sz="1800" b="0" i="0">
                <a:solidFill>
                  <a:srgbClr val="1A1A1A"/>
                </a:solidFill>
                <a:latin typeface="Palatino"/>
              </a:rPr>
              <a:t>A weekly Wheat chart with each kind of gap boxed and named: common gaps inside the consolidation, then a breakaway gap, a runaway gap and an exhaustion gap up the trend, with arrows from the three trend gaps to later levels of support.</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132319" y="5650992"/>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5.55 -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p.166, Figure 5.55 (p.167), whose Support arrows mark the support each gap later gives. Chapter 3 named the four and left their meanings to this chapter.</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Gaps forecasting trend exhaustion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2 of 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Weekly Wheat: common gaps within the consolidation, then the trend-related gaps.</a:t>
            </a:r>
          </a:p>
          <a:p>
            <a:pPr algn="l">
              <a:lnSpc>
                <a:spcPct val="105000"/>
              </a:lnSpc>
              <a:spcBef>
                <a:spcPts val="0"/>
              </a:spcBef>
              <a:spcAft>
                <a:spcPts val="1100"/>
              </a:spcAft>
            </a:pPr>
            <a:r>
              <a:rPr sz="1700" b="0" i="0">
                <a:solidFill>
                  <a:srgbClr val="1A1A1A"/>
                </a:solidFill>
                <a:latin typeface="Arial"/>
              </a:rPr>
              <a:t>Prices top after the third gap: potential trend exhaustion.</a:t>
            </a:r>
          </a:p>
          <a:p>
            <a:pPr algn="l">
              <a:lnSpc>
                <a:spcPct val="105000"/>
              </a:lnSpc>
              <a:spcBef>
                <a:spcPts val="0"/>
              </a:spcBef>
              <a:spcAft>
                <a:spcPts val="1100"/>
              </a:spcAft>
            </a:pPr>
            <a:r>
              <a:rPr sz="1700" b="0" i="0">
                <a:solidFill>
                  <a:srgbClr val="1A1A1A"/>
                </a:solidFill>
                <a:latin typeface="Arial"/>
              </a:rPr>
              <a:t>The exhaustion is at a significant resistance level, created by a strong price rejection.</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Gaps define the stages within a trend, indicating potential tops and bottoms.</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Midway gap: the runaway gap by another name. The rejection is at a very bearish shooting star, a candlestick pattern: Chapter 14.</a:t>
            </a:r>
          </a:p>
        </p:txBody>
      </p:sp>
      <p:sp>
        <p:nvSpPr>
          <p:cNvPr id="11" name="Rectangle 10"/>
          <p:cNvSpPr/>
          <p:nvPr/>
        </p:nvSpPr>
        <p:spPr>
          <a:xfrm>
            <a:off x="6217919" y="1810512"/>
            <a:ext cx="519653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17919" y="1810512"/>
            <a:ext cx="519653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29399" y="2267712"/>
            <a:ext cx="4373575"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5.56</a:t>
            </a:r>
          </a:p>
          <a:p>
            <a:pPr algn="l">
              <a:lnSpc>
                <a:spcPct val="120000"/>
              </a:lnSpc>
              <a:spcBef>
                <a:spcPts val="0"/>
              </a:spcBef>
              <a:spcAft>
                <a:spcPts val="1400"/>
              </a:spcAft>
            </a:pPr>
            <a:r>
              <a:rPr sz="1800" b="0" i="0">
                <a:solidFill>
                  <a:srgbClr val="1A1A1A"/>
                </a:solidFill>
                <a:latin typeface="Palatino"/>
              </a:rPr>
              <a:t>A weekly Wheat chart: a strong price rejection at an early high, a dashed line carrying that level across as prior resistance, an accumulation box holding a common gap, then a breakaway gap, a midway gap and an exhaustion gap rising into a distribution box at the resistance.</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5.56 -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pp.166-167 and Figure 5.56.</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Gaps become support and resistance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3 of 4</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On the Wheat chart the gaps gave rise to later levels of support.</a:t>
            </a:r>
          </a:p>
          <a:p>
            <a:pPr algn="l">
              <a:lnSpc>
                <a:spcPct val="105000"/>
              </a:lnSpc>
              <a:spcBef>
                <a:spcPts val="0"/>
              </a:spcBef>
              <a:spcAft>
                <a:spcPts val="1100"/>
              </a:spcAft>
            </a:pPr>
            <a:r>
              <a:rPr sz="1600" b="0" i="0">
                <a:solidFill>
                  <a:srgbClr val="1A1A1A"/>
                </a:solidFill>
                <a:latin typeface="Arial"/>
              </a:rPr>
              <a:t>On this 15 minute chart of GLD, gaps give rise to areas of both support and resistance: the horizontal lines drawn from each gap.</a:t>
            </a:r>
          </a:p>
        </p:txBody>
      </p:sp>
      <p:sp>
        <p:nvSpPr>
          <p:cNvPr id="8" name="Rectangle 7"/>
          <p:cNvSpPr/>
          <p:nvPr/>
        </p:nvSpPr>
        <p:spPr>
          <a:xfrm>
            <a:off x="777240" y="3776472"/>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27939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Gaps tend to create areas of potential support and resistance.</a:t>
            </a:r>
          </a:p>
        </p:txBody>
      </p:sp>
      <p:sp>
        <p:nvSpPr>
          <p:cNvPr id="10" name="TextBox 9"/>
          <p:cNvSpPr txBox="1"/>
          <p:nvPr/>
        </p:nvSpPr>
        <p:spPr>
          <a:xfrm>
            <a:off x="777240" y="4642104"/>
            <a:ext cx="45720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gaps, and the figure's other two labels (angular symmetry in GLD, a cycle-tuned stochastic, both characteristics for a different chapter), cannot be read at this size, so nothing here is asked to be verified from them; the next slide draws the gap claim so it can be.</a:t>
            </a:r>
          </a:p>
        </p:txBody>
      </p:sp>
      <p:sp>
        <p:nvSpPr>
          <p:cNvPr id="11" name="Rectangle 10"/>
          <p:cNvSpPr/>
          <p:nvPr/>
        </p:nvSpPr>
        <p:spPr>
          <a:xfrm>
            <a:off x="5669279" y="1810512"/>
            <a:ext cx="5745175"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669279" y="1810512"/>
            <a:ext cx="5745175"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80759" y="2267712"/>
            <a:ext cx="4922214" cy="3017520"/>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5.57</a:t>
            </a:r>
          </a:p>
          <a:p>
            <a:pPr algn="l">
              <a:lnSpc>
                <a:spcPct val="120000"/>
              </a:lnSpc>
              <a:spcBef>
                <a:spcPts val="0"/>
              </a:spcBef>
              <a:spcAft>
                <a:spcPts val="1400"/>
              </a:spcAft>
            </a:pPr>
            <a:r>
              <a:rPr sz="1800" b="0" i="0">
                <a:solidFill>
                  <a:srgbClr val="1A1A1A"/>
                </a:solidFill>
                <a:latin typeface="Palatino"/>
              </a:rPr>
              <a:t>A 15 minute chart of the SPDR Gold Trust Shares headed gaps as support and resistance: horizontal lines drawn from each gap, parallel dashed lines showing angular symmetry in GLD, and a cycle-tuned stochastic below with its extremes circled.</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4" name="TextBox 13"/>
          <p:cNvSpPr txBox="1"/>
          <p:nvPr/>
        </p:nvSpPr>
        <p:spPr>
          <a:xfrm>
            <a:off x="5669279" y="5650992"/>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5.57 - Lim, The Handbook of Technical Analysis (Wiley, 2016)</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pp.167-168, Figure 5.57, kept for completeness; no reason given why a gap becomes a barrier.</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gap as support, and a gap as resistance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4 of 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Each gold band is the price range a gap skipped, carried forward in time.</a:t>
            </a:r>
          </a:p>
          <a:p>
            <a:pPr algn="l">
              <a:lnSpc>
                <a:spcPct val="105000"/>
              </a:lnSpc>
              <a:spcBef>
                <a:spcPts val="0"/>
              </a:spcBef>
              <a:spcAft>
                <a:spcPts val="1100"/>
              </a:spcAft>
            </a:pPr>
            <a:r>
              <a:rPr sz="1700" b="0" i="0">
                <a:solidFill>
                  <a:srgbClr val="1A1A1A"/>
                </a:solidFill>
                <a:latin typeface="Arial"/>
              </a:rPr>
              <a:t>Left: price gaps up and climbs. When it returns from above, the gap area holds it: support.</a:t>
            </a:r>
          </a:p>
          <a:p>
            <a:pPr algn="l">
              <a:lnSpc>
                <a:spcPct val="105000"/>
              </a:lnSpc>
              <a:spcBef>
                <a:spcPts val="0"/>
              </a:spcBef>
              <a:spcAft>
                <a:spcPts val="1100"/>
              </a:spcAft>
            </a:pPr>
            <a:r>
              <a:rPr sz="1700" b="0" i="0">
                <a:solidFill>
                  <a:srgbClr val="1A1A1A"/>
                </a:solidFill>
                <a:latin typeface="Arial"/>
              </a:rPr>
              <a:t>Right: price gaps down and falls. When it returns from below, the gap area stops it: resistance.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From above, a gap is support. From below, resistance.</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says area, and does not say which edge of the gap holds.</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s.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AS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sentence (p.167) on invented prices, because the gaps on its Figure 5.57 are too small to see. It gives no reason why a gap holds.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19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Retracements and gaps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Both Gann and Dow regarded which retracement percentage as the most significant?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33 percent</a:t>
            </a:r>
          </a:p>
          <a:p>
            <a:pPr algn="l">
              <a:lnSpc>
                <a:spcPct val="112000"/>
              </a:lnSpc>
              <a:spcBef>
                <a:spcPts val="0"/>
              </a:spcBef>
              <a:spcAft>
                <a:spcPts val="900"/>
              </a:spcAft>
            </a:pPr>
            <a:r>
              <a:rPr sz="1500" b="0" i="0">
                <a:solidFill>
                  <a:srgbClr val="FFFFFF"/>
                </a:solidFill>
                <a:latin typeface="Arial"/>
              </a:rPr>
              <a:t>B.  38.2 percent</a:t>
            </a:r>
          </a:p>
          <a:p>
            <a:pPr algn="l">
              <a:lnSpc>
                <a:spcPct val="112000"/>
              </a:lnSpc>
              <a:spcBef>
                <a:spcPts val="0"/>
              </a:spcBef>
              <a:spcAft>
                <a:spcPts val="900"/>
              </a:spcAft>
            </a:pPr>
            <a:r>
              <a:rPr sz="1500" b="0" i="0">
                <a:solidFill>
                  <a:srgbClr val="FFFFFF"/>
                </a:solidFill>
                <a:latin typeface="Arial"/>
              </a:rPr>
              <a:t>C.  50 percent</a:t>
            </a:r>
          </a:p>
          <a:p>
            <a:pPr algn="l">
              <a:lnSpc>
                <a:spcPct val="112000"/>
              </a:lnSpc>
              <a:spcBef>
                <a:spcPts val="0"/>
              </a:spcBef>
              <a:spcAft>
                <a:spcPts val="900"/>
              </a:spcAft>
            </a:pPr>
            <a:r>
              <a:rPr sz="1500" b="0" i="0">
                <a:solidFill>
                  <a:srgbClr val="FFFFFF"/>
                </a:solidFill>
                <a:latin typeface="Arial"/>
              </a:rPr>
              <a:t>D.  61.8 percent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gap created as price leaves a consolidation or chart pattern is a:</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Breakaway gap</a:t>
            </a:r>
          </a:p>
          <a:p>
            <a:pPr algn="l">
              <a:lnSpc>
                <a:spcPct val="112000"/>
              </a:lnSpc>
              <a:spcBef>
                <a:spcPts val="0"/>
              </a:spcBef>
              <a:spcAft>
                <a:spcPts val="900"/>
              </a:spcAft>
            </a:pPr>
            <a:r>
              <a:rPr sz="1500" b="0" i="0">
                <a:solidFill>
                  <a:srgbClr val="FFFFFF"/>
                </a:solidFill>
                <a:latin typeface="Arial"/>
              </a:rPr>
              <a:t>B.  Common gap</a:t>
            </a:r>
          </a:p>
          <a:p>
            <a:pPr algn="l">
              <a:lnSpc>
                <a:spcPct val="112000"/>
              </a:lnSpc>
              <a:spcBef>
                <a:spcPts val="0"/>
              </a:spcBef>
              <a:spcAft>
                <a:spcPts val="900"/>
              </a:spcAft>
            </a:pPr>
            <a:r>
              <a:rPr sz="1500" b="0" i="0">
                <a:solidFill>
                  <a:srgbClr val="FFFFFF"/>
                </a:solidFill>
                <a:latin typeface="Arial"/>
              </a:rPr>
              <a:t>C.  Runaway gap</a:t>
            </a:r>
          </a:p>
          <a:p>
            <a:pPr algn="l">
              <a:lnSpc>
                <a:spcPct val="112000"/>
              </a:lnSpc>
              <a:spcBef>
                <a:spcPts val="0"/>
              </a:spcBef>
              <a:spcAft>
                <a:spcPts val="900"/>
              </a:spcAft>
            </a:pPr>
            <a:r>
              <a:rPr sz="1500" b="0" i="0">
                <a:solidFill>
                  <a:srgbClr val="FFFFFF"/>
                </a:solidFill>
                <a:latin typeface="Arial"/>
              </a:rPr>
              <a:t>D.  Exhaustion gap</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8 of 11 - 5.8 Gaps  |  Check 19</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Retracements and gaps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Both Gann and Dow regarded which retracement percentage as the most significant?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50 percent</a:t>
            </a:r>
          </a:p>
          <a:p>
            <a:pPr algn="l">
              <a:lnSpc>
                <a:spcPct val="115000"/>
              </a:lnSpc>
              <a:spcBef>
                <a:spcPts val="700"/>
              </a:spcBef>
              <a:spcAft>
                <a:spcPts val="0"/>
              </a:spcAft>
            </a:pPr>
            <a:r>
              <a:rPr sz="1600" b="0" i="0">
                <a:solidFill>
                  <a:srgbClr val="1A1A1A"/>
                </a:solidFill>
                <a:latin typeface="Arial"/>
              </a:rPr>
              <a:t>Both regarded 50 percent as the most significant, with most major tops and bottoms forming around that level.</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gap created as price leaves a consolidation or chart pattern is a:</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Breakaway gap</a:t>
            </a:r>
          </a:p>
          <a:p>
            <a:pPr algn="l">
              <a:lnSpc>
                <a:spcPct val="115000"/>
              </a:lnSpc>
              <a:spcBef>
                <a:spcPts val="700"/>
              </a:spcBef>
              <a:spcAft>
                <a:spcPts val="0"/>
              </a:spcAft>
            </a:pPr>
            <a:r>
              <a:rPr sz="1600" b="0" i="0">
                <a:solidFill>
                  <a:srgbClr val="1A1A1A"/>
                </a:solidFill>
                <a:latin typeface="Arial"/>
              </a:rPr>
              <a:t>Common gaps sit within a range, runaway gaps in a strong trend phase, and exhaustion gaps at the end of a 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8 of 11 - 5.8 Gaps  |  Check 19</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5.9  Unidirectional and bidirectional entries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9 of 11 - 5.9 Directionality  |  1 of 1</a:t>
            </a:r>
          </a:p>
        </p:txBody>
      </p:sp>
      <p:sp>
        <p:nvSpPr>
          <p:cNvPr id="8" name="Rectangle 7"/>
          <p:cNvSpPr/>
          <p:nvPr/>
        </p:nvSpPr>
        <p:spPr>
          <a:xfrm>
            <a:off x="777240" y="2258568"/>
            <a:ext cx="64008" cy="460247"/>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126480" cy="5699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With the trend only, or whichever way price breaks.</a:t>
            </a:r>
          </a:p>
        </p:txBody>
      </p:sp>
      <p:sp>
        <p:nvSpPr>
          <p:cNvPr id="10" name="Rectangle 9"/>
          <p:cNvSpPr/>
          <p:nvPr/>
        </p:nvSpPr>
        <p:spPr>
          <a:xfrm>
            <a:off x="777240" y="2974847"/>
            <a:ext cx="64008" cy="123748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29128"/>
            <a:ext cx="61264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A trader takes only breakouts with the trend: long in an uptrend, short in a downtrend. Trends turn, so over time that is trading both ways, if no called-for trade is skipped.</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612648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unidirectional entry is a trade taken only in the direction of the existing trend, up or down. A bidirectional entry is a trade taken in either direction, depending on which way the breakout occurs.</a:t>
            </a:r>
          </a:p>
        </p:txBody>
      </p:sp>
      <p:sp>
        <p:nvSpPr>
          <p:cNvPr id="14" name="Rectangle 13"/>
          <p:cNvSpPr/>
          <p:nvPr/>
        </p:nvSpPr>
        <p:spPr>
          <a:xfrm>
            <a:off x="7498079" y="2157984"/>
            <a:ext cx="391637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498079" y="2157984"/>
            <a:ext cx="391637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909559" y="2615184"/>
            <a:ext cx="309341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5.58</a:t>
            </a:r>
          </a:p>
          <a:p>
            <a:pPr algn="l">
              <a:lnSpc>
                <a:spcPct val="120000"/>
              </a:lnSpc>
              <a:spcBef>
                <a:spcPts val="0"/>
              </a:spcBef>
              <a:spcAft>
                <a:spcPts val="1400"/>
              </a:spcAft>
            </a:pPr>
            <a:r>
              <a:rPr sz="1800" b="0" i="0">
                <a:solidFill>
                  <a:srgbClr val="1A1A1A"/>
                </a:solidFill>
                <a:latin typeface="Palatino"/>
              </a:rPr>
              <a:t>A price rising and falling between two levels, with longs marked only on the way up and shorts only on the way down, labelled micro-unidirectional entries, over the words equivalent to a macro-bidirectional mechanism: a buy-sell straddle, buying above one line and selling below the other.</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7498079" y="5650992"/>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5.58 -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pp.168-169, Fig. 5.58. Top: each swing traded with its short-term (micro) trend. Bottom: the same seen longer-term (macro): buy above, sell below, its straddle.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5.10  Drummond geometry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10 of 11 - 5.10 Drummond  |  1 of 2</a:t>
            </a:r>
          </a:p>
        </p:txBody>
      </p:sp>
      <p:sp>
        <p:nvSpPr>
          <p:cNvPr id="8" name="Rectangle 7"/>
          <p:cNvSpPr/>
          <p:nvPr/>
        </p:nvSpPr>
        <p:spPr>
          <a:xfrm>
            <a:off x="777240" y="2258568"/>
            <a:ext cx="64008" cy="4450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577840" cy="5547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600" b="1" i="0">
                <a:solidFill>
                  <a:srgbClr val="1A1A1A"/>
                </a:solidFill>
                <a:latin typeface="Arial"/>
              </a:rPr>
              <a:t>A way to stay on the right side of the market.</a:t>
            </a:r>
          </a:p>
        </p:txBody>
      </p:sp>
      <p:sp>
        <p:nvSpPr>
          <p:cNvPr id="10" name="Rectangle 9"/>
          <p:cNvSpPr/>
          <p:nvPr/>
        </p:nvSpPr>
        <p:spPr>
          <a:xfrm>
            <a:off x="777240" y="2959607"/>
            <a:ext cx="64008" cy="68884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2913888"/>
            <a:ext cx="5577840" cy="79857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600" b="0" i="0">
                <a:solidFill>
                  <a:srgbClr val="1A1A1A"/>
                </a:solidFill>
                <a:latin typeface="Arial"/>
              </a:rPr>
              <a:t>Price above the PLdot line: bullish. Below: bearish. Some buy when it turns up, sell when it turns down.</a:t>
            </a:r>
          </a:p>
        </p:txBody>
      </p:sp>
      <p:sp>
        <p:nvSpPr>
          <p:cNvPr id="12" name="Rectangle 11"/>
          <p:cNvSpPr/>
          <p:nvPr/>
        </p:nvSpPr>
        <p:spPr>
          <a:xfrm>
            <a:off x="777240" y="3904487"/>
            <a:ext cx="64008" cy="1664207"/>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3858768"/>
            <a:ext cx="5577840" cy="17739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600" b="0" i="0">
                <a:solidFill>
                  <a:srgbClr val="1A1A1A"/>
                </a:solidFill>
                <a:latin typeface="Arial"/>
              </a:rPr>
              <a:t>Charles Drummond's: a short-term moving average, the PLdot line, and inter-bar trendlines, which connect each bar's highs and connect each bar's lows, that forecast support and resistance. The PLdot is a simple three-period moving average of typical price, and may be forward shifted by one period.</a:t>
            </a:r>
          </a:p>
        </p:txBody>
      </p:sp>
      <p:sp>
        <p:nvSpPr>
          <p:cNvPr id="14" name="Rectangle 13"/>
          <p:cNvSpPr/>
          <p:nvPr/>
        </p:nvSpPr>
        <p:spPr>
          <a:xfrm>
            <a:off x="6949440" y="2157984"/>
            <a:ext cx="4465014"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949440" y="2157984"/>
            <a:ext cx="4465014" cy="50800"/>
          </a:xfrm>
          <a:prstGeom prst="rect">
            <a:avLst/>
          </a:prstGeom>
          <a:solidFill>
            <a:srgbClr val="F2A900"/>
          </a:solidFill>
          <a:ln>
            <a:noFill/>
          </a:ln>
          <a:effectLst/>
        </p:spPr>
        <p:txBody>
          <a:bodyPr rtlCol="0" anchor="ctr"/>
          <a:lstStyle/>
          <a:p>
            <a:pPr algn="ctr"/>
          </a:p>
        </p:txBody>
      </p:sp>
      <p:sp>
        <p:nvSpPr>
          <p:cNvPr id="16" name="TextBox 15"/>
          <p:cNvSpPr txBox="1"/>
          <p:nvPr/>
        </p:nvSpPr>
        <p:spPr>
          <a:xfrm>
            <a:off x="7360919" y="2615184"/>
            <a:ext cx="3642054" cy="2670048"/>
          </a:xfrm>
          <a:prstGeom prst="rect">
            <a:avLst/>
          </a:prstGeom>
          <a:noFill/>
        </p:spPr>
        <p:txBody>
          <a:bodyPr wrap="square" anchor="t" lIns="0" rIns="0" tIns="0" bIns="0">
            <a:spAutoFit/>
          </a:bodyPr>
          <a:lstStyle/>
          <a:p>
            <a:pPr algn="l">
              <a:lnSpc>
                <a:spcPct val="100000"/>
              </a:lnSpc>
              <a:spcBef>
                <a:spcPts val="0"/>
              </a:spcBef>
              <a:spcAft>
                <a:spcPts val="1200"/>
              </a:spcAft>
            </a:pPr>
            <a:r>
              <a:rPr sz="1400" b="1" i="0">
                <a:solidFill>
                  <a:srgbClr val="818181"/>
                </a:solidFill>
                <a:latin typeface="Arial"/>
              </a:rPr>
              <a:t>FIGURE 5.59</a:t>
            </a:r>
          </a:p>
          <a:p>
            <a:pPr algn="l">
              <a:lnSpc>
                <a:spcPct val="120000"/>
              </a:lnSpc>
              <a:spcBef>
                <a:spcPts val="0"/>
              </a:spcBef>
              <a:spcAft>
                <a:spcPts val="1400"/>
              </a:spcAft>
            </a:pPr>
            <a:r>
              <a:rPr sz="1800" b="0" i="0">
                <a:solidFill>
                  <a:srgbClr val="1A1A1A"/>
                </a:solidFill>
                <a:latin typeface="Palatino"/>
              </a:rPr>
              <a:t>A weekly EURUSD chart with a short moving average hugging price, labelled PLdot approximated by a 3-period SMA of typical price: price above the SMA is bullish, price below it is bearish, and buy when the SMA turns up and sell when it turns down.</a:t>
            </a:r>
          </a:p>
          <a:p>
            <a:pPr algn="l">
              <a:lnSpc>
                <a:spcPct val="115000"/>
              </a:lnSpc>
              <a:spcBef>
                <a:spcPts val="0"/>
              </a:spcBef>
              <a:spcAft>
                <a:spcPts val="0"/>
              </a:spcAft>
            </a:pPr>
            <a:r>
              <a:rPr sz="1200" b="0" i="1">
                <a:solidFill>
                  <a:srgbClr val="818181"/>
                </a:solidFill>
                <a:latin typeface="Arial"/>
              </a:rPr>
              <a:t>The artwork is copyrighted and is not in the public repository. Build with assets/figures/ present to place it here.</a:t>
            </a:r>
          </a:p>
        </p:txBody>
      </p:sp>
      <p:sp>
        <p:nvSpPr>
          <p:cNvPr id="17" name="TextBox 16"/>
          <p:cNvSpPr txBox="1"/>
          <p:nvPr/>
        </p:nvSpPr>
        <p:spPr>
          <a:xfrm>
            <a:off x="6949440" y="5650992"/>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5.59 - Lim, The Handbook of Technical Analysis (Wiley, 2016)</a:t>
            </a:r>
          </a:p>
        </p:txBody>
      </p:sp>
      <p:sp>
        <p:nvSpPr>
          <p:cNvPr id="18" name="TextBox 17"/>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p.169, Fig. 5.59, where the line hugs the bars too closely to see: next slide. Not explained: typical price, why three periods.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a PLdot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10 of 11 - 5.10 Drummond  |  2 of 2</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green line is a three-bar moving average: at each bar, the average of the last three.</a:t>
            </a:r>
          </a:p>
          <a:p>
            <a:pPr algn="l">
              <a:lnSpc>
                <a:spcPct val="105000"/>
              </a:lnSpc>
              <a:spcBef>
                <a:spcPts val="0"/>
              </a:spcBef>
              <a:spcAft>
                <a:spcPts val="1100"/>
              </a:spcAft>
            </a:pPr>
            <a:r>
              <a:rPr sz="1700" b="0" i="0">
                <a:solidFill>
                  <a:srgbClr val="1A1A1A"/>
                </a:solidFill>
                <a:latin typeface="Arial"/>
              </a:rPr>
              <a:t>Price above the line: the market is regarded as bullish. Below it: bearish.</a:t>
            </a:r>
          </a:p>
          <a:p>
            <a:pPr algn="l">
              <a:lnSpc>
                <a:spcPct val="105000"/>
              </a:lnSpc>
              <a:spcBef>
                <a:spcPts val="0"/>
              </a:spcBef>
              <a:spcAft>
                <a:spcPts val="1100"/>
              </a:spcAft>
            </a:pPr>
            <a:r>
              <a:rPr sz="1700" b="0" i="0">
                <a:solidFill>
                  <a:srgbClr val="1A1A1A"/>
                </a:solidFill>
                <a:latin typeface="Arial"/>
              </a:rPr>
              <a:t>Some buy when the line turns up, and sell when it turns down.</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It helps keep the trader on the right side of the market.</a:t>
            </a:r>
          </a:p>
        </p:txBody>
      </p:sp>
      <p:sp>
        <p:nvSpPr>
          <p:cNvPr id="10" name="TextBox 9"/>
          <p:cNvSpPr txBox="1"/>
          <p:nvPr/>
        </p:nvSpPr>
        <p:spPr>
          <a:xfrm>
            <a:off x="777240" y="5189220"/>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Ours averages closes, shifted forward one bar. The book's PLdot averages typical price, which this chapter does not define. Moving averages: Chapter 11.</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t.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AT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three readings of the PLdot (p.169) on invented bars, because the line cannot be seen on its Figure 5.59.</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20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Directionality and Drummond</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trade taken in either direction, depending on which way the breakout occurs, is a:</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Unidirectional entry</a:t>
            </a:r>
          </a:p>
          <a:p>
            <a:pPr algn="l">
              <a:lnSpc>
                <a:spcPct val="112000"/>
              </a:lnSpc>
              <a:spcBef>
                <a:spcPts val="0"/>
              </a:spcBef>
              <a:spcAft>
                <a:spcPts val="900"/>
              </a:spcAft>
            </a:pPr>
            <a:r>
              <a:rPr sz="1500" b="0" i="0">
                <a:solidFill>
                  <a:srgbClr val="FFFFFF"/>
                </a:solidFill>
                <a:latin typeface="Arial"/>
              </a:rPr>
              <a:t>B.  Barrier entry</a:t>
            </a:r>
          </a:p>
          <a:p>
            <a:pPr algn="l">
              <a:lnSpc>
                <a:spcPct val="112000"/>
              </a:lnSpc>
              <a:spcBef>
                <a:spcPts val="0"/>
              </a:spcBef>
              <a:spcAft>
                <a:spcPts val="900"/>
              </a:spcAft>
            </a:pPr>
            <a:r>
              <a:rPr sz="1500" b="0" i="0">
                <a:solidFill>
                  <a:srgbClr val="FFFFFF"/>
                </a:solidFill>
                <a:latin typeface="Arial"/>
              </a:rPr>
              <a:t>C.  Retracement entry</a:t>
            </a:r>
          </a:p>
          <a:p>
            <a:pPr algn="l">
              <a:lnSpc>
                <a:spcPct val="112000"/>
              </a:lnSpc>
              <a:spcBef>
                <a:spcPts val="0"/>
              </a:spcBef>
              <a:spcAft>
                <a:spcPts val="900"/>
              </a:spcAft>
            </a:pPr>
            <a:r>
              <a:rPr sz="1500" b="0" i="0">
                <a:solidFill>
                  <a:srgbClr val="FFFFFF"/>
                </a:solidFill>
                <a:latin typeface="Arial"/>
              </a:rPr>
              <a:t>D.  Bidirectional entry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Drummond geometry, price above the PLdot line means the market is regarded as:</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Bearish</a:t>
            </a:r>
          </a:p>
          <a:p>
            <a:pPr algn="l">
              <a:lnSpc>
                <a:spcPct val="112000"/>
              </a:lnSpc>
              <a:spcBef>
                <a:spcPts val="0"/>
              </a:spcBef>
              <a:spcAft>
                <a:spcPts val="900"/>
              </a:spcAft>
            </a:pPr>
            <a:r>
              <a:rPr sz="1500" b="0" i="0">
                <a:solidFill>
                  <a:srgbClr val="FFFFFF"/>
                </a:solidFill>
                <a:latin typeface="Arial"/>
              </a:rPr>
              <a:t>B.  Bullish</a:t>
            </a:r>
          </a:p>
          <a:p>
            <a:pPr algn="l">
              <a:lnSpc>
                <a:spcPct val="112000"/>
              </a:lnSpc>
              <a:spcBef>
                <a:spcPts val="0"/>
              </a:spcBef>
              <a:spcAft>
                <a:spcPts val="900"/>
              </a:spcAft>
            </a:pPr>
            <a:r>
              <a:rPr sz="1500" b="0" i="0">
                <a:solidFill>
                  <a:srgbClr val="FFFFFF"/>
                </a:solidFill>
                <a:latin typeface="Arial"/>
              </a:rPr>
              <a:t>C.  Overbought</a:t>
            </a:r>
          </a:p>
          <a:p>
            <a:pPr algn="l">
              <a:lnSpc>
                <a:spcPct val="112000"/>
              </a:lnSpc>
              <a:spcBef>
                <a:spcPts val="0"/>
              </a:spcBef>
              <a:spcAft>
                <a:spcPts val="900"/>
              </a:spcAft>
            </a:pPr>
            <a:r>
              <a:rPr sz="1500" b="0" i="0">
                <a:solidFill>
                  <a:srgbClr val="FFFFFF"/>
                </a:solidFill>
                <a:latin typeface="Arial"/>
              </a:rPr>
              <a:t>D.  In consolidation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10 of 11 - 5.10 Drummond  |  Check 20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Directionality and Drummond</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trade taken in either direction, depending on which way the breakout occurs, is a:</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Bidirectional entry</a:t>
            </a:r>
          </a:p>
          <a:p>
            <a:pPr algn="l">
              <a:lnSpc>
                <a:spcPct val="115000"/>
              </a:lnSpc>
              <a:spcBef>
                <a:spcPts val="700"/>
              </a:spcBef>
              <a:spcAft>
                <a:spcPts val="0"/>
              </a:spcAft>
            </a:pPr>
            <a:r>
              <a:rPr sz="1600" b="0" i="0">
                <a:solidFill>
                  <a:srgbClr val="1A1A1A"/>
                </a:solidFill>
                <a:latin typeface="Arial"/>
              </a:rPr>
              <a:t>A unidirectional entry is taken only in the direction of the existing trend. A bidirectional one goes whichever way the breakout does.</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Drummond geometry, price above the PLdot line means the market is regarded as: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Bullish</a:t>
            </a:r>
          </a:p>
          <a:p>
            <a:pPr algn="l">
              <a:lnSpc>
                <a:spcPct val="115000"/>
              </a:lnSpc>
              <a:spcBef>
                <a:spcPts val="700"/>
              </a:spcBef>
              <a:spcAft>
                <a:spcPts val="0"/>
              </a:spcAft>
            </a:pPr>
            <a:r>
              <a:rPr sz="1600" b="0" i="0">
                <a:solidFill>
                  <a:srgbClr val="1A1A1A"/>
                </a:solidFill>
                <a:latin typeface="Arial"/>
              </a:rPr>
              <a:t>When price is above the PLdot the market is regarded as bullish, and when it is below, bearish.</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10 of 11 - 5.10 Drummond  |  Check 20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5.11  Signs that a trend may reverse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11 of 11 - 5.11 Reversals  |  1 of 2</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Volume: diminishing volume in a trend, or extreme volume in a buying or selling climax.</a:t>
            </a:r>
          </a:p>
          <a:p>
            <a:pPr algn="l">
              <a:lnSpc>
                <a:spcPct val="105000"/>
              </a:lnSpc>
              <a:spcBef>
                <a:spcPts val="0"/>
              </a:spcBef>
              <a:spcAft>
                <a:spcPts val="1100"/>
              </a:spcAft>
            </a:pPr>
            <a:r>
              <a:rPr sz="1700" b="0" i="0">
                <a:solidFill>
                  <a:srgbClr val="1A1A1A"/>
                </a:solidFill>
                <a:latin typeface="Arial"/>
              </a:rPr>
              <a:t>Chart patterns: bearish after a strong, prolonged uptrend, bullish after a downtrend.</a:t>
            </a:r>
          </a:p>
          <a:p>
            <a:pPr algn="l">
              <a:lnSpc>
                <a:spcPct val="105000"/>
              </a:lnSpc>
              <a:spcBef>
                <a:spcPts val="0"/>
              </a:spcBef>
              <a:spcAft>
                <a:spcPts val="1100"/>
              </a:spcAft>
            </a:pPr>
            <a:r>
              <a:rPr sz="1700" b="0" i="0">
                <a:solidFill>
                  <a:srgbClr val="1A1A1A"/>
                </a:solidFill>
                <a:latin typeface="Arial"/>
              </a:rPr>
              <a:t>Cycles: peaks at tops, troughs at bottoms, or decreasing cycle amplitude or period in a trend.</a:t>
            </a:r>
          </a:p>
          <a:p>
            <a:pPr algn="l">
              <a:lnSpc>
                <a:spcPct val="105000"/>
              </a:lnSpc>
              <a:spcBef>
                <a:spcPts val="0"/>
              </a:spcBef>
              <a:spcAft>
                <a:spcPts val="1100"/>
              </a:spcAft>
            </a:pPr>
            <a:r>
              <a:rPr sz="1700" b="0" i="0">
                <a:solidFill>
                  <a:srgbClr val="1A1A1A"/>
                </a:solidFill>
                <a:latin typeface="Arial"/>
              </a:rPr>
              <a:t>Tops at significant historical resistance levels, bottoms at significant historical support levels.</a:t>
            </a:r>
          </a:p>
        </p:txBody>
      </p:sp>
      <p:sp>
        <p:nvSpPr>
          <p:cNvPr id="8" name="TextBox 7"/>
          <p:cNvSpPr txBox="1"/>
          <p:nvPr/>
        </p:nvSpPr>
        <p:spPr>
          <a:xfrm>
            <a:off x="777240" y="554583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Also a chart pattern sign: the appearance of a large broadening, diamond or island formation.</a:t>
            </a:r>
          </a:p>
        </p:txBody>
      </p:sp>
      <p:sp>
        <p:nvSpPr>
          <p:cNvPr id="9" name="Rectangle 8"/>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au.png"/>
          <p:cNvPicPr>
            <a:picLocks noChangeAspect="1"/>
          </p:cNvPicPr>
          <p:nvPr/>
        </p:nvPicPr>
        <p:blipFill>
          <a:blip r:embed="rId2"/>
          <a:stretch>
            <a:fillRect/>
          </a:stretch>
        </p:blipFill>
        <p:spPr>
          <a:xfrm>
            <a:off x="6338163" y="1929384"/>
            <a:ext cx="4956048" cy="3511296"/>
          </a:xfrm>
          <a:prstGeom prst="rect">
            <a:avLst/>
          </a:prstGeom>
        </p:spPr>
      </p:pic>
      <p:sp>
        <p:nvSpPr>
          <p:cNvPr id="11" name="TextBox 10"/>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AU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p.170. The chart is ours, on invented prices.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Reversal signs from tools taught later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11 of 11 - 5.11 Reversals  |  2 of 2</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Oscillators, Chapter 8: give overbought and oversold readings at tops and bottoms, by a method this chapter does not give.</a:t>
            </a:r>
          </a:p>
          <a:p>
            <a:pPr algn="l">
              <a:lnSpc>
                <a:spcPct val="118000"/>
              </a:lnSpc>
              <a:spcBef>
                <a:spcPts val="0"/>
              </a:spcBef>
              <a:spcAft>
                <a:spcPts val="1300"/>
              </a:spcAft>
            </a:pPr>
            <a:r>
              <a:rPr sz="2100" b="0" i="0">
                <a:solidFill>
                  <a:srgbClr val="1A1A1A"/>
                </a:solidFill>
                <a:latin typeface="Arial"/>
              </a:rPr>
              <a:t>Divergence, Chapter 9: bearish divergence with price at tops, bullish at bottoms.</a:t>
            </a:r>
          </a:p>
          <a:p>
            <a:pPr algn="l">
              <a:lnSpc>
                <a:spcPct val="118000"/>
              </a:lnSpc>
              <a:spcBef>
                <a:spcPts val="0"/>
              </a:spcBef>
              <a:spcAft>
                <a:spcPts val="1300"/>
              </a:spcAft>
            </a:pPr>
            <a:r>
              <a:rPr sz="2100" b="0" i="0">
                <a:solidFill>
                  <a:srgbClr val="1A1A1A"/>
                </a:solidFill>
                <a:latin typeface="Arial"/>
              </a:rPr>
              <a:t>Candlesticks, Chapter 14: bearish formations at tops, bullish at bottoms.</a:t>
            </a:r>
          </a:p>
          <a:p>
            <a:pPr algn="l">
              <a:lnSpc>
                <a:spcPct val="118000"/>
              </a:lnSpc>
              <a:spcBef>
                <a:spcPts val="0"/>
              </a:spcBef>
              <a:spcAft>
                <a:spcPts val="1300"/>
              </a:spcAft>
            </a:pPr>
            <a:r>
              <a:rPr sz="2100" b="0" i="0">
                <a:solidFill>
                  <a:srgbClr val="1A1A1A"/>
                </a:solidFill>
                <a:latin typeface="Arial"/>
              </a:rPr>
              <a:t>Intermarket, no chapter named: a reversal confirmed by what related or broader markets are doing at the same time, by a method this chapter does not give.</a:t>
            </a:r>
          </a:p>
        </p:txBody>
      </p:sp>
      <p:sp>
        <p:nvSpPr>
          <p:cNvPr id="8" name="TextBox 7"/>
          <p:cNvSpPr txBox="1"/>
          <p:nvPr/>
        </p:nvSpPr>
        <p:spPr>
          <a:xfrm>
            <a:off x="777240" y="521131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 summary, the book says: it explains none of these tools here. Know the names; the first three come with their own chapters. Signal line, equilibrium line and intermarket relationship: used here by name only, defined in none of this course's chapters, and added to the next slide's used-not-taught list for that reason.</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p.170. It does not say here what a signal line, an equilibrium line or an intermarket relationship is; this slide names each tool without claiming how it works.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21 OF 21</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Forecasting reversals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volume behavior tends to accompany a potential market reversal?</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Steady, average volume throughout</a:t>
            </a:r>
          </a:p>
          <a:p>
            <a:pPr algn="l">
              <a:lnSpc>
                <a:spcPct val="112000"/>
              </a:lnSpc>
              <a:spcBef>
                <a:spcPts val="0"/>
              </a:spcBef>
              <a:spcAft>
                <a:spcPts val="900"/>
              </a:spcAft>
            </a:pPr>
            <a:r>
              <a:rPr sz="1500" b="0" i="0">
                <a:solidFill>
                  <a:srgbClr val="FFFFFF"/>
                </a:solidFill>
                <a:latin typeface="Arial"/>
              </a:rPr>
              <a:t>B.  Volume rising in step with the trend</a:t>
            </a:r>
          </a:p>
          <a:p>
            <a:pPr algn="l">
              <a:lnSpc>
                <a:spcPct val="112000"/>
              </a:lnSpc>
              <a:spcBef>
                <a:spcPts val="0"/>
              </a:spcBef>
              <a:spcAft>
                <a:spcPts val="900"/>
              </a:spcAft>
            </a:pPr>
            <a:r>
              <a:rPr sz="1500" b="0" i="0">
                <a:solidFill>
                  <a:srgbClr val="FFFFFF"/>
                </a:solidFill>
                <a:latin typeface="Arial"/>
              </a:rPr>
              <a:t>C.  Diminishing volume, or extreme volume</a:t>
            </a:r>
          </a:p>
          <a:p>
            <a:pPr algn="l">
              <a:lnSpc>
                <a:spcPct val="112000"/>
              </a:lnSpc>
              <a:spcBef>
                <a:spcPts val="0"/>
              </a:spcBef>
              <a:spcAft>
                <a:spcPts val="900"/>
              </a:spcAft>
            </a:pPr>
            <a:r>
              <a:rPr sz="1500" b="0" i="0">
                <a:solidFill>
                  <a:srgbClr val="FFFFFF"/>
                </a:solidFill>
                <a:latin typeface="Arial"/>
              </a:rPr>
              <a:t>D.  None: volume has no bearing on reversals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33972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Potential market tops tend to form at:</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Significant historical resistance levels</a:t>
            </a:r>
          </a:p>
          <a:p>
            <a:pPr algn="l">
              <a:lnSpc>
                <a:spcPct val="112000"/>
              </a:lnSpc>
              <a:spcBef>
                <a:spcPts val="0"/>
              </a:spcBef>
              <a:spcAft>
                <a:spcPts val="900"/>
              </a:spcAft>
            </a:pPr>
            <a:r>
              <a:rPr sz="1500" b="0" i="0">
                <a:solidFill>
                  <a:srgbClr val="FFFFFF"/>
                </a:solidFill>
                <a:latin typeface="Arial"/>
              </a:rPr>
              <a:t>B.  Significant historical support levels</a:t>
            </a:r>
          </a:p>
          <a:p>
            <a:pPr algn="l">
              <a:lnSpc>
                <a:spcPct val="112000"/>
              </a:lnSpc>
              <a:spcBef>
                <a:spcPts val="0"/>
              </a:spcBef>
              <a:spcAft>
                <a:spcPts val="900"/>
              </a:spcAft>
            </a:pPr>
            <a:r>
              <a:rPr sz="1500" b="0" i="0">
                <a:solidFill>
                  <a:srgbClr val="FFFFFF"/>
                </a:solidFill>
                <a:latin typeface="Arial"/>
              </a:rPr>
              <a:t>C.  Cycle troughs</a:t>
            </a:r>
          </a:p>
          <a:p>
            <a:pPr algn="l">
              <a:lnSpc>
                <a:spcPct val="112000"/>
              </a:lnSpc>
              <a:spcBef>
                <a:spcPts val="0"/>
              </a:spcBef>
              <a:spcAft>
                <a:spcPts val="900"/>
              </a:spcAft>
            </a:pPr>
            <a:r>
              <a:rPr sz="1500" b="0" i="0">
                <a:solidFill>
                  <a:srgbClr val="FFFFFF"/>
                </a:solidFill>
                <a:latin typeface="Arial"/>
              </a:rPr>
              <a:t>D.  Oversold oscillator signals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11 of 11 - 5.11 Reversals  |  Check 21</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Forecasting reversals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volume behavior tends to accompany a potential market reversal?</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Diminishing volume, or extreme volume</a:t>
            </a:r>
          </a:p>
          <a:p>
            <a:pPr algn="l">
              <a:lnSpc>
                <a:spcPct val="115000"/>
              </a:lnSpc>
              <a:spcBef>
                <a:spcPts val="700"/>
              </a:spcBef>
              <a:spcAft>
                <a:spcPts val="0"/>
              </a:spcAft>
            </a:pPr>
            <a:r>
              <a:rPr sz="1600" b="0" i="0">
                <a:solidFill>
                  <a:srgbClr val="1A1A1A"/>
                </a:solidFill>
                <a:latin typeface="Arial"/>
              </a:rPr>
              <a:t>Diminishing volume indicates potential weakness in the trend, and buying or selling climaxes are indicative of market tops and bottoms.</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Potential market tops tend to form at:</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Significant historical resistance levels</a:t>
            </a:r>
          </a:p>
          <a:p>
            <a:pPr algn="l">
              <a:lnSpc>
                <a:spcPct val="115000"/>
              </a:lnSpc>
              <a:spcBef>
                <a:spcPts val="700"/>
              </a:spcBef>
              <a:spcAft>
                <a:spcPts val="0"/>
              </a:spcAft>
            </a:pPr>
            <a:r>
              <a:rPr sz="1600" b="0" i="0">
                <a:solidFill>
                  <a:srgbClr val="1A1A1A"/>
                </a:solidFill>
                <a:latin typeface="Arial"/>
              </a:rPr>
              <a:t>Tops tend to form at significant historical resistance levels, and bottoms at significant historical support levels.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11 of 11 - 5.11 Reversals  |  Check 21</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5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Dow defines a trend by its peaks and troughs, and every definition has limits.</a:t>
            </a:r>
          </a:p>
          <a:p>
            <a:pPr algn="l">
              <a:lnSpc>
                <a:spcPct val="118000"/>
              </a:lnSpc>
              <a:spcBef>
                <a:spcPts val="0"/>
              </a:spcBef>
              <a:spcAft>
                <a:spcPts val="1300"/>
              </a:spcAft>
            </a:pPr>
            <a:r>
              <a:rPr sz="2100" b="0" i="0">
                <a:solidFill>
                  <a:srgbClr val="1A1A1A"/>
                </a:solidFill>
                <a:latin typeface="Arial"/>
              </a:rPr>
              <a:t>Sixteen price characteristics show a trend's quality: watch each for a change.</a:t>
            </a:r>
          </a:p>
          <a:p>
            <a:pPr algn="l">
              <a:lnSpc>
                <a:spcPct val="118000"/>
              </a:lnSpc>
              <a:spcBef>
                <a:spcPts val="0"/>
              </a:spcBef>
              <a:spcAft>
                <a:spcPts val="1300"/>
              </a:spcAft>
            </a:pPr>
            <a:r>
              <a:rPr sz="2100" b="0" i="0">
                <a:solidFill>
                  <a:srgbClr val="1A1A1A"/>
                </a:solidFill>
                <a:latin typeface="Arial"/>
              </a:rPr>
              <a:t>Filters, orders, stops and tradesize settle how a trend is entered and exited.</a:t>
            </a:r>
          </a:p>
          <a:p>
            <a:pPr algn="l">
              <a:lnSpc>
                <a:spcPct val="118000"/>
              </a:lnSpc>
              <a:spcBef>
                <a:spcPts val="0"/>
              </a:spcBef>
              <a:spcAft>
                <a:spcPts val="1300"/>
              </a:spcAft>
            </a:pPr>
            <a:r>
              <a:rPr sz="2100" b="0" i="0">
                <a:solidFill>
                  <a:srgbClr val="1A1A1A"/>
                </a:solidFill>
                <a:latin typeface="Arial"/>
              </a:rPr>
              <a:t>Trendlines, channels and fan lines are barriers: support, resistance, targets.</a:t>
            </a:r>
          </a:p>
          <a:p>
            <a:pPr algn="l">
              <a:lnSpc>
                <a:spcPct val="118000"/>
              </a:lnSpc>
              <a:spcBef>
                <a:spcPts val="0"/>
              </a:spcBef>
              <a:spcAft>
                <a:spcPts val="1300"/>
              </a:spcAft>
            </a:pPr>
            <a:r>
              <a:rPr sz="2100" b="0" i="0">
                <a:solidFill>
                  <a:srgbClr val="1A1A1A"/>
                </a:solidFill>
                <a:latin typeface="Arial"/>
              </a:rPr>
              <a:t>Retracement levels, gaps and the signs in 5.11 help locate a reversal.</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book's own summary: pay particular attention to the 16 characteristics.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p.171: its summary is three sentences. These five are ours, of the whole chapter.</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What is a trend? Explain the disadvantages of defining market and price action.</a:t>
            </a:r>
          </a:p>
          <a:p>
            <a:pPr algn="l">
              <a:lnSpc>
                <a:spcPct val="118000"/>
              </a:lnSpc>
              <a:spcBef>
                <a:spcPts val="0"/>
              </a:spcBef>
              <a:spcAft>
                <a:spcPts val="1300"/>
              </a:spcAft>
            </a:pPr>
            <a:r>
              <a:rPr sz="2100" b="0" i="0">
                <a:solidFill>
                  <a:srgbClr val="1A1A1A"/>
                </a:solidFill>
                <a:latin typeface="Arial"/>
              </a:rPr>
              <a:t>What are the early indications of a potential reversal?</a:t>
            </a:r>
          </a:p>
          <a:p>
            <a:pPr algn="l">
              <a:lnSpc>
                <a:spcPct val="118000"/>
              </a:lnSpc>
              <a:spcBef>
                <a:spcPts val="0"/>
              </a:spcBef>
              <a:spcAft>
                <a:spcPts val="1300"/>
              </a:spcAft>
            </a:pPr>
            <a:r>
              <a:rPr sz="2100" b="0" i="0">
                <a:solidFill>
                  <a:srgbClr val="1A1A1A"/>
                </a:solidFill>
                <a:latin typeface="Arial"/>
              </a:rPr>
              <a:t>Briefly describe the ways in which price action may be understood.</a:t>
            </a:r>
          </a:p>
          <a:p>
            <a:pPr algn="l">
              <a:lnSpc>
                <a:spcPct val="118000"/>
              </a:lnSpc>
              <a:spcBef>
                <a:spcPts val="0"/>
              </a:spcBef>
              <a:spcAft>
                <a:spcPts val="1300"/>
              </a:spcAft>
            </a:pPr>
            <a:r>
              <a:rPr sz="2100" b="0" i="0">
                <a:solidFill>
                  <a:srgbClr val="1A1A1A"/>
                </a:solidFill>
                <a:latin typeface="Arial"/>
              </a:rPr>
              <a:t>How can channel analysis help pinpoint potential reversals and continuations?</a:t>
            </a:r>
          </a:p>
          <a:p>
            <a:pPr algn="l">
              <a:lnSpc>
                <a:spcPct val="118000"/>
              </a:lnSpc>
              <a:spcBef>
                <a:spcPts val="0"/>
              </a:spcBef>
              <a:spcAft>
                <a:spcPts val="1300"/>
              </a:spcAft>
            </a:pPr>
            <a:r>
              <a:rPr sz="2100" b="0" i="0">
                <a:solidFill>
                  <a:srgbClr val="1A1A1A"/>
                </a:solidFill>
                <a:latin typeface="Arial"/>
              </a:rPr>
              <a:t>What are the factors that impact trendline reliability?</a:t>
            </a:r>
          </a:p>
          <a:p>
            <a:pPr algn="l">
              <a:lnSpc>
                <a:spcPct val="118000"/>
              </a:lnSpc>
              <a:spcBef>
                <a:spcPts val="0"/>
              </a:spcBef>
              <a:spcAft>
                <a:spcPts val="1300"/>
              </a:spcAft>
            </a:pPr>
            <a:r>
              <a:rPr sz="2100" b="0" i="0">
                <a:solidFill>
                  <a:srgbClr val="1A1A1A"/>
                </a:solidFill>
                <a:latin typeface="Arial"/>
              </a:rPr>
              <a:t>The advantages of proportional sizing? Of price-based over time and algorithmic filters?</a:t>
            </a:r>
          </a:p>
        </p:txBody>
      </p:sp>
      <p:sp>
        <p:nvSpPr>
          <p:cNvPr id="8" name="TextBox 7"/>
          <p:cNvSpPr txBox="1"/>
          <p:nvPr/>
        </p:nvSpPr>
        <p:spPr>
          <a:xfrm>
            <a:off x="777240" y="557707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book's eight questions, on six lines. Its question 4, line three here, says 12 ways; 5.2 lists 16.</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p.171.</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book uses, and where it says two things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5 -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Never defined here: breakout, wave cycle, wave degree, stopsize.</a:t>
            </a:r>
          </a:p>
          <a:p>
            <a:pPr algn="l">
              <a:lnSpc>
                <a:spcPct val="118000"/>
              </a:lnSpc>
              <a:spcBef>
                <a:spcPts val="0"/>
              </a:spcBef>
              <a:spcAft>
                <a:spcPts val="1300"/>
              </a:spcAft>
            </a:pPr>
            <a:r>
              <a:rPr sz="2100" b="0" i="0">
                <a:solidFill>
                  <a:srgbClr val="1A1A1A"/>
                </a:solidFill>
                <a:latin typeface="Arial"/>
              </a:rPr>
              <a:t>Used, not taught: typical price, overbought, oversold, signal line, equilibrium line, intermarket relationship, MACD.</a:t>
            </a:r>
          </a:p>
          <a:p>
            <a:pPr algn="l">
              <a:lnSpc>
                <a:spcPct val="118000"/>
              </a:lnSpc>
              <a:spcBef>
                <a:spcPts val="0"/>
              </a:spcBef>
              <a:spcAft>
                <a:spcPts val="1300"/>
              </a:spcAft>
            </a:pPr>
            <a:r>
              <a:rPr sz="2100" b="0" i="0">
                <a:solidFill>
                  <a:srgbClr val="1A1A1A"/>
                </a:solidFill>
                <a:latin typeface="Arial"/>
              </a:rPr>
              <a:t>Sent ahead, by chapter: oscillators 8, divergence 9, Fibonacci 10, moving averages 11, candlesticks 14, Elliott 18, Gann 19.</a:t>
            </a:r>
          </a:p>
          <a:p>
            <a:pPr algn="l">
              <a:lnSpc>
                <a:spcPct val="118000"/>
              </a:lnSpc>
              <a:spcBef>
                <a:spcPts val="0"/>
              </a:spcBef>
              <a:spcAft>
                <a:spcPts val="1300"/>
              </a:spcAft>
            </a:pPr>
            <a:r>
              <a:rPr sz="2100" b="0" i="0">
                <a:solidFill>
                  <a:srgbClr val="1A1A1A"/>
                </a:solidFill>
                <a:latin typeface="Arial"/>
              </a:rPr>
              <a:t>Two answers: 16 characteristics, taught, or 12; 5 ways to enter, listed, or 4; Gold's rate, $3.30 or $3.80.</a:t>
            </a:r>
          </a:p>
        </p:txBody>
      </p:sp>
      <p:sp>
        <p:nvSpPr>
          <p:cNvPr id="8" name="Rectangle 7"/>
          <p:cNvSpPr/>
          <p:nvPr/>
        </p:nvSpPr>
        <p:spPr>
          <a:xfrm>
            <a:off x="777240" y="521131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4789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Where the book disagrees with itself, the slide says so.</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of the main ones, drawn from the chapter's slides. The numbers after Sent ahead are the book's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5 - Trend Analysis</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