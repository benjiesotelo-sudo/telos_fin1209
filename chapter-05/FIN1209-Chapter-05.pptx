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a:p>
            <a:r>
              <a:rPr sz="1400"/>
              <a:t>- A degree is not an angle and not a fixed size: it only says which of two waves is the bigger. The reading rests on the book's figures and its words larger, smaller and subwave; Chapters 3 and 4 used the words and explained neither.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wave cycles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price is made up, and how. Nothing on the next slides is a measurement of a market; it is a price we built so that the three cycles can be seen.</a:t>
            </a:r>
          </a:p>
          <a:p>
            <a:r>
              <a:rPr sz="1400"/>
              <a:t>- Read the four drawings in order: big, medium, small, then the sum. All four are to one scale, so the small wave really is that small.</a:t>
            </a:r>
          </a:p>
          <a:p>
            <a:r>
              <a:rPr sz="1400"/>
              <a:t>- The numbers were picked for the picture. Three medium swings fit in the big one and four small swings in a medium one. Any clearly different sizes would have done.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a student asks of the book's figure is what the three lines are. The thin one is price. The other two are drawn over price to show its bigger swings.</a:t>
            </a:r>
          </a:p>
          <a:p>
            <a:r>
              <a:rPr sz="1400"/>
              <a:t>- Why draw them at all: the book calls it critical that a trader be able to visualize price cycles on the chart. Its figures are freehand sketches, with no bars and no price axis.</a:t>
            </a:r>
          </a:p>
          <a:p>
            <a:r>
              <a:rPr sz="1400"/>
              <a:t>- Be plain that the book stops there. It names no indicator and gives no length, so do not say the lines are moving averages of any period.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rulers from the top: each swing is longer and taller than the one above it. Four small swings fit in a medium one, and three medium swings in the big one.</a:t>
            </a:r>
          </a:p>
          <a:p>
            <a:r>
              <a:rPr sz="1400"/>
              <a:t>- Each degree also has its own average size of swing. The book's words are the average wave amplitude and volatility associated with that particular wave degree, and they come up with breakouts in a moment.</a:t>
            </a:r>
          </a:p>
          <a:p>
            <a:r>
              <a:rPr sz="1400"/>
              <a:t>- Chapter 9 comes back to wave degrees and says the relationship between them is relative. Chapter 18 gives Elliott's named degrees. Neither is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four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 and says mode where Chapter 4 said phase.</a:t>
            </a:r>
          </a:p>
          <a:p>
            <a:r>
              <a:rPr sz="1400"/>
              <a:t>- Chapter 4's consolidation phase was the sideways stretch, one of only two basic phases. Nothing there is withdrawn; this chapter adds that the phase depends on the wave being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the book's sketch, on bars. Point at the gold arrow first: along it every small swing ends higher than the last, an uptrend to anyone trading the bars.</a:t>
            </a:r>
          </a:p>
          <a:p>
            <a:r>
              <a:rPr sz="1400"/>
              <a:t>- Then the dotted line: up to 66, down to 54, three times over. To the trader of that wave nothing has happened.</a:t>
            </a:r>
          </a:p>
          <a:p>
            <a:r>
              <a:rPr sz="1400"/>
              <a:t>- Then the thick line. Three traders, one chart, three true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and it is here because the word is about to be used more widely. Chapter 2's line and Chapter 4's consolidation both ended in a breakout from a range.</a:t>
            </a:r>
          </a:p>
          <a:p>
            <a:r>
              <a:rPr sz="1400"/>
              <a:t>- The chart is Chapter 4's own example again: a share ranging between PHP 40 and PHP 44. The gold line is the top of the range, and the breakout is where price gets through it.</a:t>
            </a:r>
          </a:p>
          <a:p>
            <a:r>
              <a:rPr sz="1400"/>
              <a:t>- Ask the room what the breakout was a breakout of. The answer to hold on to is a level: the top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reconciles the two uses. A breakout is price getting through a level that was holding it. The top of a range is such a level, and so is a prior peak, a trendline or a channel line.</a:t>
            </a:r>
          </a:p>
          <a:p>
            <a:r>
              <a:rPr sz="1400"/>
              <a:t>- It is not new to this chapter either. Chapter 1's price filter asked price to move a set distance past the level, and Chapter 3's breakout level was 10.00.</a:t>
            </a:r>
          </a:p>
          <a:p>
            <a:r>
              <a:rPr sz="1400"/>
              <a:t>- Be straight that the definition is ours, from use. The book says breakout, penetration, violation and breach of a level and never sets one against another; in Chapter 2 it wrote inflection point breakouts for what it had called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horizontal line across a peak, and each is a breakout to somebody.</a:t>
            </a:r>
          </a:p>
          <a:p>
            <a:r>
              <a:rPr sz="1400"/>
              <a:t>- Each wave cycle has peaks of its own, so each has levels of its own. That is read off the figure; the three lines are the book's sentences.</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traders watch one price. Each is waiting for a different gold line, and each calls a different bar the breakout.</a:t>
            </a:r>
          </a:p>
          <a:p>
            <a:r>
              <a:rPr sz="1400"/>
              <a:t>- Then the link back. This section has just said a market can trend at one degree and consolidate at another. The long stretch under the top is that: a fall and a recovery to one trader, a sideways range to a trader of a larger wave.</a:t>
            </a:r>
          </a:p>
          <a:p>
            <a:r>
              <a:rPr sz="1400"/>
              <a:t>- So nothing taught in Chapters 2 and 4 is withdrawn. A breakout from a range is a breakout through a level, at the degree where the range can be seen.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two sentences, one after the other on the same bars: all subwaves of the largest wave reverse together, and waves of higher degrees need not reverse when waves of lower degrees do.</a:t>
            </a:r>
          </a:p>
          <a:p>
            <a:r>
              <a:rPr sz="1400"/>
              <a:t>- Left mark: the dotted line and the bars turn down and the thick line keeps rising. Middle mark: only the bars turn. Gold mark: all three.</a:t>
            </a:r>
          </a:p>
          <a:p>
            <a:r>
              <a:rPr sz="1400"/>
              <a:t>- Chapter 3 used convergence for futures and spot prices at expiry. Same word, a different thing, and the caption says so.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Chapter 3 gave the true range: the greater of the bar's range and the distance from the last close. That is why the ATR sees gaps. How it is averaged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the book's next figure prints the formula. The pesos are ours.</a:t>
            </a:r>
          </a:p>
          <a:p>
            <a:r>
              <a:rPr sz="1400"/>
              <a:t>- Read the three bars left to right. The bar is the same height each time; only the right tick, the close, moves down it, and the ratio falls from 0.80 to 0.20.</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That is the characteristic: the ratio falling in an uptrend.</a:t>
            </a:r>
          </a:p>
          <a:p>
            <a:r>
              <a:rPr sz="1400"/>
              <a:t>- The lower panel is the ratio itself, bar by bar, sliding down.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figure's labels and stop. Chapter 4 showed one divergence and did not define it. What divergence is, formally, waits for Chapter 9.</a:t>
            </a:r>
          </a:p>
          <a:p>
            <a:r>
              <a:rPr sz="1400"/>
              <a:t>- A simple moving average is used here and not built.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Two of this chapter's figures have already labelled divergences, and Chapter 4 showed one on the MACD. That is as far as the book has taken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taught the price, time and algorithmic filters as terms.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a:t>
            </a:r>
          </a:p>
          <a:p>
            <a:r>
              <a:rPr sz="1400"/>
              <a:t>- The limit exit is the profit-take, or take profit, order. Under gapping price action it can exit with greater profit.</a:t>
            </a:r>
          </a:p>
          <a:p>
            <a:r>
              <a:rPr sz="1400"/>
              <a:t>- Negative slippage may sometimes occur when placing market orders.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Chapter 4 said the book uses whipsaw without defining it, and it still does.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retracement percentage is a share of the move being retraced, as in Chapter 2.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its seven learning objectives, on six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slide: the book page it comes from, and whose the numbers are. Lettered charts are ours, on invented prices, drawn where the book gives only words.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sections are the book's own, pp.125 to 170.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Dow Theory, trends are classified and defined by their duration and extent.</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the primary trend, the secondary reaction and the minor 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The chart is ours, on invented prices: the book has no figure of the three trends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represented by a series of successively higher highs, the peaks, and lows, the troughs.</a:t>
            </a:r>
          </a:p>
          <a:p>
            <a:pPr algn="l">
              <a:lnSpc>
                <a:spcPct val="105000"/>
              </a:lnSpc>
              <a:spcBef>
                <a:spcPts val="0"/>
              </a:spcBef>
              <a:spcAft>
                <a:spcPts val="1100"/>
              </a:spcAft>
            </a:pPr>
            <a:r>
              <a:rPr sz="1700" b="0" i="0">
                <a:solidFill>
                  <a:srgbClr val="1A1A1A"/>
                </a:solidFill>
                <a:latin typeface="Arial"/>
              </a:rPr>
              <a:t>Each rally carries above the last peak: a higher high, HH.</a:t>
            </a:r>
          </a:p>
          <a:p>
            <a:pPr algn="l">
              <a:lnSpc>
                <a:spcPct val="105000"/>
              </a:lnSpc>
              <a:spcBef>
                <a:spcPts val="0"/>
              </a:spcBef>
              <a:spcAft>
                <a:spcPts val="1100"/>
              </a:spcAft>
            </a:pPr>
            <a:r>
              <a:rPr sz="1700" b="0" i="0">
                <a:solidFill>
                  <a:srgbClr val="1A1A1A"/>
                </a:solidFill>
                <a:latin typeface="Arial"/>
              </a:rPr>
              <a:t>Each dip holds above the last trough: a higher low, HL.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5.1. The pesos in the small print are our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21</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downtrend is represented by a series of successively lower highs and lows.</a:t>
            </a:r>
          </a:p>
          <a:p>
            <a:pPr algn="l">
              <a:lnSpc>
                <a:spcPct val="105000"/>
              </a:lnSpc>
              <a:spcBef>
                <a:spcPts val="0"/>
              </a:spcBef>
              <a:spcAft>
                <a:spcPts val="1100"/>
              </a:spcAft>
            </a:pPr>
            <a:r>
              <a:rPr sz="2000" b="0" i="0">
                <a:solidFill>
                  <a:srgbClr val="1A1A1A"/>
                </a:solidFill>
                <a:latin typeface="Arial"/>
              </a:rPr>
              <a:t>Each rally stops below the last peak: a lower high, LH.</a:t>
            </a:r>
          </a:p>
          <a:p>
            <a:pPr algn="l">
              <a:lnSpc>
                <a:spcPct val="105000"/>
              </a:lnSpc>
              <a:spcBef>
                <a:spcPts val="0"/>
              </a:spcBef>
              <a:spcAft>
                <a:spcPts val="1100"/>
              </a:spcAft>
            </a:pPr>
            <a:r>
              <a:rPr sz="2000" b="0" i="0">
                <a:solidFill>
                  <a:srgbClr val="1A1A1A"/>
                </a:solidFill>
                <a:latin typeface="Arial"/>
              </a:rPr>
              <a:t>Each decline carries below the last trough: a lower low, LL.</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no higher highs or lows. Scenario 4 has no highs or lows at all.</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Erratic or chaotic price action can also make peaks and troughs extremely hard to identify.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pp.126-127 and Figure 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 avoid depending on how price behaves, many practitioners use other means:</a:t>
            </a:r>
          </a:p>
          <a:p>
            <a:pPr algn="l">
              <a:lnSpc>
                <a:spcPct val="105000"/>
              </a:lnSpc>
              <a:spcBef>
                <a:spcPts val="0"/>
              </a:spcBef>
              <a:spcAft>
                <a:spcPts val="1100"/>
              </a:spcAft>
            </a:pPr>
            <a:r>
              <a:rPr sz="1700" b="0" i="0">
                <a:solidFill>
                  <a:srgbClr val="1A1A1A"/>
                </a:solidFill>
                <a:latin typeface="Arial"/>
              </a:rPr>
              <a:t>Price remaining above or below an overlay indicator: a trendline, a moving average.</a:t>
            </a:r>
          </a:p>
          <a:p>
            <a:pPr algn="l">
              <a:lnSpc>
                <a:spcPct val="105000"/>
              </a:lnSpc>
              <a:spcBef>
                <a:spcPts val="0"/>
              </a:spcBef>
              <a:spcAft>
                <a:spcPts val="1100"/>
              </a:spcAft>
            </a:pPr>
            <a:r>
              <a:rPr sz="1700" b="0" i="0">
                <a:solidFill>
                  <a:srgbClr val="1A1A1A"/>
                </a:solidFill>
                <a:latin typeface="Arial"/>
              </a:rPr>
              <a:t>Price remaining above or below an arbitrarily chosen price level.</a:t>
            </a:r>
          </a:p>
          <a:p>
            <a:pPr algn="l">
              <a:lnSpc>
                <a:spcPct val="105000"/>
              </a:lnSpc>
              <a:spcBef>
                <a:spcPts val="0"/>
              </a:spcBef>
              <a:spcAft>
                <a:spcPts val="1100"/>
              </a:spcAft>
            </a:pPr>
            <a:r>
              <a:rPr sz="1700" b="0" i="0">
                <a:solidFill>
                  <a:srgbClr val="1A1A1A"/>
                </a:solidFill>
                <a:latin typeface="Arial"/>
              </a:rPr>
              <a:t>The absence of a reversal of a specified amount: Point and Figure, Renko.</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absolute measure: the distance traversed, not the behavior of price.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pp.127-128 and Figure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moves in swings, up and back down. The book calls a swing a wave cycle.</a:t>
            </a:r>
          </a:p>
          <a:p>
            <a:pPr algn="l">
              <a:lnSpc>
                <a:spcPct val="105000"/>
              </a:lnSpc>
              <a:spcBef>
                <a:spcPts val="0"/>
              </a:spcBef>
              <a:spcAft>
                <a:spcPts val="1100"/>
              </a:spcAft>
            </a:pPr>
            <a:r>
              <a:rPr sz="1700" b="0" i="0">
                <a:solidFill>
                  <a:srgbClr val="1A1A1A"/>
                </a:solidFill>
                <a:latin typeface="Arial"/>
              </a:rPr>
              <a:t>Small swings ride inside bigger ones. The smaller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swing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which exist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p.128 says wave cycle, wave degree and subwave and defines none of them. The reading and the chart are ours, from its Figures 5.5 to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pp.128-129 and Figure 5.5. It gives the minimum of two degrees as a note, with no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invented price, built from three waves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sketches wave cycles with no prices. To show them on price bars we invented a price.</a:t>
            </a:r>
          </a:p>
          <a:p>
            <a:pPr algn="l">
              <a:lnSpc>
                <a:spcPct val="105000"/>
              </a:lnSpc>
              <a:spcBef>
                <a:spcPts val="0"/>
              </a:spcBef>
              <a:spcAft>
                <a:spcPts val="1100"/>
              </a:spcAft>
            </a:pPr>
            <a:r>
              <a:rPr sz="1700" b="0" i="0">
                <a:solidFill>
                  <a:srgbClr val="1A1A1A"/>
                </a:solidFill>
                <a:latin typeface="Arial"/>
              </a:rPr>
              <a:t>It is three waves added together: big, medium and small, plus a little random noise.</a:t>
            </a:r>
          </a:p>
          <a:p>
            <a:pPr algn="l">
              <a:lnSpc>
                <a:spcPct val="105000"/>
              </a:lnSpc>
              <a:spcBef>
                <a:spcPts val="0"/>
              </a:spcBef>
              <a:spcAft>
                <a:spcPts val="1100"/>
              </a:spcAft>
            </a:pPr>
            <a:r>
              <a:rPr sz="1700" b="0" i="0">
                <a:solidFill>
                  <a:srgbClr val="1A1A1A"/>
                </a:solidFill>
                <a:latin typeface="Arial"/>
              </a:rPr>
              <a:t>Our sizes, for one swing of each: 96 bars and PHP 24, 32 bars and PHP 12, 8 bars and PHP 6.</a:t>
            </a:r>
          </a:p>
          <a:p>
            <a:pPr algn="l">
              <a:lnSpc>
                <a:spcPct val="105000"/>
              </a:lnSpc>
              <a:spcBef>
                <a:spcPts val="0"/>
              </a:spcBef>
              <a:spcAft>
                <a:spcPts val="1100"/>
              </a:spcAft>
            </a:pPr>
            <a:r>
              <a:rPr sz="1700" b="0" i="0">
                <a:solidFill>
                  <a:srgbClr val="1A1A1A"/>
                </a:solidFill>
                <a:latin typeface="Arial"/>
              </a:rPr>
              <a:t>Why: each is three or four times as long as the next and twice as tall, so the nesting shows.</a:t>
            </a:r>
          </a:p>
        </p:txBody>
      </p:sp>
      <p:sp>
        <p:nvSpPr>
          <p:cNvPr id="8" name="Rectangle 7"/>
          <p:cNvSpPr/>
          <p:nvPr/>
        </p:nvSpPr>
        <p:spPr>
          <a:xfrm>
            <a:off x="777240" y="5001768"/>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Real charts carry no such numbers.</a:t>
            </a:r>
          </a:p>
        </p:txBody>
      </p:sp>
      <p:sp>
        <p:nvSpPr>
          <p:cNvPr id="10" name="TextBox 9"/>
          <p:cNvSpPr txBox="1"/>
          <p:nvPr/>
        </p:nvSpPr>
        <p:spPr>
          <a:xfrm>
            <a:off x="777240" y="562356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Three waves, because the book draws three wave cycles.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to explain the book's Figure 5.5 (p.129). Every number here is one we chose; none is the book's or a market's.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bars are the price: all three waves added up. Their smallest swings are the LWC.</a:t>
            </a:r>
          </a:p>
          <a:p>
            <a:pPr algn="l">
              <a:lnSpc>
                <a:spcPct val="105000"/>
              </a:lnSpc>
              <a:spcBef>
                <a:spcPts val="0"/>
              </a:spcBef>
              <a:spcAft>
                <a:spcPts val="1100"/>
              </a:spcAft>
            </a:pPr>
            <a:r>
              <a:rPr sz="1700" b="0" i="0">
                <a:solidFill>
                  <a:srgbClr val="1A1A1A"/>
                </a:solidFill>
                <a:latin typeface="Arial"/>
              </a:rPr>
              <a:t>Dotted, the MWC: the big wave plus the medium, through the middle of the small swings.</a:t>
            </a:r>
          </a:p>
          <a:p>
            <a:pPr algn="l">
              <a:lnSpc>
                <a:spcPct val="105000"/>
              </a:lnSpc>
              <a:spcBef>
                <a:spcPts val="0"/>
              </a:spcBef>
              <a:spcAft>
                <a:spcPts val="1100"/>
              </a:spcAft>
            </a:pPr>
            <a:r>
              <a:rPr sz="1700" b="0" i="0">
                <a:solidFill>
                  <a:srgbClr val="1A1A1A"/>
                </a:solidFill>
                <a:latin typeface="Arial"/>
              </a:rPr>
              <a:t>Thick, the HWC: the big wave alone, through the middle of the medium swings.</a:t>
            </a:r>
          </a:p>
          <a:p>
            <a:pPr algn="l">
              <a:lnSpc>
                <a:spcPct val="105000"/>
              </a:lnSpc>
              <a:spcBef>
                <a:spcPts val="0"/>
              </a:spcBef>
              <a:spcAft>
                <a:spcPts val="1100"/>
              </a:spcAft>
            </a:pPr>
            <a:r>
              <a:rPr sz="1700" b="0" i="0">
                <a:solidFill>
                  <a:srgbClr val="1A1A1A"/>
                </a:solidFill>
                <a:latin typeface="Arial"/>
              </a:rPr>
              <a:t>We know where both go only because we built the price. The book gives no rule for drawing them.</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book's (pp.128-129, Figure 5.5): thick, dotted and thin lines, and no formula, indicator or number of bars. Ours: the bars, and where both lines sit.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rulers mark one swing of each cycle: the sizes we built in, give or take the noise.</a:t>
            </a:r>
          </a:p>
          <a:p>
            <a:pPr algn="l">
              <a:lnSpc>
                <a:spcPct val="105000"/>
              </a:lnSpc>
              <a:spcBef>
                <a:spcPts val="0"/>
              </a:spcBef>
              <a:spcAft>
                <a:spcPts val="1100"/>
              </a:spcAft>
            </a:pPr>
            <a:r>
              <a:rPr sz="1700" b="0" i="0">
                <a:solidFill>
                  <a:srgbClr val="1A1A1A"/>
                </a:solidFill>
                <a:latin typeface="Arial"/>
              </a:rPr>
              <a:t>A real chart gives you no sizes. The book fixes no size, duration or timeframe.</a:t>
            </a:r>
          </a:p>
          <a:p>
            <a:pPr algn="l">
              <a:lnSpc>
                <a:spcPct val="105000"/>
              </a:lnSpc>
              <a:spcBef>
                <a:spcPts val="0"/>
              </a:spcBef>
              <a:spcAft>
                <a:spcPts val="1100"/>
              </a:spcAft>
            </a:pPr>
            <a:r>
              <a:rPr sz="1700" b="0" i="0">
                <a:solidFill>
                  <a:srgbClr val="1A1A1A"/>
                </a:solidFill>
                <a:latin typeface="Arial"/>
              </a:rPr>
              <a:t>So compare swings. The smallest in view: LWC. The swing they ride on: MWC. The biggest: HWC.</a:t>
            </a:r>
          </a:p>
          <a:p>
            <a:pPr algn="l">
              <a:lnSpc>
                <a:spcPct val="105000"/>
              </a:lnSpc>
              <a:spcBef>
                <a:spcPts val="0"/>
              </a:spcBef>
              <a:spcAft>
                <a:spcPts val="1100"/>
              </a:spcAft>
            </a:pPr>
            <a:r>
              <a:rPr sz="1700" b="0" i="0">
                <a:solidFill>
                  <a:srgbClr val="1A1A1A"/>
                </a:solidFill>
                <a:latin typeface="Arial"/>
              </a:rPr>
              <a:t>Subwave test: here four LWC swings fit in one MWC swing, three MWC swings in the HWC swing.</a:t>
            </a:r>
          </a:p>
        </p:txBody>
      </p:sp>
      <p:sp>
        <p:nvSpPr>
          <p:cNvPr id="8" name="Rectangle 7"/>
          <p:cNvSpPr/>
          <p:nvPr/>
        </p:nvSpPr>
        <p:spPr>
          <a:xfrm>
            <a:off x="777240" y="5001768"/>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degree is relative, never a size.</a:t>
            </a:r>
          </a:p>
        </p:txBody>
      </p:sp>
      <p:sp>
        <p:nvSpPr>
          <p:cNvPr id="10" name="TextBox 9"/>
          <p:cNvSpPr txBox="1"/>
          <p:nvPr/>
        </p:nvSpPr>
        <p:spPr>
          <a:xfrm>
            <a:off x="777240" y="562356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Four and three are this chart's numbers, not a rule.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 the book's pp.128-129, which fix no size, duration or timeframe for a wave cycle. The bars and pesos are the sizes we built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one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a:t>
            </a:r>
          </a:p>
          <a:p>
            <a:pPr algn="l">
              <a:lnSpc>
                <a:spcPct val="105000"/>
              </a:lnSpc>
              <a:spcBef>
                <a:spcPts val="0"/>
              </a:spcBef>
              <a:spcAft>
                <a:spcPts val="1100"/>
              </a:spcAft>
            </a:pPr>
            <a:r>
              <a:rPr sz="1700" b="0" i="0">
                <a:solidFill>
                  <a:srgbClr val="1A1A1A"/>
                </a:solidFill>
                <a:latin typeface="Arial"/>
              </a:rPr>
              <a:t>Apply effective stopsizing.</a:t>
            </a:r>
          </a:p>
          <a:p>
            <a:pPr algn="l">
              <a:lnSpc>
                <a:spcPct val="105000"/>
              </a:lnSpc>
              <a:spcBef>
                <a:spcPts val="0"/>
              </a:spcBef>
              <a:spcAft>
                <a:spcPts val="1100"/>
              </a:spcAft>
            </a:pPr>
            <a:r>
              <a:rPr sz="1700" b="0" i="0">
                <a:solidFill>
                  <a:srgbClr val="1A1A1A"/>
                </a:solidFill>
                <a:latin typeface="Arial"/>
              </a:rPr>
              <a:t>Distinguish between trend and consolidation mode.</a:t>
            </a:r>
          </a:p>
          <a:p>
            <a:pPr algn="l">
              <a:lnSpc>
                <a:spcPct val="105000"/>
              </a:lnSpc>
              <a:spcBef>
                <a:spcPts val="0"/>
              </a:spcBef>
              <a:spcAft>
                <a:spcPts val="1100"/>
              </a:spcAft>
            </a:pPr>
            <a:r>
              <a:rPr sz="1700" b="0" i="0">
                <a:solidFill>
                  <a:srgbClr val="1A1A1A"/>
                </a:solidFill>
                <a:latin typeface="Arial"/>
              </a:rPr>
              <a:t>Determine the direction of the predominant trend.</a:t>
            </a:r>
          </a:p>
        </p:txBody>
      </p:sp>
      <p:sp>
        <p:nvSpPr>
          <p:cNvPr id="8" name="TextBox 7"/>
          <p:cNvSpPr txBox="1"/>
          <p:nvPr/>
        </p:nvSpPr>
        <p:spPr>
          <a:xfrm>
            <a:off x="777240" y="543839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Breakout levels: later in 5.1. Stoploss: 5.4. Stopsizing: 5.5. Elliott, met in Chapter 4, is Chapter 18.</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p.129, its list of five, and Figure 5.6. The book's reasons follow on p.130.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the same time, depending on the wave cycle being observed.</a:t>
            </a:r>
          </a:p>
          <a:p>
            <a:pPr algn="l">
              <a:lnSpc>
                <a:spcPct val="105000"/>
              </a:lnSpc>
              <a:spcBef>
                <a:spcPts val="0"/>
              </a:spcBef>
              <a:spcAft>
                <a:spcPts val="1100"/>
              </a:spcAft>
            </a:pPr>
            <a:r>
              <a:rPr sz="1700" b="0" i="0">
                <a:solidFill>
                  <a:srgbClr val="1A1A1A"/>
                </a:solidFill>
                <a:latin typeface="Arial"/>
              </a:rPr>
              <a:t>In the figure the small LWC climbs each swing: trend mode. The MWC swings across one level: ranging mode. The large HWC is flat: flatline mode.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5.7. The Chapter 4 line is this course's Chapter 4 deck.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bars are the LWC. Bar by bar they climb, then fall: trend mode, up and then down.</a:t>
            </a:r>
          </a:p>
          <a:p>
            <a:pPr algn="l">
              <a:lnSpc>
                <a:spcPct val="105000"/>
              </a:lnSpc>
              <a:spcBef>
                <a:spcPts val="0"/>
              </a:spcBef>
              <a:spcAft>
                <a:spcPts val="1100"/>
              </a:spcAft>
            </a:pPr>
            <a:r>
              <a:rPr sz="18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800" b="0" i="0">
                <a:solidFill>
                  <a:srgbClr val="1A1A1A"/>
                </a:solidFill>
                <a:latin typeface="Arial"/>
              </a:rPr>
              <a:t>The thick HWC stays at PHP 60: flatline mode.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One chart. Whether it is trending depends on which wave is read.</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5.7 (p.130) on price bars. Built from a flat line at PHP 60, a 32 bar wave of PHP 12 and an 8 bar wave, so each mode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technical breakout from the range, and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far, a breakout has been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chapter gave breakout a definition of its own, and neither does the book. This is how the word has been used.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2 and 4. The chart is Chapter 4's own example, a range from PHP 40 to PHP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edge of a range is one kind of level. Chapter 5 breaks out of others:</a:t>
            </a:r>
          </a:p>
          <a:p>
            <a:pPr algn="l">
              <a:lnSpc>
                <a:spcPct val="105000"/>
              </a:lnSpc>
              <a:spcBef>
                <a:spcPts val="0"/>
              </a:spcBef>
              <a:spcAft>
                <a:spcPts val="1100"/>
              </a:spcAft>
            </a:pPr>
            <a:r>
              <a:rPr sz="1900" b="0" i="0">
                <a:solidFill>
                  <a:srgbClr val="1A1A1A"/>
                </a:solidFill>
                <a:latin typeface="Arial"/>
              </a:rPr>
              <a:t>a prior peak or trough, a trendline, a channel line, any price overlay.</a:t>
            </a:r>
          </a:p>
          <a:p>
            <a:pPr algn="l">
              <a:lnSpc>
                <a:spcPct val="105000"/>
              </a:lnSpc>
              <a:spcBef>
                <a:spcPts val="0"/>
              </a:spcBef>
              <a:spcAft>
                <a:spcPts val="1100"/>
              </a:spcAft>
            </a:pPr>
            <a:r>
              <a:rPr sz="1900" b="0" i="0">
                <a:solidFill>
                  <a:srgbClr val="1A1A1A"/>
                </a:solidFill>
                <a:latin typeface="Arial"/>
              </a:rPr>
              <a:t>Each time, a level holds price and then price gets through it.</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Same word, wider use: the level need not be the edge of a range.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reading of how the book uses the word: pp.130, 143, 148, 158 to 161. It defines breakout nowhere.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the degree of the wave cycle: lower, medium or higher.</a:t>
            </a:r>
          </a:p>
          <a:p>
            <a:pPr algn="l">
              <a:lnSpc>
                <a:spcPct val="105000"/>
              </a:lnSpc>
              <a:spcBef>
                <a:spcPts val="0"/>
              </a:spcBef>
              <a:spcAft>
                <a:spcPts val="1100"/>
              </a:spcAft>
            </a:pPr>
            <a:r>
              <a:rPr sz="1700" b="0" i="0">
                <a:solidFill>
                  <a:srgbClr val="1A1A1A"/>
                </a:solidFill>
                <a:latin typeface="Arial"/>
              </a:rPr>
              <a:t>The breakout level depends on the wave degree being traded.</a:t>
            </a:r>
          </a:p>
          <a:p>
            <a:pPr algn="l">
              <a:lnSpc>
                <a:spcPct val="105000"/>
              </a:lnSpc>
              <a:spcBef>
                <a:spcPts val="0"/>
              </a:spcBef>
              <a:spcAft>
                <a:spcPts val="1100"/>
              </a:spcAft>
            </a:pPr>
            <a:r>
              <a:rPr sz="1700" b="0" i="0">
                <a:solidFill>
                  <a:srgbClr val="1A1A1A"/>
                </a:solidFill>
                <a:latin typeface="Arial"/>
              </a:rPr>
              <a:t>Knowing the degree lets the trader size the stoploss to that degree's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In the figure each B/OUT LEVEL is a line across a prior peak of one wave cycle. Amplitude: 5.2. Stoploss: 5.4.</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passes the last small peak, PHP 57.</a:t>
            </a:r>
          </a:p>
          <a:p>
            <a:pPr algn="l">
              <a:lnSpc>
                <a:spcPct val="105000"/>
              </a:lnSpc>
              <a:spcBef>
                <a:spcPts val="0"/>
              </a:spcBef>
              <a:spcAft>
                <a:spcPts val="1100"/>
              </a:spcAft>
            </a:pPr>
            <a:r>
              <a:rPr sz="1700" b="0" i="0">
                <a:solidFill>
                  <a:srgbClr val="1A1A1A"/>
                </a:solidFill>
                <a:latin typeface="Arial"/>
              </a:rPr>
              <a:t>MWC: passes the last medium peak, PHP 60.</a:t>
            </a:r>
          </a:p>
          <a:p>
            <a:pPr algn="l">
              <a:lnSpc>
                <a:spcPct val="105000"/>
              </a:lnSpc>
              <a:spcBef>
                <a:spcPts val="0"/>
              </a:spcBef>
              <a:spcAft>
                <a:spcPts val="1100"/>
              </a:spcAft>
            </a:pPr>
            <a:r>
              <a:rPr sz="1700" b="0" i="0">
                <a:solidFill>
                  <a:srgbClr val="1A1A1A"/>
                </a:solidFill>
                <a:latin typeface="Arial"/>
              </a:rPr>
              <a:t>HWC: passes the top of the whole move, PHP 71.</a:t>
            </a:r>
          </a:p>
          <a:p>
            <a:pPr algn="l">
              <a:lnSpc>
                <a:spcPct val="105000"/>
              </a:lnSpc>
              <a:spcBef>
                <a:spcPts val="0"/>
              </a:spcBef>
              <a:spcAft>
                <a:spcPts val="1100"/>
              </a:spcAft>
            </a:pPr>
            <a:r>
              <a:rPr sz="1700" b="0" i="0">
                <a:solidFill>
                  <a:srgbClr val="1A1A1A"/>
                </a:solidFill>
                <a:latin typeface="Arial"/>
              </a:rPr>
              <a:t>The 67 bars under that top are a consolidation at a higher degree, and this is its breakout.</a:t>
            </a:r>
          </a:p>
        </p:txBody>
      </p:sp>
      <p:sp>
        <p:nvSpPr>
          <p:cNvPr id="8" name="Rectangle 7"/>
          <p:cNvSpPr/>
          <p:nvPr/>
        </p:nvSpPr>
        <p:spPr>
          <a:xfrm>
            <a:off x="777240" y="418566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4's breakout from a range is one of these.</a:t>
            </a:r>
          </a:p>
        </p:txBody>
      </p:sp>
      <p:sp>
        <p:nvSpPr>
          <p:cNvPr id="10" name="TextBox 9"/>
          <p:cNvSpPr txBox="1"/>
          <p:nvPr/>
        </p:nvSpPr>
        <p:spPr>
          <a:xfrm>
            <a:off x="777240" y="508177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Levels are read off our invented chart. The last line is our reading; the book does not join the two uses.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5.8 (p.130) on price bars. The same three invented waves on a slow rise; each level is the high of a prior peak on this chart.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5.9 on p.131.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 the way up the LWC turns down again and again, and the rise goes on.</a:t>
            </a:r>
          </a:p>
          <a:p>
            <a:pPr algn="l">
              <a:lnSpc>
                <a:spcPct val="105000"/>
              </a:lnSpc>
              <a:spcBef>
                <a:spcPts val="0"/>
              </a:spcBef>
              <a:spcAft>
                <a:spcPts val="1100"/>
              </a:spcAft>
            </a:pPr>
            <a:r>
              <a:rPr sz="1700" b="0" i="0">
                <a:solidFill>
                  <a:srgbClr val="1A1A1A"/>
                </a:solidFill>
                <a:latin typeface="Arial"/>
              </a:rPr>
              <a:t>The MWC turns down as well, with the LWC, and the HWC still rises.</a:t>
            </a:r>
          </a:p>
          <a:p>
            <a:pPr algn="l">
              <a:lnSpc>
                <a:spcPct val="105000"/>
              </a:lnSpc>
              <a:spcBef>
                <a:spcPts val="0"/>
              </a:spcBef>
              <a:spcAft>
                <a:spcPts val="1100"/>
              </a:spcAft>
            </a:pPr>
            <a:r>
              <a:rPr sz="1700" b="0" i="0">
                <a:solidFill>
                  <a:srgbClr val="1A1A1A"/>
                </a:solidFill>
                <a:latin typeface="Arial"/>
              </a:rPr>
              <a:t>At the top the HWC turns down, and the MWC and the LWC turn with it.</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turn of the largest wave is a turn of every wave. That is why it is the significant one.</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Convergence in Chapter 3 was a futures price meeting the spot price. Here it is wave degrees turning together.</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5.9 (pp.130-131) on price bars. The three invented waves are set to peak on one bar, so the one turn shows.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climbs from PHP 40 to PHP 50, then dips to PHP 49: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p.131. It puts no number on 'a few percent'. The pesos are our example, a dip of 2 percent, and the chart is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Peak and trough analysis can show a flat market while the closes rise bar after bar.</a:t>
            </a:r>
          </a:p>
          <a:p>
            <a:pPr algn="l">
              <a:lnSpc>
                <a:spcPct val="105000"/>
              </a:lnSpc>
              <a:spcBef>
                <a:spcPts val="0"/>
              </a:spcBef>
              <a:spcAft>
                <a:spcPts val="1100"/>
              </a:spcAft>
            </a:pPr>
            <a:r>
              <a:rPr sz="1700" b="0" i="0">
                <a:solidFill>
                  <a:srgbClr val="1A1A1A"/>
                </a:solidFill>
                <a:latin typeface="Arial"/>
              </a:rPr>
              <a:t>Rising closes are an uptrend as far as close prices are concerned: Chapter 3's line chart in action.</a:t>
            </a:r>
          </a:p>
          <a:p>
            <a:pPr algn="l">
              <a:lnSpc>
                <a:spcPct val="105000"/>
              </a:lnSpc>
              <a:spcBef>
                <a:spcPts val="0"/>
              </a:spcBef>
              <a:spcAft>
                <a:spcPts val="1100"/>
              </a:spcAft>
            </a:pPr>
            <a:r>
              <a:rPr sz="1700" b="0" i="0">
                <a:solidFill>
                  <a:srgbClr val="1A1A1A"/>
                </a:solidFill>
                <a:latin typeface="Arial"/>
              </a:rPr>
              <a:t>The same holds for the highs, the lows, and the mid or typical prices.</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names typical price, and the CCI oscillator and Floor Trader's Pivot Points that are based on it, and defines none of them here.</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pp.131-132 and Figure 5.10.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Degrees, reversals and OHLC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All the lower degree cycles reverse in sync with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Degrees, reversals and OHLC trends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the lower degree cycles reverse in sync with it</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Oscillation frequency and depth.</a:t>
            </a:r>
          </a:p>
          <a:p>
            <a:pPr algn="l">
              <a:lnSpc>
                <a:spcPct val="118000"/>
              </a:lnSpc>
              <a:spcBef>
                <a:spcPts val="0"/>
              </a:spcBef>
              <a:spcAft>
                <a:spcPts val="1300"/>
              </a:spcAft>
            </a:pPr>
            <a:r>
              <a:rPr sz="2100" b="0" i="0">
                <a:solidFill>
                  <a:srgbClr val="1A1A1A"/>
                </a:solidFill>
                <a:latin typeface="Arial"/>
              </a:rPr>
              <a:t>11 Consolidation size and duration.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Variations in these may impact future price activity. The book calls reading pure price action the highest skill any trader can aspire to.</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For most of the sixteen the book states what a change signals and gives no reason. Where it gives one, the slide gives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swing's height, as the figure marks it.</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Up swings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and Figure 5.11. It gives no reason why a shrinking amplitude means weakness. The pesos are our 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800" b="0" i="0">
                <a:solidFill>
                  <a:srgbClr val="1A1A1A"/>
                </a:solidFill>
                <a:latin typeface="Arial"/>
              </a:rPr>
              <a:t>Expanding formations, with both boundary lines pointing upward, are generally bullish in an uptrend.</a:t>
            </a:r>
          </a:p>
          <a:p>
            <a:pPr algn="l">
              <a:lnSpc>
                <a:spcPct val="105000"/>
              </a:lnSpc>
              <a:spcBef>
                <a:spcPts val="0"/>
              </a:spcBef>
              <a:spcAft>
                <a:spcPts val="1100"/>
              </a:spcAft>
            </a:pPr>
            <a:r>
              <a:rPr sz="1800" b="0" i="0">
                <a:solidFill>
                  <a:srgbClr val="1A1A1A"/>
                </a:solidFill>
                <a:latin typeface="Arial"/>
              </a:rPr>
              <a:t>Steady, consistent amplitude is bullish in an uptrend and bearish in a downtrend.</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steady trend is generally regarded as the most reliable in extent and duration.</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5.12. The book states these readings and gives no reason for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5.13. It gives no reason. The bar counts 30, 20 and 12 are our example.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5.14: the bar counts 28, 30, 26 and 14 are printed on the figure. It gives no reason.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period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period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average height of the bars, low to high.</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ranges of PHP 3.00, then 2.40, then 1.80 as price climbs: a decreasing average bar range.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decrease in the average bar range is an early indication of potential weakness in an uptrend, and a bullish indication in a downtrend. It can be tracked with the average true range, ATR, oscillator which, unlike average bar range, accounts for gaps between the bars as well.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5.15. Its one reason is for the ATR: it counts gaps. The pesos are our example.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with a declining ATR.</a:t>
            </a:r>
          </a:p>
          <a:p>
            <a:pPr algn="l">
              <a:lnSpc>
                <a:spcPct val="105000"/>
              </a:lnSpc>
              <a:spcBef>
                <a:spcPts val="0"/>
              </a:spcBef>
              <a:spcAft>
                <a:spcPts val="1100"/>
              </a:spcAft>
            </a:pPr>
            <a:r>
              <a:rPr sz="2000" b="0" i="0">
                <a:solidFill>
                  <a:srgbClr val="1A1A1A"/>
                </a:solidFill>
                <a:latin typeface="Arial"/>
              </a:rPr>
              <a:t>Volume is bullish, but the ATR is indicating otherwise.</a:t>
            </a:r>
          </a:p>
          <a:p>
            <a:pPr algn="l">
              <a:lnSpc>
                <a:spcPct val="105000"/>
              </a:lnSpc>
              <a:spcBef>
                <a:spcPts val="0"/>
              </a:spcBef>
              <a:spcAft>
                <a:spcPts val="1100"/>
              </a:spcAft>
            </a:pPr>
            <a:r>
              <a:rPr sz="2000" b="0" i="0">
                <a:solidFill>
                  <a:srgbClr val="1A1A1A"/>
                </a:solidFill>
                <a:latin typeface="Arial"/>
              </a:rPr>
              <a:t>A large bearish candlestick completes the bearish picture.</a:t>
            </a:r>
          </a:p>
        </p:txBody>
      </p:sp>
      <p:sp>
        <p:nvSpPr>
          <p:cNvPr id="8" name="Rectangle 7"/>
          <p:cNvSpPr/>
          <p:nvPr/>
        </p:nvSpPr>
        <p:spPr>
          <a:xfrm>
            <a:off x="777240" y="4581144"/>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pp.134-135 and Figure 5.16.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Prices tend to persist for longer when price is of high quality.</a:t>
            </a:r>
          </a:p>
          <a:p>
            <a:pPr algn="l">
              <a:lnSpc>
                <a:spcPct val="105000"/>
              </a:lnSpc>
              <a:spcBef>
                <a:spcPts val="0"/>
              </a:spcBef>
              <a:spcAft>
                <a:spcPts val="1100"/>
              </a:spcAft>
            </a:pPr>
            <a:r>
              <a:rPr sz="1700" b="0" i="0">
                <a:solidFill>
                  <a:srgbClr val="1A1A1A"/>
                </a:solidFill>
                <a:latin typeface="Arial"/>
              </a:rPr>
              <a:t>High quality prices have relatively small, and approximately equal, bar ranges.</a:t>
            </a:r>
          </a:p>
          <a:p>
            <a:pPr algn="l">
              <a:lnSpc>
                <a:spcPct val="105000"/>
              </a:lnSpc>
              <a:spcBef>
                <a:spcPts val="0"/>
              </a:spcBef>
              <a:spcAft>
                <a:spcPts val="1100"/>
              </a:spcAft>
            </a:pPr>
            <a:r>
              <a:rPr sz="1700" b="0" i="0">
                <a:solidFill>
                  <a:srgbClr val="1A1A1A"/>
                </a:solidFill>
                <a:latin typeface="Arial"/>
              </a:rPr>
              <a:t>Price then moves predictably. Trends and reversals are clear and decisive.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this mode prices exhibit relatively low volatility.</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first applied assumption: price behavior persists. Here persistence is the continuity of trend action.</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pp.135-136 and Figure 5.17.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g.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the formula is printed on its Figure 5.18 (p.136). The pesos and the chart are ours, picked to give 0.80, 0.50 and 0.20.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and Figure 5.18 on p.136. It gives no reason for the sign.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ratio is monitored with a simple moving average of it.</a:t>
            </a:r>
          </a:p>
          <a:p>
            <a:pPr algn="l">
              <a:lnSpc>
                <a:spcPct val="105000"/>
              </a:lnSpc>
              <a:spcBef>
                <a:spcPts val="0"/>
              </a:spcBef>
              <a:spcAft>
                <a:spcPts val="1100"/>
              </a:spcAft>
            </a:pPr>
            <a:r>
              <a:rPr sz="2000" b="0" i="0">
                <a:solidFill>
                  <a:srgbClr val="1A1A1A"/>
                </a:solidFill>
                <a:latin typeface="Arial"/>
              </a:rPr>
              <a:t>Weekly EURUSD: a 3-period SMA of the bar stochastic, in the panel under the price.</a:t>
            </a:r>
          </a:p>
          <a:p>
            <a:pPr algn="l">
              <a:lnSpc>
                <a:spcPct val="105000"/>
              </a:lnSpc>
              <a:spcBef>
                <a:spcPts val="0"/>
              </a:spcBef>
              <a:spcAft>
                <a:spcPts val="1100"/>
              </a:spcAft>
            </a:pPr>
            <a:r>
              <a:rPr sz="2000" b="0" i="0">
                <a:solidFill>
                  <a:srgbClr val="1A1A1A"/>
                </a:solidFill>
                <a:latin typeface="Arial"/>
              </a:rPr>
              <a:t>The figure marks bearish divergences at three tops and bullish divergences at three bottoms.</a:t>
            </a:r>
          </a:p>
        </p:txBody>
      </p:sp>
      <p:sp>
        <p:nvSpPr>
          <p:cNvPr id="8" name="TextBox 7"/>
          <p:cNvSpPr txBox="1"/>
          <p:nvPr/>
        </p:nvSpPr>
        <p:spPr>
          <a:xfrm>
            <a:off x="777240" y="5221223"/>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Divergence: met in Chapter 4, on the MACD. Taught in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pp.136-137 and Figure 5.19. It does not say why the average is of three periods.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PHP 42, close PHP 48, low PHP 40, high PHP 50: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p.136; the formula is printed on Figure 5.20 (p.137). It gives no reason for the sign. The pesos are our example.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at one steady angle.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over three years: consistent angular symmetry. Trendlines 1 and 2 are parallel, a strong prognosticator of potential bullishness.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pp.137-138 and Figure 5.21. Its reason for the bullish reading: trendline 1 was followed by a steady rise, so the same is expected after trendline 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700" b="0" i="0">
                <a:solidFill>
                  <a:srgbClr val="1A1A1A"/>
                </a:solidFill>
                <a:latin typeface="Arial"/>
              </a:rPr>
              <a:t>Downside acceleration is bearish. Downside deceleration is bullish.</a:t>
            </a:r>
          </a:p>
          <a:p>
            <a:pPr algn="l">
              <a:lnSpc>
                <a:spcPct val="105000"/>
              </a:lnSpc>
              <a:spcBef>
                <a:spcPts val="0"/>
              </a:spcBef>
              <a:spcAft>
                <a:spcPts val="1100"/>
              </a:spcAft>
            </a:pPr>
            <a:r>
              <a:rPr sz="1700" b="0" i="0">
                <a:solidFill>
                  <a:srgbClr val="1A1A1A"/>
                </a:solidFill>
                <a:latin typeface="Arial"/>
              </a:rPr>
              <a:t>Upside and downside acceleration is normally parabolic in nature.</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uptrend may not be self-sustaining if its rate of ascent was excessive.</a:t>
            </a:r>
          </a:p>
        </p:txBody>
      </p:sp>
      <p:sp>
        <p:nvSpPr>
          <p:cNvPr id="10" name="TextBox 9"/>
          <p:cNvSpPr txBox="1"/>
          <p:nvPr/>
        </p:nvSpPr>
        <p:spPr>
          <a:xfrm>
            <a:off x="777240" y="546354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Downside acceleration may end in a selling climax.</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p.138 and Figure 5.22.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pp.138-139 and Figure 5.23.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rises at a consistent trend rate, leg after leg.</a:t>
            </a:r>
          </a:p>
          <a:p>
            <a:pPr algn="l">
              <a:lnSpc>
                <a:spcPct val="105000"/>
              </a:lnSpc>
              <a:spcBef>
                <a:spcPts val="0"/>
              </a:spcBef>
              <a:spcAft>
                <a:spcPts val="1100"/>
              </a:spcAft>
            </a:pPr>
            <a:r>
              <a:rPr sz="1700" b="0" i="0">
                <a:solidFill>
                  <a:srgbClr val="1A1A1A"/>
                </a:solidFill>
                <a:latin typeface="Arial"/>
              </a:rPr>
              <a:t>Once the rate changes, the market switches to a new regime: greater volatility and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text says about $3.30 a day; the figure prints $3.80. The book's caption under 5.24 is Figure 5.25's.</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p.139 and Figure 5.24. The dollar rates are the book's, and it does not show how they were measured.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has come to a strong price barrier. The nearer, the likelier a turn.</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0292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after testing a strong support level, with the cycle-tuned stochastic oversold. This chapter uses that oscillator and never explains it.</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pp.139-140 and Figure 5.25. It gives no reason here; why a barrier turns price is section 5.6, pp.155-156.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Angles, 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Angles, 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more reliable with a reasonable number of oscillations: fairly frequent, not too shallow or too deep.</a:t>
            </a:r>
          </a:p>
          <a:p>
            <a:pPr algn="l">
              <a:lnSpc>
                <a:spcPct val="105000"/>
              </a:lnSpc>
              <a:spcBef>
                <a:spcPts val="0"/>
              </a:spcBef>
              <a:spcAft>
                <a:spcPts val="1100"/>
              </a:spcAft>
            </a:pPr>
            <a:r>
              <a:rPr sz="1700" b="0" i="0">
                <a:solidFill>
                  <a:srgbClr val="1A1A1A"/>
                </a:solidFill>
                <a:latin typeface="Arial"/>
              </a:rPr>
              <a:t>That is indicative of healthy profit taking.</a:t>
            </a:r>
          </a:p>
          <a:p>
            <a:pPr algn="l">
              <a:lnSpc>
                <a:spcPct val="105000"/>
              </a:lnSpc>
              <a:spcBef>
                <a:spcPts val="0"/>
              </a:spcBef>
              <a:spcAft>
                <a:spcPts val="1100"/>
              </a:spcAft>
            </a:pPr>
            <a:r>
              <a:rPr sz="1700" b="0" i="0">
                <a:solidFill>
                  <a:srgbClr val="1A1A1A"/>
                </a:solidFill>
                <a:latin typeface="Arial"/>
              </a:rPr>
              <a:t>With little profit taken, more pent-up, unrealized profit is at risk.</a:t>
            </a:r>
          </a:p>
          <a:p>
            <a:pPr algn="l">
              <a:lnSpc>
                <a:spcPct val="105000"/>
              </a:lnSpc>
              <a:spcBef>
                <a:spcPts val="0"/>
              </a:spcBef>
              <a:spcAft>
                <a:spcPts val="1100"/>
              </a:spcAft>
            </a:pPr>
            <a:r>
              <a:rPr sz="1700" b="0" i="0">
                <a:solidFill>
                  <a:srgbClr val="1A1A1A"/>
                </a:solidFill>
                <a:latin typeface="Arial"/>
              </a:rPr>
              <a:t>Traders then exit rapidly at the slightest hint of bearishness.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Such a trend is potentially more bearish at higher prices.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pp.140-141 and Figure 5.26. The reason on the slide, profit taking, is the book's.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and Figure 5.27.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a:t>
            </a:r>
          </a:p>
          <a:p>
            <a:pPr algn="l">
              <a:lnSpc>
                <a:spcPct val="105000"/>
              </a:lnSpc>
              <a:spcBef>
                <a:spcPts val="0"/>
              </a:spcBef>
              <a:spcAft>
                <a:spcPts val="1100"/>
              </a:spcAft>
            </a:pPr>
            <a:r>
              <a:rPr sz="1700" b="0" i="0">
                <a:solidFill>
                  <a:srgbClr val="1A1A1A"/>
                </a:solidFill>
                <a:latin typeface="Arial"/>
              </a:rPr>
              <a:t>And if it develops over a longer period: a wider chart pattern.</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The chart is ours, on invented prices: the book has no figure for this point.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a third gap in its uptrend, and bottoms after another third gap in the downtrend that follows. The cycle-tuned stochastic is overbought at the first and oversold at the second.</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pp.141-142 and Figure 5.28. It gives no reason why the third gap; section 5.8 names the three gaps of a trend.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size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size and gaps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usual distance price travels in one period.</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FOREX pair's average daily range is 120 pips. Price beyond that, either way, before the trading day completes: a potential sign of exhaustion, and a reversal may be expected.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of the most reliable characteristics of price activity. Found with the ATR, or as the 2 standard deviation value of bar range: ninety percent of ranges stay below it, the book says.</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p.142: the 120 pips, the two standard deviations and the ninety percent are all the book's. It does not say what a pip is. The chart is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Similarly for a penetration below a downtrending line.</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7332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penetration of a peak or trough. Here: of a line.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pp.142-143 and Figure 5.29. It gives no reason for either reading.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Bullish if the bar closes at or near its high, very bearish near its low.</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a stronger sign of a potential reversal. The squat bar.</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e.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reasons included. The chart is ours: the book has no figure for its four cases.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may appear between price and volume, or between price and any oscillator.</a:t>
            </a:r>
          </a:p>
          <a:p>
            <a:pPr algn="l">
              <a:lnSpc>
                <a:spcPct val="118000"/>
              </a:lnSpc>
              <a:spcBef>
                <a:spcPts val="0"/>
              </a:spcBef>
              <a:spcAft>
                <a:spcPts val="1300"/>
              </a:spcAft>
            </a:pPr>
            <a:r>
              <a:rPr sz="2100" b="0" i="0">
                <a:solidFill>
                  <a:srgbClr val="1A1A1A"/>
                </a:solidFill>
                <a:latin typeface="Arial"/>
              </a:rPr>
              <a:t>It may give an early indication of potential reversals or continuations in the market.</a:t>
            </a:r>
          </a:p>
          <a:p>
            <a:pPr algn="l">
              <a:lnSpc>
                <a:spcPct val="118000"/>
              </a:lnSpc>
              <a:spcBef>
                <a:spcPts val="0"/>
              </a:spcBef>
              <a:spcAft>
                <a:spcPts val="1300"/>
              </a:spcAft>
            </a:pPr>
            <a:r>
              <a:rPr sz="2100" b="0" i="0">
                <a:solidFill>
                  <a:srgbClr val="1A1A1A"/>
                </a:solidFill>
                <a:latin typeface="Arial"/>
              </a:rPr>
              <a:t>Chapter 4 showed one: price made a higher peak while the MACD made a lower one.</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this one sentence here and refers to Chapter 9 for more.</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That completes the sixteen. The chapter summary advises paying particular attention to all of them.</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one sentence, then it refers to Chapter 9. The MACD example is this course's Chapter 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 and a reversal may be expected.</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A large commitment of capital with no further extension in price implies strong opposition to the existing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intraday ones are virtually impossible to backtest, an undefined word.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p.144. The chart is ours, on invented prices: the book's own figure lists the filters and does not show the three entries.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800" b="0" i="0">
                <a:solidFill>
                  <a:srgbClr val="1A1A1A"/>
                </a:solidFill>
                <a:latin typeface="Arial"/>
              </a:rPr>
              <a:t>Time-based: a duration of N closed bars.</a:t>
            </a:r>
          </a:p>
          <a:p>
            <a:pPr algn="l">
              <a:lnSpc>
                <a:spcPct val="105000"/>
              </a:lnSpc>
              <a:spcBef>
                <a:spcPts val="0"/>
              </a:spcBef>
              <a:spcAft>
                <a:spcPts val="1100"/>
              </a:spcAft>
            </a:pPr>
            <a:r>
              <a:rPr sz="18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and review question 8 call the third family algorithmic. Here algorithmic is one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and Figure 5.30. The book puts no number on 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closing violation triggers entry. But prices may close too far beyond the entry level.</a:t>
            </a:r>
          </a:p>
          <a:p>
            <a:pPr algn="l">
              <a:lnSpc>
                <a:spcPct val="105000"/>
              </a:lnSpc>
              <a:spcBef>
                <a:spcPts val="0"/>
              </a:spcBef>
              <a:spcAft>
                <a:spcPts val="1100"/>
              </a:spcAft>
            </a:pPr>
            <a:r>
              <a:rPr sz="1700" b="0" i="0">
                <a:solidFill>
                  <a:srgbClr val="1A1A1A"/>
                </a:solidFill>
                <a:latin typeface="Arial"/>
              </a:rPr>
              <a:t>So an additional price-based filter limits entry to within a specified distance.</a:t>
            </a:r>
          </a:p>
          <a:p>
            <a:pPr algn="l">
              <a:lnSpc>
                <a:spcPct val="105000"/>
              </a:lnSpc>
              <a:spcBef>
                <a:spcPts val="0"/>
              </a:spcBef>
              <a:spcAft>
                <a:spcPts val="1100"/>
              </a:spcAft>
            </a:pPr>
            <a:r>
              <a:rPr sz="1700" b="0" i="0">
                <a:solidFill>
                  <a:srgbClr val="1A1A1A"/>
                </a:solidFill>
                <a:latin typeface="Arial"/>
              </a:rPr>
              <a:t>Time and event filters do not specify the exact price of entry, so controlling risk is ineffective, if not impossible.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why price-based filters are the preferred mode of filtering.</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no control of the maximum risk per trade, a system may meet risk of ruin, which the book does not define.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The chart is ours, on invented prices.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unchanged. New: in cash, holding no open positions; to square a position, to exit it.</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and Figure 5.31: the dollar amounts are printed on the figure.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Buying low and selling high,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Buying low and selling high.</a:t>
            </a:r>
          </a:p>
          <a:p>
            <a:pPr algn="l">
              <a:lnSpc>
                <a:spcPct val="105000"/>
              </a:lnSpc>
              <a:spcBef>
                <a:spcPts val="0"/>
              </a:spcBef>
              <a:spcAft>
                <a:spcPts val="1100"/>
              </a:spcAft>
            </a:pPr>
            <a:r>
              <a:rPr sz="1900" b="0" i="0">
                <a:solidFill>
                  <a:srgbClr val="1A1A1A"/>
                </a:solidFill>
                <a:latin typeface="Arial"/>
              </a:rPr>
              <a:t>Buying high and selling higher.</a:t>
            </a:r>
          </a:p>
          <a:p>
            <a:pPr algn="l">
              <a:lnSpc>
                <a:spcPct val="105000"/>
              </a:lnSpc>
              <a:spcBef>
                <a:spcPts val="0"/>
              </a:spcBef>
              <a:spcAft>
                <a:spcPts val="1100"/>
              </a:spcAft>
            </a:pPr>
            <a:r>
              <a:rPr sz="1900" b="0" i="0">
                <a:solidFill>
                  <a:srgbClr val="1A1A1A"/>
                </a:solidFill>
                <a:latin typeface="Arial"/>
              </a:rPr>
              <a:t>Selling high and buying back lower.</a:t>
            </a:r>
          </a:p>
          <a:p>
            <a:pPr algn="l">
              <a:lnSpc>
                <a:spcPct val="105000"/>
              </a:lnSpc>
              <a:spcBef>
                <a:spcPts val="0"/>
              </a:spcBef>
              <a:spcAft>
                <a:spcPts val="1100"/>
              </a:spcAft>
            </a:pPr>
            <a:r>
              <a:rPr sz="1900" b="0" i="0">
                <a:solidFill>
                  <a:srgbClr val="1A1A1A"/>
                </a:solidFill>
                <a:latin typeface="Arial"/>
              </a:rPr>
              <a:t>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are longs and two are shorts. All four follow Chapter 1's one principle.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Hedging: equal and opposite positions, to reduce or neutralize all directional risk. Buying at the current price is buying at the market.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The chart is ours, on invented prices.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immediately, at any price.</a:t>
            </a:r>
          </a:p>
          <a:p>
            <a:pPr algn="l">
              <a:lnSpc>
                <a:spcPct val="105000"/>
              </a:lnSpc>
              <a:spcBef>
                <a:spcPts val="0"/>
              </a:spcBef>
              <a:spcAft>
                <a:spcPts val="1100"/>
              </a:spcAft>
            </a:pPr>
            <a:r>
              <a:rPr sz="1700" b="0" i="0">
                <a:solidFill>
                  <a:srgbClr val="1A1A1A"/>
                </a:solidFill>
                <a:latin typeface="Arial"/>
              </a:rPr>
              <a:t>Once triggered, a stop order turns into a market order.</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The stop exit is the stoploss.</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entry orders. New: the exits.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chart is ours, on invented prices.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You asked for one price and were filled at another. The difference is slippage.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j.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pesos and the chart are our example: PHP 48.00 less PHP 46.50 is PHP 1.50.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stoploss is placed at PHP 30. Price gaps, and the order is filled at PHP 28.80. The slippage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stoploss is placed at PHP 30. Price gaps,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Exits, and orders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Taking profit is a limit order: a sell limit above the market, a buy limit below it.</a:t>
            </a:r>
          </a:p>
          <a:p>
            <a:pPr algn="l">
              <a:lnSpc>
                <a:spcPct val="105000"/>
              </a:lnSpc>
              <a:spcBef>
                <a:spcPts val="0"/>
              </a:spcBef>
              <a:spcAft>
                <a:spcPts val="1100"/>
              </a:spcAft>
            </a:pPr>
            <a:r>
              <a:rPr sz="1700" b="0" i="0">
                <a:solidFill>
                  <a:srgbClr val="1A1A1A"/>
                </a:solidFill>
                <a:latin typeface="Arial"/>
              </a:rPr>
              <a:t>Cutting a loss is a stop order, the stoploss: a buystop above the market, a sellstop below.</a:t>
            </a:r>
          </a:p>
          <a:p>
            <a:pPr algn="l">
              <a:lnSpc>
                <a:spcPct val="105000"/>
              </a:lnSpc>
              <a:spcBef>
                <a:spcPts val="0"/>
              </a:spcBef>
              <a:spcAft>
                <a:spcPts val="1100"/>
              </a:spcAft>
            </a:pPr>
            <a:r>
              <a:rPr sz="1700" b="0" i="0">
                <a:solidFill>
                  <a:srgbClr val="1A1A1A"/>
                </a:solidFill>
                <a:latin typeface="Arial"/>
              </a:rPr>
              <a:t>A limit exit is not guaranteed. A stop exit is, but its exact price is unknown.</a:t>
            </a:r>
          </a:p>
          <a:p>
            <a:pPr algn="l">
              <a:lnSpc>
                <a:spcPct val="105000"/>
              </a:lnSpc>
              <a:spcBef>
                <a:spcPts val="0"/>
              </a:spcBef>
              <a:spcAft>
                <a:spcPts val="1100"/>
              </a:spcAft>
            </a:pPr>
            <a:r>
              <a:rPr sz="1700" b="0" i="0">
                <a:solidFill>
                  <a:srgbClr val="1A1A1A"/>
                </a:solidFill>
                <a:latin typeface="Arial"/>
              </a:rPr>
              <a:t>At the current price: a market order. Instantaneous, with no guarantee of the quoted price.</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the buy limits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is ours; the book's own table of these orders is the next slide.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order, above, below and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p.148, Figure 5.32.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to short above the market, an MIT buy to long below it.</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OCO and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OCO is one cancel other. OTO is one trigger other.</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700" b="0" i="0">
                <a:solidFill>
                  <a:srgbClr val="1A1A1A"/>
                </a:solidFill>
                <a:latin typeface="Arial"/>
              </a:rPr>
              <a:t>Overlay barrier entries: buying at a barrier support, shorting at a barrier resistance, or at a retest of a barrier.</a:t>
            </a:r>
          </a:p>
          <a:p>
            <a:pPr algn="l">
              <a:lnSpc>
                <a:spcPct val="105000"/>
              </a:lnSpc>
              <a:spcBef>
                <a:spcPts val="0"/>
              </a:spcBef>
              <a:spcAft>
                <a:spcPts val="1100"/>
              </a:spcAft>
            </a:pPr>
            <a:r>
              <a:rPr sz="17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700" b="0" i="0">
                <a:solidFill>
                  <a:srgbClr val="1A1A1A"/>
                </a:solidFill>
                <a:latin typeface="Arial"/>
              </a:rPr>
              <a:t>Random entries, and pattern or sequence-based entries.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Overlays include channels, trendlines, pivot points and price envelopes. Four ways are announced and five listed; each may be with or against the predominant trend.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pp.148-149: it announces four simple ways and lists five. The chart is ours, on invented prices.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p.149 and Figure 5.33. The book says 'as we learned in Chapter 4'; in this course they were Chapter 2's terms.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inflection point, a peak or trough, counts for more the more bars flank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with ten bars on either side of its highest bar is of strength 10. One with only two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The more bars, the more significant the peak and the stronger its resistance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pp.149-150. It gives no reason why more flanking bars make a stronger level. Strengths 2 and 10 are our example.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barrier changes sides.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6634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holds at PHP 40, then falls through it. On the next rally PHP 40 stops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66344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 barriers change roles once breached: support turns into future resistance, and resistance turns into future support. This applies to all overlay barriers, which include channels, trendlines, pivot points and price envelopes.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and Figure 5.34. It gives no reason here. The pesos are our example.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5.35. The book gives this figure no sentence of its own.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price finds support and resistance at prior peaks and troughs.</a:t>
            </a:r>
          </a:p>
          <a:p>
            <a:pPr algn="l">
              <a:lnSpc>
                <a:spcPct val="105000"/>
              </a:lnSpc>
              <a:spcBef>
                <a:spcPts val="0"/>
              </a:spcBef>
              <a:spcAft>
                <a:spcPts val="1100"/>
              </a:spcAft>
            </a:pPr>
            <a:r>
              <a:rPr sz="1800" b="0" i="0">
                <a:solidFill>
                  <a:srgbClr val="1A1A1A"/>
                </a:solidFill>
                <a:latin typeface="Arial"/>
              </a:rPr>
              <a:t>It finds them on the rising channel as well.</a:t>
            </a:r>
          </a:p>
          <a:p>
            <a:pPr algn="l">
              <a:lnSpc>
                <a:spcPct val="105000"/>
              </a:lnSpc>
              <a:spcBef>
                <a:spcPts val="0"/>
              </a:spcBef>
              <a:spcAft>
                <a:spcPts val="1100"/>
              </a:spcAft>
            </a:pPr>
            <a:r>
              <a:rPr sz="1800" b="0" i="0">
                <a:solidFill>
                  <a:srgbClr val="1A1A1A"/>
                </a:solidFill>
                <a:latin typeface="Arial"/>
              </a:rPr>
              <a:t>The cycle-tuned stochastic adds confirmation: overbought at resistance, oversold at support.</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p.151 and Figure 5.36.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Entries, swing points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Entries, swing points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sits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Simple up and down trendlines or channels time the entries. A cycle-tuned oscillator helps fine-tune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pp.151-152 and Figure 5.37. Both reasons on the slide are the book's.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Says whether a trend is on. Not 5.3's filters.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double moving average crossover. Shorter above longer: a potential uptrend starts. Shorter below longer: a potential downtrend.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helps to identify a trend amidst the market noise and price volatility. Two more: a longer-term oscillator crossing its signal line, and price contained above or below an overlay barrier, such as a moving average or trendline.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o.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p.152. The chart is ours: two moving averages of an invented line, 6 and 18 bars, lengths we chose only so the crossings show.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MACD is the trend filter. The stochastic crossing its signal line times the entries.</a:t>
            </a:r>
          </a:p>
          <a:p>
            <a:pPr algn="l">
              <a:lnSpc>
                <a:spcPct val="105000"/>
              </a:lnSpc>
              <a:spcBef>
                <a:spcPts val="0"/>
              </a:spcBef>
              <a:spcAft>
                <a:spcPts val="1100"/>
              </a:spcAft>
            </a:pPr>
            <a:r>
              <a:rPr sz="1700" b="0" i="0">
                <a:solidFill>
                  <a:srgbClr val="1A1A1A"/>
                </a:solidFill>
                <a:latin typeface="Arial"/>
              </a:rPr>
              <a:t>Long entries: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just below the previous trough for a long, just above the previous peak for a short, trailing price.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73328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MACD (Chapter 4) and the stochastic are not taught here.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pp.152-153 and Figure 5.38.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and just above significant peaks for shorts.</a:t>
            </a:r>
          </a:p>
          <a:p>
            <a:pPr algn="l">
              <a:lnSpc>
                <a:spcPct val="105000"/>
              </a:lnSpc>
              <a:spcBef>
                <a:spcPts val="0"/>
              </a:spcBef>
              <a:spcAft>
                <a:spcPts val="1100"/>
              </a:spcAft>
            </a:pPr>
            <a:r>
              <a:rPr sz="1700" b="0" i="0">
                <a:solidFill>
                  <a:srgbClr val="1A1A1A"/>
                </a:solidFill>
                <a:latin typeface="Arial"/>
              </a:rPr>
              <a:t>Too far from one: a multiple of ATR or standard deviations from the entry.</a:t>
            </a:r>
          </a:p>
          <a:p>
            <a:pPr algn="l">
              <a:lnSpc>
                <a:spcPct val="105000"/>
              </a:lnSpc>
              <a:spcBef>
                <a:spcPts val="0"/>
              </a:spcBef>
              <a:spcAft>
                <a:spcPts val="1100"/>
              </a:spcAft>
            </a:pPr>
            <a:r>
              <a:rPr sz="1700" b="0" i="0">
                <a:solidFill>
                  <a:srgbClr val="1A1A1A"/>
                </a:solidFill>
                <a:latin typeface="Arial"/>
              </a:rPr>
              <a:t>Barrier entries: stopsizes are always approximately the same, just behind the barrier.</a:t>
            </a:r>
          </a:p>
          <a:p>
            <a:pPr algn="l">
              <a:lnSpc>
                <a:spcPct val="105000"/>
              </a:lnSpc>
              <a:spcBef>
                <a:spcPts val="0"/>
              </a:spcBef>
              <a:spcAft>
                <a:spcPts val="1100"/>
              </a:spcAft>
            </a:pPr>
            <a:r>
              <a:rPr sz="1700" b="0" i="0">
                <a:solidFill>
                  <a:srgbClr val="1A1A1A"/>
                </a:solidFill>
                <a:latin typeface="Arial"/>
              </a:rPr>
              <a:t>Breakout entries: stopsizes vary with each entry.</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 The book never defines the word.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and Figure 5.39.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significant problem for traders risking a fixed percentage or fixed unit size per trade.</a:t>
            </a:r>
          </a:p>
          <a:p>
            <a:pPr algn="l">
              <a:lnSpc>
                <a:spcPct val="105000"/>
              </a:lnSpc>
              <a:spcBef>
                <a:spcPts val="0"/>
              </a:spcBef>
              <a:spcAft>
                <a:spcPts val="1100"/>
              </a:spcAft>
            </a:pPr>
            <a:r>
              <a:rPr sz="1700" b="0" i="0">
                <a:solidFill>
                  <a:srgbClr val="1A1A1A"/>
                </a:solidFill>
                <a:latin typeface="Arial"/>
              </a:rPr>
              <a:t>The tradesize varies with the stopsize, which affects the system's performance.</a:t>
            </a:r>
          </a:p>
          <a:p>
            <a:pPr algn="l">
              <a:lnSpc>
                <a:spcPct val="105000"/>
              </a:lnSpc>
              <a:spcBef>
                <a:spcPts val="0"/>
              </a:spcBef>
              <a:spcAft>
                <a:spcPts val="1100"/>
              </a:spcAft>
            </a:pPr>
            <a:r>
              <a:rPr sz="1700" b="0" i="0">
                <a:solidFill>
                  <a:srgbClr val="1A1A1A"/>
                </a:solidFill>
                <a:latin typeface="Arial"/>
              </a:rPr>
              <a:t>Worst if narrow stops, on a fixed percentage of current capital, are taken out frequently.</a:t>
            </a:r>
          </a:p>
          <a:p>
            <a:pPr algn="l">
              <a:lnSpc>
                <a:spcPct val="105000"/>
              </a:lnSpc>
              <a:spcBef>
                <a:spcPts val="0"/>
              </a:spcBef>
              <a:spcAft>
                <a:spcPts val="1100"/>
              </a:spcAft>
            </a:pPr>
            <a:r>
              <a:rPr sz="1700" b="0" i="0">
                <a:solidFill>
                  <a:srgbClr val="1A1A1A"/>
                </a:solidFill>
                <a:latin typeface="Arial"/>
              </a:rPr>
              <a:t>Or wide stops, on a fixed percentage of original capital.</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p.153. The chart is ours, and is arithmetic: PHP 10,000 at risk divided by each stopsize.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A smaller one for any wider stop.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Threshold PHP 3.00, risk limit PHP 10,000. Stops up to PHP 3.00 trade 3,333 shares. A PHP 5.00 stop trades 10,000 / 5 =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The pesos are ours: PHP 3.00 and 3,333 shares are worked out on the next slide.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300 to 500 trades for the average stopsize. Say PHP 2.00.</a:t>
            </a:r>
          </a:p>
          <a:p>
            <a:pPr algn="l">
              <a:lnSpc>
                <a:spcPct val="105000"/>
              </a:lnSpc>
              <a:spcBef>
                <a:spcPts val="0"/>
              </a:spcBef>
              <a:spcAft>
                <a:spcPts val="1100"/>
              </a:spcAft>
            </a:pPr>
            <a:r>
              <a:rPr sz="1700" b="0" i="0">
                <a:solidFill>
                  <a:srgbClr val="1A1A1A"/>
                </a:solidFill>
                <a:latin typeface="Arial"/>
              </a:rPr>
              <a:t>2  Calculate the two standard deviation value of those stopsizes. Say PHP 1.00.</a:t>
            </a:r>
          </a:p>
          <a:p>
            <a:pPr algn="l">
              <a:lnSpc>
                <a:spcPct val="105000"/>
              </a:lnSpc>
              <a:spcBef>
                <a:spcPts val="0"/>
              </a:spcBef>
              <a:spcAft>
                <a:spcPts val="1100"/>
              </a:spcAft>
            </a:pPr>
            <a:r>
              <a:rPr sz="1700" b="0" i="0">
                <a:solidFill>
                  <a:srgbClr val="1A1A1A"/>
                </a:solidFill>
                <a:latin typeface="Arial"/>
              </a:rPr>
              <a:t>3  Add them: 2.00 + 1.00 = PHP 3.00, the proportional stopsize.</a:t>
            </a:r>
          </a:p>
          <a:p>
            <a:pPr algn="l">
              <a:lnSpc>
                <a:spcPct val="105000"/>
              </a:lnSpc>
              <a:spcBef>
                <a:spcPts val="0"/>
              </a:spcBef>
              <a:spcAft>
                <a:spcPts val="1100"/>
              </a:spcAft>
            </a:pPr>
            <a:r>
              <a:rPr sz="1700" b="0" i="0">
                <a:solidFill>
                  <a:srgbClr val="1A1A1A"/>
                </a:solidFill>
                <a:latin typeface="Arial"/>
              </a:rPr>
              <a:t>4  Set the maximum risk per trade: 1 percent of PHP 1,000,000 is PHP 10,000.</a:t>
            </a:r>
          </a:p>
          <a:p>
            <a:pPr algn="l">
              <a:lnSpc>
                <a:spcPct val="105000"/>
              </a:lnSpc>
              <a:spcBef>
                <a:spcPts val="0"/>
              </a:spcBef>
              <a:spcAft>
                <a:spcPts val="1100"/>
              </a:spcAft>
            </a:pPr>
            <a:r>
              <a:rPr sz="1700" b="0" i="0">
                <a:solidFill>
                  <a:srgbClr val="1A1A1A"/>
                </a:solidFill>
                <a:latin typeface="Arial"/>
              </a:rPr>
              <a:t>5  Divide: 10,000 / 3.00 = 3,333 shares, the proportional tradesize.</a:t>
            </a:r>
          </a:p>
        </p:txBody>
      </p:sp>
      <p:sp>
        <p:nvSpPr>
          <p:cNvPr id="8" name="TextBox 7"/>
          <p:cNvSpPr txBox="1"/>
          <p:nvPr/>
        </p:nvSpPr>
        <p:spPr>
          <a:xfrm>
            <a:off x="777240" y="57104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divide PHP 10,000 by the stopsize.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r.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p.154, its five steps. It gives no reason for 300 to 500 trades, or for adding two standard deviations. Every peso amount is ours.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It must not cut through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s.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It gives no reason why the third contact confirms a line. The pesos and the chart are ours.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and Figure 5.40.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to price action.</a:t>
            </a:r>
          </a:p>
          <a:p>
            <a:pPr algn="l">
              <a:lnSpc>
                <a:spcPct val="105000"/>
              </a:lnSpc>
              <a:spcBef>
                <a:spcPts val="0"/>
              </a:spcBef>
              <a:spcAft>
                <a:spcPts val="1100"/>
              </a:spcAft>
            </a:pPr>
            <a:r>
              <a:rPr sz="1700" b="0" i="0">
                <a:solidFill>
                  <a:srgbClr val="1A1A1A"/>
                </a:solidFill>
                <a:latin typeface="Arial"/>
              </a:rPr>
              <a:t>Most participants place buy orders above a barrier and short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t.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pp.155-156, reason included. The chart is ours, on invented prices.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kept under a new name.</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head and shoulders neckline is breached, and price very frequently comes back to retest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21208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trendline is invalidated once it is breached, and is thereafter referred to as an internal line. The new uptrend line is drawn between the original lower trough and the new significant trough; for downtrends, between the original higher peak and the new significant peak.</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p.156 and Figure 5.41.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 depends on the filtering employed.</a:t>
            </a:r>
          </a:p>
          <a:p>
            <a:pPr algn="l">
              <a:lnSpc>
                <a:spcPct val="105000"/>
              </a:lnSpc>
              <a:spcBef>
                <a:spcPts val="0"/>
              </a:spcBef>
              <a:spcAft>
                <a:spcPts val="1100"/>
              </a:spcAft>
            </a:pPr>
            <a:r>
              <a:rPr sz="1800" b="0" i="0">
                <a:solidFill>
                  <a:srgbClr val="1A1A1A"/>
                </a:solidFill>
                <a:latin typeface="Arial"/>
              </a:rPr>
              <a:t>Closing filter rule: a penetration is valid only once price closes beyond the line.</a:t>
            </a:r>
          </a:p>
          <a:p>
            <a:pPr algn="l">
              <a:lnSpc>
                <a:spcPct val="105000"/>
              </a:lnSpc>
              <a:spcBef>
                <a:spcPts val="0"/>
              </a:spcBef>
              <a:spcAft>
                <a:spcPts val="1100"/>
              </a:spcAft>
            </a:pPr>
            <a:r>
              <a:rPr sz="1800" b="0" i="0">
                <a:solidFill>
                  <a:srgbClr val="1A1A1A"/>
                </a:solidFill>
                <a:latin typeface="Arial"/>
              </a:rPr>
              <a:t>A very significant intraday penetration that closes back above an uptrend line: significant, but invalid.</a:t>
            </a:r>
          </a:p>
          <a:p>
            <a:pPr algn="l">
              <a:lnSpc>
                <a:spcPct val="105000"/>
              </a:lnSpc>
              <a:spcBef>
                <a:spcPts val="0"/>
              </a:spcBef>
              <a:spcAft>
                <a:spcPts val="1100"/>
              </a:spcAft>
            </a:pPr>
            <a:r>
              <a:rPr sz="1800" b="0" i="0">
                <a:solidFill>
                  <a:srgbClr val="1A1A1A"/>
                </a:solidFill>
                <a:latin typeface="Arial"/>
              </a:rPr>
              <a:t>The book's answer: price-based filters only, or double-stage filtering with a price-based second filter.</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Either way a new trendline may still be drawn. The trader monitors price reactions at both lines.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pp.156-157. The chart is ours, on invented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institutions included. Whipsaw: still undefined, as in Chapter 4.</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v.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p.157. It gives no reason for 35 to 45 degrees, and does not say on what scaling the angle is measured. The chart is ours.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with other indicators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w.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pp.157-158, reasons included. The chart is ours, on invented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21</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p.158 and Figure 5.42. The pesos are our example of the one-to-one projection.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 straight lines catch any trend change effectively, with no need to identify price patterns.</a:t>
            </a:r>
          </a:p>
          <a:p>
            <a:pPr algn="l">
              <a:lnSpc>
                <a:spcPct val="118000"/>
              </a:lnSpc>
              <a:spcBef>
                <a:spcPts val="0"/>
              </a:spcBef>
              <a:spcAft>
                <a:spcPts val="1300"/>
              </a:spcAft>
            </a:pPr>
            <a:r>
              <a:rPr sz="2100" b="0" i="0">
                <a:solidFill>
                  <a:srgbClr val="1A1A1A"/>
                </a:solidFill>
                <a:latin typeface="Arial"/>
              </a:rPr>
              <a:t>Strength: simple to construct, and applied and viewable across all timeframes and markets.</a:t>
            </a:r>
          </a:p>
          <a:p>
            <a:pPr algn="l">
              <a:lnSpc>
                <a:spcPct val="118000"/>
              </a:lnSpc>
              <a:spcBef>
                <a:spcPts val="0"/>
              </a:spcBef>
              <a:spcAft>
                <a:spcPts val="1300"/>
              </a:spcAft>
            </a:pPr>
            <a:r>
              <a:rPr sz="2100" b="0" i="0">
                <a:solidFill>
                  <a:srgbClr val="1A1A1A"/>
                </a:solidFill>
                <a:latin typeface="Arial"/>
              </a:rPr>
              <a:t>Weakness: subject to whipsaws, like moving averages, and less effective in erratic, volatile or ranging markets.</a:t>
            </a:r>
          </a:p>
          <a:p>
            <a:pPr algn="l">
              <a:lnSpc>
                <a:spcPct val="118000"/>
              </a:lnSpc>
              <a:spcBef>
                <a:spcPts val="0"/>
              </a:spcBef>
              <a:spcAft>
                <a:spcPts val="1300"/>
              </a:spcAft>
            </a:pPr>
            <a:r>
              <a:rPr sz="2100" b="0" i="0">
                <a:solidFill>
                  <a:srgbClr val="1A1A1A"/>
                </a:solidFill>
                <a:latin typeface="Arial"/>
              </a:rPr>
              <a:t>Weakness: affected by the type of scaling used, Chapter 3's ratio or linear.</a:t>
            </a:r>
          </a:p>
          <a:p>
            <a:pPr algn="l">
              <a:lnSpc>
                <a:spcPct val="118000"/>
              </a:lnSpc>
              <a:spcBef>
                <a:spcPts val="0"/>
              </a:spcBef>
              <a:spcAft>
                <a:spcPts val="1300"/>
              </a:spcAft>
            </a:pPr>
            <a:r>
              <a:rPr sz="2100" b="0" i="0">
                <a:solidFill>
                  <a:srgbClr val="1A1A1A"/>
                </a:solidFill>
                <a:latin typeface="Arial"/>
              </a:rPr>
              <a:t>Weakness: a consolidation may breach a line without a legitimate reversal.</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pp.158-159: its own list of four strengths and three weaknesses.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pullback in an uptrend, broken upward: a continuation trendline.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0292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Those that allow a breakout in the opposite direction are reversal trendlines. First ascertain which wave degree is being observed.</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p.159 and Figure 5.43.</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pp.159-160 and Figure 5.44.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transitions through smaller channels within a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5.45 on p.161.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Nested channeling again, this time on a chart of the USDCAD.</a:t>
            </a:r>
          </a:p>
          <a:p>
            <a:pPr algn="l">
              <a:lnSpc>
                <a:spcPct val="105000"/>
              </a:lnSpc>
              <a:spcBef>
                <a:spcPts val="0"/>
              </a:spcBef>
              <a:spcAft>
                <a:spcPts val="1100"/>
              </a:spcAft>
            </a:pPr>
            <a:r>
              <a:rPr sz="2000" b="0" i="0">
                <a:solidFill>
                  <a:srgbClr val="1A1A1A"/>
                </a:solidFill>
                <a:latin typeface="Arial"/>
              </a:rPr>
              <a:t>Notice the channels reacting at the Fibonacci retracement levels.</a:t>
            </a:r>
          </a:p>
        </p:txBody>
      </p:sp>
      <p:sp>
        <p:nvSpPr>
          <p:cNvPr id="8" name="TextBox 7"/>
          <p:cNvSpPr txBox="1"/>
          <p:nvPr/>
        </p:nvSpPr>
        <p:spPr>
          <a:xfrm>
            <a:off x="777240" y="3776472"/>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caption under this figure repeats Figure 5.45's and says Silver. Its text says USDCAD. Retracements are section 5.7.</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5.46 on p.161.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Channels are extremely useful for projecting potential price targets.</a:t>
            </a:r>
          </a:p>
          <a:p>
            <a:pPr algn="l">
              <a:lnSpc>
                <a:spcPct val="105000"/>
              </a:lnSpc>
              <a:spcBef>
                <a:spcPts val="0"/>
              </a:spcBef>
              <a:spcAft>
                <a:spcPts val="1100"/>
              </a:spcAft>
            </a:pPr>
            <a:r>
              <a:rPr sz="1700" b="0" i="0">
                <a:solidFill>
                  <a:srgbClr val="1A1A1A"/>
                </a:solidFill>
                <a:latin typeface="Arial"/>
              </a:rPr>
              <a:t>The return line serves as a possible price target, providing resistance to the motion of price.</a:t>
            </a:r>
          </a:p>
          <a:p>
            <a:pPr algn="l">
              <a:lnSpc>
                <a:spcPct val="105000"/>
              </a:lnSpc>
              <a:spcBef>
                <a:spcPts val="0"/>
              </a:spcBef>
              <a:spcAft>
                <a:spcPts val="1100"/>
              </a:spcAft>
            </a:pPr>
            <a:r>
              <a:rPr sz="1700" b="0" i="0">
                <a:solidFill>
                  <a:srgbClr val="1A1A1A"/>
                </a:solidFill>
                <a:latin typeface="Arial"/>
              </a:rPr>
              <a:t>In the figure the price targets at points 5 and 6 were forecast accurately by channel projection.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Project the return line forward, and read the target where price meets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5.47 on p.162.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x.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pp.160-161. The chart is ours, on invented prices: the book makes the point on its Figure 5.14.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failed test of one boundary points to a breakout in the opposite direction. In an uptrend that is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Sperandeo's rule for which two points to join.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lowest trough to the highest minor trough preceding the highest peak. Downtrend line: from the highest peak to the lowest minor peak preceding the lowest trough. From Victor Sperandeo's book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and Figure 5.48 on p.163. The pesos are our example.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more responsive line: newest points first.</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and Figure 5.49 on p.163.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three uptrend lines from a significant lower trough to gradually declining higher troughs. Accelerating: the mirror, three downtrend lines from a significant higher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p.163, and Figure 5.50 on p.164. It says to draw only three lines and gives no reason.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range from PHP 40 to PHP 60 gives a vertical line PHP 20 tall, with three marks on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To construct a bearish one: identify a significant Fibonacci retracement range. Draw a vertical line from the peak of the range to the trough's price level. Divide it into 38.2, 50 and 61.8 percent levels. Project three lines from the trough, intercepting those three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and Figure 5.51. The three percentages are given and not derived; the book's Chapter 10 is Fibonacci. The pesos are our example.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also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and Figure 5.52 on p.165. It gives no reason for thirds.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a geometric overlay.</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support at the median line and upper band. Bullish: the converse.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geometrically based price overlay whose lines provide support and resistance. Bearish: after a significant peak, take an upside retracement that does not exceed it. The median line runs from the peak through the midpoint between the retracement trough and peak. Project parallels from both.</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p.165 and Figure 5.53.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various ratios related to the Fibonacci Phi ratio.</a:t>
            </a:r>
          </a:p>
          <a:p>
            <a:pPr algn="l">
              <a:lnSpc>
                <a:spcPct val="105000"/>
              </a:lnSpc>
              <a:spcBef>
                <a:spcPts val="0"/>
              </a:spcBef>
              <a:spcAft>
                <a:spcPts val="1100"/>
              </a:spcAft>
            </a:pPr>
            <a:r>
              <a:rPr sz="1700" b="0" i="0">
                <a:solidFill>
                  <a:srgbClr val="1A1A1A"/>
                </a:solidFill>
                <a:latin typeface="Arial"/>
              </a:rPr>
              <a:t>Dow, as in Chapter 2, paid particular attention to the one-third and two-thirds retracements.</a:t>
            </a:r>
          </a:p>
          <a:p>
            <a:pPr algn="l">
              <a:lnSpc>
                <a:spcPct val="105000"/>
              </a:lnSpc>
              <a:spcBef>
                <a:spcPts val="0"/>
              </a:spcBef>
              <a:spcAft>
                <a:spcPts val="1100"/>
              </a:spcAft>
            </a:pPr>
            <a:r>
              <a:rPr sz="1700" b="0" i="0">
                <a:solidFill>
                  <a:srgbClr val="1A1A1A"/>
                </a:solidFill>
                <a:latin typeface="Arial"/>
              </a:rPr>
              <a:t>Gann employed one-third and one-eighth retracement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46354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leaves the detail to 'a subsequent chapter', unnamed. Its Chapter 10 is Fibonacci and its Chapter 19 Gann.</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5.54. None of the percentages is derived here; the book leaves that to a later chapter.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The chart is ours: a rise from PHP 40 to PHP 60, chosen so that 50 percent falls on PHP 50.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in the trend it opens.</a:t>
            </a:r>
          </a:p>
        </p:txBody>
      </p:sp>
      <p:sp>
        <p:nvSpPr>
          <p:cNvPr id="10" name="Rectangle 9"/>
          <p:cNvSpPr/>
          <p:nvPr/>
        </p:nvSpPr>
        <p:spPr>
          <a:xfrm>
            <a:off x="777240" y="297484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 of Chapter 3's gaps.</a:t>
            </a:r>
          </a:p>
        </p:txBody>
      </p:sp>
      <p:sp>
        <p:nvSpPr>
          <p:cNvPr id="12" name="Rectangle 11"/>
          <p:cNvSpPr/>
          <p:nvPr/>
        </p:nvSpPr>
        <p:spPr>
          <a:xfrm>
            <a:off x="777240" y="3691127"/>
            <a:ext cx="64008" cy="20147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645407"/>
            <a:ext cx="5394960" cy="21244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5.55 on p.167.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help to define the stages within a trend, and so indicate potential tops and bottoms.</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rejection is at the high of what the book calls a very bearish shooting star pattern. Candlesticks are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pp.166-167 and Figure 5.56.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Gaps tend to create areas of potential support and resistance.</a:t>
            </a:r>
          </a:p>
          <a:p>
            <a:pPr algn="l">
              <a:lnSpc>
                <a:spcPct val="105000"/>
              </a:lnSpc>
              <a:spcBef>
                <a:spcPts val="0"/>
              </a:spcBef>
              <a:spcAft>
                <a:spcPts val="1100"/>
              </a:spcAft>
            </a:pPr>
            <a:r>
              <a:rPr sz="1700" b="0" i="0">
                <a:solidFill>
                  <a:srgbClr val="1A1A1A"/>
                </a:solidFill>
                <a:latin typeface="Arial"/>
              </a:rPr>
              <a:t>On the weekly Wheat chart the gaps give rise to subsequent levels of support.</a:t>
            </a:r>
          </a:p>
          <a:p>
            <a:pPr algn="l">
              <a:lnSpc>
                <a:spcPct val="105000"/>
              </a:lnSpc>
              <a:spcBef>
                <a:spcPts val="0"/>
              </a:spcBef>
              <a:spcAft>
                <a:spcPts val="1100"/>
              </a:spcAft>
            </a:pPr>
            <a:r>
              <a:rPr sz="1700" b="0" i="0">
                <a:solidFill>
                  <a:srgbClr val="1A1A1A"/>
                </a:solidFill>
                <a:latin typeface="Arial"/>
              </a:rPr>
              <a:t>On a 15 minute chart of GLD, gaps give rise to areas of both support and resistance.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cycle-tuned stochastic helps to corroborate the levels: overbought at resistance, oversold at support.</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pp.167-168 and Figure 5.57.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Trade one way only, or whichever way it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Take only breakouts with the trend and, over the long term, you have traded both ways: micro-unidirectional entries are equivalent to a macro-bidirectional approach, unless a qualified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pp.168-169 and Figure 5.58.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Drummond's way to stay on the right side.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above the PLdot: the market is regarded as bullish. Below the PLdot: bearish. Some buy when it turns up and sell when it turns down.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Charles Drummond's method: a short-term moving average, the PLdot line, and inter-bar trendlines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p.169 and Figure 5.59. It gives no reason for three periods. The forward shift is for an early read of market sentiment.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historical support levels.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The chart is ours, on invented prices.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overbought signals at tops, oversold signals at bottoms.</a:t>
            </a:r>
          </a:p>
          <a:p>
            <a:pPr algn="l">
              <a:lnSpc>
                <a:spcPct val="118000"/>
              </a:lnSpc>
              <a:spcBef>
                <a:spcPts val="0"/>
              </a:spcBef>
              <a:spcAft>
                <a:spcPts val="1300"/>
              </a:spcAft>
            </a:pPr>
            <a:r>
              <a:rPr sz="2100" b="0" i="0">
                <a:solidFill>
                  <a:srgbClr val="1A1A1A"/>
                </a:solidFill>
                <a:latin typeface="Arial"/>
              </a:rPr>
              <a:t>Bearish divergence with price at market tops, bullish divergence at bottoms.</a:t>
            </a:r>
          </a:p>
          <a:p>
            <a:pPr algn="l">
              <a:lnSpc>
                <a:spcPct val="118000"/>
              </a:lnSpc>
              <a:spcBef>
                <a:spcPts val="0"/>
              </a:spcBef>
              <a:spcAft>
                <a:spcPts val="1300"/>
              </a:spcAft>
            </a:pPr>
            <a:r>
              <a:rPr sz="2100" b="0" i="0">
                <a:solidFill>
                  <a:srgbClr val="1A1A1A"/>
                </a:solidFill>
                <a:latin typeface="Arial"/>
              </a:rPr>
              <a:t>The oscillator crossing below its signal and equilibrium line at tops, above at bottoms.</a:t>
            </a:r>
          </a:p>
          <a:p>
            <a:pPr algn="l">
              <a:lnSpc>
                <a:spcPct val="118000"/>
              </a:lnSpc>
              <a:spcBef>
                <a:spcPts val="0"/>
              </a:spcBef>
              <a:spcAft>
                <a:spcPts val="1300"/>
              </a:spcAft>
            </a:pPr>
            <a:r>
              <a:rPr sz="2100" b="0" i="0">
                <a:solidFill>
                  <a:srgbClr val="1A1A1A"/>
                </a:solidFill>
                <a:latin typeface="Arial"/>
              </a:rPr>
              <a:t>Candlesticks: bearish formations at market tops, bullish formations at bottoms.</a:t>
            </a:r>
          </a:p>
          <a:p>
            <a:pPr algn="l">
              <a:lnSpc>
                <a:spcPct val="118000"/>
              </a:lnSpc>
              <a:spcBef>
                <a:spcPts val="0"/>
              </a:spcBef>
              <a:spcAft>
                <a:spcPts val="1300"/>
              </a:spcAft>
            </a:pPr>
            <a:r>
              <a:rPr sz="2100" b="0" i="0">
                <a:solidFill>
                  <a:srgbClr val="1A1A1A"/>
                </a:solidFill>
                <a:latin typeface="Arial"/>
              </a:rPr>
              <a:t>Intermarket: bearish action in the broad markets leading to a top in the stock, bullish action in highly correlated markets leading to a bottom.</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calls this section a summary and refers to the relevant chapters for each approach.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 in a climax</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 in a climax</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Retracements, gaps and the signs in 5.11 warn that a trend may reverse.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 its summary is three sentences. These five are ours, of the whole chapter.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Explain the advantages of proportional sizing, and of price-based filters.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Question 4 says 12 ways; section 5.2 lists 16.</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Used, not taught: typical price, the cycle-tuned stochastic, MACD, candlesticks.</a:t>
            </a:r>
          </a:p>
          <a:p>
            <a:pPr algn="l">
              <a:lnSpc>
                <a:spcPct val="118000"/>
              </a:lnSpc>
              <a:spcBef>
                <a:spcPts val="0"/>
              </a:spcBef>
              <a:spcAft>
                <a:spcPts val="1300"/>
              </a:spcAft>
            </a:pPr>
            <a:r>
              <a:rPr sz="2100" b="0" i="0">
                <a:solidFill>
                  <a:srgbClr val="1A1A1A"/>
                </a:solidFill>
                <a:latin typeface="Arial"/>
              </a:rPr>
              <a:t>Sent ahead: divergence, Chapter 9. Channels, Chapter 13. Elliott, Chapter 18. Tradesizing, Chapter 28.</a:t>
            </a:r>
          </a:p>
          <a:p>
            <a:pPr algn="l">
              <a:lnSpc>
                <a:spcPct val="118000"/>
              </a:lnSpc>
              <a:spcBef>
                <a:spcPts val="0"/>
              </a:spcBef>
              <a:spcAft>
                <a:spcPts val="1300"/>
              </a:spcAft>
            </a:pPr>
            <a:r>
              <a:rPr sz="2100" b="0" i="0">
                <a:solidFill>
                  <a:srgbClr val="1A1A1A"/>
                </a:solidFill>
                <a:latin typeface="Arial"/>
              </a:rPr>
              <a:t>Sixteen characteristics in 5.2, twelve in review question 4. Four entry modes announced, five listed.</a:t>
            </a:r>
          </a:p>
          <a:p>
            <a:pPr algn="l">
              <a:lnSpc>
                <a:spcPct val="118000"/>
              </a:lnSpc>
              <a:spcBef>
                <a:spcPts val="0"/>
              </a:spcBef>
              <a:spcAft>
                <a:spcPts val="1300"/>
              </a:spcAft>
            </a:pPr>
            <a:r>
              <a:rPr sz="2100" b="0" i="0">
                <a:solidFill>
                  <a:srgbClr val="1A1A1A"/>
                </a:solidFill>
                <a:latin typeface="Arial"/>
              </a:rPr>
              <a:t>Figure 5.24: $3.30 a day in the text, $3.80 on the figure.</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