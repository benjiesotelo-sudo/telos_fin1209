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what a trend is, how to judge its quality, and how to get in and out of one.</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seven learning objectives, trimmed to six lines. The fifth line joins its fifth and sixth.</a:t>
            </a:r>
          </a:p>
          <a:p>
            <a:r>
              <a:rPr sz="1400"/>
              <a:t>- Do not read all of them aloud. Say the first and the last, and that every one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parts are the book's own sections.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to Chapter 2: the same three trends. Today's question is what a trend is, and how to tell a healthy one.</a:t>
            </a:r>
          </a:p>
          <a:p>
            <a:r>
              <a:rPr sz="1400"/>
              <a:t>- Point at the chart: the long rise is the primary trend, the fall inside it a secondary reaction, the small swings minor trends.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what is a trend. The book calls this peak and trough analysis, and the most popular definition of a trend.</a:t>
            </a:r>
          </a:p>
          <a:p>
            <a:r>
              <a:rPr sz="1400"/>
              <a:t>- HH is a higher high and HL a higher low. Where the sequence stops, the figure says the uptrend has technically ended.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labels left to right: H, L, then LH and LL three times over.</a:t>
            </a:r>
          </a:p>
          <a:p>
            <a:r>
              <a:rPr sz="1400"/>
              <a:t>- The definition asks for both, lower highs and lower lows,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2: the disadvantages of defining market and price action.</a:t>
            </a:r>
          </a:p>
          <a:p>
            <a:r>
              <a:rPr sz="1400"/>
              <a:t>- Ask the room: do we deny that scenarios 3 and 4 were trends? The book leaves it as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to right in the figure: above a trendline, above a chosen level, no reversal of the minimum amount. The converse holds for downtrends.</a:t>
            </a:r>
          </a:p>
          <a:p>
            <a:r>
              <a:rPr sz="1400"/>
              <a:t>- Other overlays the book names: the lower Bollinger, linear regression and moving average band, and the lower boundary of a chart pattern.</a:t>
            </a:r>
          </a:p>
          <a:p>
            <a:r>
              <a:rPr sz="1400"/>
              <a:t>- The chosen level is often a historically significant support, whose violation implies a very high probability of the trend reversing.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three in the figure: the thick line is the HWC, the dotted line the MWC, the thin line the LWC.</a:t>
            </a:r>
          </a:p>
          <a:p>
            <a:r>
              <a:rPr sz="1400"/>
              <a:t>- The book calls it critical that a trader be able to visualize price cycles 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Five inabilities in the book, on four lines here: breakout levels and stoploss levels share one.</a:t>
            </a:r>
          </a:p>
          <a:p>
            <a:r>
              <a:rPr sz="1400"/>
              <a:t>- The figure labels one rise three ways. Point at the three sets of labels and do not teach the count: that is Chapter 18.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answers to one question on one chart: flat, ranging, trending.</a:t>
            </a:r>
          </a:p>
          <a:p>
            <a:r>
              <a:rPr sz="1400"/>
              <a:t>- This is why the last slide matters: the same price is a trend to one trader and a range to another.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levels in the figure: several small ones, two medium, one large. Each is a breakout to somebody.</a:t>
            </a:r>
          </a:p>
          <a:p>
            <a:r>
              <a:rPr sz="1400"/>
              <a:t>- Stopsizing comes back in section 5.5. For now: a stop sized for one degree is the wrong size for another.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arrow at the top of the figure marks the one moment all three degrees turn at once.</a:t>
            </a:r>
          </a:p>
          <a:p>
            <a:r>
              <a:rPr sz="1400"/>
              <a:t>- It runs one way only: the small waves reverse many times on the way up without the large one turning.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uses all four words through the rest of the chapter. This is the one place it says how they differ.</a:t>
            </a:r>
          </a:p>
          <a:p>
            <a:r>
              <a:rPr sz="1400"/>
              <a:t>- Reversal and retracement are the general words. Correction and pullback are the small case.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the highs rise and the lows fall together, an uptrend by one measure and a downtrend by the other.</a:t>
            </a:r>
          </a:p>
          <a:p>
            <a:r>
              <a:rPr sz="1400"/>
              <a:t>- Typical price is named and not defined in this chapter. Do not supply a formula.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from this slide. It is the map of this part: say that each number gets a slide and a picture of its own.</a:t>
            </a:r>
          </a:p>
          <a:p>
            <a:r>
              <a:rPr sz="1400"/>
              <a:t>- Price is regarded as the most important indicator of potential future price action. That is why the list is about price.</a:t>
            </a:r>
          </a:p>
          <a:p>
            <a:r>
              <a:rPr sz="1400"/>
              <a:t>- Review question 4 asks for 12 ways price action may be understood. The section lists 16. Teach the 16.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figure the long arrows are up cycle amplitudes and the short ones down cycle amplitudes. Both shrink, swing after swing.</a:t>
            </a:r>
          </a:p>
          <a:p>
            <a:r>
              <a:rPr sz="1400"/>
              <a:t>- The pattern for all sixteen: a variation in something, and what that variation says about the trend.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figure's three labels are bearish, neutral or bullish, and bullish or volatile. The text calls the even one bullish in an uptrend.</a:t>
            </a:r>
          </a:p>
          <a:p>
            <a:r>
              <a:rPr sz="1400"/>
              <a:t>- For expanding formations in a downtrend the book says only that the converse applies.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reading as amplitude, with the swings measured sideways: each one takes less time than the one before.</a:t>
            </a:r>
          </a:p>
          <a:p>
            <a:r>
              <a:rPr sz="1400"/>
              <a:t>- The book defines neither word. The two figures do it by where they put their arrows.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Consistent symmetry indicates strong trend action: that is the figure's own label.</a:t>
            </a:r>
          </a:p>
          <a:p>
            <a:r>
              <a:rPr sz="1400"/>
              <a:t>- The same figure comes back with channels: here price also fails to reach the lower channel line before it breaks out.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of rule as the first two: something shrinking in an uptrend is weakness, in a downtrend it is bullish.</a:t>
            </a:r>
          </a:p>
          <a:p>
            <a:r>
              <a:rPr sz="1400"/>
              <a:t>- Chapter 3 gave the true range: the greater of the bar's range and the distance from the last close. That is why the ATR sees gaps.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panels: price, volume, ATR. Price and volume rise together while the ATR falls the whole way up.</a:t>
            </a:r>
          </a:p>
          <a:p>
            <a:r>
              <a:rPr sz="1400"/>
              <a:t>- One characteristic disagreed with everything else on the chart, and it was the one that was right.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tests for high quality price, both about the bars: small ranges, and ranges about equal to each other.</a:t>
            </a:r>
          </a:p>
          <a:p>
            <a:r>
              <a:rPr sz="1400"/>
              <a:t>- Left box against right box: the same market, a week apart, easy to track and then hard to track.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text gives the words and Figure 5.18 prints the formula. The pesos are ours.</a:t>
            </a:r>
          </a:p>
          <a:p>
            <a:r>
              <a:rPr sz="1400"/>
              <a:t>- The standard stochastic oscillator compares the close with the last N periods. This one looks inside a single bar. %K is named, not taught.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keeps rising while the closes sink within their bars. The average of the ratio makes that visible.</a:t>
            </a:r>
          </a:p>
          <a:p>
            <a:r>
              <a:rPr sz="1400"/>
              <a:t>- Read the figure's labels and stop. What divergence is, formally, waits for Chapter 9.</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real body was Chapter 3: the boxed space between the open and the close.</a:t>
            </a:r>
          </a:p>
          <a:p>
            <a:r>
              <a:rPr sz="1400"/>
              <a:t>- Bar stochastic asks where the bar closed. This one asks how much of the bar the open-to-close move covered.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 1 was followed by a steady rise, so the book expects the same after trendline 2, following a minor correction at point 3.</a:t>
            </a:r>
          </a:p>
          <a:p>
            <a:r>
              <a:rPr sz="1400"/>
              <a:t>- It says 3M went on to rise above $140, which the chart does not show. The caption says hourly; the chart itself is daily.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Speeding up is with the trend, slowing down is against it. Four cases, one rule.</a:t>
            </a:r>
          </a:p>
          <a:p>
            <a:r>
              <a:rPr sz="1400"/>
              <a:t>- After a blow-off or buying climax prices subsequently collapse, the book says. Both climaxes came up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Characteristic 4 and characteristic 8 on one chart. Two warnings agreeing is worth more than either alone.</a:t>
            </a:r>
          </a:p>
          <a:p>
            <a:r>
              <a:rPr sz="1400"/>
              <a:t>- The book's caption calls it diminishing angular momentum.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parallel strokes on the left are the same angle: angular symmetry again, stated as dollars per day.</a:t>
            </a:r>
          </a:p>
          <a:p>
            <a:r>
              <a:rPr sz="1400"/>
              <a:t>- Two slips in the book on this one figure. Say them once, plainly, and teach the idea: a change of rate is a change of regime.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barrier here is a support level set by an earlier low. A strong downtrend meets it and turns.</a:t>
            </a:r>
          </a:p>
          <a:p>
            <a:r>
              <a:rPr sz="1400"/>
              <a:t>- Say overbought and oversold as the figure does. The oscillator itself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With some profit taken off the table, traders react less emotionally at higher prices. That is the book's reason.</a:t>
            </a:r>
          </a:p>
          <a:p>
            <a:r>
              <a:rPr sz="1400"/>
              <a:t>- The grey boxes in the figure say it in full: pent-up profit and emotions create more fear of losing capital and profit.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of the sixteen on one stock: few oscillations, characteristic 10, and a falling ATR, characteristic 4.</a:t>
            </a:r>
          </a:p>
          <a:p>
            <a:r>
              <a:rPr sz="1400"/>
              <a:t>- The second rise toward the historical high has a similar rate and as little profit taking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longer a consolidation takes to unfold, the greater its disruptive power with respect to the trend, should a reversal occur.</a:t>
            </a:r>
          </a:p>
          <a:p>
            <a:r>
              <a:rPr sz="1400"/>
              <a:t>- The two boxes on the chart hold the same kind of sideways movement. Only their size differs.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names the three gaps breakaway, runaway and exhaustion. Section 5.8 defines them.</a:t>
            </a:r>
          </a:p>
          <a:p>
            <a:r>
              <a:rPr sz="1400"/>
              <a:t>- Chapter 4 met the same three as Sakata's San Ku, three gaps.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period can be any chosen duration of observation. The book's example is a day.</a:t>
            </a:r>
          </a:p>
          <a:p>
            <a:r>
              <a:rPr sz="1400"/>
              <a:t>- When looking for the reversal, pay special attention to supportive and resistive confluences.</a:t>
            </a:r>
          </a:p>
          <a:p>
            <a:r>
              <a:rPr sz="1400"/>
              <a:t>- The book advises a simple backtest to find the most reliable lookback period for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is overextension, bottom row is the false breakout. The lines are the same; the side differs.</a:t>
            </a:r>
          </a:p>
          <a:p>
            <a:r>
              <a:rPr sz="1400"/>
              <a:t>- The book's caption for this figure is simply price exhaustion.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very large and very small, very large and very low, each time. The slide drops the word very to fit.</a:t>
            </a:r>
          </a:p>
          <a:p>
            <a:r>
              <a:rPr sz="1400"/>
              <a:t>- Only the squat bar is called a significantly stronger indication of reversal: a large commitment of capital and no further extension in price.</a:t>
            </a:r>
          </a:p>
          <a:p>
            <a:r>
              <a:rPr sz="1400"/>
              <a:t>- The two low volume cases are trend inhibiting, though not necessarily a reversal.</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on this slide: the book explains nothing about divergence here and sends the reader to Chapter 9.</a:t>
            </a:r>
          </a:p>
          <a:p>
            <a:r>
              <a:rPr sz="1400"/>
              <a:t>- Figures 5.19 and 5.27 have already labelled divergences. That is as far as this chapter takes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met filters on a breakout. This section sorts them by what each one pins down: the price, the time, or neither.</a:t>
            </a:r>
          </a:p>
          <a:p>
            <a:r>
              <a:rPr sz="1400"/>
              <a:t>- Without a filter a profitable performance is unrepeatable, the book says, because it cannot be backtested.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is the same list beside a trendline penetration: how far through the line must price go before it counts?</a:t>
            </a:r>
          </a:p>
          <a:p>
            <a:r>
              <a:rPr sz="1400"/>
              <a:t>- Chapter 1's prose called the third family algorithmic and its Figure 1.21 called it event-based. This chapter's list settles it one way and its review question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a price-based filter names the price, so the risk on the trade is known before it is taken.</a:t>
            </a:r>
          </a:p>
          <a:p>
            <a:r>
              <a:rPr sz="1400"/>
              <a:t>- The closing violation is still the trigger. The price filter is only there to limit risk should the violation be overextended.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words open a position and two close one. Liquidate belongs to a long, cover belongs to a short.</a:t>
            </a:r>
          </a:p>
          <a:p>
            <a:r>
              <a:rPr sz="1400"/>
              <a:t>- Work the box in the figure aloud: 70 less 50, then 70 less 40. The short made more because it sold high and bought back lower.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lists these four as what the principle of buying low and selling high involves.</a:t>
            </a:r>
          </a:p>
          <a:p>
            <a:r>
              <a:rPr sz="1400"/>
              <a:t>- Follow the numbers on the chart: trades 1 and 2 ride the rise, trades 3 and 4 ride the fall.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 reads 'cannot guarantee that an order will be executed, or filled at the specified price, but it can guarantee execution'. Its later sentences settle it: execution yes, price no.</a:t>
            </a:r>
          </a:p>
          <a:p>
            <a:r>
              <a:rPr sz="1400"/>
              <a:t>- Stop orders may wait as pending, or working, orders. For entry: a buystop or a sellstop. To exit a position that moves adversely: a stoploss.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stop becomes a market order, and the market had no price between 48 and 46.50 to give.</a:t>
            </a:r>
          </a:p>
          <a:p>
            <a:r>
              <a:rPr sz="1400"/>
              <a:t>- Slippage can be positive too. The next term is the order that only ever gets the positive kind.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stop order: the price is guaranteed and the execution is not.</a:t>
            </a:r>
          </a:p>
          <a:p>
            <a:r>
              <a:rPr sz="1400"/>
              <a:t>- Limit orders can only be placed as pending, or working, orders, never instantaneously. Only positive slippage is possible with them.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Profit is taken with a limit and a loss is cut with a stop, on either side of the market.</a:t>
            </a:r>
          </a:p>
          <a:p>
            <a:r>
              <a:rPr sz="1400"/>
              <a:t>- The limit exit is the profit-take, or take profit, order. Under gapping price action it can exit with greater profit.</a:t>
            </a:r>
          </a:p>
          <a:p>
            <a:r>
              <a:rPr sz="1400"/>
              <a:t>- Negative slippage may sometimes occur when placing market orders.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summary of the section. Read the top row, then the bottom row as its mirror.</a:t>
            </a:r>
          </a:p>
          <a:p>
            <a:r>
              <a:rPr sz="1400"/>
              <a:t>- Entries above the market: a buystop if prices are expected to rise higher, a sell limit if they are expected to reverse there.</a:t>
            </a:r>
          </a:p>
          <a:p>
            <a:r>
              <a:rPr sz="1400"/>
              <a:t>- Entries below: a sellstop if prices are expected to continue to decline, a buy limit if they are expected to reverse.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these are instructions about time and conditions, and the book gives each one line.</a:t>
            </a:r>
          </a:p>
          <a:p>
            <a:r>
              <a:rPr sz="1400"/>
              <a:t>- MIT sits in Figure 5.32 as a profit exit, or an entry at any price. The book describes it as shorting above the market using a stop order.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shows the first three. A random entry and a pattern entry have nothing to mark on one line.</a:t>
            </a:r>
          </a:p>
          <a:p>
            <a:r>
              <a:rPr sz="1400"/>
              <a:t>- Pattern or sequence-based entries follow a particular sequence of bars, or a completed pattern. The book's examples are DeMark Sequential and Japanese candlestick entries.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we learned these three in Chapter 4. The names and the signals are on this figure.</a:t>
            </a:r>
          </a:p>
          <a:p>
            <a:r>
              <a:rPr sz="1400"/>
              <a:t>- In each drawing the signal is marked where price breaks the level between the two peaks, or the two troughs.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other name for an inflection point is a swing point. Peaks give resistance levels and troughs give support levels.</a:t>
            </a:r>
          </a:p>
          <a:p>
            <a:r>
              <a:rPr sz="1400"/>
              <a:t>- Fewer flanking bars: the level is considered less significant and less reliable.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horizontal levels. Bottom row: the same thing on sloping trendlines.</a:t>
            </a:r>
          </a:p>
          <a:p>
            <a:r>
              <a:rPr sz="1400"/>
              <a:t>- Follow one drawing through: price is stopped by the line, breaks it, comes back, and is held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this figure no sentence of its own. Its two labels are the two lines on the slide.</a:t>
            </a:r>
          </a:p>
          <a:p>
            <a:r>
              <a:rPr sz="1400"/>
              <a:t>- Count the levels on the way down, then on the way up. Every one was used twice.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Horizontal levels and the channel's sloping lines are both barriers, and both change roles.</a:t>
            </a:r>
          </a:p>
          <a:p>
            <a:r>
              <a:rPr sz="1400"/>
              <a:t>- The vertical arrows join each oversold reading to the support it confirmed.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of its reasons. Both are about where the entry sits: near the trendline, so the stop is small.</a:t>
            </a:r>
          </a:p>
          <a:p>
            <a:r>
              <a:rPr sz="1400"/>
              <a:t>- In the figure every entry is at the trendline. That is a barrier entry from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the oscillator filter: crossing above its signal line signifies potential longer-term bullishness, crossing below potential bearishness.</a:t>
            </a:r>
          </a:p>
          <a:p>
            <a:r>
              <a:rPr sz="1400"/>
              <a:t>- For containment: price staying above the moving average or trendline signifies an uptrend still intact. That was section 5.1.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Trailing: the stop advances to the next higher trough in an uptrend, and to the next lower peak in a downtrend.</a:t>
            </a:r>
          </a:p>
          <a:p>
            <a:r>
              <a:rPr sz="1400"/>
              <a:t>- Read the figure top down: where the trades were, what triggered them, what filtered them.</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brackets in the figure are the stopsizes: wide and changing on the left, narrow and steady on the right.</a:t>
            </a:r>
          </a:p>
          <a:p>
            <a:r>
              <a:rPr sz="1400"/>
              <a:t>- For a barrier entry the significant peak or trough is usually the point of entry itself. That is why its stop is always close.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is one line of arithmetic: tradesize is the risk per trade divided by the stopsize.</a:t>
            </a:r>
          </a:p>
          <a:p>
            <a:r>
              <a:rPr sz="1400"/>
              <a:t>- A narrow stop is hit more often, and with a fixed risk it is hit at full size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7. The advantage: losses are limited whether the stops that get hit are the narrow ones or the wide ones.</a:t>
            </a:r>
          </a:p>
          <a:p>
            <a:r>
              <a:rPr sz="1400"/>
              <a:t>- The author says he first introduced it in The Wiley Trading Guide Volume II. Tradesizing gets Chapter 28.</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chapter objective on calculating the optimum tradesize for breakout trades. The pesos are ours; the five steps are the book's.</a:t>
            </a:r>
          </a:p>
          <a:p>
            <a:r>
              <a:rPr sz="1400"/>
              <a:t>- Why proportional: for stops at or below the threshold the percentage risk varies proportionally with the stopsize, and is always capped at the maximum.</a:t>
            </a:r>
          </a:p>
          <a:p>
            <a:r>
              <a:rPr sz="1400"/>
              <a:t>- Step 4 is a percentage of current capital. The book says 300 to 500 trades if possible.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rule is that lines must not cut through any price action at any point along the line. Its other word for tentative is provisionary.</a:t>
            </a:r>
          </a:p>
          <a:p>
            <a:r>
              <a:rPr sz="1400"/>
              <a:t>- Tentative and valid apply only to conventional trendlines, and not to fan lines, which come at the end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start at the same trough. The term is set by how much price sits above the line, not by the calendar.</a:t>
            </a:r>
          </a:p>
          <a:p>
            <a:r>
              <a:rPr sz="1400"/>
              <a:t>- The Point and Figure lines are the one exception to two inflection points that the book names. Chapter 15 is Point and Figure.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words: support and resistance are regarded as behavioral consequences of human psychology, biases and emotions.</a:t>
            </a:r>
          </a:p>
          <a:p>
            <a:r>
              <a:rPr sz="1400"/>
              <a:t>- This is the same role reversal as section 5.5, explained: one line, support from above and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runs the whole life of a line: drawn, confirmed at the circle, invalidated, redrawn.</a:t>
            </a:r>
          </a:p>
          <a:p>
            <a:r>
              <a:rPr sz="1400"/>
              <a:t>- Invalidated does not mean ineffective. Price often comes back to an old line, as it does to a neckline.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answer depends on the type and extent of filtering. The book: we yet again observe the problems with defining price action.</a:t>
            </a:r>
          </a:p>
          <a:p>
            <a:r>
              <a:rPr sz="1400"/>
              <a:t>- A price-based filter lets the trader decide exactly how much price excursion represents a valid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and the next slide are review question 6: the factors that impact trendline reliability. Six of them, two here.</a:t>
            </a:r>
          </a:p>
          <a:p>
            <a:r>
              <a:rPr sz="1400"/>
              <a:t>- The steep trend may not be able to sustain itself over the longer term. Whipsaw is still used without a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three share one mechanism: the more visible the line, the more orders gather around it, as on the behavior slide.</a:t>
            </a:r>
          </a:p>
          <a:p>
            <a:r>
              <a:rPr sz="1400"/>
              <a:t>- The fourth is section 5.2 again: a line under a weakening trend is unreliable over the longer term.</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Chapter 4's minimum measuring objective, measured from a trendline and not from a range.</a:t>
            </a:r>
          </a:p>
          <a:p>
            <a:r>
              <a:rPr sz="1400"/>
              <a:t>- The pesos are ours. The figure shows the method on EURUSD: one arrow up, the same arrow down.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is the book's own list of four strengths and three weaknesses, on five lines.</a:t>
            </a:r>
          </a:p>
          <a:p>
            <a:r>
              <a:rPr sz="1400"/>
              <a:t>- The scaling weakness is Chapter 3: a straight line on a linear scale is not straight on a ratio scale.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left line is a downtrend line of a lower wave degree, drawn inside an uptrend of a higher one. Breaking it continues the larger trend.</a:t>
            </a:r>
          </a:p>
          <a:p>
            <a:r>
              <a:rPr sz="1400"/>
              <a:t>- Wave degrees, from section 5.1, are what make one breach a continuation and another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channel is a trendline and one parallel to it, on the other side of price.</a:t>
            </a:r>
          </a:p>
          <a:p>
            <a:r>
              <a:rPr sz="1400"/>
              <a:t>- In the figure the rising channel transitions into a falling one. Point 6 is where the old uptrend line gave way.</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wave degrees of section 5.1, drawn as channels: a small channel inside a medium one inside a large one.</a:t>
            </a:r>
          </a:p>
          <a:p>
            <a:r>
              <a:rPr sz="1400"/>
              <a:t>- Fractal-like is the book's phrase. The same shape repeats at every size.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barrier on one chart: the sloping channel lines and the horizontal retracement levels.</a:t>
            </a:r>
          </a:p>
          <a:p>
            <a:r>
              <a:rPr sz="1400"/>
              <a:t>- Say the slip once: the printed caption belongs to the figure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Channel projection 1 runs from point 3 and was met at point 5. Projection 2 was met at point 6.</a:t>
            </a:r>
          </a:p>
          <a:p>
            <a:r>
              <a:rPr sz="1400"/>
              <a:t>- This is review question 5: a channel pinpoints where a move may stop before price gets there.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other half of review question 5: a failed test of one boundary points at a breakout through the other.</a:t>
            </a:r>
          </a:p>
          <a:p>
            <a:r>
              <a:rPr sz="1400"/>
              <a:t>- The chart is ours. The book makes the point on the figure it used for bar retracement symmetry.</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extreme first, the highest peak, then walk back to the last minor trough before it. The line joins that to the lowest trough.</a:t>
            </a:r>
          </a:p>
          <a:p>
            <a:r>
              <a:rPr sz="1400"/>
              <a:t>- The author writes that there is no way he can do justice to the approach here. Leave it at the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conventional trendline starts from the oldest troughs. DeMark's starts from the newest, which is why it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share one starting point, and the book says to draw only three.</a:t>
            </a:r>
          </a:p>
          <a:p>
            <a:r>
              <a:rPr sz="1400"/>
              <a:t>- Tentative and valid do not apply to fan lines. A fan line uses two inflection points but only one is at a peak or trough.</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fan line whose second point is not a peak or trough: it sits along a predetermined vertical axis.</a:t>
            </a:r>
          </a:p>
          <a:p>
            <a:r>
              <a:rPr sz="1400"/>
              <a:t>- Fibonacci ratios are Chapter 10. Today the three percentages are given, not derived.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construction, two sets of ratios: Fibonacci's three percentages, or Gould's two thirds.</a:t>
            </a:r>
          </a:p>
          <a:p>
            <a:r>
              <a:rPr sz="1400"/>
              <a:t>- One-third and two-thirds are also the retracements Dow watched, which is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points make it: the significant peak, the retracement trough, the retracement peak. The middle line is called the median.</a:t>
            </a:r>
          </a:p>
          <a:p>
            <a:r>
              <a:rPr sz="1400"/>
              <a:t>- It is a channel with a centre line, drawn from three points and not two.</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table across, not down: each row is one zone and three ways of naming it.</a:t>
            </a:r>
          </a:p>
          <a:p>
            <a:r>
              <a:rPr sz="1400"/>
              <a:t>- The Gann column is in eighths: 12.5 percent is one-eighth. Nothing here is derived; that waits for the later chapters.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rise on the chart is PHP 20, so a 50 percent retracement gives back PHP 10 and stands at PHP 50.</a:t>
            </a:r>
          </a:p>
          <a:p>
            <a:r>
              <a:rPr sz="1400"/>
              <a:t>- Three people measuring three ways still watch the same three zones. That is what convergence buys.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Runaway, measuring, midway and continuation are four names for one gap. Chapter 3 defined what a gap is.</a:t>
            </a:r>
          </a:p>
          <a:p>
            <a:r>
              <a:rPr sz="1400"/>
              <a:t>- On the chart prices top after the third gap, the exhaustion gap: characteristic 12 from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4's phases, located by gaps: common gaps in the accumulation, the exhaustion gap opening the distribution.</a:t>
            </a:r>
          </a:p>
          <a:p>
            <a:r>
              <a:rPr sz="1400"/>
              <a:t>- Two signs agree at the top: a third gap, and a significant resistance level. Barrier proximity again.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price range nobody traded in. Its edges are levels, and levels act as barriers.</a:t>
            </a:r>
          </a:p>
          <a:p>
            <a:r>
              <a:rPr sz="1400"/>
              <a:t>- The figure also marks angular symmetry in GLD: characteristic 8, on a different chart.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Micro means very short-term and macro means longer-term. The trader only ever trades one way at any one time.</a:t>
            </a:r>
          </a:p>
          <a:p>
            <a:r>
              <a:rPr sz="1400"/>
              <a:t>- The figure's lower half is the bidirectional trader: one buy level above, one sell level below, whichever breaks.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a detailed look the book refers the reader to The Ultimate Trading Guide, by Hill, Pruitt and Hill.</a:t>
            </a:r>
          </a:p>
          <a:p>
            <a:r>
              <a:rPr sz="1400"/>
              <a:t>- Typical price is named and not defined in this chapter. The forward shift is there to give an early prognostication of market sentiment.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this section a summary. These four are the ones this chapter and the last have already taught.</a:t>
            </a:r>
          </a:p>
          <a:p>
            <a:r>
              <a:rPr sz="1400"/>
              <a:t>- Diminishing volume indicates potential weakness in the trend. Extreme volume is indicative of market tops and bottoms.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each of these needs a tool the book has not taught yet. Oscillators are Chapter 8, divergence Chapter 9, candlesticks Chapter 14.</a:t>
            </a:r>
          </a:p>
          <a:p>
            <a:r>
              <a:rPr sz="1400"/>
              <a:t>- With the last slide these are the book's seven headings, a to g. Together they answer review question 3.</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is three sentences long. Its one piece of advice is the gold line.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Lines one and six each carry two of the book's eight questions.</a:t>
            </a:r>
          </a:p>
          <a:p>
            <a:r>
              <a:rPr sz="1400"/>
              <a:t>- Say where each answer sits: 5.1, 5.11, 5.2, 5.6, 5.6, then 5.5 and 5.3.</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and candlesticks the book has not taught yet.</a:t>
            </a:r>
          </a:p>
          <a:p>
            <a:r>
              <a:rPr sz="1400"/>
              <a:t>- Next is Chapter 6, Volume and Open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12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Primary, or major, trends are longer term: months to years.</a:t>
            </a:r>
          </a:p>
          <a:p>
            <a:pPr algn="l">
              <a:lnSpc>
                <a:spcPct val="105000"/>
              </a:lnSpc>
              <a:spcBef>
                <a:spcPts val="0"/>
              </a:spcBef>
              <a:spcAft>
                <a:spcPts val="1100"/>
              </a:spcAft>
            </a:pPr>
            <a:r>
              <a:rPr sz="2000" b="0" i="0">
                <a:solidFill>
                  <a:srgbClr val="1A1A1A"/>
                </a:solidFill>
                <a:latin typeface="Arial"/>
              </a:rPr>
              <a:t>Secondary trends, or reactions, are medium term: weeks to months.</a:t>
            </a:r>
          </a:p>
          <a:p>
            <a:pPr algn="l">
              <a:lnSpc>
                <a:spcPct val="105000"/>
              </a:lnSpc>
              <a:spcBef>
                <a:spcPts val="0"/>
              </a:spcBef>
              <a:spcAft>
                <a:spcPts val="1100"/>
              </a:spcAft>
            </a:pPr>
            <a:r>
              <a:rPr sz="2000" b="0" i="0">
                <a:solidFill>
                  <a:srgbClr val="1A1A1A"/>
                </a:solidFill>
                <a:latin typeface="Arial"/>
              </a:rPr>
              <a:t>Minor trends are shorter term: days to weeks.</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Dow Theory, trends are classified and defined by their duration and extent.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Uptrend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12</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keeps making a higher peak, then a higher trough, again and again.</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48463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A share peaks at PHP 50, dips to 46, peaks at 54, dips to 49. Higher highs and higher lows: an uptrend.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48463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In Dow Theory an uptrend is represented by a series of successively higher highs (peaks) and lows (troughs).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12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downtrend is represented by a series of successively lower highs and lows.</a:t>
            </a:r>
          </a:p>
          <a:p>
            <a:pPr algn="l">
              <a:lnSpc>
                <a:spcPct val="105000"/>
              </a:lnSpc>
              <a:spcBef>
                <a:spcPts val="0"/>
              </a:spcBef>
              <a:spcAft>
                <a:spcPts val="1100"/>
              </a:spcAft>
            </a:pPr>
            <a:r>
              <a:rPr sz="2000" b="0" i="0">
                <a:solidFill>
                  <a:srgbClr val="1A1A1A"/>
                </a:solidFill>
                <a:latin typeface="Arial"/>
              </a:rPr>
              <a:t>Each rally stops below the last peak: a lower high, LH.</a:t>
            </a:r>
          </a:p>
          <a:p>
            <a:pPr algn="l">
              <a:lnSpc>
                <a:spcPct val="105000"/>
              </a:lnSpc>
              <a:spcBef>
                <a:spcPts val="0"/>
              </a:spcBef>
              <a:spcAft>
                <a:spcPts val="1100"/>
              </a:spcAft>
            </a:pPr>
            <a:r>
              <a:rPr sz="2000" b="0" i="0">
                <a:solidFill>
                  <a:srgbClr val="1A1A1A"/>
                </a:solidFill>
                <a:latin typeface="Arial"/>
              </a:rPr>
              <a:t>Each decline carries below the last trough: a lower low, LL.</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12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no higher highs or lows. Scenario 4 has no highs or lows at all.</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Erratic or chaotic price action can also make peaks and troughs extremely hard to identify.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12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 avoid depending on how price behaves, many practitioners use other means:</a:t>
            </a:r>
          </a:p>
          <a:p>
            <a:pPr algn="l">
              <a:lnSpc>
                <a:spcPct val="105000"/>
              </a:lnSpc>
              <a:spcBef>
                <a:spcPts val="0"/>
              </a:spcBef>
              <a:spcAft>
                <a:spcPts val="1100"/>
              </a:spcAft>
            </a:pPr>
            <a:r>
              <a:rPr sz="1700" b="0" i="0">
                <a:solidFill>
                  <a:srgbClr val="1A1A1A"/>
                </a:solidFill>
                <a:latin typeface="Arial"/>
              </a:rPr>
              <a:t>Price remaining above or below an overlay indicator: a trendline, a moving average.</a:t>
            </a:r>
          </a:p>
          <a:p>
            <a:pPr algn="l">
              <a:lnSpc>
                <a:spcPct val="105000"/>
              </a:lnSpc>
              <a:spcBef>
                <a:spcPts val="0"/>
              </a:spcBef>
              <a:spcAft>
                <a:spcPts val="1100"/>
              </a:spcAft>
            </a:pPr>
            <a:r>
              <a:rPr sz="1700" b="0" i="0">
                <a:solidFill>
                  <a:srgbClr val="1A1A1A"/>
                </a:solidFill>
                <a:latin typeface="Arial"/>
              </a:rPr>
              <a:t>Price remaining above or below an arbitrarily chosen price level.</a:t>
            </a:r>
          </a:p>
          <a:p>
            <a:pPr algn="l">
              <a:lnSpc>
                <a:spcPct val="105000"/>
              </a:lnSpc>
              <a:spcBef>
                <a:spcPts val="0"/>
              </a:spcBef>
              <a:spcAft>
                <a:spcPts val="1100"/>
              </a:spcAft>
            </a:pPr>
            <a:r>
              <a:rPr sz="1700" b="0" i="0">
                <a:solidFill>
                  <a:srgbClr val="1A1A1A"/>
                </a:solidFill>
                <a:latin typeface="Arial"/>
              </a:rPr>
              <a:t>The absence of a reversal of a specified amount: Point and Figure, Renko.</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absolute measure: the distance traversed, not the behavior of price.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a trend 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Dow's peak and trough definition, an uptrend is a series of successively: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highs and lower lows</a:t>
            </a:r>
          </a:p>
          <a:p>
            <a:pPr algn="l">
              <a:lnSpc>
                <a:spcPct val="112000"/>
              </a:lnSpc>
              <a:spcBef>
                <a:spcPts val="0"/>
              </a:spcBef>
              <a:spcAft>
                <a:spcPts val="900"/>
              </a:spcAft>
            </a:pPr>
            <a:r>
              <a:rPr sz="1500" b="0" i="0">
                <a:solidFill>
                  <a:srgbClr val="FFFFFF"/>
                </a:solidFill>
                <a:latin typeface="Arial"/>
              </a:rPr>
              <a:t>B.  Higher highs and higher lows</a:t>
            </a:r>
          </a:p>
          <a:p>
            <a:pPr algn="l">
              <a:lnSpc>
                <a:spcPct val="112000"/>
              </a:lnSpc>
              <a:spcBef>
                <a:spcPts val="0"/>
              </a:spcBef>
              <a:spcAft>
                <a:spcPts val="900"/>
              </a:spcAft>
            </a:pPr>
            <a:r>
              <a:rPr sz="1500" b="0" i="0">
                <a:solidFill>
                  <a:srgbClr val="FFFFFF"/>
                </a:solidFill>
                <a:latin typeface="Arial"/>
              </a:rPr>
              <a:t>C.  Lower highs and lower lows</a:t>
            </a:r>
          </a:p>
          <a:p>
            <a:pPr algn="l">
              <a:lnSpc>
                <a:spcPct val="112000"/>
              </a:lnSpc>
              <a:spcBef>
                <a:spcPts val="0"/>
              </a:spcBef>
              <a:spcAft>
                <a:spcPts val="900"/>
              </a:spcAft>
            </a:pPr>
            <a:r>
              <a:rPr sz="1500" b="0" i="0">
                <a:solidFill>
                  <a:srgbClr val="FFFFFF"/>
                </a:solidFill>
                <a:latin typeface="Arial"/>
              </a:rPr>
              <a:t>D.  Higher closes only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rises from A to B in one straight move, with no peaks or troughs at all. Under Dow's definition this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primary uptrend</a:t>
            </a:r>
          </a:p>
          <a:p>
            <a:pPr algn="l">
              <a:lnSpc>
                <a:spcPct val="112000"/>
              </a:lnSpc>
              <a:spcBef>
                <a:spcPts val="0"/>
              </a:spcBef>
              <a:spcAft>
                <a:spcPts val="900"/>
              </a:spcAft>
            </a:pPr>
            <a:r>
              <a:rPr sz="1500" b="0" i="0">
                <a:solidFill>
                  <a:srgbClr val="FFFFFF"/>
                </a:solidFill>
                <a:latin typeface="Arial"/>
              </a:rPr>
              <a:t>B.  A secondary reaction</a:t>
            </a:r>
          </a:p>
          <a:p>
            <a:pPr algn="l">
              <a:lnSpc>
                <a:spcPct val="112000"/>
              </a:lnSpc>
              <a:spcBef>
                <a:spcPts val="0"/>
              </a:spcBef>
              <a:spcAft>
                <a:spcPts val="900"/>
              </a:spcAft>
            </a:pPr>
            <a:r>
              <a:rPr sz="1500" b="0" i="0">
                <a:solidFill>
                  <a:srgbClr val="FFFFFF"/>
                </a:solidFill>
                <a:latin typeface="Arial"/>
              </a:rPr>
              <a:t>C.  A downtrend</a:t>
            </a:r>
          </a:p>
          <a:p>
            <a:pPr algn="l">
              <a:lnSpc>
                <a:spcPct val="112000"/>
              </a:lnSpc>
              <a:spcBef>
                <a:spcPts val="0"/>
              </a:spcBef>
              <a:spcAft>
                <a:spcPts val="900"/>
              </a:spcAft>
            </a:pPr>
            <a:r>
              <a:rPr sz="1500" b="0" i="0">
                <a:solidFill>
                  <a:srgbClr val="FFFFFF"/>
                </a:solidFill>
                <a:latin typeface="Arial"/>
              </a:rPr>
              <a:t>D.  Not classified as an uptrend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a trend 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Dow's peak and trough definition, an uptrend is a series of successively: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Higher highs and higher lows</a:t>
            </a:r>
          </a:p>
          <a:p>
            <a:pPr algn="l">
              <a:lnSpc>
                <a:spcPct val="115000"/>
              </a:lnSpc>
              <a:spcBef>
                <a:spcPts val="700"/>
              </a:spcBef>
              <a:spcAft>
                <a:spcPts val="0"/>
              </a:spcAft>
            </a:pPr>
            <a:r>
              <a:rPr sz="1600" b="0" i="0">
                <a:solidFill>
                  <a:srgbClr val="1A1A1A"/>
                </a:solidFill>
                <a:latin typeface="Arial"/>
              </a:rPr>
              <a:t>An uptrend is successively higher highs, the peaks, and higher lows, the troughs.</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rises from A to B in one straight move, with no peaks or troughs at all. Under Dow's definition this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Not classified as an uptrend</a:t>
            </a:r>
          </a:p>
          <a:p>
            <a:pPr algn="l">
              <a:lnSpc>
                <a:spcPct val="115000"/>
              </a:lnSpc>
              <a:spcBef>
                <a:spcPts val="700"/>
              </a:spcBef>
              <a:spcAft>
                <a:spcPts val="0"/>
              </a:spcAft>
            </a:pPr>
            <a:r>
              <a:rPr sz="1600" b="0" i="0">
                <a:solidFill>
                  <a:srgbClr val="1A1A1A"/>
                </a:solidFill>
                <a:latin typeface="Arial"/>
              </a:rPr>
              <a:t>With no higher highs or lows there is nothing for the definition to recognize, even though price travelled from A to B.</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Trends as wave cycles of three degrees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12</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Higher wave cycle, HWC: the highest wave degree.</a:t>
            </a:r>
          </a:p>
          <a:p>
            <a:pPr algn="l">
              <a:lnSpc>
                <a:spcPct val="105000"/>
              </a:lnSpc>
              <a:spcBef>
                <a:spcPts val="0"/>
              </a:spcBef>
              <a:spcAft>
                <a:spcPts val="1100"/>
              </a:spcAft>
            </a:pPr>
            <a:r>
              <a:rPr sz="1800" b="0" i="0">
                <a:solidFill>
                  <a:srgbClr val="1A1A1A"/>
                </a:solidFill>
                <a:latin typeface="Arial"/>
              </a:rPr>
              <a:t>Medium wave cycle, MWC: a subwave of the HWC, of a lower degree.</a:t>
            </a:r>
          </a:p>
          <a:p>
            <a:pPr algn="l">
              <a:lnSpc>
                <a:spcPct val="105000"/>
              </a:lnSpc>
              <a:spcBef>
                <a:spcPts val="0"/>
              </a:spcBef>
              <a:spcAft>
                <a:spcPts val="1100"/>
              </a:spcAft>
            </a:pPr>
            <a:r>
              <a:rPr sz="1800" b="0" i="0">
                <a:solidFill>
                  <a:srgbClr val="1A1A1A"/>
                </a:solidFill>
                <a:latin typeface="Arial"/>
              </a:rPr>
              <a:t>Lower wave cycle, LWC: a subwave of both, at the lowest wave degree.</a:t>
            </a:r>
          </a:p>
        </p:txBody>
      </p:sp>
      <p:sp>
        <p:nvSpPr>
          <p:cNvPr id="8" name="Rectangle 7"/>
          <p:cNvSpPr/>
          <p:nvPr/>
        </p:nvSpPr>
        <p:spPr>
          <a:xfrm>
            <a:off x="777240" y="4389120"/>
            <a:ext cx="82296" cy="130454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279392" cy="130454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Any trend or consolidation can be described in wave cycles. The minimum number of wave degrees in any trend is two.</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5.5 - Lim, The Handbook of Technical Analysis (Wiley, 2016)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12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it,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a:t>
            </a:r>
          </a:p>
          <a:p>
            <a:pPr algn="l">
              <a:lnSpc>
                <a:spcPct val="105000"/>
              </a:lnSpc>
              <a:spcBef>
                <a:spcPts val="0"/>
              </a:spcBef>
              <a:spcAft>
                <a:spcPts val="1100"/>
              </a:spcAft>
            </a:pPr>
            <a:r>
              <a:rPr sz="1700" b="0" i="0">
                <a:solidFill>
                  <a:srgbClr val="1A1A1A"/>
                </a:solidFill>
                <a:latin typeface="Arial"/>
              </a:rPr>
              <a:t>Apply effective stopsizing.</a:t>
            </a:r>
          </a:p>
          <a:p>
            <a:pPr algn="l">
              <a:lnSpc>
                <a:spcPct val="105000"/>
              </a:lnSpc>
              <a:spcBef>
                <a:spcPts val="0"/>
              </a:spcBef>
              <a:spcAft>
                <a:spcPts val="1100"/>
              </a:spcAft>
            </a:pPr>
            <a:r>
              <a:rPr sz="1700" b="0" i="0">
                <a:solidFill>
                  <a:srgbClr val="1A1A1A"/>
                </a:solidFill>
                <a:latin typeface="Arial"/>
              </a:rPr>
              <a:t>Distinguish between trend and consolidation mode.</a:t>
            </a:r>
          </a:p>
          <a:p>
            <a:pPr algn="l">
              <a:lnSpc>
                <a:spcPct val="105000"/>
              </a:lnSpc>
              <a:spcBef>
                <a:spcPts val="0"/>
              </a:spcBef>
              <a:spcAft>
                <a:spcPts val="1100"/>
              </a:spcAft>
            </a:pPr>
            <a:r>
              <a:rPr sz="1700" b="0" i="0">
                <a:solidFill>
                  <a:srgbClr val="1A1A1A"/>
                </a:solidFill>
                <a:latin typeface="Arial"/>
              </a:rPr>
              <a:t>Determine the direction of the predominant trend.</a:t>
            </a:r>
          </a:p>
        </p:txBody>
      </p:sp>
      <p:sp>
        <p:nvSpPr>
          <p:cNvPr id="8" name="TextBox 7"/>
          <p:cNvSpPr txBox="1"/>
          <p:nvPr/>
        </p:nvSpPr>
        <p:spPr>
          <a:xfrm>
            <a:off x="777240" y="543839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5.6 is an Elliott wave count in the same terms. Elliott waves are Chapter 18.</a:t>
            </a:r>
          </a:p>
        </p:txBody>
      </p:sp>
      <p:sp>
        <p:nvSpPr>
          <p:cNvPr id="9" name="Rectangle 8"/>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5.6 - Lim, The Handbook of Technical Analysis (Wiley, 2016)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12</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market may be in trend mode and in consolidation mode at the same time.</a:t>
            </a:r>
          </a:p>
          <a:p>
            <a:pPr algn="l">
              <a:lnSpc>
                <a:spcPct val="105000"/>
              </a:lnSpc>
              <a:spcBef>
                <a:spcPts val="0"/>
              </a:spcBef>
              <a:spcAft>
                <a:spcPts val="1100"/>
              </a:spcAft>
            </a:pPr>
            <a:r>
              <a:rPr sz="1900" b="0" i="0">
                <a:solidFill>
                  <a:srgbClr val="1A1A1A"/>
                </a:solidFill>
                <a:latin typeface="Arial"/>
              </a:rPr>
              <a:t>It depends on the wave cycle being observed.</a:t>
            </a:r>
          </a:p>
          <a:p>
            <a:pPr algn="l">
              <a:lnSpc>
                <a:spcPct val="105000"/>
              </a:lnSpc>
              <a:spcBef>
                <a:spcPts val="0"/>
              </a:spcBef>
              <a:spcAft>
                <a:spcPts val="1100"/>
              </a:spcAft>
            </a:pPr>
            <a:r>
              <a:rPr sz="1900" b="0" i="0">
                <a:solidFill>
                  <a:srgbClr val="1A1A1A"/>
                </a:solidFill>
                <a:latin typeface="Arial"/>
              </a:rPr>
              <a:t>In the figure the LWC is in trend mode, the MWC in ranging mode and the HWC in flatline mode.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42793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Ask at which wave degree before asking whether it is trending.</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5.7 - Lim, The Handbook of Technical Analysis (Wiley, 2016)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cycles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minimum number of wave degrees in any trend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a:t>
            </a:r>
          </a:p>
          <a:p>
            <a:pPr algn="l">
              <a:lnSpc>
                <a:spcPct val="112000"/>
              </a:lnSpc>
              <a:spcBef>
                <a:spcPts val="0"/>
              </a:spcBef>
              <a:spcAft>
                <a:spcPts val="900"/>
              </a:spcAft>
            </a:pPr>
            <a:r>
              <a:rPr sz="1500" b="0" i="0">
                <a:solidFill>
                  <a:srgbClr val="FFFFFF"/>
                </a:solidFill>
                <a:latin typeface="Arial"/>
              </a:rPr>
              <a:t>B.  Two</a:t>
            </a:r>
          </a:p>
          <a:p>
            <a:pPr algn="l">
              <a:lnSpc>
                <a:spcPct val="112000"/>
              </a:lnSpc>
              <a:spcBef>
                <a:spcPts val="0"/>
              </a:spcBef>
              <a:spcAft>
                <a:spcPts val="900"/>
              </a:spcAft>
            </a:pPr>
            <a:r>
              <a:rPr sz="1500" b="0" i="0">
                <a:solidFill>
                  <a:srgbClr val="FFFFFF"/>
                </a:solidFill>
                <a:latin typeface="Arial"/>
              </a:rPr>
              <a:t>C.  Three</a:t>
            </a:r>
          </a:p>
          <a:p>
            <a:pPr algn="l">
              <a:lnSpc>
                <a:spcPct val="112000"/>
              </a:lnSpc>
              <a:spcBef>
                <a:spcPts val="0"/>
              </a:spcBef>
              <a:spcAft>
                <a:spcPts val="900"/>
              </a:spcAft>
            </a:pPr>
            <a:r>
              <a:rPr sz="1500" b="0" i="0">
                <a:solidFill>
                  <a:srgbClr val="FFFFFF"/>
                </a:solidFill>
                <a:latin typeface="Arial"/>
              </a:rPr>
              <a:t>D.  Five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market's lower wave cycle is rising while its medium wave cycle moves sideways. The market is in: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mode only</a:t>
            </a:r>
          </a:p>
          <a:p>
            <a:pPr algn="l">
              <a:lnSpc>
                <a:spcPct val="112000"/>
              </a:lnSpc>
              <a:spcBef>
                <a:spcPts val="0"/>
              </a:spcBef>
              <a:spcAft>
                <a:spcPts val="900"/>
              </a:spcAft>
            </a:pPr>
            <a:r>
              <a:rPr sz="1500" b="0" i="0">
                <a:solidFill>
                  <a:srgbClr val="FFFFFF"/>
                </a:solidFill>
                <a:latin typeface="Arial"/>
              </a:rPr>
              <a:t>B.  Consolidation mode only</a:t>
            </a:r>
          </a:p>
          <a:p>
            <a:pPr algn="l">
              <a:lnSpc>
                <a:spcPct val="112000"/>
              </a:lnSpc>
              <a:spcBef>
                <a:spcPts val="0"/>
              </a:spcBef>
              <a:spcAft>
                <a:spcPts val="900"/>
              </a:spcAft>
            </a:pPr>
            <a:r>
              <a:rPr sz="1500" b="0" i="0">
                <a:solidFill>
                  <a:srgbClr val="FFFFFF"/>
                </a:solidFill>
                <a:latin typeface="Arial"/>
              </a:rPr>
              <a:t>C.  Both, depending on the wave cycle observed</a:t>
            </a:r>
          </a:p>
          <a:p>
            <a:pPr algn="l">
              <a:lnSpc>
                <a:spcPct val="112000"/>
              </a:lnSpc>
              <a:spcBef>
                <a:spcPts val="0"/>
              </a:spcBef>
              <a:spcAft>
                <a:spcPts val="900"/>
              </a:spcAft>
            </a:pPr>
            <a:r>
              <a:rPr sz="1500" b="0" i="0">
                <a:solidFill>
                  <a:srgbClr val="FFFFFF"/>
                </a:solidFill>
                <a:latin typeface="Arial"/>
              </a:rPr>
              <a:t>D.  Neither, until a breakout occurs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cycles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minimum number of wave degrees in any trend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Two</a:t>
            </a:r>
          </a:p>
          <a:p>
            <a:pPr algn="l">
              <a:lnSpc>
                <a:spcPct val="115000"/>
              </a:lnSpc>
              <a:spcBef>
                <a:spcPts val="700"/>
              </a:spcBef>
              <a:spcAft>
                <a:spcPts val="0"/>
              </a:spcAft>
            </a:pPr>
            <a:r>
              <a:rPr sz="1600" b="0" i="0">
                <a:solidFill>
                  <a:srgbClr val="1A1A1A"/>
                </a:solidFill>
                <a:latin typeface="Arial"/>
              </a:rPr>
              <a:t>A wave cycle can be described at three degrees, but the minimum in any trend is two.</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market's lower wave cycle is rising while its medium wave cycle moves sideways. The market is in: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Both, depending on the wave cycle observed</a:t>
            </a:r>
          </a:p>
          <a:p>
            <a:pPr algn="l">
              <a:lnSpc>
                <a:spcPct val="115000"/>
              </a:lnSpc>
              <a:spcBef>
                <a:spcPts val="700"/>
              </a:spcBef>
              <a:spcAft>
                <a:spcPts val="0"/>
              </a:spcAft>
            </a:pPr>
            <a:r>
              <a:rPr sz="1600" b="0" i="0">
                <a:solidFill>
                  <a:srgbClr val="1A1A1A"/>
                </a:solidFill>
                <a:latin typeface="Arial"/>
              </a:rPr>
              <a:t>A market may be in trend and consolidation modes at the same time, depending on the wave cycle being observed.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12</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the degree of the wave cycle: lower, medium or higher.</a:t>
            </a:r>
          </a:p>
          <a:p>
            <a:pPr algn="l">
              <a:lnSpc>
                <a:spcPct val="105000"/>
              </a:lnSpc>
              <a:spcBef>
                <a:spcPts val="0"/>
              </a:spcBef>
              <a:spcAft>
                <a:spcPts val="1100"/>
              </a:spcAft>
            </a:pPr>
            <a:r>
              <a:rPr sz="1700" b="0" i="0">
                <a:solidFill>
                  <a:srgbClr val="1A1A1A"/>
                </a:solidFill>
                <a:latin typeface="Arial"/>
              </a:rPr>
              <a:t>The breakout level depends on the wave degree being traded.</a:t>
            </a:r>
          </a:p>
          <a:p>
            <a:pPr algn="l">
              <a:lnSpc>
                <a:spcPct val="105000"/>
              </a:lnSpc>
              <a:spcBef>
                <a:spcPts val="0"/>
              </a:spcBef>
              <a:spcAft>
                <a:spcPts val="1100"/>
              </a:spcAft>
            </a:pPr>
            <a:r>
              <a:rPr sz="1700" b="0" i="0">
                <a:solidFill>
                  <a:srgbClr val="1A1A1A"/>
                </a:solidFill>
                <a:latin typeface="Arial"/>
              </a:rPr>
              <a:t>Knowing the degree lets the trader size the stoploss to that degree's average wave amplitude and volatility.</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5.8 - Lim, The Handbook of Technical Analysis (Wiley, 2016)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bigger turning points matter more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12</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a large wave cycle reverses, all the wave cycles of lower degrees reverse in sync with it.</a:t>
            </a:r>
          </a:p>
          <a:p>
            <a:pPr algn="l">
              <a:lnSpc>
                <a:spcPct val="105000"/>
              </a:lnSpc>
              <a:spcBef>
                <a:spcPts val="0"/>
              </a:spcBef>
              <a:spcAft>
                <a:spcPts val="1100"/>
              </a:spcAft>
            </a:pPr>
            <a:r>
              <a:rPr sz="1800" b="0" i="0">
                <a:solidFill>
                  <a:srgbClr val="1A1A1A"/>
                </a:solidFill>
                <a:latin typeface="Arial"/>
              </a:rPr>
              <a:t>At that point every subwave of the largest wave reverses together.</a:t>
            </a:r>
          </a:p>
          <a:p>
            <a:pPr algn="l">
              <a:lnSpc>
                <a:spcPct val="105000"/>
              </a:lnSpc>
              <a:spcBef>
                <a:spcPts val="0"/>
              </a:spcBef>
              <a:spcAft>
                <a:spcPts val="1100"/>
              </a:spcAft>
            </a:pPr>
            <a:r>
              <a:rPr sz="1800" b="0" i="0">
                <a:solidFill>
                  <a:srgbClr val="1A1A1A"/>
                </a:solidFill>
                <a:latin typeface="Arial"/>
              </a:rPr>
              <a:t>Waves of higher degrees need not reverse when waves of lower degrees reverse.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2793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book's name for this is wave-degree convergence.</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retracement, correction, pullback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12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Reversals and retracements imply a turnaround in prices, and may be of any amount or degree.</a:t>
            </a:r>
          </a:p>
          <a:p>
            <a:pPr algn="l">
              <a:lnSpc>
                <a:spcPct val="105000"/>
              </a:lnSpc>
              <a:spcBef>
                <a:spcPts val="0"/>
              </a:spcBef>
              <a:spcAft>
                <a:spcPts val="1100"/>
              </a:spcAft>
            </a:pPr>
            <a:r>
              <a:rPr sz="2000" b="0" i="0">
                <a:solidFill>
                  <a:srgbClr val="1A1A1A"/>
                </a:solidFill>
                <a:latin typeface="Arial"/>
              </a:rPr>
              <a:t>Corrections and pullbacks tend to imply a more shallow reversal or retracement.</a:t>
            </a:r>
          </a:p>
          <a:p>
            <a:pPr algn="l">
              <a:lnSpc>
                <a:spcPct val="105000"/>
              </a:lnSpc>
              <a:spcBef>
                <a:spcPts val="0"/>
              </a:spcBef>
              <a:spcAft>
                <a:spcPts val="1100"/>
              </a:spcAft>
            </a:pPr>
            <a:r>
              <a:rPr sz="2000" b="0" i="0">
                <a:solidFill>
                  <a:srgbClr val="1A1A1A"/>
                </a:solidFill>
                <a:latin typeface="Arial"/>
              </a:rPr>
              <a:t>Shallow means usually no more than a few percent.</a:t>
            </a:r>
          </a:p>
        </p:txBody>
      </p:sp>
      <p:sp>
        <p:nvSpPr>
          <p:cNvPr id="8" name="Rectangle 7"/>
          <p:cNvSpPr/>
          <p:nvPr/>
        </p:nvSpPr>
        <p:spPr>
          <a:xfrm>
            <a:off x="777240" y="4901183"/>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7759"/>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Four words, two sizes: any amount, or only a few percent.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12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 may also be defined on individual open, high, low and close data.</a:t>
            </a:r>
          </a:p>
          <a:p>
            <a:pPr algn="l">
              <a:lnSpc>
                <a:spcPct val="105000"/>
              </a:lnSpc>
              <a:spcBef>
                <a:spcPts val="0"/>
              </a:spcBef>
              <a:spcAft>
                <a:spcPts val="1100"/>
              </a:spcAft>
            </a:pPr>
            <a:r>
              <a:rPr sz="1800" b="0" i="0">
                <a:solidFill>
                  <a:srgbClr val="1A1A1A"/>
                </a:solidFill>
                <a:latin typeface="Arial"/>
              </a:rPr>
              <a:t>Peak and trough analysis can show a flat market while the closes rise bar after bar.</a:t>
            </a:r>
          </a:p>
          <a:p>
            <a:pPr algn="l">
              <a:lnSpc>
                <a:spcPct val="105000"/>
              </a:lnSpc>
              <a:spcBef>
                <a:spcPts val="0"/>
              </a:spcBef>
              <a:spcAft>
                <a:spcPts val="1100"/>
              </a:spcAft>
            </a:pPr>
            <a:r>
              <a:rPr sz="1800" b="0" i="0">
                <a:solidFill>
                  <a:srgbClr val="1A1A1A"/>
                </a:solidFill>
                <a:latin typeface="Arial"/>
              </a:rPr>
              <a:t>Rising closes are an uptrend as far as close prices are concerned: a line chart in action.</a:t>
            </a:r>
          </a:p>
          <a:p>
            <a:pPr algn="l">
              <a:lnSpc>
                <a:spcPct val="105000"/>
              </a:lnSpc>
              <a:spcBef>
                <a:spcPts val="0"/>
              </a:spcBef>
              <a:spcAft>
                <a:spcPts val="1100"/>
              </a:spcAft>
            </a:pPr>
            <a:r>
              <a:rPr sz="1800" b="0" i="0">
                <a:solidFill>
                  <a:srgbClr val="1A1A1A"/>
                </a:solidFill>
                <a:latin typeface="Arial"/>
              </a:rPr>
              <a:t>The same holds for the highs, the lows, and the mid or typical prices.</a:t>
            </a:r>
          </a:p>
        </p:txBody>
      </p:sp>
      <p:sp>
        <p:nvSpPr>
          <p:cNvPr id="8" name="TextBox 7"/>
          <p:cNvSpPr txBox="1"/>
          <p:nvPr/>
        </p:nvSpPr>
        <p:spPr>
          <a:xfrm>
            <a:off x="777240" y="5129784"/>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CCI oscillator and the Floor Trader's Pivot Points are based on typical prices. Neither is taught here.</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Degrees, reversals and OHLC trends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Turning points of larger wave cycles are more significant than those of smaller ones because: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Larger cycles always carry more volume</a:t>
            </a:r>
          </a:p>
          <a:p>
            <a:pPr algn="l">
              <a:lnSpc>
                <a:spcPct val="112000"/>
              </a:lnSpc>
              <a:spcBef>
                <a:spcPts val="0"/>
              </a:spcBef>
              <a:spcAft>
                <a:spcPts val="900"/>
              </a:spcAft>
            </a:pPr>
            <a:r>
              <a:rPr sz="1500" b="0" i="0">
                <a:solidFill>
                  <a:srgbClr val="FFFFFF"/>
                </a:solidFill>
                <a:latin typeface="Arial"/>
              </a:rPr>
              <a:t>B.  Smaller cycles never reverse</a:t>
            </a:r>
          </a:p>
          <a:p>
            <a:pPr algn="l">
              <a:lnSpc>
                <a:spcPct val="112000"/>
              </a:lnSpc>
              <a:spcBef>
                <a:spcPts val="0"/>
              </a:spcBef>
              <a:spcAft>
                <a:spcPts val="900"/>
              </a:spcAft>
            </a:pPr>
            <a:r>
              <a:rPr sz="1500" b="0" i="0">
                <a:solidFill>
                  <a:srgbClr val="FFFFFF"/>
                </a:solidFill>
                <a:latin typeface="Arial"/>
              </a:rPr>
              <a:t>C.  Larger cycles are easier to see</a:t>
            </a:r>
          </a:p>
          <a:p>
            <a:pPr algn="l">
              <a:lnSpc>
                <a:spcPct val="112000"/>
              </a:lnSpc>
              <a:spcBef>
                <a:spcPts val="0"/>
              </a:spcBef>
              <a:spcAft>
                <a:spcPts val="900"/>
              </a:spcAft>
            </a:pPr>
            <a:r>
              <a:rPr sz="1500" b="0" i="0">
                <a:solidFill>
                  <a:srgbClr val="FFFFFF"/>
                </a:solidFill>
                <a:latin typeface="Arial"/>
              </a:rPr>
              <a:t>D.  All the lower degree cycles reverse in sync with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correction or pullback, as opposed to a reversal or retracement, tends to imply a move that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Shallow, usually no more than a few percent</a:t>
            </a:r>
          </a:p>
          <a:p>
            <a:pPr algn="l">
              <a:lnSpc>
                <a:spcPct val="112000"/>
              </a:lnSpc>
              <a:spcBef>
                <a:spcPts val="0"/>
              </a:spcBef>
              <a:spcAft>
                <a:spcPts val="900"/>
              </a:spcAft>
            </a:pPr>
            <a:r>
              <a:rPr sz="1500" b="0" i="0">
                <a:solidFill>
                  <a:srgbClr val="FFFFFF"/>
                </a:solidFill>
                <a:latin typeface="Arial"/>
              </a:rPr>
              <a:t>B.  Of any amount or degree</a:t>
            </a:r>
          </a:p>
          <a:p>
            <a:pPr algn="l">
              <a:lnSpc>
                <a:spcPct val="112000"/>
              </a:lnSpc>
              <a:spcBef>
                <a:spcPts val="0"/>
              </a:spcBef>
              <a:spcAft>
                <a:spcPts val="900"/>
              </a:spcAft>
            </a:pPr>
            <a:r>
              <a:rPr sz="1500" b="0" i="0">
                <a:solidFill>
                  <a:srgbClr val="FFFFFF"/>
                </a:solidFill>
                <a:latin typeface="Arial"/>
              </a:rPr>
              <a:t>C.  At least half of the prior trend</a:t>
            </a:r>
          </a:p>
          <a:p>
            <a:pPr algn="l">
              <a:lnSpc>
                <a:spcPct val="112000"/>
              </a:lnSpc>
              <a:spcBef>
                <a:spcPts val="0"/>
              </a:spcBef>
              <a:spcAft>
                <a:spcPts val="900"/>
              </a:spcAft>
            </a:pPr>
            <a:r>
              <a:rPr sz="1500" b="0" i="0">
                <a:solidFill>
                  <a:srgbClr val="FFFFFF"/>
                </a:solidFill>
                <a:latin typeface="Arial"/>
              </a:rPr>
              <a:t>D.  Always followed by a new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Degrees, reversals and OHLC trends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Turning points of larger wave cycles are more significant than those of smaller ones because: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All the lower degree cycles reverse in sync with it</a:t>
            </a:r>
          </a:p>
          <a:p>
            <a:pPr algn="l">
              <a:lnSpc>
                <a:spcPct val="115000"/>
              </a:lnSpc>
              <a:spcBef>
                <a:spcPts val="700"/>
              </a:spcBef>
              <a:spcAft>
                <a:spcPts val="0"/>
              </a:spcAft>
            </a:pPr>
            <a:r>
              <a:rPr sz="1600" b="0" i="0">
                <a:solidFill>
                  <a:srgbClr val="1A1A1A"/>
                </a:solidFill>
                <a:latin typeface="Arial"/>
              </a:rPr>
              <a:t>Wave-degree convergence: when a large wave cycle reverses, all the wave cycles of lower degrees reverse with it.</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correction or pullback, as opposed to a reversal or retracement, tends to imply a move that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Shallow, usually no more than a few percent</a:t>
            </a:r>
          </a:p>
          <a:p>
            <a:pPr algn="l">
              <a:lnSpc>
                <a:spcPct val="115000"/>
              </a:lnSpc>
              <a:spcBef>
                <a:spcPts val="700"/>
              </a:spcBef>
              <a:spcAft>
                <a:spcPts val="0"/>
              </a:spcAft>
            </a:pPr>
            <a:r>
              <a:rPr sz="1600" b="0" i="0">
                <a:solidFill>
                  <a:srgbClr val="1A1A1A"/>
                </a:solidFill>
                <a:latin typeface="Arial"/>
              </a:rPr>
              <a:t>Reversals and retracements may be of any amount. Corrections and pullbacks tend to be shallow, usually no more than a few percent.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Oscillation frequency and depth.</a:t>
            </a:r>
          </a:p>
          <a:p>
            <a:pPr algn="l">
              <a:lnSpc>
                <a:spcPct val="118000"/>
              </a:lnSpc>
              <a:spcBef>
                <a:spcPts val="0"/>
              </a:spcBef>
              <a:spcAft>
                <a:spcPts val="1300"/>
              </a:spcAft>
            </a:pPr>
            <a:r>
              <a:rPr sz="2100" b="0" i="0">
                <a:solidFill>
                  <a:srgbClr val="1A1A1A"/>
                </a:solidFill>
                <a:latin typeface="Arial"/>
              </a:rPr>
              <a:t>11 Consolidation size and duration.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Variations in these may impact future price activity. The book calls reading pure price action the highest skill any trader can aspire to.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  Cycle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24</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Look for decreasing cycle amplitude in uptrends and downtrends.</a:t>
            </a:r>
          </a:p>
          <a:p>
            <a:pPr algn="l">
              <a:lnSpc>
                <a:spcPct val="105000"/>
              </a:lnSpc>
              <a:spcBef>
                <a:spcPts val="0"/>
              </a:spcBef>
              <a:spcAft>
                <a:spcPts val="1100"/>
              </a:spcAft>
            </a:pPr>
            <a:r>
              <a:rPr sz="1700" b="0" i="0">
                <a:solidFill>
                  <a:srgbClr val="1A1A1A"/>
                </a:solidFill>
                <a:latin typeface="Arial"/>
              </a:rPr>
              <a:t>In an uptrend it is an early indication of potential underlying weakness.</a:t>
            </a:r>
          </a:p>
          <a:p>
            <a:pPr algn="l">
              <a:lnSpc>
                <a:spcPct val="105000"/>
              </a:lnSpc>
              <a:spcBef>
                <a:spcPts val="0"/>
              </a:spcBef>
              <a:spcAft>
                <a:spcPts val="1100"/>
              </a:spcAft>
            </a:pPr>
            <a:r>
              <a:rPr sz="1700" b="0" i="0">
                <a:solidFill>
                  <a:srgbClr val="1A1A1A"/>
                </a:solidFill>
                <a:latin typeface="Arial"/>
              </a:rPr>
              <a:t>In a downtrend it is regarded as a bullish indication.</a:t>
            </a:r>
          </a:p>
          <a:p>
            <a:pPr algn="l">
              <a:lnSpc>
                <a:spcPct val="105000"/>
              </a:lnSpc>
              <a:spcBef>
                <a:spcPts val="0"/>
              </a:spcBef>
              <a:spcAft>
                <a:spcPts val="1100"/>
              </a:spcAft>
            </a:pPr>
            <a:r>
              <a:rPr sz="1700" b="0" i="0">
                <a:solidFill>
                  <a:srgbClr val="1A1A1A"/>
                </a:solidFill>
                <a:latin typeface="Arial"/>
              </a:rPr>
              <a:t>For an uptrend the up cycle amplitudes must, on average, be larger than the down cycle amplitudes. The converse holds for a downtrend.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What matters most is the change in successive up and down cycle amplitudes.</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5.11 - Lim, The Handbook of Technical Analysis (Wiley, 2016)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800" b="0" i="0">
                <a:solidFill>
                  <a:srgbClr val="1A1A1A"/>
                </a:solidFill>
                <a:latin typeface="Arial"/>
              </a:rPr>
              <a:t>Expanding formations, with both boundary lines pointing upward, are generally bullish in an uptrend.</a:t>
            </a:r>
          </a:p>
          <a:p>
            <a:pPr algn="l">
              <a:lnSpc>
                <a:spcPct val="105000"/>
              </a:lnSpc>
              <a:spcBef>
                <a:spcPts val="0"/>
              </a:spcBef>
              <a:spcAft>
                <a:spcPts val="1100"/>
              </a:spcAft>
            </a:pPr>
            <a:r>
              <a:rPr sz="1800" b="0" i="0">
                <a:solidFill>
                  <a:srgbClr val="1A1A1A"/>
                </a:solidFill>
                <a:latin typeface="Arial"/>
              </a:rPr>
              <a:t>Steady, consistent amplitude is bullish in an uptrend and bearish in a downtrend.</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steady trend is generally regarded as the most reliable in extent and duration.</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5.12 - Lim, The Handbook of Technical Analysis (Wiley, 2016)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2  Cycle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Decreasing cycle periods are also an early indication of potential weakness in a trend.</a:t>
            </a:r>
          </a:p>
          <a:p>
            <a:pPr algn="l">
              <a:lnSpc>
                <a:spcPct val="105000"/>
              </a:lnSpc>
              <a:spcBef>
                <a:spcPts val="0"/>
              </a:spcBef>
              <a:spcAft>
                <a:spcPts val="1100"/>
              </a:spcAft>
            </a:pPr>
            <a:r>
              <a:rPr sz="1800" b="0" i="0">
                <a:solidFill>
                  <a:srgbClr val="1A1A1A"/>
                </a:solidFill>
                <a:latin typeface="Arial"/>
              </a:rPr>
              <a:t>A gradual reduction in the cycle period during an uptrend: there may be underlying weakness in the uptrend.</a:t>
            </a:r>
          </a:p>
          <a:p>
            <a:pPr algn="l">
              <a:lnSpc>
                <a:spcPct val="105000"/>
              </a:lnSpc>
              <a:spcBef>
                <a:spcPts val="0"/>
              </a:spcBef>
              <a:spcAft>
                <a:spcPts val="1100"/>
              </a:spcAft>
            </a:pPr>
            <a:r>
              <a:rPr sz="1800" b="0" i="0">
                <a:solidFill>
                  <a:srgbClr val="1A1A1A"/>
                </a:solidFill>
                <a:latin typeface="Arial"/>
              </a:rPr>
              <a:t>A gradual reduction during a downtrend: a bullish indication.</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7424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figures amplitude is measured up and down, and period across, from one peak to the next.</a:t>
            </a:r>
          </a:p>
        </p:txBody>
      </p:sp>
      <p:sp>
        <p:nvSpPr>
          <p:cNvPr id="10" name="Rectangle 9"/>
          <p:cNvSpPr/>
          <p:nvPr/>
        </p:nvSpPr>
        <p:spPr>
          <a:xfrm>
            <a:off x="7132319" y="1810512"/>
            <a:ext cx="42821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132319" y="1810512"/>
            <a:ext cx="42821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543799" y="2267712"/>
            <a:ext cx="34591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3  Bar retracement symmetry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change in the number of bars in a retracement is an early indication of a potential change in trend behavior.</a:t>
            </a:r>
          </a:p>
          <a:p>
            <a:pPr algn="l">
              <a:lnSpc>
                <a:spcPct val="105000"/>
              </a:lnSpc>
              <a:spcBef>
                <a:spcPts val="0"/>
              </a:spcBef>
              <a:spcAft>
                <a:spcPts val="1100"/>
              </a:spcAft>
            </a:pPr>
            <a:r>
              <a:rPr sz="1700" b="0" i="0">
                <a:solidFill>
                  <a:srgbClr val="1A1A1A"/>
                </a:solidFill>
                <a:latin typeface="Arial"/>
              </a:rPr>
              <a:t>In the figure three retracements take 28, 30 and 26 bars: consistent symmetry.</a:t>
            </a:r>
          </a:p>
          <a:p>
            <a:pPr algn="l">
              <a:lnSpc>
                <a:spcPct val="105000"/>
              </a:lnSpc>
              <a:spcBef>
                <a:spcPts val="0"/>
              </a:spcBef>
              <a:spcAft>
                <a:spcPts val="1100"/>
              </a:spcAft>
            </a:pPr>
            <a:r>
              <a:rPr sz="1700" b="0" i="0">
                <a:solidFill>
                  <a:srgbClr val="1A1A1A"/>
                </a:solidFill>
                <a:latin typeface="Arial"/>
              </a:rPr>
              <a:t>The next takes 14. The symmetry is broken, and a strong upside move follows.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2793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Count the bars in each retracement. A break in the count is the signal.</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Amplitude, period and symmetry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the cycle amplitude decreases swing after swing.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sign that the trend is strengthening</a:t>
            </a:r>
          </a:p>
          <a:p>
            <a:pPr algn="l">
              <a:lnSpc>
                <a:spcPct val="112000"/>
              </a:lnSpc>
              <a:spcBef>
                <a:spcPts val="0"/>
              </a:spcBef>
              <a:spcAft>
                <a:spcPts val="900"/>
              </a:spcAft>
            </a:pPr>
            <a:r>
              <a:rPr sz="1500" b="0" i="0">
                <a:solidFill>
                  <a:srgbClr val="FFFFFF"/>
                </a:solidFill>
                <a:latin typeface="Arial"/>
              </a:rPr>
              <a:t>B.  A bullish indication</a:t>
            </a:r>
          </a:p>
          <a:p>
            <a:pPr algn="l">
              <a:lnSpc>
                <a:spcPct val="112000"/>
              </a:lnSpc>
              <a:spcBef>
                <a:spcPts val="0"/>
              </a:spcBef>
              <a:spcAft>
                <a:spcPts val="900"/>
              </a:spcAft>
            </a:pPr>
            <a:r>
              <a:rPr sz="1500" b="0" i="0">
                <a:solidFill>
                  <a:srgbClr val="FFFFFF"/>
                </a:solidFill>
                <a:latin typeface="Arial"/>
              </a:rPr>
              <a:t>C.  An early indication of potential weakness</a:t>
            </a:r>
          </a:p>
          <a:p>
            <a:pPr algn="l">
              <a:lnSpc>
                <a:spcPct val="112000"/>
              </a:lnSpc>
              <a:spcBef>
                <a:spcPts val="0"/>
              </a:spcBef>
              <a:spcAft>
                <a:spcPts val="900"/>
              </a:spcAft>
            </a:pPr>
            <a:r>
              <a:rPr sz="1500" b="0" i="0">
                <a:solidFill>
                  <a:srgbClr val="FFFFFF"/>
                </a:solidFill>
                <a:latin typeface="Arial"/>
              </a:rPr>
              <a:t>D.  Of no significance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Retracements in an uptrend have taken 28, 30 and 26 bars. The next one takes 14. This suggests: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potential change in trend behavior</a:t>
            </a:r>
          </a:p>
          <a:p>
            <a:pPr algn="l">
              <a:lnSpc>
                <a:spcPct val="112000"/>
              </a:lnSpc>
              <a:spcBef>
                <a:spcPts val="0"/>
              </a:spcBef>
              <a:spcAft>
                <a:spcPts val="900"/>
              </a:spcAft>
            </a:pPr>
            <a:r>
              <a:rPr sz="1500" b="0" i="0">
                <a:solidFill>
                  <a:srgbClr val="FFFFFF"/>
                </a:solidFill>
                <a:latin typeface="Arial"/>
              </a:rPr>
              <a:t>B.  Nothing, because the trend is still up</a:t>
            </a:r>
          </a:p>
          <a:p>
            <a:pPr algn="l">
              <a:lnSpc>
                <a:spcPct val="112000"/>
              </a:lnSpc>
              <a:spcBef>
                <a:spcPts val="0"/>
              </a:spcBef>
              <a:spcAft>
                <a:spcPts val="900"/>
              </a:spcAft>
            </a:pPr>
            <a:r>
              <a:rPr sz="1500" b="0" i="0">
                <a:solidFill>
                  <a:srgbClr val="FFFFFF"/>
                </a:solidFill>
                <a:latin typeface="Arial"/>
              </a:rPr>
              <a:t>C.  An increase in cycle amplitude</a:t>
            </a:r>
          </a:p>
          <a:p>
            <a:pPr algn="l">
              <a:lnSpc>
                <a:spcPct val="112000"/>
              </a:lnSpc>
              <a:spcBef>
                <a:spcPts val="0"/>
              </a:spcBef>
              <a:spcAft>
                <a:spcPts val="900"/>
              </a:spcAft>
            </a:pPr>
            <a:r>
              <a:rPr sz="1500" b="0" i="0">
                <a:solidFill>
                  <a:srgbClr val="FFFFFF"/>
                </a:solidFill>
                <a:latin typeface="Arial"/>
              </a:rPr>
              <a:t>D.  That a downtrend has begun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Amplitude, period and symmetry</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the cycle amplitude decreases swing after swing.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early indication of potential weakness</a:t>
            </a:r>
          </a:p>
          <a:p>
            <a:pPr algn="l">
              <a:lnSpc>
                <a:spcPct val="115000"/>
              </a:lnSpc>
              <a:spcBef>
                <a:spcPts val="700"/>
              </a:spcBef>
              <a:spcAft>
                <a:spcPts val="0"/>
              </a:spcAft>
            </a:pPr>
            <a:r>
              <a:rPr sz="1600" b="0" i="0">
                <a:solidFill>
                  <a:srgbClr val="1A1A1A"/>
                </a:solidFill>
                <a:latin typeface="Arial"/>
              </a:rPr>
              <a:t>Decreasing cycle amplitude in an uptrend is an early indication of potential underlying weakness. In a downtrend it would be bullish.</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Retracements in an uptrend have taken 28, 30 and 26 bars. The next one takes 14. This suggests: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potential change in trend behavior</a:t>
            </a:r>
          </a:p>
          <a:p>
            <a:pPr algn="l">
              <a:lnSpc>
                <a:spcPct val="115000"/>
              </a:lnSpc>
              <a:spcBef>
                <a:spcPts val="700"/>
              </a:spcBef>
              <a:spcAft>
                <a:spcPts val="0"/>
              </a:spcAft>
            </a:pPr>
            <a:r>
              <a:rPr sz="1600" b="0" i="0">
                <a:solidFill>
                  <a:srgbClr val="1A1A1A"/>
                </a:solidFill>
                <a:latin typeface="Arial"/>
              </a:rPr>
              <a:t>A change in the number of bars in a retracement is an early indication of a potential change in trend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4  Average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24</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decrease in the average bar range in an uptrend is an early indication of potential weakness.</a:t>
            </a:r>
          </a:p>
          <a:p>
            <a:pPr algn="l">
              <a:lnSpc>
                <a:spcPct val="105000"/>
              </a:lnSpc>
              <a:spcBef>
                <a:spcPts val="0"/>
              </a:spcBef>
              <a:spcAft>
                <a:spcPts val="1100"/>
              </a:spcAft>
            </a:pPr>
            <a:r>
              <a:rPr sz="1900" b="0" i="0">
                <a:solidFill>
                  <a:srgbClr val="1A1A1A"/>
                </a:solidFill>
                <a:latin typeface="Arial"/>
              </a:rPr>
              <a:t>A decrease in the average bar range in a downtrend is a bullish indication.</a:t>
            </a:r>
          </a:p>
          <a:p>
            <a:pPr algn="l">
              <a:lnSpc>
                <a:spcPct val="105000"/>
              </a:lnSpc>
              <a:spcBef>
                <a:spcPts val="0"/>
              </a:spcBef>
              <a:spcAft>
                <a:spcPts val="1100"/>
              </a:spcAft>
            </a:pPr>
            <a:r>
              <a:rPr sz="1900" b="0" i="0">
                <a:solidFill>
                  <a:srgbClr val="1A1A1A"/>
                </a:solidFill>
                <a:latin typeface="Arial"/>
              </a:rPr>
              <a:t>Bar range can be tracked using the average true range, ATR, oscillator.</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59253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Unlike average bar range, the ATR accounts for gaps between the bars as well.</a:t>
            </a:r>
          </a:p>
        </p:txBody>
      </p:sp>
      <p:sp>
        <p:nvSpPr>
          <p:cNvPr id="10" name="TextBox 9"/>
          <p:cNvSpPr txBox="1"/>
          <p:nvPr/>
        </p:nvSpPr>
        <p:spPr>
          <a:xfrm>
            <a:off x="777240" y="5442204"/>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true range was Chapter 3. How it is averaged into the ATR is Chapter 8.</a:t>
            </a:r>
          </a:p>
        </p:txBody>
      </p:sp>
      <p:sp>
        <p:nvSpPr>
          <p:cNvPr id="11" name="Rectangle 10"/>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with a declining ATR.</a:t>
            </a:r>
          </a:p>
          <a:p>
            <a:pPr algn="l">
              <a:lnSpc>
                <a:spcPct val="105000"/>
              </a:lnSpc>
              <a:spcBef>
                <a:spcPts val="0"/>
              </a:spcBef>
              <a:spcAft>
                <a:spcPts val="1100"/>
              </a:spcAft>
            </a:pPr>
            <a:r>
              <a:rPr sz="2000" b="0" i="0">
                <a:solidFill>
                  <a:srgbClr val="1A1A1A"/>
                </a:solidFill>
                <a:latin typeface="Arial"/>
              </a:rPr>
              <a:t>Volume is bullish, but the ATR is indicating otherwise.</a:t>
            </a:r>
          </a:p>
          <a:p>
            <a:pPr algn="l">
              <a:lnSpc>
                <a:spcPct val="105000"/>
              </a:lnSpc>
              <a:spcBef>
                <a:spcPts val="0"/>
              </a:spcBef>
              <a:spcAft>
                <a:spcPts val="1100"/>
              </a:spcAft>
            </a:pPr>
            <a:r>
              <a:rPr sz="2000" b="0" i="0">
                <a:solidFill>
                  <a:srgbClr val="1A1A1A"/>
                </a:solidFill>
                <a:latin typeface="Arial"/>
              </a:rPr>
              <a:t>A large bearish candlestick completes the bearish picture.</a:t>
            </a:r>
          </a:p>
        </p:txBody>
      </p:sp>
      <p:sp>
        <p:nvSpPr>
          <p:cNvPr id="8" name="Rectangle 7"/>
          <p:cNvSpPr/>
          <p:nvPr/>
        </p:nvSpPr>
        <p:spPr>
          <a:xfrm>
            <a:off x="777240" y="4581144"/>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Prices tend to persist for longer when price is of high quality.</a:t>
            </a:r>
          </a:p>
          <a:p>
            <a:pPr algn="l">
              <a:lnSpc>
                <a:spcPct val="105000"/>
              </a:lnSpc>
              <a:spcBef>
                <a:spcPts val="0"/>
              </a:spcBef>
              <a:spcAft>
                <a:spcPts val="1100"/>
              </a:spcAft>
            </a:pPr>
            <a:r>
              <a:rPr sz="1800" b="0" i="0">
                <a:solidFill>
                  <a:srgbClr val="1A1A1A"/>
                </a:solidFill>
                <a:latin typeface="Arial"/>
              </a:rPr>
              <a:t>High quality prices have relatively small, and approximately equal, bar ranges.</a:t>
            </a:r>
          </a:p>
          <a:p>
            <a:pPr algn="l">
              <a:lnSpc>
                <a:spcPct val="105000"/>
              </a:lnSpc>
              <a:spcBef>
                <a:spcPts val="0"/>
              </a:spcBef>
              <a:spcAft>
                <a:spcPts val="1100"/>
              </a:spcAft>
            </a:pPr>
            <a:r>
              <a:rPr sz="1800" b="0" i="0">
                <a:solidFill>
                  <a:srgbClr val="1A1A1A"/>
                </a:solidFill>
                <a:latin typeface="Arial"/>
              </a:rPr>
              <a:t>Price then moves predictably. Trends and reversals are clear and decisive.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4622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this mode prices exhibit relatively low volatility.</a:t>
            </a:r>
          </a:p>
        </p:txBody>
      </p:sp>
      <p:sp>
        <p:nvSpPr>
          <p:cNvPr id="10" name="TextBox 9"/>
          <p:cNvSpPr txBox="1"/>
          <p:nvPr/>
        </p:nvSpPr>
        <p:spPr>
          <a:xfrm>
            <a:off x="777240" y="560374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Persistence is the continuity of trend action.</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Where a bar closed inside its own range: near the top, the middle or the bottom.</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relative position of the closing price within the bar itself, measured as a ratio: (C - L) / (H - L). It is essentially a one-period %K.</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1700" b="0" i="0">
                <a:solidFill>
                  <a:srgbClr val="1A1A1A"/>
                </a:solidFill>
                <a:latin typeface="Arial"/>
              </a:rPr>
              <a:t>In a downtrend, a gradual increase is an early indication of potential bullishness.</a:t>
            </a:r>
          </a:p>
          <a:p>
            <a:pPr algn="l">
              <a:lnSpc>
                <a:spcPct val="105000"/>
              </a:lnSpc>
              <a:spcBef>
                <a:spcPts val="0"/>
              </a:spcBef>
              <a:spcAft>
                <a:spcPts val="1100"/>
              </a:spcAft>
            </a:pPr>
            <a:r>
              <a:rPr sz="1700" b="0" i="0">
                <a:solidFill>
                  <a:srgbClr val="1A1A1A"/>
                </a:solidFill>
                <a:latin typeface="Arial"/>
              </a:rPr>
              <a:t>It is monitored with a simple moving average of the ratio.</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Figure 5.19: a 3-period SMA marks bearish and bullish divergences.</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Divergence is Chapter 9.</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7  Real body to range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24</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gradual decrease in the real body to candlestick range is an early indication of potential weakness in an uptrend.</a:t>
            </a:r>
          </a:p>
          <a:p>
            <a:pPr algn="l">
              <a:lnSpc>
                <a:spcPct val="105000"/>
              </a:lnSpc>
              <a:spcBef>
                <a:spcPts val="0"/>
              </a:spcBef>
              <a:spcAft>
                <a:spcPts val="1100"/>
              </a:spcAft>
            </a:pPr>
            <a:r>
              <a:rPr sz="2000" b="0" i="0">
                <a:solidFill>
                  <a:srgbClr val="1A1A1A"/>
                </a:solidFill>
                <a:latin typeface="Arial"/>
              </a:rPr>
              <a:t>In a downtrend, a gradual decrease in real body to candlestick range is a bullish indicator.</a:t>
            </a:r>
          </a:p>
          <a:p>
            <a:pPr algn="l">
              <a:lnSpc>
                <a:spcPct val="105000"/>
              </a:lnSpc>
              <a:spcBef>
                <a:spcPts val="0"/>
              </a:spcBef>
              <a:spcAft>
                <a:spcPts val="1100"/>
              </a:spcAft>
            </a:pPr>
            <a:r>
              <a:rPr sz="2000" b="0" i="0">
                <a:solidFill>
                  <a:srgbClr val="1A1A1A"/>
                </a:solidFill>
                <a:latin typeface="Arial"/>
              </a:rPr>
              <a:t>A simple moving average of the ratio is used to monitor it.</a:t>
            </a:r>
          </a:p>
        </p:txBody>
      </p:sp>
      <p:sp>
        <p:nvSpPr>
          <p:cNvPr id="8" name="Rectangle 7"/>
          <p:cNvSpPr/>
          <p:nvPr/>
        </p:nvSpPr>
        <p:spPr>
          <a:xfrm>
            <a:off x="777240" y="4901183"/>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7759"/>
            <a:ext cx="592531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ratio: BRR = (C - O) / (H - L).</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where the bar closes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has a low of PHP 20, a high of PHP 30 and a close of PHP 22. Its bar stochastic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0.20</a:t>
            </a:r>
          </a:p>
          <a:p>
            <a:pPr algn="l">
              <a:lnSpc>
                <a:spcPct val="112000"/>
              </a:lnSpc>
              <a:spcBef>
                <a:spcPts val="0"/>
              </a:spcBef>
              <a:spcAft>
                <a:spcPts val="900"/>
              </a:spcAft>
            </a:pPr>
            <a:r>
              <a:rPr sz="1500" b="0" i="0">
                <a:solidFill>
                  <a:srgbClr val="FFFFFF"/>
                </a:solidFill>
                <a:latin typeface="Arial"/>
              </a:rPr>
              <a:t>B.  0.50</a:t>
            </a:r>
          </a:p>
          <a:p>
            <a:pPr algn="l">
              <a:lnSpc>
                <a:spcPct val="112000"/>
              </a:lnSpc>
              <a:spcBef>
                <a:spcPts val="0"/>
              </a:spcBef>
              <a:spcAft>
                <a:spcPts val="900"/>
              </a:spcAft>
            </a:pPr>
            <a:r>
              <a:rPr sz="1500" b="0" i="0">
                <a:solidFill>
                  <a:srgbClr val="FFFFFF"/>
                </a:solidFill>
                <a:latin typeface="Arial"/>
              </a:rPr>
              <a:t>C.  0.80</a:t>
            </a:r>
          </a:p>
          <a:p>
            <a:pPr algn="l">
              <a:lnSpc>
                <a:spcPct val="112000"/>
              </a:lnSpc>
              <a:spcBef>
                <a:spcPts val="0"/>
              </a:spcBef>
              <a:spcAft>
                <a:spcPts val="900"/>
              </a:spcAft>
            </a:pPr>
            <a:r>
              <a:rPr sz="1500" b="0" i="0">
                <a:solidFill>
                  <a:srgbClr val="FFFFFF"/>
                </a:solidFill>
                <a:latin typeface="Arial"/>
              </a:rPr>
              <a:t>D.  2.00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Unlike the average bar range, the average true range (ATR) oscillator:</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Ignores the closing price</a:t>
            </a:r>
          </a:p>
          <a:p>
            <a:pPr algn="l">
              <a:lnSpc>
                <a:spcPct val="112000"/>
              </a:lnSpc>
              <a:spcBef>
                <a:spcPts val="0"/>
              </a:spcBef>
              <a:spcAft>
                <a:spcPts val="900"/>
              </a:spcAft>
            </a:pPr>
            <a:r>
              <a:rPr sz="1500" b="0" i="0">
                <a:solidFill>
                  <a:srgbClr val="FFFFFF"/>
                </a:solidFill>
                <a:latin typeface="Arial"/>
              </a:rPr>
              <a:t>B.  Accounts for gaps between the bars</a:t>
            </a:r>
          </a:p>
          <a:p>
            <a:pPr algn="l">
              <a:lnSpc>
                <a:spcPct val="112000"/>
              </a:lnSpc>
              <a:spcBef>
                <a:spcPts val="0"/>
              </a:spcBef>
              <a:spcAft>
                <a:spcPts val="900"/>
              </a:spcAft>
            </a:pPr>
            <a:r>
              <a:rPr sz="1500" b="0" i="0">
                <a:solidFill>
                  <a:srgbClr val="FFFFFF"/>
                </a:solidFill>
                <a:latin typeface="Arial"/>
              </a:rPr>
              <a:t>C.  Works only in uptrends</a:t>
            </a:r>
          </a:p>
          <a:p>
            <a:pPr algn="l">
              <a:lnSpc>
                <a:spcPct val="112000"/>
              </a:lnSpc>
              <a:spcBef>
                <a:spcPts val="0"/>
              </a:spcBef>
              <a:spcAft>
                <a:spcPts val="900"/>
              </a:spcAft>
            </a:pPr>
            <a:r>
              <a:rPr sz="1500" b="0" i="0">
                <a:solidFill>
                  <a:srgbClr val="FFFFFF"/>
                </a:solidFill>
                <a:latin typeface="Arial"/>
              </a:rPr>
              <a:t>D.  Measures volume, and not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where the bar closes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has a low of PHP 20, a high of PHP 30 and a close of PHP 22. Its bar stochastic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0.20</a:t>
            </a:r>
          </a:p>
          <a:p>
            <a:pPr algn="l">
              <a:lnSpc>
                <a:spcPct val="115000"/>
              </a:lnSpc>
              <a:spcBef>
                <a:spcPts val="700"/>
              </a:spcBef>
              <a:spcAft>
                <a:spcPts val="0"/>
              </a:spcAft>
            </a:pPr>
            <a:r>
              <a:rPr sz="1600" b="0" i="0">
                <a:solidFill>
                  <a:srgbClr val="1A1A1A"/>
                </a:solidFill>
                <a:latin typeface="Arial"/>
              </a:rPr>
              <a:t>(C - L) / (H - L) = (22 - 20) / (30 - 20) = 0.20. The bar closed near its low.</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Unlike the average bar range, the average true range (ATR) oscillator:</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Accounts for gaps between the bars</a:t>
            </a:r>
          </a:p>
          <a:p>
            <a:pPr algn="l">
              <a:lnSpc>
                <a:spcPct val="115000"/>
              </a:lnSpc>
              <a:spcBef>
                <a:spcPts val="700"/>
              </a:spcBef>
              <a:spcAft>
                <a:spcPts val="0"/>
              </a:spcAft>
            </a:pPr>
            <a:r>
              <a:rPr sz="1600" b="0" i="0">
                <a:solidFill>
                  <a:srgbClr val="1A1A1A"/>
                </a:solidFill>
                <a:latin typeface="Arial"/>
              </a:rPr>
              <a:t>The ATR will account for gaps between the bars as well, which a plain average of bar ranges does not.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8  Angular symmetry and momentum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change in angular symmetry is an early indication of bullishness or bearishness.</a:t>
            </a:r>
          </a:p>
          <a:p>
            <a:pPr algn="l">
              <a:lnSpc>
                <a:spcPct val="105000"/>
              </a:lnSpc>
              <a:spcBef>
                <a:spcPts val="0"/>
              </a:spcBef>
              <a:spcAft>
                <a:spcPts val="1100"/>
              </a:spcAft>
            </a:pPr>
            <a:r>
              <a:rPr sz="1800" b="0" i="0">
                <a:solidFill>
                  <a:srgbClr val="1A1A1A"/>
                </a:solidFill>
                <a:latin typeface="Arial"/>
              </a:rPr>
              <a:t>Generally, an increase in the angle of ascent is bullish, and a decrease is bearish.</a:t>
            </a:r>
          </a:p>
          <a:p>
            <a:pPr algn="l">
              <a:lnSpc>
                <a:spcPct val="105000"/>
              </a:lnSpc>
              <a:spcBef>
                <a:spcPts val="0"/>
              </a:spcBef>
              <a:spcAft>
                <a:spcPts val="1100"/>
              </a:spcAft>
            </a:pPr>
            <a:r>
              <a:rPr sz="1800" b="0" i="0">
                <a:solidFill>
                  <a:srgbClr val="1A1A1A"/>
                </a:solidFill>
                <a:latin typeface="Arial"/>
              </a:rPr>
              <a:t>3M Co. displays consistent angular symmetry over three years.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Trendlines 1 and 2 are parallel: a strong prognosticator of potential bullishness.</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5.21 - Lim, The Handbook of Technical Analysis (Wiley, 2016)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700" b="0" i="0">
                <a:solidFill>
                  <a:srgbClr val="1A1A1A"/>
                </a:solidFill>
                <a:latin typeface="Arial"/>
              </a:rPr>
              <a:t>Downside acceleration is bearish. Downside deceleration is bullish.</a:t>
            </a:r>
          </a:p>
          <a:p>
            <a:pPr algn="l">
              <a:lnSpc>
                <a:spcPct val="105000"/>
              </a:lnSpc>
              <a:spcBef>
                <a:spcPts val="0"/>
              </a:spcBef>
              <a:spcAft>
                <a:spcPts val="1100"/>
              </a:spcAft>
            </a:pPr>
            <a:r>
              <a:rPr sz="1700" b="0" i="0">
                <a:solidFill>
                  <a:srgbClr val="1A1A1A"/>
                </a:solidFill>
                <a:latin typeface="Arial"/>
              </a:rPr>
              <a:t>Upside and downside acceleration is normally parabolic in nature.</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uptrend may not be self-sustaining if its rate of ascent was excessive.</a:t>
            </a:r>
          </a:p>
        </p:txBody>
      </p:sp>
      <p:sp>
        <p:nvSpPr>
          <p:cNvPr id="10" name="TextBox 9"/>
          <p:cNvSpPr txBox="1"/>
          <p:nvPr/>
        </p:nvSpPr>
        <p:spPr>
          <a:xfrm>
            <a:off x="777240" y="546354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Downside acceleration may end in a selling climax.</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5.22 - Lim, The Handbook of Technical Analysis (Wiley, 2016)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rises at a consistent trend rate, leg after leg.</a:t>
            </a:r>
          </a:p>
          <a:p>
            <a:pPr algn="l">
              <a:lnSpc>
                <a:spcPct val="105000"/>
              </a:lnSpc>
              <a:spcBef>
                <a:spcPts val="0"/>
              </a:spcBef>
              <a:spcAft>
                <a:spcPts val="1100"/>
              </a:spcAft>
            </a:pPr>
            <a:r>
              <a:rPr sz="1700" b="0" i="0">
                <a:solidFill>
                  <a:srgbClr val="1A1A1A"/>
                </a:solidFill>
                <a:latin typeface="Arial"/>
              </a:rPr>
              <a:t>Once the rate changes, the market switches to a new regime: greater volatility and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text says about $3.30 a day; the figure prints $3.80. The book's caption under 5.24 is Figure 5.25's.</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9  Barrier proximity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There is always a high probability that a trend may reverse as it nears a strong and significant price barrier.</a:t>
            </a:r>
          </a:p>
          <a:p>
            <a:pPr algn="l">
              <a:lnSpc>
                <a:spcPct val="105000"/>
              </a:lnSpc>
              <a:spcBef>
                <a:spcPts val="0"/>
              </a:spcBef>
              <a:spcAft>
                <a:spcPts val="1100"/>
              </a:spcAft>
            </a:pPr>
            <a:r>
              <a:rPr sz="1700" b="0" i="0">
                <a:solidFill>
                  <a:srgbClr val="1A1A1A"/>
                </a:solidFill>
                <a:latin typeface="Arial"/>
              </a:rPr>
              <a:t>iShares MSCI Emerging Markets rebounds after testing a strong support level.</a:t>
            </a:r>
          </a:p>
          <a:p>
            <a:pPr algn="l">
              <a:lnSpc>
                <a:spcPct val="105000"/>
              </a:lnSpc>
              <a:spcBef>
                <a:spcPts val="0"/>
              </a:spcBef>
              <a:spcAft>
                <a:spcPts val="1100"/>
              </a:spcAft>
            </a:pPr>
            <a:r>
              <a:rPr sz="1700" b="0" i="0">
                <a:solidFill>
                  <a:srgbClr val="1A1A1A"/>
                </a:solidFill>
                <a:latin typeface="Arial"/>
              </a:rPr>
              <a:t>At the reversal the cycle-tuned stochastic indicates an oversold condition.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Barrier proximity: an early warning of a potential reversal.</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cycle-tuned stochastic is used throughout this chapter and never explained in it.</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5.25 - Lim, The Handbook of Technical Analysis (Wiley, 2016)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Angles, acceleration and barriers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Upside deceleration in an uptrend is regarded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a:t>
            </a:r>
          </a:p>
          <a:p>
            <a:pPr algn="l">
              <a:lnSpc>
                <a:spcPct val="112000"/>
              </a:lnSpc>
              <a:spcBef>
                <a:spcPts val="0"/>
              </a:spcBef>
              <a:spcAft>
                <a:spcPts val="900"/>
              </a:spcAft>
            </a:pPr>
            <a:r>
              <a:rPr sz="1500" b="0" i="0">
                <a:solidFill>
                  <a:srgbClr val="FFFFFF"/>
                </a:solidFill>
                <a:latin typeface="Arial"/>
              </a:rPr>
              <a:t>B.  Bearish</a:t>
            </a:r>
          </a:p>
          <a:p>
            <a:pPr algn="l">
              <a:lnSpc>
                <a:spcPct val="112000"/>
              </a:lnSpc>
              <a:spcBef>
                <a:spcPts val="0"/>
              </a:spcBef>
              <a:spcAft>
                <a:spcPts val="900"/>
              </a:spcAft>
            </a:pPr>
            <a:r>
              <a:rPr sz="1500" b="0" i="0">
                <a:solidFill>
                  <a:srgbClr val="FFFFFF"/>
                </a:solidFill>
                <a:latin typeface="Arial"/>
              </a:rPr>
              <a:t>C.  Neutral</a:t>
            </a:r>
          </a:p>
          <a:p>
            <a:pPr algn="l">
              <a:lnSpc>
                <a:spcPct val="112000"/>
              </a:lnSpc>
              <a:spcBef>
                <a:spcPts val="0"/>
              </a:spcBef>
              <a:spcAft>
                <a:spcPts val="900"/>
              </a:spcAft>
            </a:pPr>
            <a:r>
              <a:rPr sz="1500" b="0" i="0">
                <a:solidFill>
                  <a:srgbClr val="FFFFFF"/>
                </a:solidFill>
                <a:latin typeface="Arial"/>
              </a:rPr>
              <a:t>D.  A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strong downtrend approaches a strong and significant support level. The probability of a reversal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Low, because the trend is strong</a:t>
            </a:r>
          </a:p>
          <a:p>
            <a:pPr algn="l">
              <a:lnSpc>
                <a:spcPct val="112000"/>
              </a:lnSpc>
              <a:spcBef>
                <a:spcPts val="0"/>
              </a:spcBef>
              <a:spcAft>
                <a:spcPts val="900"/>
              </a:spcAft>
            </a:pPr>
            <a:r>
              <a:rPr sz="1500" b="0" i="0">
                <a:solidFill>
                  <a:srgbClr val="FFFFFF"/>
                </a:solidFill>
                <a:latin typeface="Arial"/>
              </a:rPr>
              <a:t>B.  Unchanged by the level</a:t>
            </a:r>
          </a:p>
          <a:p>
            <a:pPr algn="l">
              <a:lnSpc>
                <a:spcPct val="112000"/>
              </a:lnSpc>
              <a:spcBef>
                <a:spcPts val="0"/>
              </a:spcBef>
              <a:spcAft>
                <a:spcPts val="900"/>
              </a:spcAft>
            </a:pPr>
            <a:r>
              <a:rPr sz="1500" b="0" i="0">
                <a:solidFill>
                  <a:srgbClr val="FFFFFF"/>
                </a:solidFill>
                <a:latin typeface="Arial"/>
              </a:rPr>
              <a:t>C.  Zero until volume rises</a:t>
            </a:r>
          </a:p>
          <a:p>
            <a:pPr algn="l">
              <a:lnSpc>
                <a:spcPct val="112000"/>
              </a:lnSpc>
              <a:spcBef>
                <a:spcPts val="0"/>
              </a:spcBef>
              <a:spcAft>
                <a:spcPts val="900"/>
              </a:spcAft>
            </a:pPr>
            <a:r>
              <a:rPr sz="1500" b="0" i="0">
                <a:solidFill>
                  <a:srgbClr val="FFFFFF"/>
                </a:solidFill>
                <a:latin typeface="Arial"/>
              </a:rPr>
              <a:t>D.  High, because of barrier proximity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Angles, acceleration and barriers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Upside deceleration in an uptrend is regarded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Bearish</a:t>
            </a:r>
          </a:p>
          <a:p>
            <a:pPr algn="l">
              <a:lnSpc>
                <a:spcPct val="115000"/>
              </a:lnSpc>
              <a:spcBef>
                <a:spcPts val="700"/>
              </a:spcBef>
              <a:spcAft>
                <a:spcPts val="0"/>
              </a:spcAft>
            </a:pPr>
            <a:r>
              <a:rPr sz="1600" b="0" i="0">
                <a:solidFill>
                  <a:srgbClr val="1A1A1A"/>
                </a:solidFill>
                <a:latin typeface="Arial"/>
              </a:rPr>
              <a:t>Upside acceleration is bullish and upside deceleration is bearish. For downtrends the two are reversed.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strong downtrend approaches a strong and significant support level. The probability of a reversal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High, because of barrier proximity</a:t>
            </a:r>
          </a:p>
          <a:p>
            <a:pPr algn="l">
              <a:lnSpc>
                <a:spcPct val="115000"/>
              </a:lnSpc>
              <a:spcBef>
                <a:spcPts val="700"/>
              </a:spcBef>
              <a:spcAft>
                <a:spcPts val="0"/>
              </a:spcAft>
            </a:pPr>
            <a:r>
              <a:rPr sz="1600" b="0" i="0">
                <a:solidFill>
                  <a:srgbClr val="1A1A1A"/>
                </a:solidFill>
                <a:latin typeface="Arial"/>
              </a:rPr>
              <a:t>There is always a high probability that a trend may reverse as it approaches a strong and significant price barrier.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more reliable with a reasonable number of oscillations: fairly frequent, not too shallow or too deep.</a:t>
            </a:r>
          </a:p>
          <a:p>
            <a:pPr algn="l">
              <a:lnSpc>
                <a:spcPct val="105000"/>
              </a:lnSpc>
              <a:spcBef>
                <a:spcPts val="0"/>
              </a:spcBef>
              <a:spcAft>
                <a:spcPts val="1100"/>
              </a:spcAft>
            </a:pPr>
            <a:r>
              <a:rPr sz="1700" b="0" i="0">
                <a:solidFill>
                  <a:srgbClr val="1A1A1A"/>
                </a:solidFill>
                <a:latin typeface="Arial"/>
              </a:rPr>
              <a:t>That is indicative of healthy profit taking.</a:t>
            </a:r>
          </a:p>
          <a:p>
            <a:pPr algn="l">
              <a:lnSpc>
                <a:spcPct val="105000"/>
              </a:lnSpc>
              <a:spcBef>
                <a:spcPts val="0"/>
              </a:spcBef>
              <a:spcAft>
                <a:spcPts val="1100"/>
              </a:spcAft>
            </a:pPr>
            <a:r>
              <a:rPr sz="1700" b="0" i="0">
                <a:solidFill>
                  <a:srgbClr val="1A1A1A"/>
                </a:solidFill>
                <a:latin typeface="Arial"/>
              </a:rPr>
              <a:t>With little profit taken, more pent-up, unrealized profit is at risk.</a:t>
            </a:r>
          </a:p>
          <a:p>
            <a:pPr algn="l">
              <a:lnSpc>
                <a:spcPct val="105000"/>
              </a:lnSpc>
              <a:spcBef>
                <a:spcPts val="0"/>
              </a:spcBef>
              <a:spcAft>
                <a:spcPts val="1100"/>
              </a:spcAft>
            </a:pPr>
            <a:r>
              <a:rPr sz="1700" b="0" i="0">
                <a:solidFill>
                  <a:srgbClr val="1A1A1A"/>
                </a:solidFill>
                <a:latin typeface="Arial"/>
              </a:rPr>
              <a:t>Traders then exit rapidly at the slightest hint of bearishness.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Such a trend is potentially more bearish at higher prices.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5.26 - Lim, The Handbook of Technical Analysis (Wiley, 2016)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is more significant if the price formation is of greater magnitude: a taller chart pattern.</a:t>
            </a:r>
          </a:p>
          <a:p>
            <a:pPr algn="l">
              <a:lnSpc>
                <a:spcPct val="105000"/>
              </a:lnSpc>
              <a:spcBef>
                <a:spcPts val="0"/>
              </a:spcBef>
              <a:spcAft>
                <a:spcPts val="1100"/>
              </a:spcAft>
            </a:pPr>
            <a:r>
              <a:rPr sz="1700" b="0" i="0">
                <a:solidFill>
                  <a:srgbClr val="1A1A1A"/>
                </a:solidFill>
                <a:latin typeface="Arial"/>
              </a:rPr>
              <a:t>And if it develops over a longer period: a wider chart pattern.</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12  Third gap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appearance of a third gap in a trend is an indication of potential trend exhaustion and a possible reversal.</a:t>
            </a:r>
          </a:p>
          <a:p>
            <a:pPr algn="l">
              <a:lnSpc>
                <a:spcPct val="105000"/>
              </a:lnSpc>
              <a:spcBef>
                <a:spcPts val="0"/>
              </a:spcBef>
              <a:spcAft>
                <a:spcPts val="1100"/>
              </a:spcAft>
            </a:pPr>
            <a:r>
              <a:rPr sz="1700" b="0" i="0">
                <a:solidFill>
                  <a:srgbClr val="1A1A1A"/>
                </a:solidFill>
                <a:latin typeface="Arial"/>
              </a:rPr>
              <a:t>The SPDR Dow Jones Industrial Average ETF makes a top after a third gap in its uptrend.</a:t>
            </a:r>
          </a:p>
          <a:p>
            <a:pPr algn="l">
              <a:lnSpc>
                <a:spcPct val="105000"/>
              </a:lnSpc>
              <a:spcBef>
                <a:spcPts val="0"/>
              </a:spcBef>
              <a:spcAft>
                <a:spcPts val="1100"/>
              </a:spcAft>
            </a:pPr>
            <a:r>
              <a:rPr sz="1700" b="0" i="0">
                <a:solidFill>
                  <a:srgbClr val="1A1A1A"/>
                </a:solidFill>
                <a:latin typeface="Arial"/>
              </a:rPr>
              <a:t>It bottoms after another third gap, in the downtrend that follows.</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Count the gaps in a trend. The third is the one to watch.</a:t>
            </a:r>
          </a:p>
        </p:txBody>
      </p:sp>
      <p:sp>
        <p:nvSpPr>
          <p:cNvPr id="10" name="TextBox 9"/>
          <p:cNvSpPr txBox="1"/>
          <p:nvPr/>
        </p:nvSpPr>
        <p:spPr>
          <a:xfrm>
            <a:off x="777240" y="5189220"/>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Both third gaps coincide with the cycle-tuned stochastic at an extreme: overbought at the top, oversold at the bottom.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Oscillations, size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uptrend rises rapidly with very few oscillations. Compared with an uptrend that oscillates frequently,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More reliable, because nothing interrupts it</a:t>
            </a:r>
          </a:p>
          <a:p>
            <a:pPr algn="l">
              <a:lnSpc>
                <a:spcPct val="112000"/>
              </a:lnSpc>
              <a:spcBef>
                <a:spcPts val="0"/>
              </a:spcBef>
              <a:spcAft>
                <a:spcPts val="900"/>
              </a:spcAft>
            </a:pPr>
            <a:r>
              <a:rPr sz="1500" b="0" i="0">
                <a:solidFill>
                  <a:srgbClr val="FFFFFF"/>
                </a:solidFill>
                <a:latin typeface="Arial"/>
              </a:rPr>
              <a:t>B.  Certain to continue</a:t>
            </a:r>
          </a:p>
          <a:p>
            <a:pPr algn="l">
              <a:lnSpc>
                <a:spcPct val="112000"/>
              </a:lnSpc>
              <a:spcBef>
                <a:spcPts val="0"/>
              </a:spcBef>
              <a:spcAft>
                <a:spcPts val="900"/>
              </a:spcAft>
            </a:pPr>
            <a:r>
              <a:rPr sz="1500" b="0" i="0">
                <a:solidFill>
                  <a:srgbClr val="FFFFFF"/>
                </a:solidFill>
                <a:latin typeface="Arial"/>
              </a:rPr>
              <a:t>C.  Potentially more bearish at higher prices</a:t>
            </a:r>
          </a:p>
          <a:p>
            <a:pPr algn="l">
              <a:lnSpc>
                <a:spcPct val="112000"/>
              </a:lnSpc>
              <a:spcBef>
                <a:spcPts val="0"/>
              </a:spcBef>
              <a:spcAft>
                <a:spcPts val="900"/>
              </a:spcAft>
            </a:pPr>
            <a:r>
              <a:rPr sz="1500" b="0" i="0">
                <a:solidFill>
                  <a:srgbClr val="FFFFFF"/>
                </a:solidFill>
                <a:latin typeface="Arial"/>
              </a:rPr>
              <a:t>D.  Free of unrealized profit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head and shoulders formations appear in strong uptrends. The larger of the two is deemed: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Less bearish than the smaller one</a:t>
            </a:r>
          </a:p>
          <a:p>
            <a:pPr algn="l">
              <a:lnSpc>
                <a:spcPct val="112000"/>
              </a:lnSpc>
              <a:spcBef>
                <a:spcPts val="0"/>
              </a:spcBef>
              <a:spcAft>
                <a:spcPts val="900"/>
              </a:spcAft>
            </a:pPr>
            <a:r>
              <a:rPr sz="1500" b="0" i="0">
                <a:solidFill>
                  <a:srgbClr val="FFFFFF"/>
                </a:solidFill>
                <a:latin typeface="Arial"/>
              </a:rPr>
              <a:t>B.  More bearish than the smaller one</a:t>
            </a:r>
          </a:p>
          <a:p>
            <a:pPr algn="l">
              <a:lnSpc>
                <a:spcPct val="112000"/>
              </a:lnSpc>
              <a:spcBef>
                <a:spcPts val="0"/>
              </a:spcBef>
              <a:spcAft>
                <a:spcPts val="900"/>
              </a:spcAft>
            </a:pPr>
            <a:r>
              <a:rPr sz="1500" b="0" i="0">
                <a:solidFill>
                  <a:srgbClr val="FFFFFF"/>
                </a:solidFill>
                <a:latin typeface="Arial"/>
              </a:rPr>
              <a:t>C.  Bullish</a:t>
            </a:r>
          </a:p>
          <a:p>
            <a:pPr algn="l">
              <a:lnSpc>
                <a:spcPct val="112000"/>
              </a:lnSpc>
              <a:spcBef>
                <a:spcPts val="0"/>
              </a:spcBef>
              <a:spcAft>
                <a:spcPts val="900"/>
              </a:spcAft>
            </a:pPr>
            <a:r>
              <a:rPr sz="1500" b="0" i="0">
                <a:solidFill>
                  <a:srgbClr val="FFFFFF"/>
                </a:solidFill>
                <a:latin typeface="Arial"/>
              </a:rPr>
              <a:t>D.  Equally bearish, because the form is the same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Oscillations, size and gaps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uptrend rises rapidly with very few oscillations. Compared with an uptrend that oscillates frequently, it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Potentially more bearish at higher prices</a:t>
            </a:r>
          </a:p>
          <a:p>
            <a:pPr algn="l">
              <a:lnSpc>
                <a:spcPct val="115000"/>
              </a:lnSpc>
              <a:spcBef>
                <a:spcPts val="700"/>
              </a:spcBef>
              <a:spcAft>
                <a:spcPts val="0"/>
              </a:spcAft>
            </a:pPr>
            <a:r>
              <a:rPr sz="1600" b="0" i="0">
                <a:solidFill>
                  <a:srgbClr val="1A1A1A"/>
                </a:solidFill>
                <a:latin typeface="Arial"/>
              </a:rPr>
              <a:t>Little profit taking leaves more pent-up and unrealized profit at risk, so traders exit rapidly at the slightest hint of bearishness.</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Two head and shoulders formations appear in strong uptrends. The larger of the two is deemed:</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bearish than the smaller one</a:t>
            </a:r>
          </a:p>
          <a:p>
            <a:pPr algn="l">
              <a:lnSpc>
                <a:spcPct val="115000"/>
              </a:lnSpc>
              <a:spcBef>
                <a:spcPts val="700"/>
              </a:spcBef>
              <a:spcAft>
                <a:spcPts val="0"/>
              </a:spcAft>
            </a:pPr>
            <a:r>
              <a:rPr sz="1600" b="0" i="0">
                <a:solidFill>
                  <a:srgbClr val="1A1A1A"/>
                </a:solidFill>
                <a:latin typeface="Arial"/>
              </a:rPr>
              <a:t>Larger trend interruptions lead to a greater probability of a reversal. Size takes precedence over form.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13  Completion of the average period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period range is one of the most reliable characteristics of price activity.</a:t>
            </a:r>
          </a:p>
          <a:p>
            <a:pPr algn="l">
              <a:lnSpc>
                <a:spcPct val="105000"/>
              </a:lnSpc>
              <a:spcBef>
                <a:spcPts val="0"/>
              </a:spcBef>
              <a:spcAft>
                <a:spcPts val="1100"/>
              </a:spcAft>
            </a:pPr>
            <a:r>
              <a:rPr sz="1700" b="0" i="0">
                <a:solidFill>
                  <a:srgbClr val="1A1A1A"/>
                </a:solidFill>
                <a:latin typeface="Arial"/>
              </a:rPr>
              <a:t>Say a FOREX pair has an average daily range of 120 pips.</a:t>
            </a:r>
          </a:p>
          <a:p>
            <a:pPr algn="l">
              <a:lnSpc>
                <a:spcPct val="105000"/>
              </a:lnSpc>
              <a:spcBef>
                <a:spcPts val="0"/>
              </a:spcBef>
              <a:spcAft>
                <a:spcPts val="1100"/>
              </a:spcAft>
            </a:pPr>
            <a:r>
              <a:rPr sz="1700" b="0" i="0">
                <a:solidFill>
                  <a:srgbClr val="1A1A1A"/>
                </a:solidFill>
                <a:latin typeface="Arial"/>
              </a:rPr>
              <a:t>Price beyond that range, in either direction, before the trading day completes is a potential sign of exhaustion.</a:t>
            </a:r>
          </a:p>
          <a:p>
            <a:pPr algn="l">
              <a:lnSpc>
                <a:spcPct val="105000"/>
              </a:lnSpc>
              <a:spcBef>
                <a:spcPts val="0"/>
              </a:spcBef>
              <a:spcAft>
                <a:spcPts val="1100"/>
              </a:spcAft>
            </a:pPr>
            <a:r>
              <a:rPr sz="1700" b="0" i="0">
                <a:solidFill>
                  <a:srgbClr val="1A1A1A"/>
                </a:solidFill>
                <a:latin typeface="Arial"/>
              </a:rPr>
              <a:t>The practitioner then looks for signs of a reversal.</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Find it with the ATR, or as the 2 standard deviation value of bar range, which the book says ninety percent of ranges stay below.</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d.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Similarly for a penetration below a downtrending line.</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5.29 - Lim, The Handbook of Technical Analysis (Wiley, 2016)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Bullish if the bar closes at or near its high, very bearish near its low.</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a stronger sign of a potential reversal. The squat bar.</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e.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Standard or reverse divergence may appear between price and volume, or between price and any oscillator.</a:t>
            </a:r>
          </a:p>
          <a:p>
            <a:pPr algn="l">
              <a:lnSpc>
                <a:spcPct val="118000"/>
              </a:lnSpc>
              <a:spcBef>
                <a:spcPts val="0"/>
              </a:spcBef>
              <a:spcAft>
                <a:spcPts val="1300"/>
              </a:spcAft>
            </a:pPr>
            <a:r>
              <a:rPr sz="2100" b="0" i="0">
                <a:solidFill>
                  <a:srgbClr val="1A1A1A"/>
                </a:solidFill>
                <a:latin typeface="Arial"/>
              </a:rPr>
              <a:t>It may give an early indication of potential reversals or continuations in the market.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divergence this one sentence here and refers to Chapter 9 for more.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That completes the sixteen. The chapter summary advises paying particular attention to all of them.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Exhaustion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currency pair has an average daily range of 120 pips. By midday it has already moved 130 pips. This is regarded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breakaway gap</a:t>
            </a:r>
          </a:p>
          <a:p>
            <a:pPr algn="l">
              <a:lnSpc>
                <a:spcPct val="112000"/>
              </a:lnSpc>
              <a:spcBef>
                <a:spcPts val="0"/>
              </a:spcBef>
              <a:spcAft>
                <a:spcPts val="900"/>
              </a:spcAft>
            </a:pPr>
            <a:r>
              <a:rPr sz="1500" b="0" i="0">
                <a:solidFill>
                  <a:srgbClr val="FFFFFF"/>
                </a:solidFill>
                <a:latin typeface="Arial"/>
              </a:rPr>
              <a:t>B.  A potential sign of exhaustion</a:t>
            </a:r>
          </a:p>
          <a:p>
            <a:pPr algn="l">
              <a:lnSpc>
                <a:spcPct val="112000"/>
              </a:lnSpc>
              <a:spcBef>
                <a:spcPts val="0"/>
              </a:spcBef>
              <a:spcAft>
                <a:spcPts val="900"/>
              </a:spcAft>
            </a:pPr>
            <a:r>
              <a:rPr sz="1500" b="0" i="0">
                <a:solidFill>
                  <a:srgbClr val="FFFFFF"/>
                </a:solidFill>
                <a:latin typeface="Arial"/>
              </a:rPr>
              <a:t>C.  Proof that the trend will continue</a:t>
            </a:r>
          </a:p>
          <a:p>
            <a:pPr algn="l">
              <a:lnSpc>
                <a:spcPct val="112000"/>
              </a:lnSpc>
              <a:spcBef>
                <a:spcPts val="0"/>
              </a:spcBef>
              <a:spcAft>
                <a:spcPts val="900"/>
              </a:spcAft>
            </a:pPr>
            <a:r>
              <a:rPr sz="1500" b="0" i="0">
                <a:solidFill>
                  <a:srgbClr val="FFFFFF"/>
                </a:solidFill>
                <a:latin typeface="Arial"/>
              </a:rPr>
              <a:t>D.  A decrease in cycle period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very small bar range on very large volume, the squat bar, is regarded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promoting</a:t>
            </a:r>
          </a:p>
          <a:p>
            <a:pPr algn="l">
              <a:lnSpc>
                <a:spcPct val="112000"/>
              </a:lnSpc>
              <a:spcBef>
                <a:spcPts val="0"/>
              </a:spcBef>
              <a:spcAft>
                <a:spcPts val="900"/>
              </a:spcAft>
            </a:pPr>
            <a:r>
              <a:rPr sz="1500" b="0" i="0">
                <a:solidFill>
                  <a:srgbClr val="FFFFFF"/>
                </a:solidFill>
                <a:latin typeface="Arial"/>
              </a:rPr>
              <a:t>B.  A sign of weak commitment only</a:t>
            </a:r>
          </a:p>
          <a:p>
            <a:pPr algn="l">
              <a:lnSpc>
                <a:spcPct val="112000"/>
              </a:lnSpc>
              <a:spcBef>
                <a:spcPts val="0"/>
              </a:spcBef>
              <a:spcAft>
                <a:spcPts val="900"/>
              </a:spcAft>
            </a:pPr>
            <a:r>
              <a:rPr sz="1500" b="0" i="0">
                <a:solidFill>
                  <a:srgbClr val="FFFFFF"/>
                </a:solidFill>
                <a:latin typeface="Arial"/>
              </a:rPr>
              <a:t>C.  Of no significance</a:t>
            </a:r>
          </a:p>
          <a:p>
            <a:pPr algn="l">
              <a:lnSpc>
                <a:spcPct val="112000"/>
              </a:lnSpc>
              <a:spcBef>
                <a:spcPts val="0"/>
              </a:spcBef>
              <a:spcAft>
                <a:spcPts val="900"/>
              </a:spcAft>
            </a:pPr>
            <a:r>
              <a:rPr sz="1500" b="0" i="0">
                <a:solidFill>
                  <a:srgbClr val="FFFFFF"/>
                </a:solidFill>
                <a:latin typeface="Arial"/>
              </a:rPr>
              <a:t>D.  A significantly stronger indication of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Exhaustion and volume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currency pair has an average daily range of 120 pips. By midday it has already moved 130 pips. This is regarded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potential sign of exhaustion</a:t>
            </a:r>
          </a:p>
          <a:p>
            <a:pPr algn="l">
              <a:lnSpc>
                <a:spcPct val="115000"/>
              </a:lnSpc>
              <a:spcBef>
                <a:spcPts val="700"/>
              </a:spcBef>
              <a:spcAft>
                <a:spcPts val="0"/>
              </a:spcAft>
            </a:pPr>
            <a:r>
              <a:rPr sz="1600" b="0" i="0">
                <a:solidFill>
                  <a:srgbClr val="1A1A1A"/>
                </a:solidFill>
                <a:latin typeface="Arial"/>
              </a:rPr>
              <a:t>Price activity beyond the average range before the trading day completes is a potential sign of exhaustion, and a reversal may be expected.</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very small bar range on very large volume, the squat bar, is regarded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significantly stronger indication of a potential reversal</a:t>
            </a:r>
          </a:p>
          <a:p>
            <a:pPr algn="l">
              <a:lnSpc>
                <a:spcPct val="115000"/>
              </a:lnSpc>
              <a:spcBef>
                <a:spcPts val="700"/>
              </a:spcBef>
              <a:spcAft>
                <a:spcPts val="0"/>
              </a:spcAft>
            </a:pPr>
            <a:r>
              <a:rPr sz="1600" b="0" i="0">
                <a:solidFill>
                  <a:srgbClr val="1A1A1A"/>
                </a:solidFill>
                <a:latin typeface="Arial"/>
              </a:rPr>
              <a:t>A large commitment of capital with no further extension in price implies strong opposition to the existing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Price-based filters indicate the exact price of entry, but not when.</a:t>
            </a:r>
          </a:p>
          <a:p>
            <a:pPr algn="l">
              <a:lnSpc>
                <a:spcPct val="105000"/>
              </a:lnSpc>
              <a:spcBef>
                <a:spcPts val="0"/>
              </a:spcBef>
              <a:spcAft>
                <a:spcPts val="1100"/>
              </a:spcAft>
            </a:pPr>
            <a:r>
              <a:rPr sz="1700" b="0" i="0">
                <a:solidFill>
                  <a:srgbClr val="1A1A1A"/>
                </a:solidFill>
                <a:latin typeface="Arial"/>
              </a:rPr>
              <a:t>Time-based filters indicate the exact time of entry, but not the price.</a:t>
            </a:r>
          </a:p>
          <a:p>
            <a:pPr algn="l">
              <a:lnSpc>
                <a:spcPct val="105000"/>
              </a:lnSpc>
              <a:spcBef>
                <a:spcPts val="0"/>
              </a:spcBef>
              <a:spcAft>
                <a:spcPts val="1100"/>
              </a:spcAft>
            </a:pPr>
            <a:r>
              <a:rPr sz="1700" b="0" i="0">
                <a:solidFill>
                  <a:srgbClr val="1A1A1A"/>
                </a:solidFill>
                <a:latin typeface="Arial"/>
              </a:rPr>
              <a:t>Event-based filters indicate neither, until an event has occurred.</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Trading intraday breakouts with no filter makes backtesting virtually impossible.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Price-based. Absolute: a fixed price excursion. Relative: a percentage of the breakout price. Volatility: multiples of average true range or of standard deviation.</a:t>
            </a:r>
          </a:p>
          <a:p>
            <a:pPr algn="l">
              <a:lnSpc>
                <a:spcPct val="105000"/>
              </a:lnSpc>
              <a:spcBef>
                <a:spcPts val="0"/>
              </a:spcBef>
              <a:spcAft>
                <a:spcPts val="1100"/>
              </a:spcAft>
            </a:pPr>
            <a:r>
              <a:rPr sz="1800" b="0" i="0">
                <a:solidFill>
                  <a:srgbClr val="1A1A1A"/>
                </a:solidFill>
                <a:latin typeface="Arial"/>
              </a:rPr>
              <a:t>Time-based: a duration of N closed bars.</a:t>
            </a:r>
          </a:p>
          <a:p>
            <a:pPr algn="l">
              <a:lnSpc>
                <a:spcPct val="105000"/>
              </a:lnSpc>
              <a:spcBef>
                <a:spcPts val="0"/>
              </a:spcBef>
              <a:spcAft>
                <a:spcPts val="1100"/>
              </a:spcAft>
            </a:pPr>
            <a:r>
              <a:rPr sz="1800" b="0" i="0">
                <a:solidFill>
                  <a:srgbClr val="1A1A1A"/>
                </a:solidFill>
                <a:latin typeface="Arial"/>
              </a:rPr>
              <a:t>Event-based. Algorithmic: a specific sequence of closed bars, or of new highs or lows. Event-based measure: a closing price violation, or a barrier retest after a confirmed breakout.</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Review question 8 says 'time and algorithmic filters'. Here algorithmic is one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closing violation triggers entry. But prices may close too far beyond the entry level.</a:t>
            </a:r>
          </a:p>
          <a:p>
            <a:pPr algn="l">
              <a:lnSpc>
                <a:spcPct val="105000"/>
              </a:lnSpc>
              <a:spcBef>
                <a:spcPts val="0"/>
              </a:spcBef>
              <a:spcAft>
                <a:spcPts val="1100"/>
              </a:spcAft>
            </a:pPr>
            <a:r>
              <a:rPr sz="1700" b="0" i="0">
                <a:solidFill>
                  <a:srgbClr val="1A1A1A"/>
                </a:solidFill>
                <a:latin typeface="Arial"/>
              </a:rPr>
              <a:t>So an additional price-based filter limits entry to within a specified distance.</a:t>
            </a:r>
          </a:p>
          <a:p>
            <a:pPr algn="l">
              <a:lnSpc>
                <a:spcPct val="105000"/>
              </a:lnSpc>
              <a:spcBef>
                <a:spcPts val="0"/>
              </a:spcBef>
              <a:spcAft>
                <a:spcPts val="1100"/>
              </a:spcAft>
            </a:pPr>
            <a:r>
              <a:rPr sz="1700" b="0" i="0">
                <a:solidFill>
                  <a:srgbClr val="1A1A1A"/>
                </a:solidFill>
                <a:latin typeface="Arial"/>
              </a:rPr>
              <a:t>Time and event filters do not specify the exact price of entry, so controlling risk is ineffective, if not impossible.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why price-based filters are the preferred mode of filtering.</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Without control of the maximum risk per trade, a system may eventually experience risk of ruin.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filter that indicates the exact price of entry, but not when the entry will be initiated,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Time-based</a:t>
            </a:r>
          </a:p>
          <a:p>
            <a:pPr algn="l">
              <a:lnSpc>
                <a:spcPct val="112000"/>
              </a:lnSpc>
              <a:spcBef>
                <a:spcPts val="0"/>
              </a:spcBef>
              <a:spcAft>
                <a:spcPts val="900"/>
              </a:spcAft>
            </a:pPr>
            <a:r>
              <a:rPr sz="1500" b="0" i="0">
                <a:solidFill>
                  <a:srgbClr val="FFFFFF"/>
                </a:solidFill>
                <a:latin typeface="Arial"/>
              </a:rPr>
              <a:t>B.  Event-based</a:t>
            </a:r>
          </a:p>
          <a:p>
            <a:pPr algn="l">
              <a:lnSpc>
                <a:spcPct val="112000"/>
              </a:lnSpc>
              <a:spcBef>
                <a:spcPts val="0"/>
              </a:spcBef>
              <a:spcAft>
                <a:spcPts val="900"/>
              </a:spcAft>
            </a:pPr>
            <a:r>
              <a:rPr sz="1500" b="0" i="0">
                <a:solidFill>
                  <a:srgbClr val="FFFFFF"/>
                </a:solidFill>
                <a:latin typeface="Arial"/>
              </a:rPr>
              <a:t>C.  Price-based</a:t>
            </a:r>
          </a:p>
          <a:p>
            <a:pPr algn="l">
              <a:lnSpc>
                <a:spcPct val="112000"/>
              </a:lnSpc>
              <a:spcBef>
                <a:spcPts val="0"/>
              </a:spcBef>
              <a:spcAft>
                <a:spcPts val="900"/>
              </a:spcAft>
            </a:pPr>
            <a:r>
              <a:rPr sz="1500" b="0" i="0">
                <a:solidFill>
                  <a:srgbClr val="FFFFFF"/>
                </a:solidFill>
                <a:latin typeface="Arial"/>
              </a:rPr>
              <a:t>D.  Algorithmic</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enters on a closing violation and adds a price-based filter. The second filter is there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Limit entry to within a specified distance</a:t>
            </a:r>
          </a:p>
          <a:p>
            <a:pPr algn="l">
              <a:lnSpc>
                <a:spcPct val="112000"/>
              </a:lnSpc>
              <a:spcBef>
                <a:spcPts val="0"/>
              </a:spcBef>
              <a:spcAft>
                <a:spcPts val="900"/>
              </a:spcAft>
            </a:pPr>
            <a:r>
              <a:rPr sz="1500" b="0" i="0">
                <a:solidFill>
                  <a:srgbClr val="FFFFFF"/>
                </a:solidFill>
                <a:latin typeface="Arial"/>
              </a:rPr>
              <a:t>B.  Delay the entry by N closed bars</a:t>
            </a:r>
          </a:p>
          <a:p>
            <a:pPr algn="l">
              <a:lnSpc>
                <a:spcPct val="112000"/>
              </a:lnSpc>
              <a:spcBef>
                <a:spcPts val="0"/>
              </a:spcBef>
              <a:spcAft>
                <a:spcPts val="900"/>
              </a:spcAft>
            </a:pPr>
            <a:r>
              <a:rPr sz="1500" b="0" i="0">
                <a:solidFill>
                  <a:srgbClr val="FFFFFF"/>
                </a:solidFill>
                <a:latin typeface="Arial"/>
              </a:rPr>
              <a:t>C.  Confirm the trend with volume</a:t>
            </a:r>
          </a:p>
          <a:p>
            <a:pPr algn="l">
              <a:lnSpc>
                <a:spcPct val="112000"/>
              </a:lnSpc>
              <a:spcBef>
                <a:spcPts val="0"/>
              </a:spcBef>
              <a:spcAft>
                <a:spcPts val="900"/>
              </a:spcAft>
            </a:pPr>
            <a:r>
              <a:rPr sz="1500" b="0" i="0">
                <a:solidFill>
                  <a:srgbClr val="FFFFFF"/>
                </a:solidFill>
                <a:latin typeface="Arial"/>
              </a:rPr>
              <a:t>D.  Replace the stoploss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11 - 5.3 Filters  |  Check 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filter that indicates the exact price of entry, but not when the entry will be initiated,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Price-based</a:t>
            </a:r>
          </a:p>
          <a:p>
            <a:pPr algn="l">
              <a:lnSpc>
                <a:spcPct val="115000"/>
              </a:lnSpc>
              <a:spcBef>
                <a:spcPts val="700"/>
              </a:spcBef>
              <a:spcAft>
                <a:spcPts val="0"/>
              </a:spcAft>
            </a:pPr>
            <a:r>
              <a:rPr sz="1600" b="0" i="0">
                <a:solidFill>
                  <a:srgbClr val="1A1A1A"/>
                </a:solidFill>
                <a:latin typeface="Arial"/>
              </a:rPr>
              <a:t>Price-based filters give the exact price and not the time. Time-based filters give the time and not the price.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enters on a closing violation and adds a price-based filter. The second filter is there to:</a:t>
            </a:r>
          </a:p>
        </p:txBody>
      </p:sp>
      <p:sp>
        <p:nvSpPr>
          <p:cNvPr id="13" name="TextBox 12"/>
          <p:cNvSpPr txBox="1"/>
          <p:nvPr/>
        </p:nvSpPr>
        <p:spPr>
          <a:xfrm>
            <a:off x="1143000" y="451053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Limit entry to within a specified distance</a:t>
            </a:r>
          </a:p>
          <a:p>
            <a:pPr algn="l">
              <a:lnSpc>
                <a:spcPct val="115000"/>
              </a:lnSpc>
              <a:spcBef>
                <a:spcPts val="700"/>
              </a:spcBef>
              <a:spcAft>
                <a:spcPts val="0"/>
              </a:spcAft>
            </a:pPr>
            <a:r>
              <a:rPr sz="1600" b="0" i="0">
                <a:solidFill>
                  <a:srgbClr val="1A1A1A"/>
                </a:solidFill>
                <a:latin typeface="Arial"/>
              </a:rPr>
              <a:t>Prices may close too far beyond the entry level. The price-based filter limits entry to within a specified distance.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Check 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trader holding no open positions is said to be in cash. To square a position is to exit it.</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Buying low and selling high,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Buying low and selling high.</a:t>
            </a:r>
          </a:p>
          <a:p>
            <a:pPr algn="l">
              <a:lnSpc>
                <a:spcPct val="105000"/>
              </a:lnSpc>
              <a:spcBef>
                <a:spcPts val="0"/>
              </a:spcBef>
              <a:spcAft>
                <a:spcPts val="1100"/>
              </a:spcAft>
            </a:pPr>
            <a:r>
              <a:rPr sz="2000" b="0" i="0">
                <a:solidFill>
                  <a:srgbClr val="1A1A1A"/>
                </a:solidFill>
                <a:latin typeface="Arial"/>
              </a:rPr>
              <a:t>Buying high and selling higher.</a:t>
            </a:r>
          </a:p>
          <a:p>
            <a:pPr algn="l">
              <a:lnSpc>
                <a:spcPct val="105000"/>
              </a:lnSpc>
              <a:spcBef>
                <a:spcPts val="0"/>
              </a:spcBef>
              <a:spcAft>
                <a:spcPts val="1100"/>
              </a:spcAft>
            </a:pPr>
            <a:r>
              <a:rPr sz="2000" b="0" i="0">
                <a:solidFill>
                  <a:srgbClr val="1A1A1A"/>
                </a:solidFill>
                <a:latin typeface="Arial"/>
              </a:rPr>
              <a:t>Selling high and buying back lower.</a:t>
            </a:r>
          </a:p>
          <a:p>
            <a:pPr algn="l">
              <a:lnSpc>
                <a:spcPct val="105000"/>
              </a:lnSpc>
              <a:spcBef>
                <a:spcPts val="0"/>
              </a:spcBef>
              <a:spcAft>
                <a:spcPts val="1100"/>
              </a:spcAft>
            </a:pPr>
            <a:r>
              <a:rPr sz="2000" b="0" i="0">
                <a:solidFill>
                  <a:srgbClr val="1A1A1A"/>
                </a:solidFill>
                <a:latin typeface="Arial"/>
              </a:rPr>
              <a:t>Selling low and buying back even lower.</a:t>
            </a:r>
          </a:p>
        </p:txBody>
      </p:sp>
      <p:sp>
        <p:nvSpPr>
          <p:cNvPr id="8" name="Rectangle 7"/>
          <p:cNvSpPr/>
          <p:nvPr/>
        </p:nvSpPr>
        <p:spPr>
          <a:xfrm>
            <a:off x="777240" y="410565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4223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are longs and two are shorts. All four follow the one principle.</a:t>
            </a:r>
          </a:p>
        </p:txBody>
      </p:sp>
      <p:sp>
        <p:nvSpPr>
          <p:cNvPr id="10" name="TextBox 9"/>
          <p:cNvSpPr txBox="1"/>
          <p:nvPr/>
        </p:nvSpPr>
        <p:spPr>
          <a:xfrm>
            <a:off x="777240" y="50932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Hedging: equal and opposite positions, to reduce or neutralize all directional risk. Buying at the current price is buying at the market.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Stop order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order that waits at a price. Once price touches it, it becomes a market order.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trades at PHP 50. A buystop waits at PHP 52. When price reaches 52 it is triggered, and filled at whatever the market gives.</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Instructions to enter or exit a market immediately, at any price. Once triggered it turns into a market order. It can guarantee execution, but not the fill price.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You asked for one price and were filled at another. The difference is slippage.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j.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Limit order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order that names its price and will not accept a worse one. It may never be filled.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trades at PHP 50. A buy limit waits at PHP 47. If the broker cannot fill it at that price or better, nothing happens.</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Instructions to enter or exit a market at a specified price, or better. It can guarantee that an order is filled at the intended price or better, but not that it will be executed.</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 orders, limit orders and slippage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order can guarantee execution, but not the price at which it is filled?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limit order</a:t>
            </a:r>
          </a:p>
          <a:p>
            <a:pPr algn="l">
              <a:lnSpc>
                <a:spcPct val="112000"/>
              </a:lnSpc>
              <a:spcBef>
                <a:spcPts val="0"/>
              </a:spcBef>
              <a:spcAft>
                <a:spcPts val="900"/>
              </a:spcAft>
            </a:pPr>
            <a:r>
              <a:rPr sz="1500" b="0" i="0">
                <a:solidFill>
                  <a:srgbClr val="FFFFFF"/>
                </a:solidFill>
                <a:latin typeface="Arial"/>
              </a:rPr>
              <a:t>B.  A take profit order</a:t>
            </a:r>
          </a:p>
          <a:p>
            <a:pPr algn="l">
              <a:lnSpc>
                <a:spcPct val="112000"/>
              </a:lnSpc>
              <a:spcBef>
                <a:spcPts val="0"/>
              </a:spcBef>
              <a:spcAft>
                <a:spcPts val="900"/>
              </a:spcAft>
            </a:pPr>
            <a:r>
              <a:rPr sz="1500" b="0" i="0">
                <a:solidFill>
                  <a:srgbClr val="FFFFFF"/>
                </a:solidFill>
                <a:latin typeface="Arial"/>
              </a:rPr>
              <a:t>C.  A stop order</a:t>
            </a:r>
          </a:p>
          <a:p>
            <a:pPr algn="l">
              <a:lnSpc>
                <a:spcPct val="112000"/>
              </a:lnSpc>
              <a:spcBef>
                <a:spcPts val="0"/>
              </a:spcBef>
              <a:spcAft>
                <a:spcPts val="900"/>
              </a:spcAft>
            </a:pPr>
            <a:r>
              <a:rPr sz="1500" b="0" i="0">
                <a:solidFill>
                  <a:srgbClr val="FFFFFF"/>
                </a:solidFill>
                <a:latin typeface="Arial"/>
              </a:rPr>
              <a:t>D.  A buy limit order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stoploss is placed at PHP 30. Price gaps, and the order is filled at PHP 28.80. The slippage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1.20, positive</a:t>
            </a:r>
          </a:p>
          <a:p>
            <a:pPr algn="l">
              <a:lnSpc>
                <a:spcPct val="112000"/>
              </a:lnSpc>
              <a:spcBef>
                <a:spcPts val="0"/>
              </a:spcBef>
              <a:spcAft>
                <a:spcPts val="900"/>
              </a:spcAft>
            </a:pPr>
            <a:r>
              <a:rPr sz="1500" b="0" i="0">
                <a:solidFill>
                  <a:srgbClr val="FFFFFF"/>
                </a:solidFill>
                <a:latin typeface="Arial"/>
              </a:rPr>
              <a:t>B.  PHP 1.20, negative</a:t>
            </a:r>
          </a:p>
          <a:p>
            <a:pPr algn="l">
              <a:lnSpc>
                <a:spcPct val="112000"/>
              </a:lnSpc>
              <a:spcBef>
                <a:spcPts val="0"/>
              </a:spcBef>
              <a:spcAft>
                <a:spcPts val="900"/>
              </a:spcAft>
            </a:pPr>
            <a:r>
              <a:rPr sz="1500" b="0" i="0">
                <a:solidFill>
                  <a:srgbClr val="FFFFFF"/>
                </a:solidFill>
                <a:latin typeface="Arial"/>
              </a:rPr>
              <a:t>C.  PHP 28.80</a:t>
            </a:r>
          </a:p>
          <a:p>
            <a:pPr algn="l">
              <a:lnSpc>
                <a:spcPct val="112000"/>
              </a:lnSpc>
              <a:spcBef>
                <a:spcPts val="0"/>
              </a:spcBef>
              <a:spcAft>
                <a:spcPts val="900"/>
              </a:spcAft>
            </a:pPr>
            <a:r>
              <a:rPr sz="1500" b="0" i="0">
                <a:solidFill>
                  <a:srgbClr val="FFFFFF"/>
                </a:solidFill>
                <a:latin typeface="Arial"/>
              </a:rPr>
              <a:t>D.  Zero, because the order was filled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 orders, limit orders and slippage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order can guarantee execution, but not the price at which it is filled?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stop order</a:t>
            </a:r>
          </a:p>
          <a:p>
            <a:pPr algn="l">
              <a:lnSpc>
                <a:spcPct val="115000"/>
              </a:lnSpc>
              <a:spcBef>
                <a:spcPts val="700"/>
              </a:spcBef>
              <a:spcAft>
                <a:spcPts val="0"/>
              </a:spcAft>
            </a:pPr>
            <a:r>
              <a:rPr sz="1600" b="0" i="0">
                <a:solidFill>
                  <a:srgbClr val="1A1A1A"/>
                </a:solidFill>
                <a:latin typeface="Arial"/>
              </a:rPr>
              <a:t>Once triggered a stop order turns into a market order: it is executed, at whatever price the market gives.</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stoploss is placed at PHP 30. Price gaps, and the order is filled at PHP 28.80. The slippage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1.20, negative</a:t>
            </a:r>
          </a:p>
          <a:p>
            <a:pPr algn="l">
              <a:lnSpc>
                <a:spcPct val="115000"/>
              </a:lnSpc>
              <a:spcBef>
                <a:spcPts val="700"/>
              </a:spcBef>
              <a:spcAft>
                <a:spcPts val="0"/>
              </a:spcAft>
            </a:pPr>
            <a:r>
              <a:rPr sz="1600" b="0" i="0">
                <a:solidFill>
                  <a:srgbClr val="1A1A1A"/>
                </a:solidFill>
                <a:latin typeface="Arial"/>
              </a:rPr>
              <a:t>Slippage is the difference between the specified order price and the actual filled price: 30.00 - 28.80 = 1.20, against the trader.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Exits, and orders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Taking profit is a limit order: a sell limit above the market, a buy limit below it.</a:t>
            </a:r>
          </a:p>
          <a:p>
            <a:pPr algn="l">
              <a:lnSpc>
                <a:spcPct val="105000"/>
              </a:lnSpc>
              <a:spcBef>
                <a:spcPts val="0"/>
              </a:spcBef>
              <a:spcAft>
                <a:spcPts val="1100"/>
              </a:spcAft>
            </a:pPr>
            <a:r>
              <a:rPr sz="1700" b="0" i="0">
                <a:solidFill>
                  <a:srgbClr val="1A1A1A"/>
                </a:solidFill>
                <a:latin typeface="Arial"/>
              </a:rPr>
              <a:t>Cutting a loss is a stop order, the stoploss: a buystop above the market, a sellstop below.</a:t>
            </a:r>
          </a:p>
          <a:p>
            <a:pPr algn="l">
              <a:lnSpc>
                <a:spcPct val="105000"/>
              </a:lnSpc>
              <a:spcBef>
                <a:spcPts val="0"/>
              </a:spcBef>
              <a:spcAft>
                <a:spcPts val="1100"/>
              </a:spcAft>
            </a:pPr>
            <a:r>
              <a:rPr sz="1700" b="0" i="0">
                <a:solidFill>
                  <a:srgbClr val="1A1A1A"/>
                </a:solidFill>
                <a:latin typeface="Arial"/>
              </a:rPr>
              <a:t>A limit exit is not guaranteed. A stop exit is, but its exact price is unknown.</a:t>
            </a:r>
          </a:p>
          <a:p>
            <a:pPr algn="l">
              <a:lnSpc>
                <a:spcPct val="105000"/>
              </a:lnSpc>
              <a:spcBef>
                <a:spcPts val="0"/>
              </a:spcBef>
              <a:spcAft>
                <a:spcPts val="1100"/>
              </a:spcAft>
            </a:pPr>
            <a:r>
              <a:rPr sz="1700" b="0" i="0">
                <a:solidFill>
                  <a:srgbClr val="1A1A1A"/>
                </a:solidFill>
                <a:latin typeface="Arial"/>
              </a:rPr>
              <a:t>At the current price: a market order. Instantaneous, with no guarantee of the quoted price.</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the buy limits included.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l.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order, above, below and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Market if Touched, MIT: an MIT sell to short above the market, an MIT buy to long below it.</a:t>
            </a:r>
          </a:p>
          <a:p>
            <a:pPr algn="l">
              <a:lnSpc>
                <a:spcPct val="118000"/>
              </a:lnSpc>
              <a:spcBef>
                <a:spcPts val="0"/>
              </a:spcBef>
              <a:spcAft>
                <a:spcPts val="1300"/>
              </a:spcAft>
            </a:pPr>
            <a:r>
              <a:rPr sz="2100" b="0" i="0">
                <a:solidFill>
                  <a:srgbClr val="1A1A1A"/>
                </a:solidFill>
                <a:latin typeface="Arial"/>
              </a:rPr>
              <a:t>Day orders keep an order pending only until the end of the trading day.</a:t>
            </a:r>
          </a:p>
          <a:p>
            <a:pPr algn="l">
              <a:lnSpc>
                <a:spcPct val="118000"/>
              </a:lnSpc>
              <a:spcBef>
                <a:spcPts val="0"/>
              </a:spcBef>
              <a:spcAft>
                <a:spcPts val="1300"/>
              </a:spcAft>
            </a:pPr>
            <a:r>
              <a:rPr sz="2100" b="0" i="0">
                <a:solidFill>
                  <a:srgbClr val="1A1A1A"/>
                </a:solidFill>
                <a:latin typeface="Arial"/>
              </a:rPr>
              <a:t>Good till Cancelled orders keep an order active until further notice.</a:t>
            </a:r>
          </a:p>
          <a:p>
            <a:pPr algn="l">
              <a:lnSpc>
                <a:spcPct val="118000"/>
              </a:lnSpc>
              <a:spcBef>
                <a:spcPts val="0"/>
              </a:spcBef>
              <a:spcAft>
                <a:spcPts val="1300"/>
              </a:spcAft>
            </a:pPr>
            <a:r>
              <a:rPr sz="2100" b="0" i="0">
                <a:solidFill>
                  <a:srgbClr val="1A1A1A"/>
                </a:solidFill>
                <a:latin typeface="Arial"/>
              </a:rPr>
              <a:t>Market on Close orders are executed in the last minutes of the trading day, at or near the close.</a:t>
            </a:r>
          </a:p>
          <a:p>
            <a:pPr algn="l">
              <a:lnSpc>
                <a:spcPct val="118000"/>
              </a:lnSpc>
              <a:spcBef>
                <a:spcPts val="0"/>
              </a:spcBef>
              <a:spcAft>
                <a:spcPts val="1300"/>
              </a:spcAft>
            </a:pPr>
            <a:r>
              <a:rPr sz="2100" b="0" i="0">
                <a:solidFill>
                  <a:srgbClr val="1A1A1A"/>
                </a:solidFill>
                <a:latin typeface="Arial"/>
              </a:rPr>
              <a:t>Contingent orders are executed once another order is filled or triggered: OCO and OTO.</a:t>
            </a:r>
          </a:p>
        </p:txBody>
      </p:sp>
      <p:sp>
        <p:nvSpPr>
          <p:cNvPr id="8" name="TextBox 7"/>
          <p:cNvSpPr txBox="1"/>
          <p:nvPr/>
        </p:nvSpPr>
        <p:spPr>
          <a:xfrm>
            <a:off x="777240" y="570890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OCO is one cancel other. OTO is one trigger other.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Placing orders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is long and wants to take profit if price rises to a level above the market. The order to place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buystop</a:t>
            </a:r>
          </a:p>
          <a:p>
            <a:pPr algn="l">
              <a:lnSpc>
                <a:spcPct val="112000"/>
              </a:lnSpc>
              <a:spcBef>
                <a:spcPts val="0"/>
              </a:spcBef>
              <a:spcAft>
                <a:spcPts val="900"/>
              </a:spcAft>
            </a:pPr>
            <a:r>
              <a:rPr sz="1500" b="0" i="0">
                <a:solidFill>
                  <a:srgbClr val="FFFFFF"/>
                </a:solidFill>
                <a:latin typeface="Arial"/>
              </a:rPr>
              <a:t>B.  A sellstop</a:t>
            </a:r>
          </a:p>
          <a:p>
            <a:pPr algn="l">
              <a:lnSpc>
                <a:spcPct val="112000"/>
              </a:lnSpc>
              <a:spcBef>
                <a:spcPts val="0"/>
              </a:spcBef>
              <a:spcAft>
                <a:spcPts val="900"/>
              </a:spcAft>
            </a:pPr>
            <a:r>
              <a:rPr sz="1500" b="0" i="0">
                <a:solidFill>
                  <a:srgbClr val="FFFFFF"/>
                </a:solidFill>
                <a:latin typeface="Arial"/>
              </a:rPr>
              <a:t>C.  A buy limit</a:t>
            </a:r>
          </a:p>
          <a:p>
            <a:pPr algn="l">
              <a:lnSpc>
                <a:spcPct val="112000"/>
              </a:lnSpc>
              <a:spcBef>
                <a:spcPts val="0"/>
              </a:spcBef>
              <a:spcAft>
                <a:spcPts val="900"/>
              </a:spcAft>
            </a:pPr>
            <a:r>
              <a:rPr sz="1500" b="0" i="0">
                <a:solidFill>
                  <a:srgbClr val="FFFFFF"/>
                </a:solidFill>
                <a:latin typeface="Arial"/>
              </a:rPr>
              <a:t>D.  A sell limit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order that stays pending only until the end of the trading day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Day order</a:t>
            </a:r>
          </a:p>
          <a:p>
            <a:pPr algn="l">
              <a:lnSpc>
                <a:spcPct val="112000"/>
              </a:lnSpc>
              <a:spcBef>
                <a:spcPts val="0"/>
              </a:spcBef>
              <a:spcAft>
                <a:spcPts val="900"/>
              </a:spcAft>
            </a:pPr>
            <a:r>
              <a:rPr sz="1500" b="0" i="0">
                <a:solidFill>
                  <a:srgbClr val="FFFFFF"/>
                </a:solidFill>
                <a:latin typeface="Arial"/>
              </a:rPr>
              <a:t>B.  Good till Cancelled order</a:t>
            </a:r>
          </a:p>
          <a:p>
            <a:pPr algn="l">
              <a:lnSpc>
                <a:spcPct val="112000"/>
              </a:lnSpc>
              <a:spcBef>
                <a:spcPts val="0"/>
              </a:spcBef>
              <a:spcAft>
                <a:spcPts val="900"/>
              </a:spcAft>
            </a:pPr>
            <a:r>
              <a:rPr sz="1500" b="0" i="0">
                <a:solidFill>
                  <a:srgbClr val="FFFFFF"/>
                </a:solidFill>
                <a:latin typeface="Arial"/>
              </a:rPr>
              <a:t>C.  Market on Close order</a:t>
            </a:r>
          </a:p>
          <a:p>
            <a:pPr algn="l">
              <a:lnSpc>
                <a:spcPct val="112000"/>
              </a:lnSpc>
              <a:spcBef>
                <a:spcPts val="0"/>
              </a:spcBef>
              <a:spcAft>
                <a:spcPts val="900"/>
              </a:spcAft>
            </a:pPr>
            <a:r>
              <a:rPr sz="1500" b="0" i="0">
                <a:solidFill>
                  <a:srgbClr val="FFFFFF"/>
                </a:solidFill>
                <a:latin typeface="Arial"/>
              </a:rPr>
              <a:t>D.  Contingent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Placing orders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is long and wants to take profit if price rises to a level above the market. The order to place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sell limit</a:t>
            </a:r>
          </a:p>
          <a:p>
            <a:pPr algn="l">
              <a:lnSpc>
                <a:spcPct val="115000"/>
              </a:lnSpc>
              <a:spcBef>
                <a:spcPts val="700"/>
              </a:spcBef>
              <a:spcAft>
                <a:spcPts val="0"/>
              </a:spcAft>
            </a:pPr>
            <a:r>
              <a:rPr sz="1600" b="0" i="0">
                <a:solidFill>
                  <a:srgbClr val="1A1A1A"/>
                </a:solidFill>
                <a:latin typeface="Arial"/>
              </a:rPr>
              <a:t>Profit taking above the market is a sell limit, normally referred to as a profit-take order.</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order that stays pending only until the end of the trading day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Day order</a:t>
            </a:r>
          </a:p>
          <a:p>
            <a:pPr algn="l">
              <a:lnSpc>
                <a:spcPct val="115000"/>
              </a:lnSpc>
              <a:spcBef>
                <a:spcPts val="700"/>
              </a:spcBef>
              <a:spcAft>
                <a:spcPts val="0"/>
              </a:spcAft>
            </a:pPr>
            <a:r>
              <a:rPr sz="1600" b="0" i="0">
                <a:solidFill>
                  <a:srgbClr val="1A1A1A"/>
                </a:solidFill>
                <a:latin typeface="Arial"/>
              </a:rPr>
              <a:t>Day orders instruct the broker to keep an order pending only until the end of the trading day.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800" b="0" i="0">
                <a:solidFill>
                  <a:srgbClr val="1A1A1A"/>
                </a:solidFill>
                <a:latin typeface="Arial"/>
              </a:rPr>
              <a:t>Overlay barrier entries: buying at a barrier support, shorting at a barrier resistance, or at a retest of a barrier.</a:t>
            </a:r>
          </a:p>
          <a:p>
            <a:pPr algn="l">
              <a:lnSpc>
                <a:spcPct val="105000"/>
              </a:lnSpc>
              <a:spcBef>
                <a:spcPts val="0"/>
              </a:spcBef>
              <a:spcAft>
                <a:spcPts val="1100"/>
              </a:spcAft>
            </a:pPr>
            <a:r>
              <a:rPr sz="18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800" b="0" i="0">
                <a:solidFill>
                  <a:srgbClr val="1A1A1A"/>
                </a:solidFill>
                <a:latin typeface="Arial"/>
              </a:rPr>
              <a:t>Random entries, and pattern or sequence-based entries.</a:t>
            </a:r>
          </a:p>
        </p:txBody>
      </p:sp>
      <p:sp>
        <p:nvSpPr>
          <p:cNvPr id="8" name="TextBox 7"/>
          <p:cNvSpPr txBox="1"/>
          <p:nvPr/>
        </p:nvSpPr>
        <p:spPr>
          <a:xfrm>
            <a:off x="777240" y="54178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announces four simple ways and lists five. Each may or may not be in the direction of the predominant trend.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m.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More complex tops and bottoms: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peak or trough counts for more the more bars flank it on either side.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peak with ten bars on either side of its highest bar is of strength 10. One with only two is of strength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 bars on either side of the highest peak or lowest trough is an inflection point of strength N. The more bars, the more significant the peak and the stronger its resistance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change roles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technical analysis, price barriers change roles once breached.</a:t>
            </a:r>
          </a:p>
          <a:p>
            <a:pPr algn="l">
              <a:lnSpc>
                <a:spcPct val="105000"/>
              </a:lnSpc>
              <a:spcBef>
                <a:spcPts val="0"/>
              </a:spcBef>
              <a:spcAft>
                <a:spcPts val="1100"/>
              </a:spcAft>
            </a:pPr>
            <a:r>
              <a:rPr sz="2000" b="0" i="0">
                <a:solidFill>
                  <a:srgbClr val="1A1A1A"/>
                </a:solidFill>
                <a:latin typeface="Arial"/>
              </a:rPr>
              <a:t>Support turns into future resistance.</a:t>
            </a:r>
          </a:p>
          <a:p>
            <a:pPr algn="l">
              <a:lnSpc>
                <a:spcPct val="105000"/>
              </a:lnSpc>
              <a:spcBef>
                <a:spcPts val="0"/>
              </a:spcBef>
              <a:spcAft>
                <a:spcPts val="1100"/>
              </a:spcAft>
            </a:pPr>
            <a:r>
              <a:rPr sz="2000" b="0" i="0">
                <a:solidFill>
                  <a:srgbClr val="1A1A1A"/>
                </a:solidFill>
                <a:latin typeface="Arial"/>
              </a:rPr>
              <a:t>Resistance turns into future support.</a:t>
            </a:r>
          </a:p>
        </p:txBody>
      </p:sp>
      <p:sp>
        <p:nvSpPr>
          <p:cNvPr id="8" name="Rectangle 7"/>
          <p:cNvSpPr/>
          <p:nvPr/>
        </p:nvSpPr>
        <p:spPr>
          <a:xfrm>
            <a:off x="777240" y="3941064"/>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7640"/>
            <a:ext cx="464515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applies to all overlay barriers: channels, trendlines, pivot points, price envelopes and so on.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EURUSD, 30 minutes: price finds support and resistance at prior peaks and troughs.</a:t>
            </a:r>
          </a:p>
          <a:p>
            <a:pPr algn="l">
              <a:lnSpc>
                <a:spcPct val="105000"/>
              </a:lnSpc>
              <a:spcBef>
                <a:spcPts val="0"/>
              </a:spcBef>
              <a:spcAft>
                <a:spcPts val="1100"/>
              </a:spcAft>
            </a:pPr>
            <a:r>
              <a:rPr sz="1800" b="0" i="0">
                <a:solidFill>
                  <a:srgbClr val="1A1A1A"/>
                </a:solidFill>
                <a:latin typeface="Arial"/>
              </a:rPr>
              <a:t>It finds them on the rising channel as well.</a:t>
            </a:r>
          </a:p>
          <a:p>
            <a:pPr algn="l">
              <a:lnSpc>
                <a:spcPct val="105000"/>
              </a:lnSpc>
              <a:spcBef>
                <a:spcPts val="0"/>
              </a:spcBef>
              <a:spcAft>
                <a:spcPts val="1100"/>
              </a:spcAft>
            </a:pPr>
            <a:r>
              <a:rPr sz="1800" b="0" i="0">
                <a:solidFill>
                  <a:srgbClr val="1A1A1A"/>
                </a:solidFill>
                <a:latin typeface="Arial"/>
              </a:rPr>
              <a:t>The cycle-tuned stochastic adds confirmation: overbought at resistance, oversold at support.</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0965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Resistance turning into support, again and again, in an uptrend.</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Entries, swing points and role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At a market top, the second peak fails to penetrate the previous peak. This variation is called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Double top</a:t>
            </a:r>
          </a:p>
          <a:p>
            <a:pPr algn="l">
              <a:lnSpc>
                <a:spcPct val="112000"/>
              </a:lnSpc>
              <a:spcBef>
                <a:spcPts val="0"/>
              </a:spcBef>
              <a:spcAft>
                <a:spcPts val="900"/>
              </a:spcAft>
            </a:pPr>
            <a:r>
              <a:rPr sz="1500" b="0" i="0">
                <a:solidFill>
                  <a:srgbClr val="FFFFFF"/>
                </a:solidFill>
                <a:latin typeface="Arial"/>
              </a:rPr>
              <a:t>B.  Failure swing</a:t>
            </a:r>
          </a:p>
          <a:p>
            <a:pPr algn="l">
              <a:lnSpc>
                <a:spcPct val="112000"/>
              </a:lnSpc>
              <a:spcBef>
                <a:spcPts val="0"/>
              </a:spcBef>
              <a:spcAft>
                <a:spcPts val="900"/>
              </a:spcAft>
            </a:pPr>
            <a:r>
              <a:rPr sz="1500" b="0" i="0">
                <a:solidFill>
                  <a:srgbClr val="FFFFFF"/>
                </a:solidFill>
                <a:latin typeface="Arial"/>
              </a:rPr>
              <a:t>C.  Non-failure swing</a:t>
            </a:r>
          </a:p>
          <a:p>
            <a:pPr algn="l">
              <a:lnSpc>
                <a:spcPct val="112000"/>
              </a:lnSpc>
              <a:spcBef>
                <a:spcPts val="0"/>
              </a:spcBef>
              <a:spcAft>
                <a:spcPts val="900"/>
              </a:spcAft>
            </a:pPr>
            <a:r>
              <a:rPr sz="1500" b="0" i="0">
                <a:solidFill>
                  <a:srgbClr val="FFFFFF"/>
                </a:solidFill>
                <a:latin typeface="Arial"/>
              </a:rPr>
              <a:t>D.  Rounding top</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support level is breached. In technical analysis it is now expected to act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Stronger support</a:t>
            </a:r>
          </a:p>
          <a:p>
            <a:pPr algn="l">
              <a:lnSpc>
                <a:spcPct val="112000"/>
              </a:lnSpc>
              <a:spcBef>
                <a:spcPts val="0"/>
              </a:spcBef>
              <a:spcAft>
                <a:spcPts val="900"/>
              </a:spcAft>
            </a:pPr>
            <a:r>
              <a:rPr sz="1500" b="0" i="0">
                <a:solidFill>
                  <a:srgbClr val="FFFFFF"/>
                </a:solidFill>
                <a:latin typeface="Arial"/>
              </a:rPr>
              <a:t>B.  A runaway gap</a:t>
            </a:r>
          </a:p>
          <a:p>
            <a:pPr algn="l">
              <a:lnSpc>
                <a:spcPct val="112000"/>
              </a:lnSpc>
              <a:spcBef>
                <a:spcPts val="0"/>
              </a:spcBef>
              <a:spcAft>
                <a:spcPts val="900"/>
              </a:spcAft>
            </a:pPr>
            <a:r>
              <a:rPr sz="1500" b="0" i="0">
                <a:solidFill>
                  <a:srgbClr val="FFFFFF"/>
                </a:solidFill>
                <a:latin typeface="Arial"/>
              </a:rPr>
              <a:t>C.  Future resistance</a:t>
            </a:r>
          </a:p>
          <a:p>
            <a:pPr algn="l">
              <a:lnSpc>
                <a:spcPct val="112000"/>
              </a:lnSpc>
              <a:spcBef>
                <a:spcPts val="0"/>
              </a:spcBef>
              <a:spcAft>
                <a:spcPts val="900"/>
              </a:spcAft>
            </a:pPr>
            <a:r>
              <a:rPr sz="1500" b="0" i="0">
                <a:solidFill>
                  <a:srgbClr val="FFFFFF"/>
                </a:solidFill>
                <a:latin typeface="Arial"/>
              </a:rPr>
              <a:t>D.  Nothing: a breached level is discarded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Entries, swing points and role reversal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At a market top, the second peak fails to penetrate the previous peak. This variation is called a:</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Failure swing</a:t>
            </a:r>
          </a:p>
          <a:p>
            <a:pPr algn="l">
              <a:lnSpc>
                <a:spcPct val="115000"/>
              </a:lnSpc>
              <a:spcBef>
                <a:spcPts val="700"/>
              </a:spcBef>
              <a:spcAft>
                <a:spcPts val="0"/>
              </a:spcAft>
            </a:pPr>
            <a:r>
              <a:rPr sz="1600" b="0" i="0">
                <a:solidFill>
                  <a:srgbClr val="1A1A1A"/>
                </a:solidFill>
                <a:latin typeface="Arial"/>
              </a:rPr>
              <a:t>A failure swing fails to penetrate. A double top matches the previous peak, and a non-failure swing succeeds in penetrating it.</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support level is breached. In technical analysis it is now expected to act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Future resistance</a:t>
            </a:r>
          </a:p>
          <a:p>
            <a:pPr algn="l">
              <a:lnSpc>
                <a:spcPct val="115000"/>
              </a:lnSpc>
              <a:spcBef>
                <a:spcPts val="700"/>
              </a:spcBef>
              <a:spcAft>
                <a:spcPts val="0"/>
              </a:spcAft>
            </a:pPr>
            <a:r>
              <a:rPr sz="1600" b="0" i="0">
                <a:solidFill>
                  <a:srgbClr val="1A1A1A"/>
                </a:solidFill>
                <a:latin typeface="Arial"/>
              </a:rPr>
              <a:t>Price barriers change roles once breached: support turns into future resistance, and resistance into future support.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189220"/>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Simple up and down trendlines or channels time the entries. A cycle-tuned oscillator helps fine-tune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filters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filter helps to identify a trend amidst market noise and price volatility.</a:t>
            </a:r>
          </a:p>
          <a:p>
            <a:pPr algn="l">
              <a:lnSpc>
                <a:spcPct val="105000"/>
              </a:lnSpc>
              <a:spcBef>
                <a:spcPts val="0"/>
              </a:spcBef>
              <a:spcAft>
                <a:spcPts val="1100"/>
              </a:spcAft>
            </a:pPr>
            <a:r>
              <a:rPr sz="1700" b="0" i="0">
                <a:solidFill>
                  <a:srgbClr val="1A1A1A"/>
                </a:solidFill>
                <a:latin typeface="Arial"/>
              </a:rPr>
              <a:t>A double moving average crossover. Shorter above longer: a potential uptrend starts. Shorter below longer: a potential downtrend.</a:t>
            </a:r>
          </a:p>
          <a:p>
            <a:pPr algn="l">
              <a:lnSpc>
                <a:spcPct val="105000"/>
              </a:lnSpc>
              <a:spcBef>
                <a:spcPts val="0"/>
              </a:spcBef>
              <a:spcAft>
                <a:spcPts val="1100"/>
              </a:spcAft>
            </a:pPr>
            <a:r>
              <a:rPr sz="1700" b="0" i="0">
                <a:solidFill>
                  <a:srgbClr val="1A1A1A"/>
                </a:solidFill>
                <a:latin typeface="Arial"/>
              </a:rPr>
              <a:t>A longer-term oscillator crossing its signal line.</a:t>
            </a:r>
          </a:p>
          <a:p>
            <a:pPr algn="l">
              <a:lnSpc>
                <a:spcPct val="105000"/>
              </a:lnSpc>
              <a:spcBef>
                <a:spcPts val="0"/>
              </a:spcBef>
              <a:spcAft>
                <a:spcPts val="1100"/>
              </a:spcAft>
            </a:pPr>
            <a:r>
              <a:rPr sz="1700" b="0" i="0">
                <a:solidFill>
                  <a:srgbClr val="1A1A1A"/>
                </a:solidFill>
                <a:latin typeface="Arial"/>
              </a:rPr>
              <a:t>Price contained above or below an overlay barrier, such as a moving average or a trendline.</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Three popular filters, which the book says is by no means exhaustive. Moving averages are Chapter 11.</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o.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MACD is the trend filter. The stochastic crossing its signal line times the entries.</a:t>
            </a:r>
          </a:p>
          <a:p>
            <a:pPr algn="l">
              <a:lnSpc>
                <a:spcPct val="105000"/>
              </a:lnSpc>
              <a:spcBef>
                <a:spcPts val="0"/>
              </a:spcBef>
              <a:spcAft>
                <a:spcPts val="1100"/>
              </a:spcAft>
            </a:pPr>
            <a:r>
              <a:rPr sz="1700" b="0" i="0">
                <a:solidFill>
                  <a:srgbClr val="1A1A1A"/>
                </a:solidFill>
                <a:latin typeface="Arial"/>
              </a:rPr>
              <a:t>Long entries: the stochastic crosses above its signal line with the MACD above zero. Short: the reverse.</a:t>
            </a:r>
          </a:p>
          <a:p>
            <a:pPr algn="l">
              <a:lnSpc>
                <a:spcPct val="105000"/>
              </a:lnSpc>
              <a:spcBef>
                <a:spcPts val="0"/>
              </a:spcBef>
              <a:spcAft>
                <a:spcPts val="1100"/>
              </a:spcAft>
            </a:pPr>
            <a:r>
              <a:rPr sz="1700" b="0" i="0">
                <a:solidFill>
                  <a:srgbClr val="1A1A1A"/>
                </a:solidFill>
                <a:latin typeface="Arial"/>
              </a:rPr>
              <a:t>Stops: just below the previous trough for a long, just above the previous peak for a short, trailing price.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in the MACD helps to warn of a potential reversal.</a:t>
            </a:r>
          </a:p>
        </p:txBody>
      </p:sp>
      <p:sp>
        <p:nvSpPr>
          <p:cNvPr id="10" name="TextBox 9"/>
          <p:cNvSpPr txBox="1"/>
          <p:nvPr/>
        </p:nvSpPr>
        <p:spPr>
          <a:xfrm>
            <a:off x="777240" y="573328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MACD and the stochastic are used here and not taught.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5.38 - Lim, The Handbook of Technical Analysis (Wiley, 2016)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With the 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on a dip in an uptrend is an example of:</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failed breakout entry</a:t>
            </a:r>
          </a:p>
          <a:p>
            <a:pPr algn="l">
              <a:lnSpc>
                <a:spcPct val="112000"/>
              </a:lnSpc>
              <a:spcBef>
                <a:spcPts val="0"/>
              </a:spcBef>
              <a:spcAft>
                <a:spcPts val="900"/>
              </a:spcAft>
            </a:pPr>
            <a:r>
              <a:rPr sz="1500" b="0" i="0">
                <a:solidFill>
                  <a:srgbClr val="FFFFFF"/>
                </a:solidFill>
                <a:latin typeface="Arial"/>
              </a:rPr>
              <a:t>B.  A random entry</a:t>
            </a:r>
          </a:p>
          <a:p>
            <a:pPr algn="l">
              <a:lnSpc>
                <a:spcPct val="112000"/>
              </a:lnSpc>
              <a:spcBef>
                <a:spcPts val="0"/>
              </a:spcBef>
              <a:spcAft>
                <a:spcPts val="900"/>
              </a:spcAft>
            </a:pPr>
            <a:r>
              <a:rPr sz="1500" b="0" i="0">
                <a:solidFill>
                  <a:srgbClr val="FFFFFF"/>
                </a:solidFill>
                <a:latin typeface="Arial"/>
              </a:rPr>
              <a:t>C.  A breakout entry against the trend</a:t>
            </a:r>
          </a:p>
          <a:p>
            <a:pPr algn="l">
              <a:lnSpc>
                <a:spcPct val="112000"/>
              </a:lnSpc>
              <a:spcBef>
                <a:spcPts val="0"/>
              </a:spcBef>
              <a:spcAft>
                <a:spcPts val="900"/>
              </a:spcAft>
            </a:pPr>
            <a:r>
              <a:rPr sz="1500" b="0" i="0">
                <a:solidFill>
                  <a:srgbClr val="FFFFFF"/>
                </a:solidFill>
                <a:latin typeface="Arial"/>
              </a:rPr>
              <a:t>D.  A retracement entry in the direction of the existing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double moving average crossover, the start of a potential uptrend is signified by: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shorter average crossing above the longer</a:t>
            </a:r>
          </a:p>
          <a:p>
            <a:pPr algn="l">
              <a:lnSpc>
                <a:spcPct val="112000"/>
              </a:lnSpc>
              <a:spcBef>
                <a:spcPts val="0"/>
              </a:spcBef>
              <a:spcAft>
                <a:spcPts val="900"/>
              </a:spcAft>
            </a:pPr>
            <a:r>
              <a:rPr sz="1500" b="0" i="0">
                <a:solidFill>
                  <a:srgbClr val="FFFFFF"/>
                </a:solidFill>
                <a:latin typeface="Arial"/>
              </a:rPr>
              <a:t>B.  The longer average crossing above the shorter</a:t>
            </a:r>
          </a:p>
          <a:p>
            <a:pPr algn="l">
              <a:lnSpc>
                <a:spcPct val="112000"/>
              </a:lnSpc>
              <a:spcBef>
                <a:spcPts val="0"/>
              </a:spcBef>
              <a:spcAft>
                <a:spcPts val="900"/>
              </a:spcAft>
            </a:pPr>
            <a:r>
              <a:rPr sz="1500" b="0" i="0">
                <a:solidFill>
                  <a:srgbClr val="FFFFFF"/>
                </a:solidFill>
                <a:latin typeface="Arial"/>
              </a:rPr>
              <a:t>C.  Price touching either average</a:t>
            </a:r>
          </a:p>
          <a:p>
            <a:pPr algn="l">
              <a:lnSpc>
                <a:spcPct val="112000"/>
              </a:lnSpc>
              <a:spcBef>
                <a:spcPts val="0"/>
              </a:spcBef>
              <a:spcAft>
                <a:spcPts val="900"/>
              </a:spcAft>
            </a:pPr>
            <a:r>
              <a:rPr sz="1500" b="0" i="0">
                <a:solidFill>
                  <a:srgbClr val="FFFFFF"/>
                </a:solidFill>
                <a:latin typeface="Arial"/>
              </a:rPr>
              <a:t>D.  Both averages turning flat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With the trend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on a dip in an uptrend is an example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retracement entry in the direction of the existing trend</a:t>
            </a:r>
          </a:p>
          <a:p>
            <a:pPr algn="l">
              <a:lnSpc>
                <a:spcPct val="115000"/>
              </a:lnSpc>
              <a:spcBef>
                <a:spcPts val="700"/>
              </a:spcBef>
              <a:spcAft>
                <a:spcPts val="0"/>
              </a:spcAft>
            </a:pPr>
            <a:r>
              <a:rPr sz="1600" b="0" i="0">
                <a:solidFill>
                  <a:srgbClr val="1A1A1A"/>
                </a:solidFill>
                <a:latin typeface="Arial"/>
              </a:rPr>
              <a:t>Buying on a dip and selling into a rally are retracement entries taken in the direction of the existing 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double moving average crossover, the start of a potential uptrend is signified by: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shorter average crossing above the longer</a:t>
            </a:r>
          </a:p>
          <a:p>
            <a:pPr algn="l">
              <a:lnSpc>
                <a:spcPct val="115000"/>
              </a:lnSpc>
              <a:spcBef>
                <a:spcPts val="700"/>
              </a:spcBef>
              <a:spcAft>
                <a:spcPts val="0"/>
              </a:spcAft>
            </a:pPr>
            <a:r>
              <a:rPr sz="1600" b="0" i="0">
                <a:solidFill>
                  <a:srgbClr val="1A1A1A"/>
                </a:solidFill>
                <a:latin typeface="Arial"/>
              </a:rPr>
              <a:t>The shorter crossing above the longer signifies the start of a potential uptrend. Crossing below it, a potential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is usually placed just below significant troughs for longs, and just above significant peaks for shorts.</a:t>
            </a:r>
          </a:p>
          <a:p>
            <a:pPr algn="l">
              <a:lnSpc>
                <a:spcPct val="105000"/>
              </a:lnSpc>
              <a:spcBef>
                <a:spcPts val="0"/>
              </a:spcBef>
              <a:spcAft>
                <a:spcPts val="1100"/>
              </a:spcAft>
            </a:pPr>
            <a:r>
              <a:rPr sz="1700" b="0" i="0">
                <a:solidFill>
                  <a:srgbClr val="1A1A1A"/>
                </a:solidFill>
                <a:latin typeface="Arial"/>
              </a:rPr>
              <a:t>Too far from one: a multiple of ATR or standard deviations from the entry.</a:t>
            </a:r>
          </a:p>
          <a:p>
            <a:pPr algn="l">
              <a:lnSpc>
                <a:spcPct val="105000"/>
              </a:lnSpc>
              <a:spcBef>
                <a:spcPts val="0"/>
              </a:spcBef>
              <a:spcAft>
                <a:spcPts val="1100"/>
              </a:spcAft>
            </a:pPr>
            <a:r>
              <a:rPr sz="1700" b="0" i="0">
                <a:solidFill>
                  <a:srgbClr val="1A1A1A"/>
                </a:solidFill>
                <a:latin typeface="Arial"/>
              </a:rPr>
              <a:t>Barrier entries: stopsizes are always approximately the same, just behind the barrier.</a:t>
            </a:r>
          </a:p>
          <a:p>
            <a:pPr algn="l">
              <a:lnSpc>
                <a:spcPct val="105000"/>
              </a:lnSpc>
              <a:spcBef>
                <a:spcPts val="0"/>
              </a:spcBef>
              <a:spcAft>
                <a:spcPts val="1100"/>
              </a:spcAft>
            </a:pPr>
            <a:r>
              <a:rPr sz="1700" b="0" i="0">
                <a:solidFill>
                  <a:srgbClr val="1A1A1A"/>
                </a:solidFill>
                <a:latin typeface="Arial"/>
              </a:rPr>
              <a:t>Breakout entries: stopsizes vary with each entry.</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significant peak or trough may be any distance from a breakout entry.</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5.39 - Lim, The Handbook of Technical Analysis (Wiley, 2016)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significant problem for traders risking a fixed percentage or fixed unit size per trade.</a:t>
            </a:r>
          </a:p>
          <a:p>
            <a:pPr algn="l">
              <a:lnSpc>
                <a:spcPct val="105000"/>
              </a:lnSpc>
              <a:spcBef>
                <a:spcPts val="0"/>
              </a:spcBef>
              <a:spcAft>
                <a:spcPts val="1100"/>
              </a:spcAft>
            </a:pPr>
            <a:r>
              <a:rPr sz="1700" b="0" i="0">
                <a:solidFill>
                  <a:srgbClr val="1A1A1A"/>
                </a:solidFill>
                <a:latin typeface="Arial"/>
              </a:rPr>
              <a:t>The tradesize varies with the stopsize, which affects the system's performance.</a:t>
            </a:r>
          </a:p>
          <a:p>
            <a:pPr algn="l">
              <a:lnSpc>
                <a:spcPct val="105000"/>
              </a:lnSpc>
              <a:spcBef>
                <a:spcPts val="0"/>
              </a:spcBef>
              <a:spcAft>
                <a:spcPts val="1100"/>
              </a:spcAft>
            </a:pPr>
            <a:r>
              <a:rPr sz="1700" b="0" i="0">
                <a:solidFill>
                  <a:srgbClr val="1A1A1A"/>
                </a:solidFill>
                <a:latin typeface="Arial"/>
              </a:rPr>
              <a:t>Worst if narrow stops, on a fixed percentage of current capital, are taken out frequently.</a:t>
            </a:r>
          </a:p>
          <a:p>
            <a:pPr algn="l">
              <a:lnSpc>
                <a:spcPct val="105000"/>
              </a:lnSpc>
              <a:spcBef>
                <a:spcPts val="0"/>
              </a:spcBef>
              <a:spcAft>
                <a:spcPts val="1100"/>
              </a:spcAft>
            </a:pPr>
            <a:r>
              <a:rPr sz="1700" b="0" i="0">
                <a:solidFill>
                  <a:srgbClr val="1A1A1A"/>
                </a:solidFill>
                <a:latin typeface="Arial"/>
              </a:rPr>
              <a:t>Or wide stops, on a fixed percentage of original capital.</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Either way the result is significant loss.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A smaller one for any wider stop.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Threshold PHP 3.00, risk limit PHP 10,000. Stops up to PHP 3.00 trade 3,333 shares. A PHP 5.00 stop trades 10,000 / 5 =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q.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Backtest 300 to 500 trades for the average stopsize. Say PHP 2.00.</a:t>
            </a:r>
          </a:p>
          <a:p>
            <a:pPr algn="l">
              <a:lnSpc>
                <a:spcPct val="105000"/>
              </a:lnSpc>
              <a:spcBef>
                <a:spcPts val="0"/>
              </a:spcBef>
              <a:spcAft>
                <a:spcPts val="1100"/>
              </a:spcAft>
            </a:pPr>
            <a:r>
              <a:rPr sz="1700" b="0" i="0">
                <a:solidFill>
                  <a:srgbClr val="1A1A1A"/>
                </a:solidFill>
                <a:latin typeface="Arial"/>
              </a:rPr>
              <a:t>2  Calculate the two standard deviation value of those stopsizes. Say PHP 1.00.</a:t>
            </a:r>
          </a:p>
          <a:p>
            <a:pPr algn="l">
              <a:lnSpc>
                <a:spcPct val="105000"/>
              </a:lnSpc>
              <a:spcBef>
                <a:spcPts val="0"/>
              </a:spcBef>
              <a:spcAft>
                <a:spcPts val="1100"/>
              </a:spcAft>
            </a:pPr>
            <a:r>
              <a:rPr sz="1700" b="0" i="0">
                <a:solidFill>
                  <a:srgbClr val="1A1A1A"/>
                </a:solidFill>
                <a:latin typeface="Arial"/>
              </a:rPr>
              <a:t>3  Add them: 2.00 + 1.00 = PHP 3.00, the proportional stopsize.</a:t>
            </a:r>
          </a:p>
          <a:p>
            <a:pPr algn="l">
              <a:lnSpc>
                <a:spcPct val="105000"/>
              </a:lnSpc>
              <a:spcBef>
                <a:spcPts val="0"/>
              </a:spcBef>
              <a:spcAft>
                <a:spcPts val="1100"/>
              </a:spcAft>
            </a:pPr>
            <a:r>
              <a:rPr sz="1700" b="0" i="0">
                <a:solidFill>
                  <a:srgbClr val="1A1A1A"/>
                </a:solidFill>
                <a:latin typeface="Arial"/>
              </a:rPr>
              <a:t>4  Set the maximum risk per trade: 1 percent of PHP 1,000,000 is PHP 10,000.</a:t>
            </a:r>
          </a:p>
          <a:p>
            <a:pPr algn="l">
              <a:lnSpc>
                <a:spcPct val="105000"/>
              </a:lnSpc>
              <a:spcBef>
                <a:spcPts val="0"/>
              </a:spcBef>
              <a:spcAft>
                <a:spcPts val="1100"/>
              </a:spcAft>
            </a:pPr>
            <a:r>
              <a:rPr sz="1700" b="0" i="0">
                <a:solidFill>
                  <a:srgbClr val="1A1A1A"/>
                </a:solidFill>
                <a:latin typeface="Arial"/>
              </a:rPr>
              <a:t>5  Divide: 10,000 / 3.00 = 3,333 shares, the proportional tradesize.</a:t>
            </a:r>
          </a:p>
        </p:txBody>
      </p:sp>
      <p:sp>
        <p:nvSpPr>
          <p:cNvPr id="8" name="TextBox 7"/>
          <p:cNvSpPr txBox="1"/>
          <p:nvPr/>
        </p:nvSpPr>
        <p:spPr>
          <a:xfrm>
            <a:off x="777240" y="57104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Wider stop than PHP 3.00: divide PHP 10,000 by the stopsize.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r.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Stops and tradesize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backtest gives an average stopsize of PHP 4.00 and a two standard deviation value of PHP 2.00. The risk per trade is PHP 12,000. The proportional tradesize is:</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1,000 shares</a:t>
            </a:r>
          </a:p>
          <a:p>
            <a:pPr algn="l">
              <a:lnSpc>
                <a:spcPct val="112000"/>
              </a:lnSpc>
              <a:spcBef>
                <a:spcPts val="0"/>
              </a:spcBef>
              <a:spcAft>
                <a:spcPts val="900"/>
              </a:spcAft>
            </a:pPr>
            <a:r>
              <a:rPr sz="1500" b="0" i="0">
                <a:solidFill>
                  <a:srgbClr val="FFFFFF"/>
                </a:solidFill>
                <a:latin typeface="Arial"/>
              </a:rPr>
              <a:t>B.  2,000 shares</a:t>
            </a:r>
          </a:p>
          <a:p>
            <a:pPr algn="l">
              <a:lnSpc>
                <a:spcPct val="112000"/>
              </a:lnSpc>
              <a:spcBef>
                <a:spcPts val="0"/>
              </a:spcBef>
              <a:spcAft>
                <a:spcPts val="900"/>
              </a:spcAft>
            </a:pPr>
            <a:r>
              <a:rPr sz="1500" b="0" i="0">
                <a:solidFill>
                  <a:srgbClr val="FFFFFF"/>
                </a:solidFill>
                <a:latin typeface="Arial"/>
              </a:rPr>
              <a:t>C.  3,000 shares</a:t>
            </a:r>
          </a:p>
          <a:p>
            <a:pPr algn="l">
              <a:lnSpc>
                <a:spcPct val="112000"/>
              </a:lnSpc>
              <a:spcBef>
                <a:spcPts val="0"/>
              </a:spcBef>
              <a:spcAft>
                <a:spcPts val="900"/>
              </a:spcAft>
            </a:pPr>
            <a:r>
              <a:rPr sz="1500" b="0" i="0">
                <a:solidFill>
                  <a:srgbClr val="FFFFFF"/>
                </a:solidFill>
                <a:latin typeface="Arial"/>
              </a:rPr>
              <a:t>D.  6,000 shares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Compared with breakout entries, the stopsizes of barrier entries are:</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Always wider</a:t>
            </a:r>
          </a:p>
          <a:p>
            <a:pPr algn="l">
              <a:lnSpc>
                <a:spcPct val="112000"/>
              </a:lnSpc>
              <a:spcBef>
                <a:spcPts val="0"/>
              </a:spcBef>
              <a:spcAft>
                <a:spcPts val="900"/>
              </a:spcAft>
            </a:pPr>
            <a:r>
              <a:rPr sz="1500" b="0" i="0">
                <a:solidFill>
                  <a:srgbClr val="FFFFFF"/>
                </a:solidFill>
                <a:latin typeface="Arial"/>
              </a:rPr>
              <a:t>B.  Different with every entry</a:t>
            </a:r>
          </a:p>
          <a:p>
            <a:pPr algn="l">
              <a:lnSpc>
                <a:spcPct val="112000"/>
              </a:lnSpc>
              <a:spcBef>
                <a:spcPts val="0"/>
              </a:spcBef>
              <a:spcAft>
                <a:spcPts val="900"/>
              </a:spcAft>
            </a:pPr>
            <a:r>
              <a:rPr sz="1500" b="0" i="0">
                <a:solidFill>
                  <a:srgbClr val="FFFFFF"/>
                </a:solidFill>
                <a:latin typeface="Arial"/>
              </a:rPr>
              <a:t>C.  Always approximately the same size</a:t>
            </a:r>
          </a:p>
          <a:p>
            <a:pPr algn="l">
              <a:lnSpc>
                <a:spcPct val="112000"/>
              </a:lnSpc>
              <a:spcBef>
                <a:spcPts val="0"/>
              </a:spcBef>
              <a:spcAft>
                <a:spcPts val="900"/>
              </a:spcAft>
            </a:pPr>
            <a:r>
              <a:rPr sz="1500" b="0" i="0">
                <a:solidFill>
                  <a:srgbClr val="FFFFFF"/>
                </a:solidFill>
                <a:latin typeface="Arial"/>
              </a:rPr>
              <a:t>D.  Not needed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14</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Stops and tradesize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backtest gives an average stopsize of PHP 4.00 and a two standard deviation value of PHP 2.00. The risk per trade is PHP 12,000. The proportional tradesize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2,000 shares</a:t>
            </a:r>
          </a:p>
          <a:p>
            <a:pPr algn="l">
              <a:lnSpc>
                <a:spcPct val="115000"/>
              </a:lnSpc>
              <a:spcBef>
                <a:spcPts val="700"/>
              </a:spcBef>
              <a:spcAft>
                <a:spcPts val="0"/>
              </a:spcAft>
            </a:pPr>
            <a:r>
              <a:rPr sz="1600" b="0" i="0">
                <a:solidFill>
                  <a:srgbClr val="1A1A1A"/>
                </a:solidFill>
                <a:latin typeface="Arial"/>
              </a:rPr>
              <a:t>The proportional stopsize is 4.00 + 2.00 = PHP 6.00, and 12,000 / 6.00 = 2,000 shares.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Compared with breakout entries, the stopsizes of barrier entries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Always approximately the same size</a:t>
            </a:r>
          </a:p>
          <a:p>
            <a:pPr algn="l">
              <a:lnSpc>
                <a:spcPct val="115000"/>
              </a:lnSpc>
              <a:spcBef>
                <a:spcPts val="700"/>
              </a:spcBef>
              <a:spcAft>
                <a:spcPts val="0"/>
              </a:spcAft>
            </a:pPr>
            <a:r>
              <a:rPr sz="1600" b="0" i="0">
                <a:solidFill>
                  <a:srgbClr val="1A1A1A"/>
                </a:solidFill>
                <a:latin typeface="Arial"/>
              </a:rPr>
              <a:t>At a barrier the significant peak or trough is usually the point of entry itself, so the stop sits just behind the barrier every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straight line through two turning points, carried forward. It must not cut through price.</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forward into the future from two significant inflection points: troughs for an uptrend, peaks for a downtrend. It is tentative until tested at the third point of price contact, then confirmed, or valid.</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s.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to price action.</a:t>
            </a:r>
          </a:p>
          <a:p>
            <a:pPr algn="l">
              <a:lnSpc>
                <a:spcPct val="105000"/>
              </a:lnSpc>
              <a:spcBef>
                <a:spcPts val="0"/>
              </a:spcBef>
              <a:spcAft>
                <a:spcPts val="1100"/>
              </a:spcAft>
            </a:pPr>
            <a:r>
              <a:rPr sz="1700" b="0" i="0">
                <a:solidFill>
                  <a:srgbClr val="1A1A1A"/>
                </a:solidFill>
                <a:latin typeface="Arial"/>
              </a:rPr>
              <a:t>Most participants place buy orders above a barrier and short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t.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Invalidating and redrawing a trendline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invalidated once it is breached. It is not thereafter unusable: it is referred to as an internal line.</a:t>
            </a:r>
          </a:p>
          <a:p>
            <a:pPr algn="l">
              <a:lnSpc>
                <a:spcPct val="105000"/>
              </a:lnSpc>
              <a:spcBef>
                <a:spcPts val="0"/>
              </a:spcBef>
              <a:spcAft>
                <a:spcPts val="1100"/>
              </a:spcAft>
            </a:pPr>
            <a:r>
              <a:rPr sz="1700" b="0" i="0">
                <a:solidFill>
                  <a:srgbClr val="1A1A1A"/>
                </a:solidFill>
                <a:latin typeface="Arial"/>
              </a:rPr>
              <a:t>A head and shoulders neckline is invalidated when the formation is confirmed, and price very frequently retests it.</a:t>
            </a:r>
          </a:p>
          <a:p>
            <a:pPr algn="l">
              <a:lnSpc>
                <a:spcPct val="105000"/>
              </a:lnSpc>
              <a:spcBef>
                <a:spcPts val="0"/>
              </a:spcBef>
              <a:spcAft>
                <a:spcPts val="1100"/>
              </a:spcAft>
            </a:pPr>
            <a:r>
              <a:rPr sz="1700" b="0" i="0">
                <a:solidFill>
                  <a:srgbClr val="1A1A1A"/>
                </a:solidFill>
                <a:latin typeface="Arial"/>
              </a:rPr>
              <a:t>The new uptrend line is drawn between the original lower trough and the new significant trough.</a:t>
            </a:r>
          </a:p>
        </p:txBody>
      </p:sp>
      <p:sp>
        <p:nvSpPr>
          <p:cNvPr id="8" name="TextBox 7"/>
          <p:cNvSpPr txBox="1"/>
          <p:nvPr/>
        </p:nvSpPr>
        <p:spPr>
          <a:xfrm>
            <a:off x="777240" y="5381244"/>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 downtrends: between the original higher peak and the new significant peak.</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5.41 - Lim, The Handbook of Technical Analysis (Wiley, 2016)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 depends on the filtering employed.</a:t>
            </a:r>
          </a:p>
          <a:p>
            <a:pPr algn="l">
              <a:lnSpc>
                <a:spcPct val="105000"/>
              </a:lnSpc>
              <a:spcBef>
                <a:spcPts val="0"/>
              </a:spcBef>
              <a:spcAft>
                <a:spcPts val="1100"/>
              </a:spcAft>
            </a:pPr>
            <a:r>
              <a:rPr sz="1800" b="0" i="0">
                <a:solidFill>
                  <a:srgbClr val="1A1A1A"/>
                </a:solidFill>
                <a:latin typeface="Arial"/>
              </a:rPr>
              <a:t>Closing filter rule: a penetration is valid only once price closes beyond the line.</a:t>
            </a:r>
          </a:p>
          <a:p>
            <a:pPr algn="l">
              <a:lnSpc>
                <a:spcPct val="105000"/>
              </a:lnSpc>
              <a:spcBef>
                <a:spcPts val="0"/>
              </a:spcBef>
              <a:spcAft>
                <a:spcPts val="1100"/>
              </a:spcAft>
            </a:pPr>
            <a:r>
              <a:rPr sz="1800" b="0" i="0">
                <a:solidFill>
                  <a:srgbClr val="1A1A1A"/>
                </a:solidFill>
                <a:latin typeface="Arial"/>
              </a:rPr>
              <a:t>A very significant intraday penetration that closes back above an uptrend line: significant, but invalid.</a:t>
            </a:r>
          </a:p>
          <a:p>
            <a:pPr algn="l">
              <a:lnSpc>
                <a:spcPct val="105000"/>
              </a:lnSpc>
              <a:spcBef>
                <a:spcPts val="0"/>
              </a:spcBef>
              <a:spcAft>
                <a:spcPts val="1100"/>
              </a:spcAft>
            </a:pPr>
            <a:r>
              <a:rPr sz="1800" b="0" i="0">
                <a:solidFill>
                  <a:srgbClr val="1A1A1A"/>
                </a:solidFill>
                <a:latin typeface="Arial"/>
              </a:rPr>
              <a:t>The book's answer: price-based filters only, or double-stage filtering with a price-based second filter.</a:t>
            </a:r>
          </a:p>
        </p:txBody>
      </p:sp>
      <p:sp>
        <p:nvSpPr>
          <p:cNvPr id="8" name="TextBox 7"/>
          <p:cNvSpPr txBox="1"/>
          <p:nvPr/>
        </p:nvSpPr>
        <p:spPr>
          <a:xfrm>
            <a:off x="777240" y="54178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Either way a new trendline may still be drawn. The trader monitors price reactions at both lines.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u.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Drawing and breaking a trendline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trendline drawn from two troughs becomes a confirmed, or valid, trendline when: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is first drawn</a:t>
            </a:r>
          </a:p>
          <a:p>
            <a:pPr algn="l">
              <a:lnSpc>
                <a:spcPct val="112000"/>
              </a:lnSpc>
              <a:spcBef>
                <a:spcPts val="0"/>
              </a:spcBef>
              <a:spcAft>
                <a:spcPts val="900"/>
              </a:spcAft>
            </a:pPr>
            <a:r>
              <a:rPr sz="1500" b="0" i="0">
                <a:solidFill>
                  <a:srgbClr val="FFFFFF"/>
                </a:solidFill>
                <a:latin typeface="Arial"/>
              </a:rPr>
              <a:t>B.  Price breaches it</a:t>
            </a:r>
          </a:p>
          <a:p>
            <a:pPr algn="l">
              <a:lnSpc>
                <a:spcPct val="112000"/>
              </a:lnSpc>
              <a:spcBef>
                <a:spcPts val="0"/>
              </a:spcBef>
              <a:spcAft>
                <a:spcPts val="900"/>
              </a:spcAft>
            </a:pPr>
            <a:r>
              <a:rPr sz="1500" b="0" i="0">
                <a:solidFill>
                  <a:srgbClr val="FFFFFF"/>
                </a:solidFill>
                <a:latin typeface="Arial"/>
              </a:rPr>
              <a:t>C.  Price tests it at a third point of contact</a:t>
            </a:r>
          </a:p>
          <a:p>
            <a:pPr algn="l">
              <a:lnSpc>
                <a:spcPct val="112000"/>
              </a:lnSpc>
              <a:spcBef>
                <a:spcPts val="0"/>
              </a:spcBef>
              <a:spcAft>
                <a:spcPts val="900"/>
              </a:spcAft>
            </a:pPr>
            <a:r>
              <a:rPr sz="1500" b="0" i="0">
                <a:solidFill>
                  <a:srgbClr val="FFFFFF"/>
                </a:solidFill>
                <a:latin typeface="Arial"/>
              </a:rPr>
              <a:t>D.  Volume rises along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Once a trendline has been invalidated, it is thereafter referred to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tentative line</a:t>
            </a:r>
          </a:p>
          <a:p>
            <a:pPr algn="l">
              <a:lnSpc>
                <a:spcPct val="112000"/>
              </a:lnSpc>
              <a:spcBef>
                <a:spcPts val="0"/>
              </a:spcBef>
              <a:spcAft>
                <a:spcPts val="900"/>
              </a:spcAft>
            </a:pPr>
            <a:r>
              <a:rPr sz="1500" b="0" i="0">
                <a:solidFill>
                  <a:srgbClr val="FFFFFF"/>
                </a:solidFill>
                <a:latin typeface="Arial"/>
              </a:rPr>
              <a:t>B.  A continuation trendline</a:t>
            </a:r>
          </a:p>
          <a:p>
            <a:pPr algn="l">
              <a:lnSpc>
                <a:spcPct val="112000"/>
              </a:lnSpc>
              <a:spcBef>
                <a:spcPts val="0"/>
              </a:spcBef>
              <a:spcAft>
                <a:spcPts val="900"/>
              </a:spcAft>
            </a:pPr>
            <a:r>
              <a:rPr sz="1500" b="0" i="0">
                <a:solidFill>
                  <a:srgbClr val="FFFFFF"/>
                </a:solidFill>
                <a:latin typeface="Arial"/>
              </a:rPr>
              <a:t>C.  A neckline</a:t>
            </a:r>
          </a:p>
          <a:p>
            <a:pPr algn="l">
              <a:lnSpc>
                <a:spcPct val="112000"/>
              </a:lnSpc>
              <a:spcBef>
                <a:spcPts val="0"/>
              </a:spcBef>
              <a:spcAft>
                <a:spcPts val="900"/>
              </a:spcAft>
            </a:pPr>
            <a:r>
              <a:rPr sz="1500" b="0" i="0">
                <a:solidFill>
                  <a:srgbClr val="FFFFFF"/>
                </a:solidFill>
                <a:latin typeface="Arial"/>
              </a:rPr>
              <a:t>D.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15</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Drawing and breaking a trendline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trendline drawn from two troughs becomes a confirmed, or valid, trendline when: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 tests it at a third point of contact</a:t>
            </a:r>
          </a:p>
          <a:p>
            <a:pPr algn="l">
              <a:lnSpc>
                <a:spcPct val="115000"/>
              </a:lnSpc>
              <a:spcBef>
                <a:spcPts val="700"/>
              </a:spcBef>
              <a:spcAft>
                <a:spcPts val="0"/>
              </a:spcAft>
            </a:pPr>
            <a:r>
              <a:rPr sz="1600" b="0" i="0">
                <a:solidFill>
                  <a:srgbClr val="1A1A1A"/>
                </a:solidFill>
                <a:latin typeface="Arial"/>
              </a:rPr>
              <a:t>A trendline is only provisionary, or tentative, until it is tested for the first time, at the third point of price contact.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Once a trendline has been invalidated, it is thereafter referred to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An internal line</a:t>
            </a:r>
          </a:p>
          <a:p>
            <a:pPr algn="l">
              <a:lnSpc>
                <a:spcPct val="115000"/>
              </a:lnSpc>
              <a:spcBef>
                <a:spcPts val="700"/>
              </a:spcBef>
              <a:spcAft>
                <a:spcPts val="0"/>
              </a:spcAft>
            </a:pPr>
            <a:r>
              <a:rPr sz="1600" b="0" i="0">
                <a:solidFill>
                  <a:srgbClr val="1A1A1A"/>
                </a:solidFill>
                <a:latin typeface="Arial"/>
              </a:rPr>
              <a:t>A breached trendline is invalidated, but not unusable. It is thereafter referred to as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15</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reliable trendline gives consistent support and resistance. A lot of whipsaws: unreliable.</a:t>
            </a:r>
          </a:p>
          <a:p>
            <a:pPr algn="l">
              <a:lnSpc>
                <a:spcPct val="105000"/>
              </a:lnSpc>
              <a:spcBef>
                <a:spcPts val="0"/>
              </a:spcBef>
              <a:spcAft>
                <a:spcPts val="1100"/>
              </a:spcAft>
            </a:pPr>
            <a:r>
              <a:rPr sz="1700" b="0" i="0">
                <a:solidFill>
                  <a:srgbClr val="1A1A1A"/>
                </a:solidFill>
                <a:latin typeface="Arial"/>
              </a:rPr>
              <a:t>Angle: above 45 degrees a steep uptrend is less stable. So is a very shallow one.</a:t>
            </a:r>
          </a:p>
          <a:p>
            <a:pPr algn="l">
              <a:lnSpc>
                <a:spcPct val="105000"/>
              </a:lnSpc>
              <a:spcBef>
                <a:spcPts val="0"/>
              </a:spcBef>
              <a:spcAft>
                <a:spcPts val="1100"/>
              </a:spcAft>
            </a:pPr>
            <a:r>
              <a:rPr sz="17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700" b="0" i="0">
                <a:solidFill>
                  <a:srgbClr val="1A1A1A"/>
                </a:solidFill>
                <a:latin typeface="Arial"/>
              </a:rPr>
              <a:t>Duration: longer-term trendlines are generally more reliable than shorter-term ones.</a:t>
            </a:r>
          </a:p>
        </p:txBody>
      </p:sp>
      <p:sp>
        <p:nvSpPr>
          <p:cNvPr id="8" name="TextBox 7"/>
          <p:cNvSpPr txBox="1"/>
          <p:nvPr/>
        </p:nvSpPr>
        <p:spPr>
          <a:xfrm>
            <a:off x="777240" y="50017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 institutions included.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v.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with other indicators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w.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Find the distance that price moved farthest from the trendline.</a:t>
            </a:r>
          </a:p>
          <a:p>
            <a:pPr algn="l">
              <a:lnSpc>
                <a:spcPct val="105000"/>
              </a:lnSpc>
              <a:spcBef>
                <a:spcPts val="0"/>
              </a:spcBef>
              <a:spcAft>
                <a:spcPts val="1100"/>
              </a:spcAft>
            </a:pPr>
            <a:r>
              <a:rPr sz="1800" b="0" i="0">
                <a:solidFill>
                  <a:srgbClr val="1A1A1A"/>
                </a:solidFill>
                <a:latin typeface="Arial"/>
              </a:rPr>
              <a:t>Apply a one-to-one projection of that distance from the breakout point.</a:t>
            </a:r>
          </a:p>
          <a:p>
            <a:pPr algn="l">
              <a:lnSpc>
                <a:spcPct val="105000"/>
              </a:lnSpc>
              <a:spcBef>
                <a:spcPts val="0"/>
              </a:spcBef>
              <a:spcAft>
                <a:spcPts val="1100"/>
              </a:spcAft>
            </a:pPr>
            <a:r>
              <a:rPr sz="1800" b="0" i="0">
                <a:solidFill>
                  <a:srgbClr val="1A1A1A"/>
                </a:solidFill>
                <a:latin typeface="Arial"/>
              </a:rPr>
              <a:t>Farthest distance PHP 6, breakout at PHP 50: the minimum target is 50 - 6 = PHP 44.</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09651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prices bottom very close to the minimum projected target.</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 straight lines catch any trend change effectively, with no need to identify price patterns.</a:t>
            </a:r>
          </a:p>
          <a:p>
            <a:pPr algn="l">
              <a:lnSpc>
                <a:spcPct val="118000"/>
              </a:lnSpc>
              <a:spcBef>
                <a:spcPts val="0"/>
              </a:spcBef>
              <a:spcAft>
                <a:spcPts val="1300"/>
              </a:spcAft>
            </a:pPr>
            <a:r>
              <a:rPr sz="2100" b="0" i="0">
                <a:solidFill>
                  <a:srgbClr val="1A1A1A"/>
                </a:solidFill>
                <a:latin typeface="Arial"/>
              </a:rPr>
              <a:t>Strength: simple to construct, and applied and viewable across all timeframes and markets.</a:t>
            </a:r>
          </a:p>
          <a:p>
            <a:pPr algn="l">
              <a:lnSpc>
                <a:spcPct val="118000"/>
              </a:lnSpc>
              <a:spcBef>
                <a:spcPts val="0"/>
              </a:spcBef>
              <a:spcAft>
                <a:spcPts val="1300"/>
              </a:spcAft>
            </a:pPr>
            <a:r>
              <a:rPr sz="2100" b="0" i="0">
                <a:solidFill>
                  <a:srgbClr val="1A1A1A"/>
                </a:solidFill>
                <a:latin typeface="Arial"/>
              </a:rPr>
              <a:t>Weakness: subject to whipsaws, like moving averages, and less effective in erratic, volatile or ranging markets.</a:t>
            </a:r>
          </a:p>
          <a:p>
            <a:pPr algn="l">
              <a:lnSpc>
                <a:spcPct val="118000"/>
              </a:lnSpc>
              <a:spcBef>
                <a:spcPts val="0"/>
              </a:spcBef>
              <a:spcAft>
                <a:spcPts val="1300"/>
              </a:spcAft>
            </a:pPr>
            <a:r>
              <a:rPr sz="2100" b="0" i="0">
                <a:solidFill>
                  <a:srgbClr val="1A1A1A"/>
                </a:solidFill>
                <a:latin typeface="Arial"/>
              </a:rPr>
              <a:t>Weakness: affected by the type of scaling used, ratio or linear.</a:t>
            </a:r>
          </a:p>
          <a:p>
            <a:pPr algn="l">
              <a:lnSpc>
                <a:spcPct val="118000"/>
              </a:lnSpc>
              <a:spcBef>
                <a:spcPts val="0"/>
              </a:spcBef>
              <a:spcAft>
                <a:spcPts val="1300"/>
              </a:spcAft>
            </a:pPr>
            <a:r>
              <a:rPr sz="2100" b="0" i="0">
                <a:solidFill>
                  <a:srgbClr val="1A1A1A"/>
                </a:solidFill>
                <a:latin typeface="Arial"/>
              </a:rPr>
              <a:t>Weakness: a consolidation may breach a line without a legitimate reversal.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Reliability and targets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most reliable uptrend line has an angle of ascent of approximately: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 to 20 degrees</a:t>
            </a:r>
          </a:p>
          <a:p>
            <a:pPr algn="l">
              <a:lnSpc>
                <a:spcPct val="112000"/>
              </a:lnSpc>
              <a:spcBef>
                <a:spcPts val="0"/>
              </a:spcBef>
              <a:spcAft>
                <a:spcPts val="900"/>
              </a:spcAft>
            </a:pPr>
            <a:r>
              <a:rPr sz="1500" b="0" i="0">
                <a:solidFill>
                  <a:srgbClr val="FFFFFF"/>
                </a:solidFill>
                <a:latin typeface="Arial"/>
              </a:rPr>
              <a:t>B.  35 to 45 degrees</a:t>
            </a:r>
          </a:p>
          <a:p>
            <a:pPr algn="l">
              <a:lnSpc>
                <a:spcPct val="112000"/>
              </a:lnSpc>
              <a:spcBef>
                <a:spcPts val="0"/>
              </a:spcBef>
              <a:spcAft>
                <a:spcPts val="900"/>
              </a:spcAft>
            </a:pPr>
            <a:r>
              <a:rPr sz="1500" b="0" i="0">
                <a:solidFill>
                  <a:srgbClr val="FFFFFF"/>
                </a:solidFill>
                <a:latin typeface="Arial"/>
              </a:rPr>
              <a:t>C.  50 to 60 degrees</a:t>
            </a:r>
          </a:p>
          <a:p>
            <a:pPr algn="l">
              <a:lnSpc>
                <a:spcPct val="112000"/>
              </a:lnSpc>
              <a:spcBef>
                <a:spcPts val="0"/>
              </a:spcBef>
              <a:spcAft>
                <a:spcPts val="900"/>
              </a:spcAft>
            </a:pPr>
            <a:r>
              <a:rPr sz="1500" b="0" i="0">
                <a:solidFill>
                  <a:srgbClr val="FFFFFF"/>
                </a:solidFill>
                <a:latin typeface="Arial"/>
              </a:rPr>
              <a:t>D.  75 to 90 degrees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moved at most PHP 8 away from an uptrend line, then broke below the line at PHP 60. The minimum price target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44</a:t>
            </a:r>
          </a:p>
          <a:p>
            <a:pPr algn="l">
              <a:lnSpc>
                <a:spcPct val="112000"/>
              </a:lnSpc>
              <a:spcBef>
                <a:spcPts val="0"/>
              </a:spcBef>
              <a:spcAft>
                <a:spcPts val="900"/>
              </a:spcAft>
            </a:pPr>
            <a:r>
              <a:rPr sz="1500" b="0" i="0">
                <a:solidFill>
                  <a:srgbClr val="FFFFFF"/>
                </a:solidFill>
                <a:latin typeface="Arial"/>
              </a:rPr>
              <a:t>B.  PHP 52</a:t>
            </a:r>
          </a:p>
          <a:p>
            <a:pPr algn="l">
              <a:lnSpc>
                <a:spcPct val="112000"/>
              </a:lnSpc>
              <a:spcBef>
                <a:spcPts val="0"/>
              </a:spcBef>
              <a:spcAft>
                <a:spcPts val="900"/>
              </a:spcAft>
            </a:pPr>
            <a:r>
              <a:rPr sz="1500" b="0" i="0">
                <a:solidFill>
                  <a:srgbClr val="FFFFFF"/>
                </a:solidFill>
                <a:latin typeface="Arial"/>
              </a:rPr>
              <a:t>C.  PHP 60</a:t>
            </a:r>
          </a:p>
          <a:p>
            <a:pPr algn="l">
              <a:lnSpc>
                <a:spcPct val="112000"/>
              </a:lnSpc>
              <a:spcBef>
                <a:spcPts val="0"/>
              </a:spcBef>
              <a:spcAft>
                <a:spcPts val="900"/>
              </a:spcAft>
            </a:pPr>
            <a:r>
              <a:rPr sz="1500" b="0" i="0">
                <a:solidFill>
                  <a:srgbClr val="FFFFFF"/>
                </a:solidFill>
                <a:latin typeface="Arial"/>
              </a:rPr>
              <a:t>D.  PHP 68</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Reliability and targets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most reliable uptrend line has an angle of ascent of approximately: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35 to 45 degrees</a:t>
            </a:r>
          </a:p>
          <a:p>
            <a:pPr algn="l">
              <a:lnSpc>
                <a:spcPct val="115000"/>
              </a:lnSpc>
              <a:spcBef>
                <a:spcPts val="700"/>
              </a:spcBef>
              <a:spcAft>
                <a:spcPts val="0"/>
              </a:spcAft>
            </a:pPr>
            <a:r>
              <a:rPr sz="1600" b="0" i="0">
                <a:solidFill>
                  <a:srgbClr val="1A1A1A"/>
                </a:solidFill>
                <a:latin typeface="Arial"/>
              </a:rPr>
              <a:t>Above 45 degrees a trend is less stable, and so is a very shallow one. Approximately 35 to 45 degrees is the most reliable.</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moved at most PHP 8 away from an uptrend line, then broke below the line at PHP 60. The minimum price target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52</a:t>
            </a:r>
          </a:p>
          <a:p>
            <a:pPr algn="l">
              <a:lnSpc>
                <a:spcPct val="115000"/>
              </a:lnSpc>
              <a:spcBef>
                <a:spcPts val="700"/>
              </a:spcBef>
              <a:spcAft>
                <a:spcPts val="0"/>
              </a:spcAft>
            </a:pPr>
            <a:r>
              <a:rPr sz="1600" b="0" i="0">
                <a:solidFill>
                  <a:srgbClr val="1A1A1A"/>
                </a:solidFill>
                <a:latin typeface="Arial"/>
              </a:rPr>
              <a:t>A one-to-one projection of the farthest distance from the breakout point: 60 - 8 = PHP 52.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and reversal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Trendlines that allow a breakout in the direction of the existing trend are continuation trendlines.</a:t>
            </a:r>
          </a:p>
          <a:p>
            <a:pPr algn="l">
              <a:lnSpc>
                <a:spcPct val="105000"/>
              </a:lnSpc>
              <a:spcBef>
                <a:spcPts val="0"/>
              </a:spcBef>
              <a:spcAft>
                <a:spcPts val="1100"/>
              </a:spcAft>
            </a:pPr>
            <a:r>
              <a:rPr sz="1800" b="0" i="0">
                <a:solidFill>
                  <a:srgbClr val="1A1A1A"/>
                </a:solidFill>
                <a:latin typeface="Arial"/>
              </a:rPr>
              <a:t>Trendlines that allow a breakout in the opposite direction to the existing trend are reversal trendlines.</a:t>
            </a:r>
          </a:p>
        </p:txBody>
      </p:sp>
      <p:sp>
        <p:nvSpPr>
          <p:cNvPr id="8" name="Rectangle 7"/>
          <p:cNvSpPr/>
          <p:nvPr/>
        </p:nvSpPr>
        <p:spPr>
          <a:xfrm>
            <a:off x="777240" y="4224528"/>
            <a:ext cx="82296" cy="130454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096512" cy="130454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First ascertain which wave degree is being observed. That decides whether a breach is a continuation or a reversal.</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5.43 - Lim, The Handbook of Technical Analysis (Wiley, 2016)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Building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Draw an uptrend line on two significant troughs: points 1 and 2.</a:t>
            </a:r>
          </a:p>
          <a:p>
            <a:pPr algn="l">
              <a:lnSpc>
                <a:spcPct val="105000"/>
              </a:lnSpc>
              <a:spcBef>
                <a:spcPts val="0"/>
              </a:spcBef>
              <a:spcAft>
                <a:spcPts val="1100"/>
              </a:spcAft>
            </a:pPr>
            <a:r>
              <a:rPr sz="1700" b="0" i="0">
                <a:solidFill>
                  <a:srgbClr val="1A1A1A"/>
                </a:solidFill>
                <a:latin typeface="Arial"/>
              </a:rPr>
              <a:t>From a significant peak above it, point 3, project a parallel: the channel, or return, line.</a:t>
            </a:r>
          </a:p>
          <a:p>
            <a:pPr algn="l">
              <a:lnSpc>
                <a:spcPct val="105000"/>
              </a:lnSpc>
              <a:spcBef>
                <a:spcPts val="0"/>
              </a:spcBef>
              <a:spcAft>
                <a:spcPts val="1100"/>
              </a:spcAft>
            </a:pPr>
            <a:r>
              <a:rPr sz="1700" b="0" i="0">
                <a:solidFill>
                  <a:srgbClr val="1A1A1A"/>
                </a:solidFill>
                <a:latin typeface="Arial"/>
              </a:rPr>
              <a:t>A falling channel is the mirror: a downtrend line on peaks 4 and 5, a parallel from trough 6.</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Channels indicate potential entry, profit-taking, price target and stoploss levels.</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Trough 6 violates the uptrend line, an early indication of a potential trend change. Other constructions: Chapter 13.</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Silver, 4 hour: price transitions within a larger falling channel.</a:t>
            </a:r>
          </a:p>
          <a:p>
            <a:pPr algn="l">
              <a:lnSpc>
                <a:spcPct val="105000"/>
              </a:lnSpc>
              <a:spcBef>
                <a:spcPts val="0"/>
              </a:spcBef>
              <a:spcAft>
                <a:spcPts val="1100"/>
              </a:spcAft>
            </a:pPr>
            <a:r>
              <a:rPr sz="1800" b="0" i="0">
                <a:solidFill>
                  <a:srgbClr val="1A1A1A"/>
                </a:solidFill>
                <a:latin typeface="Arial"/>
              </a:rPr>
              <a:t>The smaller channels are contained, or nested, within the larger channel.</a:t>
            </a:r>
          </a:p>
          <a:p>
            <a:pPr algn="l">
              <a:lnSpc>
                <a:spcPct val="105000"/>
              </a:lnSpc>
              <a:spcBef>
                <a:spcPts val="0"/>
              </a:spcBef>
              <a:spcAft>
                <a:spcPts val="1100"/>
              </a:spcAft>
            </a:pPr>
            <a:r>
              <a:rPr sz="1800" b="0" i="0">
                <a:solidFill>
                  <a:srgbClr val="1A1A1A"/>
                </a:solidFill>
                <a:latin typeface="Arial"/>
              </a:rPr>
              <a:t>Nesting can occur at multiple levels, with large channels comprised of ever-decreasing channel sizes.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0965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essence, channel nesting has fractal-like properties.</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5.45 - Lim, The Handbook of Technical Analysis (Wiley, 2016)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Nested channeling again, this time on a chart of the USDCAD.</a:t>
            </a:r>
          </a:p>
          <a:p>
            <a:pPr algn="l">
              <a:lnSpc>
                <a:spcPct val="105000"/>
              </a:lnSpc>
              <a:spcBef>
                <a:spcPts val="0"/>
              </a:spcBef>
              <a:spcAft>
                <a:spcPts val="1100"/>
              </a:spcAft>
            </a:pPr>
            <a:r>
              <a:rPr sz="2000" b="0" i="0">
                <a:solidFill>
                  <a:srgbClr val="1A1A1A"/>
                </a:solidFill>
                <a:latin typeface="Arial"/>
              </a:rPr>
              <a:t>Notice the channels reacting at the Fibonacci retracement levels.</a:t>
            </a:r>
          </a:p>
        </p:txBody>
      </p:sp>
      <p:sp>
        <p:nvSpPr>
          <p:cNvPr id="8" name="TextBox 7"/>
          <p:cNvSpPr txBox="1"/>
          <p:nvPr/>
        </p:nvSpPr>
        <p:spPr>
          <a:xfrm>
            <a:off x="777240" y="3776472"/>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caption under this figure repeats Figure 5.45's and says Silver. Its text says USDCAD. Retracements are section 5.7.</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Channels are extremely useful for projecting potential price targets.</a:t>
            </a:r>
          </a:p>
          <a:p>
            <a:pPr algn="l">
              <a:lnSpc>
                <a:spcPct val="105000"/>
              </a:lnSpc>
              <a:spcBef>
                <a:spcPts val="0"/>
              </a:spcBef>
              <a:spcAft>
                <a:spcPts val="1100"/>
              </a:spcAft>
            </a:pPr>
            <a:r>
              <a:rPr sz="1700" b="0" i="0">
                <a:solidFill>
                  <a:srgbClr val="1A1A1A"/>
                </a:solidFill>
                <a:latin typeface="Arial"/>
              </a:rPr>
              <a:t>The return line serves as a possible price target, providing resistance to the motion of price.</a:t>
            </a:r>
          </a:p>
          <a:p>
            <a:pPr algn="l">
              <a:lnSpc>
                <a:spcPct val="105000"/>
              </a:lnSpc>
              <a:spcBef>
                <a:spcPts val="0"/>
              </a:spcBef>
              <a:spcAft>
                <a:spcPts val="1100"/>
              </a:spcAft>
            </a:pPr>
            <a:r>
              <a:rPr sz="1700" b="0" i="0">
                <a:solidFill>
                  <a:srgbClr val="1A1A1A"/>
                </a:solidFill>
                <a:latin typeface="Arial"/>
              </a:rPr>
              <a:t>In the figure the price targets at points 5 and 6 were forecast accurately by channel projection.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Project the return line forward, and read the target where price meets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5.47 - Lim, The Handbook of Technical Analysis (Wiley, 2016)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20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2000" b="0" i="0">
                <a:solidFill>
                  <a:srgbClr val="1A1A1A"/>
                </a:solidFill>
                <a:latin typeface="Arial"/>
              </a:rPr>
              <a:t>Especially so if the channel breakout bar is accompanied by large volume.</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example is its Figure 5.14: price fails to test the lower channel boundary, then breaks out upward at point A.</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x.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Channels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rising channel, the line projected parallel to the uptrend line from a significant peak is called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Channel, or return, line</a:t>
            </a:r>
          </a:p>
          <a:p>
            <a:pPr algn="l">
              <a:lnSpc>
                <a:spcPct val="112000"/>
              </a:lnSpc>
              <a:spcBef>
                <a:spcPts val="0"/>
              </a:spcBef>
              <a:spcAft>
                <a:spcPts val="900"/>
              </a:spcAft>
            </a:pPr>
            <a:r>
              <a:rPr sz="1500" b="0" i="0">
                <a:solidFill>
                  <a:srgbClr val="FFFFFF"/>
                </a:solidFill>
                <a:latin typeface="Arial"/>
              </a:rPr>
              <a:t>B.  Internal line</a:t>
            </a:r>
          </a:p>
          <a:p>
            <a:pPr algn="l">
              <a:lnSpc>
                <a:spcPct val="112000"/>
              </a:lnSpc>
              <a:spcBef>
                <a:spcPts val="0"/>
              </a:spcBef>
              <a:spcAft>
                <a:spcPts val="900"/>
              </a:spcAft>
            </a:pPr>
            <a:r>
              <a:rPr sz="1500" b="0" i="0">
                <a:solidFill>
                  <a:srgbClr val="FFFFFF"/>
                </a:solidFill>
                <a:latin typeface="Arial"/>
              </a:rPr>
              <a:t>C.  Neckline</a:t>
            </a:r>
          </a:p>
          <a:p>
            <a:pPr algn="l">
              <a:lnSpc>
                <a:spcPct val="112000"/>
              </a:lnSpc>
              <a:spcBef>
                <a:spcPts val="0"/>
              </a:spcBef>
              <a:spcAft>
                <a:spcPts val="900"/>
              </a:spcAft>
            </a:pPr>
            <a:r>
              <a:rPr sz="1500" b="0" i="0">
                <a:solidFill>
                  <a:srgbClr val="FFFFFF"/>
                </a:solidFill>
                <a:latin typeface="Arial"/>
              </a:rPr>
              <a:t>D.  Reversal trendline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fails to test the bottom of its rising channel. This is evidence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reversal to the downside</a:t>
            </a:r>
          </a:p>
          <a:p>
            <a:pPr algn="l">
              <a:lnSpc>
                <a:spcPct val="112000"/>
              </a:lnSpc>
              <a:spcBef>
                <a:spcPts val="0"/>
              </a:spcBef>
              <a:spcAft>
                <a:spcPts val="900"/>
              </a:spcAft>
            </a:pPr>
            <a:r>
              <a:rPr sz="1500" b="0" i="0">
                <a:solidFill>
                  <a:srgbClr val="FFFFFF"/>
                </a:solidFill>
                <a:latin typeface="Arial"/>
              </a:rPr>
              <a:t>B.  A failure swing</a:t>
            </a:r>
          </a:p>
          <a:p>
            <a:pPr algn="l">
              <a:lnSpc>
                <a:spcPct val="112000"/>
              </a:lnSpc>
              <a:spcBef>
                <a:spcPts val="0"/>
              </a:spcBef>
              <a:spcAft>
                <a:spcPts val="900"/>
              </a:spcAft>
            </a:pPr>
            <a:r>
              <a:rPr sz="1500" b="0" i="0">
                <a:solidFill>
                  <a:srgbClr val="FFFFFF"/>
                </a:solidFill>
                <a:latin typeface="Arial"/>
              </a:rPr>
              <a:t>C.  A potential continuation of the existing uptrend</a:t>
            </a:r>
          </a:p>
          <a:p>
            <a:pPr algn="l">
              <a:lnSpc>
                <a:spcPct val="112000"/>
              </a:lnSpc>
              <a:spcBef>
                <a:spcPts val="0"/>
              </a:spcBef>
              <a:spcAft>
                <a:spcPts val="900"/>
              </a:spcAft>
            </a:pPr>
            <a:r>
              <a:rPr sz="1500" b="0" i="0">
                <a:solidFill>
                  <a:srgbClr val="FFFFFF"/>
                </a:solidFill>
                <a:latin typeface="Arial"/>
              </a:rPr>
              <a:t>D.  An invalid trendline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Channels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 rising channel, the line projected parallel to the uptrend line from a significant peak is called the:</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Channel, or return, line</a:t>
            </a:r>
          </a:p>
          <a:p>
            <a:pPr algn="l">
              <a:lnSpc>
                <a:spcPct val="115000"/>
              </a:lnSpc>
              <a:spcBef>
                <a:spcPts val="700"/>
              </a:spcBef>
              <a:spcAft>
                <a:spcPts val="0"/>
              </a:spcAft>
            </a:pPr>
            <a:r>
              <a:rPr sz="1600" b="0" i="0">
                <a:solidFill>
                  <a:srgbClr val="1A1A1A"/>
                </a:solidFill>
                <a:latin typeface="Arial"/>
              </a:rPr>
              <a:t>The uptrend line is drawn on two significant troughs, and the parallel from a significant peak is the channel or return line.</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an uptrend, price fails to test the bottom of its rising channel. This is evidence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potential continuation of the existing uptrend</a:t>
            </a:r>
          </a:p>
          <a:p>
            <a:pPr algn="l">
              <a:lnSpc>
                <a:spcPct val="115000"/>
              </a:lnSpc>
              <a:spcBef>
                <a:spcPts val="700"/>
              </a:spcBef>
              <a:spcAft>
                <a:spcPts val="0"/>
              </a:spcAft>
            </a:pPr>
            <a:r>
              <a:rPr sz="1600" b="0" i="0">
                <a:solidFill>
                  <a:srgbClr val="1A1A1A"/>
                </a:solidFill>
                <a:latin typeface="Arial"/>
              </a:rPr>
              <a:t>A failed test of one boundary points to a breakout in the opposite direction. In an uptrend that is the top: a continuation.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17</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Sperandeo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21</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Victor Sperandeo's way of drawing trendlines, from his book Trader Vic: Methods of a Wall Street Master.</a:t>
            </a:r>
          </a:p>
          <a:p>
            <a:pPr algn="l">
              <a:lnSpc>
                <a:spcPct val="105000"/>
              </a:lnSpc>
              <a:spcBef>
                <a:spcPts val="0"/>
              </a:spcBef>
              <a:spcAft>
                <a:spcPts val="1100"/>
              </a:spcAft>
            </a:pPr>
            <a:r>
              <a:rPr sz="2000" b="0" i="0">
                <a:solidFill>
                  <a:srgbClr val="1A1A1A"/>
                </a:solidFill>
                <a:latin typeface="Arial"/>
              </a:rPr>
              <a:t>Uptrend line: from the lowest trough to the highest minor trough preceding the highest peak.</a:t>
            </a:r>
          </a:p>
          <a:p>
            <a:pPr algn="l">
              <a:lnSpc>
                <a:spcPct val="105000"/>
              </a:lnSpc>
              <a:spcBef>
                <a:spcPts val="0"/>
              </a:spcBef>
              <a:spcAft>
                <a:spcPts val="1100"/>
              </a:spcAft>
            </a:pPr>
            <a:r>
              <a:rPr sz="2000" b="0" i="0">
                <a:solidFill>
                  <a:srgbClr val="1A1A1A"/>
                </a:solidFill>
                <a:latin typeface="Arial"/>
              </a:rPr>
              <a:t>Downtrend line: from the highest peak to the lowest minor peak preceding the lowest trough.</a:t>
            </a:r>
          </a:p>
        </p:txBody>
      </p:sp>
      <p:sp>
        <p:nvSpPr>
          <p:cNvPr id="8" name="TextBox 7"/>
          <p:cNvSpPr txBox="1"/>
          <p:nvPr/>
        </p:nvSpPr>
        <p:spPr>
          <a:xfrm>
            <a:off x="777240" y="554126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only this much, and advises reading Sperandeo's own book for the rest.</a:t>
            </a:r>
          </a:p>
        </p:txBody>
      </p:sp>
      <p:sp>
        <p:nvSpPr>
          <p:cNvPr id="9" name="Rectangle 8"/>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DeMark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Thomas DeMark's more responsive approach, from The New Science of Technical Analysis.</a:t>
            </a:r>
          </a:p>
          <a:p>
            <a:pPr algn="l">
              <a:lnSpc>
                <a:spcPct val="105000"/>
              </a:lnSpc>
              <a:spcBef>
                <a:spcPts val="0"/>
              </a:spcBef>
              <a:spcAft>
                <a:spcPts val="1100"/>
              </a:spcAft>
            </a:pPr>
            <a:r>
              <a:rPr sz="1700" b="0" i="0">
                <a:solidFill>
                  <a:srgbClr val="1A1A1A"/>
                </a:solidFill>
                <a:latin typeface="Arial"/>
              </a:rPr>
              <a:t>Uptrend line: from the two most recent qualified troughs.</a:t>
            </a:r>
          </a:p>
          <a:p>
            <a:pPr algn="l">
              <a:lnSpc>
                <a:spcPct val="105000"/>
              </a:lnSpc>
              <a:spcBef>
                <a:spcPts val="0"/>
              </a:spcBef>
              <a:spcAft>
                <a:spcPts val="1100"/>
              </a:spcAft>
            </a:pPr>
            <a:r>
              <a:rPr sz="1700" b="0" i="0">
                <a:solidFill>
                  <a:srgbClr val="1A1A1A"/>
                </a:solidFill>
                <a:latin typeface="Arial"/>
              </a:rPr>
              <a:t>Downtrend line: from the two most recent qualified peaks.</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Figure 5.49 marks only the most recent pair as correct.</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How a trough or peak qualifies is not given. The book calls this only a brief description.</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5.49 - Lim, The Handbook of Technical Analysis (Wiley, 2016)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Standard fan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Fan lines indicate a change in trend.</a:t>
            </a:r>
          </a:p>
          <a:p>
            <a:pPr algn="l">
              <a:lnSpc>
                <a:spcPct val="105000"/>
              </a:lnSpc>
              <a:spcBef>
                <a:spcPts val="0"/>
              </a:spcBef>
              <a:spcAft>
                <a:spcPts val="1100"/>
              </a:spcAft>
            </a:pPr>
            <a:r>
              <a:rPr sz="1700" b="0" i="0">
                <a:solidFill>
                  <a:srgbClr val="1A1A1A"/>
                </a:solidFill>
                <a:latin typeface="Arial"/>
              </a:rPr>
              <a:t>Decelerating: three uptrend lines from a significant lower trough to gradually declining higher troughs.</a:t>
            </a:r>
          </a:p>
          <a:p>
            <a:pPr algn="l">
              <a:lnSpc>
                <a:spcPct val="105000"/>
              </a:lnSpc>
              <a:spcBef>
                <a:spcPts val="0"/>
              </a:spcBef>
              <a:spcAft>
                <a:spcPts val="1100"/>
              </a:spcAft>
            </a:pPr>
            <a:r>
              <a:rPr sz="1700" b="0" i="0">
                <a:solidFill>
                  <a:srgbClr val="1A1A1A"/>
                </a:solidFill>
                <a:latin typeface="Arial"/>
              </a:rPr>
              <a:t>Accelerating: three downtrend lines from a significant higher peak to gradually rising lower peaks.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Violation of the third fan line is strong confirmation of a trend change.</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They provide support and resistance, change roles when breached, and trade like any trendline.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5.50 -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Fibonacci fan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construct a bearish Fibonacci fan line:</a:t>
            </a:r>
          </a:p>
          <a:p>
            <a:pPr algn="l">
              <a:lnSpc>
                <a:spcPct val="105000"/>
              </a:lnSpc>
              <a:spcBef>
                <a:spcPts val="0"/>
              </a:spcBef>
              <a:spcAft>
                <a:spcPts val="1100"/>
              </a:spcAft>
            </a:pPr>
            <a:r>
              <a:rPr sz="1800" b="0" i="0">
                <a:solidFill>
                  <a:srgbClr val="1A1A1A"/>
                </a:solidFill>
                <a:latin typeface="Arial"/>
              </a:rPr>
              <a:t>Identify a significant Fibonacci retracement range.</a:t>
            </a:r>
          </a:p>
          <a:p>
            <a:pPr algn="l">
              <a:lnSpc>
                <a:spcPct val="105000"/>
              </a:lnSpc>
              <a:spcBef>
                <a:spcPts val="0"/>
              </a:spcBef>
              <a:spcAft>
                <a:spcPts val="1100"/>
              </a:spcAft>
            </a:pPr>
            <a:r>
              <a:rPr sz="1800" b="0" i="0">
                <a:solidFill>
                  <a:srgbClr val="1A1A1A"/>
                </a:solidFill>
                <a:latin typeface="Arial"/>
              </a:rPr>
              <a:t>Draw a vertical line from the peak of the range to the trough's price level.</a:t>
            </a:r>
          </a:p>
          <a:p>
            <a:pPr algn="l">
              <a:lnSpc>
                <a:spcPct val="105000"/>
              </a:lnSpc>
              <a:spcBef>
                <a:spcPts val="0"/>
              </a:spcBef>
              <a:spcAft>
                <a:spcPts val="1100"/>
              </a:spcAft>
            </a:pPr>
            <a:r>
              <a:rPr sz="1800" b="0" i="0">
                <a:solidFill>
                  <a:srgbClr val="1A1A1A"/>
                </a:solidFill>
                <a:latin typeface="Arial"/>
              </a:rPr>
              <a:t>Divide the vertical line into 38.2, 50 and 61.8 percent levels.</a:t>
            </a:r>
          </a:p>
          <a:p>
            <a:pPr algn="l">
              <a:lnSpc>
                <a:spcPct val="105000"/>
              </a:lnSpc>
              <a:spcBef>
                <a:spcPts val="0"/>
              </a:spcBef>
              <a:spcAft>
                <a:spcPts val="1100"/>
              </a:spcAft>
            </a:pPr>
            <a:r>
              <a:rPr sz="1800" b="0" i="0">
                <a:solidFill>
                  <a:srgbClr val="1A1A1A"/>
                </a:solidFill>
                <a:latin typeface="Arial"/>
              </a:rPr>
              <a:t>Project three lines from the trough, intercepting those three levels.</a:t>
            </a:r>
          </a:p>
        </p:txBody>
      </p:sp>
      <p:sp>
        <p:nvSpPr>
          <p:cNvPr id="8" name="Rectangle 7"/>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1" name="TextBox 10"/>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5.51 - Lim, The Handbook of Technical Analysis (Wiley, 2016)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Speed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Edson Gould's speed lines also track the progress of a trend as it attempts to bottom or top.</a:t>
            </a:r>
          </a:p>
          <a:p>
            <a:pPr algn="l">
              <a:lnSpc>
                <a:spcPct val="105000"/>
              </a:lnSpc>
              <a:spcBef>
                <a:spcPts val="0"/>
              </a:spcBef>
              <a:spcAft>
                <a:spcPts val="1100"/>
              </a:spcAft>
            </a:pPr>
            <a:r>
              <a:rPr sz="1800" b="0" i="0">
                <a:solidFill>
                  <a:srgbClr val="1A1A1A"/>
                </a:solidFill>
                <a:latin typeface="Arial"/>
              </a:rPr>
              <a:t>They are created in exactly the same way as Fibonacci fan lines.</a:t>
            </a:r>
          </a:p>
          <a:p>
            <a:pPr algn="l">
              <a:lnSpc>
                <a:spcPct val="105000"/>
              </a:lnSpc>
              <a:spcBef>
                <a:spcPts val="0"/>
              </a:spcBef>
              <a:spcAft>
                <a:spcPts val="1100"/>
              </a:spcAft>
            </a:pPr>
            <a:r>
              <a:rPr sz="1800" b="0" i="0">
                <a:solidFill>
                  <a:srgbClr val="1A1A1A"/>
                </a:solidFill>
                <a:latin typeface="Arial"/>
              </a:rPr>
              <a:t>Except that the retracement ratios are one-third and two-thirds.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09651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same vertical line and the same trough, divided into thirds.</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Andrew's Pitchfork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geometrically based price overlay. Its lines provide support and resistance.</a:t>
            </a:r>
          </a:p>
          <a:p>
            <a:pPr algn="l">
              <a:lnSpc>
                <a:spcPct val="105000"/>
              </a:lnSpc>
              <a:spcBef>
                <a:spcPts val="0"/>
              </a:spcBef>
              <a:spcAft>
                <a:spcPts val="1100"/>
              </a:spcAft>
            </a:pPr>
            <a:r>
              <a:rPr sz="1700" b="0" i="0">
                <a:solidFill>
                  <a:srgbClr val="1A1A1A"/>
                </a:solidFill>
                <a:latin typeface="Arial"/>
              </a:rPr>
              <a:t>Bearish: find a significant peak, then an upside retracement that does not exceed it.</a:t>
            </a:r>
          </a:p>
          <a:p>
            <a:pPr algn="l">
              <a:lnSpc>
                <a:spcPct val="105000"/>
              </a:lnSpc>
              <a:spcBef>
                <a:spcPts val="0"/>
              </a:spcBef>
              <a:spcAft>
                <a:spcPts val="1100"/>
              </a:spcAft>
            </a:pPr>
            <a:r>
              <a:rPr sz="1700" b="0" i="0">
                <a:solidFill>
                  <a:srgbClr val="1A1A1A"/>
                </a:solidFill>
                <a:latin typeface="Arial"/>
              </a:rPr>
              <a:t>The median line runs from that peak through the midpoint between the retracement trough and peak.</a:t>
            </a:r>
          </a:p>
          <a:p>
            <a:pPr algn="l">
              <a:lnSpc>
                <a:spcPct val="105000"/>
              </a:lnSpc>
              <a:spcBef>
                <a:spcPts val="0"/>
              </a:spcBef>
              <a:spcAft>
                <a:spcPts val="1100"/>
              </a:spcAft>
            </a:pPr>
            <a:r>
              <a:rPr sz="1700" b="0" i="0">
                <a:solidFill>
                  <a:srgbClr val="1A1A1A"/>
                </a:solidFill>
                <a:latin typeface="Arial"/>
              </a:rPr>
              <a:t>Project parallels to it from the retracement peak and the retracement trough.</a:t>
            </a:r>
          </a:p>
        </p:txBody>
      </p:sp>
      <p:sp>
        <p:nvSpPr>
          <p:cNvPr id="8" name="TextBox 7"/>
          <p:cNvSpPr txBox="1"/>
          <p:nvPr/>
        </p:nvSpPr>
        <p:spPr>
          <a:xfrm>
            <a:off x="777240" y="527380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Daily Silver finds support at the median line and upper band in a downtrend. Bullish pitchforks are the converse.</a:t>
            </a:r>
          </a:p>
        </p:txBody>
      </p:sp>
      <p:sp>
        <p:nvSpPr>
          <p:cNvPr id="9" name="Rectangle 8"/>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5.53 - Lim, The Handbook of Technical Analysis (Wiley, 2016)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Other trendlines and fan 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DeMark trendlines in an uptrend are constructed from:</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lowest trough and the highest peak</a:t>
            </a:r>
          </a:p>
          <a:p>
            <a:pPr algn="l">
              <a:lnSpc>
                <a:spcPct val="112000"/>
              </a:lnSpc>
              <a:spcBef>
                <a:spcPts val="0"/>
              </a:spcBef>
              <a:spcAft>
                <a:spcPts val="900"/>
              </a:spcAft>
            </a:pPr>
            <a:r>
              <a:rPr sz="1500" b="0" i="0">
                <a:solidFill>
                  <a:srgbClr val="FFFFFF"/>
                </a:solidFill>
                <a:latin typeface="Arial"/>
              </a:rPr>
              <a:t>B.  The two most recent qualified troughs</a:t>
            </a:r>
          </a:p>
          <a:p>
            <a:pPr algn="l">
              <a:lnSpc>
                <a:spcPct val="112000"/>
              </a:lnSpc>
              <a:spcBef>
                <a:spcPts val="0"/>
              </a:spcBef>
              <a:spcAft>
                <a:spcPts val="900"/>
              </a:spcAft>
            </a:pPr>
            <a:r>
              <a:rPr sz="1500" b="0" i="0">
                <a:solidFill>
                  <a:srgbClr val="FFFFFF"/>
                </a:solidFill>
                <a:latin typeface="Arial"/>
              </a:rPr>
              <a:t>C.  The two oldest troughs on the chart</a:t>
            </a:r>
          </a:p>
          <a:p>
            <a:pPr algn="l">
              <a:lnSpc>
                <a:spcPct val="112000"/>
              </a:lnSpc>
              <a:spcBef>
                <a:spcPts val="0"/>
              </a:spcBef>
              <a:spcAft>
                <a:spcPts val="900"/>
              </a:spcAft>
            </a:pPr>
            <a:r>
              <a:rPr sz="1500" b="0" i="0">
                <a:solidFill>
                  <a:srgbClr val="FFFFFF"/>
                </a:solidFill>
                <a:latin typeface="Arial"/>
              </a:rPr>
              <a:t>D.  The lowest trough and the highest minor trough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Speed lines differ from Fibonacci fan lines in that their retracement ratios are: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38.2, 50 and 61.8 percent</a:t>
            </a:r>
          </a:p>
          <a:p>
            <a:pPr algn="l">
              <a:lnSpc>
                <a:spcPct val="112000"/>
              </a:lnSpc>
              <a:spcBef>
                <a:spcPts val="0"/>
              </a:spcBef>
              <a:spcAft>
                <a:spcPts val="900"/>
              </a:spcAft>
            </a:pPr>
            <a:r>
              <a:rPr sz="1500" b="0" i="0">
                <a:solidFill>
                  <a:srgbClr val="FFFFFF"/>
                </a:solidFill>
                <a:latin typeface="Arial"/>
              </a:rPr>
              <a:t>B.  One-eighth and one-quarter</a:t>
            </a:r>
          </a:p>
          <a:p>
            <a:pPr algn="l">
              <a:lnSpc>
                <a:spcPct val="112000"/>
              </a:lnSpc>
              <a:spcBef>
                <a:spcPts val="0"/>
              </a:spcBef>
              <a:spcAft>
                <a:spcPts val="900"/>
              </a:spcAft>
            </a:pPr>
            <a:r>
              <a:rPr sz="1500" b="0" i="0">
                <a:solidFill>
                  <a:srgbClr val="FFFFFF"/>
                </a:solidFill>
                <a:latin typeface="Arial"/>
              </a:rPr>
              <a:t>C.  25, 50 and 75 percent</a:t>
            </a:r>
          </a:p>
          <a:p>
            <a:pPr algn="l">
              <a:lnSpc>
                <a:spcPct val="112000"/>
              </a:lnSpc>
              <a:spcBef>
                <a:spcPts val="0"/>
              </a:spcBef>
              <a:spcAft>
                <a:spcPts val="900"/>
              </a:spcAft>
            </a:pPr>
            <a:r>
              <a:rPr sz="1500" b="0" i="0">
                <a:solidFill>
                  <a:srgbClr val="FFFFFF"/>
                </a:solidFill>
                <a:latin typeface="Arial"/>
              </a:rPr>
              <a:t>D.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Other trendlines and fan lines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DeMark trendlines in an uptrend are constructed from:</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two most recent qualified troughs</a:t>
            </a:r>
          </a:p>
          <a:p>
            <a:pPr algn="l">
              <a:lnSpc>
                <a:spcPct val="115000"/>
              </a:lnSpc>
              <a:spcBef>
                <a:spcPts val="700"/>
              </a:spcBef>
              <a:spcAft>
                <a:spcPts val="0"/>
              </a:spcAft>
            </a:pPr>
            <a:r>
              <a:rPr sz="1600" b="0" i="0">
                <a:solidFill>
                  <a:srgbClr val="1A1A1A"/>
                </a:solidFill>
                <a:latin typeface="Arial"/>
              </a:rPr>
              <a:t>DeMark uses the two most recent qualified troughs in an uptrend, and the two most recent qualified peaks in a downtrend.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Speed lines differ from Fibonacci fan lines in that their retracement ratios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One-third and two-thirds</a:t>
            </a:r>
          </a:p>
          <a:p>
            <a:pPr algn="l">
              <a:lnSpc>
                <a:spcPct val="115000"/>
              </a:lnSpc>
              <a:spcBef>
                <a:spcPts val="700"/>
              </a:spcBef>
              <a:spcAft>
                <a:spcPts val="0"/>
              </a:spcAft>
            </a:pPr>
            <a:r>
              <a:rPr sz="1600" b="0" i="0">
                <a:solidFill>
                  <a:srgbClr val="1A1A1A"/>
                </a:solidFill>
                <a:latin typeface="Arial"/>
              </a:rPr>
              <a:t>Speed lines are created in exactly the same way as Fibonacci fan lines, except the ratios are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various ratios related to the Fibonacci Phi ratio.</a:t>
            </a:r>
          </a:p>
          <a:p>
            <a:pPr algn="l">
              <a:lnSpc>
                <a:spcPct val="105000"/>
              </a:lnSpc>
              <a:spcBef>
                <a:spcPts val="0"/>
              </a:spcBef>
              <a:spcAft>
                <a:spcPts val="1100"/>
              </a:spcAft>
            </a:pPr>
            <a:r>
              <a:rPr sz="1700" b="0" i="0">
                <a:solidFill>
                  <a:srgbClr val="1A1A1A"/>
                </a:solidFill>
                <a:latin typeface="Arial"/>
              </a:rPr>
              <a:t>Dow paid particular attention to the one-third and two-thirds retracements.</a:t>
            </a:r>
          </a:p>
          <a:p>
            <a:pPr algn="l">
              <a:lnSpc>
                <a:spcPct val="105000"/>
              </a:lnSpc>
              <a:spcBef>
                <a:spcPts val="0"/>
              </a:spcBef>
              <a:spcAft>
                <a:spcPts val="1100"/>
              </a:spcAft>
            </a:pPr>
            <a:r>
              <a:rPr sz="1700" b="0" i="0">
                <a:solidFill>
                  <a:srgbClr val="1A1A1A"/>
                </a:solidFill>
                <a:latin typeface="Arial"/>
              </a:rPr>
              <a:t>Gann employed one-third and one-eighth retracement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46354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leaves the detail to 'a subsequent chapter', unnamed. Its Chapter 10 is Fibonacci and its Chapter 19 Gann.</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5.8  Four types of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Common gaps occur within a trading range. Considered insignificant.</a:t>
            </a:r>
          </a:p>
          <a:p>
            <a:pPr algn="l">
              <a:lnSpc>
                <a:spcPct val="105000"/>
              </a:lnSpc>
              <a:spcBef>
                <a:spcPts val="0"/>
              </a:spcBef>
              <a:spcAft>
                <a:spcPts val="1100"/>
              </a:spcAft>
            </a:pPr>
            <a:r>
              <a:rPr sz="1800" b="0" i="0">
                <a:solidFill>
                  <a:srgbClr val="1A1A1A"/>
                </a:solidFill>
                <a:latin typeface="Arial"/>
              </a:rPr>
              <a:t>Breakaway gaps: price breaks away from a consolidation or chart pattern.</a:t>
            </a:r>
          </a:p>
          <a:p>
            <a:pPr algn="l">
              <a:lnSpc>
                <a:spcPct val="105000"/>
              </a:lnSpc>
              <a:spcBef>
                <a:spcPts val="0"/>
              </a:spcBef>
              <a:spcAft>
                <a:spcPts val="1100"/>
              </a:spcAft>
            </a:pPr>
            <a:r>
              <a:rPr sz="1800" b="0" i="0">
                <a:solidFill>
                  <a:srgbClr val="1A1A1A"/>
                </a:solidFill>
                <a:latin typeface="Arial"/>
              </a:rPr>
              <a:t>Runaway, measuring, midway or continuation gaps: in a strong trend phase. There may be more than one.</a:t>
            </a:r>
          </a:p>
          <a:p>
            <a:pPr algn="l">
              <a:lnSpc>
                <a:spcPct val="105000"/>
              </a:lnSpc>
              <a:spcBef>
                <a:spcPts val="0"/>
              </a:spcBef>
              <a:spcAft>
                <a:spcPts val="1100"/>
              </a:spcAft>
            </a:pPr>
            <a:r>
              <a:rPr sz="1800" b="0" i="0">
                <a:solidFill>
                  <a:srgbClr val="1A1A1A"/>
                </a:solidFill>
                <a:latin typeface="Arial"/>
              </a:rPr>
              <a:t>Exhaustion gaps: at the end of a trend, before a consolidation or reversal.</a:t>
            </a:r>
          </a:p>
        </p:txBody>
      </p:sp>
      <p:sp>
        <p:nvSpPr>
          <p:cNvPr id="8" name="TextBox 7"/>
          <p:cNvSpPr txBox="1"/>
          <p:nvPr/>
        </p:nvSpPr>
        <p:spPr>
          <a:xfrm>
            <a:off x="777240" y="541782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Gaps help to define the stages within a trend, which helps indicate potential tops and bottoms.</a:t>
            </a:r>
          </a:p>
        </p:txBody>
      </p:sp>
      <p:sp>
        <p:nvSpPr>
          <p:cNvPr id="9" name="Rectangle 8"/>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5.55 - Lim, The Handbook of Technical Analysis (Wiley, 2016)</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gaps help define the various phases of the market.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rejection is at the high of what the book calls a very bearish shooting star pattern. Candlesticks are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3</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Gaps tend to create areas of potential support and resistance.</a:t>
            </a:r>
          </a:p>
          <a:p>
            <a:pPr algn="l">
              <a:lnSpc>
                <a:spcPct val="105000"/>
              </a:lnSpc>
              <a:spcBef>
                <a:spcPts val="0"/>
              </a:spcBef>
              <a:spcAft>
                <a:spcPts val="1100"/>
              </a:spcAft>
            </a:pPr>
            <a:r>
              <a:rPr sz="1700" b="0" i="0">
                <a:solidFill>
                  <a:srgbClr val="1A1A1A"/>
                </a:solidFill>
                <a:latin typeface="Arial"/>
              </a:rPr>
              <a:t>On the weekly Wheat chart the gaps give rise to subsequent levels of support.</a:t>
            </a:r>
          </a:p>
          <a:p>
            <a:pPr algn="l">
              <a:lnSpc>
                <a:spcPct val="105000"/>
              </a:lnSpc>
              <a:spcBef>
                <a:spcPts val="0"/>
              </a:spcBef>
              <a:spcAft>
                <a:spcPts val="1100"/>
              </a:spcAft>
            </a:pPr>
            <a:r>
              <a:rPr sz="1700" b="0" i="0">
                <a:solidFill>
                  <a:srgbClr val="1A1A1A"/>
                </a:solidFill>
                <a:latin typeface="Arial"/>
              </a:rPr>
              <a:t>On a 15 minute chart of GLD, gaps give rise to areas of both support and resistance.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cycle-tuned stochastic helps to corroborate the levels: overbought at resistance, oversold at support.</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Retracements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Both Gann and Dow regarded which retracement percentage as the most significant?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33 percent</a:t>
            </a:r>
          </a:p>
          <a:p>
            <a:pPr algn="l">
              <a:lnSpc>
                <a:spcPct val="112000"/>
              </a:lnSpc>
              <a:spcBef>
                <a:spcPts val="0"/>
              </a:spcBef>
              <a:spcAft>
                <a:spcPts val="900"/>
              </a:spcAft>
            </a:pPr>
            <a:r>
              <a:rPr sz="1500" b="0" i="0">
                <a:solidFill>
                  <a:srgbClr val="FFFFFF"/>
                </a:solidFill>
                <a:latin typeface="Arial"/>
              </a:rPr>
              <a:t>B.  38.2 percent</a:t>
            </a:r>
          </a:p>
          <a:p>
            <a:pPr algn="l">
              <a:lnSpc>
                <a:spcPct val="112000"/>
              </a:lnSpc>
              <a:spcBef>
                <a:spcPts val="0"/>
              </a:spcBef>
              <a:spcAft>
                <a:spcPts val="900"/>
              </a:spcAft>
            </a:pPr>
            <a:r>
              <a:rPr sz="1500" b="0" i="0">
                <a:solidFill>
                  <a:srgbClr val="FFFFFF"/>
                </a:solidFill>
                <a:latin typeface="Arial"/>
              </a:rPr>
              <a:t>C.  50 percent</a:t>
            </a:r>
          </a:p>
          <a:p>
            <a:pPr algn="l">
              <a:lnSpc>
                <a:spcPct val="112000"/>
              </a:lnSpc>
              <a:spcBef>
                <a:spcPts val="0"/>
              </a:spcBef>
              <a:spcAft>
                <a:spcPts val="900"/>
              </a:spcAft>
            </a:pPr>
            <a:r>
              <a:rPr sz="1500" b="0" i="0">
                <a:solidFill>
                  <a:srgbClr val="FFFFFF"/>
                </a:solidFill>
                <a:latin typeface="Arial"/>
              </a:rPr>
              <a:t>D.  61.8 percent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gap created as price leaves a consolidation or chart pattern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Breakaway gap</a:t>
            </a:r>
          </a:p>
          <a:p>
            <a:pPr algn="l">
              <a:lnSpc>
                <a:spcPct val="112000"/>
              </a:lnSpc>
              <a:spcBef>
                <a:spcPts val="0"/>
              </a:spcBef>
              <a:spcAft>
                <a:spcPts val="900"/>
              </a:spcAft>
            </a:pPr>
            <a:r>
              <a:rPr sz="1500" b="0" i="0">
                <a:solidFill>
                  <a:srgbClr val="FFFFFF"/>
                </a:solidFill>
                <a:latin typeface="Arial"/>
              </a:rPr>
              <a:t>B.  Common gap</a:t>
            </a:r>
          </a:p>
          <a:p>
            <a:pPr algn="l">
              <a:lnSpc>
                <a:spcPct val="112000"/>
              </a:lnSpc>
              <a:spcBef>
                <a:spcPts val="0"/>
              </a:spcBef>
              <a:spcAft>
                <a:spcPts val="900"/>
              </a:spcAft>
            </a:pPr>
            <a:r>
              <a:rPr sz="1500" b="0" i="0">
                <a:solidFill>
                  <a:srgbClr val="FFFFFF"/>
                </a:solidFill>
                <a:latin typeface="Arial"/>
              </a:rPr>
              <a:t>C.  Runaway gap</a:t>
            </a:r>
          </a:p>
          <a:p>
            <a:pPr algn="l">
              <a:lnSpc>
                <a:spcPct val="112000"/>
              </a:lnSpc>
              <a:spcBef>
                <a:spcPts val="0"/>
              </a:spcBef>
              <a:spcAft>
                <a:spcPts val="900"/>
              </a:spcAft>
            </a:pPr>
            <a:r>
              <a:rPr sz="1500" b="0" i="0">
                <a:solidFill>
                  <a:srgbClr val="FFFFFF"/>
                </a:solidFill>
                <a:latin typeface="Arial"/>
              </a:rPr>
              <a:t>D.  Exhaustion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8 of 11 - 5.8 Gaps  |  Check 19</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Retracements and gaps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Both Gann and Dow regarded which retracement percentage as the most significant?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50 percent</a:t>
            </a:r>
          </a:p>
          <a:p>
            <a:pPr algn="l">
              <a:lnSpc>
                <a:spcPct val="115000"/>
              </a:lnSpc>
              <a:spcBef>
                <a:spcPts val="700"/>
              </a:spcBef>
              <a:spcAft>
                <a:spcPts val="0"/>
              </a:spcAft>
            </a:pPr>
            <a:r>
              <a:rPr sz="1600" b="0" i="0">
                <a:solidFill>
                  <a:srgbClr val="1A1A1A"/>
                </a:solidFill>
                <a:latin typeface="Arial"/>
              </a:rPr>
              <a:t>Both regarded 50 percent as the most significant, with most major tops and bottoms forming around that level.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gap created as price leaves a consolidation or chart pattern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Breakaway gap</a:t>
            </a:r>
          </a:p>
          <a:p>
            <a:pPr algn="l">
              <a:lnSpc>
                <a:spcPct val="115000"/>
              </a:lnSpc>
              <a:spcBef>
                <a:spcPts val="700"/>
              </a:spcBef>
              <a:spcAft>
                <a:spcPts val="0"/>
              </a:spcAft>
            </a:pPr>
            <a:r>
              <a:rPr sz="1600" b="0" i="0">
                <a:solidFill>
                  <a:srgbClr val="1A1A1A"/>
                </a:solidFill>
                <a:latin typeface="Arial"/>
              </a:rPr>
              <a:t>Common gaps sit within a range, runaway gaps in a strong trend phase, and exhaustion gaps at the end of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Check 19</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5.9  Unidirectional and bidirectional entries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unidirectional entry is a trade taken only in the direction of the existing trend, up or down.</a:t>
            </a:r>
          </a:p>
          <a:p>
            <a:pPr algn="l">
              <a:lnSpc>
                <a:spcPct val="105000"/>
              </a:lnSpc>
              <a:spcBef>
                <a:spcPts val="0"/>
              </a:spcBef>
              <a:spcAft>
                <a:spcPts val="1100"/>
              </a:spcAft>
            </a:pPr>
            <a:r>
              <a:rPr sz="1700" b="0" i="0">
                <a:solidFill>
                  <a:srgbClr val="1A1A1A"/>
                </a:solidFill>
                <a:latin typeface="Arial"/>
              </a:rPr>
              <a:t>A bidirectional entry is a trade taken in either direction, depending on which way the breakout occurs.</a:t>
            </a:r>
          </a:p>
          <a:p>
            <a:pPr algn="l">
              <a:lnSpc>
                <a:spcPct val="105000"/>
              </a:lnSpc>
              <a:spcBef>
                <a:spcPts val="0"/>
              </a:spcBef>
              <a:spcAft>
                <a:spcPts val="1100"/>
              </a:spcAft>
            </a:pPr>
            <a:r>
              <a:rPr sz="1700" b="0" i="0">
                <a:solidFill>
                  <a:srgbClr val="1A1A1A"/>
                </a:solidFill>
                <a:latin typeface="Arial"/>
              </a:rPr>
              <a:t>Take only breakouts with the trend, long in uptrends and short in downtrends, and over the long term you have traded both ways.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Micro-unidirectional entries are equivalent to a macro-bidirectional approach.</a:t>
            </a:r>
          </a:p>
        </p:txBody>
      </p:sp>
      <p:sp>
        <p:nvSpPr>
          <p:cNvPr id="10" name="TextBox 9"/>
          <p:cNvSpPr txBox="1"/>
          <p:nvPr/>
        </p:nvSpPr>
        <p:spPr>
          <a:xfrm>
            <a:off x="777240" y="546125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equivalence is disrupted only if the unidirectional trader does not take every qualified trade.</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5.10  Drummond geometry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Developed by Charles Drummond, it helps keep the trader on the right side of the markets.</a:t>
            </a:r>
          </a:p>
          <a:p>
            <a:pPr algn="l">
              <a:lnSpc>
                <a:spcPct val="105000"/>
              </a:lnSpc>
              <a:spcBef>
                <a:spcPts val="0"/>
              </a:spcBef>
              <a:spcAft>
                <a:spcPts val="1100"/>
              </a:spcAft>
            </a:pPr>
            <a:r>
              <a:rPr sz="1700" b="0" i="0">
                <a:solidFill>
                  <a:srgbClr val="1A1A1A"/>
                </a:solidFill>
                <a:latin typeface="Arial"/>
              </a:rPr>
              <a:t>It consists of a short-term moving average, the PLdot line, and inter-bar trendlines.</a:t>
            </a:r>
          </a:p>
          <a:p>
            <a:pPr algn="l">
              <a:lnSpc>
                <a:spcPct val="105000"/>
              </a:lnSpc>
              <a:spcBef>
                <a:spcPts val="0"/>
              </a:spcBef>
              <a:spcAft>
                <a:spcPts val="1100"/>
              </a:spcAft>
            </a:pPr>
            <a:r>
              <a:rPr sz="1700" b="0" i="0">
                <a:solidFill>
                  <a:srgbClr val="1A1A1A"/>
                </a:solidFill>
                <a:latin typeface="Arial"/>
              </a:rPr>
              <a:t>The PLdot is a simple three-period moving average of typical price. It may be forward shifted by one period.</a:t>
            </a:r>
          </a:p>
          <a:p>
            <a:pPr algn="l">
              <a:lnSpc>
                <a:spcPct val="105000"/>
              </a:lnSpc>
              <a:spcBef>
                <a:spcPts val="0"/>
              </a:spcBef>
              <a:spcAft>
                <a:spcPts val="1100"/>
              </a:spcAft>
            </a:pPr>
            <a:r>
              <a:rPr sz="1700" b="0" i="0">
                <a:solidFill>
                  <a:srgbClr val="1A1A1A"/>
                </a:solidFill>
                <a:latin typeface="Arial"/>
              </a:rPr>
              <a:t>Price above the PLdot: the market is regarded as bullish. Below it: bearish.</a:t>
            </a:r>
          </a:p>
        </p:txBody>
      </p:sp>
      <p:sp>
        <p:nvSpPr>
          <p:cNvPr id="8" name="TextBox 7"/>
          <p:cNvSpPr txBox="1"/>
          <p:nvPr/>
        </p:nvSpPr>
        <p:spPr>
          <a:xfrm>
            <a:off x="777240" y="5273802"/>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Some buy when the PLdot line turns up and sell when it turns down. Inter-bar trendlines joining highs and lows forecast support and resistance.</a:t>
            </a:r>
          </a:p>
        </p:txBody>
      </p:sp>
      <p:sp>
        <p:nvSpPr>
          <p:cNvPr id="9" name="Rectangle 8"/>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5.59 - Lim, The Handbook of Technical Analysis (Wiley, 2016)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Directionality and Drummond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 taken in either direction, depending on which way the breakout occurs, is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Unidirectional entry</a:t>
            </a:r>
          </a:p>
          <a:p>
            <a:pPr algn="l">
              <a:lnSpc>
                <a:spcPct val="112000"/>
              </a:lnSpc>
              <a:spcBef>
                <a:spcPts val="0"/>
              </a:spcBef>
              <a:spcAft>
                <a:spcPts val="900"/>
              </a:spcAft>
            </a:pPr>
            <a:r>
              <a:rPr sz="1500" b="0" i="0">
                <a:solidFill>
                  <a:srgbClr val="FFFFFF"/>
                </a:solidFill>
                <a:latin typeface="Arial"/>
              </a:rPr>
              <a:t>B.  Barrier entry</a:t>
            </a:r>
          </a:p>
          <a:p>
            <a:pPr algn="l">
              <a:lnSpc>
                <a:spcPct val="112000"/>
              </a:lnSpc>
              <a:spcBef>
                <a:spcPts val="0"/>
              </a:spcBef>
              <a:spcAft>
                <a:spcPts val="900"/>
              </a:spcAft>
            </a:pPr>
            <a:r>
              <a:rPr sz="1500" b="0" i="0">
                <a:solidFill>
                  <a:srgbClr val="FFFFFF"/>
                </a:solidFill>
                <a:latin typeface="Arial"/>
              </a:rPr>
              <a:t>C.  Retracement entry</a:t>
            </a:r>
          </a:p>
          <a:p>
            <a:pPr algn="l">
              <a:lnSpc>
                <a:spcPct val="112000"/>
              </a:lnSpc>
              <a:spcBef>
                <a:spcPts val="0"/>
              </a:spcBef>
              <a:spcAft>
                <a:spcPts val="900"/>
              </a:spcAft>
            </a:pPr>
            <a:r>
              <a:rPr sz="1500" b="0" i="0">
                <a:solidFill>
                  <a:srgbClr val="FFFFFF"/>
                </a:solidFill>
                <a:latin typeface="Arial"/>
              </a:rPr>
              <a:t>D.  Bidirectional entry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Drummond geometry, price above the PLdot line means the market is regarded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a:t>
            </a:r>
          </a:p>
          <a:p>
            <a:pPr algn="l">
              <a:lnSpc>
                <a:spcPct val="112000"/>
              </a:lnSpc>
              <a:spcBef>
                <a:spcPts val="0"/>
              </a:spcBef>
              <a:spcAft>
                <a:spcPts val="900"/>
              </a:spcAft>
            </a:pPr>
            <a:r>
              <a:rPr sz="1500" b="0" i="0">
                <a:solidFill>
                  <a:srgbClr val="FFFFFF"/>
                </a:solidFill>
                <a:latin typeface="Arial"/>
              </a:rPr>
              <a:t>B.  Bullish</a:t>
            </a:r>
          </a:p>
          <a:p>
            <a:pPr algn="l">
              <a:lnSpc>
                <a:spcPct val="112000"/>
              </a:lnSpc>
              <a:spcBef>
                <a:spcPts val="0"/>
              </a:spcBef>
              <a:spcAft>
                <a:spcPts val="900"/>
              </a:spcAft>
            </a:pPr>
            <a:r>
              <a:rPr sz="1500" b="0" i="0">
                <a:solidFill>
                  <a:srgbClr val="FFFFFF"/>
                </a:solidFill>
                <a:latin typeface="Arial"/>
              </a:rPr>
              <a:t>C.  Overbought</a:t>
            </a:r>
          </a:p>
          <a:p>
            <a:pPr algn="l">
              <a:lnSpc>
                <a:spcPct val="112000"/>
              </a:lnSpc>
              <a:spcBef>
                <a:spcPts val="0"/>
              </a:spcBef>
              <a:spcAft>
                <a:spcPts val="900"/>
              </a:spcAft>
            </a:pPr>
            <a:r>
              <a:rPr sz="1500" b="0" i="0">
                <a:solidFill>
                  <a:srgbClr val="FFFFFF"/>
                </a:solidFill>
                <a:latin typeface="Arial"/>
              </a:rPr>
              <a:t>D.  In consolidation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10 of 11 - 5.10 Drummond  |  Check 20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Directionality and Drummond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 taken in either direction, depending on which way the breakout occurs,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Bidirectional entry</a:t>
            </a:r>
          </a:p>
          <a:p>
            <a:pPr algn="l">
              <a:lnSpc>
                <a:spcPct val="115000"/>
              </a:lnSpc>
              <a:spcBef>
                <a:spcPts val="700"/>
              </a:spcBef>
              <a:spcAft>
                <a:spcPts val="0"/>
              </a:spcAft>
            </a:pPr>
            <a:r>
              <a:rPr sz="1600" b="0" i="0">
                <a:solidFill>
                  <a:srgbClr val="1A1A1A"/>
                </a:solidFill>
                <a:latin typeface="Arial"/>
              </a:rPr>
              <a:t>A unidirectional entry is taken only in the direction of the existing trend. A bidirectional one goes whichever way the breakout does.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Drummond geometry, price above the PLdot line means the market is regarded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a:t>
            </a:r>
          </a:p>
          <a:p>
            <a:pPr algn="l">
              <a:lnSpc>
                <a:spcPct val="115000"/>
              </a:lnSpc>
              <a:spcBef>
                <a:spcPts val="700"/>
              </a:spcBef>
              <a:spcAft>
                <a:spcPts val="0"/>
              </a:spcAft>
            </a:pPr>
            <a:r>
              <a:rPr sz="1600" b="0" i="0">
                <a:solidFill>
                  <a:srgbClr val="1A1A1A"/>
                </a:solidFill>
                <a:latin typeface="Arial"/>
              </a:rPr>
              <a:t>When price is above the PLdot the market is regarded as bullish, and when it is below,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Check 20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historical support levels.</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z.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overbought signals at tops, oversold signals at bottoms.</a:t>
            </a:r>
          </a:p>
          <a:p>
            <a:pPr algn="l">
              <a:lnSpc>
                <a:spcPct val="118000"/>
              </a:lnSpc>
              <a:spcBef>
                <a:spcPts val="0"/>
              </a:spcBef>
              <a:spcAft>
                <a:spcPts val="1300"/>
              </a:spcAft>
            </a:pPr>
            <a:r>
              <a:rPr sz="2100" b="0" i="0">
                <a:solidFill>
                  <a:srgbClr val="1A1A1A"/>
                </a:solidFill>
                <a:latin typeface="Arial"/>
              </a:rPr>
              <a:t>Bearish divergence with price at market tops, bullish divergence at bottoms.</a:t>
            </a:r>
          </a:p>
          <a:p>
            <a:pPr algn="l">
              <a:lnSpc>
                <a:spcPct val="118000"/>
              </a:lnSpc>
              <a:spcBef>
                <a:spcPts val="0"/>
              </a:spcBef>
              <a:spcAft>
                <a:spcPts val="1300"/>
              </a:spcAft>
            </a:pPr>
            <a:r>
              <a:rPr sz="2100" b="0" i="0">
                <a:solidFill>
                  <a:srgbClr val="1A1A1A"/>
                </a:solidFill>
                <a:latin typeface="Arial"/>
              </a:rPr>
              <a:t>The oscillator crossing below its signal and equilibrium line at tops, above at bottoms.</a:t>
            </a:r>
          </a:p>
          <a:p>
            <a:pPr algn="l">
              <a:lnSpc>
                <a:spcPct val="118000"/>
              </a:lnSpc>
              <a:spcBef>
                <a:spcPts val="0"/>
              </a:spcBef>
              <a:spcAft>
                <a:spcPts val="1300"/>
              </a:spcAft>
            </a:pPr>
            <a:r>
              <a:rPr sz="2100" b="0" i="0">
                <a:solidFill>
                  <a:srgbClr val="1A1A1A"/>
                </a:solidFill>
                <a:latin typeface="Arial"/>
              </a:rPr>
              <a:t>Candlesticks: bearish formations at market tops, bullish formations at bottoms.</a:t>
            </a:r>
          </a:p>
          <a:p>
            <a:pPr algn="l">
              <a:lnSpc>
                <a:spcPct val="118000"/>
              </a:lnSpc>
              <a:spcBef>
                <a:spcPts val="0"/>
              </a:spcBef>
              <a:spcAft>
                <a:spcPts val="1300"/>
              </a:spcAft>
            </a:pPr>
            <a:r>
              <a:rPr sz="2100" b="0" i="0">
                <a:solidFill>
                  <a:srgbClr val="1A1A1A"/>
                </a:solidFill>
                <a:latin typeface="Arial"/>
              </a:rPr>
              <a:t>Intermarket: bearish action in the broad markets leading to a top in the stock, bullish action in highly correlated markets leading to a bottom.</a:t>
            </a:r>
          </a:p>
        </p:txBody>
      </p:sp>
      <p:sp>
        <p:nvSpPr>
          <p:cNvPr id="8" name="TextBox 7"/>
          <p:cNvSpPr txBox="1"/>
          <p:nvPr/>
        </p:nvSpPr>
        <p:spPr>
          <a:xfrm>
            <a:off x="777240" y="53941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calls this section a summary and refers to the relevant chapters for each approach.</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Forecasting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volume behavior tends to accompany a potential market reversal?</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Steady, average volume throughout</a:t>
            </a:r>
          </a:p>
          <a:p>
            <a:pPr algn="l">
              <a:lnSpc>
                <a:spcPct val="112000"/>
              </a:lnSpc>
              <a:spcBef>
                <a:spcPts val="0"/>
              </a:spcBef>
              <a:spcAft>
                <a:spcPts val="900"/>
              </a:spcAft>
            </a:pPr>
            <a:r>
              <a:rPr sz="1500" b="0" i="0">
                <a:solidFill>
                  <a:srgbClr val="FFFFFF"/>
                </a:solidFill>
                <a:latin typeface="Arial"/>
              </a:rPr>
              <a:t>B.  Volume rising in step with the trend</a:t>
            </a:r>
          </a:p>
          <a:p>
            <a:pPr algn="l">
              <a:lnSpc>
                <a:spcPct val="112000"/>
              </a:lnSpc>
              <a:spcBef>
                <a:spcPts val="0"/>
              </a:spcBef>
              <a:spcAft>
                <a:spcPts val="900"/>
              </a:spcAft>
            </a:pPr>
            <a:r>
              <a:rPr sz="1500" b="0" i="0">
                <a:solidFill>
                  <a:srgbClr val="FFFFFF"/>
                </a:solidFill>
                <a:latin typeface="Arial"/>
              </a:rPr>
              <a:t>C.  Diminishing volume, or extreme volume in a climax</a:t>
            </a:r>
          </a:p>
          <a:p>
            <a:pPr algn="l">
              <a:lnSpc>
                <a:spcPct val="112000"/>
              </a:lnSpc>
              <a:spcBef>
                <a:spcPts val="0"/>
              </a:spcBef>
              <a:spcAft>
                <a:spcPts val="900"/>
              </a:spcAft>
            </a:pPr>
            <a:r>
              <a:rPr sz="1500" b="0" i="0">
                <a:solidFill>
                  <a:srgbClr val="FFFFFF"/>
                </a:solidFill>
                <a:latin typeface="Arial"/>
              </a:rPr>
              <a:t>D.  None: volume has no bearing on reversals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Potential market tops tend to form at: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Significant historical resistance levels</a:t>
            </a:r>
          </a:p>
          <a:p>
            <a:pPr algn="l">
              <a:lnSpc>
                <a:spcPct val="112000"/>
              </a:lnSpc>
              <a:spcBef>
                <a:spcPts val="0"/>
              </a:spcBef>
              <a:spcAft>
                <a:spcPts val="900"/>
              </a:spcAft>
            </a:pPr>
            <a:r>
              <a:rPr sz="1500" b="0" i="0">
                <a:solidFill>
                  <a:srgbClr val="FFFFFF"/>
                </a:solidFill>
                <a:latin typeface="Arial"/>
              </a:rPr>
              <a:t>B.  Significant historical support levels</a:t>
            </a:r>
          </a:p>
          <a:p>
            <a:pPr algn="l">
              <a:lnSpc>
                <a:spcPct val="112000"/>
              </a:lnSpc>
              <a:spcBef>
                <a:spcPts val="0"/>
              </a:spcBef>
              <a:spcAft>
                <a:spcPts val="900"/>
              </a:spcAft>
            </a:pPr>
            <a:r>
              <a:rPr sz="1500" b="0" i="0">
                <a:solidFill>
                  <a:srgbClr val="FFFFFF"/>
                </a:solidFill>
                <a:latin typeface="Arial"/>
              </a:rPr>
              <a:t>C.  Cycle troughs</a:t>
            </a:r>
          </a:p>
          <a:p>
            <a:pPr algn="l">
              <a:lnSpc>
                <a:spcPct val="112000"/>
              </a:lnSpc>
              <a:spcBef>
                <a:spcPts val="0"/>
              </a:spcBef>
              <a:spcAft>
                <a:spcPts val="900"/>
              </a:spcAft>
            </a:pPr>
            <a:r>
              <a:rPr sz="1500" b="0" i="0">
                <a:solidFill>
                  <a:srgbClr val="FFFFFF"/>
                </a:solidFill>
                <a:latin typeface="Arial"/>
              </a:rPr>
              <a:t>D.  Oversold oscillator signals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11 of 11 - 5.11 Reversals  |  Check 21</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Forecasting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volume behavior tends to accompany a potential market reversal?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Diminishing volume, or extreme volume in a climax</a:t>
            </a:r>
          </a:p>
          <a:p>
            <a:pPr algn="l">
              <a:lnSpc>
                <a:spcPct val="115000"/>
              </a:lnSpc>
              <a:spcBef>
                <a:spcPts val="700"/>
              </a:spcBef>
              <a:spcAft>
                <a:spcPts val="0"/>
              </a:spcAft>
            </a:pPr>
            <a:r>
              <a:rPr sz="1600" b="0" i="0">
                <a:solidFill>
                  <a:srgbClr val="1A1A1A"/>
                </a:solidFill>
                <a:latin typeface="Arial"/>
              </a:rPr>
              <a:t>Diminishing volume indicates potential weakness in the trend, and buying or selling climaxes are indicative of market tops and bottoms.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Potential market tops tend to form 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Significant historical resistance levels</a:t>
            </a:r>
          </a:p>
          <a:p>
            <a:pPr algn="l">
              <a:lnSpc>
                <a:spcPct val="115000"/>
              </a:lnSpc>
              <a:spcBef>
                <a:spcPts val="700"/>
              </a:spcBef>
              <a:spcAft>
                <a:spcPts val="0"/>
              </a:spcAft>
            </a:pPr>
            <a:r>
              <a:rPr sz="1600" b="0" i="0">
                <a:solidFill>
                  <a:srgbClr val="1A1A1A"/>
                </a:solidFill>
                <a:latin typeface="Arial"/>
              </a:rPr>
              <a:t>Tops tend to form at significant historical resistance levels, and bottoms at significant historical support levels.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Check 21</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Retracements, gaps and the signs in 5.11 warn that a trend may reverse.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Explain the advantages of proportional sizing, and of price-based filters.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All eight of the book's questions, on six lines. Question 4 says 12 ways; section 5.2 lists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and not taught here: typical price, the cycle-tuned stochastic, MACD, candlestick patterns.</a:t>
            </a:r>
          </a:p>
          <a:p>
            <a:pPr algn="l">
              <a:lnSpc>
                <a:spcPct val="118000"/>
              </a:lnSpc>
              <a:spcBef>
                <a:spcPts val="0"/>
              </a:spcBef>
              <a:spcAft>
                <a:spcPts val="1300"/>
              </a:spcAft>
            </a:pPr>
            <a:r>
              <a:rPr sz="2100" b="0" i="0">
                <a:solidFill>
                  <a:srgbClr val="1A1A1A"/>
                </a:solidFill>
                <a:latin typeface="Arial"/>
              </a:rPr>
              <a:t>Sent ahead: divergence, Chapter 9. Channels, Chapter 13. Elliott, Chapter 18. Tradesizing, Chapter 28.</a:t>
            </a:r>
          </a:p>
          <a:p>
            <a:pPr algn="l">
              <a:lnSpc>
                <a:spcPct val="118000"/>
              </a:lnSpc>
              <a:spcBef>
                <a:spcPts val="0"/>
              </a:spcBef>
              <a:spcAft>
                <a:spcPts val="1300"/>
              </a:spcAft>
            </a:pPr>
            <a:r>
              <a:rPr sz="2100" b="0" i="0">
                <a:solidFill>
                  <a:srgbClr val="1A1A1A"/>
                </a:solidFill>
                <a:latin typeface="Arial"/>
              </a:rPr>
              <a:t>Sixteen characteristics in 5.2, twelve in review question 4. Four entry modes announced, five listed.</a:t>
            </a:r>
          </a:p>
          <a:p>
            <a:pPr algn="l">
              <a:lnSpc>
                <a:spcPct val="118000"/>
              </a:lnSpc>
              <a:spcBef>
                <a:spcPts val="0"/>
              </a:spcBef>
              <a:spcAft>
                <a:spcPts val="1300"/>
              </a:spcAft>
            </a:pPr>
            <a:r>
              <a:rPr sz="2100" b="0" i="0">
                <a:solidFill>
                  <a:srgbClr val="1A1A1A"/>
                </a:solidFill>
                <a:latin typeface="Arial"/>
              </a:rPr>
              <a:t>Figure 5.24: $3.30 a day in the text, $3.80 on the figure.</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