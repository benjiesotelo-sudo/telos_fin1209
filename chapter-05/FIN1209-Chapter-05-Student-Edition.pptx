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its seven learning objectives, on six 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or a sketch.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sections are the book's own, pp.125 to 170.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Primary, or major, trends are longer term: months to years.</a:t>
            </a:r>
          </a:p>
          <a:p>
            <a:pPr algn="l">
              <a:lnSpc>
                <a:spcPct val="105000"/>
              </a:lnSpc>
              <a:spcBef>
                <a:spcPts val="0"/>
              </a:spcBef>
              <a:spcAft>
                <a:spcPts val="1100"/>
              </a:spcAft>
            </a:pPr>
            <a:r>
              <a:rPr sz="1700" b="0" i="0">
                <a:solidFill>
                  <a:srgbClr val="1A1A1A"/>
                </a:solidFill>
                <a:latin typeface="Arial"/>
              </a:rPr>
              <a:t>Secondary trends, or reactions, are medium term: weeks to months.</a:t>
            </a:r>
          </a:p>
          <a:p>
            <a:pPr algn="l">
              <a:lnSpc>
                <a:spcPct val="105000"/>
              </a:lnSpc>
              <a:spcBef>
                <a:spcPts val="0"/>
              </a:spcBef>
              <a:spcAft>
                <a:spcPts val="1100"/>
              </a:spcAft>
            </a:pPr>
            <a:r>
              <a:rPr sz="1700" b="0" i="0">
                <a:solidFill>
                  <a:srgbClr val="1A1A1A"/>
                </a:solidFill>
                <a:latin typeface="Arial"/>
              </a:rPr>
              <a:t>Minor trends are shorter term: days to weeks.</a:t>
            </a:r>
          </a:p>
        </p:txBody>
      </p:sp>
      <p:sp>
        <p:nvSpPr>
          <p:cNvPr id="8" name="Rectangle 7"/>
          <p:cNvSpPr/>
          <p:nvPr/>
        </p:nvSpPr>
        <p:spPr>
          <a:xfrm>
            <a:off x="777240" y="402107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5765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Dow sorts the three by duration and extent: how long a trend lasts, and how far it runs.</a:t>
            </a:r>
          </a:p>
        </p:txBody>
      </p:sp>
      <p:sp>
        <p:nvSpPr>
          <p:cNvPr id="10" name="TextBox 9"/>
          <p:cNvSpPr txBox="1"/>
          <p:nvPr/>
        </p:nvSpPr>
        <p:spPr>
          <a:xfrm>
            <a:off x="777240" y="519150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2 taught all three, with one extent: a secondary reaction retraces a third to two thirds. Here the book lists durations only.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'classified and defined by their duration and extent'. The chart is ours, on invented prices: this chapter has no figure of the three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a series of successively higher highs, the peaks, and higher lows, the troughs.</a:t>
            </a:r>
          </a:p>
          <a:p>
            <a:pPr algn="l">
              <a:lnSpc>
                <a:spcPct val="105000"/>
              </a:lnSpc>
              <a:spcBef>
                <a:spcPts val="0"/>
              </a:spcBef>
              <a:spcAft>
                <a:spcPts val="1100"/>
              </a:spcAft>
            </a:pPr>
            <a:r>
              <a:rPr sz="1700" b="0" i="0">
                <a:solidFill>
                  <a:srgbClr val="1A1A1A"/>
                </a:solidFill>
                <a:latin typeface="Arial"/>
              </a:rPr>
              <a:t>HH: a rally carries above the last peak. HL: a dip holds above the last trough.</a:t>
            </a:r>
          </a:p>
          <a:p>
            <a:pPr algn="l">
              <a:lnSpc>
                <a:spcPct val="105000"/>
              </a:lnSpc>
              <a:spcBef>
                <a:spcPts val="0"/>
              </a:spcBef>
              <a:spcAft>
                <a:spcPts val="1100"/>
              </a:spcAft>
            </a:pPr>
            <a:r>
              <a:rPr sz="1700" b="0" i="0">
                <a:solidFill>
                  <a:srgbClr val="1A1A1A"/>
                </a:solidFill>
                <a:latin typeface="Arial"/>
              </a:rPr>
              <a:t>Right of the figure: the highs and lows stop rising. By the definition, the uptrend has technically ended.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definition as Chapter 2: Dow's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5.1. The pesos in the small print are our example.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21</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downtrend is represented by a series of successively lower highs and lows. The figure starts from a first peak, H, and a first trough, L.</a:t>
            </a:r>
          </a:p>
          <a:p>
            <a:pPr algn="l">
              <a:lnSpc>
                <a:spcPct val="105000"/>
              </a:lnSpc>
              <a:spcBef>
                <a:spcPts val="0"/>
              </a:spcBef>
              <a:spcAft>
                <a:spcPts val="1100"/>
              </a:spcAft>
            </a:pPr>
            <a:r>
              <a:rPr sz="1900" b="0" i="0">
                <a:solidFill>
                  <a:srgbClr val="1A1A1A"/>
                </a:solidFill>
                <a:latin typeface="Arial"/>
              </a:rPr>
              <a:t>Each rally stops below the last peak: a lower high, LH.</a:t>
            </a:r>
          </a:p>
          <a:p>
            <a:pPr algn="l">
              <a:lnSpc>
                <a:spcPct val="105000"/>
              </a:lnSpc>
              <a:spcBef>
                <a:spcPts val="0"/>
              </a:spcBef>
              <a:spcAft>
                <a:spcPts val="1100"/>
              </a:spcAft>
            </a:pPr>
            <a:r>
              <a:rPr sz="1900" b="0" i="0">
                <a:solidFill>
                  <a:srgbClr val="1A1A1A"/>
                </a:solidFill>
                <a:latin typeface="Arial"/>
              </a:rPr>
              <a:t>Each decline carries below the last trough: a lower low, LL.</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59253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one high, H, and one low, L, then runs to B: no second peak or trough to compare. Scenario 4 never turns.</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many practitioners prefer an absolute measure: the distance traversed, not how price behaved on the way.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pp.126-127 and Figure 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price stays above an overlay indicator: here a trendline. A moving average is another.</a:t>
            </a:r>
          </a:p>
          <a:p>
            <a:pPr algn="l">
              <a:lnSpc>
                <a:spcPct val="105000"/>
              </a:lnSpc>
              <a:spcBef>
                <a:spcPts val="0"/>
              </a:spcBef>
              <a:spcAft>
                <a:spcPts val="1100"/>
              </a:spcAft>
            </a:pPr>
            <a:r>
              <a:rPr sz="1700" b="0" i="0">
                <a:solidFill>
                  <a:srgbClr val="1A1A1A"/>
                </a:solidFill>
                <a:latin typeface="Arial"/>
              </a:rPr>
              <a:t>Middle: price stays above an arbitrarily chosen price level.</a:t>
            </a:r>
          </a:p>
          <a:p>
            <a:pPr algn="l">
              <a:lnSpc>
                <a:spcPct val="105000"/>
              </a:lnSpc>
              <a:spcBef>
                <a:spcPts val="0"/>
              </a:spcBef>
              <a:spcAft>
                <a:spcPts val="1100"/>
              </a:spcAft>
            </a:pPr>
            <a:r>
              <a:rPr sz="1700" b="0" i="0">
                <a:solidFill>
                  <a:srgbClr val="1A1A1A"/>
                </a:solidFill>
                <a:latin typeface="Arial"/>
              </a:rPr>
              <a:t>Right: no reversal of a specified amount. Each grey box is one such amount, as on a Point and Figure or Renko chart.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While the condition holds, the trend is still intact.</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 a downtrend, below. Trendlines: 5.6. Moving averages, met in Chapter 4: Chapter 11. Point and Figure, Renko: Chapter 3.</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pp.127-128 and Figure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wave degree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swings up and back down. A run of swings of one size is a wave: the book's wave cycle.</a:t>
            </a:r>
          </a:p>
          <a:p>
            <a:pPr algn="l">
              <a:lnSpc>
                <a:spcPct val="105000"/>
              </a:lnSpc>
              <a:spcBef>
                <a:spcPts val="0"/>
              </a:spcBef>
              <a:spcAft>
                <a:spcPts val="1100"/>
              </a:spcAft>
            </a:pPr>
            <a:r>
              <a:rPr sz="1700" b="0" i="0">
                <a:solidFill>
                  <a:srgbClr val="1A1A1A"/>
                </a:solidFill>
                <a:latin typeface="Arial"/>
              </a:rPr>
              <a:t>Small swings ride inside bigger ones. The smaller wave is a subwave of the bigger.</a:t>
            </a:r>
          </a:p>
          <a:p>
            <a:pPr algn="l">
              <a:lnSpc>
                <a:spcPct val="105000"/>
              </a:lnSpc>
              <a:spcBef>
                <a:spcPts val="0"/>
              </a:spcBef>
              <a:spcAft>
                <a:spcPts val="1100"/>
              </a:spcAft>
            </a:pPr>
            <a:r>
              <a:rPr sz="1700" b="0" i="0">
                <a:solidFill>
                  <a:srgbClr val="1A1A1A"/>
                </a:solidFill>
                <a:latin typeface="Arial"/>
              </a:rPr>
              <a:t>Degree is the rank of a wave by size: the bigger wave is of a higher degree, its subwaves of a lower one.</a:t>
            </a:r>
          </a:p>
          <a:p>
            <a:pPr algn="l">
              <a:lnSpc>
                <a:spcPct val="105000"/>
              </a:lnSpc>
              <a:spcBef>
                <a:spcPts val="0"/>
              </a:spcBef>
              <a:spcAft>
                <a:spcPts val="1100"/>
              </a:spcAft>
            </a:pPr>
            <a:r>
              <a:rPr sz="1700" b="0" i="0">
                <a:solidFill>
                  <a:srgbClr val="1A1A1A"/>
                </a:solidFill>
                <a:latin typeface="Arial"/>
              </a:rPr>
              <a:t>The book: any trend or consolidation can be described in wave cycles, at various wave degrees.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3 and 4 said wave cycle and cycle degree in passing. The book defines neither; this reading is from its figures.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b.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p.128 says wave cycle, wave degree and subwave and defines none of them. The reading and the chart are ours, from its Figures 5.5 to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wave degrees on one chart, named by size against each other.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 Three degrees here; the minimum in any trend is two.</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pp.128-129 and Figure 5.5. It gives the minimum of two degrees as a note, with no reason.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price, built from three waves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5.5 is a sketch with no prices. To see wave cycles on price bars, we built a price.</a:t>
            </a:r>
          </a:p>
          <a:p>
            <a:pPr algn="l">
              <a:lnSpc>
                <a:spcPct val="105000"/>
              </a:lnSpc>
              <a:spcBef>
                <a:spcPts val="0"/>
              </a:spcBef>
              <a:spcAft>
                <a:spcPts val="1100"/>
              </a:spcAft>
            </a:pPr>
            <a:r>
              <a:rPr sz="1700" b="0" i="0">
                <a:solidFill>
                  <a:srgbClr val="1A1A1A"/>
                </a:solidFill>
                <a:latin typeface="Arial"/>
              </a:rPr>
              <a:t>Rows 1 to 3: a big, a medium and a small wave. Gold arrows measure one swing of each, up and back down.</a:t>
            </a:r>
          </a:p>
          <a:p>
            <a:pPr algn="l">
              <a:lnSpc>
                <a:spcPct val="105000"/>
              </a:lnSpc>
              <a:spcBef>
                <a:spcPts val="0"/>
              </a:spcBef>
              <a:spcAft>
                <a:spcPts val="1100"/>
              </a:spcAft>
            </a:pPr>
            <a:r>
              <a:rPr sz="1700" b="0" i="0">
                <a:solidFill>
                  <a:srgbClr val="1A1A1A"/>
                </a:solidFill>
                <a:latin typeface="Arial"/>
              </a:rPr>
              <a:t>Row 4: at every bar the three are added, around PHP 60, plus a small wobble: the price.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sizes are ours. A real chart carries none.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these sizes: so that three medium swings fit in the big one, and four small swings in each medium one.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to put the book's Figure 5.5 (p.129) on a price chart. Every number here is one we chose; none is the book's or a market's.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three cycles are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price bars.</a:t>
            </a:r>
          </a:p>
          <a:p>
            <a:pPr algn="l">
              <a:lnSpc>
                <a:spcPct val="105000"/>
              </a:lnSpc>
              <a:spcBef>
                <a:spcPts val="0"/>
              </a:spcBef>
              <a:spcAft>
                <a:spcPts val="1100"/>
              </a:spcAft>
            </a:pPr>
            <a:r>
              <a:rPr sz="1700" b="0" i="0">
                <a:solidFill>
                  <a:srgbClr val="1A1A1A"/>
                </a:solidFill>
                <a:latin typeface="Arial"/>
              </a:rPr>
              <a:t>MWC: the dotted line, the big wave plus the medium, through the middle of the zigzags.</a:t>
            </a:r>
          </a:p>
          <a:p>
            <a:pPr algn="l">
              <a:lnSpc>
                <a:spcPct val="105000"/>
              </a:lnSpc>
              <a:spcBef>
                <a:spcPts val="0"/>
              </a:spcBef>
              <a:spcAft>
                <a:spcPts val="1100"/>
              </a:spcAft>
            </a:pPr>
            <a:r>
              <a:rPr sz="1700" b="0" i="0">
                <a:solidFill>
                  <a:srgbClr val="1A1A1A"/>
                </a:solidFill>
                <a:latin typeface="Arial"/>
              </a:rPr>
              <a:t>HWC: the thick line, the big wave alone, through the middle of the dotted line's swings.</a:t>
            </a:r>
          </a:p>
          <a:p>
            <a:pPr algn="l">
              <a:lnSpc>
                <a:spcPct val="105000"/>
              </a:lnSpc>
              <a:spcBef>
                <a:spcPts val="0"/>
              </a:spcBef>
              <a:spcAft>
                <a:spcPts val="1100"/>
              </a:spcAft>
            </a:pPr>
            <a:r>
              <a:rPr sz="1700" b="0" i="0">
                <a:solidFill>
                  <a:srgbClr val="1A1A1A"/>
                </a:solidFill>
                <a:latin typeface="Arial"/>
              </a:rPr>
              <a:t>The book gives no rule for placing either line. We can place ours because we built the price.</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look like moving averages. The book does not say they are.</a:t>
            </a:r>
          </a:p>
        </p:txBody>
      </p:sp>
      <p:sp>
        <p:nvSpPr>
          <p:cNvPr id="10" name="TextBox 9"/>
          <p:cNvSpPr txBox="1"/>
          <p:nvPr/>
        </p:nvSpPr>
        <p:spPr>
          <a:xfrm>
            <a:off x="777240" y="562584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Moving averages: met in Chapter 4, taught in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d.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book's (pp.128-129, Figure 5.5): thin, dotted and thick lines, and no formula, indicator or number of bars. Ours: the bars, and where both lines sit.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Telling the three cycles apart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ruler counts the swings of one wave cycle, low to low.</a:t>
            </a:r>
          </a:p>
          <a:p>
            <a:pPr algn="l">
              <a:lnSpc>
                <a:spcPct val="105000"/>
              </a:lnSpc>
              <a:spcBef>
                <a:spcPts val="0"/>
              </a:spcBef>
              <a:spcAft>
                <a:spcPts val="1100"/>
              </a:spcAft>
            </a:pPr>
            <a:r>
              <a:rPr sz="1700" b="0" i="0">
                <a:solidFill>
                  <a:srgbClr val="1A1A1A"/>
                </a:solidFill>
                <a:latin typeface="Arial"/>
              </a:rPr>
              <a:t>Four LWC swings fit inside each MWC swing, and three MWC swings inside the HWC swing. That is what subwave means.</a:t>
            </a:r>
          </a:p>
          <a:p>
            <a:pPr algn="l">
              <a:lnSpc>
                <a:spcPct val="105000"/>
              </a:lnSpc>
              <a:spcBef>
                <a:spcPts val="0"/>
              </a:spcBef>
              <a:spcAft>
                <a:spcPts val="1100"/>
              </a:spcAft>
            </a:pPr>
            <a:r>
              <a:rPr sz="1700" b="0" i="0">
                <a:solidFill>
                  <a:srgbClr val="1A1A1A"/>
                </a:solidFill>
                <a:latin typeface="Arial"/>
              </a:rPr>
              <a:t>A real chart gives no sizes and the book fixes none. So compare: the smallest swings in view are the LWC, the swings they ride on the MWC, the biggest the HWC.</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degree is a rank, never a fixed size.</a:t>
            </a:r>
          </a:p>
        </p:txBody>
      </p:sp>
      <p:sp>
        <p:nvSpPr>
          <p:cNvPr id="10" name="TextBox 9"/>
          <p:cNvSpPr txBox="1"/>
          <p:nvPr/>
        </p:nvSpPr>
        <p:spPr>
          <a:xfrm>
            <a:off x="777240" y="57310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Four and three are this chart's numbers, not a rule.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e.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 the book's pp.128-129, which fix no size, duration or timeframe for a wave cycle. The counts are of our invented chart.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which wave cycle is traded,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 or apply effective stopsizing;</a:t>
            </a:r>
          </a:p>
          <a:p>
            <a:pPr algn="l">
              <a:lnSpc>
                <a:spcPct val="105000"/>
              </a:lnSpc>
              <a:spcBef>
                <a:spcPts val="0"/>
              </a:spcBef>
              <a:spcAft>
                <a:spcPts val="1100"/>
              </a:spcAft>
            </a:pPr>
            <a:r>
              <a:rPr sz="1700" b="0" i="0">
                <a:solidFill>
                  <a:srgbClr val="1A1A1A"/>
                </a:solidFill>
                <a:latin typeface="Arial"/>
              </a:rPr>
              <a:t>tell trend from consolidation mode, or find the direction of the predominant trend.</a:t>
            </a:r>
          </a:p>
          <a:p>
            <a:pPr algn="l">
              <a:lnSpc>
                <a:spcPct val="105000"/>
              </a:lnSpc>
              <a:spcBef>
                <a:spcPts val="0"/>
              </a:spcBef>
              <a:spcAft>
                <a:spcPts val="1100"/>
              </a:spcAft>
            </a:pPr>
            <a:r>
              <a:rPr sz="1700" b="0" i="0">
                <a:solidFill>
                  <a:srgbClr val="1A1A1A"/>
                </a:solidFill>
                <a:latin typeface="Arial"/>
              </a:rPr>
              <a:t>The figure labels one rise three ways: [1] on the HWC, 1 to 3 on the MWC, i to v and a to c on the LWC.</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labels, question marks included, are Elliott's, Chapter 18: not needed here. Stoploss, a stop loss order: 5.4. Stopsizing: 5.5.</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p.129 and Figure 5.6. The book lists the five with no reasons; p.130 explains modes and breakout levels, which follow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4: a market is either trending or consolidating.</a:t>
            </a:r>
          </a:p>
          <a:p>
            <a:pPr algn="l">
              <a:lnSpc>
                <a:spcPct val="105000"/>
              </a:lnSpc>
              <a:spcBef>
                <a:spcPts val="0"/>
              </a:spcBef>
              <a:spcAft>
                <a:spcPts val="1100"/>
              </a:spcAft>
            </a:pPr>
            <a:r>
              <a:rPr sz="1700" b="0" i="0">
                <a:solidFill>
                  <a:srgbClr val="1A1A1A"/>
                </a:solidFill>
                <a:latin typeface="Arial"/>
              </a:rPr>
              <a:t>Chapter 5 adds: it may be both at once, depending on the wave cycle being observed.</a:t>
            </a:r>
          </a:p>
          <a:p>
            <a:pPr algn="l">
              <a:lnSpc>
                <a:spcPct val="105000"/>
              </a:lnSpc>
              <a:spcBef>
                <a:spcPts val="0"/>
              </a:spcBef>
              <a:spcAft>
                <a:spcPts val="1100"/>
              </a:spcAft>
            </a:pPr>
            <a:r>
              <a:rPr sz="1700" b="0" i="0">
                <a:solidFill>
                  <a:srgbClr val="1A1A1A"/>
                </a:solidFill>
                <a:latin typeface="Arial"/>
              </a:rPr>
              <a:t>Figure: the LWC climbs swing after swing, then falls: trend mode. The MWC swings across one level: ranging. The HWC is flat: flatline.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Ask at which wave degree before asking whether it is trending.</a:t>
            </a:r>
          </a:p>
        </p:txBody>
      </p:sp>
      <p:sp>
        <p:nvSpPr>
          <p:cNvPr id="10" name="TextBox 9"/>
          <p:cNvSpPr txBox="1"/>
          <p:nvPr/>
        </p:nvSpPr>
        <p:spPr>
          <a:xfrm>
            <a:off x="777240" y="5461254"/>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Ranging and flatline are the figure's words; the text says only trend and consolidation mode. Both are consolidation.</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5.7. The Chapter 4 line is this course's Chapter 4 deck.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market, three modes, on price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bars: swing after swing they climb, then fall. Trend mode, up and then down.</a:t>
            </a:r>
          </a:p>
          <a:p>
            <a:pPr algn="l">
              <a:lnSpc>
                <a:spcPct val="105000"/>
              </a:lnSpc>
              <a:spcBef>
                <a:spcPts val="0"/>
              </a:spcBef>
              <a:spcAft>
                <a:spcPts val="1100"/>
              </a:spcAft>
            </a:pPr>
            <a:r>
              <a:rPr sz="1700" b="0" i="0">
                <a:solidFill>
                  <a:srgbClr val="1A1A1A"/>
                </a:solidFill>
                <a:latin typeface="Arial"/>
              </a:rPr>
              <a:t>The dotted MWC swings between about PHP 54 and PHP 66 and gets nowhere: ranging mode.</a:t>
            </a:r>
          </a:p>
          <a:p>
            <a:pPr algn="l">
              <a:lnSpc>
                <a:spcPct val="105000"/>
              </a:lnSpc>
              <a:spcBef>
                <a:spcPts val="0"/>
              </a:spcBef>
              <a:spcAft>
                <a:spcPts val="1100"/>
              </a:spcAft>
            </a:pPr>
            <a:r>
              <a:rPr sz="1700" b="0" i="0">
                <a:solidFill>
                  <a:srgbClr val="1A1A1A"/>
                </a:solidFill>
                <a:latin typeface="Arial"/>
              </a:rPr>
              <a:t>The thick HWC stays at PHP 60: flatline mode.</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chart. Whether it is trending depends on which wave is read.</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three modes are the book's. The bars and the pesos are our invented chart.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5.7 (p.130) on price bars. Built from a flat line at PHP 60, a 32 bar wave PHP 12 tall and an 8 bar wave PHP 4 tall, so each mode shows.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 as Chapters 2 and 4 used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a line, a narrow sideways range, usually results in a strong breakout.</a:t>
            </a:r>
          </a:p>
          <a:p>
            <a:pPr algn="l">
              <a:lnSpc>
                <a:spcPct val="105000"/>
              </a:lnSpc>
              <a:spcBef>
                <a:spcPts val="0"/>
              </a:spcBef>
              <a:spcAft>
                <a:spcPts val="1100"/>
              </a:spcAft>
            </a:pPr>
            <a:r>
              <a:rPr sz="1700" b="0" i="0">
                <a:solidFill>
                  <a:srgbClr val="1A1A1A"/>
                </a:solidFill>
                <a:latin typeface="Arial"/>
              </a:rPr>
              <a:t>Chapter 4: most call a consolidation over on a clear breakout from the range. The trend phase follows.</a:t>
            </a:r>
          </a:p>
          <a:p>
            <a:pPr algn="l">
              <a:lnSpc>
                <a:spcPct val="105000"/>
              </a:lnSpc>
              <a:spcBef>
                <a:spcPts val="0"/>
              </a:spcBef>
              <a:spcAft>
                <a:spcPts val="1100"/>
              </a:spcAft>
            </a:pPr>
            <a:r>
              <a:rPr sz="1700" b="0" i="0">
                <a:solidFill>
                  <a:srgbClr val="1A1A1A"/>
                </a:solidFill>
                <a:latin typeface="Arial"/>
              </a:rPr>
              <a:t>In both, price leaves a sideways range through its top or its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breakout taught so far: price getting out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Earlier chapters also said breakout, in passing, of a pattern, a neckline and a level. None defined it.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2 and 4. The chart is Chapter 4's own example, a range from PHP 40 to PHP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a breakout is through 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edge of a range is one kind of level. Chapter 5 uses breakout of every kind:</a:t>
            </a:r>
          </a:p>
          <a:p>
            <a:pPr algn="l">
              <a:lnSpc>
                <a:spcPct val="105000"/>
              </a:lnSpc>
              <a:spcBef>
                <a:spcPts val="0"/>
              </a:spcBef>
              <a:spcAft>
                <a:spcPts val="1100"/>
              </a:spcAft>
            </a:pPr>
            <a:r>
              <a:rPr sz="1700" b="0" i="0">
                <a:solidFill>
                  <a:srgbClr val="1A1A1A"/>
                </a:solidFill>
                <a:latin typeface="Arial"/>
              </a:rPr>
              <a:t>a prior peak or trough, a trendline, a channel line, any overlay such as a moving average.</a:t>
            </a:r>
          </a:p>
          <a:p>
            <a:pPr algn="l">
              <a:lnSpc>
                <a:spcPct val="105000"/>
              </a:lnSpc>
              <a:spcBef>
                <a:spcPts val="0"/>
              </a:spcBef>
              <a:spcAft>
                <a:spcPts val="1100"/>
              </a:spcAft>
            </a:pPr>
            <a:r>
              <a:rPr sz="1700" b="0" i="0">
                <a:solidFill>
                  <a:srgbClr val="1A1A1A"/>
                </a:solidFill>
                <a:latin typeface="Arial"/>
              </a:rPr>
              <a:t>Each time, a level holds price and then price gets through it. A level may slope, as a trendline does.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word for all of them: the level need not be the edge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never defines breakout. Chapter 2 called price going through a previous peak or trough a penetration.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reading of how the book uses the word: pp.130, 143, 148, 158 to 161. It defines breakout nowhere.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16 of 21</a:t>
            </a:r>
          </a:p>
        </p:txBody>
      </p:sp>
      <p:sp>
        <p:nvSpPr>
          <p:cNvPr id="7" name="TextBox 6"/>
          <p:cNvSpPr txBox="1"/>
          <p:nvPr/>
        </p:nvSpPr>
        <p:spPr>
          <a:xfrm>
            <a:off x="777240" y="1965960"/>
            <a:ext cx="53949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wave degree: the level depends on the degree traded.</a:t>
            </a:r>
          </a:p>
          <a:p>
            <a:pPr algn="l">
              <a:lnSpc>
                <a:spcPct val="105000"/>
              </a:lnSpc>
              <a:spcBef>
                <a:spcPts val="0"/>
              </a:spcBef>
              <a:spcAft>
                <a:spcPts val="1100"/>
              </a:spcAft>
            </a:pPr>
            <a:r>
              <a:rPr sz="1700" b="0" i="0">
                <a:solidFill>
                  <a:srgbClr val="1A1A1A"/>
                </a:solidFill>
                <a:latin typeface="Arial"/>
              </a:rPr>
              <a:t>Each B/OUT LEVEL in the figure sits on a prior peak: five peaks, five levels.</a:t>
            </a:r>
          </a:p>
          <a:p>
            <a:pPr algn="l">
              <a:lnSpc>
                <a:spcPct val="105000"/>
              </a:lnSpc>
              <a:spcBef>
                <a:spcPts val="0"/>
              </a:spcBef>
              <a:spcAft>
                <a:spcPts val="1100"/>
              </a:spcAft>
            </a:pPr>
            <a:r>
              <a:rPr sz="1700" b="0" i="0">
                <a:solidFill>
                  <a:srgbClr val="1A1A1A"/>
                </a:solidFill>
                <a:latin typeface="Arial"/>
              </a:rPr>
              <a:t>Knowing the degree, a trader can size the stoploss to its average wave amplitude and volatility.</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023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TextBox 9"/>
          <p:cNvSpPr txBox="1"/>
          <p:nvPr/>
        </p:nvSpPr>
        <p:spPr>
          <a:xfrm>
            <a:off x="777240" y="5461254"/>
            <a:ext cx="53949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 words: a stop sized for the thin line's zigzags is too small for the thick line's one swing. Amplitude: 5.2. Stop sizing: 5.5.</a:t>
            </a:r>
          </a:p>
        </p:txBody>
      </p:sp>
      <p:sp>
        <p:nvSpPr>
          <p:cNvPr id="11" name="Rectangle 10"/>
          <p:cNvSpPr/>
          <p:nvPr/>
        </p:nvSpPr>
        <p:spPr>
          <a:xfrm>
            <a:off x="6492240" y="1810512"/>
            <a:ext cx="49222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92240" y="1810512"/>
            <a:ext cx="49222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03720" y="2267712"/>
            <a:ext cx="40992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5.8. The gold line is the only reason the book gives for sizing the stoploss by degree.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price passes three breakout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dashed gold line is a breakout level: the highest price at a prior peak.</a:t>
            </a:r>
          </a:p>
          <a:p>
            <a:pPr algn="l">
              <a:lnSpc>
                <a:spcPct val="105000"/>
              </a:lnSpc>
              <a:spcBef>
                <a:spcPts val="0"/>
              </a:spcBef>
              <a:spcAft>
                <a:spcPts val="1100"/>
              </a:spcAft>
            </a:pPr>
            <a:r>
              <a:rPr sz="1700" b="0" i="0">
                <a:solidFill>
                  <a:srgbClr val="1A1A1A"/>
                </a:solidFill>
                <a:latin typeface="Arial"/>
              </a:rPr>
              <a:t>1  LWC breakout: past a small peak, about PHP 57.</a:t>
            </a:r>
          </a:p>
          <a:p>
            <a:pPr algn="l">
              <a:lnSpc>
                <a:spcPct val="105000"/>
              </a:lnSpc>
              <a:spcBef>
                <a:spcPts val="0"/>
              </a:spcBef>
              <a:spcAft>
                <a:spcPts val="1100"/>
              </a:spcAft>
            </a:pPr>
            <a:r>
              <a:rPr sz="1700" b="0" i="0">
                <a:solidFill>
                  <a:srgbClr val="1A1A1A"/>
                </a:solidFill>
                <a:latin typeface="Arial"/>
              </a:rPr>
              <a:t>2  MWC breakout: past a peak of the dotted line, about PHP 64.</a:t>
            </a:r>
          </a:p>
          <a:p>
            <a:pPr algn="l">
              <a:lnSpc>
                <a:spcPct val="105000"/>
              </a:lnSpc>
              <a:spcBef>
                <a:spcPts val="0"/>
              </a:spcBef>
              <a:spcAft>
                <a:spcPts val="1100"/>
              </a:spcAft>
            </a:pPr>
            <a:r>
              <a:rPr sz="1700" b="0" i="0">
                <a:solidFill>
                  <a:srgbClr val="1A1A1A"/>
                </a:solidFill>
                <a:latin typeface="Arial"/>
              </a:rPr>
              <a:t>3  HWC breakout: past the top of the whole move, about PHP 76.</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price, three breakouts: one for each wave degree.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5.8 (p.130) on price bars. Each level is the highest bar at a peak, where price was, not the height of the smooth 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18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5.9 on p.131. The book states this as a rule and gives no reason for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degrees turn alone. The highest does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the way up the LWC turns down again and again, and the rise goes on.</a:t>
            </a:r>
          </a:p>
          <a:p>
            <a:pPr algn="l">
              <a:lnSpc>
                <a:spcPct val="105000"/>
              </a:lnSpc>
              <a:spcBef>
                <a:spcPts val="0"/>
              </a:spcBef>
              <a:spcAft>
                <a:spcPts val="1100"/>
              </a:spcAft>
            </a:pPr>
            <a:r>
              <a:rPr sz="1800" b="0" i="0">
                <a:solidFill>
                  <a:srgbClr val="1A1A1A"/>
                </a:solidFill>
                <a:latin typeface="Arial"/>
              </a:rPr>
              <a:t>The MWC turns down as well, with the LWC, and the HWC still rises.</a:t>
            </a:r>
          </a:p>
          <a:p>
            <a:pPr algn="l">
              <a:lnSpc>
                <a:spcPct val="105000"/>
              </a:lnSpc>
              <a:spcBef>
                <a:spcPts val="0"/>
              </a:spcBef>
              <a:spcAft>
                <a:spcPts val="1100"/>
              </a:spcAft>
            </a:pPr>
            <a:r>
              <a:rPr sz="1800" b="0" i="0">
                <a:solidFill>
                  <a:srgbClr val="1A1A1A"/>
                </a:solidFill>
                <a:latin typeface="Arial"/>
              </a:rPr>
              <a:t>At the top the HWC turns down, and the MWC and the LWC turn with it.</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turn of the largest wave is a turn of every wave: the significant one.</a:t>
            </a:r>
          </a:p>
        </p:txBody>
      </p:sp>
      <p:sp>
        <p:nvSpPr>
          <p:cNvPr id="10" name="TextBox 9"/>
          <p:cNvSpPr txBox="1"/>
          <p:nvPr/>
        </p:nvSpPr>
        <p:spPr>
          <a:xfrm>
            <a:off x="777240" y="531571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Our waves are set to peak on one bar. Chapter 3's convergence, futures meeting spot, was a different thing.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5.9 (pp.130-131) on price bars. The three invented waves are set to peak on one bar, so the one turn shows.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20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50 dips to PHP 49: 2 percent of its price.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p.131. It puts no number on 'a few percent' and does not say percent of what; our example measures against the price. The chart is ours.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may also be defined on individual open, high, low and close data.</a:t>
            </a:r>
          </a:p>
          <a:p>
            <a:pPr algn="l">
              <a:lnSpc>
                <a:spcPct val="105000"/>
              </a:lnSpc>
              <a:spcBef>
                <a:spcPts val="0"/>
              </a:spcBef>
              <a:spcAft>
                <a:spcPts val="1100"/>
              </a:spcAft>
            </a:pPr>
            <a:r>
              <a:rPr sz="1700" b="0" i="0">
                <a:solidFill>
                  <a:srgbClr val="1A1A1A"/>
                </a:solidFill>
                <a:latin typeface="Arial"/>
              </a:rPr>
              <a:t>Top row: the same bars are an uptrend in their highs and a downtrend in their lows.</a:t>
            </a:r>
          </a:p>
          <a:p>
            <a:pPr algn="l">
              <a:lnSpc>
                <a:spcPct val="105000"/>
              </a:lnSpc>
              <a:spcBef>
                <a:spcPts val="0"/>
              </a:spcBef>
              <a:spcAft>
                <a:spcPts val="1100"/>
              </a:spcAft>
            </a:pPr>
            <a:r>
              <a:rPr sz="1700" b="0" i="0">
                <a:solidFill>
                  <a:srgbClr val="1A1A1A"/>
                </a:solidFill>
                <a:latin typeface="Arial"/>
              </a:rPr>
              <a:t>Middle: the bars' highs and lows stay level, yet the closes rise bar after bar. An uptrend in the closes: Chapter 3's line chart.</a:t>
            </a:r>
          </a:p>
          <a:p>
            <a:pPr algn="l">
              <a:lnSpc>
                <a:spcPct val="105000"/>
              </a:lnSpc>
              <a:spcBef>
                <a:spcPts val="0"/>
              </a:spcBef>
              <a:spcAft>
                <a:spcPts val="1100"/>
              </a:spcAft>
            </a:pPr>
            <a:r>
              <a:rPr sz="1700" b="0" i="0">
                <a:solidFill>
                  <a:srgbClr val="1A1A1A"/>
                </a:solidFill>
                <a:latin typeface="Arial"/>
              </a:rPr>
              <a:t>Bottom: the mark at the middle of each bar stays level. By that mark, no trend.</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that mark the mid or typical price. The book defines neither here, nor the pivot point moving average, the CCI or Floor Trader's Pivot Points.</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pp.131-132 and Figure 5.10.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Average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Frequency and depth of oscillations.</a:t>
            </a:r>
          </a:p>
          <a:p>
            <a:pPr algn="l">
              <a:lnSpc>
                <a:spcPct val="118000"/>
              </a:lnSpc>
              <a:spcBef>
                <a:spcPts val="0"/>
              </a:spcBef>
              <a:spcAft>
                <a:spcPts val="1300"/>
              </a:spcAft>
            </a:pPr>
            <a:r>
              <a:rPr sz="2100" b="0" i="0">
                <a:solidFill>
                  <a:srgbClr val="1A1A1A"/>
                </a:solidFill>
                <a:latin typeface="Arial"/>
              </a:rPr>
              <a:t>11 Size and duration of a consolidation.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Each is taught in this order on the slides that follow. Variations in these may impact future price activity. The book calls reading pure price action the highest skill any trader can aspire to.</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For most of the sixteen the book states what a change signals and gives no reason. Where it gives one, the slide gives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height of each leg of a swing, as the figure marks it.</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Rallies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and Figure 5.11. It gives no reason why a shrinking amplitude means weakness. The pesos are our example.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700" b="0" i="0">
                <a:solidFill>
                  <a:srgbClr val="1A1A1A"/>
                </a:solidFill>
                <a:latin typeface="Arial"/>
              </a:rPr>
              <a:t>Expanding formations, with both boundary lines pointing upward, are generally bullish in an uptrend; the converse in a downtrend.</a:t>
            </a:r>
          </a:p>
          <a:p>
            <a:pPr algn="l">
              <a:lnSpc>
                <a:spcPct val="105000"/>
              </a:lnSpc>
              <a:spcBef>
                <a:spcPts val="0"/>
              </a:spcBef>
              <a:spcAft>
                <a:spcPts val="1100"/>
              </a:spcAft>
            </a:pPr>
            <a:r>
              <a:rPr sz="1700" b="0" i="0">
                <a:solidFill>
                  <a:srgbClr val="1A1A1A"/>
                </a:solidFill>
                <a:latin typeface="Arial"/>
              </a:rPr>
              <a:t>Steady, consistent amplitude is bullish in an uptrend and bearish in a downtrend.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9194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steady trend is regarded as the most reliable in extent and duration.</a:t>
            </a:r>
          </a:p>
        </p:txBody>
      </p:sp>
      <p:sp>
        <p:nvSpPr>
          <p:cNvPr id="10" name="TextBox 9"/>
          <p:cNvSpPr txBox="1"/>
          <p:nvPr/>
        </p:nvSpPr>
        <p:spPr>
          <a:xfrm>
            <a:off x="777240" y="5461254"/>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labels even Neutral / Bullish and expanding Bullish / Volatile; the book does not reconcile them.</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5.12. The book states these readings and gives no reason for them.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5.13. It gives no reason. The bar counts 30, 20 and 12 are our example.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 at A.</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and Figure 5.14: the bar counts 28, 30, 26 and 14 are printed on the figure. It gives no reason.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28</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The average height of the bars, low to high.</a:t>
            </a:r>
          </a:p>
        </p:txBody>
      </p:sp>
      <p:sp>
        <p:nvSpPr>
          <p:cNvPr id="10" name="Rectangle 9"/>
          <p:cNvSpPr/>
          <p:nvPr/>
        </p:nvSpPr>
        <p:spPr>
          <a:xfrm>
            <a:off x="777240" y="299008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Daily ranges average PHP 3.00 one month, 2.40 the next, 1.80 the next: a decreasing average bar range.</a:t>
            </a:r>
          </a:p>
        </p:txBody>
      </p:sp>
      <p:sp>
        <p:nvSpPr>
          <p:cNvPr id="12" name="Rectangle 11"/>
          <p:cNvSpPr/>
          <p:nvPr/>
        </p:nvSpPr>
        <p:spPr>
          <a:xfrm>
            <a:off x="777240" y="399592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50207"/>
            <a:ext cx="594360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A decrease in the average bar range is an early indication of potential weakness in an uptrend, and a bullish indication in a downtrend. The bar range can be tracked using the average true range, ATR.</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Figure 5.15, whose lower panel is the ATR: next slide. Its text fixes no number of bars to average; its real charts print ATR(14) unexplained. Pesos ours.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ATR: a bar range that counts the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bar's true range is the greater of its own range and the distance from the last close to its high or low.</a:t>
            </a:r>
          </a:p>
          <a:p>
            <a:pPr algn="l">
              <a:lnSpc>
                <a:spcPct val="105000"/>
              </a:lnSpc>
              <a:spcBef>
                <a:spcPts val="0"/>
              </a:spcBef>
              <a:spcAft>
                <a:spcPts val="1100"/>
              </a:spcAft>
            </a:pPr>
            <a:r>
              <a:rPr sz="1700" b="0" i="0">
                <a:solidFill>
                  <a:srgbClr val="1A1A1A"/>
                </a:solidFill>
                <a:latin typeface="Arial"/>
              </a:rPr>
              <a:t>On Chapter 3's two bars: bar range 2.50, true range 6.00.</a:t>
            </a:r>
          </a:p>
          <a:p>
            <a:pPr algn="l">
              <a:lnSpc>
                <a:spcPct val="105000"/>
              </a:lnSpc>
              <a:spcBef>
                <a:spcPts val="0"/>
              </a:spcBef>
              <a:spcAft>
                <a:spcPts val="1100"/>
              </a:spcAft>
            </a:pPr>
            <a:r>
              <a:rPr sz="1700" b="0" i="0">
                <a:solidFill>
                  <a:srgbClr val="1A1A1A"/>
                </a:solidFill>
                <a:latin typeface="Arial"/>
              </a:rPr>
              <a:t>The ATR is the average of the true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Unlike average bar range, the ATR accounts for gaps between the bars as well.</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3 met it with the Type 4 gap. The book calls the ATR an oscillator: that, and how it is averaged, is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l.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the sentence set in gold on the left is its own, and counting gaps its only reason. The recall is this course's Chapter 3 deck, slide 48. The chart is ours.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the figure's strong uptrend, while the ATR in the bottom panel declines.</a:t>
            </a:r>
          </a:p>
          <a:p>
            <a:pPr algn="l">
              <a:lnSpc>
                <a:spcPct val="105000"/>
              </a:lnSpc>
              <a:spcBef>
                <a:spcPts val="0"/>
              </a:spcBef>
              <a:spcAft>
                <a:spcPts val="1100"/>
              </a:spcAft>
            </a:pPr>
            <a:r>
              <a:rPr sz="2000" b="0" i="0">
                <a:solidFill>
                  <a:srgbClr val="1A1A1A"/>
                </a:solidFill>
                <a:latin typeface="Arial"/>
              </a:rPr>
              <a:t>Volume, the bars under the price, rises: bullish. But the ATR is indicating otherwise.</a:t>
            </a:r>
          </a:p>
        </p:txBody>
      </p:sp>
      <p:sp>
        <p:nvSpPr>
          <p:cNvPr id="8" name="Rectangle 7"/>
          <p:cNvSpPr/>
          <p:nvPr/>
        </p:nvSpPr>
        <p:spPr>
          <a:xfrm>
            <a:off x="777240" y="4096511"/>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TextBox 9"/>
          <p:cNvSpPr txBox="1"/>
          <p:nvPr/>
        </p:nvSpPr>
        <p:spPr>
          <a:xfrm>
            <a:off x="777240" y="4764023"/>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climax: the book's phrase, undefined here; the burst of volume near the top. It adds that a large bearish candlestick, circled at the top, completes the picture: too small to see here, and not needed. The ATR's turn up at the end goes without comment.</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pp.134-135 and Figure 5.16.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trend persists for longer when price is of high quality: relatively small, and approximately equal, bar ranges.</a:t>
            </a:r>
          </a:p>
          <a:p>
            <a:pPr algn="l">
              <a:lnSpc>
                <a:spcPct val="105000"/>
              </a:lnSpc>
              <a:spcBef>
                <a:spcPts val="0"/>
              </a:spcBef>
              <a:spcAft>
                <a:spcPts val="1100"/>
              </a:spcAft>
            </a:pPr>
            <a:r>
              <a:rPr sz="1800" b="0" i="0">
                <a:solidFill>
                  <a:srgbClr val="1A1A1A"/>
                </a:solidFill>
                <a:latin typeface="Arial"/>
              </a:rPr>
              <a:t>Price then moves predictably. Trends and reversals are clear and decisive, and volatility is relatively low.</a:t>
            </a:r>
          </a:p>
          <a:p>
            <a:pPr algn="l">
              <a:lnSpc>
                <a:spcPct val="105000"/>
              </a:lnSpc>
              <a:spcBef>
                <a:spcPts val="0"/>
              </a:spcBef>
              <a:spcAft>
                <a:spcPts val="1100"/>
              </a:spcAft>
            </a:pPr>
            <a:r>
              <a:rPr sz="1800" b="0" i="0">
                <a:solidFill>
                  <a:srgbClr val="1A1A1A"/>
                </a:solidFill>
                <a:latin typeface="Arial"/>
              </a:rPr>
              <a:t>Left box: long, clean moves, greater persistence. Right box: short, choppy moves, lesser persistence.</a:t>
            </a:r>
          </a:p>
        </p:txBody>
      </p:sp>
      <p:sp>
        <p:nvSpPr>
          <p:cNvPr id="8" name="TextBox 7"/>
          <p:cNvSpPr txBox="1"/>
          <p:nvPr/>
        </p:nvSpPr>
        <p:spPr>
          <a:xfrm>
            <a:off x="777240" y="52532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Persistence, Chapter 1: price behavior persists. Low volatility here: small bars, not small moves, in our reading. The bars are too small to see: the next slide draws them.</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pp.135-136, Figure 5.17: hourly GBPJPY. The book does not say what low volatility is measured by, or name the curved bands.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lower quality price, on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high quality: every bar's range is relatively small, and about equal to the last.</a:t>
            </a:r>
          </a:p>
          <a:p>
            <a:pPr algn="l">
              <a:lnSpc>
                <a:spcPct val="105000"/>
              </a:lnSpc>
              <a:spcBef>
                <a:spcPts val="0"/>
              </a:spcBef>
              <a:spcAft>
                <a:spcPts val="1100"/>
              </a:spcAft>
            </a:pPr>
            <a:r>
              <a:rPr sz="1700" b="0" i="0">
                <a:solidFill>
                  <a:srgbClr val="1A1A1A"/>
                </a:solidFill>
                <a:latin typeface="Arial"/>
              </a:rPr>
              <a:t>Price moves predictably: a clean trend up, and a clear, decisive reversal.</a:t>
            </a:r>
          </a:p>
          <a:p>
            <a:pPr algn="l">
              <a:lnSpc>
                <a:spcPct val="105000"/>
              </a:lnSpc>
              <a:spcBef>
                <a:spcPts val="0"/>
              </a:spcBef>
              <a:spcAft>
                <a:spcPts val="1100"/>
              </a:spcAft>
            </a:pPr>
            <a:r>
              <a:rPr sz="1700" b="0" i="0">
                <a:solidFill>
                  <a:srgbClr val="1A1A1A"/>
                </a:solidFill>
                <a:latin typeface="Arial"/>
              </a:rPr>
              <a:t>Right, lower quality: bar ranges uneven, small then large. Moves are short and choppy, and hard to track.</a:t>
            </a:r>
          </a:p>
        </p:txBody>
      </p:sp>
      <p:sp>
        <p:nvSpPr>
          <p:cNvPr id="8" name="Rectangle 7"/>
          <p:cNvSpPr/>
          <p:nvPr/>
        </p:nvSpPr>
        <p:spPr>
          <a:xfrm>
            <a:off x="777240" y="456514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Small, equal bars: the trend persists.</a:t>
            </a:r>
          </a:p>
        </p:txBody>
      </p:sp>
      <p:sp>
        <p:nvSpPr>
          <p:cNvPr id="10" name="TextBox 9"/>
          <p:cNvSpPr txBox="1"/>
          <p:nvPr/>
        </p:nvSpPr>
        <p:spPr>
          <a:xfrm>
            <a:off x="777240" y="518693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Characteristic 4 watched the bar range shrink. This one asks whether the bars are small and alike. The book does not relate the two.</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two tests for high quality price (p.135) on invented bars, because the bars of its Figure 5.17 cannot be seen. It gives no reason for either test.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Where a bar closed inside its own range: near the top, the middle or the bottom.</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relative position of the closing price within the bar itself, measured as a ratio: (C - L) / (H - L). The book calls it essentially a one-period %K, and does not explain %K here.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the formula is printed on its Figure 5.18 (p.136). The pesos and the chart are ours, picked to give 0.80, 0.50 and 0.20.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2000" b="0" i="0">
                <a:solidFill>
                  <a:srgbClr val="1A1A1A"/>
                </a:solidFill>
                <a:latin typeface="Arial"/>
              </a:rPr>
              <a:t>In a downtrend, a gradual increase is an early indication of potential bullishness.</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3766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the figure the bars climb while each close sits lower within its bar.</a:t>
            </a:r>
          </a:p>
        </p:txBody>
      </p:sp>
      <p:sp>
        <p:nvSpPr>
          <p:cNvPr id="10" name="TextBox 9"/>
          <p:cNvSpPr txBox="1"/>
          <p:nvPr/>
        </p:nvSpPr>
        <p:spPr>
          <a:xfrm>
            <a:off x="777240" y="508406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Average: the ratio is watched through a moving average of it, on the next slide.</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and Figure 5.18 on p.136. It gives no reason for the sign.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ratio, averaged,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ratio is monitored with a simple moving average, SMA. Lower panel: a 3-period SMA, the average of the last three bars' ratios.</a:t>
            </a:r>
          </a:p>
          <a:p>
            <a:pPr algn="l">
              <a:lnSpc>
                <a:spcPct val="105000"/>
              </a:lnSpc>
              <a:spcBef>
                <a:spcPts val="0"/>
              </a:spcBef>
              <a:spcAft>
                <a:spcPts val="1100"/>
              </a:spcAft>
            </a:pPr>
            <a:r>
              <a:rPr sz="1700" b="0" i="0">
                <a:solidFill>
                  <a:srgbClr val="1A1A1A"/>
                </a:solidFill>
                <a:latin typeface="Arial"/>
              </a:rPr>
              <a:t>The book: it accurately identifies bearish divergences in uptrends and bullish ones in downtrends, which the figure labels.</a:t>
            </a:r>
          </a:p>
          <a:p>
            <a:pPr algn="l">
              <a:lnSpc>
                <a:spcPct val="105000"/>
              </a:lnSpc>
              <a:spcBef>
                <a:spcPts val="0"/>
              </a:spcBef>
              <a:spcAft>
                <a:spcPts val="1100"/>
              </a:spcAft>
            </a:pPr>
            <a:r>
              <a:rPr sz="1700" b="0" i="0">
                <a:solidFill>
                  <a:srgbClr val="1A1A1A"/>
                </a:solidFill>
                <a:latin typeface="Arial"/>
              </a:rPr>
              <a:t>The panel cannot be read at this size. The next slide draws one bearish divergence.</a:t>
            </a:r>
          </a:p>
        </p:txBody>
      </p:sp>
      <p:sp>
        <p:nvSpPr>
          <p:cNvPr id="8" name="TextBox 7"/>
          <p:cNvSpPr txBox="1"/>
          <p:nvPr/>
        </p:nvSpPr>
        <p:spPr>
          <a:xfrm>
            <a:off x="777240" y="4837176"/>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Weekly EURUSD. Moving averages: Chapter 11. Divergence, bullish and bearish: Chapter 9.</a:t>
            </a:r>
          </a:p>
        </p:txBody>
      </p:sp>
      <p:sp>
        <p:nvSpPr>
          <p:cNvPr id="9" name="Rectangle 8"/>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pp.136-137 and Figure 5.19. It does not say why the average is of three periods.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bearish divergence,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price makes a peak, pulls back, then makes a higher peak.</a:t>
            </a:r>
          </a:p>
          <a:p>
            <a:pPr algn="l">
              <a:lnSpc>
                <a:spcPct val="105000"/>
              </a:lnSpc>
              <a:spcBef>
                <a:spcPts val="0"/>
              </a:spcBef>
              <a:spcAft>
                <a:spcPts val="1100"/>
              </a:spcAft>
            </a:pPr>
            <a:r>
              <a:rPr sz="1700" b="0" i="0">
                <a:solidFill>
                  <a:srgbClr val="1A1A1A"/>
                </a:solidFill>
                <a:latin typeface="Arial"/>
              </a:rPr>
              <a:t>Bottom: the three-bar average of the bar stochastic. Its second peak is lower.</a:t>
            </a:r>
          </a:p>
          <a:p>
            <a:pPr algn="l">
              <a:lnSpc>
                <a:spcPct val="105000"/>
              </a:lnSpc>
              <a:spcBef>
                <a:spcPts val="0"/>
              </a:spcBef>
              <a:spcAft>
                <a:spcPts val="1100"/>
              </a:spcAft>
            </a:pPr>
            <a:r>
              <a:rPr sz="1700" b="0" i="0">
                <a:solidFill>
                  <a:srgbClr val="1A1A1A"/>
                </a:solidFill>
                <a:latin typeface="Arial"/>
              </a:rPr>
              <a:t>Price higher, ratio lower: bearish divergence. In the second rally each bar closed lower in its range.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Closes sinking within their bars while price still rises.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showed the same shape on the MACD. Bullish divergence, at bottoms, is left to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of Figure 5.19's bearish divergences (book p.136) on invented bars. Divergence as Chapter 4 showed it; the book explains it in Chapter 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42, close 48, low 40 and high 50, in pesos: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p.136; the formula is printed on Figure 5.20 (p.137). It gives no reason, and does not say how to treat a falling candle, where C - O is negative. The pesos are ours.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or falling at a steady angle.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every long line rises at one angle, consistent angular symmetry. Dotted lines 1 and 2 are parallel to each other: a strong predictor of bullishness.</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pp.137-138, Fig. 5.21. Its reason: line 1 was followed by a steady rise. Point 3: where it expects a minor correction first. Momentum is never explained.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800" b="0" i="0">
                <a:solidFill>
                  <a:srgbClr val="1A1A1A"/>
                </a:solidFill>
                <a:latin typeface="Arial"/>
              </a:rPr>
              <a:t>Downside acceleration is bearish. Downside deceleration is bullish.</a:t>
            </a:r>
          </a:p>
          <a:p>
            <a:pPr algn="l">
              <a:lnSpc>
                <a:spcPct val="105000"/>
              </a:lnSpc>
              <a:spcBef>
                <a:spcPts val="0"/>
              </a:spcBef>
              <a:spcAft>
                <a:spcPts val="1100"/>
              </a:spcAft>
            </a:pPr>
            <a:r>
              <a:rPr sz="1800" b="0" i="0">
                <a:solidFill>
                  <a:srgbClr val="1A1A1A"/>
                </a:solidFill>
                <a:latin typeface="Arial"/>
              </a:rPr>
              <a:t>Upside and downside acceleration is normally parabolic in nature.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uptrend may not be self-sustaining if its rate of ascent was excessive.</a:t>
            </a:r>
          </a:p>
        </p:txBody>
      </p:sp>
      <p:sp>
        <p:nvSpPr>
          <p:cNvPr id="10" name="TextBox 9"/>
          <p:cNvSpPr txBox="1"/>
          <p:nvPr/>
        </p:nvSpPr>
        <p:spPr>
          <a:xfrm>
            <a:off x="777240" y="5315712"/>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Chapter 4; downside acceleration may end in a selling climax. The book gives no measure of excessive.</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p.138 and Figure 5.22.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pp.138-139 and Figure 5.23.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rate: dollars risen per day along a leg. Gold's is consistent, leg after leg.</a:t>
            </a:r>
          </a:p>
          <a:p>
            <a:pPr algn="l">
              <a:lnSpc>
                <a:spcPct val="105000"/>
              </a:lnSpc>
              <a:spcBef>
                <a:spcPts val="0"/>
              </a:spcBef>
              <a:spcAft>
                <a:spcPts val="1100"/>
              </a:spcAft>
            </a:pPr>
            <a:r>
              <a:rPr sz="1700" b="0" i="0">
                <a:solidFill>
                  <a:srgbClr val="1A1A1A"/>
                </a:solidFill>
                <a:latin typeface="Arial"/>
              </a:rPr>
              <a:t>Once the rate changes, the market enters a new regime: greater volatility,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old rate is about $3.30 a day in the book's text, $3.80 on its figure. $10.30 is 2.7 times $3.80, a rise of about 170 percent; the figure prints 'approx. 270% increase'.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p.139 and Figure 5.24. The dollar rates are the book's, and it does not show how they were measured.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is to a strong price barrier: a support below or a resistance above. The nearer, the likelier a turn.</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at strong support, a line across an earlier low, with the oscillator below at its low: oversold.</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5.25 -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pp.139-140, Figure 5.25. No measure of strong is given. What support and resistance are, and why they hold: 5.6. The cycle-tuned stochastic, oversold: Chapter 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An uptrend is more reliable with a reasonable number of oscillations, its dips and rallies: fairly frequent, not too shallow or too deep.</a:t>
            </a:r>
          </a:p>
          <a:p>
            <a:pPr algn="l">
              <a:lnSpc>
                <a:spcPct val="105000"/>
              </a:lnSpc>
              <a:spcBef>
                <a:spcPts val="0"/>
              </a:spcBef>
              <a:spcAft>
                <a:spcPts val="1100"/>
              </a:spcAft>
            </a:pPr>
            <a:r>
              <a:rPr sz="1800" b="0" i="0">
                <a:solidFill>
                  <a:srgbClr val="1A1A1A"/>
                </a:solidFill>
                <a:latin typeface="Arial"/>
              </a:rPr>
              <a:t>That indicates healthy profit taking. With little profit taken, more unrealized profit is at risk, and traders exit rapidly at the slightest hint of bearishness.</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Few oscillations: a trend potentially more bearish at higher prices.</a:t>
            </a:r>
          </a:p>
        </p:txBody>
      </p:sp>
      <p:sp>
        <p:nvSpPr>
          <p:cNvPr id="10" name="TextBox 9"/>
          <p:cNvSpPr txBox="1"/>
          <p:nvPr/>
        </p:nvSpPr>
        <p:spPr>
          <a:xfrm>
            <a:off x="777240" y="543915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the healthy trend's oscillations deep. The book does not say how deep is too deep.</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pp.140-141 and Figure 5.26. The reason on the slide, profit taking, is the book's.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 the two parallel dotted lines (5.6).</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 which the figure labels bearish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and Figure 5.27.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Chapter 4's consolidation, is more significant the greater its magnitude, a taller chart pattern, and the longer it takes, a wider one.</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Form: which pattern. 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The chart is ours, on invented prices: the book has no figure for this point.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gap 3 of its uptrend, and bottoms after gap 3 of the downtrend that follows. The oscillator in the lower panel is at its high, overbought, at the top, and at its low, oversold, at the bottom.</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pp.141-142 and Figure 5.28. It gives no reason why the third, and does not say which gaps to count; the figure numbers the three that 5.8 names.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25 of 28</a:t>
            </a:r>
          </a:p>
        </p:txBody>
      </p:sp>
      <p:sp>
        <p:nvSpPr>
          <p:cNvPr id="8" name="Rectangle 7"/>
          <p:cNvSpPr/>
          <p:nvPr/>
        </p:nvSpPr>
        <p:spPr>
          <a:xfrm>
            <a:off x="777240" y="2258568"/>
            <a:ext cx="64008" cy="4297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394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The usual range of price in one period.</a:t>
            </a:r>
          </a:p>
        </p:txBody>
      </p:sp>
      <p:sp>
        <p:nvSpPr>
          <p:cNvPr id="10" name="Rectangle 9"/>
          <p:cNvSpPr/>
          <p:nvPr/>
        </p:nvSpPr>
        <p:spPr>
          <a:xfrm>
            <a:off x="777240" y="29443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986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A foreign exchange (FOREX) pair averages 120 pips a day, a pip being the smallest price step a forex quote moves in. Price beyond that, either way, before the day completes: potential exhaustion.</a:t>
            </a:r>
          </a:p>
        </p:txBody>
      </p:sp>
      <p:sp>
        <p:nvSpPr>
          <p:cNvPr id="12" name="Rectangle 11"/>
          <p:cNvSpPr/>
          <p:nvPr/>
        </p:nvSpPr>
        <p:spPr>
          <a:xfrm>
            <a:off x="777240" y="4315968"/>
            <a:ext cx="64008" cy="13441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394960" cy="14538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of the most reliable characteristics of price activity. The average is found with the ATR. A higher mark, the 2 standard deviation value of bar range (twice how far ranges typically spread from that average): ninety percent of period ranges stay below it.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p.142: 120 pips and ninety percent are its numbers. A breach of the higher mark is a greater overextension.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26 of 28</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or below a downtrending one,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TextBox 9"/>
          <p:cNvSpPr txBox="1"/>
          <p:nvPr/>
        </p:nvSpPr>
        <p:spPr>
          <a:xfrm>
            <a:off x="777240" y="529666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is the heading's overlay barrier: a line drawn over price (5.6). False breakout, in the figure: price pokes through and comes straight back.</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pp.142-143 and Figure 5.29. It gives no reason for either reading, and does not say how short is short term.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Close near the high: bullish. Near the low: very bearish.</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the squat bar: inhibiting, and a much stronger reversal sign.</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the chart is ours. The heading says spread, the text says bar range: not Chapter 3's bid-ask spread. The squat bar's reason is on the chart.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28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Standard divergence, price and volume or price and any oscillator, may signal a potential reversal or continuation.</a:t>
            </a:r>
          </a:p>
          <a:p>
            <a:pPr algn="l">
              <a:lnSpc>
                <a:spcPct val="105000"/>
              </a:lnSpc>
              <a:spcBef>
                <a:spcPts val="0"/>
              </a:spcBef>
              <a:spcAft>
                <a:spcPts val="1100"/>
              </a:spcAft>
            </a:pPr>
            <a:r>
              <a:rPr sz="1700" b="0" i="0">
                <a:solidFill>
                  <a:srgbClr val="1A1A1A"/>
                </a:solidFill>
                <a:latin typeface="Arial"/>
              </a:rPr>
              <a:t>As Chapter 4 showed: price makes a higher peak while the MACD makes a lower one. Recalled on the right, characteristic 6's own example.</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names a second kind, reverse divergence, but gives it no sentence of its own here.</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Reverse divergence, and how either kind signals a continuation, are left to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one sentence, then Chapter 9. MACD: Chapter 4. Chart recalls Chart O, a few slides back.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Price-based filters indicate the exact price of entry, but not when.</a:t>
            </a:r>
          </a:p>
          <a:p>
            <a:pPr algn="l">
              <a:lnSpc>
                <a:spcPct val="105000"/>
              </a:lnSpc>
              <a:spcBef>
                <a:spcPts val="0"/>
              </a:spcBef>
              <a:spcAft>
                <a:spcPts val="1100"/>
              </a:spcAft>
            </a:pPr>
            <a:r>
              <a:rPr sz="1600" b="0" i="0">
                <a:solidFill>
                  <a:srgbClr val="1A1A1A"/>
                </a:solidFill>
                <a:latin typeface="Arial"/>
              </a:rPr>
              <a:t>Time-based filters indicate the exact time of entry, but not the price.</a:t>
            </a:r>
          </a:p>
          <a:p>
            <a:pPr algn="l">
              <a:lnSpc>
                <a:spcPct val="105000"/>
              </a:lnSpc>
              <a:spcBef>
                <a:spcPts val="0"/>
              </a:spcBef>
              <a:spcAft>
                <a:spcPts val="1100"/>
              </a:spcAft>
            </a:pPr>
            <a:r>
              <a:rPr sz="1600" b="0" i="0">
                <a:solidFill>
                  <a:srgbClr val="1A1A1A"/>
                </a:solidFill>
                <a:latin typeface="Arial"/>
              </a:rPr>
              <a:t>Event-based filters indicate neither, until an event has occurred.</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filters validate breakouts. Unfiltered, they cannot be backtested, run against past prices to see how they would have performed, the book says.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t.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p.144; backtest glossed in the caption, ours. The chart is ours: the book's own figure lists the filters and does not show the three entries.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Price-based. Absolute: a fixed price excursion. Relative: a percentage of the breakout price. Volatility: multiples of ATR or of standard deviation, how far a bar's range typically varies.</a:t>
            </a:r>
          </a:p>
          <a:p>
            <a:pPr algn="l">
              <a:lnSpc>
                <a:spcPct val="105000"/>
              </a:lnSpc>
              <a:spcBef>
                <a:spcPts val="0"/>
              </a:spcBef>
              <a:spcAft>
                <a:spcPts val="1100"/>
              </a:spcAft>
            </a:pPr>
            <a:r>
              <a:rPr sz="1500" b="0" i="0">
                <a:solidFill>
                  <a:srgbClr val="1A1A1A"/>
                </a:solidFill>
                <a:latin typeface="Arial"/>
              </a:rPr>
              <a:t>Time-based: a duration of N closed bars, N being however many the trader chooses.</a:t>
            </a:r>
          </a:p>
          <a:p>
            <a:pPr algn="l">
              <a:lnSpc>
                <a:spcPct val="105000"/>
              </a:lnSpc>
              <a:spcBef>
                <a:spcPts val="0"/>
              </a:spcBef>
              <a:spcAft>
                <a:spcPts val="1100"/>
              </a:spcAft>
            </a:pPr>
            <a:r>
              <a:rPr sz="1500" b="0" i="0">
                <a:solidFill>
                  <a:srgbClr val="1A1A1A"/>
                </a:solidFill>
                <a:latin typeface="Arial"/>
              </a:rPr>
              <a:t>Event-based. Algorithmic: a specific sequence of closed bars, several in a row closing the same way, or of new highs or lows. Event-based measure: a closing violation, or a retest, price returning to touch a broken level.</a:t>
            </a:r>
          </a:p>
        </p:txBody>
      </p:sp>
      <p:sp>
        <p:nvSpPr>
          <p:cNvPr id="8" name="TextBox 7"/>
          <p:cNvSpPr txBox="1"/>
          <p:nvPr/>
        </p:nvSpPr>
        <p:spPr>
          <a:xfrm>
            <a:off x="777240" y="530123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How far past the line, the ?, before the break counts? Chapter 1 calls the third family algorithmic; here it is a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Figure 5.30. N, a sequence, a retest and standard deviation are glossed in one line each; the book gives no number for any of them.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Stage one: a closing violation triggers entry. But price may close too far beyond the entry level.</a:t>
            </a:r>
          </a:p>
          <a:p>
            <a:pPr algn="l">
              <a:lnSpc>
                <a:spcPct val="105000"/>
              </a:lnSpc>
              <a:spcBef>
                <a:spcPts val="0"/>
              </a:spcBef>
              <a:spcAft>
                <a:spcPts val="1100"/>
              </a:spcAft>
            </a:pPr>
            <a:r>
              <a:rPr sz="1800" b="0" i="0">
                <a:solidFill>
                  <a:srgbClr val="1A1A1A"/>
                </a:solidFill>
                <a:latin typeface="Arial"/>
              </a:rPr>
              <a:t>Stage two: a price-based filter limits entry to within a set distance: a maximum here, where Chapter 1's was a minimum.</a:t>
            </a:r>
          </a:p>
          <a:p>
            <a:pPr algn="l">
              <a:lnSpc>
                <a:spcPct val="105000"/>
              </a:lnSpc>
              <a:spcBef>
                <a:spcPts val="0"/>
              </a:spcBef>
              <a:spcAft>
                <a:spcPts val="1100"/>
              </a:spcAft>
            </a:pPr>
            <a:r>
              <a:rPr sz="1800" b="0" i="0">
                <a:solidFill>
                  <a:srgbClr val="1A1A1A"/>
                </a:solidFill>
                <a:latin typeface="Arial"/>
              </a:rPr>
              <a:t>Time and event filters do not specify the entry price, so controlling risk is ineffective, if not impossible.</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price-based filters are preferred.</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u.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the chart is ours. Its reason: with no cap on the risk of a single trade a system may meet risk of ruin, a phrase it does not define.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1's four terms. In cash: no open positions. To square: to exit. To hedge: equal and opposite positions.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and Figure 5.31: the dollar amounts are printed on the figure.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scenarios, one principle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Buying low and selling high.</a:t>
            </a:r>
          </a:p>
          <a:p>
            <a:pPr algn="l">
              <a:lnSpc>
                <a:spcPct val="105000"/>
              </a:lnSpc>
              <a:spcBef>
                <a:spcPts val="0"/>
              </a:spcBef>
              <a:spcAft>
                <a:spcPts val="1100"/>
              </a:spcAft>
            </a:pPr>
            <a:r>
              <a:rPr sz="1900" b="0" i="0">
                <a:solidFill>
                  <a:srgbClr val="1A1A1A"/>
                </a:solidFill>
                <a:latin typeface="Arial"/>
              </a:rPr>
              <a:t>2  Buying high and selling higher.</a:t>
            </a:r>
          </a:p>
          <a:p>
            <a:pPr algn="l">
              <a:lnSpc>
                <a:spcPct val="105000"/>
              </a:lnSpc>
              <a:spcBef>
                <a:spcPts val="0"/>
              </a:spcBef>
              <a:spcAft>
                <a:spcPts val="1100"/>
              </a:spcAft>
            </a:pPr>
            <a:r>
              <a:rPr sz="1900" b="0" i="0">
                <a:solidFill>
                  <a:srgbClr val="1A1A1A"/>
                </a:solidFill>
                <a:latin typeface="Arial"/>
              </a:rPr>
              <a:t>3  Selling high and buying back lower.</a:t>
            </a:r>
          </a:p>
          <a:p>
            <a:pPr algn="l">
              <a:lnSpc>
                <a:spcPct val="105000"/>
              </a:lnSpc>
              <a:spcBef>
                <a:spcPts val="0"/>
              </a:spcBef>
              <a:spcAft>
                <a:spcPts val="1100"/>
              </a:spcAft>
            </a:pPr>
            <a:r>
              <a:rPr sz="1900" b="0" i="0">
                <a:solidFill>
                  <a:srgbClr val="1A1A1A"/>
                </a:solidFill>
                <a:latin typeface="Arial"/>
              </a:rPr>
              <a:t>4  Selling low and buying back even lower.</a:t>
            </a:r>
          </a:p>
        </p:txBody>
      </p:sp>
      <p:sp>
        <p:nvSpPr>
          <p:cNvPr id="8" name="Rectangle 7"/>
          <p:cNvSpPr/>
          <p:nvPr/>
        </p:nvSpPr>
        <p:spPr>
          <a:xfrm>
            <a:off x="777240" y="404164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78224"/>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Two longs, two shorts. In every one, the selling price is above the buying price.</a:t>
            </a:r>
          </a:p>
        </p:txBody>
      </p:sp>
      <p:sp>
        <p:nvSpPr>
          <p:cNvPr id="10" name="TextBox 9"/>
          <p:cNvSpPr txBox="1"/>
          <p:nvPr/>
        </p:nvSpPr>
        <p:spPr>
          <a:xfrm>
            <a:off x="777240" y="53035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here files all four under 'the principle of buying low and selling high'. By name only the first is buy low, sell high, as Chapter 1 said.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v.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The chart is ours, on invented prices.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order waits at a set price. Once triggered there, it turns into a market order: enter or exit immediately, at any price.</a:t>
            </a:r>
          </a:p>
          <a:p>
            <a:pPr algn="l">
              <a:lnSpc>
                <a:spcPct val="105000"/>
              </a:lnSpc>
              <a:spcBef>
                <a:spcPts val="0"/>
              </a:spcBef>
              <a:spcAft>
                <a:spcPts val="1100"/>
              </a:spcAft>
            </a:pPr>
            <a:r>
              <a:rPr sz="17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700" b="0" i="0">
                <a:solidFill>
                  <a:srgbClr val="1A1A1A"/>
                </a:solidFill>
                <a:latin typeface="Arial"/>
              </a:rPr>
              <a:t>A stop exit closes a position that moves adversely: the stoploss order.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execution, but not the fill price.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taught stop and limit entries. New: the exits, and that a gap can fill a stop away from its price.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w.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chart is ours, on invented prices.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Filled at a price other than the one you asked for. Negative: worse for you. Positive: better.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pesos and the chart are our example: PHP 48.00 less PHP 46.50 is PHP 1.50.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on invented prices.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do not own it: orders to enter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market order: buy now, at whatever price is quoted. Instant, but the price is not guaranteed.</a:t>
            </a:r>
          </a:p>
          <a:p>
            <a:pPr algn="l">
              <a:lnSpc>
                <a:spcPct val="105000"/>
              </a:lnSpc>
              <a:spcBef>
                <a:spcPts val="0"/>
              </a:spcBef>
              <a:spcAft>
                <a:spcPts val="1100"/>
              </a:spcAft>
            </a:pPr>
            <a:r>
              <a:rPr sz="1600" b="0" i="0">
                <a:solidFill>
                  <a:srgbClr val="1A1A1A"/>
                </a:solidFill>
                <a:latin typeface="Arial"/>
              </a:rPr>
              <a:t>A buy stop: buy at a set price or higher, placed when a continuation up is expected.</a:t>
            </a:r>
          </a:p>
          <a:p>
            <a:pPr algn="l">
              <a:lnSpc>
                <a:spcPct val="105000"/>
              </a:lnSpc>
              <a:spcBef>
                <a:spcPts val="0"/>
              </a:spcBef>
              <a:spcAft>
                <a:spcPts val="1100"/>
              </a:spcAft>
            </a:pPr>
            <a:r>
              <a:rPr sz="1600" b="0" i="0">
                <a:solidFill>
                  <a:srgbClr val="1A1A1A"/>
                </a:solidFill>
                <a:latin typeface="Arial"/>
              </a:rPr>
              <a:t>A buy limit: buy at a set price or lower, placed when a reversal down is expected.</a:t>
            </a:r>
          </a:p>
          <a:p>
            <a:pPr algn="l">
              <a:lnSpc>
                <a:spcPct val="105000"/>
              </a:lnSpc>
              <a:spcBef>
                <a:spcPts val="0"/>
              </a:spcBef>
              <a:spcAft>
                <a:spcPts val="1100"/>
              </a:spcAft>
            </a:pPr>
            <a:r>
              <a:rPr sz="1600" b="0" i="0">
                <a:solidFill>
                  <a:srgbClr val="1A1A1A"/>
                </a:solidFill>
                <a:latin typeface="Arial"/>
              </a:rPr>
              <a:t>To open a short instead, the mirror is a sell limit or a sell stop; this pp.146-148 stretch works only the buy side.</a:t>
            </a:r>
          </a:p>
        </p:txBody>
      </p:sp>
      <p:sp>
        <p:nvSpPr>
          <p:cNvPr id="8" name="TextBox 7"/>
          <p:cNvSpPr txBox="1"/>
          <p:nvPr/>
        </p:nvSpPr>
        <p:spPr>
          <a:xfrm>
            <a:off x="777240" y="512978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Going short itself was taught earlier, in 5.4 Trend Participation; the book does not pair it with these orders here.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recalling the stop and limit entry slides before, numbered to its own arrows.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own it: orders to exit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market order: sell now, at whatever price is quoted. Instant, but the price is not guaranteed.</a:t>
            </a:r>
          </a:p>
          <a:p>
            <a:pPr algn="l">
              <a:lnSpc>
                <a:spcPct val="105000"/>
              </a:lnSpc>
              <a:spcBef>
                <a:spcPts val="0"/>
              </a:spcBef>
              <a:spcAft>
                <a:spcPts val="1100"/>
              </a:spcAft>
            </a:pPr>
            <a:r>
              <a:rPr sz="1700" b="0" i="0">
                <a:solidFill>
                  <a:srgbClr val="1A1A1A"/>
                </a:solidFill>
                <a:latin typeface="Arial"/>
              </a:rPr>
              <a:t>A sell limit: the profit-take order, above the market. Fills only at that price or better.</a:t>
            </a:r>
          </a:p>
          <a:p>
            <a:pPr algn="l">
              <a:lnSpc>
                <a:spcPct val="105000"/>
              </a:lnSpc>
              <a:spcBef>
                <a:spcPts val="0"/>
              </a:spcBef>
              <a:spcAft>
                <a:spcPts val="1100"/>
              </a:spcAft>
            </a:pPr>
            <a:r>
              <a:rPr sz="1700" b="0" i="0">
                <a:solidFill>
                  <a:srgbClr val="1A1A1A"/>
                </a:solidFill>
                <a:latin typeface="Arial"/>
              </a:rPr>
              <a:t>A sell stop: the stoploss, below the market. Triggers there, then fills at the market, price unknown.</a:t>
            </a:r>
          </a:p>
          <a:p>
            <a:pPr algn="l">
              <a:lnSpc>
                <a:spcPct val="105000"/>
              </a:lnSpc>
              <a:spcBef>
                <a:spcPts val="0"/>
              </a:spcBef>
              <a:spcAft>
                <a:spcPts val="1100"/>
              </a:spcAft>
            </a:pPr>
            <a:r>
              <a:rPr sz="1700" b="0" i="0">
                <a:solidFill>
                  <a:srgbClr val="1A1A1A"/>
                </a:solidFill>
                <a:latin typeface="Arial"/>
              </a:rPr>
              <a:t>A limit exit is not guaranteed. A stop exit is guaranteed, but not its price.</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for a buy limit on the other slide, better reads lower.</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a.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is ours, numbered the same way as the entry slide before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Market if Touched, MIT: sells above the market, buys below it, with a stop order. Same shape as the recall, right.</a:t>
            </a:r>
          </a:p>
          <a:p>
            <a:pPr algn="l">
              <a:lnSpc>
                <a:spcPct val="105000"/>
              </a:lnSpc>
              <a:spcBef>
                <a:spcPts val="0"/>
              </a:spcBef>
              <a:spcAft>
                <a:spcPts val="1100"/>
              </a:spcAft>
            </a:pPr>
            <a:r>
              <a:rPr sz="1500" b="0" i="0">
                <a:solidFill>
                  <a:srgbClr val="1A1A1A"/>
                </a:solidFill>
                <a:latin typeface="Arial"/>
              </a:rPr>
              <a:t>Day orders stay pending only until the end of the trading day.</a:t>
            </a:r>
          </a:p>
          <a:p>
            <a:pPr algn="l">
              <a:lnSpc>
                <a:spcPct val="105000"/>
              </a:lnSpc>
              <a:spcBef>
                <a:spcPts val="0"/>
              </a:spcBef>
              <a:spcAft>
                <a:spcPts val="1100"/>
              </a:spcAft>
            </a:pPr>
            <a:r>
              <a:rPr sz="1500" b="0" i="0">
                <a:solidFill>
                  <a:srgbClr val="1A1A1A"/>
                </a:solidFill>
                <a:latin typeface="Arial"/>
              </a:rPr>
              <a:t>Good till Cancelled orders stay active until further notice.</a:t>
            </a:r>
          </a:p>
          <a:p>
            <a:pPr algn="l">
              <a:lnSpc>
                <a:spcPct val="105000"/>
              </a:lnSpc>
              <a:spcBef>
                <a:spcPts val="0"/>
              </a:spcBef>
              <a:spcAft>
                <a:spcPts val="1100"/>
              </a:spcAft>
            </a:pPr>
            <a:r>
              <a:rPr sz="1500" b="0" i="0">
                <a:solidFill>
                  <a:srgbClr val="1A1A1A"/>
                </a:solidFill>
                <a:latin typeface="Arial"/>
              </a:rPr>
              <a:t>Market on Close orders fill in the last minutes, at or near the close.</a:t>
            </a:r>
          </a:p>
          <a:p>
            <a:pPr algn="l">
              <a:lnSpc>
                <a:spcPct val="105000"/>
              </a:lnSpc>
              <a:spcBef>
                <a:spcPts val="0"/>
              </a:spcBef>
              <a:spcAft>
                <a:spcPts val="1100"/>
              </a:spcAft>
            </a:pPr>
            <a:r>
              <a:rPr sz="1500" b="0" i="0">
                <a:solidFill>
                  <a:srgbClr val="1A1A1A"/>
                </a:solidFill>
                <a:latin typeface="Arial"/>
              </a:rPr>
              <a:t>OCO places two opposite orders and cancels whichever does not fill. OTO places a second order once a first fills.</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ab.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recalls Chart W, a few slides back: the same shape an MIT order uses.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table: orders above and below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9 of 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p.148, Figure 5.32. 'Stop /limit entry' is the figure's own wording: the book's text places a buystop above and a sellstop below, and explains no stop/limit order.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600" b="0" i="0">
                <a:solidFill>
                  <a:srgbClr val="1A1A1A"/>
                </a:solidFill>
                <a:latin typeface="Arial"/>
              </a:rPr>
              <a:t>Overlay barrier entries: buy at support, short at resistance, or at a retest of the barrier.</a:t>
            </a:r>
          </a:p>
          <a:p>
            <a:pPr algn="l">
              <a:lnSpc>
                <a:spcPct val="105000"/>
              </a:lnSpc>
              <a:spcBef>
                <a:spcPts val="0"/>
              </a:spcBef>
              <a:spcAft>
                <a:spcPts val="1100"/>
              </a:spcAft>
            </a:pPr>
            <a:r>
              <a:rPr sz="16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600" b="0" i="0">
                <a:solidFill>
                  <a:srgbClr val="1A1A1A"/>
                </a:solidFill>
                <a:latin typeface="Arial"/>
              </a:rPr>
              <a:t>Random entries, and pattern or sequence-based entries.</a:t>
            </a:r>
          </a:p>
        </p:txBody>
      </p:sp>
      <p:sp>
        <p:nvSpPr>
          <p:cNvPr id="8" name="TextBox 7"/>
          <p:cNvSpPr txBox="1"/>
          <p:nvPr/>
        </p:nvSpPr>
        <p:spPr>
          <a:xfrm>
            <a:off x="777240" y="487375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announces four ways and lists five, each with or against the trend. Failed breakout: 5.2's false breakout. Pattern entries follow a set sequence of bars or a completed pattern; a random entry is taken with no technical signal at all, usually only to benchmark a strategy against chance.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c.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pp.148-149; the chart is ours. Overlays it names: channels and trendlines (5.6), pivot points and price envelopes (not taught here).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All three were Chapter 2 terms, unchanged. More complex: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p.149 and Figure 5.33. The book says 'as we learned in Chapter 4'; in this course they were Chapter 2's terms.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10546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An inflection point, a peak or trough, counts for more the more bars flank it. A peak acts as resistance, stopping a rally; a trough acts as support, stopping a decline.</a:t>
            </a:r>
          </a:p>
        </p:txBody>
      </p:sp>
      <p:sp>
        <p:nvSpPr>
          <p:cNvPr id="10" name="Rectangle 9"/>
          <p:cNvSpPr/>
          <p:nvPr/>
        </p:nvSpPr>
        <p:spPr>
          <a:xfrm>
            <a:off x="777240" y="356920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2348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 peak whose highest bar is higher than the ten bars on either side is of strength 10. One that tops only two bars each side is of strength 2.</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39496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N bars on either side of the highest peak or lowest trough is an inflection point of strength N. More bars: a more significant peak or trough, and a stronger resistance or support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pp.149-150. It gives no reason, and does not say whether N is the most bars a peak tops. On the chart the small peak fails at the third bar. Strengths 2 and 10 are ours.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297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394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breached barrier changes sides.</a:t>
            </a:r>
          </a:p>
        </p:txBody>
      </p:sp>
      <p:sp>
        <p:nvSpPr>
          <p:cNvPr id="10" name="Rectangle 9"/>
          <p:cNvSpPr/>
          <p:nvPr/>
        </p:nvSpPr>
        <p:spPr>
          <a:xfrm>
            <a:off x="777240" y="29443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98648"/>
            <a:ext cx="466344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A share holds at PHP 40, then falls through it. On the next rally PHP 40 stops it.</a:t>
            </a:r>
          </a:p>
        </p:txBody>
      </p:sp>
      <p:sp>
        <p:nvSpPr>
          <p:cNvPr id="12" name="Rectangle 11"/>
          <p:cNvSpPr/>
          <p:nvPr/>
        </p:nvSpPr>
        <p:spPr>
          <a:xfrm>
            <a:off x="777240" y="3858768"/>
            <a:ext cx="64008" cy="18013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813048"/>
            <a:ext cx="4663440" cy="191109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Price barriers change roles once breached: support turns into future resistance, and resistance into future support. All overlay barriers: channels, trendlines (5.6), pivot points and price envelopes, the last two not built in this course, named only as the book's others.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5.34: top row flat levels, bottom row trendlines (5.6). No reason given here; pesos ours. Support and resistance: the slide just before this one.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5.35. The book gives this figure no sentence of its own.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EURUSD, 30 minutes: support and resistance at prior peaks and troughs, and on the rising channel.</a:t>
            </a:r>
          </a:p>
          <a:p>
            <a:pPr algn="l">
              <a:lnSpc>
                <a:spcPct val="105000"/>
              </a:lnSpc>
              <a:spcBef>
                <a:spcPts val="0"/>
              </a:spcBef>
              <a:spcAft>
                <a:spcPts val="1100"/>
              </a:spcAft>
            </a:pPr>
            <a:r>
              <a:rPr sz="1700" b="0" i="0">
                <a:solidFill>
                  <a:srgbClr val="1A1A1A"/>
                </a:solidFill>
                <a:latin typeface="Arial"/>
              </a:rPr>
              <a:t>Resistance turning into support, again and again, in an uptrend.</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0965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role reversal as the last two slides, on a real chart instead of an invented one.</a:t>
            </a:r>
          </a:p>
        </p:txBody>
      </p:sp>
      <p:sp>
        <p:nvSpPr>
          <p:cNvPr id="10" name="TextBox 9"/>
          <p:cNvSpPr txBox="1"/>
          <p:nvPr/>
        </p:nvSpPr>
        <p:spPr>
          <a:xfrm>
            <a:off x="777240" y="5026914"/>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lower panel carries an oscillator, the cycle-tuned stochastic, Chapter 8, too small to read here; this slide keeps only what the price panel itself shows.</a:t>
            </a:r>
          </a:p>
        </p:txBody>
      </p:sp>
      <p:sp>
        <p:nvSpPr>
          <p:cNvPr id="11" name="Rectangle 10"/>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p.151 and Figure 5.36.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 the stop goes just beyond the dip or rally, close to the entry.</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Trendlines or channels (5.6) time the entries; a cycle-tuned oscillator (Chapter 8) fine-tunes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pp.151-152 and Figure 5.37. Both reasons on the slide are the book's.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145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242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Says whether a trend is on. Not 5.3's filters.</a:t>
            </a:r>
          </a:p>
        </p:txBody>
      </p:sp>
      <p:sp>
        <p:nvSpPr>
          <p:cNvPr id="10" name="Rectangle 9"/>
          <p:cNvSpPr/>
          <p:nvPr/>
        </p:nvSpPr>
        <p:spPr>
          <a:xfrm>
            <a:off x="777240" y="2929128"/>
            <a:ext cx="64008" cy="1267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83408"/>
            <a:ext cx="539496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 moving average: the average of a bar's own close and a set number before it, moving ahead one bar at a time. A double crossover compares a shorter one against a longer: shorter above, a potential uptrend; shorter below, a potential downtrend.</a:t>
            </a:r>
          </a:p>
        </p:txBody>
      </p:sp>
      <p:sp>
        <p:nvSpPr>
          <p:cNvPr id="12" name="Rectangle 11"/>
          <p:cNvSpPr/>
          <p:nvPr/>
        </p:nvSpPr>
        <p:spPr>
          <a:xfrm>
            <a:off x="777240" y="4453128"/>
            <a:ext cx="64008" cy="1267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07408"/>
            <a:ext cx="539496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It helps to identify a trend amidst the market noise and price volatility. How a moving average is built in general is Chapter 11; this is only its crossing read. Two more: an oscillator crossing its signal line, and price contained above or below an overlay barrier.</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p.152. No reason given for the crossover; signal line is not explained here. The chart is ours: 6 and 18 bar moving averages, chosen so the crossings show.</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Bottom: the MACD, the filter, says which way. Middle: the stochastic, the trigger, says when.</a:t>
            </a:r>
          </a:p>
          <a:p>
            <a:pPr algn="l">
              <a:lnSpc>
                <a:spcPct val="105000"/>
              </a:lnSpc>
              <a:spcBef>
                <a:spcPts val="0"/>
              </a:spcBef>
              <a:spcAft>
                <a:spcPts val="1100"/>
              </a:spcAft>
            </a:pPr>
            <a:r>
              <a:rPr sz="1600" b="0" i="0">
                <a:solidFill>
                  <a:srgbClr val="1A1A1A"/>
                </a:solidFill>
                <a:latin typeface="Arial"/>
              </a:rPr>
              <a:t>Long: the stochastic crosses above its signal line with the MACD above zero. Short: the reverse.</a:t>
            </a:r>
          </a:p>
          <a:p>
            <a:pPr algn="l">
              <a:lnSpc>
                <a:spcPct val="105000"/>
              </a:lnSpc>
              <a:spcBef>
                <a:spcPts val="0"/>
              </a:spcBef>
              <a:spcAft>
                <a:spcPts val="1100"/>
              </a:spcAft>
            </a:pPr>
            <a:r>
              <a:rPr sz="1600" b="0" i="0">
                <a:solidFill>
                  <a:srgbClr val="1A1A1A"/>
                </a:solidFill>
                <a:latin typeface="Arial"/>
              </a:rPr>
              <a:t>Stops: below the previous trough for a long, trailing up to each higher trough. A short: the mirror.</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519379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Preview only, not examinable: the MACD, the stochastic and signal lines are not taught in this course until later chapters.</a:t>
            </a:r>
          </a:p>
        </p:txBody>
      </p:sp>
      <p:sp>
        <p:nvSpPr>
          <p:cNvPr id="10" name="TextBox 9"/>
          <p:cNvSpPr txBox="1"/>
          <p:nvPr/>
        </p:nvSpPr>
        <p:spPr>
          <a:xfrm>
            <a:off x="777240" y="532180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An illustration of one tool for direction, one for timing, shown here only because the book places it in this section. Nothing on this slide is assumed known or tested.</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pp.152-153 and Figure 5.38.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stop is usually placed just below significant troughs for longs, just above significant peaks for shorts.</a:t>
            </a:r>
          </a:p>
          <a:p>
            <a:pPr algn="l">
              <a:lnSpc>
                <a:spcPct val="105000"/>
              </a:lnSpc>
              <a:spcBef>
                <a:spcPts val="0"/>
              </a:spcBef>
              <a:spcAft>
                <a:spcPts val="1100"/>
              </a:spcAft>
            </a:pPr>
            <a:r>
              <a:rPr sz="1600" b="0" i="0">
                <a:solidFill>
                  <a:srgbClr val="1A1A1A"/>
                </a:solidFill>
                <a:latin typeface="Arial"/>
              </a:rPr>
              <a:t>Entry too far from one: a stop some multiple of ATR or standard deviations away. A qualitative rule only; the book gives no actual multiple.</a:t>
            </a:r>
          </a:p>
          <a:p>
            <a:pPr algn="l">
              <a:lnSpc>
                <a:spcPct val="105000"/>
              </a:lnSpc>
              <a:spcBef>
                <a:spcPts val="0"/>
              </a:spcBef>
              <a:spcAft>
                <a:spcPts val="1100"/>
              </a:spcAft>
            </a:pPr>
            <a:r>
              <a:rPr sz="1600" b="0" i="0">
                <a:solidFill>
                  <a:srgbClr val="1A1A1A"/>
                </a:solidFill>
                <a:latin typeface="Arial"/>
              </a:rPr>
              <a:t>Barrier entries: stopsizes always about the same. The peak or trough is usually the point of entry itself.</a:t>
            </a:r>
          </a:p>
          <a:p>
            <a:pPr algn="l">
              <a:lnSpc>
                <a:spcPct val="105000"/>
              </a:lnSpc>
              <a:spcBef>
                <a:spcPts val="0"/>
              </a:spcBef>
              <a:spcAft>
                <a:spcPts val="1100"/>
              </a:spcAft>
            </a:pPr>
            <a:r>
              <a:rPr sz="1600" b="0" i="0">
                <a:solidFill>
                  <a:srgbClr val="1A1A1A"/>
                </a:solidFill>
                <a:latin typeface="Arial"/>
              </a:rPr>
              <a:t>Breakout entries: stopsizes vary. The peak or trough may be any distance from the entry.</a:t>
            </a:r>
          </a:p>
        </p:txBody>
      </p:sp>
      <p:sp>
        <p:nvSpPr>
          <p:cNvPr id="8" name="TextBox 7"/>
          <p:cNvSpPr txBox="1"/>
          <p:nvPr/>
        </p:nvSpPr>
        <p:spPr>
          <a:xfrm>
            <a:off x="777240" y="53858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the figure's brackets.</a:t>
            </a:r>
          </a:p>
        </p:txBody>
      </p:sp>
      <p:sp>
        <p:nvSpPr>
          <p:cNvPr id="9" name="Rectangle 8"/>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and Figure 5.39, which says only that a barrier entry's stopsize need not vary with each entry.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Tradesize, the number of shares, is the risk per trade divided by the stopsize. So it varies with every stop.</a:t>
            </a:r>
          </a:p>
          <a:p>
            <a:pPr algn="l">
              <a:lnSpc>
                <a:spcPct val="105000"/>
              </a:lnSpc>
              <a:spcBef>
                <a:spcPts val="0"/>
              </a:spcBef>
              <a:spcAft>
                <a:spcPts val="1100"/>
              </a:spcAft>
            </a:pPr>
            <a:r>
              <a:rPr sz="1600" b="0" i="0">
                <a:solidFill>
                  <a:srgbClr val="1A1A1A"/>
                </a:solidFill>
                <a:latin typeface="Arial"/>
              </a:rPr>
              <a:t>The book's two worst cases: narrow stops taken out frequently, on a fixed percentage of current capital; or wide stops, on a fixed percentage of original capital.</a:t>
            </a:r>
          </a:p>
        </p:txBody>
      </p:sp>
      <p:sp>
        <p:nvSpPr>
          <p:cNvPr id="8" name="Rectangle 7"/>
          <p:cNvSpPr/>
          <p:nvPr/>
        </p:nvSpPr>
        <p:spPr>
          <a:xfrm>
            <a:off x="777240" y="4288536"/>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5112"/>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Either way the result is significant loss.</a:t>
            </a:r>
          </a:p>
        </p:txBody>
      </p:sp>
      <p:sp>
        <p:nvSpPr>
          <p:cNvPr id="10" name="TextBox 9"/>
          <p:cNvSpPr txBox="1"/>
          <p:nvPr/>
        </p:nvSpPr>
        <p:spPr>
          <a:xfrm>
            <a:off x="777240" y="489508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Taken out: the stop is hit. Why each is bad, our reading: a narrow stop on current capital compounds, each loss shrinks the base the next is sized from; a wide stop on original capital stays large even after capital has shrunk.</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p.153: 'risking a fixed percentage or fixed unit size per trade'. The chart is ours, and is arithmetic: PHP 10,000 at risk divided by each stopsize.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For any wider stop, a smaller one, as before.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Proportional stopsize, the threshold: PHP 3.00. Risk per trade PHP 10,000. Stops up to 3.00 trade 3,333 shares; a 5.00 stop,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g.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pesos ours. Its sentence speaks of original and current capital; its five steps, next slide, use one risk per trade. Learn the steps.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Backtest, run the system on past trades: the average stopsize of 300 to 500, to average out noise. Say PHP 2.00.</a:t>
            </a:r>
          </a:p>
          <a:p>
            <a:pPr algn="l">
              <a:lnSpc>
                <a:spcPct val="105000"/>
              </a:lnSpc>
              <a:spcBef>
                <a:spcPts val="0"/>
              </a:spcBef>
              <a:spcAft>
                <a:spcPts val="1100"/>
              </a:spcAft>
            </a:pPr>
            <a:r>
              <a:rPr sz="1500" b="0" i="0">
                <a:solidFill>
                  <a:srgbClr val="1A1A1A"/>
                </a:solidFill>
                <a:latin typeface="Arial"/>
              </a:rPr>
              <a:t>2  Their two standard deviation value: say PHP 1.00, the same cushion as 13's ninety percent mark.</a:t>
            </a:r>
          </a:p>
          <a:p>
            <a:pPr algn="l">
              <a:lnSpc>
                <a:spcPct val="105000"/>
              </a:lnSpc>
              <a:spcBef>
                <a:spcPts val="0"/>
              </a:spcBef>
              <a:spcAft>
                <a:spcPts val="1100"/>
              </a:spcAft>
            </a:pPr>
            <a:r>
              <a:rPr sz="1500" b="0" i="0">
                <a:solidFill>
                  <a:srgbClr val="1A1A1A"/>
                </a:solidFill>
                <a:latin typeface="Arial"/>
              </a:rPr>
              <a:t>3  Add: the proportional stopsize, PHP 3.00, wide enough for almost every stop seen.</a:t>
            </a:r>
          </a:p>
          <a:p>
            <a:pPr algn="l">
              <a:lnSpc>
                <a:spcPct val="105000"/>
              </a:lnSpc>
              <a:spcBef>
                <a:spcPts val="0"/>
              </a:spcBef>
              <a:spcAft>
                <a:spcPts val="1100"/>
              </a:spcAft>
            </a:pPr>
            <a:r>
              <a:rPr sz="1500" b="0" i="0">
                <a:solidFill>
                  <a:srgbClr val="1A1A1A"/>
                </a:solidFill>
                <a:latin typeface="Arial"/>
              </a:rPr>
              <a:t>4  Maximum risk per trade: 1 percent of current capital. Say PHP 10,000.</a:t>
            </a:r>
          </a:p>
          <a:p>
            <a:pPr algn="l">
              <a:lnSpc>
                <a:spcPct val="105000"/>
              </a:lnSpc>
              <a:spcBef>
                <a:spcPts val="0"/>
              </a:spcBef>
              <a:spcAft>
                <a:spcPts val="1100"/>
              </a:spcAft>
            </a:pPr>
            <a:r>
              <a:rPr sz="1500" b="0" i="0">
                <a:solidFill>
                  <a:srgbClr val="1A1A1A"/>
                </a:solidFill>
                <a:latin typeface="Arial"/>
              </a:rPr>
              <a:t>5  10,000 / 3.00 = 3,333 shares, the proportional tradesize.</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ah.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p.154. No reason for 300 to 500 trades or step 3, beyond 13's 2 SD case. Backtest: 5.3. Pesos, 1 percent: ours.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24</a:t>
            </a:r>
          </a:p>
        </p:txBody>
      </p:sp>
      <p:sp>
        <p:nvSpPr>
          <p:cNvPr id="8" name="Rectangle 7"/>
          <p:cNvSpPr/>
          <p:nvPr/>
        </p:nvSpPr>
        <p:spPr>
          <a:xfrm>
            <a:off x="777240" y="2258568"/>
            <a:ext cx="64008" cy="6278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 straight line through two turning points, carried forward, cutting through no price.</a:t>
            </a:r>
          </a:p>
        </p:txBody>
      </p:sp>
      <p:sp>
        <p:nvSpPr>
          <p:cNvPr id="10" name="Rectangle 9"/>
          <p:cNvSpPr/>
          <p:nvPr/>
        </p:nvSpPr>
        <p:spPr>
          <a:xfrm>
            <a:off x="777240" y="3142488"/>
            <a:ext cx="64008" cy="6278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096768"/>
            <a:ext cx="539496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026408"/>
            <a:ext cx="64008" cy="1694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80688"/>
            <a:ext cx="5394960" cy="18044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line projected forward into the future from two significant inflection points: troughs for an uptrend, peaks for a downtrend. Two points only fit a line to the past; a third touch is the first time it predicts, which is why it is tentative until then and confirmed, or valid, after. A line price cuts through has already broken it, so it could not still be holding.</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i.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No reason given for the third contact or the no-cutting rule beyond our own reading. Price crossing it later is a breach. Pesos and chart ours.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and Figure 5.40.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Most participants place buy orders above one and sell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2 and 3 pointed here for support and resistance. This is the book's account of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pp.155-156, reason included. The chart is ours, on invented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invalid, still usable.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the line through 1 and 2 is confirmed at the circle, then breached: an internal line. A new line runs through 1 and 3.</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Once breached, a trendline is invalidated and thereafter called an internal line. The new uptrend line runs from the original lower trough to the new significant trough; in a downtrend, from the original higher peak to the new peak.</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p.156, Figure 5.41. Its example of use: a head and shoulders neckline (Chapter 13), very frequently retested after the breach. It does not say why internal.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depends on the filtering employed. Closing filter rule: valid only once price closes beyond the line.</a:t>
            </a:r>
          </a:p>
          <a:p>
            <a:pPr algn="l">
              <a:lnSpc>
                <a:spcPct val="105000"/>
              </a:lnSpc>
              <a:spcBef>
                <a:spcPts val="0"/>
              </a:spcBef>
              <a:spcAft>
                <a:spcPts val="1100"/>
              </a:spcAft>
            </a:pPr>
            <a:r>
              <a:rPr sz="1700" b="0" i="0">
                <a:solidFill>
                  <a:srgbClr val="1A1A1A"/>
                </a:solidFill>
                <a:latin typeface="Arial"/>
              </a:rPr>
              <a:t>So an intraday low well through an uptrend line, with a close back above it, is significant but invalid.</a:t>
            </a:r>
          </a:p>
          <a:p>
            <a:pPr algn="l">
              <a:lnSpc>
                <a:spcPct val="105000"/>
              </a:lnSpc>
              <a:spcBef>
                <a:spcPts val="0"/>
              </a:spcBef>
              <a:spcAft>
                <a:spcPts val="1100"/>
              </a:spcAft>
            </a:pPr>
            <a:r>
              <a:rPr sz="1700" b="0" i="0">
                <a:solidFill>
                  <a:srgbClr val="1A1A1A"/>
                </a:solidFill>
                <a:latin typeface="Arial"/>
              </a:rPr>
              <a:t>The book's answer: use a price-based filter. A penetration is then valid once price goes a set distance beyond the line, whatever the close.</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a time or event filter, the book adds the price filter as a second stage. Valid or not, a new trendline may still be drawn.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k.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pp.156-157. The chart is ours, on invented prices.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A reliable trendline gives consistent support and resistance. A lot of whipsaws, price crossing the line back and forth without a clean break: unreliable.</a:t>
            </a:r>
          </a:p>
          <a:p>
            <a:pPr algn="l">
              <a:lnSpc>
                <a:spcPct val="105000"/>
              </a:lnSpc>
              <a:spcBef>
                <a:spcPts val="0"/>
              </a:spcBef>
              <a:spcAft>
                <a:spcPts val="1100"/>
              </a:spcAft>
            </a:pPr>
            <a:r>
              <a:rPr sz="1500" b="0" i="0">
                <a:solidFill>
                  <a:srgbClr val="1A1A1A"/>
                </a:solidFill>
                <a:latin typeface="Arial"/>
              </a:rPr>
              <a:t>Angle, read on a linear price scale, Chapter 3: above 45 degrees a steep uptrend is less stable, and may not sustain itself. So is a very shallow one.</a:t>
            </a:r>
          </a:p>
          <a:p>
            <a:pPr algn="l">
              <a:lnSpc>
                <a:spcPct val="105000"/>
              </a:lnSpc>
              <a:spcBef>
                <a:spcPts val="0"/>
              </a:spcBef>
              <a:spcAft>
                <a:spcPts val="1100"/>
              </a:spcAft>
            </a:pPr>
            <a:r>
              <a:rPr sz="15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500" b="0" i="0">
                <a:solidFill>
                  <a:srgbClr val="1A1A1A"/>
                </a:solidFill>
                <a:latin typeface="Arial"/>
              </a:rPr>
              <a:t>Duration: longer-term trendlines are generally more reliable than shorter-term ones.</a:t>
            </a:r>
          </a:p>
        </p:txBody>
      </p:sp>
      <p:sp>
        <p:nvSpPr>
          <p:cNvPr id="8" name="TextBox 7"/>
          <p:cNvSpPr txBox="1"/>
          <p:nvPr/>
        </p:nvSpPr>
        <p:spPr>
          <a:xfrm>
            <a:off x="777240" y="546582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l.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p.157. No reason given for 35 to 45 degrees or the scaling; our reading is linear, Chapter 3. The chart is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other bullish or bearish indicators agreeing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pp.157-158, reasons included. The chart is ours, on invented prices.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 the distance that price moved farthest from the trendline.</a:t>
            </a:r>
          </a:p>
          <a:p>
            <a:pPr algn="l">
              <a:lnSpc>
                <a:spcPct val="105000"/>
              </a:lnSpc>
              <a:spcBef>
                <a:spcPts val="0"/>
              </a:spcBef>
              <a:spcAft>
                <a:spcPts val="1100"/>
              </a:spcAft>
            </a:pPr>
            <a:r>
              <a:rPr sz="1700" b="0" i="0">
                <a:solidFill>
                  <a:srgbClr val="1A1A1A"/>
                </a:solidFill>
                <a:latin typeface="Arial"/>
              </a:rPr>
              <a:t>Apply a one-to-one projection of that distance from the breakout point.</a:t>
            </a:r>
          </a:p>
          <a:p>
            <a:pPr algn="l">
              <a:lnSpc>
                <a:spcPct val="105000"/>
              </a:lnSpc>
              <a:spcBef>
                <a:spcPts val="0"/>
              </a:spcBef>
              <a:spcAft>
                <a:spcPts val="1100"/>
              </a:spcAft>
            </a:pPr>
            <a:r>
              <a:rPr sz="1700" b="0" i="0">
                <a:solidFill>
                  <a:srgbClr val="1A1A1A"/>
                </a:solidFill>
                <a:latin typeface="Arial"/>
              </a:rPr>
              <a:t>Farthest distance PHP 6, breakout at PHP 50: the minimum target is 50 - 6 = PHP 44.</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prices bottom very close to the minimum projected target.</a:t>
            </a:r>
          </a:p>
        </p:txBody>
      </p:sp>
      <p:sp>
        <p:nvSpPr>
          <p:cNvPr id="10" name="TextBox 9"/>
          <p:cNvSpPr txBox="1"/>
          <p:nvPr/>
        </p:nvSpPr>
        <p:spPr>
          <a:xfrm>
            <a:off x="777240" y="546354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minimum measuring objective, from a trendline.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p.158 and Figure 5.42. The pesos are our example of the one-to-one projection.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Strengths 1 and 2: straight lines catch any trend change, no need to identify price patterns.</a:t>
            </a:r>
          </a:p>
          <a:p>
            <a:pPr algn="l">
              <a:lnSpc>
                <a:spcPct val="118000"/>
              </a:lnSpc>
              <a:spcBef>
                <a:spcPts val="0"/>
              </a:spcBef>
              <a:spcAft>
                <a:spcPts val="1300"/>
              </a:spcAft>
            </a:pPr>
            <a:r>
              <a:rPr sz="2100" b="0" i="0">
                <a:solidFill>
                  <a:srgbClr val="1A1A1A"/>
                </a:solidFill>
                <a:latin typeface="Arial"/>
              </a:rPr>
              <a:t>Strengths 3 and 4: simple on any timeframe or market, viewable across them all.</a:t>
            </a:r>
          </a:p>
          <a:p>
            <a:pPr algn="l">
              <a:lnSpc>
                <a:spcPct val="118000"/>
              </a:lnSpc>
              <a:spcBef>
                <a:spcPts val="0"/>
              </a:spcBef>
              <a:spcAft>
                <a:spcPts val="1300"/>
              </a:spcAft>
            </a:pPr>
            <a:r>
              <a:rPr sz="2100" b="0" i="0">
                <a:solidFill>
                  <a:srgbClr val="1A1A1A"/>
                </a:solidFill>
                <a:latin typeface="Arial"/>
              </a:rPr>
              <a:t>Weakness 1: subject to whipsaws, the slide before's term; weaker in erratic markets.</a:t>
            </a:r>
          </a:p>
          <a:p>
            <a:pPr algn="l">
              <a:lnSpc>
                <a:spcPct val="118000"/>
              </a:lnSpc>
              <a:spcBef>
                <a:spcPts val="0"/>
              </a:spcBef>
              <a:spcAft>
                <a:spcPts val="1300"/>
              </a:spcAft>
            </a:pPr>
            <a:r>
              <a:rPr sz="2100" b="0" i="0">
                <a:solidFill>
                  <a:srgbClr val="1A1A1A"/>
                </a:solidFill>
                <a:latin typeface="Arial"/>
              </a:rPr>
              <a:t>Weakness 2: affected by the scaling used, Chapter 3's ratio or linear.</a:t>
            </a:r>
          </a:p>
          <a:p>
            <a:pPr algn="l">
              <a:lnSpc>
                <a:spcPct val="118000"/>
              </a:lnSpc>
              <a:spcBef>
                <a:spcPts val="0"/>
              </a:spcBef>
              <a:spcAft>
                <a:spcPts val="1300"/>
              </a:spcAft>
            </a:pPr>
            <a:r>
              <a:rPr sz="2100" b="0" i="0">
                <a:solidFill>
                  <a:srgbClr val="1A1A1A"/>
                </a:solidFill>
                <a:latin typeface="Arial"/>
              </a:rPr>
              <a:t>Weakness 3: a sideways consolidation drifts both ways, crossing a line without a real reversal's break.</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pp.158-159: its own list. Weakness 3's reason is our reading.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retracement in an uptrend, broken upward: a continuation trendline. For the retracement itself, a lower degree, a reversal.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in the opposite direction, reversal trendlines. First ascertain which wave degree is being observed.</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p.159 and Figure 5.43. Why the wave degree matters is our reading; the book says only that it must be ascertained.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pp.159-160 and Figure 5.44.</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moves through smaller channels, rising and falling, inside one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Figure 5.45 (p.161). Fractal-like, unexplained by the book: the same shape at every size. It says nothing of the lines right of the larger channel.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24</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Nested channeling again, this time on a chart of the USDCAD.</a:t>
            </a:r>
          </a:p>
          <a:p>
            <a:pPr algn="l">
              <a:lnSpc>
                <a:spcPct val="105000"/>
              </a:lnSpc>
              <a:spcBef>
                <a:spcPts val="0"/>
              </a:spcBef>
              <a:spcAft>
                <a:spcPts val="1100"/>
              </a:spcAft>
            </a:pPr>
            <a:r>
              <a:rPr sz="1600" b="0" i="0">
                <a:solidFill>
                  <a:srgbClr val="1A1A1A"/>
                </a:solidFill>
                <a:latin typeface="Arial"/>
              </a:rPr>
              <a:t>The horizontal lines are Fibonacci retracement levels: set percentages of a prior move.</a:t>
            </a:r>
          </a:p>
          <a:p>
            <a:pPr algn="l">
              <a:lnSpc>
                <a:spcPct val="105000"/>
              </a:lnSpc>
              <a:spcBef>
                <a:spcPts val="0"/>
              </a:spcBef>
              <a:spcAft>
                <a:spcPts val="1100"/>
              </a:spcAft>
            </a:pPr>
            <a:r>
              <a:rPr sz="1600" b="0" i="0">
                <a:solidFill>
                  <a:srgbClr val="1A1A1A"/>
                </a:solidFill>
                <a:latin typeface="Arial"/>
              </a:rPr>
              <a:t>The book's own page, kept for completeness. Neither the channels nor the levels can be read at this size, so nothing here is asked to be verified from it; the next slide redraws the same idea so it can be.</a:t>
            </a:r>
          </a:p>
        </p:txBody>
      </p:sp>
      <p:sp>
        <p:nvSpPr>
          <p:cNvPr id="8" name="TextBox 7"/>
          <p:cNvSpPr txBox="1"/>
          <p:nvPr/>
        </p:nvSpPr>
        <p:spPr>
          <a:xfrm>
            <a:off x="777240" y="5221224"/>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Retracement levels: 5.7, and Chapter 10. The book's printed caption repeats Figure 5.45's and says Silver; its text says USDCAD.</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5.46 on p.161.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turning at retracement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A prior fall: PHP 60 down to PHP 40, PHP 20 in all.</a:t>
            </a:r>
          </a:p>
          <a:p>
            <a:pPr algn="l">
              <a:lnSpc>
                <a:spcPct val="105000"/>
              </a:lnSpc>
              <a:spcBef>
                <a:spcPts val="0"/>
              </a:spcBef>
              <a:spcAft>
                <a:spcPts val="1100"/>
              </a:spcAft>
            </a:pPr>
            <a:r>
              <a:rPr sz="1500" b="0" i="0">
                <a:solidFill>
                  <a:srgbClr val="1A1A1A"/>
                </a:solidFill>
                <a:latin typeface="Arial"/>
              </a:rPr>
              <a:t>Levels, measured back up from PHP 40: 38.2 percent is PHP 47.64, 50 percent PHP 50.00, 61.8 percent PHP 52.36.</a:t>
            </a:r>
          </a:p>
          <a:p>
            <a:pPr algn="l">
              <a:lnSpc>
                <a:spcPct val="105000"/>
              </a:lnSpc>
              <a:spcBef>
                <a:spcPts val="0"/>
              </a:spcBef>
              <a:spcAft>
                <a:spcPts val="1100"/>
              </a:spcAft>
            </a:pPr>
            <a:r>
              <a:rPr sz="1500" b="0" i="0">
                <a:solidFill>
                  <a:srgbClr val="1A1A1A"/>
                </a:solidFill>
                <a:latin typeface="Arial"/>
              </a:rPr>
              <a:t>Each swing of the rising channel turns down at one of the levels: the reaction the book says to notice.</a:t>
            </a:r>
          </a:p>
        </p:txBody>
      </p:sp>
      <p:sp>
        <p:nvSpPr>
          <p:cNvPr id="8" name="Rectangle 7"/>
          <p:cNvSpPr/>
          <p:nvPr/>
        </p:nvSpPr>
        <p:spPr>
          <a:xfrm>
            <a:off x="777240" y="4101083"/>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7659"/>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Two kinds of barrier: sloping channel lines, flat retracement levels.</a:t>
            </a:r>
          </a:p>
        </p:txBody>
      </p:sp>
      <p:sp>
        <p:nvSpPr>
          <p:cNvPr id="10" name="TextBox 9"/>
          <p:cNvSpPr txBox="1"/>
          <p:nvPr/>
        </p:nvSpPr>
        <p:spPr>
          <a:xfrm>
            <a:off x="777240" y="493623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Preview only, not examinable: 38.2, 50 and 61.8 percent are borrowed here for the book's channel point; where they come from is 5.7 and Chapter 10, not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what the book says of its Figure 5.46 (p.160), on invented prices, because the figure's levels cannot be read. Drawn so that each swing turns at a level.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return line of a channel is a possible price target, providing resistance to price.</a:t>
            </a:r>
          </a:p>
          <a:p>
            <a:pPr algn="l">
              <a:lnSpc>
                <a:spcPct val="105000"/>
              </a:lnSpc>
              <a:spcBef>
                <a:spcPts val="0"/>
              </a:spcBef>
              <a:spcAft>
                <a:spcPts val="1100"/>
              </a:spcAft>
            </a:pPr>
            <a:r>
              <a:rPr sz="1700" b="0" i="0">
                <a:solidFill>
                  <a:srgbClr val="1A1A1A"/>
                </a:solidFill>
                <a:latin typeface="Arial"/>
              </a:rPr>
              <a:t>Solid: an uptrend line through troughs 1 and 2, and its parallel from peak 3, channel projection 1. Price meets it at 5.</a:t>
            </a:r>
          </a:p>
          <a:p>
            <a:pPr algn="l">
              <a:lnSpc>
                <a:spcPct val="105000"/>
              </a:lnSpc>
              <a:spcBef>
                <a:spcPts val="0"/>
              </a:spcBef>
              <a:spcAft>
                <a:spcPts val="1100"/>
              </a:spcAft>
            </a:pPr>
            <a:r>
              <a:rPr sz="1700" b="0" i="0">
                <a:solidFill>
                  <a:srgbClr val="1A1A1A"/>
                </a:solidFill>
                <a:latin typeface="Arial"/>
              </a:rPr>
              <a:t>Dotted: a new, steeper line from trough 2 to trough 4, and its parallel from 5, channel projection 2. Price meets it at 6.</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targets at 5 and 6 were forecast accurately.</a:t>
            </a:r>
          </a:p>
        </p:txBody>
      </p:sp>
      <p:sp>
        <p:nvSpPr>
          <p:cNvPr id="10" name="TextBox 9"/>
          <p:cNvSpPr txBox="1"/>
          <p:nvPr/>
        </p:nvSpPr>
        <p:spPr>
          <a:xfrm>
            <a:off x="777240" y="5733288"/>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slopes: the target price depends on when price arrives.</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5.47 on p.162. The point by point reading of the figure is ours; the book gives it one sentence.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17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1700" b="0" i="0">
                <a:solidFill>
                  <a:srgbClr val="1A1A1A"/>
                </a:solidFill>
                <a:latin typeface="Arial"/>
              </a:rPr>
              <a:t>Especially so if the channel breakout bar is accompanied by large volume.</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Not the same case as 5.2's single trendline, where piercing the line itself was exhaustion: here price never even reaches the near boundary, then clears the far one, which 5.2 never addressed.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o.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pp.160-161. The chart is ours: the book makes the point on its Figure 5.14. Reconciled with 5.2's single-line exhaustion rule below, our reading.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24</a:t>
            </a:r>
          </a:p>
        </p:txBody>
      </p:sp>
      <p:sp>
        <p:nvSpPr>
          <p:cNvPr id="8" name="Rectangle 7"/>
          <p:cNvSpPr/>
          <p:nvPr/>
        </p:nvSpPr>
        <p:spPr>
          <a:xfrm>
            <a:off x="777240" y="2258568"/>
            <a:ext cx="64008" cy="6278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Sperandeo's rule for which two points to join: a minor trough or peak is a small one, smaller than the move it sits inside.</a:t>
            </a:r>
          </a:p>
        </p:txBody>
      </p:sp>
      <p:sp>
        <p:nvSpPr>
          <p:cNvPr id="10" name="Rectangle 9"/>
          <p:cNvSpPr/>
          <p:nvPr/>
        </p:nvSpPr>
        <p:spPr>
          <a:xfrm>
            <a:off x="777240" y="314248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09676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39768"/>
            <a:ext cx="64008" cy="1267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94048"/>
            <a:ext cx="576072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Uptrend line: from the lowest trough to the highest minor trough preceding the highest peak. Downtrend line: the mirror. The rule anchors the line on the most recent higher low before the top, as close under price as the rally allows. From Victor Sperandeo's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Figure 5.48 (p.163). No reason given for the rule itself. It advises reading Sperandeo's book. Pesos ours.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DeMark's rule: join the two newest points.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 5.49. It calls the approach more responsive, not saying than what, or how a point qualifies. The troughs cannot be told apart here: next slide.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DeMark's line, on numbered troughs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An uptrend with four troughs, numbered in the order they form.</a:t>
            </a:r>
          </a:p>
          <a:p>
            <a:pPr algn="l">
              <a:lnSpc>
                <a:spcPct val="105000"/>
              </a:lnSpc>
              <a:spcBef>
                <a:spcPts val="0"/>
              </a:spcBef>
              <a:spcAft>
                <a:spcPts val="1100"/>
              </a:spcAft>
            </a:pPr>
            <a:r>
              <a:rPr sz="1900" b="0" i="0">
                <a:solidFill>
                  <a:srgbClr val="1A1A1A"/>
                </a:solidFill>
                <a:latin typeface="Arial"/>
              </a:rPr>
              <a:t>Correct, DeMark's line: through the two most recent troughs, 3 and 4.</a:t>
            </a:r>
          </a:p>
          <a:p>
            <a:pPr algn="l">
              <a:lnSpc>
                <a:spcPct val="105000"/>
              </a:lnSpc>
              <a:spcBef>
                <a:spcPts val="0"/>
              </a:spcBef>
              <a:spcAft>
                <a:spcPts val="1100"/>
              </a:spcAft>
            </a:pPr>
            <a:r>
              <a:rPr sz="1900" b="0" i="0">
                <a:solidFill>
                  <a:srgbClr val="1A1A1A"/>
                </a:solidFill>
                <a:latin typeface="Arial"/>
              </a:rPr>
              <a:t>Wrong: the lines through 2 and 3, and through 1 and 2. They use older troughs.</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Only the two most recent troughs give DeMark's line.</a:t>
            </a:r>
          </a:p>
        </p:txBody>
      </p:sp>
      <p:sp>
        <p:nvSpPr>
          <p:cNvPr id="10" name="TextBox 9"/>
          <p:cNvSpPr txBox="1"/>
          <p:nvPr/>
        </p:nvSpPr>
        <p:spPr>
          <a:xfrm>
            <a:off x="777240" y="54422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Which troughs qualify is DeMark's own rule; the book sends the reader to his book for it. Here all four are taken to qualify.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5.49 (p.163) redrawn on invented prices with the troughs numbered, because they cannot be told apart on it.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 each flatter than the last.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from one significant trough, three uptrend lines to later troughs. Accelerating: three downtrend lines, from one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p.163, Fig. 5.50. No reason for three or the names. Its troughs and peaks are too small to read; the next slide redraws them.</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Standard fan lines, numbered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with three fan lines all starting from its first trough.</a:t>
            </a:r>
          </a:p>
          <a:p>
            <a:pPr algn="l">
              <a:lnSpc>
                <a:spcPct val="105000"/>
              </a:lnSpc>
              <a:spcBef>
                <a:spcPts val="0"/>
              </a:spcBef>
              <a:spcAft>
                <a:spcPts val="1100"/>
              </a:spcAft>
            </a:pPr>
            <a:r>
              <a:rPr sz="1700" b="0" i="0">
                <a:solidFill>
                  <a:srgbClr val="1A1A1A"/>
                </a:solidFill>
                <a:latin typeface="Arial"/>
              </a:rPr>
              <a:t>1st, steepest: to the next trough. 2nd, flatter: to the one after. 3rd, flattest: to the last.</a:t>
            </a:r>
          </a:p>
          <a:p>
            <a:pPr algn="l">
              <a:lnSpc>
                <a:spcPct val="105000"/>
              </a:lnSpc>
              <a:spcBef>
                <a:spcPts val="0"/>
              </a:spcBef>
              <a:spcAft>
                <a:spcPts val="1100"/>
              </a:spcAft>
            </a:pPr>
            <a:r>
              <a:rPr sz="1700" b="0" i="0">
                <a:solidFill>
                  <a:srgbClr val="1A1A1A"/>
                </a:solidFill>
                <a:latin typeface="Arial"/>
              </a:rPr>
              <a:t>Accelerating fan lines, from a peak instead, are the same shape mirrored down.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line is numbered in the order the book draws it.</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to draw only three of either; a line beyond the third carries no rule of its own.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q.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5.50 (p.163) redrawn on invented prices, because its troughs and peaks are too small to read on it.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rise from PHP 40 to PHP 60: the vertical line is PHP 20 tall. Measured down from the peak, the three marks are PHP 52.36, 50.00 and 47.64.</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identify a significant Fibonacci retracement range. Draw a vertical line from its peak to the trough's price level. Divide it at 38.2, 50 and 61.8 percent. Project three lines from the trough through those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5.51. It calls this one bearish and does not say why. The percentages are given, not derived: Fibonacci is Chapter 10, retracements 5.7. Pesos ours.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23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5.52 (p.165). No reason for thirds. What they are read for: as with all fan lines, support and resistance (p.163).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24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drawn from three points.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in a downtrend: prices react at the median line and tag the upper band.</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find a significant peak, then an upside retracement that does not exceed it. The median line runs from the peak through the midpoint between the retracement trough and peak; parallels run from both. The lines give support and resistance. Bullish: the converse.</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p.165, Figure 5.53. No reason given. Its text calls both reactions support; at the upper band the figure shows price turning down, which is resistance.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ratios related to the Fibonacci Phi ratio: Chapter 10. Only the percentages matter here.</a:t>
            </a:r>
          </a:p>
          <a:p>
            <a:pPr algn="l">
              <a:lnSpc>
                <a:spcPct val="105000"/>
              </a:lnSpc>
              <a:spcBef>
                <a:spcPts val="0"/>
              </a:spcBef>
              <a:spcAft>
                <a:spcPts val="1100"/>
              </a:spcAft>
            </a:pPr>
            <a:r>
              <a:rPr sz="1700" b="0" i="0">
                <a:solidFill>
                  <a:srgbClr val="1A1A1A"/>
                </a:solidFill>
                <a:latin typeface="Arial"/>
              </a:rPr>
              <a:t>Dow paid particular attention to the one-third and two-thirds retracements. Gann employed one-third and one-eighth retracement ranges.</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298948"/>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Each is a percentage of the move retraced, as in Chapter 2. The table's Gann column is in eighths only, and it brackets Fibonacci's 50; the book explains neither.</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and Figure 5.54. Nothing is derived here: the book leaves that to 'a subsequent chapter', unnamed. Its Chapter 10 is Fibonacci, its Chapter 19 Gann.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The chart is ours: a rise from PHP 40 to PHP 60, chosen so that 50 percent falls on PHP 50.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it opens: in a range, or early, midway or late in a trend.</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7607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Figure 5.55 (p.167), whose Support arrows mark the support each gap later gives. Chapter 3 named the four and left their meanings to this chapter.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define the stages within a trend, indicating potential tops and bottoms.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Midway gap: the runaway gap by another name. The rejection is at a very bearish shooting star, a candlestick pattern: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pp.166-167 and Figure 5.56.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On the Wheat chart the gaps gave rise to later levels of support.</a:t>
            </a:r>
          </a:p>
          <a:p>
            <a:pPr algn="l">
              <a:lnSpc>
                <a:spcPct val="105000"/>
              </a:lnSpc>
              <a:spcBef>
                <a:spcPts val="0"/>
              </a:spcBef>
              <a:spcAft>
                <a:spcPts val="1100"/>
              </a:spcAft>
            </a:pPr>
            <a:r>
              <a:rPr sz="1600" b="0" i="0">
                <a:solidFill>
                  <a:srgbClr val="1A1A1A"/>
                </a:solidFill>
                <a:latin typeface="Arial"/>
              </a:rPr>
              <a:t>On this 15 minute chart of GLD, gaps give rise to areas of both support and resistance: the horizontal lines drawn from each gap.</a:t>
            </a:r>
          </a:p>
        </p:txBody>
      </p:sp>
      <p:sp>
        <p:nvSpPr>
          <p:cNvPr id="8" name="Rectangle 7"/>
          <p:cNvSpPr/>
          <p:nvPr/>
        </p:nvSpPr>
        <p:spPr>
          <a:xfrm>
            <a:off x="777240" y="377647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2793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Gaps tend to create areas of potential support and resistance.</a:t>
            </a:r>
          </a:p>
        </p:txBody>
      </p:sp>
      <p:sp>
        <p:nvSpPr>
          <p:cNvPr id="10" name="TextBox 9"/>
          <p:cNvSpPr txBox="1"/>
          <p:nvPr/>
        </p:nvSpPr>
        <p:spPr>
          <a:xfrm>
            <a:off x="777240" y="4642104"/>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gaps, and the figure's other two labels (angular symmetry in GLD, a cycle-tuned stochastic, both characteristics for a different chapter), cannot be read at this size, so nothing here is asked to be verified from them; the next slide draws the gap claim so it can be.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pp.167-168, Figure 5.57, kept for completeness; no reason given why a gap becomes a barrier.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gap as support, and a gap as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4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gold band is the price range a gap skipped, carried forward in time.</a:t>
            </a:r>
          </a:p>
          <a:p>
            <a:pPr algn="l">
              <a:lnSpc>
                <a:spcPct val="105000"/>
              </a:lnSpc>
              <a:spcBef>
                <a:spcPts val="0"/>
              </a:spcBef>
              <a:spcAft>
                <a:spcPts val="1100"/>
              </a:spcAft>
            </a:pPr>
            <a:r>
              <a:rPr sz="1700" b="0" i="0">
                <a:solidFill>
                  <a:srgbClr val="1A1A1A"/>
                </a:solidFill>
                <a:latin typeface="Arial"/>
              </a:rPr>
              <a:t>Left: price gaps up and climbs. When it returns from above, the gap area holds it: support.</a:t>
            </a:r>
          </a:p>
          <a:p>
            <a:pPr algn="l">
              <a:lnSpc>
                <a:spcPct val="105000"/>
              </a:lnSpc>
              <a:spcBef>
                <a:spcPts val="0"/>
              </a:spcBef>
              <a:spcAft>
                <a:spcPts val="1100"/>
              </a:spcAft>
            </a:pPr>
            <a:r>
              <a:rPr sz="1700" b="0" i="0">
                <a:solidFill>
                  <a:srgbClr val="1A1A1A"/>
                </a:solidFill>
                <a:latin typeface="Arial"/>
              </a:rPr>
              <a:t>Right: price gaps down and falls. When it returns from below, the gap area stops it: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From above, a gap is support. From below, resistance.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area, and does not say which edge of the gap holds.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sentence (p.167) on invented prices, because the gaps on its Figure 5.57 are too small to see. It gives no reason why a gap holds.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With the trend only, or whichever way price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trader takes only breakouts with the trend: long in an uptrend, short in a downtrend. Trends turn, so over time that is trading both ways, if no called-for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pp.168-169, Fig. 5.58. Top: each swing traded with its short-term (micro) trend. Bottom: the same seen longer-term (macro): buy above, sell below, its straddle.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2</a:t>
            </a:r>
          </a:p>
        </p:txBody>
      </p:sp>
      <p:sp>
        <p:nvSpPr>
          <p:cNvPr id="8" name="Rectangle 7"/>
          <p:cNvSpPr/>
          <p:nvPr/>
        </p:nvSpPr>
        <p:spPr>
          <a:xfrm>
            <a:off x="777240" y="2258568"/>
            <a:ext cx="64008" cy="4450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547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A way to stay on the right side of the market.</a:t>
            </a:r>
          </a:p>
        </p:txBody>
      </p:sp>
      <p:sp>
        <p:nvSpPr>
          <p:cNvPr id="10" name="Rectangle 9"/>
          <p:cNvSpPr/>
          <p:nvPr/>
        </p:nvSpPr>
        <p:spPr>
          <a:xfrm>
            <a:off x="777240" y="2959607"/>
            <a:ext cx="64008" cy="68884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13888"/>
            <a:ext cx="5577840" cy="7985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Price above the PLdot line: bullish. Below: bearish. Some buy when it turns up, sell when it turns down.</a:t>
            </a:r>
          </a:p>
        </p:txBody>
      </p:sp>
      <p:sp>
        <p:nvSpPr>
          <p:cNvPr id="12" name="Rectangle 11"/>
          <p:cNvSpPr/>
          <p:nvPr/>
        </p:nvSpPr>
        <p:spPr>
          <a:xfrm>
            <a:off x="777240" y="3904487"/>
            <a:ext cx="64008" cy="166420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858768"/>
            <a:ext cx="5577840" cy="17739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Charles Drummond's: a short-term moving average, the PLdot line, and inter-bar trendlines, which connect each bar's highs and connect each bar's lows,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p.169, Fig. 5.59, where the line hugs the bars too closely to see: next slide. Not explained: typical price, why three periods.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PLdot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green line is a three-bar moving average: at each bar, the average of the last three.</a:t>
            </a:r>
          </a:p>
          <a:p>
            <a:pPr algn="l">
              <a:lnSpc>
                <a:spcPct val="105000"/>
              </a:lnSpc>
              <a:spcBef>
                <a:spcPts val="0"/>
              </a:spcBef>
              <a:spcAft>
                <a:spcPts val="1100"/>
              </a:spcAft>
            </a:pPr>
            <a:r>
              <a:rPr sz="1700" b="0" i="0">
                <a:solidFill>
                  <a:srgbClr val="1A1A1A"/>
                </a:solidFill>
                <a:latin typeface="Arial"/>
              </a:rPr>
              <a:t>Price above the line: the market is regarded as bullish. Below it: bearish.</a:t>
            </a:r>
          </a:p>
          <a:p>
            <a:pPr algn="l">
              <a:lnSpc>
                <a:spcPct val="105000"/>
              </a:lnSpc>
              <a:spcBef>
                <a:spcPts val="0"/>
              </a:spcBef>
              <a:spcAft>
                <a:spcPts val="1100"/>
              </a:spcAft>
            </a:pPr>
            <a:r>
              <a:rPr sz="1700" b="0" i="0">
                <a:solidFill>
                  <a:srgbClr val="1A1A1A"/>
                </a:solidFill>
                <a:latin typeface="Arial"/>
              </a:rPr>
              <a:t>Some buy when the line turns up, and sell when it turns down.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helps keep the trader on the right side of the market.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Ours averages closes, shifted forward one bar. The book's PLdot averages typical price, which this chapter does not define. Moving averages: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t.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AT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three readings of the PLdot (p.169) on invented bars, because the line cannot be seen on its Figure 5.59.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significant historical support levels.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u.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AU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The chart is ours, on invented prices.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Chapter 8: give overbought and oversold readings at tops and bottoms, by a method this chapter does not give.</a:t>
            </a:r>
          </a:p>
          <a:p>
            <a:pPr algn="l">
              <a:lnSpc>
                <a:spcPct val="118000"/>
              </a:lnSpc>
              <a:spcBef>
                <a:spcPts val="0"/>
              </a:spcBef>
              <a:spcAft>
                <a:spcPts val="1300"/>
              </a:spcAft>
            </a:pPr>
            <a:r>
              <a:rPr sz="2100" b="0" i="0">
                <a:solidFill>
                  <a:srgbClr val="1A1A1A"/>
                </a:solidFill>
                <a:latin typeface="Arial"/>
              </a:rPr>
              <a:t>Divergence, Chapter 9: bearish divergence with price at tops, bullish at bottoms.</a:t>
            </a:r>
          </a:p>
          <a:p>
            <a:pPr algn="l">
              <a:lnSpc>
                <a:spcPct val="118000"/>
              </a:lnSpc>
              <a:spcBef>
                <a:spcPts val="0"/>
              </a:spcBef>
              <a:spcAft>
                <a:spcPts val="1300"/>
              </a:spcAft>
            </a:pPr>
            <a:r>
              <a:rPr sz="2100" b="0" i="0">
                <a:solidFill>
                  <a:srgbClr val="1A1A1A"/>
                </a:solidFill>
                <a:latin typeface="Arial"/>
              </a:rPr>
              <a:t>Candlesticks, Chapter 14: bearish formations at tops, bullish at bottoms.</a:t>
            </a:r>
          </a:p>
          <a:p>
            <a:pPr algn="l">
              <a:lnSpc>
                <a:spcPct val="118000"/>
              </a:lnSpc>
              <a:spcBef>
                <a:spcPts val="0"/>
              </a:spcBef>
              <a:spcAft>
                <a:spcPts val="1300"/>
              </a:spcAft>
            </a:pPr>
            <a:r>
              <a:rPr sz="2100" b="0" i="0">
                <a:solidFill>
                  <a:srgbClr val="1A1A1A"/>
                </a:solidFill>
                <a:latin typeface="Arial"/>
              </a:rPr>
              <a:t>Intermarket, no chapter named: a reversal confirmed by what related or broader markets are doing at the same time, by a method this chapter does not give.</a:t>
            </a:r>
          </a:p>
        </p:txBody>
      </p:sp>
      <p:sp>
        <p:nvSpPr>
          <p:cNvPr id="8" name="TextBox 7"/>
          <p:cNvSpPr txBox="1"/>
          <p:nvPr/>
        </p:nvSpPr>
        <p:spPr>
          <a:xfrm>
            <a:off x="777240" y="521131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summary, the book says: it explains none of these tools here. Know the names; the first three come with their own chapters. Signal line, equilibrium line and intermarket relationship: used here by name only, defined in none of this course's chapters, and added to the next slide's used-not-taught list for that reason.</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It does not say here what a signal line, an equilibrium line or an intermarket relationship is; this slide names each tool without claiming how it works.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 levels, gaps and the signs in 5.11 help locate a reversal.</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 its summary is three sentences. These five are ours, of the whole chapter.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The advantages of proportional sizing? Of price-based over time and algorithmic filters?</a:t>
            </a:r>
          </a:p>
        </p:txBody>
      </p:sp>
      <p:sp>
        <p:nvSpPr>
          <p:cNvPr id="8" name="TextBox 7"/>
          <p:cNvSpPr txBox="1"/>
          <p:nvPr/>
        </p:nvSpPr>
        <p:spPr>
          <a:xfrm>
            <a:off x="777240" y="55770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Its question 4, line three here, says 12 ways; 5.2 lists 16.</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Never defined here: breakout, wave cycle, wave degree, stopsize.</a:t>
            </a:r>
          </a:p>
          <a:p>
            <a:pPr algn="l">
              <a:lnSpc>
                <a:spcPct val="118000"/>
              </a:lnSpc>
              <a:spcBef>
                <a:spcPts val="0"/>
              </a:spcBef>
              <a:spcAft>
                <a:spcPts val="1300"/>
              </a:spcAft>
            </a:pPr>
            <a:r>
              <a:rPr sz="2100" b="0" i="0">
                <a:solidFill>
                  <a:srgbClr val="1A1A1A"/>
                </a:solidFill>
                <a:latin typeface="Arial"/>
              </a:rPr>
              <a:t>Used, not taught: typical price, overbought, oversold, signal line, equilibrium line, intermarket relationship, MACD.</a:t>
            </a:r>
          </a:p>
          <a:p>
            <a:pPr algn="l">
              <a:lnSpc>
                <a:spcPct val="118000"/>
              </a:lnSpc>
              <a:spcBef>
                <a:spcPts val="0"/>
              </a:spcBef>
              <a:spcAft>
                <a:spcPts val="1300"/>
              </a:spcAft>
            </a:pPr>
            <a:r>
              <a:rPr sz="2100" b="0" i="0">
                <a:solidFill>
                  <a:srgbClr val="1A1A1A"/>
                </a:solidFill>
                <a:latin typeface="Arial"/>
              </a:rPr>
              <a:t>Sent ahead, by chapter: oscillators 8, divergence 9, Fibonacci 10, moving averages 11, candlesticks 14, Elliott 18, Gann 19.</a:t>
            </a:r>
          </a:p>
          <a:p>
            <a:pPr algn="l">
              <a:lnSpc>
                <a:spcPct val="118000"/>
              </a:lnSpc>
              <a:spcBef>
                <a:spcPts val="0"/>
              </a:spcBef>
              <a:spcAft>
                <a:spcPts val="1300"/>
              </a:spcAft>
            </a:pPr>
            <a:r>
              <a:rPr sz="2100" b="0" i="0">
                <a:solidFill>
                  <a:srgbClr val="1A1A1A"/>
                </a:solidFill>
                <a:latin typeface="Arial"/>
              </a:rPr>
              <a:t>Two answers: 16 characteristics, taught, or 12; 5 ways to enter, listed, or 4; Gold's rate, $3.30 or $3.80.</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of the main ones,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