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gold sentence is ours. Recall: Chapter 3's slide "The true range, and the Type 4 gap." The chart is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The usual range of price in one period.</a:t>
            </a:r>
          </a:p>
        </p:txBody>
      </p:sp>
      <p:sp>
        <p:nvSpPr>
          <p:cNvPr id="10" name="Rectangle 9"/>
          <p:cNvSpPr/>
          <p:nvPr/>
        </p:nvSpPr>
        <p:spPr>
          <a:xfrm>
            <a:off x="777240" y="29443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foreign exchange (FOREX) pair averages 120 pips a day, a pip being the smallest price step a forex quote moves in. Price beyond that, either way, before the day completes: potential exhaustion.</a:t>
            </a:r>
          </a:p>
        </p:txBody>
      </p:sp>
      <p:sp>
        <p:nvSpPr>
          <p:cNvPr id="12" name="Rectangle 11"/>
          <p:cNvSpPr/>
          <p:nvPr/>
        </p:nvSpPr>
        <p:spPr>
          <a:xfrm>
            <a:off x="777240" y="4315968"/>
            <a:ext cx="64008" cy="13441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394960" cy="14538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of the most reliable characteristics of price activity. The average is found with the ATR. A higher mark, the 2 standard deviation value of bar range (twice how far ranges typically spread from that average):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Standard divergence, price and volume or price and any oscillator, may signal a potential reversal or continuation.</a:t>
            </a:r>
          </a:p>
          <a:p>
            <a:pPr algn="l">
              <a:lnSpc>
                <a:spcPct val="105000"/>
              </a:lnSpc>
              <a:spcBef>
                <a:spcPts val="0"/>
              </a:spcBef>
              <a:spcAft>
                <a:spcPts val="1100"/>
              </a:spcAft>
            </a:pPr>
            <a:r>
              <a:rPr sz="1700" b="0" i="0">
                <a:solidFill>
                  <a:srgbClr val="1A1A1A"/>
                </a:solidFill>
                <a:latin typeface="Arial"/>
              </a:rPr>
              <a:t>As Chapter 4 showed: price makes a higher peak while the MACD makes a lower one. Recalled on the right, characteristic 6's own example.</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names a second kind, reverse divergence, but gives it no sentence of its own here.</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and how either kind signals a continuation, are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Chapter 9. MACD: Chapter 4. Chart recalls Chart O, a few slides back.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Price-based filters indicate the exact price of entry, but not when.</a:t>
            </a:r>
          </a:p>
          <a:p>
            <a:pPr algn="l">
              <a:lnSpc>
                <a:spcPct val="105000"/>
              </a:lnSpc>
              <a:spcBef>
                <a:spcPts val="0"/>
              </a:spcBef>
              <a:spcAft>
                <a:spcPts val="1100"/>
              </a:spcAft>
            </a:pPr>
            <a:r>
              <a:rPr sz="1600" b="0" i="0">
                <a:solidFill>
                  <a:srgbClr val="1A1A1A"/>
                </a:solidFill>
                <a:latin typeface="Arial"/>
              </a:rPr>
              <a:t>Time-based filters indicate the exact time of entry, but not the price.</a:t>
            </a:r>
          </a:p>
          <a:p>
            <a:pPr algn="l">
              <a:lnSpc>
                <a:spcPct val="105000"/>
              </a:lnSpc>
              <a:spcBef>
                <a:spcPts val="0"/>
              </a:spcBef>
              <a:spcAft>
                <a:spcPts val="1100"/>
              </a:spcAft>
            </a:pPr>
            <a:r>
              <a:rPr sz="1600" b="0" i="0">
                <a:solidFill>
                  <a:srgbClr val="1A1A1A"/>
                </a:solidFill>
                <a:latin typeface="Arial"/>
              </a:rPr>
              <a:t>Event-based filters indicate neither, until an event has occurred.</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run against past prices to see how they would have performed,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backtest glossed in the caption, ours. The chart is ours: the book's own figure lists the filters and does not show the three entries.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Price-based. Absolute: a fixed price excursion. Relative: a percentage of the breakout price. Volatility: multiples of ATR or of standard deviation, how far a bar's range typically varies.</a:t>
            </a:r>
          </a:p>
          <a:p>
            <a:pPr algn="l">
              <a:lnSpc>
                <a:spcPct val="105000"/>
              </a:lnSpc>
              <a:spcBef>
                <a:spcPts val="0"/>
              </a:spcBef>
              <a:spcAft>
                <a:spcPts val="1100"/>
              </a:spcAft>
            </a:pPr>
            <a:r>
              <a:rPr sz="1500" b="0" i="0">
                <a:solidFill>
                  <a:srgbClr val="1A1A1A"/>
                </a:solidFill>
                <a:latin typeface="Arial"/>
              </a:rPr>
              <a:t>Time-based: a duration of N closed bars, N being however many the trader chooses.</a:t>
            </a:r>
          </a:p>
          <a:p>
            <a:pPr algn="l">
              <a:lnSpc>
                <a:spcPct val="105000"/>
              </a:lnSpc>
              <a:spcBef>
                <a:spcPts val="0"/>
              </a:spcBef>
              <a:spcAft>
                <a:spcPts val="1100"/>
              </a:spcAft>
            </a:pPr>
            <a:r>
              <a:rPr sz="1500" b="0" i="0">
                <a:solidFill>
                  <a:srgbClr val="1A1A1A"/>
                </a:solidFill>
                <a:latin typeface="Arial"/>
              </a:rPr>
              <a:t>Event-based. Algorithmic: a specific sequence of closed bars, several in a row closing the same way, or of new highs or lows. Event-based measure: a closing violation, or a retest, price returning to touch a broken level.</a:t>
            </a:r>
          </a:p>
        </p:txBody>
      </p:sp>
      <p:sp>
        <p:nvSpPr>
          <p:cNvPr id="8" name="TextBox 7"/>
          <p:cNvSpPr txBox="1"/>
          <p:nvPr/>
        </p:nvSpPr>
        <p:spPr>
          <a:xfrm>
            <a:off x="777240" y="530123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How far past the line, the ?, before the break counts? Chapter 1 calls the third family algorithmic;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 a sequence, a retest and standard deviation are glossed in one line each; the book gives no number for any of them.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u.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v.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w.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Market if Touched, MIT: sells above the market, buys below it, with a stop order. Same shape as the recall, right.</a:t>
            </a:r>
          </a:p>
          <a:p>
            <a:pPr algn="l">
              <a:lnSpc>
                <a:spcPct val="105000"/>
              </a:lnSpc>
              <a:spcBef>
                <a:spcPts val="0"/>
              </a:spcBef>
              <a:spcAft>
                <a:spcPts val="1100"/>
              </a:spcAft>
            </a:pPr>
            <a:r>
              <a:rPr sz="1500" b="0" i="0">
                <a:solidFill>
                  <a:srgbClr val="1A1A1A"/>
                </a:solidFill>
                <a:latin typeface="Arial"/>
              </a:rPr>
              <a:t>Day orders stay pending only until the end of the trading day.</a:t>
            </a:r>
          </a:p>
          <a:p>
            <a:pPr algn="l">
              <a:lnSpc>
                <a:spcPct val="105000"/>
              </a:lnSpc>
              <a:spcBef>
                <a:spcPts val="0"/>
              </a:spcBef>
              <a:spcAft>
                <a:spcPts val="1100"/>
              </a:spcAft>
            </a:pPr>
            <a:r>
              <a:rPr sz="1500" b="0" i="0">
                <a:solidFill>
                  <a:srgbClr val="1A1A1A"/>
                </a:solidFill>
                <a:latin typeface="Arial"/>
              </a:rPr>
              <a:t>Good till Cancelled orders stay active until further notice.</a:t>
            </a:r>
          </a:p>
          <a:p>
            <a:pPr algn="l">
              <a:lnSpc>
                <a:spcPct val="105000"/>
              </a:lnSpc>
              <a:spcBef>
                <a:spcPts val="0"/>
              </a:spcBef>
              <a:spcAft>
                <a:spcPts val="1100"/>
              </a:spcAft>
            </a:pPr>
            <a:r>
              <a:rPr sz="1500" b="0" i="0">
                <a:solidFill>
                  <a:srgbClr val="1A1A1A"/>
                </a:solidFill>
                <a:latin typeface="Arial"/>
              </a:rPr>
              <a:t>Market on Close orders fill in the last minutes, at or near the close.</a:t>
            </a:r>
          </a:p>
          <a:p>
            <a:pPr algn="l">
              <a:lnSpc>
                <a:spcPct val="105000"/>
              </a:lnSpc>
              <a:spcBef>
                <a:spcPts val="0"/>
              </a:spcBef>
              <a:spcAft>
                <a:spcPts val="1100"/>
              </a:spcAft>
            </a:pPr>
            <a:r>
              <a:rPr sz="1500" b="0" i="0">
                <a:solidFill>
                  <a:srgbClr val="1A1A1A"/>
                </a:solidFill>
                <a:latin typeface="Arial"/>
              </a:rPr>
              <a:t>OCO places two opposite orders and cancels whichever does not fill. OTO places a second order once a first fills.</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b.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recalls Chart W, a few slides back: the same shape an MIT order uses.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6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6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600" b="0" i="0">
                <a:solidFill>
                  <a:srgbClr val="1A1A1A"/>
                </a:solidFill>
                <a:latin typeface="Arial"/>
              </a:rPr>
              <a:t>Random entries, and pattern or sequence-based entries.</a:t>
            </a:r>
          </a:p>
        </p:txBody>
      </p:sp>
      <p:sp>
        <p:nvSpPr>
          <p:cNvPr id="8" name="TextBox 7"/>
          <p:cNvSpPr txBox="1"/>
          <p:nvPr/>
        </p:nvSpPr>
        <p:spPr>
          <a:xfrm>
            <a:off x="777240" y="487375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a random entry is taken with no technical signal at all, usually only to benchmark a strategy against chance.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c.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10546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An inflection point, a peak or trough, counts for more the more bars flank it. A peak acts as resistance, stopping a rally; a trough acts as support, stopping a decline.</a:t>
            </a:r>
          </a:p>
        </p:txBody>
      </p:sp>
      <p:sp>
        <p:nvSpPr>
          <p:cNvPr id="10" name="Rectangle 9"/>
          <p:cNvSpPr/>
          <p:nvPr/>
        </p:nvSpPr>
        <p:spPr>
          <a:xfrm>
            <a:off x="777240" y="356920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2348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breached barrier changes sides.</a:t>
            </a:r>
          </a:p>
        </p:txBody>
      </p:sp>
      <p:sp>
        <p:nvSpPr>
          <p:cNvPr id="10" name="Rectangle 9"/>
          <p:cNvSpPr/>
          <p:nvPr/>
        </p:nvSpPr>
        <p:spPr>
          <a:xfrm>
            <a:off x="777240" y="29443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466344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share holds at PHP 40, then falls through it. On the next rally PHP 40 stops it.</a:t>
            </a:r>
          </a:p>
        </p:txBody>
      </p:sp>
      <p:sp>
        <p:nvSpPr>
          <p:cNvPr id="12" name="Rectangle 11"/>
          <p:cNvSpPr/>
          <p:nvPr/>
        </p:nvSpPr>
        <p:spPr>
          <a:xfrm>
            <a:off x="777240" y="3858768"/>
            <a:ext cx="64008" cy="18013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13048"/>
            <a:ext cx="4663440" cy="191109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Price barriers change roles once breached: support turns into future resistance, and resistance into future support. All overlay barriers: channels, trendlines (5.6), pivot points and price envelopes, the last two not built in this course, named only as the book's others.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Support and resistance: the slide just before this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700" b="0" i="0">
                <a:solidFill>
                  <a:srgbClr val="1A1A1A"/>
                </a:solidFill>
                <a:latin typeface="Arial"/>
              </a:rPr>
              <a:t>Resistance turning into support, again and again, in an uptrend.</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0965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role reversal as the last two slides, on a real chart instead of an invented one.</a:t>
            </a:r>
          </a:p>
        </p:txBody>
      </p:sp>
      <p:sp>
        <p:nvSpPr>
          <p:cNvPr id="10" name="TextBox 9"/>
          <p:cNvSpPr txBox="1"/>
          <p:nvPr/>
        </p:nvSpPr>
        <p:spPr>
          <a:xfrm>
            <a:off x="777240" y="502691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lower panel carries an oscillator, the cycle-tuned stochastic, Chapter 8, too small to read here; this slide keeps only what the price panel itself shows.</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145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24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Says whether a trend is on. Not 5.3's filters.</a:t>
            </a:r>
          </a:p>
        </p:txBody>
      </p:sp>
      <p:sp>
        <p:nvSpPr>
          <p:cNvPr id="10" name="Rectangle 9"/>
          <p:cNvSpPr/>
          <p:nvPr/>
        </p:nvSpPr>
        <p:spPr>
          <a:xfrm>
            <a:off x="777240" y="2929128"/>
            <a:ext cx="64008" cy="1267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83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moving average: the average of a bar's own close and a set number before it, moving ahead one bar at a time. A double crossover compares a shorter one against a longer: shorter above, a potential uptrend; shorter below, a potential downtrend.</a:t>
            </a:r>
          </a:p>
        </p:txBody>
      </p:sp>
      <p:sp>
        <p:nvSpPr>
          <p:cNvPr id="12" name="Rectangle 11"/>
          <p:cNvSpPr/>
          <p:nvPr/>
        </p:nvSpPr>
        <p:spPr>
          <a:xfrm>
            <a:off x="777240" y="445312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It helps to identify a trend amidst the market noise and price volatility. How a moving average is built in general is Chapter 11; this is only its crossing read. Two more: an oscillator crossing its signal line, and price contained above or below an overlay barrier.</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6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6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519379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Preview only, not examinable: the MACD, the stochastic and signal lines are not taught in this course until later chapters.</a:t>
            </a:r>
          </a:p>
        </p:txBody>
      </p:sp>
      <p:sp>
        <p:nvSpPr>
          <p:cNvPr id="10" name="TextBox 9"/>
          <p:cNvSpPr txBox="1"/>
          <p:nvPr/>
        </p:nvSpPr>
        <p:spPr>
          <a:xfrm>
            <a:off x="777240" y="532180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shown here only because the book places it in this section. Nothing on this slide is assumed known or tested.</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600" b="0" i="0">
                <a:solidFill>
                  <a:srgbClr val="1A1A1A"/>
                </a:solidFill>
                <a:latin typeface="Arial"/>
              </a:rPr>
              <a:t>Entry too far from one: a stop some multiple of ATR or standard deviations away. A qualitative rule only; the book gives no actual multiple.</a:t>
            </a:r>
          </a:p>
          <a:p>
            <a:pPr algn="l">
              <a:lnSpc>
                <a:spcPct val="105000"/>
              </a:lnSpc>
              <a:spcBef>
                <a:spcPts val="0"/>
              </a:spcBef>
              <a:spcAft>
                <a:spcPts val="1100"/>
              </a:spcAft>
            </a:pPr>
            <a:r>
              <a:rPr sz="16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600" b="0" i="0">
                <a:solidFill>
                  <a:srgbClr val="1A1A1A"/>
                </a:solidFill>
                <a:latin typeface="Arial"/>
              </a:rPr>
              <a:t>Breakout entries: stopsizes vary. The peak or trough may be any distance from the entry.</a:t>
            </a:r>
          </a:p>
        </p:txBody>
      </p:sp>
      <p:sp>
        <p:nvSpPr>
          <p:cNvPr id="8" name="TextBox 7"/>
          <p:cNvSpPr txBox="1"/>
          <p:nvPr/>
        </p:nvSpPr>
        <p:spPr>
          <a:xfrm>
            <a:off x="777240" y="53858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6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288536"/>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5112"/>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Either way the result is significant loss.</a:t>
            </a:r>
          </a:p>
        </p:txBody>
      </p:sp>
      <p:sp>
        <p:nvSpPr>
          <p:cNvPr id="10" name="TextBox 9"/>
          <p:cNvSpPr txBox="1"/>
          <p:nvPr/>
        </p:nvSpPr>
        <p:spPr>
          <a:xfrm>
            <a:off x="777240" y="48950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Why each is bad, our reading: a narrow stop on current capital compounds, each loss shrinks the base the next is sized from; a wide stop on original capital stays large even after capital has shrunk.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Backtest, run the system on past trades: the average stopsize of 300 to 500, to average out noise. Say PHP 2.00.</a:t>
            </a:r>
          </a:p>
          <a:p>
            <a:pPr algn="l">
              <a:lnSpc>
                <a:spcPct val="105000"/>
              </a:lnSpc>
              <a:spcBef>
                <a:spcPts val="0"/>
              </a:spcBef>
              <a:spcAft>
                <a:spcPts val="1100"/>
              </a:spcAft>
            </a:pPr>
            <a:r>
              <a:rPr sz="1500" b="0" i="0">
                <a:solidFill>
                  <a:srgbClr val="1A1A1A"/>
                </a:solidFill>
                <a:latin typeface="Arial"/>
              </a:rPr>
              <a:t>2  Their two standard deviation value: say PHP 1.00, the same cushion as 13's ninety percent mark.</a:t>
            </a:r>
          </a:p>
          <a:p>
            <a:pPr algn="l">
              <a:lnSpc>
                <a:spcPct val="105000"/>
              </a:lnSpc>
              <a:spcBef>
                <a:spcPts val="0"/>
              </a:spcBef>
              <a:spcAft>
                <a:spcPts val="1100"/>
              </a:spcAft>
            </a:pPr>
            <a:r>
              <a:rPr sz="1500" b="0" i="0">
                <a:solidFill>
                  <a:srgbClr val="1A1A1A"/>
                </a:solidFill>
                <a:latin typeface="Arial"/>
              </a:rPr>
              <a:t>3  Add: the proportional stopsize, PHP 3.00, wide enough for almost every stop seen.</a:t>
            </a:r>
          </a:p>
          <a:p>
            <a:pPr algn="l">
              <a:lnSpc>
                <a:spcPct val="105000"/>
              </a:lnSpc>
              <a:spcBef>
                <a:spcPts val="0"/>
              </a:spcBef>
              <a:spcAft>
                <a:spcPts val="1100"/>
              </a:spcAft>
            </a:pPr>
            <a:r>
              <a:rPr sz="1500" b="0" i="0">
                <a:solidFill>
                  <a:srgbClr val="1A1A1A"/>
                </a:solidFill>
                <a:latin typeface="Arial"/>
              </a:rPr>
              <a:t>4  Maximum risk per trade: 1 percent of current capital. Say PHP 10,000.</a:t>
            </a:r>
          </a:p>
          <a:p>
            <a:pPr algn="l">
              <a:lnSpc>
                <a:spcPct val="105000"/>
              </a:lnSpc>
              <a:spcBef>
                <a:spcPts val="0"/>
              </a:spcBef>
              <a:spcAft>
                <a:spcPts val="1100"/>
              </a:spcAft>
            </a:pPr>
            <a:r>
              <a:rPr sz="1500" b="0" i="0">
                <a:solidFill>
                  <a:srgbClr val="1A1A1A"/>
                </a:solidFill>
                <a:latin typeface="Arial"/>
              </a:rPr>
              <a:t>5  10,000 / 3.00 = 3,333 shares, the proportional tradesize.</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h.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step 3, beyond 13's 2 SD case. Backtest: 5.3. Pesos, 1 percent: ours.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straight line through two turning points, carried forward, cutting through no price.</a:t>
            </a:r>
          </a:p>
        </p:txBody>
      </p:sp>
      <p:sp>
        <p:nvSpPr>
          <p:cNvPr id="10" name="Rectangle 9"/>
          <p:cNvSpPr/>
          <p:nvPr/>
        </p:nvSpPr>
        <p:spPr>
          <a:xfrm>
            <a:off x="777240" y="3142488"/>
            <a:ext cx="64008" cy="6278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026408"/>
            <a:ext cx="64008" cy="1694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80688"/>
            <a:ext cx="5394960" cy="18044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line projected forward into the future from two significant inflection points: troughs for an uptrend, peaks for a downtrend. Two points only fit a line to the past; a third touch is the first time it predicts, which is why it is tentative until then and confirmed, or valid, after. A line price cuts through has already broken it, so it could not still be holding.</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i.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the no-cutting rule beyond our own reading. Price crossing it later is a breach. Pesos and chart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reliable trendline gives consistent support and resistance. A lot of whipsaws, price crossing the line back and forth without a clean break: unreliable.</a:t>
            </a:r>
          </a:p>
          <a:p>
            <a:pPr algn="l">
              <a:lnSpc>
                <a:spcPct val="105000"/>
              </a:lnSpc>
              <a:spcBef>
                <a:spcPts val="0"/>
              </a:spcBef>
              <a:spcAft>
                <a:spcPts val="1100"/>
              </a:spcAft>
            </a:pPr>
            <a:r>
              <a:rPr sz="1500" b="0" i="0">
                <a:solidFill>
                  <a:srgbClr val="1A1A1A"/>
                </a:solidFill>
                <a:latin typeface="Arial"/>
              </a:rPr>
              <a:t>Angle, read on a linear price scale, Chapter 3: above 45 degrees a steep uptrend is less stable, and may not sustain itself. So is a very shallow one.</a:t>
            </a:r>
          </a:p>
          <a:p>
            <a:pPr algn="l">
              <a:lnSpc>
                <a:spcPct val="105000"/>
              </a:lnSpc>
              <a:spcBef>
                <a:spcPts val="0"/>
              </a:spcBef>
              <a:spcAft>
                <a:spcPts val="1100"/>
              </a:spcAft>
            </a:pPr>
            <a:r>
              <a:rPr sz="15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500" b="0" i="0">
                <a:solidFill>
                  <a:srgbClr val="1A1A1A"/>
                </a:solidFill>
                <a:latin typeface="Arial"/>
              </a:rPr>
              <a:t>Duration: longer-term trendlines are generally more reliable than shorter-term ones.</a:t>
            </a:r>
          </a:p>
        </p:txBody>
      </p:sp>
      <p:sp>
        <p:nvSpPr>
          <p:cNvPr id="8" name="TextBox 7"/>
          <p:cNvSpPr txBox="1"/>
          <p:nvPr/>
        </p:nvSpPr>
        <p:spPr>
          <a:xfrm>
            <a:off x="777240" y="546582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No reason given for 35 to 45 degrees or the scaling; our reading is linear, Chapter 3. The chart is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no need to identify price patterns.</a:t>
            </a:r>
          </a:p>
          <a:p>
            <a:pPr algn="l">
              <a:lnSpc>
                <a:spcPct val="118000"/>
              </a:lnSpc>
              <a:spcBef>
                <a:spcPts val="0"/>
              </a:spcBef>
              <a:spcAft>
                <a:spcPts val="1300"/>
              </a:spcAft>
            </a:pPr>
            <a:r>
              <a:rPr sz="2100" b="0" i="0">
                <a:solidFill>
                  <a:srgbClr val="1A1A1A"/>
                </a:solidFill>
                <a:latin typeface="Arial"/>
              </a:rPr>
              <a:t>Strengths 3 and 4: simple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the slide before's term; weaker in erratic markets.</a:t>
            </a:r>
          </a:p>
          <a:p>
            <a:pPr algn="l">
              <a:lnSpc>
                <a:spcPct val="118000"/>
              </a:lnSpc>
              <a:spcBef>
                <a:spcPts val="0"/>
              </a:spcBef>
              <a:spcAft>
                <a:spcPts val="1300"/>
              </a:spcAft>
            </a:pPr>
            <a:r>
              <a:rPr sz="2100" b="0" i="0">
                <a:solidFill>
                  <a:srgbClr val="1A1A1A"/>
                </a:solidFill>
                <a:latin typeface="Arial"/>
              </a:rPr>
              <a:t>Weakness 2: affected by the scaling used, Chapter 3's ratio or linear.</a:t>
            </a:r>
          </a:p>
          <a:p>
            <a:pPr algn="l">
              <a:lnSpc>
                <a:spcPct val="118000"/>
              </a:lnSpc>
              <a:spcBef>
                <a:spcPts val="0"/>
              </a:spcBef>
              <a:spcAft>
                <a:spcPts val="1300"/>
              </a:spcAft>
            </a:pPr>
            <a:r>
              <a:rPr sz="2100" b="0" i="0">
                <a:solidFill>
                  <a:srgbClr val="1A1A1A"/>
                </a:solidFill>
                <a:latin typeface="Arial"/>
              </a:rPr>
              <a:t>Weakness 3: a sideways consolidation drifts both ways, crossing a line without a real reversal's break.</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Weakness 3's reason is our reading.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24</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Nested channeling again, this time on a chart of the USDCAD.</a:t>
            </a:r>
          </a:p>
          <a:p>
            <a:pPr algn="l">
              <a:lnSpc>
                <a:spcPct val="105000"/>
              </a:lnSpc>
              <a:spcBef>
                <a:spcPts val="0"/>
              </a:spcBef>
              <a:spcAft>
                <a:spcPts val="1100"/>
              </a:spcAft>
            </a:pPr>
            <a:r>
              <a:rPr sz="16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600" b="0" i="0">
                <a:solidFill>
                  <a:srgbClr val="1A1A1A"/>
                </a:solidFill>
                <a:latin typeface="Arial"/>
              </a:rPr>
              <a:t>The book's own page, kept for completeness. Neither the channels nor the levels can be read at this size, so nothing here is asked to be verified from it; the next slide redraws the same idea so it can be.</a:t>
            </a:r>
          </a:p>
        </p:txBody>
      </p:sp>
      <p:sp>
        <p:nvSpPr>
          <p:cNvPr id="8" name="TextBox 7"/>
          <p:cNvSpPr txBox="1"/>
          <p:nvPr/>
        </p:nvSpPr>
        <p:spPr>
          <a:xfrm>
            <a:off x="777240" y="522122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prior fall: PHP 60 down to PHP 40, PHP 20 in all.</a:t>
            </a:r>
          </a:p>
          <a:p>
            <a:pPr algn="l">
              <a:lnSpc>
                <a:spcPct val="105000"/>
              </a:lnSpc>
              <a:spcBef>
                <a:spcPts val="0"/>
              </a:spcBef>
              <a:spcAft>
                <a:spcPts val="1100"/>
              </a:spcAft>
            </a:pPr>
            <a:r>
              <a:rPr sz="15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5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101083"/>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7659"/>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kinds of barrier: sloping channel lines, flat retracement levels.</a:t>
            </a:r>
          </a:p>
        </p:txBody>
      </p:sp>
      <p:sp>
        <p:nvSpPr>
          <p:cNvPr id="10" name="TextBox 9"/>
          <p:cNvSpPr txBox="1"/>
          <p:nvPr/>
        </p:nvSpPr>
        <p:spPr>
          <a:xfrm>
            <a:off x="777240" y="493623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Preview only, not examinable: 38.2, 50 and 61.8 percent are borrowed here for the book's channel point; where they come from is 5.7 and Chapter 10, not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17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1700" b="0" i="0">
                <a:solidFill>
                  <a:srgbClr val="1A1A1A"/>
                </a:solidFill>
                <a:latin typeface="Arial"/>
              </a:rPr>
              <a:t>Especially so if the channel breakout bar is accompanied by large volume.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Not the same case as 5.2's single trendline, where piercing the line itself was exhaustion: here price never even reaches the near boundary, then clears the far one, which 5.2 never addressed.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o.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Reconciled with 5.2's single-line exhaustion rule below, our reading.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Sperandeo's rule for which two points to join: a minor trough or peak is a small one, smaller than the move it sits inside.</a:t>
            </a:r>
          </a:p>
        </p:txBody>
      </p:sp>
      <p:sp>
        <p:nvSpPr>
          <p:cNvPr id="10" name="Rectangle 9"/>
          <p:cNvSpPr/>
          <p:nvPr/>
        </p:nvSpPr>
        <p:spPr>
          <a:xfrm>
            <a:off x="777240" y="314248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3976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94048"/>
            <a:ext cx="576072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Uptrend line: from the lowest trough to the highest minor trough preceding the highest peak. Downtrend line: the mirror. The rule anchors the line on the most recent higher low before the top, as close under price as the rally allows. From Victor Sperandeo's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for the rule itself. It advises reading Sperandeo's book. Pesos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the names. Its troughs and peaks are too small to read; the next slide redraws them.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Standard fan lines, numbered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with three fan lines all starting from its first trough.</a:t>
            </a:r>
          </a:p>
          <a:p>
            <a:pPr algn="l">
              <a:lnSpc>
                <a:spcPct val="105000"/>
              </a:lnSpc>
              <a:spcBef>
                <a:spcPts val="0"/>
              </a:spcBef>
              <a:spcAft>
                <a:spcPts val="1100"/>
              </a:spcAft>
            </a:pPr>
            <a:r>
              <a:rPr sz="1700" b="0" i="0">
                <a:solidFill>
                  <a:srgbClr val="1A1A1A"/>
                </a:solidFill>
                <a:latin typeface="Arial"/>
              </a:rPr>
              <a:t>1st, steepest: to the next trough. 2nd, flatter: to the one after. 3rd, flattest: to the last.</a:t>
            </a:r>
          </a:p>
          <a:p>
            <a:pPr algn="l">
              <a:lnSpc>
                <a:spcPct val="105000"/>
              </a:lnSpc>
              <a:spcBef>
                <a:spcPts val="0"/>
              </a:spcBef>
              <a:spcAft>
                <a:spcPts val="1100"/>
              </a:spcAft>
            </a:pPr>
            <a:r>
              <a:rPr sz="1700" b="0" i="0">
                <a:solidFill>
                  <a:srgbClr val="1A1A1A"/>
                </a:solidFill>
                <a:latin typeface="Arial"/>
              </a:rPr>
              <a:t>Accelerating fan lines, from a peak instead, are the same shape mirrored down.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line is numbered in the order the book draws it.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to draw only three of either; a line beyond the third carries no rule of its own.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q.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5.50 (p.163) redrawn on invented prices, because its troughs and peaks are too small to read on it.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On the Wheat chart the gaps gave rise to later levels of support.</a:t>
            </a:r>
          </a:p>
          <a:p>
            <a:pPr algn="l">
              <a:lnSpc>
                <a:spcPct val="105000"/>
              </a:lnSpc>
              <a:spcBef>
                <a:spcPts val="0"/>
              </a:spcBef>
              <a:spcAft>
                <a:spcPts val="1100"/>
              </a:spcAft>
            </a:pPr>
            <a:r>
              <a:rPr sz="16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377647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2793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Gaps tend to create areas of potential support and resistance.</a:t>
            </a:r>
          </a:p>
        </p:txBody>
      </p:sp>
      <p:sp>
        <p:nvSpPr>
          <p:cNvPr id="10" name="TextBox 9"/>
          <p:cNvSpPr txBox="1"/>
          <p:nvPr/>
        </p:nvSpPr>
        <p:spPr>
          <a:xfrm>
            <a:off x="777240" y="464210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and the figure's other two labels (angular symmetry in GLD, a cycle-tuned stochastic, both characteristics for a different chapter), cannot be read at this size, so nothing here is asked to be verified from them; the next slide draws the gap claim so it can be.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Figure 5.57, kept for completeness; no reason given why a gap becomes a barrier.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450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547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way to stay on the right side of the market.</a:t>
            </a:r>
          </a:p>
        </p:txBody>
      </p:sp>
      <p:sp>
        <p:nvSpPr>
          <p:cNvPr id="10" name="Rectangle 9"/>
          <p:cNvSpPr/>
          <p:nvPr/>
        </p:nvSpPr>
        <p:spPr>
          <a:xfrm>
            <a:off x="777240" y="2959607"/>
            <a:ext cx="64008" cy="68884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13888"/>
            <a:ext cx="557784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3904487"/>
            <a:ext cx="64008" cy="166420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58768"/>
            <a:ext cx="5577840" cy="17739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Charles Drummond's: a short-term moving average, the PLdot line, and inter-bar trendlines, which connect each bar's highs and connect each bar's lows,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why three periods.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AU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give overbought and oversold readings at tops and bottoms, by a method this chapter does not give.</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a reversal confirmed by what related or broader markets are doing at the same time, by a method this chapter does not give.</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 Signal line, equilibrium line and intermarket relationship: used here by name only, defined in none of this course's chapters, and added to the next slide's used-not-taught list for that reason.</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 this slide names each tool without claiming how it works.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a:t>
            </a:r>
          </a:p>
          <a:p>
            <a:pPr algn="l">
              <a:lnSpc>
                <a:spcPct val="118000"/>
              </a:lnSpc>
              <a:spcBef>
                <a:spcPts val="0"/>
              </a:spcBef>
              <a:spcAft>
                <a:spcPts val="1300"/>
              </a:spcAft>
            </a:pPr>
            <a:r>
              <a:rPr sz="2100" b="0" i="0">
                <a:solidFill>
                  <a:srgbClr val="1A1A1A"/>
                </a:solidFill>
                <a:latin typeface="Arial"/>
              </a:rPr>
              <a:t>Used, not taught: typical price, overbought, oversold, signal line, equilibrium line, intermarket relationship,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