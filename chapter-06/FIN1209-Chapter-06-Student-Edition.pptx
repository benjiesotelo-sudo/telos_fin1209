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 (Chapters 2 and 4).</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volume falls from about 2.5 million shares a bar to 0.42 million at 1, its lowest. At 2 price breaks out above PHP 52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low volume says when, not which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expect a breakout soon, and let price show the way.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24</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yet a trade: price is in a range and volume sinks to its lowest level.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box marked Accumulation, lower right, is the range, informed buyers gathering shares (Chapters 2 and 4). The circle under it is volume touching the dashed low volume level.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24</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 rise into a fall or a fall into a rise, as volume sits at its minimum. In a range the lowest volume times a breakout; in a trend it can mark a turn.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from about 2.5 to 0.55 million as price climbs to PHP 56 at 1, and price turns down; again to 0.55 million as it falls to PHP 47 at 2, and it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Both draw the low level by eye.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24</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volume-weighted line, labelled VWAP;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the timing. Labels also mark the line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The book also calls a stock undervalued below the VWMA and overvalued above it: words it defines only by the side of the line.</a:t>
            </a:r>
          </a:p>
          <a:p>
            <a:pPr algn="l">
              <a:lnSpc>
                <a:spcPct val="105000"/>
              </a:lnSpc>
              <a:spcBef>
                <a:spcPts val="0"/>
              </a:spcBef>
              <a:spcAft>
                <a:spcPts val="1100"/>
              </a:spcAft>
            </a:pPr>
            <a:r>
              <a:rPr sz="1500" b="0" i="0">
                <a:solidFill>
                  <a:srgbClr val="1A1A1A"/>
                </a:solidFill>
                <a:latin typeface="Arial"/>
              </a:rPr>
              <a:t>Many institutional traders look for buy signals only below the line, sell signals only above. Ours, line at PHP 50: a buy signal at PHP 48 is taken, at PHP 52 passed over.</a:t>
            </a:r>
          </a:p>
          <a:p>
            <a:pPr algn="l">
              <a:lnSpc>
                <a:spcPct val="105000"/>
              </a:lnSpc>
              <a:spcBef>
                <a:spcPts val="0"/>
              </a:spcBef>
              <a:spcAft>
                <a:spcPts val="1100"/>
              </a:spcAft>
            </a:pPr>
            <a:r>
              <a:rPr sz="1500" b="0" i="0">
                <a:solidFill>
                  <a:srgbClr val="1A1A1A"/>
                </a:solidFill>
                <a:latin typeface="Arial"/>
              </a:rPr>
              <a:t>So above the line is potentially bullish, and also where institutions look to sell.</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Two readings of one line, both the book's.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Learn both, each in its own words. The book does not reconcile them or say which to act 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every turn is a stampede. The quiet pair are this part's low volume reversals, named by where price turns.</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turn on a stampede, or on silence: both are timing clues.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24</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6.14 also draws a computed line, the rolling 100-day 2-sigma level; the book notes the spikes are all above it.</a:t>
            </a:r>
          </a:p>
          <a:p>
            <a:pPr algn="l">
              <a:lnSpc>
                <a:spcPct val="118000"/>
              </a:lnSpc>
              <a:spcBef>
                <a:spcPts val="0"/>
              </a:spcBef>
              <a:spcAft>
                <a:spcPts val="1300"/>
              </a:spcAft>
            </a:pPr>
            <a:r>
              <a:rPr sz="2100" b="0" i="0">
                <a:solidFill>
                  <a:srgbClr val="1A1A1A"/>
                </a:solidFill>
                <a:latin typeface="Arial"/>
              </a:rPr>
              <a:t>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Part 3 builds one bar by bar.</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Ours: the arithmetic, and the 20 and 10 million. Part 3's sigma filter is the full method, bar by bar.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Noise: most of the time the oscillator wanders low. Many practitioners filter out volatility below a threshold and regard it as noise.</a:t>
            </a:r>
          </a:p>
          <a:p>
            <a:pPr algn="l">
              <a:lnSpc>
                <a:spcPct val="118000"/>
              </a:lnSpc>
              <a:spcBef>
                <a:spcPts val="0"/>
              </a:spcBef>
              <a:spcAft>
                <a:spcPts val="1300"/>
              </a:spcAft>
            </a:pPr>
            <a:r>
              <a:rPr sz="2100" b="0" i="0">
                <a:solidFill>
                  <a:srgbClr val="1A1A1A"/>
                </a:solidFill>
                <a:latin typeface="Arial"/>
              </a:rPr>
              <a:t>On Figure 6.15 the threshold is the historical volatility level; the circled spikes rise above it.</a:t>
            </a:r>
          </a:p>
          <a:p>
            <a:pPr algn="l">
              <a:lnSpc>
                <a:spcPct val="118000"/>
              </a:lnSpc>
              <a:spcBef>
                <a:spcPts val="0"/>
              </a:spcBef>
              <a:spcAft>
                <a:spcPts val="1300"/>
              </a:spcAft>
            </a:pPr>
            <a:r>
              <a:rPr sz="2100" b="0" i="0">
                <a:solidFill>
                  <a:srgbClr val="1A1A1A"/>
                </a:solidFill>
                <a:latin typeface="Arial"/>
              </a:rPr>
              <a:t>The book shows the agreement and gives no rule for weighing it.</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idea as the overextension line: only readings above it count.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24</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drawn by eye. Each time line runs up to a turn, top or bottom: the touch does not say which.</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name the overextension today; overbought or oversold once price turns.</a:t>
            </a:r>
          </a:p>
          <a:p>
            <a:pPr algn="l">
              <a:lnSpc>
                <a:spcPct val="118000"/>
              </a:lnSpc>
              <a:spcBef>
                <a:spcPts val="0"/>
              </a:spcBef>
              <a:spcAft>
                <a:spcPts val="1300"/>
              </a:spcAft>
            </a:pPr>
            <a:r>
              <a:rPr sz="2100" b="0" i="0">
                <a:solidFill>
                  <a:srgbClr val="1A1A1A"/>
                </a:solidFill>
                <a:latin typeface="Arial"/>
              </a:rPr>
              <a:t>Why back to the spikes: the book puts this caution after the quiet turns, and it is about extreme volume, the climaxes and the overextended levels.</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