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13</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13</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The filter signals the most significant volume surges.</a:t>
            </a:r>
          </a:p>
          <a:p>
            <a:pPr algn="l">
              <a:lnSpc>
                <a:spcPct val="105000"/>
              </a:lnSpc>
              <a:spcBef>
                <a:spcPts val="0"/>
              </a:spcBef>
              <a:spcAft>
                <a:spcPts val="1100"/>
              </a:spcAft>
            </a:pPr>
            <a:r>
              <a:rPr sz="1800" b="0" i="0">
                <a:solidFill>
                  <a:srgbClr val="1A1A1A"/>
                </a:solidFill>
                <a:latin typeface="Arial"/>
              </a:rPr>
              <a:t>These tend to result in the most significant tops and bottoms in the market.</a:t>
            </a:r>
          </a:p>
          <a:p>
            <a:pPr algn="l">
              <a:lnSpc>
                <a:spcPct val="105000"/>
              </a:lnSpc>
              <a:spcBef>
                <a:spcPts val="0"/>
              </a:spcBef>
              <a:spcAft>
                <a:spcPts val="1100"/>
              </a:spcAft>
            </a:pPr>
            <a:r>
              <a:rPr sz="1800" b="0" i="0">
                <a:solidFill>
                  <a:srgbClr val="1A1A1A"/>
                </a:solidFill>
                <a:latin typeface="Arial"/>
              </a:rPr>
              <a:t>A standard deviation oscillator may also be used. It is less useful: it gives no overlay on which to see volume cross the threshold.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prefers the band: volume can be seen crossing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the peaks and troughs that came with heavy volume are used to draw lines.</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three turns on volume above the threshold, 1, 2 and 3. A line joins 1 and 2; its parallel through 3 makes a channel.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a peak or a trough. The chart is ours, on invented prices.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Tick volume, with a threshold drawn by visual inspection: only the most significant peaks reach it.</a:t>
            </a:r>
          </a:p>
          <a:p>
            <a:pPr algn="l">
              <a:lnSpc>
                <a:spcPct val="105000"/>
              </a:lnSpc>
              <a:spcBef>
                <a:spcPts val="0"/>
              </a:spcBef>
              <a:spcAft>
                <a:spcPts val="1100"/>
              </a:spcAft>
            </a:pPr>
            <a:r>
              <a:rPr sz="1800" b="0" i="0">
                <a:solidFill>
                  <a:srgbClr val="1A1A1A"/>
                </a:solidFill>
                <a:latin typeface="Arial"/>
              </a:rPr>
              <a:t>Points 1, 2 and 3 came with overextended tick volume. A trendline joins 1 and 2; a parallel from 3.</a:t>
            </a:r>
          </a:p>
          <a:p>
            <a:pPr algn="l">
              <a:lnSpc>
                <a:spcPct val="105000"/>
              </a:lnSpc>
              <a:spcBef>
                <a:spcPts val="0"/>
              </a:spcBef>
              <a:spcAft>
                <a:spcPts val="1100"/>
              </a:spcAft>
            </a:pPr>
            <a:r>
              <a:rPr sz="1800" b="0" i="0">
                <a:solidFill>
                  <a:srgbClr val="1A1A1A"/>
                </a:solidFill>
                <a:latin typeface="Arial"/>
              </a:rPr>
              <a:t>At X price reacts to the channel, a short-term buy, before falling through it.</a:t>
            </a:r>
          </a:p>
        </p:txBody>
      </p:sp>
      <p:sp>
        <p:nvSpPr>
          <p:cNvPr id="8" name="Rectangle 7"/>
          <p:cNvSpPr/>
          <p:nvPr/>
        </p:nvSpPr>
        <p:spPr>
          <a:xfrm>
            <a:off x="777240" y="4965192"/>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Only heavily traded points are used.</a:t>
            </a:r>
          </a:p>
        </p:txBody>
      </p:sp>
      <p:sp>
        <p:nvSpPr>
          <p:cNvPr id="10" name="TextBox 9"/>
          <p:cNvSpPr txBox="1"/>
          <p:nvPr/>
        </p:nvSpPr>
        <p:spPr>
          <a:xfrm>
            <a:off x="777240" y="560222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Tick volume, a count of trades: defined in Part 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 The text names no market for 6.22 and calls 6.23 USDJPY; both captions and charts say Silver.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Trendline from 1 and 2, parallel from 3: a large bearish candlestick breaches it.</a:t>
            </a:r>
          </a:p>
          <a:p>
            <a:pPr algn="l">
              <a:lnSpc>
                <a:spcPct val="105000"/>
              </a:lnSpc>
              <a:spcBef>
                <a:spcPts val="0"/>
              </a:spcBef>
              <a:spcAft>
                <a:spcPts val="1100"/>
              </a:spcAft>
            </a:pPr>
            <a:r>
              <a:rPr sz="1800" b="0" i="0">
                <a:solidFill>
                  <a:srgbClr val="1A1A1A"/>
                </a:solidFill>
                <a:latin typeface="Arial"/>
              </a:rPr>
              <a:t>A parallel from 4, taken back in time, meets the trough at X: in retrospect a valid rising channel.</a:t>
            </a:r>
          </a:p>
          <a:p>
            <a:pPr algn="l">
              <a:lnSpc>
                <a:spcPct val="105000"/>
              </a:lnSpc>
              <a:spcBef>
                <a:spcPts val="0"/>
              </a:spcBef>
              <a:spcAft>
                <a:spcPts val="1100"/>
              </a:spcAft>
            </a:pPr>
            <a:r>
              <a:rPr sz="1800" b="0" i="0">
                <a:solidFill>
                  <a:srgbClr val="1A1A1A"/>
                </a:solidFill>
                <a:latin typeface="Arial"/>
              </a:rPr>
              <a:t>Parallels from 5 and 6 contain price too: resistance at the top, support at the bottom.</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near perfect angular symmetry.</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a Chapter 5 term.</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