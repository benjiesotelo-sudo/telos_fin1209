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25</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the usual bar, grey: about PHP 1.00 high to low, on 2 million shares; ours, as the book gives no number.</a:t>
            </a:r>
          </a:p>
          <a:p>
            <a:pPr algn="l">
              <a:lnSpc>
                <a:spcPct val="105000"/>
              </a:lnSpc>
              <a:spcBef>
                <a:spcPts val="0"/>
              </a:spcBef>
              <a:spcAft>
                <a:spcPts val="1100"/>
              </a:spcAft>
            </a:pPr>
            <a:r>
              <a:rPr sz="1800" b="0" i="0">
                <a:solidFill>
                  <a:srgbClr val="1A1A1A"/>
                </a:solidFill>
                <a:latin typeface="Arial"/>
              </a:rPr>
              <a:t>Step 2, compare. </a:t>
            </a:r>
            <a:r>
              <a:rPr sz="1800" b="1" i="0">
                <a:solidFill>
                  <a:srgbClr val="E09B00"/>
                </a:solidFill>
                <a:latin typeface="Arial"/>
              </a:rPr>
              <a:t>(1)</a:t>
            </a:r>
            <a:r>
              <a:rPr sz="1800" b="0" i="0">
                <a:solidFill>
                  <a:srgbClr val="1A1A1A"/>
                </a:solidFill>
                <a:latin typeface="Arial"/>
              </a:rPr>
              <a:t> PHP 0.20 on 1 million: narrow, low: Low Volume Rest Bar. </a:t>
            </a:r>
            <a:r>
              <a:rPr sz="1800" b="1" i="0">
                <a:solidFill>
                  <a:srgbClr val="C62828"/>
                </a:solidFill>
                <a:latin typeface="Arial"/>
              </a:rPr>
              <a:t>(2)</a:t>
            </a:r>
            <a:r>
              <a:rPr sz="1800" b="0" i="0">
                <a:solidFill>
                  <a:srgbClr val="1A1A1A"/>
                </a:solidFill>
                <a:latin typeface="Arial"/>
              </a:rPr>
              <a:t> PHP 0.20 on 5 million: narrow, high: High Volume Reversal Bar.</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PHP 2.50 on 1 million: wide, low: Low Volume Reversal Bar. </a:t>
            </a:r>
            <a:r>
              <a:rPr sz="1800" b="1" i="0">
                <a:solidFill>
                  <a:srgbClr val="007A33"/>
                </a:solidFill>
                <a:latin typeface="Arial"/>
              </a:rPr>
              <a:t>(4)</a:t>
            </a:r>
            <a:r>
              <a:rPr sz="1800" b="0" i="0">
                <a:solidFill>
                  <a:srgbClr val="1A1A1A"/>
                </a:solidFill>
                <a:latin typeface="Arial"/>
              </a:rPr>
              <a:t> PHP 2.50 on 5 million: wide, high: High Volume Continuation Bar.</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Judge each bar against the bars around it.</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a.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738372" y="2350739"/>
            <a:ext cx="253471" cy="1088501"/>
          </a:xfrm>
          <a:prstGeom prst="rect">
            <a:avLst/>
          </a:prstGeom>
          <a:noFill/>
          <a:ln w="44450">
            <a:solidFill>
              <a:srgbClr val="E09B00"/>
            </a:solidFill>
          </a:ln>
        </p:spPr>
        <p:txBody>
          <a:bodyPr rtlCol="0" anchor="ctr"/>
          <a:lstStyle/>
          <a:p>
            <a:pPr algn="ctr"/>
          </a:p>
        </p:txBody>
      </p:sp>
      <p:sp>
        <p:nvSpPr>
          <p:cNvPr id="13" name="Rectangle 12"/>
          <p:cNvSpPr/>
          <p:nvPr/>
        </p:nvSpPr>
        <p:spPr>
          <a:xfrm>
            <a:off x="10850636" y="2350739"/>
            <a:ext cx="253471" cy="1088501"/>
          </a:xfrm>
          <a:prstGeom prst="rect">
            <a:avLst/>
          </a:prstGeom>
          <a:noFill/>
          <a:ln w="44450">
            <a:solidFill>
              <a:srgbClr val="C62828"/>
            </a:solidFill>
          </a:ln>
        </p:spPr>
        <p:txBody>
          <a:bodyPr rtlCol="0" anchor="ctr"/>
          <a:lstStyle/>
          <a:p>
            <a:pPr algn="ctr"/>
          </a:p>
        </p:txBody>
      </p:sp>
      <p:sp>
        <p:nvSpPr>
          <p:cNvPr id="14" name="Rectangle 13"/>
          <p:cNvSpPr/>
          <p:nvPr/>
        </p:nvSpPr>
        <p:spPr>
          <a:xfrm>
            <a:off x="8738372" y="3930822"/>
            <a:ext cx="253471" cy="1018275"/>
          </a:xfrm>
          <a:prstGeom prst="rect">
            <a:avLst/>
          </a:prstGeom>
          <a:noFill/>
          <a:ln w="44450">
            <a:solidFill>
              <a:srgbClr val="1F5FAD"/>
            </a:solidFill>
          </a:ln>
        </p:spPr>
        <p:txBody>
          <a:bodyPr rtlCol="0" anchor="ctr"/>
          <a:lstStyle/>
          <a:p>
            <a:pPr algn="ctr"/>
          </a:p>
        </p:txBody>
      </p:sp>
      <p:sp>
        <p:nvSpPr>
          <p:cNvPr id="15" name="Rectangle 14"/>
          <p:cNvSpPr/>
          <p:nvPr/>
        </p:nvSpPr>
        <p:spPr>
          <a:xfrm>
            <a:off x="10850636" y="3930822"/>
            <a:ext cx="253471" cy="1018275"/>
          </a:xfrm>
          <a:prstGeom prst="rect">
            <a:avLst/>
          </a:prstGeom>
          <a:noFill/>
          <a:ln w="44450">
            <a:solidFill>
              <a:srgbClr val="007A33"/>
            </a:solidFill>
          </a:ln>
        </p:spPr>
        <p:txBody>
          <a:bodyPr rtlCol="0" anchor="ctr"/>
          <a:lstStyle/>
          <a:p>
            <a:pPr algn="ctr"/>
          </a:p>
        </p:txBody>
      </p:sp>
      <p:sp>
        <p:nvSpPr>
          <p:cNvPr id="16" name="Oval 15"/>
          <p:cNvSpPr/>
          <p:nvPr/>
        </p:nvSpPr>
        <p:spPr>
          <a:xfrm>
            <a:off x="8435065" y="265176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47329"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35065" y="43020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47329" y="430206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JA - FIN1209 teaching chart, drawn for this course. Illustrative data, not a real instrument.</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the comparison with the usual bar, which the book does not put a number on, and the chart: sketches, not prices.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400799" y="1810512"/>
            <a:ext cx="5013654" cy="3621415"/>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519671" y="1929384"/>
            <a:ext cx="4775910" cy="3383671"/>
          </a:xfrm>
          <a:prstGeom prst="rect">
            <a:avLst/>
          </a:prstGeom>
        </p:spPr>
      </p:pic>
      <p:sp>
        <p:nvSpPr>
          <p:cNvPr id="12" name="Rectangle 11"/>
          <p:cNvSpPr/>
          <p:nvPr/>
        </p:nvSpPr>
        <p:spPr>
          <a:xfrm>
            <a:off x="7785288" y="2369261"/>
            <a:ext cx="334313" cy="2706937"/>
          </a:xfrm>
          <a:prstGeom prst="rect">
            <a:avLst/>
          </a:prstGeom>
          <a:noFill/>
          <a:ln w="44450">
            <a:solidFill>
              <a:srgbClr val="E09B00"/>
            </a:solidFill>
          </a:ln>
        </p:spPr>
        <p:txBody>
          <a:bodyPr rtlCol="0" anchor="ctr"/>
          <a:lstStyle/>
          <a:p>
            <a:pPr algn="ctr"/>
          </a:p>
        </p:txBody>
      </p:sp>
      <p:sp>
        <p:nvSpPr>
          <p:cNvPr id="13" name="Rectangle 12"/>
          <p:cNvSpPr/>
          <p:nvPr/>
        </p:nvSpPr>
        <p:spPr>
          <a:xfrm>
            <a:off x="10173243" y="2369261"/>
            <a:ext cx="334313" cy="2706937"/>
          </a:xfrm>
          <a:prstGeom prst="rect">
            <a:avLst/>
          </a:prstGeom>
          <a:noFill/>
          <a:ln w="44450">
            <a:solidFill>
              <a:srgbClr val="C62828"/>
            </a:solidFill>
          </a:ln>
        </p:spPr>
        <p:txBody>
          <a:bodyPr rtlCol="0" anchor="ctr"/>
          <a:lstStyle/>
          <a:p>
            <a:pPr algn="ctr"/>
          </a:p>
        </p:txBody>
      </p:sp>
      <p:sp>
        <p:nvSpPr>
          <p:cNvPr id="14" name="Oval 13"/>
          <p:cNvSpPr/>
          <p:nvPr/>
        </p:nvSpPr>
        <p:spPr>
          <a:xfrm>
            <a:off x="8131311" y="36349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519266" y="35334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400799" y="552336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Ours: the usual bar moves PHP 1.00 on 2 million shares. Today 5 million trade, 2.5 times usual, and price moves only PHP 0.20.</a:t>
            </a:r>
          </a:p>
          <a:p>
            <a:pPr algn="l">
              <a:lnSpc>
                <a:spcPct val="105000"/>
              </a:lnSpc>
              <a:spcBef>
                <a:spcPts val="0"/>
              </a:spcBef>
              <a:spcAft>
                <a:spcPts val="1100"/>
              </a:spcAft>
            </a:pPr>
            <a:r>
              <a:rPr sz="2000" b="0" i="0">
                <a:solidFill>
                  <a:srgbClr val="1A1A1A"/>
                </a:solidFill>
                <a:latin typeface="Arial"/>
              </a:rPr>
              <a:t>The book: were that volume buying, the range would be much wider. So sellers are attempting to take control. In a downtrend, the converse.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warning of a potential turn, not a certainty: the book gives no entry rule.</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b.png"/>
          <p:cNvPicPr>
            <a:picLocks noChangeAspect="1"/>
          </p:cNvPicPr>
          <p:nvPr/>
        </p:nvPicPr>
        <p:blipFill>
          <a:blip r:embed="rId2"/>
          <a:stretch>
            <a:fillRect/>
          </a:stretch>
        </p:blipFill>
        <p:spPr>
          <a:xfrm>
            <a:off x="7435443" y="1929384"/>
            <a:ext cx="3858768" cy="3511296"/>
          </a:xfrm>
          <a:prstGeom prst="rect">
            <a:avLst/>
          </a:prstGeom>
        </p:spPr>
      </p:pic>
      <p:sp>
        <p:nvSpPr>
          <p:cNvPr id="12" name="Rectangle 11"/>
          <p:cNvSpPr/>
          <p:nvPr/>
        </p:nvSpPr>
        <p:spPr>
          <a:xfrm>
            <a:off x="9596353" y="2420965"/>
            <a:ext cx="327995" cy="2580802"/>
          </a:xfrm>
          <a:prstGeom prst="rect">
            <a:avLst/>
          </a:prstGeom>
          <a:noFill/>
          <a:ln w="44450">
            <a:solidFill>
              <a:srgbClr val="E09B00"/>
            </a:solidFill>
          </a:ln>
        </p:spPr>
        <p:txBody>
          <a:bodyPr rtlCol="0" anchor="ctr"/>
          <a:lstStyle/>
          <a:p>
            <a:pPr algn="ctr"/>
          </a:p>
        </p:txBody>
      </p:sp>
      <p:sp>
        <p:nvSpPr>
          <p:cNvPr id="13" name="Oval 12"/>
          <p:cNvSpPr/>
          <p:nvPr/>
        </p:nvSpPr>
        <p:spPr>
          <a:xfrm>
            <a:off x="9942545" y="35295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TextBox 13"/>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JB - FIN1209 teaching chart, drawn for this course. Illustrative data, not a real instrument.</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reason is the book's, and the converse is its word for the downtrend case. Ours: every number, and the chart: a sketch, not prices.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 volume reversal bar warns,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Ours: price jumps PHP 3.00 on 0.7 million shares, a third of the usual 2 million.</a:t>
            </a:r>
          </a:p>
          <a:p>
            <a:pPr algn="l">
              <a:lnSpc>
                <a:spcPct val="105000"/>
              </a:lnSpc>
              <a:spcBef>
                <a:spcPts val="0"/>
              </a:spcBef>
              <a:spcAft>
                <a:spcPts val="1100"/>
              </a:spcAft>
            </a:pPr>
            <a:r>
              <a:rPr sz="2000" b="0" i="0">
                <a:solidFill>
                  <a:srgbClr val="1A1A1A"/>
                </a:solidFill>
                <a:latin typeface="Arial"/>
              </a:rPr>
              <a:t>The book: a large move on little participation, its word for volume: a lack of interest. Bearish in an uptrend, bullish in a downtrend.</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Too little volume for the move: a potential reversal.</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n.png"/>
          <p:cNvPicPr>
            <a:picLocks noChangeAspect="1"/>
          </p:cNvPicPr>
          <p:nvPr/>
        </p:nvPicPr>
        <p:blipFill>
          <a:blip r:embed="rId2"/>
          <a:stretch>
            <a:fillRect/>
          </a:stretch>
        </p:blipFill>
        <p:spPr>
          <a:xfrm>
            <a:off x="7435443" y="1929384"/>
            <a:ext cx="3858768" cy="3511296"/>
          </a:xfrm>
          <a:prstGeom prst="rect">
            <a:avLst/>
          </a:prstGeom>
        </p:spPr>
      </p:pic>
      <p:sp>
        <p:nvSpPr>
          <p:cNvPr id="12" name="Rectangle 11"/>
          <p:cNvSpPr/>
          <p:nvPr/>
        </p:nvSpPr>
        <p:spPr>
          <a:xfrm>
            <a:off x="9596353" y="2420965"/>
            <a:ext cx="327995" cy="2580802"/>
          </a:xfrm>
          <a:prstGeom prst="rect">
            <a:avLst/>
          </a:prstGeom>
          <a:noFill/>
          <a:ln w="44450">
            <a:solidFill>
              <a:srgbClr val="E09B00"/>
            </a:solidFill>
          </a:ln>
        </p:spPr>
        <p:txBody>
          <a:bodyPr rtlCol="0" anchor="ctr"/>
          <a:lstStyle/>
          <a:p>
            <a:pPr algn="ctr"/>
          </a:p>
        </p:txBody>
      </p:sp>
      <p:sp>
        <p:nvSpPr>
          <p:cNvPr id="13" name="Oval 12"/>
          <p:cNvSpPr/>
          <p:nvPr/>
        </p:nvSpPr>
        <p:spPr>
          <a:xfrm>
            <a:off x="9942545" y="35295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TextBox 13"/>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JN - FIN1209 teaching chart, drawn for this course. Illustrative data, not a real instrument.</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reason is the book's. Ours: every number, and the chart: a sketch, not prices.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a:t>
            </a:r>
            <a:r>
              <a:rPr sz="1700" b="1" i="0">
                <a:solidFill>
                  <a:srgbClr val="E09B00"/>
                </a:solidFill>
                <a:latin typeface="Arial"/>
              </a:rPr>
              <a:t>(1)</a:t>
            </a:r>
            <a:r>
              <a:rPr sz="1700" b="0" i="0">
                <a:solidFill>
                  <a:srgbClr val="1A1A1A"/>
                </a:solidFill>
                <a:latin typeface="Arial"/>
              </a:rPr>
              <a:t>, a potential reversal; in a weak to average one </a:t>
            </a:r>
            <a:r>
              <a:rPr sz="1700" b="1" i="0">
                <a:solidFill>
                  <a:srgbClr val="C62828"/>
                </a:solidFill>
                <a:latin typeface="Arial"/>
              </a:rPr>
              <a:t>(2)</a:t>
            </a:r>
            <a:r>
              <a:rPr sz="1700" b="0" i="0">
                <a:solidFill>
                  <a:srgbClr val="1A1A1A"/>
                </a:solidFill>
                <a:latin typeface="Arial"/>
              </a:rPr>
              <a:t>, a point of rest.</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High Volume Continuation Bar, wide on high volume: backed by very large participation. Bullish in an uptrend, bearish in a downtrend.</a:t>
            </a:r>
          </a:p>
        </p:txBody>
      </p:sp>
      <p:sp>
        <p:nvSpPr>
          <p:cNvPr id="8" name="Rectangle 7"/>
          <p:cNvSpPr/>
          <p:nvPr/>
        </p:nvSpPr>
        <p:spPr>
          <a:xfrm>
            <a:off x="777240" y="4400550"/>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Rectangle 11"/>
          <p:cNvSpPr/>
          <p:nvPr/>
        </p:nvSpPr>
        <p:spPr>
          <a:xfrm>
            <a:off x="7131131" y="2561417"/>
            <a:ext cx="322143" cy="2633472"/>
          </a:xfrm>
          <a:prstGeom prst="rect">
            <a:avLst/>
          </a:prstGeom>
          <a:noFill/>
          <a:ln w="44450">
            <a:solidFill>
              <a:srgbClr val="E09B00"/>
            </a:solidFill>
          </a:ln>
        </p:spPr>
        <p:txBody>
          <a:bodyPr rtlCol="0" anchor="ctr"/>
          <a:lstStyle/>
          <a:p>
            <a:pPr algn="ctr"/>
          </a:p>
        </p:txBody>
      </p:sp>
      <p:sp>
        <p:nvSpPr>
          <p:cNvPr id="13" name="Rectangle 12"/>
          <p:cNvSpPr/>
          <p:nvPr/>
        </p:nvSpPr>
        <p:spPr>
          <a:xfrm>
            <a:off x="8717066" y="2877433"/>
            <a:ext cx="322143" cy="2317455"/>
          </a:xfrm>
          <a:prstGeom prst="rect">
            <a:avLst/>
          </a:prstGeom>
          <a:noFill/>
          <a:ln w="44450">
            <a:solidFill>
              <a:srgbClr val="C62828"/>
            </a:solidFill>
          </a:ln>
        </p:spPr>
        <p:txBody>
          <a:bodyPr rtlCol="0" anchor="ctr"/>
          <a:lstStyle/>
          <a:p>
            <a:pPr algn="ctr"/>
          </a:p>
        </p:txBody>
      </p:sp>
      <p:sp>
        <p:nvSpPr>
          <p:cNvPr id="14" name="Rectangle 13"/>
          <p:cNvSpPr/>
          <p:nvPr/>
        </p:nvSpPr>
        <p:spPr>
          <a:xfrm>
            <a:off x="10377342" y="2947659"/>
            <a:ext cx="346923" cy="2247229"/>
          </a:xfrm>
          <a:prstGeom prst="rect">
            <a:avLst/>
          </a:prstGeom>
          <a:noFill/>
          <a:ln w="44450">
            <a:solidFill>
              <a:srgbClr val="1F5FAD"/>
            </a:solidFill>
          </a:ln>
        </p:spPr>
        <p:txBody>
          <a:bodyPr rtlCol="0" anchor="ctr"/>
          <a:lstStyle/>
          <a:p>
            <a:pPr algn="ctr"/>
          </a:p>
        </p:txBody>
      </p:sp>
      <p:sp>
        <p:nvSpPr>
          <p:cNvPr id="15" name="Oval 14"/>
          <p:cNvSpPr/>
          <p:nvPr/>
        </p:nvSpPr>
        <p:spPr>
          <a:xfrm>
            <a:off x="7421727" y="35998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12937" y="25815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73213" y="265176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Ours: a rise of PHP 1.60 a bar stalls on a PHP 0.30 bar with a quarter of the usual volume. That fast, then that quiet: a potential reversal.</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The same quiet bar in a rise of PHP 0.45 a bar: a point of rest, a pause before the rise goes on. The book gives no speed for strong and rapid.</a:t>
            </a:r>
          </a:p>
          <a:p>
            <a:pPr algn="l">
              <a:lnSpc>
                <a:spcPct val="105000"/>
              </a:lnSpc>
              <a:spcBef>
                <a:spcPts val="0"/>
              </a:spcBef>
              <a:spcAft>
                <a:spcPts val="1100"/>
              </a:spcAft>
            </a:pPr>
            <a:r>
              <a:rPr sz="18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the rest bar with the trend's speed.</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c.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168060" y="2561417"/>
            <a:ext cx="253471" cy="2563246"/>
          </a:xfrm>
          <a:prstGeom prst="rect">
            <a:avLst/>
          </a:prstGeom>
          <a:noFill/>
          <a:ln w="44450">
            <a:solidFill>
              <a:srgbClr val="E09B00"/>
            </a:solidFill>
          </a:ln>
        </p:spPr>
        <p:txBody>
          <a:bodyPr rtlCol="0" anchor="ctr"/>
          <a:lstStyle/>
          <a:p>
            <a:pPr algn="ctr"/>
          </a:p>
        </p:txBody>
      </p:sp>
      <p:sp>
        <p:nvSpPr>
          <p:cNvPr id="13" name="Rectangle 12"/>
          <p:cNvSpPr/>
          <p:nvPr/>
        </p:nvSpPr>
        <p:spPr>
          <a:xfrm>
            <a:off x="10174711" y="2947659"/>
            <a:ext cx="253471" cy="2177003"/>
          </a:xfrm>
          <a:prstGeom prst="rect">
            <a:avLst/>
          </a:prstGeom>
          <a:noFill/>
          <a:ln w="44450">
            <a:solidFill>
              <a:srgbClr val="C62828"/>
            </a:solidFill>
          </a:ln>
        </p:spPr>
        <p:txBody>
          <a:bodyPr rtlCol="0" anchor="ctr"/>
          <a:lstStyle/>
          <a:p>
            <a:pPr algn="ctr"/>
          </a:p>
        </p:txBody>
      </p:sp>
      <p:sp>
        <p:nvSpPr>
          <p:cNvPr id="14" name="Oval 13"/>
          <p:cNvSpPr/>
          <p:nvPr/>
        </p:nvSpPr>
        <p:spPr>
          <a:xfrm>
            <a:off x="8392820" y="34242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892527"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JC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the chart, and a pause as the plain reading of point of rest. The book gives no reason speed matters.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a:t>
            </a:r>
            <a:r>
              <a:rPr sz="1700" b="1" i="0">
                <a:solidFill>
                  <a:srgbClr val="E09B00"/>
                </a:solidFill>
                <a:latin typeface="Arial"/>
              </a:rPr>
              <a:t>(1)</a:t>
            </a:r>
            <a:r>
              <a:rPr sz="1700" b="0" i="0">
                <a:solidFill>
                  <a:srgbClr val="1A1A1A"/>
                </a:solidFill>
                <a:latin typeface="Arial"/>
              </a:rPr>
              <a:t> and </a:t>
            </a:r>
            <a:r>
              <a:rPr sz="1700" b="1" i="0">
                <a:solidFill>
                  <a:srgbClr val="C62828"/>
                </a:solidFill>
                <a:latin typeface="Arial"/>
              </a:rPr>
              <a:t>(2)</a:t>
            </a:r>
            <a:r>
              <a:rPr sz="1700" b="0" i="0">
                <a:solidFill>
                  <a:srgbClr val="1A1A1A"/>
                </a:solidFill>
                <a:latin typeface="Arial"/>
              </a:rPr>
              <a:t>: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04008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0233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4513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6.31</a:t>
            </a:r>
          </a:p>
          <a:p>
            <a:pPr algn="l">
              <a:lnSpc>
                <a:spcPct val="115000"/>
              </a:lnSpc>
              <a:spcBef>
                <a:spcPts val="0"/>
              </a:spcBef>
              <a:spcAft>
                <a:spcPts val="0"/>
              </a:spcAft>
            </a:pPr>
            <a:r>
              <a:rPr sz="1500" b="0" i="0">
                <a:solidFill>
                  <a:srgbClr val="1A1A1A"/>
                </a:solidFill>
                <a:latin typeface="Palatino"/>
              </a:rPr>
              <a:t>The daily dollar fund: narrow range candlesticks on high volume circled at 1, at a low, and 2, at a dip near the highs, lined to tall volume bars; a triangle at the left.</a:t>
            </a:r>
          </a:p>
        </p:txBody>
      </p:sp>
      <p:sp>
        <p:nvSpPr>
          <p:cNvPr id="14" name="Oval 13"/>
          <p:cNvSpPr/>
          <p:nvPr/>
        </p:nvSpPr>
        <p:spPr>
          <a:xfrm>
            <a:off x="9044997" y="3302529"/>
            <a:ext cx="505233" cy="476397"/>
          </a:xfrm>
          <a:prstGeom prst="ellipse">
            <a:avLst/>
          </a:prstGeom>
          <a:noFill/>
          <a:ln w="44450">
            <a:solidFill>
              <a:srgbClr val="E09B00"/>
            </a:solidFill>
          </a:ln>
        </p:spPr>
        <p:txBody>
          <a:bodyPr rtlCol="0" anchor="ctr"/>
          <a:lstStyle/>
          <a:p>
            <a:pPr algn="ctr"/>
          </a:p>
        </p:txBody>
      </p:sp>
      <p:sp>
        <p:nvSpPr>
          <p:cNvPr id="15" name="Oval 14"/>
          <p:cNvSpPr/>
          <p:nvPr/>
        </p:nvSpPr>
        <p:spPr>
          <a:xfrm>
            <a:off x="10629593" y="2377757"/>
            <a:ext cx="390407" cy="364303"/>
          </a:xfrm>
          <a:prstGeom prst="ellipse">
            <a:avLst/>
          </a:prstGeom>
          <a:noFill/>
          <a:ln w="44450">
            <a:solidFill>
              <a:srgbClr val="C62828"/>
            </a:solidFill>
          </a:ln>
        </p:spPr>
        <p:txBody>
          <a:bodyPr rtlCol="0" anchor="ctr"/>
          <a:lstStyle/>
          <a:p>
            <a:pPr algn="ctr"/>
          </a:p>
        </p:txBody>
      </p:sp>
      <p:sp>
        <p:nvSpPr>
          <p:cNvPr id="16" name="Rectangle 15"/>
          <p:cNvSpPr/>
          <p:nvPr/>
        </p:nvSpPr>
        <p:spPr>
          <a:xfrm>
            <a:off x="7024064" y="3162412"/>
            <a:ext cx="1148257" cy="784654"/>
          </a:xfrm>
          <a:prstGeom prst="rect">
            <a:avLst/>
          </a:prstGeom>
          <a:noFill/>
          <a:ln w="44450">
            <a:solidFill>
              <a:srgbClr val="1F5FAD"/>
            </a:solidFill>
          </a:ln>
        </p:spPr>
        <p:txBody>
          <a:bodyPr rtlCol="0" anchor="ctr"/>
          <a:lstStyle/>
          <a:p>
            <a:pPr algn="ctr"/>
          </a:p>
        </p:txBody>
      </p:sp>
      <p:sp>
        <p:nvSpPr>
          <p:cNvPr id="17" name="Oval 16"/>
          <p:cNvSpPr/>
          <p:nvPr/>
        </p:nvSpPr>
        <p:spPr>
          <a:xfrm>
            <a:off x="8935480" y="31751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20075" y="225033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730825" y="289487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42033"/>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a:t>
            </a:r>
            <a:r>
              <a:rPr sz="1900" b="1" i="0">
                <a:solidFill>
                  <a:srgbClr val="C62828"/>
                </a:solidFill>
                <a:latin typeface="Arial"/>
              </a:rPr>
              <a:t>(2)</a:t>
            </a:r>
            <a:r>
              <a:rPr sz="1900" b="0" i="0">
                <a:solidFill>
                  <a:srgbClr val="1A1A1A"/>
                </a:solidFill>
                <a:latin typeface="Arial"/>
              </a:rPr>
              <a:t>,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24642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19671" y="1929384"/>
            <a:ext cx="4775911" cy="222653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93991" y="2203703"/>
            <a:ext cx="4227271" cy="17693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6.32</a:t>
            </a:r>
          </a:p>
          <a:p>
            <a:pPr algn="l">
              <a:lnSpc>
                <a:spcPct val="115000"/>
              </a:lnSpc>
              <a:spcBef>
                <a:spcPts val="0"/>
              </a:spcBef>
              <a:spcAft>
                <a:spcPts val="0"/>
              </a:spcAft>
            </a:pPr>
            <a:r>
              <a:rPr sz="1500" b="0" i="0">
                <a:solidFill>
                  <a:srgbClr val="1A1A1A"/>
                </a:solidFill>
                <a:latin typeface="Palatino"/>
              </a:rPr>
              <a:t>The daily PowerShares DB U.S. Dollar Bullish Fund with a narrow range candlestick on high volume circled at a low at the start of November, followed by a strong rise.</a:t>
            </a:r>
          </a:p>
        </p:txBody>
      </p:sp>
      <p:sp>
        <p:nvSpPr>
          <p:cNvPr id="14" name="Oval 13"/>
          <p:cNvSpPr/>
          <p:nvPr/>
        </p:nvSpPr>
        <p:spPr>
          <a:xfrm>
            <a:off x="6997263" y="3688344"/>
            <a:ext cx="549229" cy="445306"/>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474854" y="2307894"/>
            <a:ext cx="740266" cy="1269123"/>
          </a:xfrm>
          <a:prstGeom prst="line">
            <a:avLst/>
          </a:prstGeom>
          <a:ln w="44450">
            <a:solidFill>
              <a:srgbClr val="C62828"/>
            </a:solidFill>
            <a:tailEnd type="triangle" w="med" len="med"/>
          </a:ln>
        </p:spPr>
      </p:cxnSp>
      <p:sp>
        <p:nvSpPr>
          <p:cNvPr id="16" name="Oval 15"/>
          <p:cNvSpPr/>
          <p:nvPr/>
        </p:nvSpPr>
        <p:spPr>
          <a:xfrm>
            <a:off x="6889574" y="355516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319406" y="32879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436622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t>
            </a:r>
            <a:r>
              <a:rPr sz="1700" b="1" i="0">
                <a:solidFill>
                  <a:srgbClr val="E09B00"/>
                </a:solidFill>
                <a:latin typeface="Arial"/>
              </a:rPr>
              <a:t>(1)</a:t>
            </a:r>
            <a:r>
              <a:rPr sz="1700" b="0" i="0">
                <a:solidFill>
                  <a:srgbClr val="1A1A1A"/>
                </a:solidFill>
                <a:latin typeface="Arial"/>
              </a:rPr>
              <a:t>, about 23.4 in January to 21.0 in May. A short rally ends at a circled high volume reversal bar </a:t>
            </a:r>
            <a:r>
              <a:rPr sz="1700" b="1" i="0">
                <a:solidFill>
                  <a:srgbClr val="C62828"/>
                </a:solidFill>
                <a:latin typeface="Arial"/>
              </a:rPr>
              <a:t>(2)</a:t>
            </a:r>
            <a:r>
              <a:rPr sz="1700" b="0" i="0">
                <a:solidFill>
                  <a:srgbClr val="1A1A1A"/>
                </a:solidFill>
                <a:latin typeface="Arial"/>
              </a:rPr>
              <a:t>, May 23.</a:t>
            </a:r>
          </a:p>
          <a:p>
            <a:pPr algn="l">
              <a:lnSpc>
                <a:spcPct val="105000"/>
              </a:lnSpc>
              <a:spcBef>
                <a:spcPts val="0"/>
              </a:spcBef>
              <a:spcAft>
                <a:spcPts val="1100"/>
              </a:spcAft>
            </a:pPr>
            <a:r>
              <a:rPr sz="1700" b="0" i="0">
                <a:solidFill>
                  <a:srgbClr val="1A1A1A"/>
                </a:solidFill>
                <a:latin typeface="Arial"/>
              </a:rPr>
              <a:t>Before it, bearish divergence </a:t>
            </a:r>
            <a:r>
              <a:rPr sz="1700" b="1" i="0">
                <a:solidFill>
                  <a:srgbClr val="1F5FAD"/>
                </a:solidFill>
                <a:latin typeface="Arial"/>
              </a:rPr>
              <a:t>(3)</a:t>
            </a:r>
            <a:r>
              <a:rPr sz="1700" b="0" i="0">
                <a:solidFill>
                  <a:srgbClr val="1A1A1A"/>
                </a:solidFill>
                <a:latin typeface="Arial"/>
              </a:rPr>
              <a:t>: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a circled high volume reversal bar at a short rally's top in late May, falling lines over volume and the MACD before it, and a continuation bar at X.</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Rectangle 15"/>
          <p:cNvSpPr/>
          <p:nvPr/>
        </p:nvSpPr>
        <p:spPr>
          <a:xfrm>
            <a:off x="10281037" y="3964988"/>
            <a:ext cx="634090" cy="407120"/>
          </a:xfrm>
          <a:prstGeom prst="rect">
            <a:avLst/>
          </a:prstGeom>
          <a:noFill/>
          <a:ln w="44450">
            <a:solidFill>
              <a:srgbClr val="1F5FAD"/>
            </a:solidFill>
          </a:ln>
        </p:spPr>
        <p:txBody>
          <a:bodyPr rtlCol="0" anchor="ctr"/>
          <a:lstStyle/>
          <a:p>
            <a:pPr algn="ctr"/>
          </a:p>
        </p:txBody>
      </p:sp>
      <p:sp>
        <p:nvSpPr>
          <p:cNvPr id="17" name="Oval 16"/>
          <p:cNvSpPr/>
          <p:nvPr/>
        </p:nvSpPr>
        <p:spPr>
          <a:xfrm>
            <a:off x="9985128" y="3863207"/>
            <a:ext cx="317045" cy="339267"/>
          </a:xfrm>
          <a:prstGeom prst="ellipse">
            <a:avLst/>
          </a:prstGeom>
          <a:noFill/>
          <a:ln w="44450">
            <a:solidFill>
              <a:srgbClr val="007A33"/>
            </a:solidFill>
          </a:ln>
        </p:spPr>
        <p:txBody>
          <a:bodyPr rtlCol="0" anchor="ctr"/>
          <a:lstStyle/>
          <a:p>
            <a:pPr algn="ctr"/>
          </a:p>
        </p:txBody>
      </p:sp>
      <p:sp>
        <p:nvSpPr>
          <p:cNvPr id="18" name="Oval 17"/>
          <p:cNvSpPr/>
          <p:nvPr/>
        </p:nvSpPr>
        <p:spPr>
          <a:xfrm>
            <a:off x="7631500" y="24185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336953" y="34024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21498" y="43693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02862" y="357205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Larger, or predominant, trend: the whole move, our reading, as the book gives none. </a:t>
            </a:r>
            <a:r>
              <a:rPr sz="2000" b="1" i="0">
                <a:solidFill>
                  <a:srgbClr val="E09B00"/>
                </a:solidFill>
                <a:latin typeface="Arial"/>
              </a:rPr>
              <a:t>(1)</a:t>
            </a:r>
            <a:r>
              <a:rPr sz="2000" b="0" i="0">
                <a:solidFill>
                  <a:srgbClr val="1A1A1A"/>
                </a:solidFill>
                <a:latin typeface="Arial"/>
              </a:rPr>
              <a:t> Here, about 23.4 in January down to 21.0 in May.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circled high volume reversal bar is bearish, with that fall: potentially more reliable, the book says.</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5595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Ask which way the larger trend runs. The book gives no further reason.</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with a circled high volume reversal bar at a short rally's top in late May.</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Oval 15"/>
          <p:cNvSpPr/>
          <p:nvPr/>
        </p:nvSpPr>
        <p:spPr>
          <a:xfrm>
            <a:off x="7631500" y="24185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336953" y="34024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levels read by eye, and the larger trend read as the whole move. The book does not define the larger trend.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X: a continuation bar against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continuation bars, too, are more reliable in the direction of the predominant trend.</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X, our reading, as the book does not say: a high volume continuation bar rising against the larger downtrend, so the less reliable kind.</a:t>
            </a:r>
          </a:p>
          <a:p>
            <a:pPr algn="l">
              <a:lnSpc>
                <a:spcPct val="105000"/>
              </a:lnSpc>
              <a:spcBef>
                <a:spcPts val="0"/>
              </a:spcBef>
              <a:spcAft>
                <a:spcPts val="1100"/>
              </a:spcAft>
            </a:pPr>
            <a:r>
              <a:rPr sz="1800" b="0" i="0">
                <a:solidFill>
                  <a:srgbClr val="1A1A1A"/>
                </a:solidFill>
                <a:latin typeface="Arial"/>
              </a:rPr>
              <a:t>Its rally lasted about two and a half weeks before the fall went on.</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5595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the larger trend: more reliable. Against it: less.</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with X marking a high volume continuation bar in early May that rises against the decline.</a:t>
            </a:r>
          </a:p>
        </p:txBody>
      </p:sp>
      <p:sp>
        <p:nvSpPr>
          <p:cNvPr id="14" name="Oval 13"/>
          <p:cNvSpPr/>
          <p:nvPr/>
        </p:nvSpPr>
        <p:spPr>
          <a:xfrm>
            <a:off x="9985128" y="3863207"/>
            <a:ext cx="317045" cy="339267"/>
          </a:xfrm>
          <a:prstGeom prst="ellipse">
            <a:avLst/>
          </a:prstGeom>
          <a:noFill/>
          <a:ln w="44450">
            <a:solidFill>
              <a:srgbClr val="E09B00"/>
            </a:solidFill>
          </a:ln>
        </p:spPr>
        <p:txBody>
          <a:bodyPr rtlCol="0" anchor="ctr"/>
          <a:lstStyle/>
          <a:p>
            <a:pPr algn="ctr"/>
          </a:p>
        </p:txBody>
      </p:sp>
      <p:sp>
        <p:nvSpPr>
          <p:cNvPr id="15" name="Oval 14"/>
          <p:cNvSpPr/>
          <p:nvPr/>
        </p:nvSpPr>
        <p:spPr>
          <a:xfrm>
            <a:off x="9702862" y="35720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the reading of X, and its length read by eye. The book does not discuss X.</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volume reaches the line across the volume panel </a:t>
            </a:r>
            <a:r>
              <a:rPr sz="1700" b="1" i="0">
                <a:solidFill>
                  <a:srgbClr val="C62828"/>
                </a:solidFill>
                <a:latin typeface="Arial"/>
              </a:rPr>
              <a:t>(2)</a:t>
            </a:r>
            <a:r>
              <a:rPr sz="1700" b="0" i="0">
                <a:solidFill>
                  <a:srgbClr val="1A1A1A"/>
                </a:solidFill>
                <a:latin typeface="Arial"/>
              </a:rPr>
              <a:t>,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a:t>
            </a:r>
            <a:r>
              <a:rPr sz="1700" b="1" i="0">
                <a:solidFill>
                  <a:srgbClr val="1F5FAD"/>
                </a:solidFill>
                <a:latin typeface="Arial"/>
              </a:rPr>
              <a:t>(3)</a:t>
            </a:r>
            <a:r>
              <a:rPr sz="1700" b="0" i="0">
                <a:solidFill>
                  <a:srgbClr val="1A1A1A"/>
                </a:solidFill>
                <a:latin typeface="Arial"/>
              </a:rPr>
              <a:t>.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766559" y="1810512"/>
            <a:ext cx="4647895" cy="23053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06758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161038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6.34</a:t>
            </a:r>
          </a:p>
          <a:p>
            <a:pPr algn="l">
              <a:lnSpc>
                <a:spcPct val="115000"/>
              </a:lnSpc>
              <a:spcBef>
                <a:spcPts val="0"/>
              </a:spcBef>
              <a:spcAft>
                <a:spcPts val="0"/>
              </a:spcAft>
            </a:pPr>
            <a:r>
              <a:rPr sz="13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p:txBody>
      </p:sp>
      <p:sp>
        <p:nvSpPr>
          <p:cNvPr id="14" name="Oval 13"/>
          <p:cNvSpPr/>
          <p:nvPr/>
        </p:nvSpPr>
        <p:spPr>
          <a:xfrm>
            <a:off x="10215096" y="3293987"/>
            <a:ext cx="396913" cy="537571"/>
          </a:xfrm>
          <a:prstGeom prst="ellipse">
            <a:avLst/>
          </a:prstGeom>
          <a:noFill/>
          <a:ln w="44450">
            <a:solidFill>
              <a:srgbClr val="E09B00"/>
            </a:solidFill>
          </a:ln>
        </p:spPr>
        <p:txBody>
          <a:bodyPr rtlCol="0" anchor="ctr"/>
          <a:lstStyle/>
          <a:p>
            <a:pPr algn="ctr"/>
          </a:p>
        </p:txBody>
      </p:sp>
      <p:cxnSp>
        <p:nvCxnSpPr>
          <p:cNvPr id="15" name="Connector 14"/>
          <p:cNvCxnSpPr/>
          <p:nvPr/>
        </p:nvCxnSpPr>
        <p:spPr>
          <a:xfrm>
            <a:off x="8825898" y="3387028"/>
            <a:ext cx="2160974" cy="0"/>
          </a:xfrm>
          <a:prstGeom prst="line">
            <a:avLst/>
          </a:prstGeom>
          <a:ln w="44450">
            <a:solidFill>
              <a:srgbClr val="C62828"/>
            </a:solidFill>
          </a:ln>
        </p:spPr>
      </p:cxnSp>
      <p:sp>
        <p:nvSpPr>
          <p:cNvPr id="16" name="Oval 15"/>
          <p:cNvSpPr/>
          <p:nvPr/>
        </p:nvSpPr>
        <p:spPr>
          <a:xfrm>
            <a:off x="9134609" y="3211284"/>
            <a:ext cx="926131" cy="392840"/>
          </a:xfrm>
          <a:prstGeom prst="ellipse">
            <a:avLst/>
          </a:prstGeom>
          <a:noFill/>
          <a:ln w="44450">
            <a:solidFill>
              <a:srgbClr val="1F5FAD"/>
            </a:solidFill>
          </a:ln>
        </p:spPr>
        <p:txBody>
          <a:bodyPr rtlCol="0" anchor="ctr"/>
          <a:lstStyle/>
          <a:p>
            <a:pPr algn="ctr"/>
          </a:p>
        </p:txBody>
      </p:sp>
      <p:sp>
        <p:nvSpPr>
          <p:cNvPr id="17" name="Oval 16"/>
          <p:cNvSpPr/>
          <p:nvPr/>
        </p:nvSpPr>
        <p:spPr>
          <a:xfrm>
            <a:off x="10103749" y="315921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831424" y="32315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023262" y="3076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766559" y="420727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a:t>
            </a:r>
            <a:r>
              <a:rPr sz="1700" b="1" i="0">
                <a:solidFill>
                  <a:srgbClr val="E09B00"/>
                </a:solidFill>
                <a:latin typeface="Arial"/>
              </a:rPr>
              <a:t>(1)</a:t>
            </a:r>
            <a:r>
              <a:rPr sz="1700" b="0" i="0">
                <a:solidFill>
                  <a:srgbClr val="1A1A1A"/>
                </a:solidFill>
                <a:latin typeface="Arial"/>
              </a:rPr>
              <a:t>, sellers taking control; a very tall bar </a:t>
            </a:r>
            <a:r>
              <a:rPr sz="1700" b="1" i="0">
                <a:solidFill>
                  <a:srgbClr val="C62828"/>
                </a:solidFill>
                <a:latin typeface="Arial"/>
              </a:rPr>
              <a:t>(2)</a:t>
            </a:r>
            <a:r>
              <a:rPr sz="1700" b="0" i="0">
                <a:solidFill>
                  <a:srgbClr val="1A1A1A"/>
                </a:solidFill>
                <a:latin typeface="Arial"/>
              </a:rPr>
              <a:t>,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2377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0000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5428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Left: a rise topped by a narrow bar on relatively high volume. Right: by a very tall bar on relatively low volume. Both bearish.</a:t>
            </a:r>
          </a:p>
        </p:txBody>
      </p:sp>
      <p:sp>
        <p:nvSpPr>
          <p:cNvPr id="14" name="Rectangle 13"/>
          <p:cNvSpPr/>
          <p:nvPr/>
        </p:nvSpPr>
        <p:spPr>
          <a:xfrm>
            <a:off x="7919705" y="2319386"/>
            <a:ext cx="344477" cy="345002"/>
          </a:xfrm>
          <a:prstGeom prst="rect">
            <a:avLst/>
          </a:prstGeom>
          <a:noFill/>
          <a:ln w="44450">
            <a:solidFill>
              <a:srgbClr val="E09B00"/>
            </a:solidFill>
          </a:ln>
        </p:spPr>
        <p:txBody>
          <a:bodyPr rtlCol="0" anchor="ctr"/>
          <a:lstStyle/>
          <a:p>
            <a:pPr algn="ctr"/>
          </a:p>
        </p:txBody>
      </p:sp>
      <p:sp>
        <p:nvSpPr>
          <p:cNvPr id="15" name="Rectangle 14"/>
          <p:cNvSpPr/>
          <p:nvPr/>
        </p:nvSpPr>
        <p:spPr>
          <a:xfrm>
            <a:off x="10537732" y="2079385"/>
            <a:ext cx="275581" cy="1650011"/>
          </a:xfrm>
          <a:prstGeom prst="rect">
            <a:avLst/>
          </a:prstGeom>
          <a:noFill/>
          <a:ln w="44450">
            <a:solidFill>
              <a:srgbClr val="C62828"/>
            </a:solidFill>
          </a:ln>
        </p:spPr>
        <p:txBody>
          <a:bodyPr rtlCol="0" anchor="ctr"/>
          <a:lstStyle/>
          <a:p>
            <a:pPr algn="ctr"/>
          </a:p>
        </p:txBody>
      </p:sp>
      <p:sp>
        <p:nvSpPr>
          <p:cNvPr id="16" name="Rectangle 15"/>
          <p:cNvSpPr/>
          <p:nvPr/>
        </p:nvSpPr>
        <p:spPr>
          <a:xfrm>
            <a:off x="7207785" y="4419400"/>
            <a:ext cx="1584595" cy="495003"/>
          </a:xfrm>
          <a:prstGeom prst="rect">
            <a:avLst/>
          </a:prstGeom>
          <a:noFill/>
          <a:ln w="44450">
            <a:solidFill>
              <a:srgbClr val="1F5FAD"/>
            </a:solidFill>
          </a:ln>
        </p:spPr>
        <p:txBody>
          <a:bodyPr rtlCol="0" anchor="ctr"/>
          <a:lstStyle/>
          <a:p>
            <a:pPr algn="ctr"/>
          </a:p>
        </p:txBody>
      </p:sp>
      <p:sp>
        <p:nvSpPr>
          <p:cNvPr id="17" name="Oval 16"/>
          <p:cNvSpPr/>
          <p:nvPr/>
        </p:nvSpPr>
        <p:spPr>
          <a:xfrm>
            <a:off x="8269490" y="23439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1528" y="26739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914546" y="41439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1397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every bar holds 100,000 shares; a usual bar spans PHP 1.00: 100,000 shares a peso of range.</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 PHP 0.20 bar: 100,000 shares moved price 20 centavos, 500,000 a peso, five times usual. Figure 6.35's label: relatively high volume.</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 PHP 4.00 bar: 100,000 shares over 4 pesos, 25,000 a peso, a quarter of usual. Its label: relatively low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3766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is fixed, so the range alone says if it was a lot or a little.</a:t>
            </a:r>
          </a:p>
        </p:txBody>
      </p:sp>
      <p:sp>
        <p:nvSpPr>
          <p:cNvPr id="10" name="Rectangle 9"/>
          <p:cNvSpPr/>
          <p:nvPr/>
        </p:nvSpPr>
        <p:spPr>
          <a:xfrm>
            <a:off x="6766559" y="1810512"/>
            <a:ext cx="4647894" cy="311831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88056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42336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1, left: a rise topped by a narrow bar labelled relatively high volume. 2, right: a rise topped by a very tall bar labelled relatively low volume.</a:t>
            </a:r>
          </a:p>
        </p:txBody>
      </p:sp>
      <p:sp>
        <p:nvSpPr>
          <p:cNvPr id="14" name="Rectangle 13"/>
          <p:cNvSpPr/>
          <p:nvPr/>
        </p:nvSpPr>
        <p:spPr>
          <a:xfrm>
            <a:off x="8054122" y="2303857"/>
            <a:ext cx="330761" cy="331265"/>
          </a:xfrm>
          <a:prstGeom prst="rect">
            <a:avLst/>
          </a:prstGeom>
          <a:noFill/>
          <a:ln w="44450">
            <a:solidFill>
              <a:srgbClr val="E09B00"/>
            </a:solidFill>
          </a:ln>
        </p:spPr>
        <p:txBody>
          <a:bodyPr rtlCol="0" anchor="ctr"/>
          <a:lstStyle/>
          <a:p>
            <a:pPr algn="ctr"/>
          </a:p>
        </p:txBody>
      </p:sp>
      <p:sp>
        <p:nvSpPr>
          <p:cNvPr id="15" name="Rectangle 14"/>
          <p:cNvSpPr/>
          <p:nvPr/>
        </p:nvSpPr>
        <p:spPr>
          <a:xfrm>
            <a:off x="10567908" y="2073412"/>
            <a:ext cx="264609" cy="1584312"/>
          </a:xfrm>
          <a:prstGeom prst="rect">
            <a:avLst/>
          </a:prstGeom>
          <a:noFill/>
          <a:ln w="44450">
            <a:solidFill>
              <a:srgbClr val="C62828"/>
            </a:solidFill>
          </a:ln>
        </p:spPr>
        <p:txBody>
          <a:bodyPr rtlCol="0" anchor="ctr"/>
          <a:lstStyle/>
          <a:p>
            <a:pPr algn="ctr"/>
          </a:p>
        </p:txBody>
      </p:sp>
      <p:sp>
        <p:nvSpPr>
          <p:cNvPr id="16" name="Oval 15"/>
          <p:cNvSpPr/>
          <p:nvPr/>
        </p:nvSpPr>
        <p:spPr>
          <a:xfrm>
            <a:off x="8383790" y="23212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58104" y="263810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020264"/>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a:t>
            </a:r>
            <a:r>
              <a:rPr sz="1700" b="1" i="0">
                <a:solidFill>
                  <a:srgbClr val="E09B00"/>
                </a:solidFill>
                <a:latin typeface="Arial"/>
              </a:rPr>
              <a:t>(1)</a:t>
            </a:r>
            <a:r>
              <a:rPr sz="1700" b="0" i="0">
                <a:solidFill>
                  <a:srgbClr val="1A1A1A"/>
                </a:solidFill>
                <a:latin typeface="Arial"/>
              </a:rPr>
              <a:t>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a:t>
            </a:r>
            <a:r>
              <a:rPr sz="1700" b="1" i="0">
                <a:solidFill>
                  <a:srgbClr val="C62828"/>
                </a:solidFill>
                <a:latin typeface="Arial"/>
              </a:rPr>
              <a:t>(2)</a:t>
            </a:r>
            <a:r>
              <a:rPr sz="1700" b="0" i="0">
                <a:solidFill>
                  <a:srgbClr val="1A1A1A"/>
                </a:solidFill>
                <a:latin typeface="Arial"/>
              </a:rPr>
              <a:t>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9633935" y="3088111"/>
            <a:ext cx="396483" cy="351129"/>
          </a:xfrm>
          <a:prstGeom prst="ellipse">
            <a:avLst/>
          </a:prstGeom>
          <a:noFill/>
          <a:ln w="44450">
            <a:solidFill>
              <a:srgbClr val="E09B00"/>
            </a:solidFill>
          </a:ln>
        </p:spPr>
        <p:txBody>
          <a:bodyPr rtlCol="0" anchor="ctr"/>
          <a:lstStyle/>
          <a:p>
            <a:pPr algn="ctr"/>
          </a:p>
        </p:txBody>
      </p:sp>
      <p:sp>
        <p:nvSpPr>
          <p:cNvPr id="13" name="Rectangle 12"/>
          <p:cNvSpPr/>
          <p:nvPr/>
        </p:nvSpPr>
        <p:spPr>
          <a:xfrm>
            <a:off x="10253441" y="4106387"/>
            <a:ext cx="941649" cy="912936"/>
          </a:xfrm>
          <a:prstGeom prst="rect">
            <a:avLst/>
          </a:prstGeom>
          <a:noFill/>
          <a:ln w="44450">
            <a:solidFill>
              <a:srgbClr val="C62828"/>
            </a:solidFill>
          </a:ln>
        </p:spPr>
        <p:txBody>
          <a:bodyPr rtlCol="0" anchor="ctr"/>
          <a:lstStyle/>
          <a:p>
            <a:pPr algn="ctr"/>
          </a:p>
        </p:txBody>
      </p:sp>
      <p:sp>
        <p:nvSpPr>
          <p:cNvPr id="14" name="Oval 13"/>
          <p:cNvSpPr/>
          <p:nvPr/>
        </p:nvSpPr>
        <p:spPr>
          <a:xfrm>
            <a:off x="9528047" y="29677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14862" y="38807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a usual day trades 1.3 million. </a:t>
            </a:r>
            <a:r>
              <a:rPr sz="1700" b="1" i="0">
                <a:solidFill>
                  <a:srgbClr val="E09B00"/>
                </a:solidFill>
                <a:latin typeface="Arial"/>
              </a:rPr>
              <a:t>(1)</a:t>
            </a:r>
            <a:r>
              <a:rPr sz="1700" b="0" i="0">
                <a:solidFill>
                  <a:srgbClr val="1A1A1A"/>
                </a:solidFill>
                <a:latin typeface="Arial"/>
              </a:rPr>
              <a:t> Price closes PHP 0.80 above a two-month falling trendline, </a:t>
            </a:r>
            <a:r>
              <a:rPr sz="1700" b="1" i="0">
                <a:solidFill>
                  <a:srgbClr val="C62828"/>
                </a:solidFill>
                <a:latin typeface="Arial"/>
              </a:rPr>
              <a:t>(2)</a:t>
            </a:r>
            <a:r>
              <a:rPr sz="1700" b="0" i="0">
                <a:solidFill>
                  <a:srgbClr val="1A1A1A"/>
                </a:solidFill>
                <a:latin typeface="Arial"/>
              </a:rPr>
              <a:t> on 1.3 million: an ordinary day.</a:t>
            </a:r>
          </a:p>
          <a:p>
            <a:pPr algn="l">
              <a:lnSpc>
                <a:spcPct val="105000"/>
              </a:lnSpc>
              <a:spcBef>
                <a:spcPts val="0"/>
              </a:spcBef>
              <a:spcAft>
                <a:spcPts val="1100"/>
              </a:spcAft>
            </a:pPr>
            <a:r>
              <a:rPr sz="1700" b="0" i="0">
                <a:solidFill>
                  <a:srgbClr val="1A1A1A"/>
                </a:solidFill>
                <a:latin typeface="Arial"/>
              </a:rPr>
              <a:t>By volume alone, nothing happened. But the break shows on every chart: </a:t>
            </a:r>
            <a:r>
              <a:rPr sz="1700" b="1" i="0">
                <a:solidFill>
                  <a:srgbClr val="1F5FAD"/>
                </a:solidFill>
                <a:latin typeface="Arial"/>
              </a:rPr>
              <a:t>(3)</a:t>
            </a:r>
            <a:r>
              <a:rPr sz="1700" b="0" i="0">
                <a:solidFill>
                  <a:srgbClr val="1A1A1A"/>
                </a:solidFill>
                <a:latin typeface="Arial"/>
              </a:rPr>
              <a:t> days later, 3 million trade.</a:t>
            </a:r>
          </a:p>
          <a:p>
            <a:pPr algn="l">
              <a:lnSpc>
                <a:spcPct val="105000"/>
              </a:lnSpc>
              <a:spcBef>
                <a:spcPts val="0"/>
              </a:spcBef>
              <a:spcAft>
                <a:spcPts val="1100"/>
              </a:spcAft>
            </a:pPr>
            <a:r>
              <a:rPr sz="1700" b="0" i="0">
                <a:solidFill>
                  <a:srgbClr val="1A1A1A"/>
                </a:solidFill>
                <a:latin typeface="Arial"/>
              </a:rPr>
              <a:t>Light volume on a break does not cancel it: watch whether volume follows. The book does not say for how long.</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can follow the signal: more often now, the book says, as technical analysis is widely used.</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e.png"/>
          <p:cNvPicPr>
            <a:picLocks noChangeAspect="1"/>
          </p:cNvPicPr>
          <p:nvPr/>
        </p:nvPicPr>
        <p:blipFill>
          <a:blip r:embed="rId2"/>
          <a:stretch>
            <a:fillRect/>
          </a:stretch>
        </p:blipFill>
        <p:spPr>
          <a:xfrm>
            <a:off x="7435443" y="1929384"/>
            <a:ext cx="3858768" cy="3511296"/>
          </a:xfrm>
          <a:prstGeom prst="rect">
            <a:avLst/>
          </a:prstGeom>
        </p:spPr>
      </p:pic>
      <p:sp>
        <p:nvSpPr>
          <p:cNvPr id="12" name="Oval 11"/>
          <p:cNvSpPr/>
          <p:nvPr/>
        </p:nvSpPr>
        <p:spPr>
          <a:xfrm>
            <a:off x="10040111" y="3105668"/>
            <a:ext cx="308701" cy="351129"/>
          </a:xfrm>
          <a:prstGeom prst="ellipse">
            <a:avLst/>
          </a:prstGeom>
          <a:noFill/>
          <a:ln w="44450">
            <a:solidFill>
              <a:srgbClr val="E09B00"/>
            </a:solidFill>
          </a:ln>
        </p:spPr>
        <p:txBody>
          <a:bodyPr rtlCol="0" anchor="ctr"/>
          <a:lstStyle/>
          <a:p>
            <a:pPr algn="ctr"/>
          </a:p>
        </p:txBody>
      </p:sp>
      <p:sp>
        <p:nvSpPr>
          <p:cNvPr id="13" name="Rectangle 12"/>
          <p:cNvSpPr/>
          <p:nvPr/>
        </p:nvSpPr>
        <p:spPr>
          <a:xfrm>
            <a:off x="10136581" y="4562856"/>
            <a:ext cx="135056" cy="456468"/>
          </a:xfrm>
          <a:prstGeom prst="rect">
            <a:avLst/>
          </a:prstGeom>
          <a:noFill/>
          <a:ln w="44450">
            <a:solidFill>
              <a:srgbClr val="C62828"/>
            </a:solidFill>
          </a:ln>
        </p:spPr>
        <p:txBody>
          <a:bodyPr rtlCol="0" anchor="ctr"/>
          <a:lstStyle/>
          <a:p>
            <a:pPr algn="ctr"/>
          </a:p>
        </p:txBody>
      </p:sp>
      <p:sp>
        <p:nvSpPr>
          <p:cNvPr id="14" name="Rectangle 13"/>
          <p:cNvSpPr/>
          <p:nvPr/>
        </p:nvSpPr>
        <p:spPr>
          <a:xfrm>
            <a:off x="10522457" y="4176613"/>
            <a:ext cx="675284" cy="842711"/>
          </a:xfrm>
          <a:prstGeom prst="rect">
            <a:avLst/>
          </a:prstGeom>
          <a:noFill/>
          <a:ln w="44450">
            <a:solidFill>
              <a:srgbClr val="1F5FAD"/>
            </a:solidFill>
          </a:ln>
        </p:spPr>
        <p:txBody>
          <a:bodyPr rtlCol="0" anchor="ctr"/>
          <a:lstStyle/>
          <a:p>
            <a:pPr algn="ctr"/>
          </a:p>
        </p:txBody>
      </p:sp>
      <p:sp>
        <p:nvSpPr>
          <p:cNvPr id="15" name="Oval 14"/>
          <p:cNvSpPr/>
          <p:nvPr/>
        </p:nvSpPr>
        <p:spPr>
          <a:xfrm>
            <a:off x="10058308" y="351202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193365" y="42845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1023000" y="386315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JE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and the chart, Chart AK's line with its numbers. The book gives no test for when a light volume signal will draw volume in.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a:t>
            </a:r>
            <a:r>
              <a:rPr sz="1700" b="1" i="0">
                <a:solidFill>
                  <a:srgbClr val="E09B00"/>
                </a:solidFill>
                <a:latin typeface="Arial"/>
              </a:rPr>
              <a:t>(1)</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a continuation at </a:t>
            </a:r>
            <a:r>
              <a:rPr sz="1700" b="1" i="0">
                <a:solidFill>
                  <a:srgbClr val="C62828"/>
                </a:solidFill>
                <a:latin typeface="Arial"/>
              </a:rPr>
              <a:t>(2)</a:t>
            </a:r>
            <a:r>
              <a:rPr sz="1700" b="0" i="0">
                <a:solidFill>
                  <a:srgbClr val="1A1A1A"/>
                </a:solidFill>
                <a:latin typeface="Arial"/>
              </a:rPr>
              <a:t>.</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Oval 15"/>
          <p:cNvSpPr/>
          <p:nvPr/>
        </p:nvSpPr>
        <p:spPr>
          <a:xfrm>
            <a:off x="8101309" y="3400013"/>
            <a:ext cx="323331" cy="348020"/>
          </a:xfrm>
          <a:prstGeom prst="ellipse">
            <a:avLst/>
          </a:prstGeom>
          <a:noFill/>
          <a:ln w="44450">
            <a:solidFill>
              <a:srgbClr val="E09B00"/>
            </a:solidFill>
          </a:ln>
        </p:spPr>
        <p:txBody>
          <a:bodyPr rtlCol="0" anchor="ctr"/>
          <a:lstStyle/>
          <a:p>
            <a:pPr algn="ctr"/>
          </a:p>
        </p:txBody>
      </p:sp>
      <p:sp>
        <p:nvSpPr>
          <p:cNvPr id="17" name="Oval 16"/>
          <p:cNvSpPr/>
          <p:nvPr/>
        </p:nvSpPr>
        <p:spPr>
          <a:xfrm>
            <a:off x="9131929" y="2877982"/>
            <a:ext cx="323331" cy="316382"/>
          </a:xfrm>
          <a:prstGeom prst="ellipse">
            <a:avLst/>
          </a:prstGeom>
          <a:noFill/>
          <a:ln w="44450">
            <a:solidFill>
              <a:srgbClr val="C62828"/>
            </a:solidFill>
          </a:ln>
        </p:spPr>
        <p:txBody>
          <a:bodyPr rtlCol="0" anchor="ctr"/>
          <a:lstStyle/>
          <a:p>
            <a:pPr algn="ctr"/>
          </a:p>
        </p:txBody>
      </p:sp>
      <p:sp>
        <p:nvSpPr>
          <p:cNvPr id="18" name="Oval 17"/>
          <p:cNvSpPr/>
          <p:nvPr/>
        </p:nvSpPr>
        <p:spPr>
          <a:xfrm>
            <a:off x="10485881" y="2529961"/>
            <a:ext cx="323331" cy="348020"/>
          </a:xfrm>
          <a:prstGeom prst="ellipse">
            <a:avLst/>
          </a:prstGeom>
          <a:noFill/>
          <a:ln w="44450">
            <a:solidFill>
              <a:srgbClr val="1F5FAD"/>
            </a:solidFill>
          </a:ln>
        </p:spPr>
        <p:txBody>
          <a:bodyPr rtlCol="0" anchor="ctr"/>
          <a:lstStyle/>
          <a:p>
            <a:pPr algn="ctr"/>
          </a:p>
        </p:txBody>
      </p:sp>
      <p:sp>
        <p:nvSpPr>
          <p:cNvPr id="19" name="Oval 18"/>
          <p:cNvSpPr/>
          <p:nvPr/>
        </p:nvSpPr>
        <p:spPr>
          <a:xfrm>
            <a:off x="7986278" y="327620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9016898" y="27541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370850" y="24061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TextBox 2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Follow the solid line down from Market bottom </a:t>
            </a:r>
            <a:r>
              <a:rPr sz="1800" b="1" i="0">
                <a:solidFill>
                  <a:srgbClr val="E09B00"/>
                </a:solidFill>
                <a:latin typeface="Arial"/>
              </a:rPr>
              <a:t>(1)</a:t>
            </a:r>
            <a:r>
              <a:rPr sz="1800" b="0" i="0">
                <a:solidFill>
                  <a:srgbClr val="1A1A1A"/>
                </a:solidFill>
                <a:latin typeface="Arial"/>
              </a:rPr>
              <a:t>: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a:t>
            </a:r>
            <a:r>
              <a:rPr sz="1800" b="1" i="0">
                <a:solidFill>
                  <a:srgbClr val="1F5FAD"/>
                </a:solidFill>
                <a:latin typeface="Arial"/>
              </a:rPr>
              <a:t>(3)</a:t>
            </a:r>
            <a:r>
              <a:rPr sz="1800" b="0" i="0">
                <a:solidFill>
                  <a:srgbClr val="1A1A1A"/>
                </a:solidFill>
                <a:latin typeface="Arial"/>
              </a:rPr>
              <a:t>: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259556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5781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9006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6.36</a:t>
            </a:r>
          </a:p>
          <a:p>
            <a:pPr algn="l">
              <a:lnSpc>
                <a:spcPct val="115000"/>
              </a:lnSpc>
              <a:spcBef>
                <a:spcPts val="0"/>
              </a:spcBef>
              <a:spcAft>
                <a:spcPts val="0"/>
              </a:spcAft>
            </a:pPr>
            <a:r>
              <a:rPr sz="1500" b="0" i="0">
                <a:solidFill>
                  <a:srgbClr val="1A1A1A"/>
                </a:solidFill>
                <a:latin typeface="Palatino"/>
              </a:rPr>
              <a:t>A 30-minute EURUSD chart over weeks, with support and resistance lines, a triangle and a channel, over daily volume cycles; price turns at the peaks.</a:t>
            </a:r>
          </a:p>
        </p:txBody>
      </p:sp>
      <p:sp>
        <p:nvSpPr>
          <p:cNvPr id="14" name="Oval 13"/>
          <p:cNvSpPr/>
          <p:nvPr/>
        </p:nvSpPr>
        <p:spPr>
          <a:xfrm>
            <a:off x="8287147" y="3461966"/>
            <a:ext cx="367442" cy="235781"/>
          </a:xfrm>
          <a:prstGeom prst="ellipse">
            <a:avLst/>
          </a:prstGeom>
          <a:noFill/>
          <a:ln w="44450">
            <a:solidFill>
              <a:srgbClr val="E09B00"/>
            </a:solidFill>
          </a:ln>
        </p:spPr>
        <p:txBody>
          <a:bodyPr rtlCol="0" anchor="ctr"/>
          <a:lstStyle/>
          <a:p>
            <a:pPr algn="ctr"/>
          </a:p>
        </p:txBody>
      </p:sp>
      <p:sp>
        <p:nvSpPr>
          <p:cNvPr id="15" name="Rectangle 14"/>
          <p:cNvSpPr/>
          <p:nvPr/>
        </p:nvSpPr>
        <p:spPr>
          <a:xfrm>
            <a:off x="6794412" y="3886373"/>
            <a:ext cx="4409309" cy="341883"/>
          </a:xfrm>
          <a:prstGeom prst="rect">
            <a:avLst/>
          </a:prstGeom>
          <a:noFill/>
          <a:ln w="44450">
            <a:solidFill>
              <a:srgbClr val="C62828"/>
            </a:solidFill>
          </a:ln>
        </p:spPr>
        <p:txBody>
          <a:bodyPr rtlCol="0" anchor="ctr"/>
          <a:lstStyle/>
          <a:p>
            <a:pPr algn="ctr"/>
          </a:p>
        </p:txBody>
      </p:sp>
      <p:sp>
        <p:nvSpPr>
          <p:cNvPr id="16" name="Rectangle 15"/>
          <p:cNvSpPr/>
          <p:nvPr/>
        </p:nvSpPr>
        <p:spPr>
          <a:xfrm>
            <a:off x="8769415" y="2683886"/>
            <a:ext cx="826745" cy="565876"/>
          </a:xfrm>
          <a:prstGeom prst="rect">
            <a:avLst/>
          </a:prstGeom>
          <a:noFill/>
          <a:ln w="44450">
            <a:solidFill>
              <a:srgbClr val="1F5FAD"/>
            </a:solidFill>
          </a:ln>
        </p:spPr>
        <p:txBody>
          <a:bodyPr rtlCol="0" anchor="ctr"/>
          <a:lstStyle/>
          <a:p>
            <a:pPr algn="ctr"/>
          </a:p>
        </p:txBody>
      </p:sp>
      <p:sp>
        <p:nvSpPr>
          <p:cNvPr id="17" name="Oval 16"/>
          <p:cNvSpPr/>
          <p:nvPr/>
        </p:nvSpPr>
        <p:spPr>
          <a:xfrm>
            <a:off x="8177630" y="333009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071239" y="3895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476177" y="243412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497514"/>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the book's 1, 4 and 5 price rebounds off a rising trendline </a:t>
            </a:r>
            <a:r>
              <a:rPr sz="1700" b="1" i="0">
                <a:solidFill>
                  <a:srgbClr val="E09B00"/>
                </a:solidFill>
                <a:latin typeface="Arial"/>
              </a:rPr>
              <a:t>(1)</a:t>
            </a:r>
            <a:r>
              <a:rPr sz="1700" b="0" i="0">
                <a:solidFill>
                  <a:srgbClr val="1A1A1A"/>
                </a:solidFill>
                <a:latin typeface="Arial"/>
              </a:rPr>
              <a:t>, each time at a tick volume peak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cycle-tuned stochastic, bottom panel, read oversold there </a:t>
            </a:r>
            <a:r>
              <a:rPr sz="1700" b="1" i="0">
                <a:solidFill>
                  <a:srgbClr val="1F5FAD"/>
                </a:solidFill>
                <a:latin typeface="Arial"/>
              </a:rPr>
              <a:t>(3)</a:t>
            </a:r>
            <a:r>
              <a:rPr sz="1700" b="0" i="0">
                <a:solidFill>
                  <a:srgbClr val="1A1A1A"/>
                </a:solidFill>
                <a:latin typeface="Arial"/>
              </a:rPr>
              <a:t>: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a:t>
            </a:r>
            <a:r>
              <a:rPr sz="1700" b="1" i="0">
                <a:solidFill>
                  <a:srgbClr val="007A33"/>
                </a:solidFill>
                <a:latin typeface="Arial"/>
              </a:rPr>
              <a:t>(4)</a:t>
            </a:r>
            <a:r>
              <a:rPr sz="1700" b="0" i="0">
                <a:solidFill>
                  <a:srgbClr val="1A1A1A"/>
                </a:solidFill>
                <a:latin typeface="Arial"/>
              </a:rPr>
              <a:t> the stochastic was still mid-panel, not clearly oversold.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7424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7132319" y="1810512"/>
            <a:ext cx="4282135" cy="222418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51191" y="1929384"/>
            <a:ext cx="4044391" cy="19864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51191" y="1929384"/>
            <a:ext cx="40443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25511" y="2203703"/>
            <a:ext cx="3495751" cy="1529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6.37</a:t>
            </a:r>
          </a:p>
          <a:p>
            <a:pPr algn="l">
              <a:lnSpc>
                <a:spcPct val="115000"/>
              </a:lnSpc>
              <a:spcBef>
                <a:spcPts val="0"/>
              </a:spcBef>
              <a:spcAft>
                <a:spcPts val="0"/>
              </a:spcAft>
            </a:pPr>
            <a:r>
              <a:rPr sz="1300" b="0" i="0">
                <a:solidFill>
                  <a:srgbClr val="1A1A1A"/>
                </a:solidFill>
                <a:latin typeface="Palatino"/>
              </a:rPr>
              <a:t>Hourly EURUSD with rising trendlines and retests 1 to 5, daily volume cycles below, and a stochastic panel: oversold under 1, 4 and 5, not at X and Y.</a:t>
            </a:r>
          </a:p>
        </p:txBody>
      </p:sp>
      <p:cxnSp>
        <p:nvCxnSpPr>
          <p:cNvPr id="14" name="Connector 13"/>
          <p:cNvCxnSpPr/>
          <p:nvPr/>
        </p:nvCxnSpPr>
        <p:spPr>
          <a:xfrm flipV="1">
            <a:off x="9859824" y="2594841"/>
            <a:ext cx="1253761" cy="337694"/>
          </a:xfrm>
          <a:prstGeom prst="line">
            <a:avLst/>
          </a:prstGeom>
          <a:ln w="44450">
            <a:solidFill>
              <a:srgbClr val="E09B00"/>
            </a:solidFill>
          </a:ln>
        </p:spPr>
      </p:cxnSp>
      <p:sp>
        <p:nvSpPr>
          <p:cNvPr id="15" name="Rectangle 14"/>
          <p:cNvSpPr/>
          <p:nvPr/>
        </p:nvSpPr>
        <p:spPr>
          <a:xfrm>
            <a:off x="7271413" y="3170908"/>
            <a:ext cx="4003947" cy="198643"/>
          </a:xfrm>
          <a:prstGeom prst="rect">
            <a:avLst/>
          </a:prstGeom>
          <a:noFill/>
          <a:ln w="44450">
            <a:solidFill>
              <a:srgbClr val="C62828"/>
            </a:solidFill>
          </a:ln>
        </p:spPr>
        <p:txBody>
          <a:bodyPr rtlCol="0" anchor="ctr"/>
          <a:lstStyle/>
          <a:p>
            <a:pPr algn="ctr"/>
          </a:p>
        </p:txBody>
      </p:sp>
      <p:sp>
        <p:nvSpPr>
          <p:cNvPr id="16" name="Rectangle 15"/>
          <p:cNvSpPr/>
          <p:nvPr/>
        </p:nvSpPr>
        <p:spPr>
          <a:xfrm>
            <a:off x="7574743" y="3697315"/>
            <a:ext cx="3518620" cy="139050"/>
          </a:xfrm>
          <a:prstGeom prst="rect">
            <a:avLst/>
          </a:prstGeom>
          <a:noFill/>
          <a:ln w="44450">
            <a:solidFill>
              <a:srgbClr val="1F5FAD"/>
            </a:solidFill>
          </a:ln>
        </p:spPr>
        <p:txBody>
          <a:bodyPr rtlCol="0" anchor="ctr"/>
          <a:lstStyle/>
          <a:p>
            <a:pPr algn="ctr"/>
          </a:p>
        </p:txBody>
      </p:sp>
      <p:sp>
        <p:nvSpPr>
          <p:cNvPr id="17" name="Rectangle 16"/>
          <p:cNvSpPr/>
          <p:nvPr/>
        </p:nvSpPr>
        <p:spPr>
          <a:xfrm>
            <a:off x="8100514" y="3498671"/>
            <a:ext cx="1577312" cy="178779"/>
          </a:xfrm>
          <a:prstGeom prst="rect">
            <a:avLst/>
          </a:prstGeom>
          <a:noFill/>
          <a:ln w="44450">
            <a:solidFill>
              <a:srgbClr val="007A33"/>
            </a:solidFill>
          </a:ln>
        </p:spPr>
        <p:txBody>
          <a:bodyPr rtlCol="0" anchor="ctr"/>
          <a:lstStyle/>
          <a:p>
            <a:pPr algn="ctr"/>
          </a:p>
        </p:txBody>
      </p:sp>
      <p:sp>
        <p:nvSpPr>
          <p:cNvPr id="18" name="Oval 17"/>
          <p:cNvSpPr/>
          <p:nvPr/>
        </p:nvSpPr>
        <p:spPr>
          <a:xfrm>
            <a:off x="9704376" y="26579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1079469" y="293600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297963" y="346240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23734" y="326376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132319" y="4126135"/>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6.37 -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23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2000" b="0" i="0">
                <a:solidFill>
                  <a:srgbClr val="1A1A1A"/>
                </a:solidFill>
                <a:latin typeface="Arial"/>
              </a:rPr>
              <a:t>That changes the angle of trendlines, channels and chart patterns. Figure 6.38, top: Apple on a standard daily chart, with a trendline </a:t>
            </a:r>
            <a:r>
              <a:rPr sz="2000" b="1" i="0">
                <a:solidFill>
                  <a:srgbClr val="C62828"/>
                </a:solidFill>
                <a:latin typeface="Arial"/>
              </a:rPr>
              <a:t>(2)</a:t>
            </a:r>
            <a:r>
              <a:rPr sz="2000" b="0" i="0">
                <a:solidFill>
                  <a:srgbClr val="1A1A1A"/>
                </a:solidFill>
                <a:latin typeface="Arial"/>
              </a:rPr>
              <a:t>.</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55595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E09B00"/>
                </a:solidFill>
                <a:latin typeface="Arial"/>
              </a:rPr>
              <a:t>(1)</a:t>
            </a:r>
            <a:r>
              <a:rPr sz="2100" b="1" i="0">
                <a:solidFill>
                  <a:srgbClr val="1A1A1A"/>
                </a:solidFill>
                <a:latin typeface="Arial"/>
              </a:rPr>
              <a:t> Circled, late May: on the standard chart, price stays above the line.</a:t>
            </a:r>
          </a:p>
        </p:txBody>
      </p:sp>
      <p:sp>
        <p:nvSpPr>
          <p:cNvPr id="10" name="Rectangle 9"/>
          <p:cNvSpPr/>
          <p:nvPr/>
        </p:nvSpPr>
        <p:spPr>
          <a:xfrm>
            <a:off x="6949440" y="1810512"/>
            <a:ext cx="4465014" cy="286321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262546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16826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upper panel of Figure 6.38: Apple on a standard daily chart, a rising trendline under it, and a circle in late May where price stays above the line.</a:t>
            </a:r>
          </a:p>
        </p:txBody>
      </p:sp>
      <p:sp>
        <p:nvSpPr>
          <p:cNvPr id="14" name="Oval 13"/>
          <p:cNvSpPr/>
          <p:nvPr/>
        </p:nvSpPr>
        <p:spPr>
          <a:xfrm>
            <a:off x="10069674" y="3032081"/>
            <a:ext cx="464999" cy="498839"/>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8040584" y="3176481"/>
            <a:ext cx="2916817" cy="1128952"/>
          </a:xfrm>
          <a:prstGeom prst="line">
            <a:avLst/>
          </a:prstGeom>
          <a:ln w="44450">
            <a:solidFill>
              <a:srgbClr val="C62828"/>
            </a:solidFill>
          </a:ln>
        </p:spPr>
      </p:cxnSp>
      <p:sp>
        <p:nvSpPr>
          <p:cNvPr id="16" name="Oval 15"/>
          <p:cNvSpPr/>
          <p:nvPr/>
        </p:nvSpPr>
        <p:spPr>
          <a:xfrm>
            <a:off x="9956499" y="290288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85136" y="399245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4765165"/>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upper panel. Point and figure, Renko, three line break and equivolume charts were Chapter 3 terms.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line on the equivolume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24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800" b="0" i="0">
                <a:solidFill>
                  <a:srgbClr val="1A1A1A"/>
                </a:solidFill>
                <a:latin typeface="Arial"/>
              </a:rPr>
              <a:t>Figure 6.38, bottom: the same Apple prices on an equivolume chart, and the same trendline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So the same line meets late May at a different place.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E09B00"/>
                </a:solidFill>
                <a:latin typeface="Arial"/>
              </a:rPr>
              <a:t>(1)</a:t>
            </a:r>
            <a:r>
              <a:rPr sz="1900" b="1" i="0">
                <a:solidFill>
                  <a:srgbClr val="1A1A1A"/>
                </a:solidFill>
                <a:latin typeface="Arial"/>
              </a:rPr>
              <a:t> Circled, late May: on the equivolume chart, price cuts through the line.</a:t>
            </a:r>
          </a:p>
        </p:txBody>
      </p:sp>
      <p:sp>
        <p:nvSpPr>
          <p:cNvPr id="10" name="Rectangle 9"/>
          <p:cNvSpPr/>
          <p:nvPr/>
        </p:nvSpPr>
        <p:spPr>
          <a:xfrm>
            <a:off x="6583679" y="1810512"/>
            <a:ext cx="4830775" cy="30615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38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66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lower panel of Figure 6.38: the same Apple prices on an equivolume chart, the same trendline, and a circle in late May where price cuts through the line.</a:t>
            </a:r>
          </a:p>
        </p:txBody>
      </p:sp>
      <p:sp>
        <p:nvSpPr>
          <p:cNvPr id="14" name="Oval 13"/>
          <p:cNvSpPr/>
          <p:nvPr/>
        </p:nvSpPr>
        <p:spPr>
          <a:xfrm>
            <a:off x="9917673" y="2917721"/>
            <a:ext cx="551163" cy="564764"/>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850809" y="3016555"/>
            <a:ext cx="2709889" cy="1468386"/>
          </a:xfrm>
          <a:prstGeom prst="line">
            <a:avLst/>
          </a:prstGeom>
          <a:ln w="44450">
            <a:solidFill>
              <a:srgbClr val="C62828"/>
            </a:solidFill>
          </a:ln>
        </p:spPr>
      </p:cxnSp>
      <p:sp>
        <p:nvSpPr>
          <p:cNvPr id="16" name="Oval 15"/>
          <p:cNvSpPr/>
          <p:nvPr/>
        </p:nvSpPr>
        <p:spPr>
          <a:xfrm>
            <a:off x="9808156" y="27905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695361" y="41600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35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lower panel: the same prices and the same line as the slide before, on an equivolume chart.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25 of 25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lows of PHP 100 and 110, ten ordinary days apart, one step a day on both charts: the line rises PHP 1.00 a step.</a:t>
            </a:r>
          </a:p>
          <a:p>
            <a:pPr algn="l">
              <a:lnSpc>
                <a:spcPct val="105000"/>
              </a:lnSpc>
              <a:spcBef>
                <a:spcPts val="0"/>
              </a:spcBef>
              <a:spcAft>
                <a:spcPts val="1100"/>
              </a:spcAft>
            </a:pPr>
            <a:r>
              <a:rPr sz="1700" b="0" i="0">
                <a:solidFill>
                  <a:srgbClr val="1A1A1A"/>
                </a:solidFill>
                <a:latin typeface="Arial"/>
              </a:rPr>
              <a:t>Then five heavy days: </a:t>
            </a:r>
            <a:r>
              <a:rPr sz="1700" b="1" i="0">
                <a:solidFill>
                  <a:srgbClr val="E09B00"/>
                </a:solidFill>
                <a:latin typeface="Arial"/>
              </a:rPr>
              <a:t>(1)</a:t>
            </a:r>
            <a:r>
              <a:rPr sz="1700" b="0" i="0">
                <a:solidFill>
                  <a:srgbClr val="1A1A1A"/>
                </a:solidFill>
                <a:latin typeface="Arial"/>
              </a:rPr>
              <a:t> one step each on the daily chart, </a:t>
            </a:r>
            <a:r>
              <a:rPr sz="1700" b="1" i="0">
                <a:solidFill>
                  <a:srgbClr val="C62828"/>
                </a:solidFill>
                <a:latin typeface="Arial"/>
              </a:rPr>
              <a:t>(2)</a:t>
            </a:r>
            <a:r>
              <a:rPr sz="1700" b="0" i="0">
                <a:solidFill>
                  <a:srgbClr val="1A1A1A"/>
                </a:solidFill>
                <a:latin typeface="Arial"/>
              </a:rPr>
              <a:t> two each on the equivolume one. The lines reach PHP 115 and PHP 120.</a:t>
            </a:r>
          </a:p>
          <a:p>
            <a:pPr algn="l">
              <a:lnSpc>
                <a:spcPct val="105000"/>
              </a:lnSpc>
              <a:spcBef>
                <a:spcPts val="0"/>
              </a:spcBef>
              <a:spcAft>
                <a:spcPts val="1100"/>
              </a:spcAft>
            </a:pPr>
            <a:r>
              <a:rPr sz="1700" b="0" i="0">
                <a:solidFill>
                  <a:srgbClr val="1A1A1A"/>
                </a:solidFill>
                <a:latin typeface="Arial"/>
              </a:rPr>
              <a:t>That day's low of PHP 117 holds above the daily line and cuts the equivolume one. Equal widths would move nothing.</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shows the discrepancy, not which break to trust.</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g.png"/>
          <p:cNvPicPr>
            <a:picLocks noChangeAspect="1"/>
          </p:cNvPicPr>
          <p:nvPr/>
        </p:nvPicPr>
        <p:blipFill>
          <a:blip r:embed="rId2"/>
          <a:stretch>
            <a:fillRect/>
          </a:stretch>
        </p:blipFill>
        <p:spPr>
          <a:xfrm>
            <a:off x="7435443" y="1929384"/>
            <a:ext cx="3858768" cy="3511296"/>
          </a:xfrm>
          <a:prstGeom prst="rect">
            <a:avLst/>
          </a:prstGeom>
        </p:spPr>
      </p:pic>
      <p:sp>
        <p:nvSpPr>
          <p:cNvPr id="12" name="Oval 11"/>
          <p:cNvSpPr/>
          <p:nvPr/>
        </p:nvSpPr>
        <p:spPr>
          <a:xfrm>
            <a:off x="10117287" y="2298070"/>
            <a:ext cx="27011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850453" y="3807927"/>
            <a:ext cx="270113" cy="351129"/>
          </a:xfrm>
          <a:prstGeom prst="ellipse">
            <a:avLst/>
          </a:prstGeom>
          <a:noFill/>
          <a:ln w="44450">
            <a:solidFill>
              <a:srgbClr val="C62828"/>
            </a:solidFill>
          </a:ln>
        </p:spPr>
        <p:txBody>
          <a:bodyPr rtlCol="0" anchor="ctr"/>
          <a:lstStyle/>
          <a:p>
            <a:pPr algn="ctr"/>
          </a:p>
        </p:txBody>
      </p:sp>
      <p:sp>
        <p:nvSpPr>
          <p:cNvPr id="14" name="Oval 13"/>
          <p:cNvSpPr/>
          <p:nvPr/>
        </p:nvSpPr>
        <p:spPr>
          <a:xfrm>
            <a:off x="10521360"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03706" y="41440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and the chart. The book says the angle is affected and shows the result in Figure 6.38; it does not work the arithmetic.</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(the Chaikin pair, later).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sets no start; we start at 0 on day 1, with no day before it. </a:t>
            </a:r>
            <a:r>
              <a:rPr sz="1700" b="1" i="0">
                <a:solidFill>
                  <a:srgbClr val="E09B00"/>
                </a:solidFill>
                <a:latin typeface="Arial"/>
              </a:rPr>
              <a:t>(1)</a:t>
            </a:r>
            <a:r>
              <a:rPr sz="1700" b="0" i="0">
                <a:solidFill>
                  <a:srgbClr val="1A1A1A"/>
                </a:solidFill>
                <a:latin typeface="Arial"/>
              </a:rPr>
              <a:t> Up days: 2.0 + 3.0 = 5.0 million; </a:t>
            </a:r>
            <a:r>
              <a:rPr sz="1700" b="1" i="0">
                <a:solidFill>
                  <a:srgbClr val="C62828"/>
                </a:solidFill>
                <a:latin typeface="Arial"/>
              </a:rPr>
              <a:t>(2)</a:t>
            </a:r>
            <a:r>
              <a:rPr sz="1700" b="0" i="0">
                <a:solidFill>
                  <a:srgbClr val="1A1A1A"/>
                </a:solidFill>
                <a:latin typeface="Arial"/>
              </a:rPr>
              <a:t> down days: 1.5 + 1.0 = 2.5. </a:t>
            </a:r>
            <a:r>
              <a:rPr sz="1700" b="1" i="0">
                <a:solidFill>
                  <a:srgbClr val="1F5FAD"/>
                </a:solidFill>
                <a:latin typeface="Arial"/>
              </a:rPr>
              <a:t>(3)</a:t>
            </a:r>
            <a:r>
              <a:rPr sz="1700" b="0" i="0">
                <a:solidFill>
                  <a:srgbClr val="1A1A1A"/>
                </a:solidFill>
                <a:latin typeface="Arial"/>
              </a:rPr>
              <a:t> OBV: 2.5.</a:t>
            </a:r>
          </a:p>
          <a:p>
            <a:pPr algn="l">
              <a:lnSpc>
                <a:spcPct val="105000"/>
              </a:lnSpc>
              <a:spcBef>
                <a:spcPts val="0"/>
              </a:spcBef>
              <a:spcAft>
                <a:spcPts val="1100"/>
              </a:spcAft>
            </a:pPr>
            <a:r>
              <a:rPr sz="1700" b="0" i="0">
                <a:solidFill>
                  <a:srgbClr val="1A1A1A"/>
                </a:solidFill>
                <a:latin typeface="Arial"/>
              </a:rPr>
              <a:t>Rising OBV: more volume on up closes than down closes. Falling: the reverse.</a:t>
            </a:r>
          </a:p>
          <a:p>
            <a:pPr algn="l">
              <a:lnSpc>
                <a:spcPct val="105000"/>
              </a:lnSpc>
              <a:spcBef>
                <a:spcPts val="0"/>
              </a:spcBef>
              <a:spcAft>
                <a:spcPts val="1100"/>
              </a:spcAft>
            </a:pPr>
            <a:r>
              <a:rPr sz="17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it by rises and falls against price, not by level: next slide.</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h.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060893" y="2262957"/>
            <a:ext cx="1475201" cy="245790"/>
          </a:xfrm>
          <a:prstGeom prst="rect">
            <a:avLst/>
          </a:prstGeom>
          <a:noFill/>
          <a:ln w="44450">
            <a:solidFill>
              <a:srgbClr val="E09B00"/>
            </a:solidFill>
          </a:ln>
        </p:spPr>
        <p:txBody>
          <a:bodyPr rtlCol="0" anchor="ctr"/>
          <a:lstStyle/>
          <a:p>
            <a:pPr algn="ctr"/>
          </a:p>
        </p:txBody>
      </p:sp>
      <p:sp>
        <p:nvSpPr>
          <p:cNvPr id="13" name="Rectangle 12"/>
          <p:cNvSpPr/>
          <p:nvPr/>
        </p:nvSpPr>
        <p:spPr>
          <a:xfrm>
            <a:off x="9495678" y="3369015"/>
            <a:ext cx="1657075" cy="245790"/>
          </a:xfrm>
          <a:prstGeom prst="rect">
            <a:avLst/>
          </a:prstGeom>
          <a:noFill/>
          <a:ln w="44450">
            <a:solidFill>
              <a:srgbClr val="C62828"/>
            </a:solidFill>
          </a:ln>
        </p:spPr>
        <p:txBody>
          <a:bodyPr rtlCol="0" anchor="ctr"/>
          <a:lstStyle/>
          <a:p>
            <a:pPr algn="ctr"/>
          </a:p>
        </p:txBody>
      </p:sp>
      <p:sp>
        <p:nvSpPr>
          <p:cNvPr id="14" name="Oval 13"/>
          <p:cNvSpPr/>
          <p:nvPr/>
        </p:nvSpPr>
        <p:spPr>
          <a:xfrm>
            <a:off x="10344424" y="4036161"/>
            <a:ext cx="282915" cy="316016"/>
          </a:xfrm>
          <a:prstGeom prst="ellipse">
            <a:avLst/>
          </a:prstGeom>
          <a:noFill/>
          <a:ln w="44450">
            <a:solidFill>
              <a:srgbClr val="1F5FAD"/>
            </a:solidFill>
          </a:ln>
        </p:spPr>
        <p:txBody>
          <a:bodyPr rtlCol="0" anchor="ctr"/>
          <a:lstStyle/>
          <a:p>
            <a:pPr algn="ctr"/>
          </a:p>
        </p:txBody>
      </p:sp>
      <p:sp>
        <p:nvSpPr>
          <p:cNvPr id="15" name="Oval 14"/>
          <p:cNvSpPr/>
          <p:nvPr/>
        </p:nvSpPr>
        <p:spPr>
          <a:xfrm>
            <a:off x="7784195" y="22304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980" y="307311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9392" y="39158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JH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and the chart are ours, on Chart AM's six days. The reading rule is Part 1's, Figure 6.7.</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a:t>
            </a:r>
            <a:r>
              <a:rPr sz="1800" b="1" i="0">
                <a:solidFill>
                  <a:srgbClr val="C62828"/>
                </a:solidFill>
                <a:latin typeface="Arial"/>
              </a:rPr>
              <a:t>(2)</a:t>
            </a:r>
            <a:r>
              <a:rPr sz="1800" b="0" i="0">
                <a:solidFill>
                  <a:srgbClr val="1A1A1A"/>
                </a:solidFill>
                <a:latin typeface="Arial"/>
              </a:rPr>
              <a:t>, not 2.5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Its changes, the relative value, do not. From day 3 </a:t>
            </a:r>
            <a:r>
              <a:rPr sz="1800" b="1" i="0">
                <a:solidFill>
                  <a:srgbClr val="1F5FAD"/>
                </a:solidFill>
                <a:latin typeface="Arial"/>
              </a:rPr>
              <a:t>(3)</a:t>
            </a:r>
            <a:r>
              <a:rPr sz="1800" b="0" i="0">
                <a:solidFill>
                  <a:srgbClr val="1A1A1A"/>
                </a:solidFill>
                <a:latin typeface="Arial"/>
              </a:rPr>
              <a:t>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400799" y="1810512"/>
            <a:ext cx="5013654" cy="3621415"/>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519671" y="1929384"/>
            <a:ext cx="4775910" cy="3383671"/>
          </a:xfrm>
          <a:prstGeom prst="rect">
            <a:avLst/>
          </a:prstGeom>
        </p:spPr>
      </p:pic>
      <p:sp>
        <p:nvSpPr>
          <p:cNvPr id="12" name="Oval 11"/>
          <p:cNvSpPr/>
          <p:nvPr/>
        </p:nvSpPr>
        <p:spPr>
          <a:xfrm>
            <a:off x="10173243" y="2809138"/>
            <a:ext cx="334313" cy="355285"/>
          </a:xfrm>
          <a:prstGeom prst="ellipse">
            <a:avLst/>
          </a:prstGeom>
          <a:noFill/>
          <a:ln w="44450">
            <a:solidFill>
              <a:srgbClr val="E09B00"/>
            </a:solidFill>
          </a:ln>
        </p:spPr>
        <p:txBody>
          <a:bodyPr rtlCol="0" anchor="ctr"/>
          <a:lstStyle/>
          <a:p>
            <a:pPr algn="ctr"/>
          </a:p>
        </p:txBody>
      </p:sp>
      <p:sp>
        <p:nvSpPr>
          <p:cNvPr id="13" name="Oval 12"/>
          <p:cNvSpPr/>
          <p:nvPr/>
        </p:nvSpPr>
        <p:spPr>
          <a:xfrm>
            <a:off x="10173243" y="3164424"/>
            <a:ext cx="334313" cy="304530"/>
          </a:xfrm>
          <a:prstGeom prst="ellipse">
            <a:avLst/>
          </a:prstGeom>
          <a:noFill/>
          <a:ln w="44450">
            <a:solidFill>
              <a:srgbClr val="C62828"/>
            </a:solidFill>
          </a:ln>
        </p:spPr>
        <p:txBody>
          <a:bodyPr rtlCol="0" anchor="ctr"/>
          <a:lstStyle/>
          <a:p>
            <a:pPr algn="ctr"/>
          </a:p>
        </p:txBody>
      </p:sp>
      <p:sp>
        <p:nvSpPr>
          <p:cNvPr id="14" name="Rectangle 13"/>
          <p:cNvSpPr/>
          <p:nvPr/>
        </p:nvSpPr>
        <p:spPr>
          <a:xfrm>
            <a:off x="8430036" y="3807321"/>
            <a:ext cx="382072" cy="609060"/>
          </a:xfrm>
          <a:prstGeom prst="rect">
            <a:avLst/>
          </a:prstGeom>
          <a:noFill/>
          <a:ln w="44450">
            <a:solidFill>
              <a:srgbClr val="1F5FAD"/>
            </a:solidFill>
          </a:ln>
        </p:spPr>
        <p:txBody>
          <a:bodyPr rtlCol="0" anchor="ctr"/>
          <a:lstStyle/>
          <a:p>
            <a:pPr algn="ctr"/>
          </a:p>
        </p:txBody>
      </p:sp>
      <p:sp>
        <p:nvSpPr>
          <p:cNvPr id="15" name="Oval 14"/>
          <p:cNvSpPr/>
          <p:nvPr/>
        </p:nvSpPr>
        <p:spPr>
          <a:xfrm>
            <a:off x="10543146" y="261985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43146" y="30597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31311" y="35165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52336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Volume is added or subtracted regardless of the bar's own behavior.</a:t>
            </a:r>
          </a:p>
          <a:p>
            <a:pPr algn="l">
              <a:lnSpc>
                <a:spcPct val="105000"/>
              </a:lnSpc>
              <a:spcBef>
                <a:spcPts val="0"/>
              </a:spcBef>
              <a:spcAft>
                <a:spcPts val="1100"/>
              </a:spcAft>
            </a:pPr>
            <a:r>
              <a:rPr sz="1800" b="0" i="0">
                <a:solidFill>
                  <a:srgbClr val="1A1A1A"/>
                </a:solidFill>
                <a:latin typeface="Arial"/>
              </a:rPr>
              <a:t>Ours: bar 1 has a high of 51.00 and closes 50.80. Bar 2 rallies to a new high of 54.00 </a:t>
            </a:r>
            <a:r>
              <a:rPr sz="1800" b="1" i="0">
                <a:solidFill>
                  <a:srgbClr val="E09B00"/>
                </a:solidFill>
                <a:latin typeface="Arial"/>
              </a:rPr>
              <a:t>(1)</a:t>
            </a:r>
            <a:r>
              <a:rPr sz="1800" b="0" i="0">
                <a:solidFill>
                  <a:srgbClr val="1A1A1A"/>
                </a:solidFill>
                <a:latin typeface="Arial"/>
              </a:rPr>
              <a:t>, far above, and closes 50.70 </a:t>
            </a:r>
            <a:r>
              <a:rPr sz="1800" b="1" i="0">
                <a:solidFill>
                  <a:srgbClr val="C62828"/>
                </a:solidFill>
                <a:latin typeface="Arial"/>
              </a:rPr>
              <a:t>(2)</a:t>
            </a:r>
            <a:r>
              <a:rPr sz="1800" b="0" i="0">
                <a:solidFill>
                  <a:srgbClr val="1A1A1A"/>
                </a:solidFill>
                <a:latin typeface="Arial"/>
              </a:rPr>
              <a:t>, just under 50.80.</a:t>
            </a:r>
          </a:p>
          <a:p>
            <a:pPr algn="l">
              <a:lnSpc>
                <a:spcPct val="105000"/>
              </a:lnSpc>
              <a:spcBef>
                <a:spcPts val="0"/>
              </a:spcBef>
              <a:spcAft>
                <a:spcPts val="1100"/>
              </a:spcAft>
            </a:pPr>
            <a:r>
              <a:rPr sz="1800" b="0" i="0">
                <a:solidFill>
                  <a:srgbClr val="1A1A1A"/>
                </a:solidFill>
                <a:latin typeface="Arial"/>
              </a:rPr>
              <a:t>Bar 2 closed lower, so all its 3.0 million is subtracted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3766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that is, to put it right, many prefer the ADL or the two Chaikin indicators: next.</a:t>
            </a:r>
          </a:p>
        </p:txBody>
      </p:sp>
      <p:sp>
        <p:nvSpPr>
          <p:cNvPr id="10" name="Rectangle 9"/>
          <p:cNvSpPr/>
          <p:nvPr/>
        </p:nvSpPr>
        <p:spPr>
          <a:xfrm>
            <a:off x="6766559" y="1810512"/>
            <a:ext cx="4647894" cy="336227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885431" y="1929384"/>
            <a:ext cx="4410151" cy="3124535"/>
          </a:xfrm>
          <a:prstGeom prst="rect">
            <a:avLst/>
          </a:prstGeom>
        </p:spPr>
      </p:pic>
      <p:sp>
        <p:nvSpPr>
          <p:cNvPr id="12" name="Oval 11"/>
          <p:cNvSpPr/>
          <p:nvPr/>
        </p:nvSpPr>
        <p:spPr>
          <a:xfrm>
            <a:off x="9421268" y="2085610"/>
            <a:ext cx="396913" cy="312453"/>
          </a:xfrm>
          <a:prstGeom prst="ellipse">
            <a:avLst/>
          </a:prstGeom>
          <a:noFill/>
          <a:ln w="44450">
            <a:solidFill>
              <a:srgbClr val="E09B00"/>
            </a:solidFill>
          </a:ln>
        </p:spPr>
        <p:txBody>
          <a:bodyPr rtlCol="0" anchor="ctr"/>
          <a:lstStyle/>
          <a:p>
            <a:pPr algn="ctr"/>
          </a:p>
        </p:txBody>
      </p:sp>
      <p:sp>
        <p:nvSpPr>
          <p:cNvPr id="13" name="Oval 12"/>
          <p:cNvSpPr/>
          <p:nvPr/>
        </p:nvSpPr>
        <p:spPr>
          <a:xfrm>
            <a:off x="9487421" y="2897989"/>
            <a:ext cx="529218" cy="281208"/>
          </a:xfrm>
          <a:prstGeom prst="ellipse">
            <a:avLst/>
          </a:prstGeom>
          <a:noFill/>
          <a:ln w="44450">
            <a:solidFill>
              <a:srgbClr val="C62828"/>
            </a:solidFill>
          </a:ln>
        </p:spPr>
        <p:txBody>
          <a:bodyPr rtlCol="0" anchor="ctr"/>
          <a:lstStyle/>
          <a:p>
            <a:pPr algn="ctr"/>
          </a:p>
        </p:txBody>
      </p:sp>
      <p:sp>
        <p:nvSpPr>
          <p:cNvPr id="14" name="Rectangle 13"/>
          <p:cNvSpPr/>
          <p:nvPr/>
        </p:nvSpPr>
        <p:spPr>
          <a:xfrm>
            <a:off x="9244862" y="4069690"/>
            <a:ext cx="749725" cy="359321"/>
          </a:xfrm>
          <a:prstGeom prst="rect">
            <a:avLst/>
          </a:prstGeom>
          <a:noFill/>
          <a:ln w="44450">
            <a:solidFill>
              <a:srgbClr val="1F5FAD"/>
            </a:solidFill>
          </a:ln>
        </p:spPr>
        <p:txBody>
          <a:bodyPr rtlCol="0" anchor="ctr"/>
          <a:lstStyle/>
          <a:p>
            <a:pPr algn="ctr"/>
          </a:p>
        </p:txBody>
      </p:sp>
      <p:sp>
        <p:nvSpPr>
          <p:cNvPr id="15" name="Oval 14"/>
          <p:cNvSpPr/>
          <p:nvPr/>
        </p:nvSpPr>
        <p:spPr>
          <a:xfrm>
            <a:off x="9817089" y="199265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93495" y="271129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957110" y="37892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766559" y="52642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Price: a lower low, August to October 2011: the falling line.</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39407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315633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699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6.39</a:t>
            </a:r>
          </a:p>
          <a:p>
            <a:pPr algn="l">
              <a:lnSpc>
                <a:spcPct val="115000"/>
              </a:lnSpc>
              <a:spcBef>
                <a:spcPts val="0"/>
              </a:spcBef>
              <a:spcAft>
                <a:spcPts val="0"/>
              </a:spcAft>
            </a:pPr>
            <a:r>
              <a:rPr sz="15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p:txBody>
      </p:sp>
      <p:cxnSp>
        <p:nvCxnSpPr>
          <p:cNvPr id="14" name="Connector 13"/>
          <p:cNvCxnSpPr/>
          <p:nvPr/>
        </p:nvCxnSpPr>
        <p:spPr>
          <a:xfrm>
            <a:off x="9855915" y="3681150"/>
            <a:ext cx="565583" cy="489232"/>
          </a:xfrm>
          <a:prstGeom prst="line">
            <a:avLst/>
          </a:prstGeom>
          <a:ln w="44450">
            <a:solidFill>
              <a:srgbClr val="E09B00"/>
            </a:solidFill>
          </a:ln>
        </p:spPr>
      </p:cxnSp>
      <p:cxnSp>
        <p:nvCxnSpPr>
          <p:cNvPr id="15" name="Connector 14"/>
          <p:cNvCxnSpPr/>
          <p:nvPr/>
        </p:nvCxnSpPr>
        <p:spPr>
          <a:xfrm flipV="1">
            <a:off x="9907331" y="4817431"/>
            <a:ext cx="591292" cy="126253"/>
          </a:xfrm>
          <a:prstGeom prst="line">
            <a:avLst/>
          </a:prstGeom>
          <a:ln w="44450">
            <a:solidFill>
              <a:srgbClr val="C62828"/>
            </a:solidFill>
          </a:ln>
        </p:spPr>
      </p:cxnSp>
      <p:cxnSp>
        <p:nvCxnSpPr>
          <p:cNvPr id="16" name="Connector 15"/>
          <p:cNvCxnSpPr/>
          <p:nvPr/>
        </p:nvCxnSpPr>
        <p:spPr>
          <a:xfrm flipV="1">
            <a:off x="10447207" y="3097228"/>
            <a:ext cx="205667" cy="915337"/>
          </a:xfrm>
          <a:prstGeom prst="line">
            <a:avLst/>
          </a:prstGeom>
          <a:ln w="44450">
            <a:solidFill>
              <a:srgbClr val="1F5FAD"/>
            </a:solidFill>
            <a:tailEnd type="triangle" w="med" len="med"/>
          </a:ln>
        </p:spPr>
      </p:cxnSp>
      <p:sp>
        <p:nvSpPr>
          <p:cNvPr id="17" name="Oval 16"/>
          <p:cNvSpPr/>
          <p:nvPr/>
        </p:nvSpPr>
        <p:spPr>
          <a:xfrm>
            <a:off x="9700467" y="33363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51883" y="4598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91759" y="36677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29603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First arrow, March to April 2011: equal peaks near 4.5; the OBV falls.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a:t>
            </a:r>
            <a:r>
              <a:rPr sz="1700" b="1" i="0">
                <a:solidFill>
                  <a:srgbClr val="1F5FAD"/>
                </a:solidFill>
                <a:latin typeface="Arial"/>
              </a:rPr>
              <a:t>(3)</a:t>
            </a:r>
            <a:r>
              <a:rPr sz="1700" b="0" i="0">
                <a:solidFill>
                  <a:srgbClr val="1A1A1A"/>
                </a:solidFill>
                <a:latin typeface="Arial"/>
              </a:rPr>
              <a:t> while price holds or rises.</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11500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87726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4200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6.40</a:t>
            </a:r>
          </a:p>
          <a:p>
            <a:pPr algn="l">
              <a:lnSpc>
                <a:spcPct val="115000"/>
              </a:lnSpc>
              <a:spcBef>
                <a:spcPts val="0"/>
              </a:spcBef>
              <a:spcAft>
                <a:spcPts val="0"/>
              </a:spcAft>
            </a:pPr>
            <a:r>
              <a:rPr sz="15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p:txBody>
      </p:sp>
      <p:sp>
        <p:nvSpPr>
          <p:cNvPr id="14" name="Rectangle 13"/>
          <p:cNvSpPr/>
          <p:nvPr/>
        </p:nvSpPr>
        <p:spPr>
          <a:xfrm>
            <a:off x="8107746" y="2130792"/>
            <a:ext cx="617000" cy="230181"/>
          </a:xfrm>
          <a:prstGeom prst="rect">
            <a:avLst/>
          </a:prstGeom>
          <a:noFill/>
          <a:ln w="44450">
            <a:solidFill>
              <a:srgbClr val="E09B00"/>
            </a:solidFill>
          </a:ln>
        </p:spPr>
        <p:txBody>
          <a:bodyPr rtlCol="0" anchor="ctr"/>
          <a:lstStyle/>
          <a:p>
            <a:pPr algn="ctr"/>
          </a:p>
        </p:txBody>
      </p:sp>
      <p:sp>
        <p:nvSpPr>
          <p:cNvPr id="15" name="Rectangle 14"/>
          <p:cNvSpPr/>
          <p:nvPr/>
        </p:nvSpPr>
        <p:spPr>
          <a:xfrm>
            <a:off x="8981831" y="2102019"/>
            <a:ext cx="719833" cy="517907"/>
          </a:xfrm>
          <a:prstGeom prst="rect">
            <a:avLst/>
          </a:prstGeom>
          <a:noFill/>
          <a:ln w="44450">
            <a:solidFill>
              <a:srgbClr val="C62828"/>
            </a:solidFill>
          </a:ln>
        </p:spPr>
        <p:txBody>
          <a:bodyPr rtlCol="0" anchor="ctr"/>
          <a:lstStyle/>
          <a:p>
            <a:pPr algn="ctr"/>
          </a:p>
        </p:txBody>
      </p:sp>
      <p:sp>
        <p:nvSpPr>
          <p:cNvPr id="16" name="Rectangle 15"/>
          <p:cNvSpPr/>
          <p:nvPr/>
        </p:nvSpPr>
        <p:spPr>
          <a:xfrm>
            <a:off x="8107746" y="4029786"/>
            <a:ext cx="1799584" cy="345271"/>
          </a:xfrm>
          <a:prstGeom prst="rect">
            <a:avLst/>
          </a:prstGeom>
          <a:noFill/>
          <a:ln w="44450">
            <a:solidFill>
              <a:srgbClr val="1F5FAD"/>
            </a:solidFill>
          </a:ln>
        </p:spPr>
        <p:txBody>
          <a:bodyPr rtlCol="0" anchor="ctr"/>
          <a:lstStyle/>
          <a:p>
            <a:pPr algn="ctr"/>
          </a:p>
        </p:txBody>
      </p:sp>
      <p:cxnSp>
        <p:nvCxnSpPr>
          <p:cNvPr id="17" name="Connector 16"/>
          <p:cNvCxnSpPr/>
          <p:nvPr/>
        </p:nvCxnSpPr>
        <p:spPr>
          <a:xfrm>
            <a:off x="9881623" y="2562382"/>
            <a:ext cx="488459" cy="1208451"/>
          </a:xfrm>
          <a:prstGeom prst="line">
            <a:avLst/>
          </a:prstGeom>
          <a:ln w="44450">
            <a:solidFill>
              <a:srgbClr val="007A33"/>
            </a:solidFill>
            <a:tailEnd type="triangle" w="med" len="med"/>
          </a:ln>
        </p:spPr>
      </p:cxnSp>
      <p:sp>
        <p:nvSpPr>
          <p:cNvPr id="18" name="Oval 17"/>
          <p:cNvSpPr/>
          <p:nvPr/>
        </p:nvSpPr>
        <p:spPr>
          <a:xfrm>
            <a:off x="7798048" y="23350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72132" y="25939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798048" y="375924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26175" y="223429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035040" y="501696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bar: low L = 48, high H = 52, range H - L = 4, volume 2.0 million. C - L: the close's height above the low. H - C: its depth below the high.</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Close 52: (4 - 0) / 4 = 1, add 2.0.   </a:t>
            </a:r>
            <a:r>
              <a:rPr sz="1700" b="1" i="0">
                <a:solidFill>
                  <a:srgbClr val="C62828"/>
                </a:solidFill>
                <a:latin typeface="Arial"/>
              </a:rPr>
              <a:t>(2)</a:t>
            </a:r>
            <a:r>
              <a:rPr sz="1700" b="0" i="0">
                <a:solidFill>
                  <a:srgbClr val="1A1A1A"/>
                </a:solidFill>
                <a:latin typeface="Arial"/>
              </a:rPr>
              <a:t> Close 50: (2 - 2) / 4 = 0, add nothing.   </a:t>
            </a:r>
            <a:r>
              <a:rPr sz="1700" b="1" i="0">
                <a:solidFill>
                  <a:srgbClr val="1F5FAD"/>
                </a:solidFill>
                <a:latin typeface="Arial"/>
              </a:rPr>
              <a:t>(3)</a:t>
            </a:r>
            <a:r>
              <a:rPr sz="1700" b="0" i="0">
                <a:solidFill>
                  <a:srgbClr val="1A1A1A"/>
                </a:solidFill>
                <a:latin typeface="Arial"/>
              </a:rPr>
              <a:t> Close 49: (1 - 3) / 4 = -0.5, take 1.0.</a:t>
            </a:r>
          </a:p>
          <a:p>
            <a:pPr algn="l">
              <a:lnSpc>
                <a:spcPct val="105000"/>
              </a:lnSpc>
              <a:spcBef>
                <a:spcPts val="0"/>
              </a:spcBef>
              <a:spcAft>
                <a:spcPts val="1100"/>
              </a:spcAft>
            </a:pPr>
            <a:r>
              <a:rPr sz="1700" b="0" i="0">
                <a:solidFill>
                  <a:srgbClr val="1A1A1A"/>
                </a:solidFill>
                <a:latin typeface="Arial"/>
              </a:rPr>
              <a:t>The running total, bar by bar: 2.0, then 2.0 + 0 = 2.0, then 2.0 - 1.0 = 1.0. That total is the ADL.</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factor scores where the close sits: -1 at the low, 0 at the midpoint, +1 at the high.</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i.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26723" y="2034722"/>
            <a:ext cx="484997" cy="983162"/>
          </a:xfrm>
          <a:prstGeom prst="rect">
            <a:avLst/>
          </a:prstGeom>
          <a:noFill/>
          <a:ln w="44450">
            <a:solidFill>
              <a:srgbClr val="E09B00"/>
            </a:solidFill>
          </a:ln>
        </p:spPr>
        <p:txBody>
          <a:bodyPr rtlCol="0" anchor="ctr"/>
          <a:lstStyle/>
          <a:p>
            <a:pPr algn="ctr"/>
          </a:p>
        </p:txBody>
      </p:sp>
      <p:sp>
        <p:nvSpPr>
          <p:cNvPr id="13" name="Rectangle 12"/>
          <p:cNvSpPr/>
          <p:nvPr/>
        </p:nvSpPr>
        <p:spPr>
          <a:xfrm>
            <a:off x="9273387" y="2034722"/>
            <a:ext cx="484997" cy="983162"/>
          </a:xfrm>
          <a:prstGeom prst="rect">
            <a:avLst/>
          </a:prstGeom>
          <a:noFill/>
          <a:ln w="44450">
            <a:solidFill>
              <a:srgbClr val="C62828"/>
            </a:solidFill>
          </a:ln>
        </p:spPr>
        <p:txBody>
          <a:bodyPr rtlCol="0" anchor="ctr"/>
          <a:lstStyle/>
          <a:p>
            <a:pPr algn="ctr"/>
          </a:p>
        </p:txBody>
      </p:sp>
      <p:sp>
        <p:nvSpPr>
          <p:cNvPr id="14" name="Rectangle 13"/>
          <p:cNvSpPr/>
          <p:nvPr/>
        </p:nvSpPr>
        <p:spPr>
          <a:xfrm>
            <a:off x="9920051" y="2034722"/>
            <a:ext cx="444581" cy="983162"/>
          </a:xfrm>
          <a:prstGeom prst="rect">
            <a:avLst/>
          </a:prstGeom>
          <a:noFill/>
          <a:ln w="44450">
            <a:solidFill>
              <a:srgbClr val="1F5FAD"/>
            </a:solidFill>
          </a:ln>
        </p:spPr>
        <p:txBody>
          <a:bodyPr rtlCol="0" anchor="ctr"/>
          <a:lstStyle/>
          <a:p>
            <a:pPr algn="ctr"/>
          </a:p>
        </p:txBody>
      </p:sp>
      <p:sp>
        <p:nvSpPr>
          <p:cNvPr id="15" name="Oval 14"/>
          <p:cNvSpPr/>
          <p:nvPr/>
        </p:nvSpPr>
        <p:spPr>
          <a:xfrm>
            <a:off x="8350026"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602937"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8767" y="30380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JI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arithmetic and chart are ours, Chart AO's three bars.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8890528" y="3246120"/>
            <a:ext cx="39648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526024" y="2298070"/>
            <a:ext cx="396483" cy="316016"/>
          </a:xfrm>
          <a:prstGeom prst="ellipse">
            <a:avLst/>
          </a:prstGeom>
          <a:noFill/>
          <a:ln w="44450">
            <a:solidFill>
              <a:srgbClr val="C62828"/>
            </a:solidFill>
          </a:ln>
        </p:spPr>
        <p:txBody>
          <a:bodyPr rtlCol="0" anchor="ctr"/>
          <a:lstStyle/>
          <a:p>
            <a:pPr algn="ctr"/>
          </a:p>
        </p:txBody>
      </p:sp>
      <p:sp>
        <p:nvSpPr>
          <p:cNvPr id="14" name="Oval 13"/>
          <p:cNvSpPr/>
          <p:nvPr/>
        </p:nvSpPr>
        <p:spPr>
          <a:xfrm>
            <a:off x="8784640" y="312578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568817" y="27219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yesterday closed 50.00. Today runs from 46.00 to 51.00 on 2.0 million shares and closes at 49.75.</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OBV: 49.75 is below 50.00, so subtract all 2.0 million.</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C - L = 3.75, H - C = 1.25, range 5. Factor (3.75 - 1.25) / 5 = 0.5: add 1.0 million.</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OBV sees only yesterday's close; the ADL sees where today closed in today's bar.</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j.png"/>
          <p:cNvPicPr>
            <a:picLocks noChangeAspect="1"/>
          </p:cNvPicPr>
          <p:nvPr/>
        </p:nvPicPr>
        <p:blipFill>
          <a:blip r:embed="rId2"/>
          <a:stretch>
            <a:fillRect/>
          </a:stretch>
        </p:blipFill>
        <p:spPr>
          <a:xfrm>
            <a:off x="6703923" y="1929384"/>
            <a:ext cx="4590288" cy="3511296"/>
          </a:xfrm>
          <a:prstGeom prst="rect">
            <a:avLst/>
          </a:prstGeom>
        </p:spPr>
      </p:pic>
      <p:sp>
        <p:nvSpPr>
          <p:cNvPr id="12" name="Rectangle 11"/>
          <p:cNvSpPr/>
          <p:nvPr/>
        </p:nvSpPr>
        <p:spPr>
          <a:xfrm>
            <a:off x="9549902" y="3333902"/>
            <a:ext cx="527883" cy="1264066"/>
          </a:xfrm>
          <a:prstGeom prst="rect">
            <a:avLst/>
          </a:prstGeom>
          <a:noFill/>
          <a:ln w="44450">
            <a:solidFill>
              <a:srgbClr val="E09B00"/>
            </a:solidFill>
          </a:ln>
        </p:spPr>
        <p:txBody>
          <a:bodyPr rtlCol="0" anchor="ctr"/>
          <a:lstStyle/>
          <a:p>
            <a:pPr algn="ctr"/>
          </a:p>
        </p:txBody>
      </p:sp>
      <p:sp>
        <p:nvSpPr>
          <p:cNvPr id="13" name="Rectangle 12"/>
          <p:cNvSpPr/>
          <p:nvPr/>
        </p:nvSpPr>
        <p:spPr>
          <a:xfrm>
            <a:off x="10215493" y="2666756"/>
            <a:ext cx="550834" cy="772485"/>
          </a:xfrm>
          <a:prstGeom prst="rect">
            <a:avLst/>
          </a:prstGeom>
          <a:noFill/>
          <a:ln w="44450">
            <a:solidFill>
              <a:srgbClr val="C62828"/>
            </a:solidFill>
          </a:ln>
        </p:spPr>
        <p:txBody>
          <a:bodyPr rtlCol="0" anchor="ctr"/>
          <a:lstStyle/>
          <a:p>
            <a:pPr algn="ctr"/>
          </a:p>
        </p:txBody>
      </p:sp>
      <p:sp>
        <p:nvSpPr>
          <p:cNvPr id="14" name="Oval 13"/>
          <p:cNvSpPr/>
          <p:nvPr/>
        </p:nvSpPr>
        <p:spPr>
          <a:xfrm>
            <a:off x="9256745" y="30380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922337"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JJ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and the chart, read by the book's two rules from pp.203 and 205.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Hourly EURUSD, June 2011: price makes new highs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price-based: rising with price, so bullish confirmation.</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Volume, plain: falling as price rises, so bearish divergence: an underlying weakness, the book says.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They disagree: wait for price itself to confirm a reversal, by breaking its own trendline.</a:t>
            </a:r>
          </a:p>
        </p:txBody>
      </p:sp>
      <p:sp>
        <p:nvSpPr>
          <p:cNvPr id="10" name="Rectangle 9"/>
          <p:cNvSpPr/>
          <p:nvPr/>
        </p:nvSpPr>
        <p:spPr>
          <a:xfrm>
            <a:off x="6035040" y="1810512"/>
            <a:ext cx="5379414" cy="281502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57727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1200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6.41</a:t>
            </a:r>
          </a:p>
          <a:p>
            <a:pPr algn="l">
              <a:lnSpc>
                <a:spcPct val="115000"/>
              </a:lnSpc>
              <a:spcBef>
                <a:spcPts val="0"/>
              </a:spcBef>
              <a:spcAft>
                <a:spcPts val="0"/>
              </a:spcAft>
            </a:pPr>
            <a:r>
              <a:rPr sz="15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p:txBody>
      </p:sp>
      <p:sp>
        <p:nvSpPr>
          <p:cNvPr id="14" name="Rectangle 13"/>
          <p:cNvSpPr/>
          <p:nvPr/>
        </p:nvSpPr>
        <p:spPr>
          <a:xfrm>
            <a:off x="8878997" y="2419066"/>
            <a:ext cx="1285417" cy="438137"/>
          </a:xfrm>
          <a:prstGeom prst="rect">
            <a:avLst/>
          </a:prstGeom>
          <a:noFill/>
          <a:ln w="44450">
            <a:solidFill>
              <a:srgbClr val="E09B00"/>
            </a:solidFill>
          </a:ln>
        </p:spPr>
        <p:txBody>
          <a:bodyPr rtlCol="0" anchor="ctr"/>
          <a:lstStyle/>
          <a:p>
            <a:pPr algn="ctr"/>
          </a:p>
        </p:txBody>
      </p:sp>
      <p:sp>
        <p:nvSpPr>
          <p:cNvPr id="15" name="Rectangle 14"/>
          <p:cNvSpPr/>
          <p:nvPr/>
        </p:nvSpPr>
        <p:spPr>
          <a:xfrm>
            <a:off x="8930414" y="3527296"/>
            <a:ext cx="1079750" cy="206182"/>
          </a:xfrm>
          <a:prstGeom prst="rect">
            <a:avLst/>
          </a:prstGeom>
          <a:noFill/>
          <a:ln w="44450">
            <a:solidFill>
              <a:srgbClr val="C62828"/>
            </a:solidFill>
          </a:ln>
        </p:spPr>
        <p:txBody>
          <a:bodyPr rtlCol="0" anchor="ctr"/>
          <a:lstStyle/>
          <a:p>
            <a:pPr algn="ctr"/>
          </a:p>
        </p:txBody>
      </p:sp>
      <p:sp>
        <p:nvSpPr>
          <p:cNvPr id="16" name="Rectangle 15"/>
          <p:cNvSpPr/>
          <p:nvPr/>
        </p:nvSpPr>
        <p:spPr>
          <a:xfrm>
            <a:off x="8519080" y="3991206"/>
            <a:ext cx="1953834" cy="386591"/>
          </a:xfrm>
          <a:prstGeom prst="rect">
            <a:avLst/>
          </a:prstGeom>
          <a:noFill/>
          <a:ln w="44450">
            <a:solidFill>
              <a:srgbClr val="1F5FAD"/>
            </a:solidFill>
          </a:ln>
        </p:spPr>
        <p:txBody>
          <a:bodyPr rtlCol="0" anchor="ctr"/>
          <a:lstStyle/>
          <a:p>
            <a:pPr algn="ctr"/>
          </a:p>
        </p:txBody>
      </p:sp>
      <p:sp>
        <p:nvSpPr>
          <p:cNvPr id="17" name="Oval 16"/>
          <p:cNvSpPr/>
          <p:nvPr/>
        </p:nvSpPr>
        <p:spPr>
          <a:xfrm>
            <a:off x="8569299" y="216052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620716" y="326875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209382" y="3732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4716974"/>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Both rising, or both falling: price trends in a decisive manner. Right ellipse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Opposite directions: price tends to range or consolidate, going sideways. Left ellipse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it may help choose. Together, trend-following; apart, range-bound.</a:t>
            </a:r>
          </a:p>
        </p:txBody>
      </p:sp>
      <p:sp>
        <p:nvSpPr>
          <p:cNvPr id="10" name="Rectangle 9"/>
          <p:cNvSpPr/>
          <p:nvPr/>
        </p:nvSpPr>
        <p:spPr>
          <a:xfrm>
            <a:off x="6462521" y="1810512"/>
            <a:ext cx="489021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1393" y="1929384"/>
            <a:ext cx="465246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1393" y="1929384"/>
            <a:ext cx="465246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55713" y="2203703"/>
            <a:ext cx="41038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6.42</a:t>
            </a:r>
          </a:p>
          <a:p>
            <a:pPr algn="l">
              <a:lnSpc>
                <a:spcPct val="115000"/>
              </a:lnSpc>
              <a:spcBef>
                <a:spcPts val="0"/>
              </a:spcBef>
              <a:spcAft>
                <a:spcPts val="0"/>
              </a:spcAft>
            </a:pPr>
            <a:r>
              <a:rPr sz="15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p:txBody>
      </p:sp>
      <p:sp>
        <p:nvSpPr>
          <p:cNvPr id="14" name="Oval 13"/>
          <p:cNvSpPr/>
          <p:nvPr/>
        </p:nvSpPr>
        <p:spPr>
          <a:xfrm>
            <a:off x="9140250" y="4001048"/>
            <a:ext cx="1581838" cy="1299179"/>
          </a:xfrm>
          <a:prstGeom prst="ellipse">
            <a:avLst/>
          </a:prstGeom>
          <a:noFill/>
          <a:ln w="44450">
            <a:solidFill>
              <a:srgbClr val="E09B00"/>
            </a:solidFill>
          </a:ln>
        </p:spPr>
        <p:txBody>
          <a:bodyPr rtlCol="0" anchor="ctr"/>
          <a:lstStyle/>
          <a:p>
            <a:pPr algn="ctr"/>
          </a:p>
        </p:txBody>
      </p:sp>
      <p:sp>
        <p:nvSpPr>
          <p:cNvPr id="15" name="Oval 14"/>
          <p:cNvSpPr/>
          <p:nvPr/>
        </p:nvSpPr>
        <p:spPr>
          <a:xfrm>
            <a:off x="6674443" y="3930822"/>
            <a:ext cx="2233184" cy="1474744"/>
          </a:xfrm>
          <a:prstGeom prst="ellipse">
            <a:avLst/>
          </a:prstGeom>
          <a:noFill/>
          <a:ln w="44450">
            <a:solidFill>
              <a:srgbClr val="C62828"/>
            </a:solidFill>
          </a:ln>
        </p:spPr>
        <p:txBody>
          <a:bodyPr rtlCol="0" anchor="ctr"/>
          <a:lstStyle/>
          <a:p>
            <a:pPr algn="ctr"/>
          </a:p>
        </p:txBody>
      </p:sp>
      <p:sp>
        <p:nvSpPr>
          <p:cNvPr id="16" name="Oval 15"/>
          <p:cNvSpPr/>
          <p:nvPr/>
        </p:nvSpPr>
        <p:spPr>
          <a:xfrm>
            <a:off x="9031327" y="38807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91753" y="51447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ADL's factor runs from -1 to +1, so no S exceeds its bar's volume: the CMF also runs from -1 to +1.</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-1: every bar closed at its low. </a:t>
            </a:r>
            <a:r>
              <a:rPr sz="1700" b="1" i="0">
                <a:solidFill>
                  <a:srgbClr val="C62828"/>
                </a:solidFill>
                <a:latin typeface="Arial"/>
              </a:rPr>
              <a:t>(2)</a:t>
            </a:r>
            <a:r>
              <a:rPr sz="1700" b="0" i="0">
                <a:solidFill>
                  <a:srgbClr val="1A1A1A"/>
                </a:solidFill>
                <a:latin typeface="Arial"/>
              </a:rPr>
              <a:t> 0: on balance, closes at their midpoints. +1: every bar closed at its high.</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Our 0.17: of 6.0 million traded, a net 1.0 million counts as added: volume came, on balance, with closes above their midpoints.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 arithmetic. The book reads the CMF only by a line and an oversold level, three slides 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k.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283183" y="3281232"/>
            <a:ext cx="484997" cy="1053388"/>
          </a:xfrm>
          <a:prstGeom prst="rect">
            <a:avLst/>
          </a:prstGeom>
          <a:noFill/>
          <a:ln w="44450">
            <a:solidFill>
              <a:srgbClr val="E09B00"/>
            </a:solidFill>
          </a:ln>
        </p:spPr>
        <p:txBody>
          <a:bodyPr rtlCol="0" anchor="ctr"/>
          <a:lstStyle/>
          <a:p>
            <a:pPr algn="ctr"/>
          </a:p>
        </p:txBody>
      </p:sp>
      <p:sp>
        <p:nvSpPr>
          <p:cNvPr id="13" name="Oval 12"/>
          <p:cNvSpPr/>
          <p:nvPr/>
        </p:nvSpPr>
        <p:spPr>
          <a:xfrm>
            <a:off x="8950055" y="3105668"/>
            <a:ext cx="323331" cy="386242"/>
          </a:xfrm>
          <a:prstGeom prst="ellipse">
            <a:avLst/>
          </a:prstGeom>
          <a:noFill/>
          <a:ln w="44450">
            <a:solidFill>
              <a:srgbClr val="C62828"/>
            </a:solidFill>
          </a:ln>
        </p:spPr>
        <p:txBody>
          <a:bodyPr rtlCol="0" anchor="ctr"/>
          <a:lstStyle/>
          <a:p>
            <a:pPr algn="ctr"/>
          </a:p>
        </p:txBody>
      </p:sp>
      <p:sp>
        <p:nvSpPr>
          <p:cNvPr id="14" name="Rectangle 13"/>
          <p:cNvSpPr/>
          <p:nvPr/>
        </p:nvSpPr>
        <p:spPr>
          <a:xfrm>
            <a:off x="9495678" y="2877433"/>
            <a:ext cx="444581" cy="403799"/>
          </a:xfrm>
          <a:prstGeom prst="rect">
            <a:avLst/>
          </a:prstGeom>
          <a:noFill/>
          <a:ln w="44450">
            <a:solidFill>
              <a:srgbClr val="1F5FAD"/>
            </a:solidFill>
          </a:ln>
        </p:spPr>
        <p:txBody>
          <a:bodyPr rtlCol="0" anchor="ctr"/>
          <a:lstStyle/>
          <a:p>
            <a:pPr algn="ctr"/>
          </a:p>
        </p:txBody>
      </p:sp>
      <p:sp>
        <p:nvSpPr>
          <p:cNvPr id="15" name="Oval 14"/>
          <p:cNvSpPr/>
          <p:nvPr/>
        </p:nvSpPr>
        <p:spPr>
          <a:xfrm>
            <a:off x="8754191" y="374026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956273" y="35295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2520"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JK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and the chart. The book gives no reading of the CMF's value.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Each bar's CMF, over its last N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A running total of the CMF, as for the ADL: black.</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Two EMAs of that total, here over 3 and 10 bars: gold and green.</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Oscillator = shorter EMA - longer EMA, bottom panel. At the dashed lines: 1.0 - 0.5 = +0.5; 0.6 - 0.8 = -0.2.</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cxnSp>
        <p:nvCxnSpPr>
          <p:cNvPr id="12" name="Connector 11"/>
          <p:cNvCxnSpPr/>
          <p:nvPr/>
        </p:nvCxnSpPr>
        <p:spPr>
          <a:xfrm flipH="1">
            <a:off x="9859426" y="2140061"/>
            <a:ext cx="424373" cy="245791"/>
          </a:xfrm>
          <a:prstGeom prst="line">
            <a:avLst/>
          </a:prstGeom>
          <a:ln w="44450">
            <a:solidFill>
              <a:srgbClr val="C62828"/>
            </a:solidFill>
            <a:tailEnd type="triangle" w="med" len="med"/>
          </a:ln>
        </p:spPr>
      </p:cxnSp>
      <p:sp>
        <p:nvSpPr>
          <p:cNvPr id="13" name="Rectangle 12"/>
          <p:cNvSpPr/>
          <p:nvPr/>
        </p:nvSpPr>
        <p:spPr>
          <a:xfrm>
            <a:off x="7414229" y="2280513"/>
            <a:ext cx="3758732" cy="983162"/>
          </a:xfrm>
          <a:prstGeom prst="rect">
            <a:avLst/>
          </a:prstGeom>
          <a:noFill/>
          <a:ln w="44450">
            <a:solidFill>
              <a:srgbClr val="1F5FAD"/>
            </a:solidFill>
          </a:ln>
        </p:spPr>
        <p:txBody>
          <a:bodyPr rtlCol="0" anchor="ctr"/>
          <a:lstStyle/>
          <a:p>
            <a:pPr algn="ctr"/>
          </a:p>
        </p:txBody>
      </p:sp>
      <p:sp>
        <p:nvSpPr>
          <p:cNvPr id="14" name="Rectangle 13"/>
          <p:cNvSpPr/>
          <p:nvPr/>
        </p:nvSpPr>
        <p:spPr>
          <a:xfrm>
            <a:off x="7414229" y="3965935"/>
            <a:ext cx="3718316" cy="877824"/>
          </a:xfrm>
          <a:prstGeom prst="rect">
            <a:avLst/>
          </a:prstGeom>
          <a:noFill/>
          <a:ln w="44450">
            <a:solidFill>
              <a:srgbClr val="007A33"/>
            </a:solidFill>
          </a:ln>
        </p:spPr>
        <p:txBody>
          <a:bodyPr rtlCol="0" anchor="ctr"/>
          <a:lstStyle/>
          <a:p>
            <a:pPr algn="ctr"/>
          </a:p>
        </p:txBody>
      </p:sp>
      <p:sp>
        <p:nvSpPr>
          <p:cNvPr id="15" name="Oval 14"/>
          <p:cNvSpPr/>
          <p:nvPr/>
        </p:nvSpPr>
        <p:spPr>
          <a:xfrm>
            <a:off x="10209184" y="19846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7177948" y="261664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Oval 16"/>
          <p:cNvSpPr/>
          <p:nvPr/>
        </p:nvSpPr>
        <p:spPr>
          <a:xfrm>
            <a:off x="7177948"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EMA, exponential moving average: a moving average of the last few values, like Part 3's smoothed volume. This chapter never says how it weights them.</a:t>
            </a:r>
          </a:p>
          <a:p>
            <a:pPr algn="l">
              <a:lnSpc>
                <a:spcPct val="105000"/>
              </a:lnSpc>
              <a:spcBef>
                <a:spcPts val="0"/>
              </a:spcBef>
              <a:spcAft>
                <a:spcPts val="1100"/>
              </a:spcAft>
            </a:pPr>
            <a:r>
              <a:rPr sz="1700" b="0" i="0">
                <a:solidFill>
                  <a:srgbClr val="1A1A1A"/>
                </a:solidFill>
                <a:latin typeface="Arial"/>
              </a:rPr>
              <a:t>A 3-bar EMA follows the running total closely; a 10-bar one follows it slowly.</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Above 0, the recent average is above the longer one: the total has been rising lately. </a:t>
            </a:r>
            <a:r>
              <a:rPr sz="1700" b="1" i="0">
                <a:solidFill>
                  <a:srgbClr val="C62828"/>
                </a:solidFill>
                <a:latin typeface="Arial"/>
              </a:rPr>
              <a:t>(2)</a:t>
            </a:r>
            <a:r>
              <a:rPr sz="1700" b="0" i="0">
                <a:solidFill>
                  <a:srgbClr val="1A1A1A"/>
                </a:solidFill>
                <a:latin typeface="Arial"/>
              </a:rPr>
              <a:t> Below 0, falling. Ours: the book gives no reading of the sign.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a label CMF(20) as N = 20, and ChiOsc(3,10) as EMAs of 3 and 10 bars.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l.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67140" y="4141500"/>
            <a:ext cx="1758116" cy="561807"/>
          </a:xfrm>
          <a:prstGeom prst="rect">
            <a:avLst/>
          </a:prstGeom>
          <a:noFill/>
          <a:ln w="44450">
            <a:solidFill>
              <a:srgbClr val="E09B00"/>
            </a:solidFill>
          </a:ln>
        </p:spPr>
        <p:txBody>
          <a:bodyPr rtlCol="0" anchor="ctr"/>
          <a:lstStyle/>
          <a:p>
            <a:pPr algn="ctr"/>
          </a:p>
        </p:txBody>
      </p:sp>
      <p:sp>
        <p:nvSpPr>
          <p:cNvPr id="13" name="Rectangle 12"/>
          <p:cNvSpPr/>
          <p:nvPr/>
        </p:nvSpPr>
        <p:spPr>
          <a:xfrm>
            <a:off x="7535478" y="4615525"/>
            <a:ext cx="1212494" cy="263347"/>
          </a:xfrm>
          <a:prstGeom prst="rect">
            <a:avLst/>
          </a:prstGeom>
          <a:noFill/>
          <a:ln w="44450">
            <a:solidFill>
              <a:srgbClr val="C62828"/>
            </a:solidFill>
          </a:ln>
        </p:spPr>
        <p:txBody>
          <a:bodyPr rtlCol="0" anchor="ctr"/>
          <a:lstStyle/>
          <a:p>
            <a:pPr algn="ctr"/>
          </a:p>
        </p:txBody>
      </p:sp>
      <p:sp>
        <p:nvSpPr>
          <p:cNvPr id="14" name="Oval 13"/>
          <p:cNvSpPr/>
          <p:nvPr/>
        </p:nvSpPr>
        <p:spPr>
          <a:xfrm>
            <a:off x="8350026" y="42318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258781" y="43196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 the chart is Chart FD's invented values.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t>
            </a:r>
            <a:r>
              <a:rPr sz="1700" b="1" i="0">
                <a:solidFill>
                  <a:srgbClr val="1F5FAD"/>
                </a:solidFill>
                <a:latin typeface="Arial"/>
              </a:rPr>
              <a:t>(3)</a:t>
            </a:r>
            <a:r>
              <a:rPr sz="1700" b="0" i="0">
                <a:solidFill>
                  <a:srgbClr val="1A1A1A"/>
                </a:solidFill>
                <a:latin typeface="Arial"/>
              </a:rPr>
              <a:t>: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362157" y="1810512"/>
            <a:ext cx="472518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81029" y="1929384"/>
            <a:ext cx="448743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81029" y="1929384"/>
            <a:ext cx="448743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55349" y="2203703"/>
            <a:ext cx="39387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6.43</a:t>
            </a:r>
          </a:p>
          <a:p>
            <a:pPr algn="l">
              <a:lnSpc>
                <a:spcPct val="115000"/>
              </a:lnSpc>
              <a:spcBef>
                <a:spcPts val="0"/>
              </a:spcBef>
              <a:spcAft>
                <a:spcPts val="0"/>
              </a:spcAft>
            </a:pPr>
            <a:r>
              <a:rPr sz="15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p:txBody>
      </p:sp>
      <p:sp>
        <p:nvSpPr>
          <p:cNvPr id="14" name="Rectangle 13"/>
          <p:cNvSpPr/>
          <p:nvPr/>
        </p:nvSpPr>
        <p:spPr>
          <a:xfrm>
            <a:off x="8769621" y="4071274"/>
            <a:ext cx="987235" cy="1193840"/>
          </a:xfrm>
          <a:prstGeom prst="rect">
            <a:avLst/>
          </a:prstGeom>
          <a:noFill/>
          <a:ln w="44450">
            <a:solidFill>
              <a:srgbClr val="E09B00"/>
            </a:solidFill>
          </a:ln>
        </p:spPr>
        <p:txBody>
          <a:bodyPr rtlCol="0" anchor="ctr"/>
          <a:lstStyle/>
          <a:p>
            <a:pPr algn="ctr"/>
          </a:p>
        </p:txBody>
      </p:sp>
      <p:sp>
        <p:nvSpPr>
          <p:cNvPr id="15" name="Oval 14"/>
          <p:cNvSpPr/>
          <p:nvPr/>
        </p:nvSpPr>
        <p:spPr>
          <a:xfrm>
            <a:off x="9218365" y="2175174"/>
            <a:ext cx="493617" cy="386242"/>
          </a:xfrm>
          <a:prstGeom prst="ellipse">
            <a:avLst/>
          </a:prstGeom>
          <a:noFill/>
          <a:ln w="44450">
            <a:solidFill>
              <a:srgbClr val="C62828"/>
            </a:solidFill>
          </a:ln>
        </p:spPr>
        <p:txBody>
          <a:bodyPr rtlCol="0" anchor="ctr"/>
          <a:lstStyle/>
          <a:p>
            <a:pPr algn="ctr"/>
          </a:p>
        </p:txBody>
      </p:sp>
      <p:sp>
        <p:nvSpPr>
          <p:cNvPr id="16" name="Rectangle 15"/>
          <p:cNvSpPr/>
          <p:nvPr/>
        </p:nvSpPr>
        <p:spPr>
          <a:xfrm>
            <a:off x="9958792" y="4492630"/>
            <a:ext cx="381432" cy="790041"/>
          </a:xfrm>
          <a:prstGeom prst="rect">
            <a:avLst/>
          </a:prstGeom>
          <a:noFill/>
          <a:ln w="44450">
            <a:solidFill>
              <a:srgbClr val="1F5FAD"/>
            </a:solidFill>
          </a:ln>
        </p:spPr>
        <p:txBody>
          <a:bodyPr rtlCol="0" anchor="ctr"/>
          <a:lstStyle/>
          <a:p>
            <a:pPr algn="ctr"/>
          </a:p>
        </p:txBody>
      </p:sp>
      <p:sp>
        <p:nvSpPr>
          <p:cNvPr id="17" name="Oval 16"/>
          <p:cNvSpPr/>
          <p:nvPr/>
        </p:nvSpPr>
        <p:spPr>
          <a:xfrm>
            <a:off x="8479550"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107791" y="205483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68721" y="419673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Top: the indicator falls through its rising trendline in mid 2011: an early bearish signal.</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a:t>
            </a:r>
            <a:r>
              <a:rPr sz="1700" b="1" i="0">
                <a:solidFill>
                  <a:srgbClr val="1F5FAD"/>
                </a:solidFill>
                <a:latin typeface="Arial"/>
              </a:rPr>
              <a:t>(3)</a:t>
            </a:r>
            <a:r>
              <a:rPr sz="1700" b="0" i="0">
                <a:solidFill>
                  <a:srgbClr val="1A1A1A"/>
                </a:solidFill>
                <a:latin typeface="Arial"/>
              </a:rPr>
              <a:t>.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2893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30515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943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p:txBody>
      </p:sp>
      <p:sp>
        <p:nvSpPr>
          <p:cNvPr id="14" name="Oval 13"/>
          <p:cNvSpPr/>
          <p:nvPr/>
        </p:nvSpPr>
        <p:spPr>
          <a:xfrm>
            <a:off x="9907121" y="2173509"/>
            <a:ext cx="446291" cy="396703"/>
          </a:xfrm>
          <a:prstGeom prst="ellipse">
            <a:avLst/>
          </a:prstGeom>
          <a:noFill/>
          <a:ln w="44450">
            <a:solidFill>
              <a:srgbClr val="E09B00"/>
            </a:solidFill>
          </a:ln>
        </p:spPr>
        <p:txBody>
          <a:bodyPr rtlCol="0" anchor="ctr"/>
          <a:lstStyle/>
          <a:p>
            <a:pPr algn="ctr"/>
          </a:p>
        </p:txBody>
      </p:sp>
      <p:sp>
        <p:nvSpPr>
          <p:cNvPr id="15" name="Oval 14"/>
          <p:cNvSpPr/>
          <p:nvPr/>
        </p:nvSpPr>
        <p:spPr>
          <a:xfrm>
            <a:off x="10229442" y="4126509"/>
            <a:ext cx="396703" cy="427218"/>
          </a:xfrm>
          <a:prstGeom prst="ellipse">
            <a:avLst/>
          </a:prstGeom>
          <a:noFill/>
          <a:ln w="44450">
            <a:solidFill>
              <a:srgbClr val="C62828"/>
            </a:solidFill>
          </a:ln>
        </p:spPr>
        <p:txBody>
          <a:bodyPr rtlCol="0" anchor="ctr"/>
          <a:lstStyle/>
          <a:p>
            <a:pPr algn="ctr"/>
          </a:p>
        </p:txBody>
      </p:sp>
      <p:sp>
        <p:nvSpPr>
          <p:cNvPr id="16" name="Rectangle 15"/>
          <p:cNvSpPr/>
          <p:nvPr/>
        </p:nvSpPr>
        <p:spPr>
          <a:xfrm>
            <a:off x="6535143" y="3760322"/>
            <a:ext cx="595054" cy="335672"/>
          </a:xfrm>
          <a:prstGeom prst="rect">
            <a:avLst/>
          </a:prstGeom>
          <a:noFill/>
          <a:ln w="44450">
            <a:solidFill>
              <a:srgbClr val="1F5FAD"/>
            </a:solidFill>
          </a:ln>
        </p:spPr>
        <p:txBody>
          <a:bodyPr rtlCol="0" anchor="ctr"/>
          <a:lstStyle/>
          <a:p>
            <a:pPr algn="ctr"/>
          </a:p>
        </p:txBody>
      </p:sp>
      <p:sp>
        <p:nvSpPr>
          <p:cNvPr id="17" name="Oval 16"/>
          <p:cNvSpPr/>
          <p:nvPr/>
        </p:nvSpPr>
        <p:spPr>
          <a:xfrm>
            <a:off x="9801261" y="2048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123582" y="40015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123514" y="34828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519125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Commercials: hedgers, holding non-cash positions, a phrase the book never explains.</a:t>
            </a:r>
          </a:p>
          <a:p>
            <a:pPr algn="l">
              <a:lnSpc>
                <a:spcPct val="105000"/>
              </a:lnSpc>
              <a:spcBef>
                <a:spcPts val="0"/>
              </a:spcBef>
              <a:spcAft>
                <a:spcPts val="1100"/>
              </a:spcAft>
            </a:pPr>
            <a:r>
              <a:rPr sz="1700" b="0" i="0">
                <a:solidFill>
                  <a:srgbClr val="1A1A1A"/>
                </a:solidFill>
                <a:latin typeface="Arial"/>
              </a:rPr>
              <a:t>The book: traders use it to identify potential tops and bottoms, by two things.</a:t>
            </a:r>
          </a:p>
          <a:p>
            <a:pPr algn="l">
              <a:lnSpc>
                <a:spcPct val="105000"/>
              </a:lnSpc>
              <a:spcBef>
                <a:spcPts val="0"/>
              </a:spcBef>
              <a:spcAft>
                <a:spcPts val="1100"/>
              </a:spcAft>
            </a:pPr>
            <a:r>
              <a:rPr sz="1700" b="0" i="0">
                <a:solidFill>
                  <a:srgbClr val="1A1A1A"/>
                </a:solidFill>
                <a:latin typeface="Arial"/>
              </a:rPr>
              <a:t>One: changes in net commercial or non-commercial positions. Net: never defined, so not drawn.</a:t>
            </a:r>
          </a:p>
          <a:p>
            <a:pPr algn="l">
              <a:lnSpc>
                <a:spcPct val="105000"/>
              </a:lnSpc>
              <a:spcBef>
                <a:spcPts val="0"/>
              </a:spcBef>
              <a:spcAft>
                <a:spcPts val="1100"/>
              </a:spcAft>
            </a:pPr>
            <a:r>
              <a:rPr sz="1700" b="0" i="0">
                <a:solidFill>
                  <a:srgbClr val="1A1A1A"/>
                </a:solidFill>
                <a:latin typeface="Arial"/>
              </a:rPr>
              <a:t>Two: open interest testing a significant or historical level: back at an old level </a:t>
            </a:r>
            <a:r>
              <a:rPr sz="1700" b="1" i="0">
                <a:solidFill>
                  <a:srgbClr val="E09B00"/>
                </a:solidFill>
                <a:latin typeface="Arial"/>
              </a:rPr>
              <a:t>(1)</a:t>
            </a:r>
            <a:r>
              <a:rPr sz="1700" b="0" i="0">
                <a:solidFill>
                  <a:srgbClr val="1A1A1A"/>
                </a:solidFill>
                <a:latin typeface="Arial"/>
              </a:rPr>
              <a: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Ours: treat either as a warning, and wait for price to confirm </a:t>
            </a:r>
            <a:r>
              <a:rPr sz="1800" b="1" i="0">
                <a:solidFill>
                  <a:srgbClr val="C62828"/>
                </a:solidFill>
                <a:latin typeface="Arial"/>
              </a:rPr>
              <a:t>(2)</a:t>
            </a:r>
            <a:r>
              <a:rPr sz="1800" b="1" i="0">
                <a:solidFill>
                  <a:srgbClr val="1A1A1A"/>
                </a:solidFill>
                <a:latin typeface="Arial"/>
              </a:rPr>
              <a:t>, as for the ADL.</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m.png"/>
          <p:cNvPicPr>
            <a:picLocks noChangeAspect="1"/>
          </p:cNvPicPr>
          <p:nvPr/>
        </p:nvPicPr>
        <p:blipFill>
          <a:blip r:embed="rId2"/>
          <a:stretch>
            <a:fillRect/>
          </a:stretch>
        </p:blipFill>
        <p:spPr>
          <a:xfrm>
            <a:off x="7252563" y="1929384"/>
            <a:ext cx="4041648" cy="3511296"/>
          </a:xfrm>
          <a:prstGeom prst="rect">
            <a:avLst/>
          </a:prstGeom>
        </p:spPr>
      </p:pic>
      <p:sp>
        <p:nvSpPr>
          <p:cNvPr id="12" name="Oval 11"/>
          <p:cNvSpPr/>
          <p:nvPr/>
        </p:nvSpPr>
        <p:spPr>
          <a:xfrm>
            <a:off x="10485881" y="3614806"/>
            <a:ext cx="323331" cy="351129"/>
          </a:xfrm>
          <a:prstGeom prst="ellipse">
            <a:avLst/>
          </a:prstGeom>
          <a:noFill/>
          <a:ln w="44450">
            <a:solidFill>
              <a:srgbClr val="E09B00"/>
            </a:solidFill>
          </a:ln>
        </p:spPr>
        <p:txBody>
          <a:bodyPr rtlCol="0" anchor="ctr"/>
          <a:lstStyle/>
          <a:p>
            <a:pPr algn="ctr"/>
          </a:p>
        </p:txBody>
      </p:sp>
      <p:sp>
        <p:nvSpPr>
          <p:cNvPr id="13" name="Oval 12"/>
          <p:cNvSpPr/>
          <p:nvPr/>
        </p:nvSpPr>
        <p:spPr>
          <a:xfrm>
            <a:off x="10910254" y="2245400"/>
            <a:ext cx="323331" cy="421355"/>
          </a:xfrm>
          <a:prstGeom prst="ellipse">
            <a:avLst/>
          </a:prstGeom>
          <a:noFill/>
          <a:ln w="44450">
            <a:solidFill>
              <a:srgbClr val="C62828"/>
            </a:solidFill>
          </a:ln>
        </p:spPr>
        <p:txBody>
          <a:bodyPr rtlCol="0" anchor="ctr"/>
          <a:lstStyle/>
          <a:p>
            <a:pPr algn="ctr"/>
          </a:p>
        </p:txBody>
      </p:sp>
      <p:sp>
        <p:nvSpPr>
          <p:cNvPr id="14" name="Oval 13"/>
          <p:cNvSpPr/>
          <p:nvPr/>
        </p:nvSpPr>
        <p:spPr>
          <a:xfrm>
            <a:off x="10370850" y="349447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795223"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 the chart is ours, invented.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VWMA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Above the VWMA (Part 2): the text calls price potentially bullish, then, a paragraph later, overvalued, where institutions look to sell.</a:t>
            </a:r>
          </a:p>
          <a:p>
            <a:pPr algn="l">
              <a:lnSpc>
                <a:spcPct val="105000"/>
              </a:lnSpc>
              <a:spcBef>
                <a:spcPts val="0"/>
              </a:spcBef>
              <a:spcAft>
                <a:spcPts val="1100"/>
              </a:spcAft>
            </a:pPr>
            <a:r>
              <a:rPr sz="1900" b="0" i="0">
                <a:solidFill>
                  <a:srgbClr val="1A1A1A"/>
                </a:solidFill>
                <a:latin typeface="Arial"/>
              </a:rPr>
              <a:t>Figure 6.11, the book's VWMA picture, prints price above its line as bullish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Its caption says a VWMA on a daily chart; its own labels say VWAP on 10-minute bars </a:t>
            </a:r>
            <a:r>
              <a:rPr sz="1900" b="1" i="0">
                <a:solidFill>
                  <a:srgbClr val="C62828"/>
                </a:solidFill>
                <a:latin typeface="Arial"/>
              </a:rPr>
              <a:t>(2)</a:t>
            </a:r>
            <a:r>
              <a:rPr sz="1900" b="0" i="0">
                <a:solidFill>
                  <a:srgbClr val="1A1A1A"/>
                </a:solidFill>
                <a:latin typeface="Arial"/>
              </a:rPr>
              <a:t>.</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No check rests on any of these. If asked, give both readings.</a:t>
            </a:r>
          </a:p>
        </p:txBody>
      </p:sp>
      <p:sp>
        <p:nvSpPr>
          <p:cNvPr id="10" name="Rectangle 9"/>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The SPY on 10-minute bars with its VWAP line: the label price above VWAP, bullish, and the chart's own labels, SPY 10 min and VWAP, top left.</a:t>
            </a:r>
          </a:p>
        </p:txBody>
      </p:sp>
      <p:sp>
        <p:nvSpPr>
          <p:cNvPr id="14" name="Rectangle 13"/>
          <p:cNvSpPr/>
          <p:nvPr/>
        </p:nvSpPr>
        <p:spPr>
          <a:xfrm>
            <a:off x="8976102" y="2169159"/>
            <a:ext cx="918606" cy="146529"/>
          </a:xfrm>
          <a:prstGeom prst="rect">
            <a:avLst/>
          </a:prstGeom>
          <a:noFill/>
          <a:ln w="44450">
            <a:solidFill>
              <a:srgbClr val="E09B00"/>
            </a:solidFill>
          </a:ln>
        </p:spPr>
        <p:txBody>
          <a:bodyPr rtlCol="0" anchor="ctr"/>
          <a:lstStyle/>
          <a:p>
            <a:pPr algn="ctr"/>
          </a:p>
        </p:txBody>
      </p:sp>
      <p:sp>
        <p:nvSpPr>
          <p:cNvPr id="15" name="Rectangle 14"/>
          <p:cNvSpPr/>
          <p:nvPr/>
        </p:nvSpPr>
        <p:spPr>
          <a:xfrm>
            <a:off x="6702551" y="2009309"/>
            <a:ext cx="803780" cy="173171"/>
          </a:xfrm>
          <a:prstGeom prst="rect">
            <a:avLst/>
          </a:prstGeom>
          <a:noFill/>
          <a:ln w="44450">
            <a:solidFill>
              <a:srgbClr val="C62828"/>
            </a:solidFill>
          </a:ln>
        </p:spPr>
        <p:txBody>
          <a:bodyPr rtlCol="0" anchor="ctr"/>
          <a:lstStyle/>
          <a:p>
            <a:pPr algn="ctr"/>
          </a:p>
        </p:txBody>
      </p:sp>
      <p:sp>
        <p:nvSpPr>
          <p:cNvPr id="16" name="Oval 15"/>
          <p:cNvSpPr/>
          <p:nvPr/>
        </p:nvSpPr>
        <p:spPr>
          <a:xfrm>
            <a:off x="8682863" y="19071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730825" y="21469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p.181 and Figure 6.11 (Part 2). Each is also named on its own slide.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TRIN (Part 4): the text calls it overbought. Figure 6.25 labels it TRIN oversold </a:t>
            </a:r>
            <a:r>
              <a:rPr sz="2000" b="1" i="0">
                <a:solidFill>
                  <a:srgbClr val="E09B00"/>
                </a:solidFill>
                <a:latin typeface="Arial"/>
              </a:rPr>
              <a:t>(1)</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Its caption says a daily chart; its own label and its time axis say 1-minute bars </a:t>
            </a:r>
            <a:r>
              <a:rPr sz="2000" b="1" i="0">
                <a:solidFill>
                  <a:srgbClr val="C62828"/>
                </a:solidFill>
                <a:latin typeface="Arial"/>
              </a:rPr>
              <a:t>(2)</a:t>
            </a:r>
            <a:r>
              <a:rPr sz="2000" b="0" i="0">
                <a:solidFill>
                  <a:srgbClr val="1A1A1A"/>
                </a:solidFill>
                <a:latin typeface="Arial"/>
              </a:rPr>
              <a:t>, within one day.</a:t>
            </a:r>
          </a:p>
        </p:txBody>
      </p:sp>
      <p:sp>
        <p:nvSpPr>
          <p:cNvPr id="8" name="Rectangle 7"/>
          <p:cNvSpPr/>
          <p:nvPr/>
        </p:nvSpPr>
        <p:spPr>
          <a:xfrm>
            <a:off x="777240" y="4416552"/>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Name both.</a:t>
            </a:r>
          </a:p>
        </p:txBody>
      </p:sp>
      <p:sp>
        <p:nvSpPr>
          <p:cNvPr id="10" name="Rectangle 9"/>
          <p:cNvSpPr/>
          <p:nvPr/>
        </p:nvSpPr>
        <p:spPr>
          <a:xfrm>
            <a:off x="6583679" y="1810512"/>
            <a:ext cx="4830775" cy="35612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3234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662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S&amp;P 500 on 1-minute bars over its tick and TRIN panels, with the TRIN's high marked TRIN oversold and the chart's own label, SPX 1 min, top left.</a:t>
            </a:r>
          </a:p>
        </p:txBody>
      </p:sp>
      <p:sp>
        <p:nvSpPr>
          <p:cNvPr id="14" name="Rectangle 13"/>
          <p:cNvSpPr/>
          <p:nvPr/>
        </p:nvSpPr>
        <p:spPr>
          <a:xfrm>
            <a:off x="9527266" y="4621392"/>
            <a:ext cx="1630526" cy="232642"/>
          </a:xfrm>
          <a:prstGeom prst="rect">
            <a:avLst/>
          </a:prstGeom>
          <a:noFill/>
          <a:ln w="44450">
            <a:solidFill>
              <a:srgbClr val="E09B00"/>
            </a:solidFill>
          </a:ln>
        </p:spPr>
        <p:txBody>
          <a:bodyPr rtlCol="0" anchor="ctr"/>
          <a:lstStyle/>
          <a:p>
            <a:pPr algn="ctr"/>
          </a:p>
        </p:txBody>
      </p:sp>
      <p:sp>
        <p:nvSpPr>
          <p:cNvPr id="15" name="Rectangle 14"/>
          <p:cNvSpPr/>
          <p:nvPr/>
        </p:nvSpPr>
        <p:spPr>
          <a:xfrm>
            <a:off x="6771447" y="2029088"/>
            <a:ext cx="918606" cy="132938"/>
          </a:xfrm>
          <a:prstGeom prst="rect">
            <a:avLst/>
          </a:prstGeom>
          <a:noFill/>
          <a:ln w="44450">
            <a:solidFill>
              <a:srgbClr val="C62828"/>
            </a:solidFill>
          </a:ln>
        </p:spPr>
        <p:txBody>
          <a:bodyPr rtlCol="0" anchor="ctr"/>
          <a:lstStyle/>
          <a:p>
            <a:pPr algn="ctr"/>
          </a:p>
        </p:txBody>
      </p:sp>
      <p:sp>
        <p:nvSpPr>
          <p:cNvPr id="16" name="Oval 15"/>
          <p:cNvSpPr/>
          <p:nvPr/>
        </p:nvSpPr>
        <p:spPr>
          <a:xfrm>
            <a:off x="9234027" y="433300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799720" y="21561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46316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p.193 and Figure 6.25 (Part 4). Each is also named on its own slide.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NYSE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NYSE Up/Down Volume (Part 6): the text calls it the ratio of advancing volume over declining volume.</a:t>
            </a:r>
          </a:p>
          <a:p>
            <a:pPr algn="l">
              <a:lnSpc>
                <a:spcPct val="105000"/>
              </a:lnSpc>
              <a:spcBef>
                <a:spcPts val="0"/>
              </a:spcBef>
              <a:spcAft>
                <a:spcPts val="1100"/>
              </a:spcAft>
            </a:pPr>
            <a:r>
              <a:rPr sz="2000" b="0" i="0">
                <a:solidFill>
                  <a:srgbClr val="1A1A1A"/>
                </a:solidFill>
                <a:latin typeface="Arial"/>
              </a:rPr>
              <a:t>Figure 6.44 labels its line cumulative </a:t>
            </a:r>
            <a:r>
              <a:rPr sz="2000" b="1" i="0">
                <a:solidFill>
                  <a:srgbClr val="E09B00"/>
                </a:solidFill>
                <a:latin typeface="Arial"/>
              </a:rPr>
              <a:t>(1)</a:t>
            </a:r>
            <a:r>
              <a:rPr sz="2000" b="0" i="0">
                <a:solidFill>
                  <a:srgbClr val="1A1A1A"/>
                </a:solidFill>
                <a:latin typeface="Arial"/>
              </a:rPr>
              <a:t>, and the line runs below zero </a:t>
            </a:r>
            <a:r>
              <a:rPr sz="2000" b="1" i="0">
                <a:solidFill>
                  <a:srgbClr val="C62828"/>
                </a:solidFill>
                <a:latin typeface="Arial"/>
              </a:rPr>
              <a:t>(2)</a:t>
            </a:r>
            <a:r>
              <a:rPr sz="2000" b="0" i="0">
                <a:solidFill>
                  <a:srgbClr val="1A1A1A"/>
                </a:solidFill>
                <a:latin typeface="Arial"/>
              </a:rPr>
              <a:t>, which a ratio of two volumes cannot.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reconcile them. If asked, give both.</a:t>
            </a:r>
          </a:p>
        </p:txBody>
      </p:sp>
      <p:sp>
        <p:nvSpPr>
          <p:cNvPr id="10" name="Rectangle 9"/>
          <p:cNvSpPr/>
          <p:nvPr/>
        </p:nvSpPr>
        <p:spPr>
          <a:xfrm>
            <a:off x="6583679" y="1810512"/>
            <a:ext cx="4830775" cy="30642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648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928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The NYSE Advance-Decline Volume line, labelled cumulative top left, dipping below zero in early 2009, over the NYSE Composite Index.</a:t>
            </a:r>
          </a:p>
        </p:txBody>
      </p:sp>
      <p:sp>
        <p:nvSpPr>
          <p:cNvPr id="14" name="Rectangle 13"/>
          <p:cNvSpPr/>
          <p:nvPr/>
        </p:nvSpPr>
        <p:spPr>
          <a:xfrm>
            <a:off x="6702551" y="2028310"/>
            <a:ext cx="1837212" cy="127191"/>
          </a:xfrm>
          <a:prstGeom prst="rect">
            <a:avLst/>
          </a:prstGeom>
          <a:noFill/>
          <a:ln w="44450">
            <a:solidFill>
              <a:srgbClr val="E09B00"/>
            </a:solidFill>
          </a:ln>
        </p:spPr>
        <p:txBody>
          <a:bodyPr rtlCol="0" anchor="ctr"/>
          <a:lstStyle/>
          <a:p>
            <a:pPr algn="ctr"/>
          </a:p>
        </p:txBody>
      </p:sp>
      <p:sp>
        <p:nvSpPr>
          <p:cNvPr id="15" name="Rectangle 14"/>
          <p:cNvSpPr/>
          <p:nvPr/>
        </p:nvSpPr>
        <p:spPr>
          <a:xfrm>
            <a:off x="6886273" y="3611139"/>
            <a:ext cx="574128" cy="325045"/>
          </a:xfrm>
          <a:prstGeom prst="rect">
            <a:avLst/>
          </a:prstGeom>
          <a:noFill/>
          <a:ln w="44450">
            <a:solidFill>
              <a:srgbClr val="C62828"/>
            </a:solidFill>
          </a:ln>
        </p:spPr>
        <p:txBody>
          <a:bodyPr rtlCol="0" anchor="ctr"/>
          <a:lstStyle/>
          <a:p>
            <a:pPr algn="ctr"/>
          </a:p>
        </p:txBody>
      </p:sp>
      <p:sp>
        <p:nvSpPr>
          <p:cNvPr id="16" name="Oval 15"/>
          <p:cNvSpPr/>
          <p:nvPr/>
        </p:nvSpPr>
        <p:spPr>
          <a:xfrm>
            <a:off x="6730825" y="21272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914546" y="334263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617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p.206 and Figure 6.44 (Part 6). Each is also named on its own slide.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Bullish divergence (Part 1): the text says it can only occur in a downtrend.</a:t>
            </a:r>
          </a:p>
          <a:p>
            <a:pPr algn="l">
              <a:lnSpc>
                <a:spcPct val="105000"/>
              </a:lnSpc>
              <a:spcBef>
                <a:spcPts val="0"/>
              </a:spcBef>
              <a:spcAft>
                <a:spcPts val="1100"/>
              </a:spcAft>
            </a:pPr>
            <a:r>
              <a:rPr sz="2000" b="0" i="0">
                <a:solidFill>
                  <a:srgbClr val="1A1A1A"/>
                </a:solidFill>
                <a:latin typeface="Arial"/>
              </a:rPr>
              <a:t>Yet the book reads periods 4 </a:t>
            </a:r>
            <a:r>
              <a:rPr sz="2000" b="1" i="0">
                <a:solidFill>
                  <a:srgbClr val="E09B00"/>
                </a:solidFill>
                <a:latin typeface="Arial"/>
              </a:rPr>
              <a:t>(1)</a:t>
            </a:r>
            <a:r>
              <a:rPr sz="2000" b="0" i="0">
                <a:solidFill>
                  <a:srgbClr val="1A1A1A"/>
                </a:solidFill>
                <a:latin typeface="Arial"/>
              </a:rPr>
              <a:t> and 6 </a:t>
            </a:r>
            <a:r>
              <a:rPr sz="2000" b="1" i="0">
                <a:solidFill>
                  <a:srgbClr val="C62828"/>
                </a:solidFill>
                <a:latin typeface="Arial"/>
              </a:rPr>
              <a:t>(2)</a:t>
            </a:r>
            <a:r>
              <a:rPr sz="2000" b="0" i="0">
                <a:solidFill>
                  <a:srgbClr val="1A1A1A"/>
                </a:solidFill>
                <a:latin typeface="Arial"/>
              </a:rPr>
              <a:t> of Figure 6.6 as bullish divergence: dips inside a four-year uptrend.</a:t>
            </a:r>
          </a:p>
          <a:p>
            <a:pPr algn="l">
              <a:lnSpc>
                <a:spcPct val="105000"/>
              </a:lnSpc>
              <a:spcBef>
                <a:spcPts val="0"/>
              </a:spcBef>
              <a:spcAft>
                <a:spcPts val="1100"/>
              </a:spcAft>
            </a:pPr>
            <a:r>
              <a:rPr sz="2000" b="0" i="0">
                <a:solidFill>
                  <a:srgbClr val="1A1A1A"/>
                </a:solidFill>
                <a:latin typeface="Arial"/>
              </a:rPr>
              <a:t>Its caption says a daily chart; its own label says weekly </a:t>
            </a:r>
            <a:r>
              <a:rPr sz="2000" b="1" i="0">
                <a:solidFill>
                  <a:srgbClr val="1F5FAD"/>
                </a:solidFill>
                <a:latin typeface="Arial"/>
              </a:rPr>
              <a:t>(3)</a:t>
            </a:r>
            <a:r>
              <a:rPr sz="2000" b="0" i="0">
                <a:solidFill>
                  <a:srgbClr val="1A1A1A"/>
                </a:solidFill>
                <a:latin typeface="Arial"/>
              </a:rPr>
              <a:t>.</a:t>
            </a:r>
          </a:p>
        </p:txBody>
      </p:sp>
      <p:sp>
        <p:nvSpPr>
          <p:cNvPr id="8" name="Rectangle 7"/>
          <p:cNvSpPr/>
          <p:nvPr/>
        </p:nvSpPr>
        <p:spPr>
          <a:xfrm>
            <a:off x="777240" y="4901183"/>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any of these. If asked, give both readings.</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in ten numbered periods: periods 4 and 6 are dips inside the uptrend, and the label top left says weekly.</a:t>
            </a:r>
          </a:p>
        </p:txBody>
      </p:sp>
      <p:sp>
        <p:nvSpPr>
          <p:cNvPr id="14" name="Rectangle 13"/>
          <p:cNvSpPr/>
          <p:nvPr/>
        </p:nvSpPr>
        <p:spPr>
          <a:xfrm>
            <a:off x="9113893" y="2324200"/>
            <a:ext cx="298547" cy="526421"/>
          </a:xfrm>
          <a:prstGeom prst="rect">
            <a:avLst/>
          </a:prstGeom>
          <a:noFill/>
          <a:ln w="44450">
            <a:solidFill>
              <a:srgbClr val="E09B00"/>
            </a:solidFill>
          </a:ln>
        </p:spPr>
        <p:txBody>
          <a:bodyPr rtlCol="0" anchor="ctr"/>
          <a:lstStyle/>
          <a:p>
            <a:pPr algn="ctr"/>
          </a:p>
        </p:txBody>
      </p:sp>
      <p:sp>
        <p:nvSpPr>
          <p:cNvPr id="15" name="Rectangle 14"/>
          <p:cNvSpPr/>
          <p:nvPr/>
        </p:nvSpPr>
        <p:spPr>
          <a:xfrm>
            <a:off x="9504300" y="2455805"/>
            <a:ext cx="275581" cy="690928"/>
          </a:xfrm>
          <a:prstGeom prst="rect">
            <a:avLst/>
          </a:prstGeom>
          <a:noFill/>
          <a:ln w="44450">
            <a:solidFill>
              <a:srgbClr val="C62828"/>
            </a:solidFill>
          </a:ln>
        </p:spPr>
        <p:txBody>
          <a:bodyPr rtlCol="0" anchor="ctr"/>
          <a:lstStyle/>
          <a:p>
            <a:pPr algn="ctr"/>
          </a:p>
        </p:txBody>
      </p:sp>
      <p:sp>
        <p:nvSpPr>
          <p:cNvPr id="16" name="Rectangle 15"/>
          <p:cNvSpPr/>
          <p:nvPr/>
        </p:nvSpPr>
        <p:spPr>
          <a:xfrm>
            <a:off x="6702551" y="2044538"/>
            <a:ext cx="1033431" cy="148056"/>
          </a:xfrm>
          <a:prstGeom prst="rect">
            <a:avLst/>
          </a:prstGeom>
          <a:noFill/>
          <a:ln w="44450">
            <a:solidFill>
              <a:srgbClr val="1F5FAD"/>
            </a:solidFill>
          </a:ln>
        </p:spPr>
        <p:txBody>
          <a:bodyPr rtlCol="0" anchor="ctr"/>
          <a:lstStyle/>
          <a:p>
            <a:pPr algn="ctr"/>
          </a:p>
        </p:txBody>
      </p:sp>
      <p:sp>
        <p:nvSpPr>
          <p:cNvPr id="17" name="Oval 16"/>
          <p:cNvSpPr/>
          <p:nvPr/>
        </p:nvSpPr>
        <p:spPr>
          <a:xfrm>
            <a:off x="8820654" y="20371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211061" y="21687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730825" y="21852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pp.176 and 178 and Figure 6.6 (Part 1). Each is also named on its own slide.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silver or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6.23 (Part 3) is captioned silver.</a:t>
            </a:r>
          </a:p>
          <a:p>
            <a:pPr algn="l">
              <a:lnSpc>
                <a:spcPct val="105000"/>
              </a:lnSpc>
              <a:spcBef>
                <a:spcPts val="0"/>
              </a:spcBef>
              <a:spcAft>
                <a:spcPts val="1100"/>
              </a:spcAft>
            </a:pPr>
            <a:r>
              <a:rPr sz="2000" b="0" i="0">
                <a:solidFill>
                  <a:srgbClr val="1A1A1A"/>
                </a:solidFill>
                <a:latin typeface="Arial"/>
              </a:rPr>
              <a:t>The text calls 6.23 the same daily chart of USDJPY, then, a sentence on, the Silver market.</a:t>
            </a:r>
          </a:p>
          <a:p>
            <a:pPr algn="l">
              <a:lnSpc>
                <a:spcPct val="105000"/>
              </a:lnSpc>
              <a:spcBef>
                <a:spcPts val="0"/>
              </a:spcBef>
              <a:spcAft>
                <a:spcPts val="1100"/>
              </a:spcAft>
            </a:pPr>
            <a:r>
              <a:rPr sz="2000" b="0" i="0">
                <a:solidFill>
                  <a:srgbClr val="1A1A1A"/>
                </a:solidFill>
                <a:latin typeface="Arial"/>
              </a:rPr>
              <a:t>The chart's own label, top left </a:t>
            </a:r>
            <a:r>
              <a:rPr sz="2000" b="1" i="0">
                <a:solidFill>
                  <a:srgbClr val="E09B00"/>
                </a:solidFill>
                <a:latin typeface="Arial"/>
              </a:rPr>
              <a:t>(1)</a:t>
            </a:r>
            <a:r>
              <a:rPr sz="2000" b="0" i="0">
                <a:solidFill>
                  <a:srgbClr val="1A1A1A"/>
                </a:solidFill>
                <a:latin typeface="Arial"/>
              </a:rPr>
              <a:t>, names its market; the book never refers to it.</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A daily chart with a volume filtered channel drawn through numbered turns, X and 1 to 6, and the chart's own label top left.</a:t>
            </a:r>
          </a:p>
        </p:txBody>
      </p:sp>
      <p:sp>
        <p:nvSpPr>
          <p:cNvPr id="14" name="Rectangle 13"/>
          <p:cNvSpPr/>
          <p:nvPr/>
        </p:nvSpPr>
        <p:spPr>
          <a:xfrm>
            <a:off x="6702551" y="1929384"/>
            <a:ext cx="987501" cy="104281"/>
          </a:xfrm>
          <a:prstGeom prst="rect">
            <a:avLst/>
          </a:prstGeom>
          <a:noFill/>
          <a:ln w="44450">
            <a:solidFill>
              <a:srgbClr val="E09B00"/>
            </a:solidFill>
          </a:ln>
        </p:spPr>
        <p:txBody>
          <a:bodyPr rtlCol="0" anchor="ctr"/>
          <a:lstStyle/>
          <a:p>
            <a:pPr algn="ctr"/>
          </a:p>
        </p:txBody>
      </p:sp>
      <p:sp>
        <p:nvSpPr>
          <p:cNvPr id="15" name="Oval 14"/>
          <p:cNvSpPr/>
          <p:nvPr/>
        </p:nvSpPr>
        <p:spPr>
          <a:xfrm>
            <a:off x="6730825" y="198249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pp.189-190 and Figure 6.23 (Part 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daily or intraday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6.26 (Part 4) is captioned daily.</a:t>
            </a:r>
          </a:p>
          <a:p>
            <a:pPr algn="l">
              <a:lnSpc>
                <a:spcPct val="105000"/>
              </a:lnSpc>
              <a:spcBef>
                <a:spcPts val="0"/>
              </a:spcBef>
              <a:spcAft>
                <a:spcPts val="1100"/>
              </a:spcAft>
            </a:pPr>
            <a:r>
              <a:rPr sz="2000" b="0" i="0">
                <a:solidFill>
                  <a:srgbClr val="1A1A1A"/>
                </a:solidFill>
                <a:latin typeface="Arial"/>
              </a:rPr>
              <a:t>Its own label says 1-minute bars </a:t>
            </a:r>
            <a:r>
              <a:rPr sz="2000" b="1" i="0">
                <a:solidFill>
                  <a:srgbClr val="E09B00"/>
                </a:solidFill>
                <a:latin typeface="Arial"/>
              </a:rPr>
              <a:t>(1)</a:t>
            </a:r>
            <a:r>
              <a:rPr sz="2000" b="0" i="0">
                <a:solidFill>
                  <a:srgbClr val="1A1A1A"/>
                </a:solidFill>
                <a:latin typeface="Arial"/>
              </a:rPr>
              <a:t>, and its time axis runs from 10:00 to 3:30 </a:t>
            </a:r>
            <a:r>
              <a:rPr sz="2000" b="1" i="0">
                <a:solidFill>
                  <a:srgbClr val="C62828"/>
                </a:solidFill>
                <a:latin typeface="Arial"/>
              </a:rPr>
              <a:t>(2)</a:t>
            </a:r>
            <a:r>
              <a:rPr sz="2000" b="0" i="0">
                <a:solidFill>
                  <a:srgbClr val="1A1A1A"/>
                </a:solidFill>
                <a:latin typeface="Arial"/>
              </a:rPr>
              <a:t>: one day, an intraday chart.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583679" y="1810512"/>
            <a:ext cx="4830775" cy="351613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7839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2119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The S&amp;P 500 on 1-minute bars over its tick and TRIN panels, the label SPX 1 min top left and a time axis from 10:00 to 3:30.</a:t>
            </a:r>
          </a:p>
        </p:txBody>
      </p:sp>
      <p:sp>
        <p:nvSpPr>
          <p:cNvPr id="14" name="Rectangle 13"/>
          <p:cNvSpPr/>
          <p:nvPr/>
        </p:nvSpPr>
        <p:spPr>
          <a:xfrm>
            <a:off x="6771447" y="2044127"/>
            <a:ext cx="918606" cy="131135"/>
          </a:xfrm>
          <a:prstGeom prst="rect">
            <a:avLst/>
          </a:prstGeom>
          <a:noFill/>
          <a:ln w="44450">
            <a:solidFill>
              <a:srgbClr val="E09B00"/>
            </a:solidFill>
          </a:ln>
        </p:spPr>
        <p:txBody>
          <a:bodyPr rtlCol="0" anchor="ctr"/>
          <a:lstStyle/>
          <a:p>
            <a:pPr algn="ctr"/>
          </a:p>
        </p:txBody>
      </p:sp>
      <p:sp>
        <p:nvSpPr>
          <p:cNvPr id="15" name="Rectangle 14"/>
          <p:cNvSpPr/>
          <p:nvPr/>
        </p:nvSpPr>
        <p:spPr>
          <a:xfrm>
            <a:off x="6794412" y="5060250"/>
            <a:ext cx="3858146" cy="140970"/>
          </a:xfrm>
          <a:prstGeom prst="rect">
            <a:avLst/>
          </a:prstGeom>
          <a:noFill/>
          <a:ln w="44450">
            <a:solidFill>
              <a:srgbClr val="C62828"/>
            </a:solidFill>
          </a:ln>
        </p:spPr>
        <p:txBody>
          <a:bodyPr rtlCol="0" anchor="ctr"/>
          <a:lstStyle/>
          <a:p>
            <a:pPr algn="ctr"/>
          </a:p>
        </p:txBody>
      </p:sp>
      <p:sp>
        <p:nvSpPr>
          <p:cNvPr id="16" name="Oval 15"/>
          <p:cNvSpPr/>
          <p:nvPr/>
        </p:nvSpPr>
        <p:spPr>
          <a:xfrm>
            <a:off x="6799720" y="21673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822685" y="47736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418090"/>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p.194 and Figure 6.26 (Part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