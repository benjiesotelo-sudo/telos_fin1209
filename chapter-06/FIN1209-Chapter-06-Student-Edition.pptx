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future price.</a:t>
            </a:r>
          </a:p>
          <a:p>
            <a:pPr algn="l">
              <a:lnSpc>
                <a:spcPct val="105000"/>
              </a:lnSpc>
              <a:spcBef>
                <a:spcPts val="0"/>
              </a:spcBef>
              <a:spcAft>
                <a:spcPts val="1100"/>
              </a:spcAft>
            </a:pPr>
            <a:r>
              <a:rPr sz="1700" b="0" i="0">
                <a:solidFill>
                  <a:srgbClr val="1A1A1A"/>
                </a:solidFill>
                <a:latin typeface="Arial"/>
              </a:rPr>
              <a:t>Volume and open interest are extra evidence: they back up, or corroborate, a bullish or bearish setup, show weakness, time breakouts.</a:t>
            </a:r>
          </a:p>
          <a:p>
            <a:pPr algn="l">
              <a:lnSpc>
                <a:spcPct val="105000"/>
              </a:lnSpc>
              <a:spcBef>
                <a:spcPts val="0"/>
              </a:spcBef>
              <a:spcAft>
                <a:spcPts val="1100"/>
              </a:spcAft>
            </a:pPr>
            <a:r>
              <a:rPr sz="17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7332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24</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0" i="0">
                <a:solidFill>
                  <a:srgbClr val="1A1A1A"/>
                </a:solidFill>
                <a:latin typeface="Arial"/>
              </a:rPr>
              <a:t>Uptrend: volume rises as price rises, falls on the dips. The book calls this bullish volume action.</a:t>
            </a:r>
          </a:p>
          <a:p>
            <a:pPr algn="l">
              <a:lnSpc>
                <a:spcPct val="105000"/>
              </a:lnSpc>
              <a:spcBef>
                <a:spcPts val="0"/>
              </a:spcBef>
              <a:spcAft>
                <a:spcPts val="1100"/>
              </a:spcAft>
            </a:pPr>
            <a:r>
              <a:rPr sz="1700" b="0" i="0">
                <a:solidFill>
                  <a:srgbClr val="1A1A1A"/>
                </a:solidFill>
                <a:latin typeface="Arial"/>
              </a:rPr>
              <a:t>Downtrend: volume rises as price falls, falls on the bounces. The book calls this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means more people take part in the move price is making. Price PHP 50 to 46 on 2 to 4 million: more willing to sell lower.</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Declining volume does not necessarily imply bearishness. Rising volume does not imply bullishness. It depends on price's direction.</a:t>
            </a:r>
          </a:p>
          <a:p>
            <a:pPr algn="l">
              <a:lnSpc>
                <a:spcPct val="105000"/>
              </a:lnSpc>
              <a:spcBef>
                <a:spcPts val="0"/>
              </a:spcBef>
              <a:spcAft>
                <a:spcPts val="1100"/>
              </a:spcAft>
            </a:pPr>
            <a:r>
              <a:rPr sz="1700" b="0" i="0">
                <a:solidFill>
                  <a:srgbClr val="1A1A1A"/>
                </a:solidFill>
                <a:latin typeface="Arial"/>
              </a:rPr>
              <a:t>Figure 6.2, gold: in the primary bull trend from 2001, volume expands as price rises, same way, bullish. In the retracement at the end, both fall: bullish too.</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Read price's direction first, then volume's.</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on retracements. Not confirming is the reverse: small with the trend, big on retracements.</a:t>
            </a:r>
          </a:p>
          <a:p>
            <a:pPr algn="l">
              <a:lnSpc>
                <a:spcPct val="105000"/>
              </a:lnSpc>
              <a:spcBef>
                <a:spcPts val="0"/>
              </a:spcBef>
              <a:spcAft>
                <a:spcPts val="1100"/>
              </a:spcAft>
            </a:pPr>
            <a:r>
              <a:rPr sz="1700" b="0" i="0">
                <a:solidFill>
                  <a:srgbClr val="1A1A1A"/>
                </a:solidFill>
                <a:latin typeface="Arial"/>
              </a:rPr>
              <a:t>Uptrend: price and volume move opposite ways, bearish volume. A potentially weak or bearish uptrend.</a:t>
            </a:r>
          </a:p>
          <a:p>
            <a:pPr algn="l">
              <a:lnSpc>
                <a:spcPct val="105000"/>
              </a:lnSpc>
              <a:spcBef>
                <a:spcPts val="0"/>
              </a:spcBef>
              <a:spcAft>
                <a:spcPts val="1100"/>
              </a:spcAft>
            </a:pPr>
            <a:r>
              <a:rPr sz="1700" b="0" i="0">
                <a:solidFill>
                  <a:srgbClr val="1A1A1A"/>
                </a:solidFill>
                <a:latin typeface="Arial"/>
              </a:rPr>
              <a:t>Downtrend: price and volume move the same way, bullish volume. A potentially bullish downtrend.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trend goes one way, its volume says the other. A warning, not a reversal.</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same direction, bullish; opposite, bearish. The trend does not come into it.</a:t>
            </a:r>
          </a:p>
          <a:p>
            <a:pPr algn="l">
              <a:lnSpc>
                <a:spcPct val="118000"/>
              </a:lnSpc>
              <a:spcBef>
                <a:spcPts val="0"/>
              </a:spcBef>
              <a:spcAft>
                <a:spcPts val="1300"/>
              </a:spcAft>
            </a:pPr>
            <a:r>
              <a:rPr sz="2100" b="0" i="0">
                <a:solidFill>
                  <a:srgbClr val="1A1A1A"/>
                </a:solidFill>
                <a:latin typeface="Arial"/>
              </a:rPr>
              <a:t>2  Does it confirm the trend? Now the trend counts. In an uptrend, bullish volume confirms. In a downtrend, bearish volume confirms.</a:t>
            </a:r>
          </a:p>
          <a:p>
            <a:pPr algn="l">
              <a:lnSpc>
                <a:spcPct val="118000"/>
              </a:lnSpc>
              <a:spcBef>
                <a:spcPts val="0"/>
              </a:spcBef>
              <a:spcAft>
                <a:spcPts val="1300"/>
              </a:spcAft>
            </a:pPr>
            <a:r>
              <a:rPr sz="2100" b="0" i="0">
                <a:solidFill>
                  <a:srgbClr val="1A1A1A"/>
                </a:solidFill>
                <a:latin typeface="Arial"/>
              </a:rPr>
              <a:t>Ours: a downtrend, price PHP 50 to 46, volume 2 to 4 million. 1: opposite ways, bearish volume. 2: bearish in a downtrend, so it confirms.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Volume that does not confirm is the other kind: bearish volume in an uptrend, bullish volume in a downtrend.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participants lose interest in price going further. Bearish for an uptrend, bullish for a downtrend.</a:t>
            </a:r>
          </a:p>
          <a:p>
            <a:pPr algn="l">
              <a:lnSpc>
                <a:spcPct val="105000"/>
              </a:lnSpc>
              <a:spcBef>
                <a:spcPts val="0"/>
              </a:spcBef>
              <a:spcAft>
                <a:spcPts val="1100"/>
              </a:spcAft>
            </a:pPr>
            <a:r>
              <a:rPr sz="1700" b="0" i="0">
                <a:solidFill>
                  <a:srgbClr val="1A1A1A"/>
                </a:solidFill>
                <a:latin typeface="Arial"/>
              </a:rPr>
              <a:t>Confirmation: they want to take part. Bullish for an uptrend, bearish for a downtrend.</a:t>
            </a:r>
          </a:p>
          <a:p>
            <a:pPr algn="l">
              <a:lnSpc>
                <a:spcPct val="105000"/>
              </a:lnSpc>
              <a:spcBef>
                <a:spcPts val="0"/>
              </a:spcBef>
              <a:spcAft>
                <a:spcPts val="1100"/>
              </a:spcAft>
            </a:pPr>
            <a:r>
              <a:rPr sz="1700" b="0" i="0">
                <a:solidFill>
                  <a:srgbClr val="1A1A1A"/>
                </a:solidFill>
                <a:latin typeface="Arial"/>
              </a:rPr>
              <a:t>Chart F: left, PHP 40 to 55 on volume rising 0.9 to 3.4 million, it continues. Right, 40 to 51 on volume falling 2.9 to 0.8, it turns.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Confirmation: a potential continuation. Divergence: a potential reversal.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Volume up: confirmation. Bearish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both falling: fewer want to sell lower. It can only occur in a downtrend: a potential upside reversal.</a:t>
            </a:r>
          </a:p>
          <a:p>
            <a:pPr algn="l">
              <a:lnSpc>
                <a:spcPct val="118000"/>
              </a:lnSpc>
              <a:spcBef>
                <a:spcPts val="0"/>
              </a:spcBef>
              <a:spcAft>
                <a:spcPts val="1300"/>
              </a:spcAft>
            </a:pPr>
            <a:r>
              <a:rPr sz="2100" b="0" i="0">
                <a:solidFill>
                  <a:srgbClr val="1A1A1A"/>
                </a:solidFill>
                <a:latin typeface="Arial"/>
              </a:rPr>
              <a:t>Bearish divergence, volume falling as price rises: fewer want to buy higher. Only in an uptrend: a potential downside reversal.</a:t>
            </a:r>
          </a:p>
          <a:p>
            <a:pPr algn="l">
              <a:lnSpc>
                <a:spcPct val="118000"/>
              </a:lnSpc>
              <a:spcBef>
                <a:spcPts val="0"/>
              </a:spcBef>
              <a:spcAft>
                <a:spcPts val="1300"/>
              </a:spcAft>
            </a:pPr>
            <a:r>
              <a:rPr sz="2100" b="0" i="0">
                <a:solidFill>
                  <a:srgbClr val="1A1A1A"/>
                </a:solidFill>
                <a:latin typeface="Arial"/>
              </a:rPr>
              <a:t>Bullish and bearish confirmation, volume rising with a rise or a fall: more take part in the move.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in a trend, confirmation always potential strength. Figure 6.6, three slides on, breaks the only-in rule; that slide says so.</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 Where each can occur is its p.176 to 177 wording.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Reverse divergence was named in Chapter 5 and is taught in Chapter 9. Chapter 4 gave the volume case: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volume falls as price falls: volume falling, divergence; with price, bullish. Fewer are willing to sell lower.</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7 and 9: price and volume rise, bullish confirmation. 4 and 6: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3 price has no direction, so no reading (book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Volume bars: 2, 3, 1. Add volume on a higher close, subtract on a lower: 0, 3,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numbers are ours. The chart is ours, on invented prices; its line is computed by the rule taught in Part 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Non-price-based, plain volume included: bullish if it moves with price, bearish if against. Divergence if it falls, confirmation if it rises.</a:t>
            </a:r>
          </a:p>
          <a:p>
            <a:pPr algn="l">
              <a:lnSpc>
                <a:spcPct val="105000"/>
              </a:lnSpc>
              <a:spcBef>
                <a:spcPts val="0"/>
              </a:spcBef>
              <a:spcAft>
                <a:spcPts val="1100"/>
              </a:spcAft>
            </a:pPr>
            <a:r>
              <a:rPr sz="1800" b="0" i="0">
                <a:solidFill>
                  <a:srgbClr val="1A1A1A"/>
                </a:solidFill>
                <a:latin typeface="Arial"/>
              </a:rPr>
              <a:t>Price-based, such as the OBV: bullish if it rises, bearish if it falls. Divergence if it moves against price, confirmation if with it.</a:t>
            </a:r>
          </a:p>
        </p:txBody>
      </p:sp>
      <p:sp>
        <p:nvSpPr>
          <p:cNvPr id="8" name="Rectangle 7"/>
          <p:cNvSpPr/>
          <p:nvPr/>
        </p:nvSpPr>
        <p:spPr>
          <a:xfrm>
            <a:off x="777240" y="4512564"/>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First ask which kind you are reading.</a:t>
            </a:r>
          </a:p>
        </p:txBody>
      </p:sp>
      <p:sp>
        <p:nvSpPr>
          <p:cNvPr id="10" name="TextBox 9"/>
          <p:cNvSpPr txBox="1"/>
          <p:nvPr/>
        </p:nvSpPr>
        <p:spPr>
          <a:xfrm>
            <a:off x="777240" y="514959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the two differ only in bullish divergence and bearish confirmation, where the price-based arrow points the other way.</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four names on both kinds. The prices and the volume and OBV numbers are ours.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Euro Trust rises along the arrow, October to January.</a:t>
            </a:r>
          </a:p>
          <a:p>
            <a:pPr algn="l">
              <a:lnSpc>
                <a:spcPct val="105000"/>
              </a:lnSpc>
              <a:spcBef>
                <a:spcPts val="0"/>
              </a:spcBef>
              <a:spcAft>
                <a:spcPts val="1100"/>
              </a:spcAft>
            </a:pPr>
            <a:r>
              <a:rPr sz="1700" b="0" i="0">
                <a:solidFill>
                  <a:srgbClr val="1A1A1A"/>
                </a:solidFill>
                <a:latin typeface="Arial"/>
              </a:rPr>
              <a:t>Volume and smoothed volume, non-price-based: falling, against price: bearish divergence.</a:t>
            </a:r>
          </a:p>
          <a:p>
            <a:pPr algn="l">
              <a:lnSpc>
                <a:spcPct val="105000"/>
              </a:lnSpc>
              <a:spcBef>
                <a:spcPts val="0"/>
              </a:spcBef>
              <a:spcAft>
                <a:spcPts val="1100"/>
              </a:spcAft>
            </a:pPr>
            <a:r>
              <a:rPr sz="1700" b="0" i="0">
                <a:solidFill>
                  <a:srgbClr val="1A1A1A"/>
                </a:solidFill>
                <a:latin typeface="Arial"/>
              </a:rPr>
              <a:t>The PVO, a detrended volume oscillator the book never explains: non-price-based, falling: bearish divergence too.</a:t>
            </a:r>
          </a:p>
          <a:p>
            <a:pPr algn="l">
              <a:lnSpc>
                <a:spcPct val="105000"/>
              </a:lnSpc>
              <a:spcBef>
                <a:spcPts val="0"/>
              </a:spcBef>
              <a:spcAft>
                <a:spcPts val="1100"/>
              </a:spcAft>
            </a:pPr>
            <a:r>
              <a:rPr sz="1700" b="0" i="0">
                <a:solidFill>
                  <a:srgbClr val="1A1A1A"/>
                </a:solidFill>
                <a:latin typeface="Arial"/>
              </a:rPr>
              <a:t>The ADL, price-based: rising, with price: bullish confirmation.</a:t>
            </a:r>
          </a:p>
        </p:txBody>
      </p:sp>
      <p:sp>
        <p:nvSpPr>
          <p:cNvPr id="8" name="Rectangle 7"/>
          <p:cNvSpPr/>
          <p:nvPr/>
        </p:nvSpPr>
        <p:spPr>
          <a:xfrm>
            <a:off x="777240" y="4729734"/>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61081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kind read by its own rule.</a:t>
            </a:r>
          </a:p>
        </p:txBody>
      </p:sp>
      <p:sp>
        <p:nvSpPr>
          <p:cNvPr id="10" name="TextBox 9"/>
          <p:cNvSpPr txBox="1"/>
          <p:nvPr/>
        </p:nvSpPr>
        <p:spPr>
          <a:xfrm>
            <a:off x="777240" y="5351526"/>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which reading to believe. Smoothed volume, an average of volume, is taught in Part 3.</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