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volume rises as price rises, falls on the dips: bullish volume action, the book says.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volume rises as price falls, falls on the bounces: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52890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291157"/>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83395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a:t>
            </a:r>
          </a:p>
          <a:p>
            <a:pPr algn="l">
              <a:lnSpc>
                <a:spcPct val="115000"/>
              </a:lnSpc>
              <a:spcBef>
                <a:spcPts val="0"/>
              </a:spcBef>
              <a:spcAft>
                <a:spcPts val="0"/>
              </a:spcAft>
            </a:pPr>
            <a:r>
              <a:rPr sz="15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p:txBody>
      </p:sp>
      <p:sp>
        <p:nvSpPr>
          <p:cNvPr id="15" name="Rectangle 14"/>
          <p:cNvSpPr/>
          <p:nvPr/>
        </p:nvSpPr>
        <p:spPr>
          <a:xfrm>
            <a:off x="7683669" y="2281537"/>
            <a:ext cx="2178614" cy="684560"/>
          </a:xfrm>
          <a:prstGeom prst="rect">
            <a:avLst/>
          </a:prstGeom>
          <a:noFill/>
          <a:ln w="44450">
            <a:solidFill>
              <a:srgbClr val="E09B00"/>
            </a:solidFill>
          </a:ln>
        </p:spPr>
        <p:txBody>
          <a:bodyPr rtlCol="0" anchor="ctr"/>
          <a:lstStyle/>
          <a:p>
            <a:pPr algn="ctr"/>
          </a:p>
        </p:txBody>
      </p:sp>
      <p:sp>
        <p:nvSpPr>
          <p:cNvPr id="16" name="Rectangle 15"/>
          <p:cNvSpPr/>
          <p:nvPr/>
        </p:nvSpPr>
        <p:spPr>
          <a:xfrm>
            <a:off x="7683669" y="4522816"/>
            <a:ext cx="2209485" cy="638484"/>
          </a:xfrm>
          <a:prstGeom prst="rect">
            <a:avLst/>
          </a:prstGeom>
          <a:noFill/>
          <a:ln w="44450">
            <a:solidFill>
              <a:srgbClr val="C62828"/>
            </a:solidFill>
          </a:ln>
        </p:spPr>
        <p:txBody>
          <a:bodyPr rtlCol="0" anchor="ctr"/>
          <a:lstStyle/>
          <a:p>
            <a:pPr algn="ctr"/>
          </a:p>
        </p:txBody>
      </p:sp>
      <p:sp>
        <p:nvSpPr>
          <p:cNvPr id="17" name="Oval 16"/>
          <p:cNvSpPr/>
          <p:nvPr/>
        </p:nvSpPr>
        <p:spPr>
          <a:xfrm>
            <a:off x="9706835" y="281065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37706" y="49334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766559" y="5430853"/>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t>
            </a:r>
            <a:r>
              <a:rPr sz="1800" b="1" i="0">
                <a:solidFill>
                  <a:srgbClr val="E09B00"/>
                </a:solidFill>
                <a:latin typeface="Arial"/>
              </a:rPr>
              <a:t>(1)</a:t>
            </a:r>
            <a:r>
              <a:rPr sz="1800" b="0" i="0">
                <a:solidFill>
                  <a:srgbClr val="1A1A1A"/>
                </a:solidFill>
                <a:latin typeface="Arial"/>
              </a:rPr>
              <a:t> about 260 in 2001 to 1,900 in 2011 as volume expands </a:t>
            </a:r>
            <a:r>
              <a:rPr sz="1800" b="1" i="0">
                <a:solidFill>
                  <a:srgbClr val="C62828"/>
                </a:solidFill>
                <a:latin typeface="Arial"/>
              </a:rPr>
              <a:t>(2)</a:t>
            </a:r>
            <a:r>
              <a:rPr sz="1800" b="0" i="0">
                <a:solidFill>
                  <a:srgbClr val="1A1A1A"/>
                </a:solidFill>
                <a:latin typeface="Arial"/>
              </a:rPr>
              <a:t>: bullish. </a:t>
            </a:r>
            <a:r>
              <a:rPr sz="1800" b="1" i="0">
                <a:solidFill>
                  <a:srgbClr val="1F5FAD"/>
                </a:solidFill>
                <a:latin typeface="Arial"/>
              </a:rPr>
              <a:t>(3)</a:t>
            </a:r>
            <a:r>
              <a:rPr sz="1800" b="0" i="0">
                <a:solidFill>
                  <a:srgbClr val="1A1A1A"/>
                </a:solidFill>
                <a:latin typeface="Arial"/>
              </a:rPr>
              <a:t> Then to about 1,200 in 2013 as volume declines: bullish too.</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43915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02986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79211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33491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a:t>
            </a:r>
          </a:p>
          <a:p>
            <a:pPr algn="l">
              <a:lnSpc>
                <a:spcPct val="115000"/>
              </a:lnSpc>
              <a:spcBef>
                <a:spcPts val="0"/>
              </a:spcBef>
              <a:spcAft>
                <a:spcPts val="0"/>
              </a:spcAft>
            </a:pPr>
            <a:r>
              <a:rPr sz="15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p:txBody>
      </p:sp>
      <p:cxnSp>
        <p:nvCxnSpPr>
          <p:cNvPr id="15" name="Connector 14"/>
          <p:cNvCxnSpPr/>
          <p:nvPr/>
        </p:nvCxnSpPr>
        <p:spPr>
          <a:xfrm flipV="1">
            <a:off x="9256277" y="2387291"/>
            <a:ext cx="1557037" cy="1552416"/>
          </a:xfrm>
          <a:prstGeom prst="line">
            <a:avLst/>
          </a:prstGeom>
          <a:ln w="44450">
            <a:solidFill>
              <a:srgbClr val="E09B00"/>
            </a:solidFill>
            <a:tailEnd type="triangle" w="med" len="med"/>
          </a:ln>
        </p:spPr>
      </p:cxnSp>
      <p:sp>
        <p:nvSpPr>
          <p:cNvPr id="16" name="Rectangle 15"/>
          <p:cNvSpPr/>
          <p:nvPr/>
        </p:nvSpPr>
        <p:spPr>
          <a:xfrm>
            <a:off x="9233312" y="4070937"/>
            <a:ext cx="1524886" cy="494204"/>
          </a:xfrm>
          <a:prstGeom prst="rect">
            <a:avLst/>
          </a:prstGeom>
          <a:noFill/>
          <a:ln w="44450">
            <a:solidFill>
              <a:srgbClr val="C62828"/>
            </a:solidFill>
          </a:ln>
        </p:spPr>
        <p:txBody>
          <a:bodyPr rtlCol="0" anchor="ctr"/>
          <a:lstStyle/>
          <a:p>
            <a:pPr algn="ctr"/>
          </a:p>
        </p:txBody>
      </p:sp>
      <p:sp>
        <p:nvSpPr>
          <p:cNvPr id="17" name="Oval 16"/>
          <p:cNvSpPr/>
          <p:nvPr/>
        </p:nvSpPr>
        <p:spPr>
          <a:xfrm>
            <a:off x="10588256" y="2074574"/>
            <a:ext cx="486861" cy="603097"/>
          </a:xfrm>
          <a:prstGeom prst="ellipse">
            <a:avLst/>
          </a:prstGeom>
          <a:noFill/>
          <a:ln w="44450">
            <a:solidFill>
              <a:srgbClr val="1F5FAD"/>
            </a:solidFill>
          </a:ln>
        </p:spPr>
        <p:txBody>
          <a:bodyPr rtlCol="0" anchor="ctr"/>
          <a:lstStyle/>
          <a:p>
            <a:pPr algn="ctr"/>
          </a:p>
        </p:txBody>
      </p:sp>
      <p:sp>
        <p:nvSpPr>
          <p:cNvPr id="18" name="Oval 17"/>
          <p:cNvSpPr/>
          <p:nvPr/>
        </p:nvSpPr>
        <p:spPr>
          <a:xfrm>
            <a:off x="9100829" y="37842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602750" y="391548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32808" y="191912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93181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ours: PHP 40 to 46 as volume shrinks 4 to 2 million, dip to 44 as it grows to 3. Opposite ways: bearish volume, a potentially weak uptrend.</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ours: PHP 50 to 46 as volume shrinks 4 to 2 million, bounce to 48 as it grows to 3. Same way: bullish volume, a potentially bullish downtrend.</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5191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32813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2824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a:t>
            </a:r>
          </a:p>
          <a:p>
            <a:pPr algn="l">
              <a:lnSpc>
                <a:spcPct val="115000"/>
              </a:lnSpc>
              <a:spcBef>
                <a:spcPts val="0"/>
              </a:spcBef>
              <a:spcAft>
                <a:spcPts val="0"/>
              </a:spcAft>
            </a:pPr>
            <a:r>
              <a:rPr sz="15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p:txBody>
      </p:sp>
      <p:sp>
        <p:nvSpPr>
          <p:cNvPr id="14" name="Rectangle 13"/>
          <p:cNvSpPr/>
          <p:nvPr/>
        </p:nvSpPr>
        <p:spPr>
          <a:xfrm>
            <a:off x="7718950" y="2529873"/>
            <a:ext cx="2050720" cy="475797"/>
          </a:xfrm>
          <a:prstGeom prst="rect">
            <a:avLst/>
          </a:prstGeom>
          <a:noFill/>
          <a:ln w="44450">
            <a:solidFill>
              <a:srgbClr val="E09B00"/>
            </a:solidFill>
          </a:ln>
        </p:spPr>
        <p:txBody>
          <a:bodyPr rtlCol="0" anchor="ctr"/>
          <a:lstStyle/>
          <a:p>
            <a:pPr algn="ctr"/>
          </a:p>
        </p:txBody>
      </p:sp>
      <p:sp>
        <p:nvSpPr>
          <p:cNvPr id="15" name="Rectangle 14"/>
          <p:cNvSpPr/>
          <p:nvPr/>
        </p:nvSpPr>
        <p:spPr>
          <a:xfrm>
            <a:off x="7718950" y="4734948"/>
            <a:ext cx="2284458" cy="456109"/>
          </a:xfrm>
          <a:prstGeom prst="rect">
            <a:avLst/>
          </a:prstGeom>
          <a:noFill/>
          <a:ln w="44450">
            <a:solidFill>
              <a:srgbClr val="C62828"/>
            </a:solidFill>
          </a:ln>
        </p:spPr>
        <p:txBody>
          <a:bodyPr rtlCol="0" anchor="ctr"/>
          <a:lstStyle/>
          <a:p>
            <a:pPr algn="ctr"/>
          </a:p>
        </p:txBody>
      </p:sp>
      <p:sp>
        <p:nvSpPr>
          <p:cNvPr id="16" name="Oval 15"/>
          <p:cNvSpPr/>
          <p:nvPr/>
        </p:nvSpPr>
        <p:spPr>
          <a:xfrm>
            <a:off x="7563502" y="23744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847960" y="492404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766559" y="5421058"/>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next slide finds both on the book's own chart.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on one chart: Figure 6.6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Over the whole rise, volume expands: the trend is confirmed.</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The dips of periods 4 and 6, on falling volume: the book labels each bullish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confirmed uptrend with two bullish divergences inside it.</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Volume expands across the whole uptrend, and periods 4 and 6 are dips on falling volume, labelled bullish divergence by the book.</a:t>
            </a:r>
          </a:p>
        </p:txBody>
      </p:sp>
      <p:cxnSp>
        <p:nvCxnSpPr>
          <p:cNvPr id="14" name="Connector 13"/>
          <p:cNvCxnSpPr/>
          <p:nvPr/>
        </p:nvCxnSpPr>
        <p:spPr>
          <a:xfrm flipV="1">
            <a:off x="7304239" y="4216029"/>
            <a:ext cx="3444773" cy="85872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7148791" y="4919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the book labels the whole trend bullish volume and two of its dips bullish divergence.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a:t>
            </a:r>
            <a:r>
              <a:rPr sz="1700" b="1" i="0">
                <a:solidFill>
                  <a:srgbClr val="E09B00"/>
                </a:solidFill>
                <a:latin typeface="Arial"/>
              </a:rPr>
              <a:t>(1)</a:t>
            </a:r>
            <a:r>
              <a:rPr sz="1700" b="0" i="0">
                <a:solidFill>
                  <a:srgbClr val="1A1A1A"/>
                </a:solidFill>
                <a:latin typeface="Arial"/>
              </a:rPr>
              <a:t>: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132319" y="2157984"/>
            <a:ext cx="4282135" cy="2833630"/>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251191" y="2276856"/>
            <a:ext cx="4044391" cy="2595886"/>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251191" y="2276856"/>
            <a:ext cx="40443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525511" y="2551175"/>
            <a:ext cx="3495751" cy="21386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a:t>
            </a:r>
          </a:p>
          <a:p>
            <a:pPr algn="l">
              <a:lnSpc>
                <a:spcPct val="115000"/>
              </a:lnSpc>
              <a:spcBef>
                <a:spcPts val="0"/>
              </a:spcBef>
              <a:spcAft>
                <a:spcPts val="0"/>
              </a:spcAft>
            </a:pPr>
            <a:r>
              <a:rPr sz="11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p:txBody>
      </p:sp>
      <p:sp>
        <p:nvSpPr>
          <p:cNvPr id="18" name="Rectangle 17"/>
          <p:cNvSpPr/>
          <p:nvPr/>
        </p:nvSpPr>
        <p:spPr>
          <a:xfrm>
            <a:off x="9657604" y="2295027"/>
            <a:ext cx="841233" cy="2206503"/>
          </a:xfrm>
          <a:prstGeom prst="rect">
            <a:avLst/>
          </a:prstGeom>
          <a:noFill/>
          <a:ln w="44450">
            <a:solidFill>
              <a:srgbClr val="E09B00"/>
            </a:solidFill>
          </a:ln>
        </p:spPr>
        <p:txBody>
          <a:bodyPr rtlCol="0" anchor="ctr"/>
          <a:lstStyle/>
          <a:p>
            <a:pPr algn="ctr"/>
          </a:p>
        </p:txBody>
      </p:sp>
      <p:sp>
        <p:nvSpPr>
          <p:cNvPr id="19" name="Oval 18"/>
          <p:cNvSpPr/>
          <p:nvPr/>
        </p:nvSpPr>
        <p:spPr>
          <a:xfrm>
            <a:off x="9502156" y="213957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132319" y="5083054"/>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PHP 46 to 50 as volume falls 3 to 1 million: fewer will buy higher. A potential downside reversal.</a:t>
            </a:r>
          </a:p>
          <a:p>
            <a:pPr algn="l">
              <a:lnSpc>
                <a:spcPct val="118000"/>
              </a:lnSpc>
              <a:spcBef>
                <a:spcPts val="0"/>
              </a:spcBef>
              <a:spcAft>
                <a:spcPts val="1300"/>
              </a:spcAft>
            </a:pPr>
            <a:r>
              <a:rPr sz="2100" b="0" i="0">
                <a:solidFill>
                  <a:srgbClr val="1A1A1A"/>
                </a:solidFill>
                <a:latin typeface="Arial"/>
              </a:rPr>
              <a:t>Bullish or bearish confirmation, volume rising with the move: more are taking part. A potential continuation.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divergence can occur: the book and its figure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bullish divergence can only occur in a downtrend, bearish only in an uptrend (p.176).</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Yet on Figure 6.6, price rises from about 42 to about 120, the span on the right: an uptrend.</a:t>
            </a:r>
          </a:p>
          <a:p>
            <a:pPr algn="l">
              <a:lnSpc>
                <a:spcPct val="105000"/>
              </a:lnSpc>
              <a:spcBef>
                <a:spcPts val="0"/>
              </a:spcBef>
              <a:spcAft>
                <a:spcPts val="1100"/>
              </a:spcAft>
            </a:pPr>
            <a:r>
              <a:rPr sz="1800" b="0" i="0">
                <a:solidFill>
                  <a:srgbClr val="1A1A1A"/>
                </a:solidFill>
                <a:latin typeface="Arial"/>
              </a:rPr>
              <a:t>Inside it, the book labels the dips of periods 4 </a:t>
            </a:r>
            <a:r>
              <a:rPr sz="1800" b="1" i="0">
                <a:solidFill>
                  <a:srgbClr val="C62828"/>
                </a:solidFill>
                <a:latin typeface="Arial"/>
              </a:rPr>
              <a:t>(2)</a:t>
            </a:r>
            <a:r>
              <a:rPr sz="1800" b="0" i="0">
                <a:solidFill>
                  <a:srgbClr val="1A1A1A"/>
                </a:solidFill>
                <a:latin typeface="Arial"/>
              </a:rPr>
              <a:t> and 6 </a:t>
            </a:r>
            <a:r>
              <a:rPr sz="1800" b="1" i="0">
                <a:solidFill>
                  <a:srgbClr val="1F5FAD"/>
                </a:solidFill>
                <a:latin typeface="Arial"/>
              </a:rPr>
              <a:t>(3)</a:t>
            </a:r>
            <a:r>
              <a:rPr sz="1800" b="0" i="0">
                <a:solidFill>
                  <a:srgbClr val="1A1A1A"/>
                </a:solidFill>
                <a:latin typeface="Arial"/>
              </a:rPr>
              <a:t>, price and volume falling together, bullish divergence.</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Our reading: the p.178 summary applies to any stretch, so a dip inside an uptrend can be bullish divergence.</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rising from about 42 to about 120, split into ten numbered periods. Periods 4 and 6 are dips on falling volume inside that uptrend, labelled bullish divergence by the book.</a:t>
            </a:r>
          </a:p>
        </p:txBody>
      </p:sp>
      <p:cxnSp>
        <p:nvCxnSpPr>
          <p:cNvPr id="14" name="Connector 13"/>
          <p:cNvCxnSpPr/>
          <p:nvPr/>
        </p:nvCxnSpPr>
        <p:spPr>
          <a:xfrm flipV="1">
            <a:off x="10997035" y="2291299"/>
            <a:ext cx="0" cy="157926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10841587" y="387962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pp.176-177 for where each can occur, and Figure 6.6 (p.178). Our reading is said to be ours.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a:t>
            </a:r>
            <a:r>
              <a:rPr sz="1700" b="1" i="0">
                <a:solidFill>
                  <a:srgbClr val="C62828"/>
                </a:solidFill>
                <a:latin typeface="Arial"/>
              </a:rPr>
              <a:t>(2)</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volume falls as price falls: volume falling, divergence; with price, bullish. Fewer are willing to sell lower.</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2070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693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121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6.5</a:t>
            </a:r>
          </a:p>
          <a:p>
            <a:pPr algn="l">
              <a:lnSpc>
                <a:spcPct val="115000"/>
              </a:lnSpc>
              <a:spcBef>
                <a:spcPts val="0"/>
              </a:spcBef>
              <a:spcAft>
                <a:spcPts val="0"/>
              </a:spcAft>
            </a:pPr>
            <a:r>
              <a:rPr sz="15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p:txBody>
      </p:sp>
      <p:sp>
        <p:nvSpPr>
          <p:cNvPr id="15" name="Rectangle 14"/>
          <p:cNvSpPr/>
          <p:nvPr/>
        </p:nvSpPr>
        <p:spPr>
          <a:xfrm>
            <a:off x="8816187" y="2642024"/>
            <a:ext cx="2261208" cy="1446066"/>
          </a:xfrm>
          <a:prstGeom prst="rect">
            <a:avLst/>
          </a:prstGeom>
          <a:noFill/>
          <a:ln w="44450">
            <a:solidFill>
              <a:srgbClr val="E09B00"/>
            </a:solidFill>
          </a:ln>
        </p:spPr>
        <p:txBody>
          <a:bodyPr rtlCol="0" anchor="ctr"/>
          <a:lstStyle/>
          <a:p>
            <a:pPr algn="ctr"/>
          </a:p>
        </p:txBody>
      </p:sp>
      <p:sp>
        <p:nvSpPr>
          <p:cNvPr id="16" name="Rectangle 15"/>
          <p:cNvSpPr/>
          <p:nvPr/>
        </p:nvSpPr>
        <p:spPr>
          <a:xfrm>
            <a:off x="8836022" y="4111845"/>
            <a:ext cx="971923" cy="656223"/>
          </a:xfrm>
          <a:prstGeom prst="rect">
            <a:avLst/>
          </a:prstGeom>
          <a:noFill/>
          <a:ln w="44450">
            <a:solidFill>
              <a:srgbClr val="C62828"/>
            </a:solidFill>
          </a:ln>
        </p:spPr>
        <p:txBody>
          <a:bodyPr rtlCol="0" anchor="ctr"/>
          <a:lstStyle/>
          <a:p>
            <a:pPr algn="ctr"/>
          </a:p>
        </p:txBody>
      </p:sp>
      <p:sp>
        <p:nvSpPr>
          <p:cNvPr id="17" name="Rectangle 16"/>
          <p:cNvSpPr/>
          <p:nvPr/>
        </p:nvSpPr>
        <p:spPr>
          <a:xfrm>
            <a:off x="10006297" y="4236558"/>
            <a:ext cx="1056222" cy="558235"/>
          </a:xfrm>
          <a:prstGeom prst="rect">
            <a:avLst/>
          </a:prstGeom>
          <a:noFill/>
          <a:ln w="44450">
            <a:solidFill>
              <a:srgbClr val="1F5FAD"/>
            </a:solidFill>
          </a:ln>
        </p:spPr>
        <p:txBody>
          <a:bodyPr rtlCol="0" anchor="ctr"/>
          <a:lstStyle/>
          <a:p>
            <a:pPr algn="ctr"/>
          </a:p>
        </p:txBody>
      </p:sp>
      <p:sp>
        <p:nvSpPr>
          <p:cNvPr id="18" name="Oval 17"/>
          <p:cNvSpPr/>
          <p:nvPr/>
        </p:nvSpPr>
        <p:spPr>
          <a:xfrm>
            <a:off x="8660739" y="2486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80574" y="46126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907071" y="46393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0903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29</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a:t>
            </a:r>
            <a:r>
              <a:rPr sz="1700" b="1" i="0">
                <a:solidFill>
                  <a:srgbClr val="E09B00"/>
                </a:solidFill>
                <a:latin typeface="Arial"/>
              </a:rPr>
              <a:t>(1)</a:t>
            </a:r>
            <a:r>
              <a:rPr sz="1700" b="0" i="0">
                <a:solidFill>
                  <a:srgbClr val="1A1A1A"/>
                </a:solidFill>
                <a:latin typeface="Arial"/>
              </a:rPr>
              <a:t>, 7 and 9: price and volume rise, bullish confirmation. 4 </a:t>
            </a:r>
            <a:r>
              <a:rPr sz="1700" b="1" i="0">
                <a:solidFill>
                  <a:srgbClr val="C62828"/>
                </a:solidFill>
                <a:latin typeface="Arial"/>
              </a:rPr>
              <a:t>(2)</a:t>
            </a:r>
            <a:r>
              <a:rPr sz="1700" b="0" i="0">
                <a:solidFill>
                  <a:srgbClr val="1A1A1A"/>
                </a:solidFill>
                <a:latin typeface="Arial"/>
              </a:rPr>
              <a:t> and 6 </a:t>
            </a:r>
            <a:r>
              <a:rPr sz="1700" b="1" i="0">
                <a:solidFill>
                  <a:srgbClr val="1F5FAD"/>
                </a:solidFill>
                <a:latin typeface="Arial"/>
              </a:rPr>
              <a:t>(3)</a:t>
            </a:r>
            <a:r>
              <a:rPr sz="1700" b="0" i="0">
                <a:solidFill>
                  <a:srgbClr val="1A1A1A"/>
                </a:solidFill>
                <a:latin typeface="Arial"/>
              </a:rPr>
              <a:t>: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a:t>
            </a:r>
            <a:r>
              <a:rPr sz="1700" b="1" i="0">
                <a:solidFill>
                  <a:srgbClr val="007A33"/>
                </a:solidFill>
                <a:latin typeface="Arial"/>
              </a:rPr>
              <a:t>(4)</a:t>
            </a:r>
            <a:r>
              <a:rPr sz="1700" b="0" i="0">
                <a:solidFill>
                  <a:srgbClr val="1A1A1A"/>
                </a:solidFill>
                <a:latin typeface="Arial"/>
              </a:rPr>
              <a:t>,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154990" y="1810512"/>
            <a:ext cx="5139513"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73862" y="1929384"/>
            <a:ext cx="4901769"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273862" y="1929384"/>
            <a:ext cx="4901769"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548182" y="2203703"/>
            <a:ext cx="435312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p:txBody>
      </p:sp>
      <p:sp>
        <p:nvSpPr>
          <p:cNvPr id="15" name="Rectangle 14"/>
          <p:cNvSpPr/>
          <p:nvPr/>
        </p:nvSpPr>
        <p:spPr>
          <a:xfrm>
            <a:off x="8391427" y="2308603"/>
            <a:ext cx="504882" cy="3051316"/>
          </a:xfrm>
          <a:prstGeom prst="rect">
            <a:avLst/>
          </a:prstGeom>
          <a:noFill/>
          <a:ln w="44450">
            <a:solidFill>
              <a:srgbClr val="E09B00"/>
            </a:solidFill>
          </a:ln>
        </p:spPr>
        <p:txBody>
          <a:bodyPr rtlCol="0" anchor="ctr"/>
          <a:lstStyle/>
          <a:p>
            <a:pPr algn="ctr"/>
          </a:p>
        </p:txBody>
      </p:sp>
      <p:sp>
        <p:nvSpPr>
          <p:cNvPr id="16" name="Oval 15"/>
          <p:cNvSpPr/>
          <p:nvPr/>
        </p:nvSpPr>
        <p:spPr>
          <a:xfrm>
            <a:off x="8832586" y="2431499"/>
            <a:ext cx="372534" cy="428378"/>
          </a:xfrm>
          <a:prstGeom prst="ellipse">
            <a:avLst/>
          </a:prstGeom>
          <a:noFill/>
          <a:ln w="44450">
            <a:solidFill>
              <a:srgbClr val="C62828"/>
            </a:solidFill>
          </a:ln>
        </p:spPr>
        <p:txBody>
          <a:bodyPr rtlCol="0" anchor="ctr"/>
          <a:lstStyle/>
          <a:p>
            <a:pPr algn="ctr"/>
          </a:p>
        </p:txBody>
      </p:sp>
      <p:sp>
        <p:nvSpPr>
          <p:cNvPr id="17" name="Oval 16"/>
          <p:cNvSpPr/>
          <p:nvPr/>
        </p:nvSpPr>
        <p:spPr>
          <a:xfrm>
            <a:off x="9263942" y="2614086"/>
            <a:ext cx="328418" cy="589897"/>
          </a:xfrm>
          <a:prstGeom prst="ellipse">
            <a:avLst/>
          </a:prstGeom>
          <a:noFill/>
          <a:ln w="44450">
            <a:solidFill>
              <a:srgbClr val="1F5FAD"/>
            </a:solidFill>
          </a:ln>
        </p:spPr>
        <p:txBody>
          <a:bodyPr rtlCol="0" anchor="ctr"/>
          <a:lstStyle/>
          <a:p>
            <a:pPr algn="ctr"/>
          </a:p>
        </p:txBody>
      </p:sp>
      <p:sp>
        <p:nvSpPr>
          <p:cNvPr id="18" name="Rectangle 17"/>
          <p:cNvSpPr/>
          <p:nvPr/>
        </p:nvSpPr>
        <p:spPr>
          <a:xfrm>
            <a:off x="7347350" y="2982772"/>
            <a:ext cx="1014666" cy="2377147"/>
          </a:xfrm>
          <a:prstGeom prst="rect">
            <a:avLst/>
          </a:prstGeom>
          <a:noFill/>
          <a:ln w="44450">
            <a:solidFill>
              <a:srgbClr val="007A33"/>
            </a:solidFill>
          </a:ln>
        </p:spPr>
        <p:txBody>
          <a:bodyPr rtlCol="0" anchor="ctr"/>
          <a:lstStyle/>
          <a:p>
            <a:pPr algn="ctr"/>
          </a:p>
        </p:txBody>
      </p:sp>
      <p:sp>
        <p:nvSpPr>
          <p:cNvPr id="19" name="Oval 18"/>
          <p:cNvSpPr/>
          <p:nvPr/>
        </p:nvSpPr>
        <p:spPr>
          <a:xfrm>
            <a:off x="8740861" y="520447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677138" y="227605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9108494" y="24586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7191902" y="520447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Non-price-based, plain volume included: bullish if it moves with price, bearish if against. Divergence if it falls, confirmation if it rises.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a:t>
            </a:r>
            <a:r>
              <a:rPr sz="1700" b="1" i="0">
                <a:solidFill>
                  <a:srgbClr val="E09B00"/>
                </a:solidFill>
                <a:latin typeface="Arial"/>
              </a:rPr>
              <a:t>(1)</a:t>
            </a:r>
            <a:r>
              <a:rPr sz="1700" b="0" i="0">
                <a:solidFill>
                  <a:srgbClr val="1A1A1A"/>
                </a:solidFill>
                <a:latin typeface="Arial"/>
              </a:rPr>
              <a:t> plain volume, right </a:t>
            </a:r>
            <a:r>
              <a:rPr sz="1700" b="1" i="0">
                <a:solidFill>
                  <a:srgbClr val="C62828"/>
                </a:solidFill>
                <a:latin typeface="Arial"/>
              </a:rPr>
              <a:t>(2)</a:t>
            </a:r>
            <a:r>
              <a:rPr sz="1700" b="0" i="0">
                <a:solidFill>
                  <a:srgbClr val="1A1A1A"/>
                </a:solidFill>
                <a:latin typeface="Arial"/>
              </a:rPr>
              <a:t> price-based. Two arrows flip, </a:t>
            </a:r>
            <a:r>
              <a:rPr sz="1700" b="1" i="0">
                <a:solidFill>
                  <a:srgbClr val="1F5FAD"/>
                </a:solidFill>
                <a:latin typeface="Arial"/>
              </a:rPr>
              <a:t>(3)</a:t>
            </a:r>
            <a:r>
              <a:rPr sz="1700" b="0" i="0">
                <a:solidFill>
                  <a:srgbClr val="1A1A1A"/>
                </a:solidFill>
                <a:latin typeface="Arial"/>
              </a:rPr>
              <a:t> and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766559" y="1810512"/>
            <a:ext cx="4647894" cy="35965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3588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9016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p:txBody>
      </p:sp>
      <p:sp>
        <p:nvSpPr>
          <p:cNvPr id="15" name="Rectangle 14"/>
          <p:cNvSpPr/>
          <p:nvPr/>
        </p:nvSpPr>
        <p:spPr>
          <a:xfrm>
            <a:off x="6951584" y="2006637"/>
            <a:ext cx="2125692" cy="3234558"/>
          </a:xfrm>
          <a:prstGeom prst="rect">
            <a:avLst/>
          </a:prstGeom>
          <a:noFill/>
          <a:ln w="44450">
            <a:solidFill>
              <a:srgbClr val="E09B00"/>
            </a:solidFill>
          </a:ln>
        </p:spPr>
        <p:txBody>
          <a:bodyPr rtlCol="0" anchor="ctr"/>
          <a:lstStyle/>
          <a:p>
            <a:pPr algn="ctr"/>
          </a:p>
        </p:txBody>
      </p:sp>
      <p:sp>
        <p:nvSpPr>
          <p:cNvPr id="16" name="Rectangle 15"/>
          <p:cNvSpPr/>
          <p:nvPr/>
        </p:nvSpPr>
        <p:spPr>
          <a:xfrm>
            <a:off x="9130198" y="2006637"/>
            <a:ext cx="2112462" cy="3234558"/>
          </a:xfrm>
          <a:prstGeom prst="rect">
            <a:avLst/>
          </a:prstGeom>
          <a:noFill/>
          <a:ln w="44450">
            <a:solidFill>
              <a:srgbClr val="C62828"/>
            </a:solidFill>
          </a:ln>
        </p:spPr>
        <p:txBody>
          <a:bodyPr rtlCol="0" anchor="ctr"/>
          <a:lstStyle/>
          <a:p>
            <a:pPr algn="ctr"/>
          </a:p>
        </p:txBody>
      </p:sp>
      <p:sp>
        <p:nvSpPr>
          <p:cNvPr id="17" name="Oval 16"/>
          <p:cNvSpPr/>
          <p:nvPr/>
        </p:nvSpPr>
        <p:spPr>
          <a:xfrm>
            <a:off x="10413552" y="2836269"/>
            <a:ext cx="771776" cy="470236"/>
          </a:xfrm>
          <a:prstGeom prst="ellipse">
            <a:avLst/>
          </a:prstGeom>
          <a:noFill/>
          <a:ln w="44450">
            <a:solidFill>
              <a:srgbClr val="1F5FAD"/>
            </a:solidFill>
          </a:ln>
        </p:spPr>
        <p:txBody>
          <a:bodyPr rtlCol="0" anchor="ctr"/>
          <a:lstStyle/>
          <a:p>
            <a:pPr algn="ctr"/>
          </a:p>
        </p:txBody>
      </p:sp>
      <p:sp>
        <p:nvSpPr>
          <p:cNvPr id="18" name="Oval 17"/>
          <p:cNvSpPr/>
          <p:nvPr/>
        </p:nvSpPr>
        <p:spPr>
          <a:xfrm>
            <a:off x="10409142" y="4354463"/>
            <a:ext cx="807057" cy="641537"/>
          </a:xfrm>
          <a:prstGeom prst="ellipse">
            <a:avLst/>
          </a:prstGeom>
          <a:noFill/>
          <a:ln w="44450">
            <a:solidFill>
              <a:srgbClr val="007A33"/>
            </a:solidFill>
          </a:ln>
        </p:spPr>
        <p:txBody>
          <a:bodyPr rtlCol="0" anchor="ctr"/>
          <a:lstStyle/>
          <a:p>
            <a:pPr algn="ctr"/>
          </a:p>
        </p:txBody>
      </p:sp>
      <p:sp>
        <p:nvSpPr>
          <p:cNvPr id="19" name="Oval 18"/>
          <p:cNvSpPr/>
          <p:nvPr/>
        </p:nvSpPr>
        <p:spPr>
          <a:xfrm>
            <a:off x="6796136" y="50857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974750" y="50857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1029881" y="31510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11060752" y="419901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766559" y="549853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the four names on both kinds. The prices and the volume and OBV numbers are ours.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four on Figure 6.7's arrows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27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and </a:t>
            </a:r>
            <a:r>
              <a:rPr sz="1800" b="1" i="0">
                <a:solidFill>
                  <a:srgbClr val="E09B00"/>
                </a:solidFill>
                <a:latin typeface="Arial"/>
              </a:rPr>
              <a:t>(2)</a:t>
            </a:r>
            <a:r>
              <a:rPr sz="1800" b="0" i="0">
                <a:solidFill>
                  <a:srgbClr val="1A1A1A"/>
                </a:solidFill>
                <a:latin typeface="Arial"/>
              </a:rPr>
              <a:t> Bullish confirmation, price rising: the volume arrows match on both kinds.</a:t>
            </a:r>
          </a:p>
          <a:p>
            <a:pPr algn="l">
              <a:lnSpc>
                <a:spcPct val="105000"/>
              </a:lnSpc>
              <a:spcBef>
                <a:spcPts val="0"/>
              </a:spcBef>
              <a:spcAft>
                <a:spcPts val="1100"/>
              </a:spcAft>
            </a:pPr>
            <a:r>
              <a:rPr sz="1800" b="1" i="0">
                <a:solidFill>
                  <a:srgbClr val="C62828"/>
                </a:solidFill>
                <a:latin typeface="Arial"/>
              </a:rPr>
              <a:t>(3)</a:t>
            </a:r>
            <a:r>
              <a:rPr sz="1800" b="0" i="0">
                <a:solidFill>
                  <a:srgbClr val="1A1A1A"/>
                </a:solidFill>
                <a:latin typeface="Arial"/>
              </a:rPr>
              <a:t> and </a:t>
            </a:r>
            <a:r>
              <a:rPr sz="1800" b="1" i="0">
                <a:solidFill>
                  <a:srgbClr val="C62828"/>
                </a:solidFill>
                <a:latin typeface="Arial"/>
              </a:rPr>
              <a:t>(4)</a:t>
            </a:r>
            <a:r>
              <a:rPr sz="1800" b="0" i="0">
                <a:solidFill>
                  <a:srgbClr val="1A1A1A"/>
                </a:solidFill>
                <a:latin typeface="Arial"/>
              </a:rPr>
              <a:t> Bullish divergence: plain volume falls with price; the price-based arrow rises.</a:t>
            </a:r>
          </a:p>
          <a:p>
            <a:pPr algn="l">
              <a:lnSpc>
                <a:spcPct val="105000"/>
              </a:lnSpc>
              <a:spcBef>
                <a:spcPts val="0"/>
              </a:spcBef>
              <a:spcAft>
                <a:spcPts val="1100"/>
              </a:spcAft>
            </a:pPr>
            <a:r>
              <a:rPr sz="1800" b="1" i="0">
                <a:solidFill>
                  <a:srgbClr val="1F5FAD"/>
                </a:solidFill>
                <a:latin typeface="Arial"/>
              </a:rPr>
              <a:t>(5)</a:t>
            </a:r>
            <a:r>
              <a:rPr sz="1800" b="0" i="0">
                <a:solidFill>
                  <a:srgbClr val="1A1A1A"/>
                </a:solidFill>
                <a:latin typeface="Arial"/>
              </a:rPr>
              <a:t> and </a:t>
            </a:r>
            <a:r>
              <a:rPr sz="1800" b="1" i="0">
                <a:solidFill>
                  <a:srgbClr val="1F5FAD"/>
                </a:solidFill>
                <a:latin typeface="Arial"/>
              </a:rPr>
              <a:t>(6)</a:t>
            </a:r>
            <a:r>
              <a:rPr sz="1800" b="0" i="0">
                <a:solidFill>
                  <a:srgbClr val="1A1A1A"/>
                </a:solidFill>
                <a:latin typeface="Arial"/>
              </a:rPr>
              <a:t> Bearish confirmation: plain volume rises; the price-based arrow falls with price.</a:t>
            </a:r>
          </a:p>
        </p:txBody>
      </p:sp>
      <p:sp>
        <p:nvSpPr>
          <p:cNvPr id="8" name="Rectangle 7"/>
          <p:cNvSpPr/>
          <p:nvPr/>
        </p:nvSpPr>
        <p:spPr>
          <a:xfrm>
            <a:off x="777240" y="4389120"/>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19379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the two price-falling cases flip.</a:t>
            </a:r>
          </a:p>
        </p:txBody>
      </p:sp>
      <p:sp>
        <p:nvSpPr>
          <p:cNvPr id="10" name="Rectangle 9"/>
          <p:cNvSpPr/>
          <p:nvPr/>
        </p:nvSpPr>
        <p:spPr>
          <a:xfrm>
            <a:off x="6583679" y="1810512"/>
            <a:ext cx="4830775" cy="37358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4981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30409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With price rising the two kinds of oscillator match; with price falling, in bullish divergence and bearish confirmation, the price-based volume arrow points the other way.</a:t>
            </a:r>
          </a:p>
        </p:txBody>
      </p:sp>
      <p:sp>
        <p:nvSpPr>
          <p:cNvPr id="14" name="Rectangle 13"/>
          <p:cNvSpPr/>
          <p:nvPr/>
        </p:nvSpPr>
        <p:spPr>
          <a:xfrm>
            <a:off x="6748482" y="3748406"/>
            <a:ext cx="987501" cy="1294304"/>
          </a:xfrm>
          <a:prstGeom prst="rect">
            <a:avLst/>
          </a:prstGeom>
          <a:noFill/>
          <a:ln w="44450">
            <a:solidFill>
              <a:srgbClr val="E09B00"/>
            </a:solidFill>
          </a:ln>
        </p:spPr>
        <p:txBody>
          <a:bodyPr rtlCol="0" anchor="ctr"/>
          <a:lstStyle/>
          <a:p>
            <a:pPr algn="ctr"/>
          </a:p>
        </p:txBody>
      </p:sp>
      <p:sp>
        <p:nvSpPr>
          <p:cNvPr id="15" name="Rectangle 14"/>
          <p:cNvSpPr/>
          <p:nvPr/>
        </p:nvSpPr>
        <p:spPr>
          <a:xfrm>
            <a:off x="9067962" y="3748406"/>
            <a:ext cx="964536" cy="1294304"/>
          </a:xfrm>
          <a:prstGeom prst="rect">
            <a:avLst/>
          </a:prstGeom>
          <a:noFill/>
          <a:ln w="44450">
            <a:solidFill>
              <a:srgbClr val="E09B00"/>
            </a:solidFill>
          </a:ln>
        </p:spPr>
        <p:txBody>
          <a:bodyPr rtlCol="0" anchor="ctr"/>
          <a:lstStyle/>
          <a:p>
            <a:pPr algn="ctr"/>
          </a:p>
        </p:txBody>
      </p:sp>
      <p:sp>
        <p:nvSpPr>
          <p:cNvPr id="16" name="Rectangle 15"/>
          <p:cNvSpPr/>
          <p:nvPr/>
        </p:nvSpPr>
        <p:spPr>
          <a:xfrm>
            <a:off x="8080461" y="1999346"/>
            <a:ext cx="877268" cy="1259323"/>
          </a:xfrm>
          <a:prstGeom prst="rect">
            <a:avLst/>
          </a:prstGeom>
          <a:noFill/>
          <a:ln w="44450">
            <a:solidFill>
              <a:srgbClr val="C62828"/>
            </a:solidFill>
          </a:ln>
        </p:spPr>
        <p:txBody>
          <a:bodyPr rtlCol="0" anchor="ctr"/>
          <a:lstStyle/>
          <a:p>
            <a:pPr algn="ctr"/>
          </a:p>
        </p:txBody>
      </p:sp>
      <p:sp>
        <p:nvSpPr>
          <p:cNvPr id="17" name="Rectangle 16"/>
          <p:cNvSpPr/>
          <p:nvPr/>
        </p:nvSpPr>
        <p:spPr>
          <a:xfrm>
            <a:off x="10376976" y="1999346"/>
            <a:ext cx="891048" cy="1259323"/>
          </a:xfrm>
          <a:prstGeom prst="rect">
            <a:avLst/>
          </a:prstGeom>
          <a:noFill/>
          <a:ln w="44450">
            <a:solidFill>
              <a:srgbClr val="C62828"/>
            </a:solidFill>
          </a:ln>
        </p:spPr>
        <p:txBody>
          <a:bodyPr rtlCol="0" anchor="ctr"/>
          <a:lstStyle/>
          <a:p>
            <a:pPr algn="ctr"/>
          </a:p>
        </p:txBody>
      </p:sp>
      <p:sp>
        <p:nvSpPr>
          <p:cNvPr id="18" name="Rectangle 17"/>
          <p:cNvSpPr/>
          <p:nvPr/>
        </p:nvSpPr>
        <p:spPr>
          <a:xfrm>
            <a:off x="8080461" y="3748406"/>
            <a:ext cx="877268" cy="1294304"/>
          </a:xfrm>
          <a:prstGeom prst="rect">
            <a:avLst/>
          </a:prstGeom>
          <a:noFill/>
          <a:ln w="44450">
            <a:solidFill>
              <a:srgbClr val="1F5FAD"/>
            </a:solidFill>
          </a:ln>
        </p:spPr>
        <p:txBody>
          <a:bodyPr rtlCol="0" anchor="ctr"/>
          <a:lstStyle/>
          <a:p>
            <a:pPr algn="ctr"/>
          </a:p>
        </p:txBody>
      </p:sp>
      <p:sp>
        <p:nvSpPr>
          <p:cNvPr id="19" name="Rectangle 18"/>
          <p:cNvSpPr/>
          <p:nvPr/>
        </p:nvSpPr>
        <p:spPr>
          <a:xfrm>
            <a:off x="10376976" y="3748406"/>
            <a:ext cx="891048" cy="1294304"/>
          </a:xfrm>
          <a:prstGeom prst="rect">
            <a:avLst/>
          </a:prstGeom>
          <a:noFill/>
          <a:ln w="44450">
            <a:solidFill>
              <a:srgbClr val="1F5FAD"/>
            </a:solidFill>
          </a:ln>
        </p:spPr>
        <p:txBody>
          <a:bodyPr rtlCol="0" anchor="ctr"/>
          <a:lstStyle/>
          <a:p>
            <a:pPr algn="ctr"/>
          </a:p>
        </p:txBody>
      </p:sp>
      <p:sp>
        <p:nvSpPr>
          <p:cNvPr id="20" name="Oval 19"/>
          <p:cNvSpPr/>
          <p:nvPr/>
        </p:nvSpPr>
        <p:spPr>
          <a:xfrm>
            <a:off x="659303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91251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7925013"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10221528"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8802282"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Oval 24"/>
          <p:cNvSpPr/>
          <p:nvPr/>
        </p:nvSpPr>
        <p:spPr>
          <a:xfrm>
            <a:off x="11112576"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6" name="TextBox 25"/>
          <p:cNvSpPr txBox="1"/>
          <p:nvPr/>
        </p:nvSpPr>
        <p:spPr>
          <a:xfrm>
            <a:off x="6583679" y="56378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7" name="TextBox 2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where the two kinds' arrows match and where they differ.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price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trust rises from about 129 to 133, October to January.</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Volume and smoothed volume, a 20-day average, non-price-based: falling, against price: bearish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Plain volume falling under a rising price: bearish divergence.</a:t>
            </a:r>
          </a:p>
        </p:txBody>
      </p:sp>
      <p:sp>
        <p:nvSpPr>
          <p:cNvPr id="10" name="TextBox 9"/>
          <p:cNvSpPr txBox="1"/>
          <p:nvPr/>
        </p:nvSpPr>
        <p:spPr>
          <a:xfrm>
            <a:off x="777240" y="508406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Smoothed volume: Part 3. The figure's two lower panels come next.</a:t>
            </a:r>
          </a:p>
        </p:txBody>
      </p:sp>
      <p:sp>
        <p:nvSpPr>
          <p:cNvPr id="11" name="Rectangle 10"/>
          <p:cNvSpPr/>
          <p:nvPr/>
        </p:nvSpPr>
        <p:spPr>
          <a:xfrm>
            <a:off x="6583679" y="1810512"/>
            <a:ext cx="4830775" cy="338358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314584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6886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top of Figure 6.8: a daily chart of the Currency Shares Euro Trust rising from about 129 to 133, and under it volume with a smoothed line, labelled bearish divergence.</a:t>
            </a:r>
          </a:p>
        </p:txBody>
      </p:sp>
      <p:cxnSp>
        <p:nvCxnSpPr>
          <p:cNvPr id="15" name="Connector 14"/>
          <p:cNvCxnSpPr/>
          <p:nvPr/>
        </p:nvCxnSpPr>
        <p:spPr>
          <a:xfrm flipV="1">
            <a:off x="8291740" y="2580573"/>
            <a:ext cx="1873957" cy="311438"/>
          </a:xfrm>
          <a:prstGeom prst="line">
            <a:avLst/>
          </a:prstGeom>
          <a:ln w="44450">
            <a:solidFill>
              <a:srgbClr val="E09B00"/>
            </a:solidFill>
            <a:tailEnd type="triangle" w="med" len="med"/>
          </a:ln>
        </p:spPr>
      </p:cxnSp>
      <p:sp>
        <p:nvSpPr>
          <p:cNvPr id="16" name="Rectangle 15"/>
          <p:cNvSpPr/>
          <p:nvPr/>
        </p:nvSpPr>
        <p:spPr>
          <a:xfrm>
            <a:off x="6734703" y="4096868"/>
            <a:ext cx="4528728" cy="962627"/>
          </a:xfrm>
          <a:prstGeom prst="rect">
            <a:avLst/>
          </a:prstGeom>
          <a:noFill/>
          <a:ln w="44450">
            <a:solidFill>
              <a:srgbClr val="C62828"/>
            </a:solidFill>
          </a:ln>
        </p:spPr>
        <p:txBody>
          <a:bodyPr rtlCol="0" anchor="ctr"/>
          <a:lstStyle/>
          <a:p>
            <a:pPr algn="ctr"/>
          </a:p>
        </p:txBody>
      </p:sp>
      <p:sp>
        <p:nvSpPr>
          <p:cNvPr id="17" name="Oval 16"/>
          <p:cNvSpPr/>
          <p:nvPr/>
        </p:nvSpPr>
        <p:spPr>
          <a:xfrm>
            <a:off x="8136292" y="27365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579255" y="394142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583679" y="528553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Shown: its price and volume panels.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the PVO and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29 of 29</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same months, the same price rising from about 129 to 133.</a:t>
            </a:r>
          </a:p>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The PVO, a detrended volume oscillator the book never explains: non-price-based, falling: bearish divergence too.</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ADL, price-based: rising, with price: bullish confirmation.</a:t>
            </a:r>
          </a:p>
        </p:txBody>
      </p:sp>
      <p:sp>
        <p:nvSpPr>
          <p:cNvPr id="8" name="Rectangle 7"/>
          <p:cNvSpPr/>
          <p:nvPr/>
        </p:nvSpPr>
        <p:spPr>
          <a:xfrm>
            <a:off x="777240" y="5093208"/>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29784"/>
            <a:ext cx="42793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Each kind read by its own rule.</a:t>
            </a:r>
          </a:p>
        </p:txBody>
      </p:sp>
      <p:sp>
        <p:nvSpPr>
          <p:cNvPr id="10" name="TextBox 9"/>
          <p:cNvSpPr txBox="1"/>
          <p:nvPr/>
        </p:nvSpPr>
        <p:spPr>
          <a:xfrm>
            <a:off x="777240" y="574548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a:t>
            </a:r>
          </a:p>
        </p:txBody>
      </p:sp>
      <p:sp>
        <p:nvSpPr>
          <p:cNvPr id="11" name="Rectangle 10"/>
          <p:cNvSpPr/>
          <p:nvPr/>
        </p:nvSpPr>
        <p:spPr>
          <a:xfrm>
            <a:off x="5669279" y="1810512"/>
            <a:ext cx="5745175" cy="266224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242450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062471" y="2203703"/>
            <a:ext cx="4958791" cy="19673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bottom of Figure 6.8: a detrended volume oscillator, the PVO, labelled bearish divergence, and under it the accumulation distribution line rising, labelled bullish confirmation.</a:t>
            </a:r>
          </a:p>
        </p:txBody>
      </p:sp>
      <p:sp>
        <p:nvSpPr>
          <p:cNvPr id="15" name="Rectangle 14"/>
          <p:cNvSpPr/>
          <p:nvPr/>
        </p:nvSpPr>
        <p:spPr>
          <a:xfrm>
            <a:off x="5826704" y="1987572"/>
            <a:ext cx="5430326" cy="1095874"/>
          </a:xfrm>
          <a:prstGeom prst="rect">
            <a:avLst/>
          </a:prstGeom>
          <a:noFill/>
          <a:ln w="44450">
            <a:solidFill>
              <a:srgbClr val="E09B00"/>
            </a:solidFill>
          </a:ln>
        </p:spPr>
        <p:txBody>
          <a:bodyPr rtlCol="0" anchor="ctr"/>
          <a:lstStyle/>
          <a:p>
            <a:pPr algn="ctr"/>
          </a:p>
        </p:txBody>
      </p:sp>
      <p:sp>
        <p:nvSpPr>
          <p:cNvPr id="16" name="Rectangle 15"/>
          <p:cNvSpPr/>
          <p:nvPr/>
        </p:nvSpPr>
        <p:spPr>
          <a:xfrm>
            <a:off x="5826704" y="3122238"/>
            <a:ext cx="5430326" cy="1212250"/>
          </a:xfrm>
          <a:prstGeom prst="rect">
            <a:avLst/>
          </a:prstGeom>
          <a:noFill/>
          <a:ln w="44450">
            <a:solidFill>
              <a:srgbClr val="C62828"/>
            </a:solidFill>
          </a:ln>
        </p:spPr>
        <p:txBody>
          <a:bodyPr rtlCol="0" anchor="ctr"/>
          <a:lstStyle/>
          <a:p>
            <a:pPr algn="ctr"/>
          </a:p>
        </p:txBody>
      </p:sp>
      <p:sp>
        <p:nvSpPr>
          <p:cNvPr id="17" name="Oval 16"/>
          <p:cNvSpPr/>
          <p:nvPr/>
        </p:nvSpPr>
        <p:spPr>
          <a:xfrm>
            <a:off x="11101582" y="29279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1101582" y="417904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5669279" y="4564196"/>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Shown: its two lower panels. PVO and detrending are on the figure and not explained by the book.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let price show the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volume back at an earlier low, expect a breakout.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one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1  Volume shrinks, to 0.42 million.</a:t>
            </a:r>
          </a:p>
          <a:p>
            <a:pPr algn="l">
              <a:lnSpc>
                <a:spcPct val="105000"/>
              </a:lnSpc>
              <a:spcBef>
                <a:spcPts val="0"/>
              </a:spcBef>
              <a:spcAft>
                <a:spcPts val="1100"/>
              </a:spcAft>
            </a:pPr>
            <a:r>
              <a:rPr sz="2000" b="0" i="0">
                <a:solidFill>
                  <a:srgbClr val="1A1A1A"/>
                </a:solidFill>
                <a:latin typeface="Arial"/>
              </a:rPr>
              <a:t>2  Buy stops wait above PHP 52, sell stops below PHP 48.</a:t>
            </a:r>
          </a:p>
          <a:p>
            <a:pPr algn="l">
              <a:lnSpc>
                <a:spcPct val="105000"/>
              </a:lnSpc>
              <a:spcBef>
                <a:spcPts val="0"/>
              </a:spcBef>
              <a:spcAft>
                <a:spcPts val="1100"/>
              </a:spcAft>
            </a:pPr>
            <a:r>
              <a:rPr sz="2000" b="0" i="0">
                <a:solidFill>
                  <a:srgbClr val="1A1A1A"/>
                </a:solidFill>
                <a:latin typeface="Arial"/>
              </a:rPr>
              <a:t>3  Price reaches the top edge: the buy stops trigger.</a:t>
            </a:r>
          </a:p>
          <a:p>
            <a:pPr algn="l">
              <a:lnSpc>
                <a:spcPct val="105000"/>
              </a:lnSpc>
              <a:spcBef>
                <a:spcPts val="0"/>
              </a:spcBef>
              <a:spcAft>
                <a:spcPts val="1100"/>
              </a:spcAft>
            </a:pPr>
            <a:r>
              <a:rPr sz="2000" b="0" i="0">
                <a:solidFill>
                  <a:srgbClr val="1A1A1A"/>
                </a:solidFill>
                <a:latin typeface="Arial"/>
              </a:rPr>
              <a:t>4  It breaks out up, on 3.6 million.</a:t>
            </a:r>
          </a:p>
        </p:txBody>
      </p:sp>
      <p:sp>
        <p:nvSpPr>
          <p:cNvPr id="8" name="Rectangle 7"/>
          <p:cNvSpPr/>
          <p:nvPr/>
        </p:nvSpPr>
        <p:spPr>
          <a:xfrm>
            <a:off x="777240" y="4745736"/>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82312"/>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quiet range is where the breakout is loaded.</a:t>
            </a:r>
          </a:p>
        </p:txBody>
      </p:sp>
      <p:sp>
        <p:nvSpPr>
          <p:cNvPr id="10" name="Rectangle 9"/>
          <p:cNvSpPr/>
          <p:nvPr/>
        </p:nvSpPr>
        <p:spPr>
          <a:xfrm>
            <a:off x="640217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ga.png"/>
          <p:cNvPicPr>
            <a:picLocks noChangeAspect="1"/>
          </p:cNvPicPr>
          <p:nvPr/>
        </p:nvPicPr>
        <p:blipFill>
          <a:blip r:embed="rId2"/>
          <a:stretch>
            <a:fillRect/>
          </a:stretch>
        </p:blipFill>
        <p:spPr>
          <a:xfrm>
            <a:off x="6521043" y="1929384"/>
            <a:ext cx="459028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p.180's four reasons, drawn on our invented range, PHP 48 to 52. Every price and volume is ours.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in late March, inside the Accumulation box </a:t>
            </a:r>
            <a:r>
              <a:rPr sz="1500" b="1" i="0">
                <a:solidFill>
                  <a:srgbClr val="C62828"/>
                </a:solidFill>
                <a:latin typeface="Arial"/>
              </a:rPr>
              <a:t>(2)</a:t>
            </a:r>
            <a:r>
              <a:rPr sz="1500" b="0" i="0">
                <a:solidFill>
                  <a:srgbClr val="1A1A1A"/>
                </a:solidFill>
                <a:latin typeface="Arial"/>
              </a:rPr>
              <a:t>, a buying range (Chapters 2 and 4), volume falls back to the dashed low volume level </a:t>
            </a:r>
            <a:r>
              <a:rPr sz="1500" b="1" i="0">
                <a:solidFill>
                  <a:srgbClr val="E09B00"/>
                </a:solidFill>
                <a:latin typeface="Arial"/>
              </a:rPr>
              <a:t>(1)</a:t>
            </a:r>
            <a:r>
              <a:rPr sz="1500" b="0" i="0">
                <a:solidFill>
                  <a:srgbClr val="1A1A1A"/>
                </a:solidFill>
                <a:latin typeface="Arial"/>
              </a:rPr>
              <a:t>, at </a:t>
            </a:r>
            <a:r>
              <a:rPr sz="1500" b="1" i="0">
                <a:solidFill>
                  <a:srgbClr val="1F5FAD"/>
                </a:solidFill>
                <a:latin typeface="Arial"/>
              </a:rPr>
              <a:t>(3)</a:t>
            </a:r>
            <a:r>
              <a:rPr sz="1500" b="0" i="0">
                <a:solidFill>
                  <a:srgbClr val="1A1A1A"/>
                </a:solidFill>
                <a:latin typeface="Arial"/>
              </a:rPr>
              <a: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6766559" y="2157984"/>
            <a:ext cx="4647894" cy="3311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3074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617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6.9</a:t>
            </a:r>
          </a:p>
          <a:p>
            <a:pPr algn="l">
              <a:lnSpc>
                <a:spcPct val="115000"/>
              </a:lnSpc>
              <a:spcBef>
                <a:spcPts val="0"/>
              </a:spcBef>
              <a:spcAft>
                <a:spcPts val="0"/>
              </a:spcAft>
            </a:pPr>
            <a:r>
              <a:rPr sz="15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p:txBody>
      </p:sp>
      <p:cxnSp>
        <p:nvCxnSpPr>
          <p:cNvPr id="18" name="Connector 17"/>
          <p:cNvCxnSpPr/>
          <p:nvPr/>
        </p:nvCxnSpPr>
        <p:spPr>
          <a:xfrm>
            <a:off x="6929533" y="4963750"/>
            <a:ext cx="4321948" cy="0"/>
          </a:xfrm>
          <a:prstGeom prst="line">
            <a:avLst/>
          </a:prstGeom>
          <a:ln w="44450">
            <a:solidFill>
              <a:srgbClr val="E09B00"/>
            </a:solidFill>
          </a:ln>
        </p:spPr>
      </p:cxnSp>
      <p:sp>
        <p:nvSpPr>
          <p:cNvPr id="19" name="Rectangle 18"/>
          <p:cNvSpPr/>
          <p:nvPr/>
        </p:nvSpPr>
        <p:spPr>
          <a:xfrm>
            <a:off x="9496241" y="2937819"/>
            <a:ext cx="1428888" cy="740894"/>
          </a:xfrm>
          <a:prstGeom prst="rect">
            <a:avLst/>
          </a:prstGeom>
          <a:noFill/>
          <a:ln w="44450">
            <a:solidFill>
              <a:srgbClr val="C62828"/>
            </a:solidFill>
          </a:ln>
        </p:spPr>
        <p:txBody>
          <a:bodyPr rtlCol="0" anchor="ctr"/>
          <a:lstStyle/>
          <a:p>
            <a:pPr algn="ctr"/>
          </a:p>
        </p:txBody>
      </p:sp>
      <p:sp>
        <p:nvSpPr>
          <p:cNvPr id="20" name="Oval 19"/>
          <p:cNvSpPr/>
          <p:nvPr/>
        </p:nvSpPr>
        <p:spPr>
          <a:xfrm>
            <a:off x="10431193" y="4524132"/>
            <a:ext cx="529218" cy="562587"/>
          </a:xfrm>
          <a:prstGeom prst="ellipse">
            <a:avLst/>
          </a:prstGeom>
          <a:noFill/>
          <a:ln w="44450">
            <a:solidFill>
              <a:srgbClr val="1F5FAD"/>
            </a:solidFill>
          </a:ln>
        </p:spPr>
        <p:txBody>
          <a:bodyPr rtlCol="0" anchor="ctr"/>
          <a:lstStyle/>
          <a:p>
            <a:pPr algn="ctr"/>
          </a:p>
        </p:txBody>
      </p:sp>
      <p:sp>
        <p:nvSpPr>
          <p:cNvPr id="21" name="Oval 20"/>
          <p:cNvSpPr/>
          <p:nvPr/>
        </p:nvSpPr>
        <p:spPr>
          <a:xfrm>
            <a:off x="6774085" y="48083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40793" y="278237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875525" y="4931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766559" y="556141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6.9 -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a:t>
            </a:r>
            <a:r>
              <a:rPr sz="1600" b="1" i="0">
                <a:solidFill>
                  <a:srgbClr val="E09B00"/>
                </a:solidFill>
                <a:latin typeface="Arial"/>
              </a:rPr>
              <a:t>(1)</a:t>
            </a:r>
            <a:r>
              <a:rPr sz="1600" b="0" i="0">
                <a:solidFill>
                  <a:srgbClr val="1A1A1A"/>
                </a:solidFill>
                <a:latin typeface="Arial"/>
              </a:rPr>
              <a:t>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a:t>
            </a:r>
            <a:r>
              <a:rPr sz="1600" b="1" i="0">
                <a:solidFill>
                  <a:srgbClr val="C62828"/>
                </a:solidFill>
                <a:latin typeface="Arial"/>
              </a:rPr>
              <a:t>(2)</a:t>
            </a:r>
            <a:r>
              <a:rPr sz="1600" b="0" i="0">
                <a:solidFill>
                  <a:srgbClr val="1A1A1A"/>
                </a:solidFill>
                <a:latin typeface="Arial"/>
              </a:rPr>
              <a: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under the book's 1, 2 and 3.</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21242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9746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1747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6.10</a:t>
            </a:r>
          </a:p>
          <a:p>
            <a:pPr algn="l">
              <a:lnSpc>
                <a:spcPct val="115000"/>
              </a:lnSpc>
              <a:spcBef>
                <a:spcPts val="0"/>
              </a:spcBef>
              <a:spcAft>
                <a:spcPts val="0"/>
              </a:spcAft>
            </a:pPr>
            <a:r>
              <a:rPr sz="15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p:txBody>
      </p:sp>
      <p:cxnSp>
        <p:nvCxnSpPr>
          <p:cNvPr id="14" name="Connector 13"/>
          <p:cNvCxnSpPr/>
          <p:nvPr/>
        </p:nvCxnSpPr>
        <p:spPr>
          <a:xfrm>
            <a:off x="6366544" y="4630393"/>
            <a:ext cx="4899286" cy="0"/>
          </a:xfrm>
          <a:prstGeom prst="line">
            <a:avLst/>
          </a:prstGeom>
          <a:ln w="44450">
            <a:solidFill>
              <a:srgbClr val="E09B00"/>
            </a:solidFill>
          </a:ln>
        </p:spPr>
      </p:cxnSp>
      <p:sp>
        <p:nvSpPr>
          <p:cNvPr id="15" name="Oval 14"/>
          <p:cNvSpPr/>
          <p:nvPr/>
        </p:nvSpPr>
        <p:spPr>
          <a:xfrm>
            <a:off x="7988069" y="4359697"/>
            <a:ext cx="223145" cy="345062"/>
          </a:xfrm>
          <a:prstGeom prst="ellipse">
            <a:avLst/>
          </a:prstGeom>
          <a:noFill/>
          <a:ln w="44450">
            <a:solidFill>
              <a:srgbClr val="C62828"/>
            </a:solidFill>
          </a:ln>
        </p:spPr>
        <p:txBody>
          <a:bodyPr rtlCol="0" anchor="ctr"/>
          <a:lstStyle/>
          <a:p>
            <a:pPr algn="ctr"/>
          </a:p>
        </p:txBody>
      </p:sp>
      <p:sp>
        <p:nvSpPr>
          <p:cNvPr id="16" name="Oval 15"/>
          <p:cNvSpPr/>
          <p:nvPr/>
        </p:nvSpPr>
        <p:spPr>
          <a:xfrm>
            <a:off x="10075720" y="4395393"/>
            <a:ext cx="223145" cy="309366"/>
          </a:xfrm>
          <a:prstGeom prst="ellipse">
            <a:avLst/>
          </a:prstGeom>
          <a:noFill/>
          <a:ln w="44450">
            <a:solidFill>
              <a:srgbClr val="1F5FAD"/>
            </a:solidFill>
          </a:ln>
        </p:spPr>
        <p:txBody>
          <a:bodyPr rtlCol="0" anchor="ctr"/>
          <a:lstStyle/>
          <a:p>
            <a:pPr algn="ctr"/>
          </a:p>
        </p:txBody>
      </p:sp>
      <p:sp>
        <p:nvSpPr>
          <p:cNvPr id="17" name="Oval 16"/>
          <p:cNvSpPr/>
          <p:nvPr/>
        </p:nvSpPr>
        <p:spPr>
          <a:xfrm>
            <a:off x="10735239" y="4297229"/>
            <a:ext cx="233063" cy="407531"/>
          </a:xfrm>
          <a:prstGeom prst="ellipse">
            <a:avLst/>
          </a:prstGeom>
          <a:noFill/>
          <a:ln w="44450">
            <a:solidFill>
              <a:srgbClr val="007A33"/>
            </a:solidFill>
          </a:ln>
        </p:spPr>
        <p:txBody>
          <a:bodyPr rtlCol="0" anchor="ctr"/>
          <a:lstStyle/>
          <a:p>
            <a:pPr algn="ctr"/>
          </a:p>
        </p:txBody>
      </p:sp>
      <p:sp>
        <p:nvSpPr>
          <p:cNvPr id="18" name="Oval 17"/>
          <p:cNvSpPr/>
          <p:nvPr/>
        </p:nvSpPr>
        <p:spPr>
          <a:xfrm>
            <a:off x="6211096" y="44749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832621" y="42042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920272" y="42399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79791" y="414178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511437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30</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a:t>
            </a:r>
            <a:r>
              <a:rPr sz="1600" b="1" i="0">
                <a:solidFill>
                  <a:srgbClr val="E09B00"/>
                </a:solidFill>
                <a:latin typeface="Arial"/>
              </a:rPr>
              <a:t>(1)</a:t>
            </a:r>
            <a:r>
              <a:rPr sz="1600" b="0" i="0">
                <a:solidFill>
                  <a:srgbClr val="1A1A1A"/>
                </a:solidFill>
                <a:latin typeface="Arial"/>
              </a:rPr>
              <a:t>: the line labelled VWAP, volume-weighted average price; the book treats VWAP and VWMA as one line here.</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Price rises decisively each time it crosses above the line, and falls after crossing below.</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The four 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290191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66417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206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3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p:txBody>
      </p:sp>
      <p:cxnSp>
        <p:nvCxnSpPr>
          <p:cNvPr id="15" name="Connector 14"/>
          <p:cNvCxnSpPr/>
          <p:nvPr/>
        </p:nvCxnSpPr>
        <p:spPr>
          <a:xfrm flipH="1">
            <a:off x="8539764" y="2462218"/>
            <a:ext cx="321512" cy="639401"/>
          </a:xfrm>
          <a:prstGeom prst="line">
            <a:avLst/>
          </a:prstGeom>
          <a:ln w="44450">
            <a:solidFill>
              <a:srgbClr val="E09B00"/>
            </a:solidFill>
            <a:tailEnd type="triangle" w="med" len="med"/>
          </a:ln>
        </p:spPr>
      </p:cxnSp>
      <p:sp>
        <p:nvSpPr>
          <p:cNvPr id="16" name="Oval 15"/>
          <p:cNvSpPr/>
          <p:nvPr/>
        </p:nvSpPr>
        <p:spPr>
          <a:xfrm>
            <a:off x="8870462" y="3272126"/>
            <a:ext cx="298547" cy="311708"/>
          </a:xfrm>
          <a:prstGeom prst="ellipse">
            <a:avLst/>
          </a:prstGeom>
          <a:noFill/>
          <a:ln w="44450">
            <a:solidFill>
              <a:srgbClr val="C62828"/>
            </a:solidFill>
          </a:ln>
        </p:spPr>
        <p:txBody>
          <a:bodyPr rtlCol="0" anchor="ctr"/>
          <a:lstStyle/>
          <a:p>
            <a:pPr algn="ctr"/>
          </a:p>
        </p:txBody>
      </p:sp>
      <p:sp>
        <p:nvSpPr>
          <p:cNvPr id="17" name="Rectangle 16"/>
          <p:cNvSpPr/>
          <p:nvPr/>
        </p:nvSpPr>
        <p:spPr>
          <a:xfrm>
            <a:off x="7069994" y="3980795"/>
            <a:ext cx="2985470" cy="346342"/>
          </a:xfrm>
          <a:prstGeom prst="rect">
            <a:avLst/>
          </a:prstGeom>
          <a:noFill/>
          <a:ln w="44450">
            <a:solidFill>
              <a:srgbClr val="1F5FAD"/>
            </a:solidFill>
          </a:ln>
        </p:spPr>
        <p:txBody>
          <a:bodyPr rtlCol="0" anchor="ctr"/>
          <a:lstStyle/>
          <a:p>
            <a:pPr algn="ctr"/>
          </a:p>
        </p:txBody>
      </p:sp>
      <p:sp>
        <p:nvSpPr>
          <p:cNvPr id="18" name="Oval 17"/>
          <p:cNvSpPr/>
          <p:nvPr/>
        </p:nvSpPr>
        <p:spPr>
          <a:xfrm>
            <a:off x="8705828" y="23067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23154" y="347900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776755" y="399851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8038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a:t>
            </a:r>
            <a:r>
              <a:rPr sz="1500" b="1" i="0">
                <a:solidFill>
                  <a:srgbClr val="E09B00"/>
                </a:solidFill>
                <a:latin typeface="Arial"/>
              </a:rPr>
              <a:t>(1)</a:t>
            </a:r>
            <a:r>
              <a:rPr sz="1500" b="0" i="0">
                <a:solidFill>
                  <a:srgbClr val="1A1A1A"/>
                </a:solidFill>
                <a:latin typeface="Arial"/>
              </a:rPr>
              <a:t>, under the ellipse, sets the upper level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923059" y="2157984"/>
            <a:ext cx="4334896"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041931" y="2276856"/>
            <a:ext cx="4097152" cy="316382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041931" y="2276856"/>
            <a:ext cx="4097152"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316251" y="2551175"/>
            <a:ext cx="3548512" cy="2706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3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p:txBody>
      </p:sp>
      <p:sp>
        <p:nvSpPr>
          <p:cNvPr id="18" name="Rectangle 17"/>
          <p:cNvSpPr/>
          <p:nvPr/>
        </p:nvSpPr>
        <p:spPr>
          <a:xfrm>
            <a:off x="8434963" y="4175150"/>
            <a:ext cx="1024288" cy="506211"/>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7951499" y="4228935"/>
            <a:ext cx="2896686" cy="0"/>
          </a:xfrm>
          <a:prstGeom prst="line">
            <a:avLst/>
          </a:prstGeom>
          <a:ln w="44450">
            <a:solidFill>
              <a:srgbClr val="C62828"/>
            </a:solidFill>
          </a:ln>
        </p:spPr>
      </p:cxnSp>
      <p:sp>
        <p:nvSpPr>
          <p:cNvPr id="20" name="Oval 19"/>
          <p:cNvSpPr/>
          <p:nvPr/>
        </p:nvSpPr>
        <p:spPr>
          <a:xfrm>
            <a:off x="8791659" y="430444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10692737" y="4073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6.12's two levels, read off its scale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Most days trade under 40 million shares.</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The lower line: a little under 70 million.</a:t>
            </a:r>
          </a:p>
          <a:p>
            <a:pPr algn="l">
              <a:lnSpc>
                <a:spcPct val="105000"/>
              </a:lnSpc>
              <a:spcBef>
                <a:spcPts val="0"/>
              </a:spcBef>
              <a:spcAft>
                <a:spcPts val="1100"/>
              </a:spcAft>
            </a:pPr>
            <a:r>
              <a:rPr sz="1900" b="1" i="0">
                <a:solidFill>
                  <a:srgbClr val="1F5FAD"/>
                </a:solidFill>
                <a:latin typeface="Arial"/>
              </a:rPr>
              <a:t>(3)</a:t>
            </a:r>
            <a:r>
              <a:rPr sz="1900" b="0" i="0">
                <a:solidFill>
                  <a:srgbClr val="1A1A1A"/>
                </a:solidFill>
                <a:latin typeface="Arial"/>
              </a:rPr>
              <a:t> The upper line: a little above 120 million.</a:t>
            </a:r>
          </a:p>
          <a:p>
            <a:pPr algn="l">
              <a:lnSpc>
                <a:spcPct val="105000"/>
              </a:lnSpc>
              <a:spcBef>
                <a:spcPts val="0"/>
              </a:spcBef>
              <a:spcAft>
                <a:spcPts val="1100"/>
              </a:spcAft>
            </a:pPr>
            <a:r>
              <a:rPr sz="1900" b="1" i="0">
                <a:solidFill>
                  <a:srgbClr val="007A33"/>
                </a:solidFill>
                <a:latin typeface="Arial"/>
              </a:rPr>
              <a:t>(4)</a:t>
            </a:r>
            <a:r>
              <a:rPr sz="1900" b="0" i="0">
                <a:solidFill>
                  <a:srgbClr val="1A1A1A"/>
                </a:solidFill>
                <a:latin typeface="Arial"/>
              </a:rPr>
              <a:t> and </a:t>
            </a:r>
            <a:r>
              <a:rPr sz="1900" b="1" i="0">
                <a:solidFill>
                  <a:srgbClr val="7B3FA0"/>
                </a:solidFill>
                <a:latin typeface="Arial"/>
              </a:rPr>
              <a:t>(5)</a:t>
            </a:r>
            <a:r>
              <a:rPr sz="1900" b="0" i="0">
                <a:solidFill>
                  <a:srgbClr val="1A1A1A"/>
                </a:solidFill>
                <a:latin typeface="Arial"/>
              </a:rPr>
              <a:t> The two spikes that reach it sit under bottoms.</a:t>
            </a:r>
          </a:p>
        </p:txBody>
      </p:sp>
      <p:sp>
        <p:nvSpPr>
          <p:cNvPr id="8" name="Rectangle 7"/>
          <p:cNvSpPr/>
          <p:nvPr/>
        </p:nvSpPr>
        <p:spPr>
          <a:xfrm>
            <a:off x="777240" y="4953762"/>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90338"/>
            <a:ext cx="51937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lines are far above a usual day.</a:t>
            </a:r>
          </a:p>
        </p:txBody>
      </p:sp>
      <p:sp>
        <p:nvSpPr>
          <p:cNvPr id="10" name="Rectangle 9"/>
          <p:cNvSpPr/>
          <p:nvPr/>
        </p:nvSpPr>
        <p:spPr>
          <a:xfrm>
            <a:off x="6606631" y="1810512"/>
            <a:ext cx="4784872"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25503" y="1929384"/>
            <a:ext cx="4547128"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25503" y="1929384"/>
            <a:ext cx="4547128"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9823" y="2203703"/>
            <a:ext cx="39984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500" b="0" i="0">
                <a:solidFill>
                  <a:srgbClr val="1A1A1A"/>
                </a:solidFill>
                <a:latin typeface="Palatino"/>
              </a:rPr>
              <a:t>The daily chart of Exxon Mobil from 2006 to 2013. Most volume bars sit under 40 million shares; a lower overextension line runs near 70 million and an upper one near 120 million, and the two spikes that reach the upper line sit under the market bottom in the ellipse.</a:t>
            </a:r>
          </a:p>
        </p:txBody>
      </p:sp>
      <p:sp>
        <p:nvSpPr>
          <p:cNvPr id="14" name="Rectangle 13"/>
          <p:cNvSpPr/>
          <p:nvPr/>
        </p:nvSpPr>
        <p:spPr>
          <a:xfrm>
            <a:off x="6757333" y="4970166"/>
            <a:ext cx="4219735" cy="375708"/>
          </a:xfrm>
          <a:prstGeom prst="rect">
            <a:avLst/>
          </a:prstGeom>
          <a:noFill/>
          <a:ln w="44450">
            <a:solidFill>
              <a:srgbClr val="E09B00"/>
            </a:solidFill>
          </a:ln>
        </p:spPr>
        <p:txBody>
          <a:bodyPr rtlCol="0" anchor="ctr"/>
          <a:lstStyle/>
          <a:p>
            <a:pPr algn="ctr"/>
          </a:p>
        </p:txBody>
      </p:sp>
      <p:cxnSp>
        <p:nvCxnSpPr>
          <p:cNvPr id="15" name="Connector 14"/>
          <p:cNvCxnSpPr/>
          <p:nvPr/>
        </p:nvCxnSpPr>
        <p:spPr>
          <a:xfrm>
            <a:off x="6911935" y="4661172"/>
            <a:ext cx="4065133" cy="0"/>
          </a:xfrm>
          <a:prstGeom prst="line">
            <a:avLst/>
          </a:prstGeom>
          <a:ln w="44450">
            <a:solidFill>
              <a:srgbClr val="C62828"/>
            </a:solidFill>
          </a:ln>
        </p:spPr>
      </p:cxnSp>
      <p:cxnSp>
        <p:nvCxnSpPr>
          <p:cNvPr id="16" name="Connector 15"/>
          <p:cNvCxnSpPr/>
          <p:nvPr/>
        </p:nvCxnSpPr>
        <p:spPr>
          <a:xfrm>
            <a:off x="7734965" y="4095853"/>
            <a:ext cx="3242103" cy="0"/>
          </a:xfrm>
          <a:prstGeom prst="line">
            <a:avLst/>
          </a:prstGeom>
          <a:ln w="44450">
            <a:solidFill>
              <a:srgbClr val="1F5FAD"/>
            </a:solidFill>
          </a:ln>
        </p:spPr>
      </p:cxnSp>
      <p:sp>
        <p:nvSpPr>
          <p:cNvPr id="17" name="Oval 16"/>
          <p:cNvSpPr/>
          <p:nvPr/>
        </p:nvSpPr>
        <p:spPr>
          <a:xfrm>
            <a:off x="8244244" y="3892198"/>
            <a:ext cx="259186" cy="365174"/>
          </a:xfrm>
          <a:prstGeom prst="ellipse">
            <a:avLst/>
          </a:prstGeom>
          <a:noFill/>
          <a:ln w="44450">
            <a:solidFill>
              <a:srgbClr val="007A33"/>
            </a:solidFill>
          </a:ln>
        </p:spPr>
        <p:txBody>
          <a:bodyPr rtlCol="0" anchor="ctr"/>
          <a:lstStyle/>
          <a:p>
            <a:pPr algn="ctr"/>
          </a:p>
        </p:txBody>
      </p:sp>
      <p:sp>
        <p:nvSpPr>
          <p:cNvPr id="18" name="Oval 17"/>
          <p:cNvSpPr/>
          <p:nvPr/>
        </p:nvSpPr>
        <p:spPr>
          <a:xfrm>
            <a:off x="9180952" y="4176613"/>
            <a:ext cx="204620" cy="351129"/>
          </a:xfrm>
          <a:prstGeom prst="ellipse">
            <a:avLst/>
          </a:prstGeom>
          <a:noFill/>
          <a:ln w="44450">
            <a:solidFill>
              <a:srgbClr val="7B3FA0"/>
            </a:solidFill>
          </a:ln>
        </p:spPr>
        <p:txBody>
          <a:bodyPr rtlCol="0" anchor="ctr"/>
          <a:lstStyle/>
          <a:p>
            <a:pPr algn="ctr"/>
          </a:p>
        </p:txBody>
      </p:sp>
      <p:sp>
        <p:nvSpPr>
          <p:cNvPr id="19" name="Oval 18"/>
          <p:cNvSpPr/>
          <p:nvPr/>
        </p:nvSpPr>
        <p:spPr>
          <a:xfrm>
            <a:off x="6601885" y="481471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10480585" y="450572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821620" y="394040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8088796" y="4231843"/>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Oval 22"/>
          <p:cNvSpPr/>
          <p:nvPr/>
        </p:nvSpPr>
        <p:spPr>
          <a:xfrm>
            <a:off x="9230125" y="4372295"/>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TextBox 23"/>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6.12 -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Exxon's chart shows only bottoms; the book says the same level signals tops too.</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Correction: Chapter 5. Not a promise: the book's word potential, said plainly.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a:t>
            </a:r>
            <a:r>
              <a:rPr sz="1600" b="1" i="0">
                <a:solidFill>
                  <a:srgbClr val="E09B00"/>
                </a:solidFill>
                <a:latin typeface="Arial"/>
              </a:rPr>
              <a:t>(1)</a:t>
            </a:r>
            <a:r>
              <a:rPr sz="1600" b="0" i="0">
                <a:solidFill>
                  <a:srgbClr val="1A1A1A"/>
                </a:solidFill>
                <a:latin typeface="Arial"/>
              </a:rPr>
              <a:t> and </a:t>
            </a:r>
            <a:r>
              <a:rPr sz="1600" b="1" i="0">
                <a:solidFill>
                  <a:srgbClr val="C62828"/>
                </a:solidFill>
                <a:latin typeface="Arial"/>
              </a:rPr>
              <a:t>(2)</a:t>
            </a:r>
            <a:r>
              <a:rPr sz="1600" b="0" i="0">
                <a:solidFill>
                  <a:srgbClr val="1A1A1A"/>
                </a:solidFill>
                <a:latin typeface="Arial"/>
              </a:rPr>
              <a:t>, then up to the top above it,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28044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666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1094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6.13</a:t>
            </a:r>
          </a:p>
          <a:p>
            <a:pPr algn="l">
              <a:lnSpc>
                <a:spcPct val="115000"/>
              </a:lnSpc>
              <a:spcBef>
                <a:spcPts val="0"/>
              </a:spcBef>
              <a:spcAft>
                <a:spcPts val="0"/>
              </a:spcAft>
            </a:pPr>
            <a:r>
              <a:rPr sz="15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p:txBody>
      </p:sp>
      <p:sp>
        <p:nvSpPr>
          <p:cNvPr id="14" name="Oval 13"/>
          <p:cNvSpPr/>
          <p:nvPr/>
        </p:nvSpPr>
        <p:spPr>
          <a:xfrm>
            <a:off x="7239291" y="3636214"/>
            <a:ext cx="163640" cy="415799"/>
          </a:xfrm>
          <a:prstGeom prst="ellipse">
            <a:avLst/>
          </a:prstGeom>
          <a:noFill/>
          <a:ln w="44450">
            <a:solidFill>
              <a:srgbClr val="E09B00"/>
            </a:solidFill>
          </a:ln>
        </p:spPr>
        <p:txBody>
          <a:bodyPr rtlCol="0" anchor="ctr"/>
          <a:lstStyle/>
          <a:p>
            <a:pPr algn="ctr"/>
          </a:p>
        </p:txBody>
      </p:sp>
      <p:sp>
        <p:nvSpPr>
          <p:cNvPr id="15" name="Oval 14"/>
          <p:cNvSpPr/>
          <p:nvPr/>
        </p:nvSpPr>
        <p:spPr>
          <a:xfrm>
            <a:off x="9971585" y="4023780"/>
            <a:ext cx="158681" cy="336232"/>
          </a:xfrm>
          <a:prstGeom prst="ellipse">
            <a:avLst/>
          </a:prstGeom>
          <a:noFill/>
          <a:ln w="44450">
            <a:solidFill>
              <a:srgbClr val="C62828"/>
            </a:solidFill>
          </a:ln>
        </p:spPr>
        <p:txBody>
          <a:bodyPr rtlCol="0" anchor="ctr"/>
          <a:lstStyle/>
          <a:p>
            <a:pPr algn="ctr"/>
          </a:p>
        </p:txBody>
      </p:sp>
      <p:sp>
        <p:nvSpPr>
          <p:cNvPr id="16" name="Oval 15"/>
          <p:cNvSpPr/>
          <p:nvPr/>
        </p:nvSpPr>
        <p:spPr>
          <a:xfrm>
            <a:off x="7179786" y="2766115"/>
            <a:ext cx="287609" cy="433765"/>
          </a:xfrm>
          <a:prstGeom prst="ellipse">
            <a:avLst/>
          </a:prstGeom>
          <a:noFill/>
          <a:ln w="44450">
            <a:solidFill>
              <a:srgbClr val="1F5FAD"/>
            </a:solidFill>
          </a:ln>
        </p:spPr>
        <p:txBody>
          <a:bodyPr rtlCol="0" anchor="ctr"/>
          <a:lstStyle/>
          <a:p>
            <a:pPr algn="ctr"/>
          </a:p>
        </p:txBody>
      </p:sp>
      <p:sp>
        <p:nvSpPr>
          <p:cNvPr id="17" name="Oval 16"/>
          <p:cNvSpPr/>
          <p:nvPr/>
        </p:nvSpPr>
        <p:spPr>
          <a:xfrm>
            <a:off x="9921997" y="2147550"/>
            <a:ext cx="267774" cy="369599"/>
          </a:xfrm>
          <a:prstGeom prst="ellipse">
            <a:avLst/>
          </a:prstGeom>
          <a:noFill/>
          <a:ln w="44450">
            <a:solidFill>
              <a:srgbClr val="007A33"/>
            </a:solidFill>
          </a:ln>
        </p:spPr>
        <p:txBody>
          <a:bodyPr rtlCol="0" anchor="ctr"/>
          <a:lstStyle/>
          <a:p>
            <a:pPr algn="ctr"/>
          </a:p>
        </p:txBody>
      </p:sp>
      <p:sp>
        <p:nvSpPr>
          <p:cNvPr id="18" name="Oval 17"/>
          <p:cNvSpPr/>
          <p:nvPr/>
        </p:nvSpPr>
        <p:spPr>
          <a:xfrm>
            <a:off x="6776398" y="38272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098788" y="39812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024338" y="26106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66549" y="1992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70635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a:t>
            </a:r>
            <a:r>
              <a:rPr sz="1500" b="1" i="0">
                <a:solidFill>
                  <a:srgbClr val="C62828"/>
                </a:solidFill>
                <a:latin typeface="Arial"/>
              </a:rPr>
              <a:t>(2)</a:t>
            </a:r>
            <a:r>
              <a:rPr sz="1500" b="0" i="0">
                <a:solidFill>
                  <a:srgbClr val="1A1A1A"/>
                </a:solidFill>
                <a:latin typeface="Arial"/>
              </a:rPr>
              <a:t> cross the dashed level </a:t>
            </a:r>
            <a:r>
              <a:rPr sz="1500" b="1" i="0">
                <a:solidFill>
                  <a:srgbClr val="E09B00"/>
                </a:solidFill>
                <a:latin typeface="Arial"/>
              </a:rPr>
              <a:t>(1)</a:t>
            </a:r>
            <a:r>
              <a:rPr sz="1500" b="0" i="0">
                <a:solidFill>
                  <a:srgbClr val="1A1A1A"/>
                </a:solidFill>
                <a:latin typeface="Arial"/>
              </a:rPr>
              <a:t>. At the far right price breaks a significant support </a:t>
            </a:r>
            <a:r>
              <a:rPr sz="1500" b="1" i="0">
                <a:solidFill>
                  <a:srgbClr val="1F5FAD"/>
                </a:solidFill>
                <a:latin typeface="Arial"/>
              </a:rPr>
              <a:t>(3)</a:t>
            </a:r>
            <a:r>
              <a:rPr sz="1500" b="0" i="0">
                <a:solidFill>
                  <a:srgbClr val="1A1A1A"/>
                </a:solidFill>
                <a:latin typeface="Arial"/>
              </a:rPr>
              <a: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25037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301263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554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p:txBody>
      </p:sp>
      <p:cxnSp>
        <p:nvCxnSpPr>
          <p:cNvPr id="15" name="Connector 14"/>
          <p:cNvCxnSpPr/>
          <p:nvPr/>
        </p:nvCxnSpPr>
        <p:spPr>
          <a:xfrm>
            <a:off x="6366544" y="4396728"/>
            <a:ext cx="4899286" cy="0"/>
          </a:xfrm>
          <a:prstGeom prst="line">
            <a:avLst/>
          </a:prstGeom>
          <a:ln w="44450">
            <a:solidFill>
              <a:srgbClr val="E09B00"/>
            </a:solidFill>
          </a:ln>
        </p:spPr>
      </p:cxnSp>
      <p:sp>
        <p:nvSpPr>
          <p:cNvPr id="16" name="Oval 15"/>
          <p:cNvSpPr/>
          <p:nvPr/>
        </p:nvSpPr>
        <p:spPr>
          <a:xfrm>
            <a:off x="8801311" y="4149693"/>
            <a:ext cx="401662" cy="382604"/>
          </a:xfrm>
          <a:prstGeom prst="ellipse">
            <a:avLst/>
          </a:prstGeom>
          <a:noFill/>
          <a:ln w="44450">
            <a:solidFill>
              <a:srgbClr val="C62828"/>
            </a:solidFill>
          </a:ln>
        </p:spPr>
        <p:txBody>
          <a:bodyPr rtlCol="0" anchor="ctr"/>
          <a:lstStyle/>
          <a:p>
            <a:pPr algn="ctr"/>
          </a:p>
        </p:txBody>
      </p:sp>
      <p:sp>
        <p:nvSpPr>
          <p:cNvPr id="17" name="Oval 16"/>
          <p:cNvSpPr/>
          <p:nvPr/>
        </p:nvSpPr>
        <p:spPr>
          <a:xfrm>
            <a:off x="10809621" y="2549986"/>
            <a:ext cx="426456" cy="370553"/>
          </a:xfrm>
          <a:prstGeom prst="ellipse">
            <a:avLst/>
          </a:prstGeom>
          <a:noFill/>
          <a:ln w="44450">
            <a:solidFill>
              <a:srgbClr val="1F5FAD"/>
            </a:solidFill>
          </a:ln>
        </p:spPr>
        <p:txBody>
          <a:bodyPr rtlCol="0" anchor="ctr"/>
          <a:lstStyle/>
          <a:p>
            <a:pPr algn="ctr"/>
          </a:p>
        </p:txBody>
      </p:sp>
      <p:sp>
        <p:nvSpPr>
          <p:cNvPr id="18" name="Oval 17"/>
          <p:cNvSpPr/>
          <p:nvPr/>
        </p:nvSpPr>
        <p:spPr>
          <a:xfrm>
            <a:off x="6211096" y="42412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45863" y="3994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654173" y="23945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52327"/>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Rolling 100-day 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days, so the level moves as old days leave the window.</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100-day 2-sigma level. Ours: the arithmetic and the 20 and 10 million.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rolling line on Figure 6.14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On Figure 6.14, the solid line under the dashed level is the rolling level.</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August 2011 spikes enter its window: the line steps up.</a:t>
            </a:r>
          </a:p>
          <a:p>
            <a:pPr algn="l">
              <a:lnSpc>
                <a:spcPct val="105000"/>
              </a:lnSpc>
              <a:spcBef>
                <a:spcPts val="0"/>
              </a:spcBef>
              <a:spcAft>
                <a:spcPts val="1100"/>
              </a:spcAft>
            </a:pPr>
            <a:r>
              <a:rPr sz="2000" b="1" i="0">
                <a:solidFill>
                  <a:srgbClr val="1F5FAD"/>
                </a:solidFill>
                <a:latin typeface="Arial"/>
              </a:rPr>
              <a:t>(3)</a:t>
            </a:r>
            <a:r>
              <a:rPr sz="2000" b="0" i="0">
                <a:solidFill>
                  <a:srgbClr val="1A1A1A"/>
                </a:solidFill>
                <a:latin typeface="Arial"/>
              </a:rPr>
              <a:t> Some 100 days later they leave, and it drops back.</a:t>
            </a:r>
          </a:p>
        </p:txBody>
      </p:sp>
      <p:sp>
        <p:nvSpPr>
          <p:cNvPr id="8" name="Rectangle 7"/>
          <p:cNvSpPr/>
          <p:nvPr/>
        </p:nvSpPr>
        <p:spPr>
          <a:xfrm>
            <a:off x="777240" y="4581144"/>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19379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level follows volume's recent past: what counts as extreme changes over time.</a:t>
            </a:r>
          </a:p>
        </p:txBody>
      </p:sp>
      <p:sp>
        <p:nvSpPr>
          <p:cNvPr id="10" name="Rectangle 9"/>
          <p:cNvSpPr/>
          <p:nvPr/>
        </p:nvSpPr>
        <p:spPr>
          <a:xfrm>
            <a:off x="6583679" y="1810512"/>
            <a:ext cx="4830775" cy="30281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7904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332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with its volume panel: the solid rolling 100-day 2-sigma line steps up after the August 2011 volume spikes and drops back some 100 days later.</a:t>
            </a:r>
          </a:p>
        </p:txBody>
      </p:sp>
      <p:cxnSp>
        <p:nvCxnSpPr>
          <p:cNvPr id="14" name="Connector 13"/>
          <p:cNvCxnSpPr/>
          <p:nvPr/>
        </p:nvCxnSpPr>
        <p:spPr>
          <a:xfrm flipV="1">
            <a:off x="7938077" y="4410067"/>
            <a:ext cx="197500" cy="239976"/>
          </a:xfrm>
          <a:prstGeom prst="line">
            <a:avLst/>
          </a:prstGeom>
          <a:ln w="44450">
            <a:solidFill>
              <a:srgbClr val="E09B00"/>
            </a:solidFill>
            <a:tailEnd type="triangle" w="med" len="med"/>
          </a:ln>
        </p:spPr>
      </p:cxnSp>
      <p:cxnSp>
        <p:nvCxnSpPr>
          <p:cNvPr id="15" name="Connector 14"/>
          <p:cNvCxnSpPr/>
          <p:nvPr/>
        </p:nvCxnSpPr>
        <p:spPr>
          <a:xfrm flipV="1">
            <a:off x="8953137" y="4306821"/>
            <a:ext cx="146977" cy="354383"/>
          </a:xfrm>
          <a:prstGeom prst="line">
            <a:avLst/>
          </a:prstGeom>
          <a:ln w="44450">
            <a:solidFill>
              <a:srgbClr val="C62828"/>
            </a:solidFill>
            <a:tailEnd type="triangle" w="med" len="med"/>
          </a:ln>
        </p:spPr>
      </p:cxnSp>
      <p:cxnSp>
        <p:nvCxnSpPr>
          <p:cNvPr id="16" name="Connector 15"/>
          <p:cNvCxnSpPr/>
          <p:nvPr/>
        </p:nvCxnSpPr>
        <p:spPr>
          <a:xfrm flipH="1" flipV="1">
            <a:off x="9651277" y="4340306"/>
            <a:ext cx="151570" cy="320898"/>
          </a:xfrm>
          <a:prstGeom prst="line">
            <a:avLst/>
          </a:prstGeom>
          <a:ln w="44450">
            <a:solidFill>
              <a:srgbClr val="1F5FAD"/>
            </a:solidFill>
            <a:tailEnd type="triangle" w="med" len="med"/>
          </a:ln>
        </p:spPr>
      </p:cxnSp>
      <p:sp>
        <p:nvSpPr>
          <p:cNvPr id="17" name="Oval 16"/>
          <p:cNvSpPr/>
          <p:nvPr/>
        </p:nvSpPr>
        <p:spPr>
          <a:xfrm>
            <a:off x="7782629" y="4494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797689" y="45057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647399" y="45057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9301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line. Ours: why it steps, read by eye off Figure 6.14.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a:t>
            </a:r>
            <a:r>
              <a:rPr sz="1600" b="1" i="0">
                <a:solidFill>
                  <a:srgbClr val="E09B00"/>
                </a:solidFill>
                <a:latin typeface="Arial"/>
              </a:rPr>
              <a:t>(1)</a:t>
            </a:r>
            <a:r>
              <a:rPr sz="1600" b="0" i="0">
                <a:solidFill>
                  <a:srgbClr val="1A1A1A"/>
                </a:solidFill>
                <a:latin typeface="Arial"/>
              </a:rPr>
              <a:t> to volume crossing the overextension lines </a:t>
            </a:r>
            <a:r>
              <a:rPr sz="1600" b="1" i="0">
                <a:solidFill>
                  <a:srgbClr val="C62828"/>
                </a:solidFill>
                <a:latin typeface="Arial"/>
              </a:rPr>
              <a:t>(2)</a:t>
            </a:r>
            <a:r>
              <a:rPr sz="1600" b="0" i="0">
                <a:solidFill>
                  <a:srgbClr val="1A1A1A"/>
                </a:solidFill>
                <a:latin typeface="Arial"/>
              </a:rPr>
              <a:t>, and up to turns in price.</a:t>
            </a:r>
          </a:p>
          <a:p>
            <a:pPr algn="l">
              <a:lnSpc>
                <a:spcPct val="105000"/>
              </a:lnSpc>
              <a:spcBef>
                <a:spcPts val="0"/>
              </a:spcBef>
              <a:spcAft>
                <a:spcPts val="1100"/>
              </a:spcAft>
            </a:pPr>
            <a:r>
              <a:rPr sz="1600" b="0" i="0">
                <a:solidFill>
                  <a:srgbClr val="1A1A1A"/>
                </a:solidFill>
                <a:latin typeface="Arial"/>
              </a:rPr>
              <a:t>At the book's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p:txBody>
      </p:sp>
      <p:sp>
        <p:nvSpPr>
          <p:cNvPr id="14" name="Rectangle 13"/>
          <p:cNvSpPr/>
          <p:nvPr/>
        </p:nvSpPr>
        <p:spPr>
          <a:xfrm>
            <a:off x="7823251" y="4132779"/>
            <a:ext cx="2392969" cy="254439"/>
          </a:xfrm>
          <a:prstGeom prst="rect">
            <a:avLst/>
          </a:prstGeom>
          <a:noFill/>
          <a:ln w="44450">
            <a:solidFill>
              <a:srgbClr val="E09B00"/>
            </a:solidFill>
          </a:ln>
        </p:spPr>
        <p:txBody>
          <a:bodyPr rtlCol="0" anchor="ctr"/>
          <a:lstStyle/>
          <a:p>
            <a:pPr algn="ctr"/>
          </a:p>
        </p:txBody>
      </p:sp>
      <p:sp>
        <p:nvSpPr>
          <p:cNvPr id="15" name="Rectangle 14"/>
          <p:cNvSpPr/>
          <p:nvPr/>
        </p:nvSpPr>
        <p:spPr>
          <a:xfrm>
            <a:off x="8815346" y="3267160"/>
            <a:ext cx="1860177" cy="372478"/>
          </a:xfrm>
          <a:prstGeom prst="rect">
            <a:avLst/>
          </a:prstGeom>
          <a:noFill/>
          <a:ln w="44450">
            <a:solidFill>
              <a:srgbClr val="C62828"/>
            </a:solidFill>
          </a:ln>
        </p:spPr>
        <p:txBody>
          <a:bodyPr rtlCol="0" anchor="ctr"/>
          <a:lstStyle/>
          <a:p>
            <a:pPr algn="ctr"/>
          </a:p>
        </p:txBody>
      </p:sp>
      <p:sp>
        <p:nvSpPr>
          <p:cNvPr id="16" name="Oval 15"/>
          <p:cNvSpPr/>
          <p:nvPr/>
        </p:nvSpPr>
        <p:spPr>
          <a:xfrm>
            <a:off x="7511640" y="397733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843619" y="311171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6.15's two volatility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dashed line, near 15: below it is noise, which many practitioners filter out. All four circled spikes clear it.</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historical volatility level, near 40: only the spikes under the book's two lows reach it.</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low line for noise, a high one for the major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its volume with two overextension lines, and under it a bandwidth oscillator labelled volatility: a dashed noise line near 15 that four circled spikes clear, and a historical volatility level near 40 that only the two spikes under the book's lows 1 and 2 reach.</a:t>
            </a:r>
          </a:p>
        </p:txBody>
      </p:sp>
      <p:cxnSp>
        <p:nvCxnSpPr>
          <p:cNvPr id="14" name="Connector 13"/>
          <p:cNvCxnSpPr/>
          <p:nvPr/>
        </p:nvCxnSpPr>
        <p:spPr>
          <a:xfrm>
            <a:off x="6730110" y="4282295"/>
            <a:ext cx="3936227" cy="0"/>
          </a:xfrm>
          <a:prstGeom prst="line">
            <a:avLst/>
          </a:prstGeom>
          <a:ln w="44450">
            <a:solidFill>
              <a:srgbClr val="E09B00"/>
            </a:solidFill>
          </a:ln>
        </p:spPr>
      </p:cxnSp>
      <p:cxnSp>
        <p:nvCxnSpPr>
          <p:cNvPr id="15" name="Connector 14"/>
          <p:cNvCxnSpPr/>
          <p:nvPr/>
        </p:nvCxnSpPr>
        <p:spPr>
          <a:xfrm>
            <a:off x="9343544" y="3938671"/>
            <a:ext cx="1322793" cy="0"/>
          </a:xfrm>
          <a:prstGeom prst="line">
            <a:avLst/>
          </a:prstGeom>
          <a:ln w="44450">
            <a:solidFill>
              <a:srgbClr val="C62828"/>
            </a:solidFill>
          </a:ln>
        </p:spPr>
      </p:cxnSp>
      <p:sp>
        <p:nvSpPr>
          <p:cNvPr id="16" name="Oval 15"/>
          <p:cNvSpPr/>
          <p:nvPr/>
        </p:nvSpPr>
        <p:spPr>
          <a:xfrm>
            <a:off x="6574662" y="41268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88096" y="378322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its two volatility lines read by eye.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A spike above the noise line is a real one; a spike at the historical level marks a major turn, as on the volume panel's upper line.</a:t>
            </a:r>
          </a:p>
          <a:p>
            <a:pPr algn="l">
              <a:lnSpc>
                <a:spcPct val="118000"/>
              </a:lnSpc>
              <a:spcBef>
                <a:spcPts val="0"/>
              </a:spcBef>
              <a:spcAft>
                <a:spcPts val="1300"/>
              </a:spcAft>
            </a:pPr>
            <a:r>
              <a:rPr sz="2100" b="0" i="0">
                <a:solidFill>
                  <a:srgbClr val="1A1A1A"/>
                </a:solidFill>
                <a:latin typeface="Arial"/>
              </a:rPr>
              <a:t>Both crossing together is stronger evidence; the book gives no weighting.</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 on volume: a low line for noise, a high one for the major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Evidence that corroborates: the chapter's first slide, p.173.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a:t>
            </a:r>
            <a:r>
              <a:rPr sz="1500" b="1" i="0">
                <a:solidFill>
                  <a:srgbClr val="E09B00"/>
                </a:solidFill>
                <a:latin typeface="Arial"/>
              </a:rPr>
              <a:t>(1)</a:t>
            </a:r>
            <a:r>
              <a:rPr sz="1500" b="0" i="0">
                <a:solidFill>
                  <a:srgbClr val="1A1A1A"/>
                </a:solidFill>
                <a:latin typeface="Arial"/>
              </a:rPr>
              <a:t>, set by a rule the book does not give. Each time line runs up to a turn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291218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267443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21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6.16</a:t>
            </a:r>
          </a:p>
          <a:p>
            <a:pPr algn="l">
              <a:lnSpc>
                <a:spcPct val="115000"/>
              </a:lnSpc>
              <a:spcBef>
                <a:spcPts val="0"/>
              </a:spcBef>
              <a:spcAft>
                <a:spcPts val="0"/>
              </a:spcAft>
            </a:pPr>
            <a:r>
              <a:rPr sz="15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p:txBody>
      </p:sp>
      <p:cxnSp>
        <p:nvCxnSpPr>
          <p:cNvPr id="18" name="Connector 17"/>
          <p:cNvCxnSpPr/>
          <p:nvPr/>
        </p:nvCxnSpPr>
        <p:spPr>
          <a:xfrm>
            <a:off x="7048607" y="4713270"/>
            <a:ext cx="3960316" cy="0"/>
          </a:xfrm>
          <a:prstGeom prst="line">
            <a:avLst/>
          </a:prstGeom>
          <a:ln w="44450">
            <a:solidFill>
              <a:srgbClr val="E09B00"/>
            </a:solidFill>
          </a:ln>
        </p:spPr>
      </p:cxnSp>
      <p:cxnSp>
        <p:nvCxnSpPr>
          <p:cNvPr id="19" name="Connector 18"/>
          <p:cNvCxnSpPr/>
          <p:nvPr/>
        </p:nvCxnSpPr>
        <p:spPr>
          <a:xfrm flipV="1">
            <a:off x="8406934" y="2707440"/>
            <a:ext cx="0" cy="1874782"/>
          </a:xfrm>
          <a:prstGeom prst="line">
            <a:avLst/>
          </a:prstGeom>
          <a:ln w="44450">
            <a:solidFill>
              <a:srgbClr val="C62828"/>
            </a:solidFill>
            <a:tailEnd type="triangle" w="med" len="med"/>
          </a:ln>
        </p:spPr>
      </p:cxnSp>
      <p:sp>
        <p:nvSpPr>
          <p:cNvPr id="20" name="Oval 19"/>
          <p:cNvSpPr/>
          <p:nvPr/>
        </p:nvSpPr>
        <p:spPr>
          <a:xfrm>
            <a:off x="6893159" y="45578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097130" y="265629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16160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27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28 of 30</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700" b="0" i="0">
                <a:solidFill>
                  <a:srgbClr val="1A1A1A"/>
                </a:solidFill>
                <a:latin typeface="Arial"/>
              </a:rPr>
              <a:t>Figure 6.17, gold: daily and weekly volume peak in 2013 </a:t>
            </a:r>
            <a:r>
              <a:rPr sz="1700" b="1" i="0">
                <a:solidFill>
                  <a:srgbClr val="E09B00"/>
                </a:solidFill>
                <a:latin typeface="Arial"/>
              </a:rPr>
              <a:t>(1)</a:t>
            </a:r>
            <a:r>
              <a:rPr sz="1700" b="0" i="0">
                <a:solidFill>
                  <a:srgbClr val="1A1A1A"/>
                </a:solidFill>
                <a:latin typeface="Arial"/>
              </a:rPr>
              <a:t>; monthly, quarterly and yearly peak in 2011 </a:t>
            </a:r>
            <a:r>
              <a:rPr sz="1700" b="1" i="0">
                <a:solidFill>
                  <a:srgbClr val="C62828"/>
                </a:solidFill>
                <a:latin typeface="Arial"/>
              </a:rPr>
              <a:t>(2)</a:t>
            </a:r>
            <a:r>
              <a:rPr sz="1700" b="0" i="0">
                <a:solidFill>
                  <a:srgbClr val="1A1A1A"/>
                </a:solidFill>
                <a:latin typeface="Arial"/>
              </a:rPr>
              <a:t>.</a:t>
            </a:r>
          </a:p>
        </p:txBody>
      </p:sp>
      <p:sp>
        <p:nvSpPr>
          <p:cNvPr id="8" name="Rectangle 7"/>
          <p:cNvSpPr/>
          <p:nvPr/>
        </p:nvSpPr>
        <p:spPr>
          <a:xfrm>
            <a:off x="777240" y="4128516"/>
            <a:ext cx="82296" cy="12435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3913632" cy="124358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Lower timeframes are more sensitive: one day's burst shows. Higher ones show the overall trend of volume.</a:t>
            </a:r>
          </a:p>
        </p:txBody>
      </p:sp>
      <p:sp>
        <p:nvSpPr>
          <p:cNvPr id="10" name="Rectangle 9"/>
          <p:cNvSpPr/>
          <p:nvPr/>
        </p:nvSpPr>
        <p:spPr>
          <a:xfrm>
            <a:off x="5875477" y="1810512"/>
            <a:ext cx="4967020"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994349" y="1929384"/>
            <a:ext cx="4729276"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994349" y="1929384"/>
            <a:ext cx="4729276"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8669" y="2203703"/>
            <a:ext cx="418063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6.17</a:t>
            </a:r>
          </a:p>
          <a:p>
            <a:pPr algn="l">
              <a:lnSpc>
                <a:spcPct val="115000"/>
              </a:lnSpc>
              <a:spcBef>
                <a:spcPts val="0"/>
              </a:spcBef>
              <a:spcAft>
                <a:spcPts val="0"/>
              </a:spcAft>
            </a:pPr>
            <a:r>
              <a:rPr sz="15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p:txBody>
      </p:sp>
      <p:sp>
        <p:nvSpPr>
          <p:cNvPr id="14" name="Rectangle 13"/>
          <p:cNvSpPr/>
          <p:nvPr/>
        </p:nvSpPr>
        <p:spPr>
          <a:xfrm>
            <a:off x="10137195" y="1943429"/>
            <a:ext cx="321590" cy="937516"/>
          </a:xfrm>
          <a:prstGeom prst="rect">
            <a:avLst/>
          </a:prstGeom>
          <a:noFill/>
          <a:ln w="44450">
            <a:solidFill>
              <a:srgbClr val="E09B00"/>
            </a:solidFill>
          </a:ln>
        </p:spPr>
        <p:txBody>
          <a:bodyPr rtlCol="0" anchor="ctr"/>
          <a:lstStyle/>
          <a:p>
            <a:pPr algn="ctr"/>
          </a:p>
        </p:txBody>
      </p:sp>
      <p:sp>
        <p:nvSpPr>
          <p:cNvPr id="15" name="Rectangle 14"/>
          <p:cNvSpPr/>
          <p:nvPr/>
        </p:nvSpPr>
        <p:spPr>
          <a:xfrm>
            <a:off x="9574411" y="3354970"/>
            <a:ext cx="255380" cy="2043574"/>
          </a:xfrm>
          <a:prstGeom prst="rect">
            <a:avLst/>
          </a:prstGeom>
          <a:noFill/>
          <a:ln w="44450">
            <a:solidFill>
              <a:srgbClr val="C62828"/>
            </a:solidFill>
          </a:ln>
        </p:spPr>
        <p:txBody>
          <a:bodyPr rtlCol="0" anchor="ctr"/>
          <a:lstStyle/>
          <a:p>
            <a:pPr algn="ctr"/>
          </a:p>
        </p:txBody>
      </p:sp>
      <p:sp>
        <p:nvSpPr>
          <p:cNvPr id="16" name="Oval 15"/>
          <p:cNvSpPr/>
          <p:nvPr/>
        </p:nvSpPr>
        <p:spPr>
          <a:xfrm>
            <a:off x="9480444" y="19495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18963" y="319952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peaks differ: the arithmetic</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29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record 2013 day of 10 million, in a month of 19 quiet days of 3 million: 10 + 57 = 67 million for the month.</a:t>
            </a:r>
          </a:p>
          <a:p>
            <a:pPr algn="l">
              <a:lnSpc>
                <a:spcPct val="118000"/>
              </a:lnSpc>
              <a:spcBef>
                <a:spcPts val="0"/>
              </a:spcBef>
              <a:spcAft>
                <a:spcPts val="1300"/>
              </a:spcAft>
            </a:pPr>
            <a:r>
              <a:rPr sz="2100" b="0" i="0">
                <a:solidFill>
                  <a:srgbClr val="1A1A1A"/>
                </a:solidFill>
                <a:latin typeface="Arial"/>
              </a:rPr>
              <a:t>A 2011 month with no record day, 20 days of 6 million: 20 x 6 = 120 million, the monthly peak.</a:t>
            </a:r>
          </a:p>
          <a:p>
            <a:pPr algn="l">
              <a:lnSpc>
                <a:spcPct val="118000"/>
              </a:lnSpc>
              <a:spcBef>
                <a:spcPts val="0"/>
              </a:spcBef>
              <a:spcAft>
                <a:spcPts val="1300"/>
              </a:spcAft>
            </a:pPr>
            <a:r>
              <a:rPr sz="2100" b="0" i="0">
                <a:solidFill>
                  <a:srgbClr val="1A1A1A"/>
                </a:solidFill>
                <a:latin typeface="Arial"/>
              </a:rPr>
              <a:t>So the record day tops the daily bars, and the steady month tops the monthly ones.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Daily to spot a single burst; monthly or higher to see the trend in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p.186's point, worked. The 10, 3 and 6 million are ours, to show the arithmetic.</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a:t>
            </a:r>
            <a:r>
              <a:rPr sz="1700" b="1" i="0">
                <a:solidFill>
                  <a:srgbClr val="E09B00"/>
                </a:solidFill>
                <a:latin typeface="Arial"/>
              </a:rPr>
              <a:t>(1)</a:t>
            </a:r>
            <a:r>
              <a:rPr sz="1700" b="0" i="0">
                <a:solidFill>
                  <a:srgbClr val="1A1A1A"/>
                </a:solidFill>
                <a:latin typeface="Arial"/>
              </a:rPr>
              <a:t>, Support 1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a:t>
            </a:r>
            <a:r>
              <a:rPr sz="1700" b="1" i="0">
                <a:solidFill>
                  <a:srgbClr val="1F5FAD"/>
                </a:solidFill>
                <a:latin typeface="Arial"/>
              </a:rPr>
              <a:t>(3)</a:t>
            </a:r>
            <a:r>
              <a:rPr sz="1700" b="0" i="0">
                <a:solidFill>
                  <a:srgbClr val="1A1A1A"/>
                </a:solidFill>
                <a:latin typeface="Arial"/>
              </a:rPr>
              <a:t>, Support 2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629454" y="1810512"/>
            <a:ext cx="473922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48326" y="1929384"/>
            <a:ext cx="450148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48326" y="1929384"/>
            <a:ext cx="450148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22646" y="2203703"/>
            <a:ext cx="395284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6.18</a:t>
            </a:r>
          </a:p>
          <a:p>
            <a:pPr algn="l">
              <a:lnSpc>
                <a:spcPct val="115000"/>
              </a:lnSpc>
              <a:spcBef>
                <a:spcPts val="0"/>
              </a:spcBef>
              <a:spcAft>
                <a:spcPts val="0"/>
              </a:spcAft>
            </a:pPr>
            <a:r>
              <a:rPr sz="15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p:txBody>
      </p:sp>
      <p:sp>
        <p:nvSpPr>
          <p:cNvPr id="14" name="Rectangle 13"/>
          <p:cNvSpPr/>
          <p:nvPr/>
        </p:nvSpPr>
        <p:spPr>
          <a:xfrm>
            <a:off x="7603608" y="2982772"/>
            <a:ext cx="540177" cy="737372"/>
          </a:xfrm>
          <a:prstGeom prst="rect">
            <a:avLst/>
          </a:prstGeom>
          <a:noFill/>
          <a:ln w="44450">
            <a:solidFill>
              <a:srgbClr val="E09B00"/>
            </a:solidFill>
          </a:ln>
        </p:spPr>
        <p:txBody>
          <a:bodyPr rtlCol="0" anchor="ctr"/>
          <a:lstStyle/>
          <a:p>
            <a:pPr algn="ctr"/>
          </a:p>
        </p:txBody>
      </p:sp>
      <p:sp>
        <p:nvSpPr>
          <p:cNvPr id="15" name="Rectangle 14"/>
          <p:cNvSpPr/>
          <p:nvPr/>
        </p:nvSpPr>
        <p:spPr>
          <a:xfrm>
            <a:off x="9944378" y="3088111"/>
            <a:ext cx="585192" cy="702259"/>
          </a:xfrm>
          <a:prstGeom prst="rect">
            <a:avLst/>
          </a:prstGeom>
          <a:noFill/>
          <a:ln w="44450">
            <a:solidFill>
              <a:srgbClr val="C62828"/>
            </a:solidFill>
          </a:ln>
        </p:spPr>
        <p:txBody>
          <a:bodyPr rtlCol="0" anchor="ctr"/>
          <a:lstStyle/>
          <a:p>
            <a:pPr algn="ctr"/>
          </a:p>
        </p:txBody>
      </p:sp>
      <p:sp>
        <p:nvSpPr>
          <p:cNvPr id="16" name="Rectangle 15"/>
          <p:cNvSpPr/>
          <p:nvPr/>
        </p:nvSpPr>
        <p:spPr>
          <a:xfrm>
            <a:off x="7603608" y="5089550"/>
            <a:ext cx="540177" cy="333573"/>
          </a:xfrm>
          <a:prstGeom prst="rect">
            <a:avLst/>
          </a:prstGeom>
          <a:noFill/>
          <a:ln w="44450">
            <a:solidFill>
              <a:srgbClr val="1F5FAD"/>
            </a:solidFill>
          </a:ln>
        </p:spPr>
        <p:txBody>
          <a:bodyPr rtlCol="0" anchor="ctr"/>
          <a:lstStyle/>
          <a:p>
            <a:pPr algn="ctr"/>
          </a:p>
        </p:txBody>
      </p:sp>
      <p:sp>
        <p:nvSpPr>
          <p:cNvPr id="17" name="Rectangle 16"/>
          <p:cNvSpPr/>
          <p:nvPr/>
        </p:nvSpPr>
        <p:spPr>
          <a:xfrm>
            <a:off x="9944378" y="5089550"/>
            <a:ext cx="585192" cy="333573"/>
          </a:xfrm>
          <a:prstGeom prst="rect">
            <a:avLst/>
          </a:prstGeom>
          <a:noFill/>
          <a:ln w="44450">
            <a:solidFill>
              <a:srgbClr val="007A33"/>
            </a:solidFill>
          </a:ln>
        </p:spPr>
        <p:txBody>
          <a:bodyPr rtlCol="0" anchor="ctr"/>
          <a:lstStyle/>
          <a:p>
            <a:pPr algn="ctr"/>
          </a:p>
        </p:txBody>
      </p:sp>
      <p:sp>
        <p:nvSpPr>
          <p:cNvPr id="18" name="Oval 17"/>
          <p:cNvSpPr/>
          <p:nvPr/>
        </p:nvSpPr>
        <p:spPr>
          <a:xfrm>
            <a:off x="7448160" y="36349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743915" y="370514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448160" y="49341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88930" y="4934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Increasing: each bar taller. </a:t>
            </a:r>
            <a:r>
              <a:rPr sz="1700" b="1" i="0">
                <a:solidFill>
                  <a:srgbClr val="C62828"/>
                </a:solidFill>
                <a:latin typeface="Arial"/>
              </a:rPr>
              <a:t>(2)</a:t>
            </a:r>
            <a:r>
              <a:rPr sz="1700" b="0" i="0">
                <a:solidFill>
                  <a:srgbClr val="1A1A1A"/>
                </a:solidFill>
                <a:latin typeface="Arial"/>
              </a:rPr>
              <a:t> Decreasing: each shorter. </a:t>
            </a:r>
            <a:r>
              <a:rPr sz="1700" b="1" i="0">
                <a:solidFill>
                  <a:srgbClr val="1F5FAD"/>
                </a:solidFill>
                <a:latin typeface="Arial"/>
              </a:rPr>
              <a:t>(3)</a:t>
            </a:r>
            <a:r>
              <a:rPr sz="1700" b="0" i="0">
                <a:solidFill>
                  <a:srgbClr val="1A1A1A"/>
                </a:solidFill>
                <a:latin typeface="Arial"/>
              </a:rPr>
              <a:t> Peaking: tallest at the touch.</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Bottoming: shortest at the touch. </a:t>
            </a:r>
            <a:r>
              <a:rPr sz="1700" b="1" i="0">
                <a:solidFill>
                  <a:srgbClr val="7B3FA0"/>
                </a:solidFill>
                <a:latin typeface="Arial"/>
              </a:rPr>
              <a:t>(5)</a:t>
            </a:r>
            <a:r>
              <a:rPr sz="1700" b="0" i="0">
                <a:solidFill>
                  <a:srgbClr val="1A1A1A"/>
                </a:solidFill>
                <a:latin typeface="Arial"/>
              </a:rPr>
              <a:t>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917832" y="1810512"/>
            <a:ext cx="5430950"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6704" y="1929384"/>
            <a:ext cx="5193206"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036704" y="1929384"/>
            <a:ext cx="5193206"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311024" y="2203703"/>
            <a:ext cx="46445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6.19</a:t>
            </a:r>
          </a:p>
          <a:p>
            <a:pPr algn="l">
              <a:lnSpc>
                <a:spcPct val="115000"/>
              </a:lnSpc>
              <a:spcBef>
                <a:spcPts val="0"/>
              </a:spcBef>
              <a:spcAft>
                <a:spcPts val="0"/>
              </a:spcAft>
            </a:pPr>
            <a:r>
              <a:rPr sz="1500" b="0" i="0">
                <a:solidFill>
                  <a:srgbClr val="1A1A1A"/>
                </a:solidFill>
                <a:latin typeface="Palatino"/>
              </a:rPr>
              <a:t>Ten sketches in two rows, five at a resistance and five at a support, each with volume bars under the turn: increasing, decreasing, peaking, bottoming and flatlining across the barrier.</a:t>
            </a:r>
          </a:p>
        </p:txBody>
      </p:sp>
      <p:sp>
        <p:nvSpPr>
          <p:cNvPr id="15" name="Rectangle 14"/>
          <p:cNvSpPr/>
          <p:nvPr/>
        </p:nvSpPr>
        <p:spPr>
          <a:xfrm>
            <a:off x="6088636" y="2526304"/>
            <a:ext cx="934777" cy="702259"/>
          </a:xfrm>
          <a:prstGeom prst="rect">
            <a:avLst/>
          </a:prstGeom>
          <a:noFill/>
          <a:ln w="44450">
            <a:solidFill>
              <a:srgbClr val="E09B00"/>
            </a:solidFill>
          </a:ln>
        </p:spPr>
        <p:txBody>
          <a:bodyPr rtlCol="0" anchor="ctr"/>
          <a:lstStyle/>
          <a:p>
            <a:pPr algn="ctr"/>
          </a:p>
        </p:txBody>
      </p:sp>
      <p:sp>
        <p:nvSpPr>
          <p:cNvPr id="16" name="Rectangle 15"/>
          <p:cNvSpPr/>
          <p:nvPr/>
        </p:nvSpPr>
        <p:spPr>
          <a:xfrm>
            <a:off x="7127277" y="2526304"/>
            <a:ext cx="934777" cy="702259"/>
          </a:xfrm>
          <a:prstGeom prst="rect">
            <a:avLst/>
          </a:prstGeom>
          <a:noFill/>
          <a:ln w="44450">
            <a:solidFill>
              <a:srgbClr val="C62828"/>
            </a:solidFill>
          </a:ln>
        </p:spPr>
        <p:txBody>
          <a:bodyPr rtlCol="0" anchor="ctr"/>
          <a:lstStyle/>
          <a:p>
            <a:pPr algn="ctr"/>
          </a:p>
        </p:txBody>
      </p:sp>
      <p:sp>
        <p:nvSpPr>
          <p:cNvPr id="17" name="Rectangle 16"/>
          <p:cNvSpPr/>
          <p:nvPr/>
        </p:nvSpPr>
        <p:spPr>
          <a:xfrm>
            <a:off x="8165918" y="2526304"/>
            <a:ext cx="934777" cy="702259"/>
          </a:xfrm>
          <a:prstGeom prst="rect">
            <a:avLst/>
          </a:prstGeom>
          <a:noFill/>
          <a:ln w="44450">
            <a:solidFill>
              <a:srgbClr val="1F5FAD"/>
            </a:solidFill>
          </a:ln>
        </p:spPr>
        <p:txBody>
          <a:bodyPr rtlCol="0" anchor="ctr"/>
          <a:lstStyle/>
          <a:p>
            <a:pPr algn="ctr"/>
          </a:p>
        </p:txBody>
      </p:sp>
      <p:sp>
        <p:nvSpPr>
          <p:cNvPr id="18" name="Rectangle 17"/>
          <p:cNvSpPr/>
          <p:nvPr/>
        </p:nvSpPr>
        <p:spPr>
          <a:xfrm>
            <a:off x="9204560" y="2526304"/>
            <a:ext cx="934777" cy="702259"/>
          </a:xfrm>
          <a:prstGeom prst="rect">
            <a:avLst/>
          </a:prstGeom>
          <a:noFill/>
          <a:ln w="44450">
            <a:solidFill>
              <a:srgbClr val="007A33"/>
            </a:solidFill>
          </a:ln>
        </p:spPr>
        <p:txBody>
          <a:bodyPr rtlCol="0" anchor="ctr"/>
          <a:lstStyle/>
          <a:p>
            <a:pPr algn="ctr"/>
          </a:p>
        </p:txBody>
      </p:sp>
      <p:sp>
        <p:nvSpPr>
          <p:cNvPr id="19" name="Rectangle 18"/>
          <p:cNvSpPr/>
          <p:nvPr/>
        </p:nvSpPr>
        <p:spPr>
          <a:xfrm>
            <a:off x="10243201" y="2526304"/>
            <a:ext cx="934777" cy="702259"/>
          </a:xfrm>
          <a:prstGeom prst="rect">
            <a:avLst/>
          </a:prstGeom>
          <a:noFill/>
          <a:ln w="44450">
            <a:solidFill>
              <a:srgbClr val="7B3FA0"/>
            </a:solidFill>
          </a:ln>
        </p:spPr>
        <p:txBody>
          <a:bodyPr rtlCol="0" anchor="ctr"/>
          <a:lstStyle/>
          <a:p>
            <a:pPr algn="ctr"/>
          </a:p>
        </p:txBody>
      </p:sp>
      <p:sp>
        <p:nvSpPr>
          <p:cNvPr id="20" name="Oval 19"/>
          <p:cNvSpPr/>
          <p:nvPr/>
        </p:nvSpPr>
        <p:spPr>
          <a:xfrm>
            <a:off x="5933188" y="23708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6971829" y="2370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8010470" y="23708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049112" y="2370856"/>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10087753" y="2370856"/>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TextBox 24"/>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The book: most reliable.</a:t>
            </a:r>
          </a:p>
          <a:p>
            <a:pPr algn="l">
              <a:lnSpc>
                <a:spcPct val="105000"/>
              </a:lnSpc>
              <a:spcBef>
                <a:spcPts val="0"/>
              </a:spcBef>
              <a:spcAft>
                <a:spcPts val="1100"/>
              </a:spcAft>
            </a:pPr>
            <a:r>
              <a:rPr sz="1700" b="0" i="0">
                <a:solidFill>
                  <a:srgbClr val="1A1A1A"/>
                </a:solidFill>
                <a:latin typeface="Arial"/>
              </a:rPr>
              <a:t>Bottoming: 7, 4, 2, 1 at the touch, 2, 4, 7. The book: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average </a:t>
            </a:r>
            <a:r>
              <a:rPr sz="1700" b="1" i="0">
                <a:solidFill>
                  <a:srgbClr val="E09B00"/>
                </a:solidFill>
                <a:latin typeface="Arial"/>
              </a:rPr>
              <a:t>(1)</a:t>
            </a:r>
            <a:r>
              <a:rPr sz="1700" b="0" i="0">
                <a:solidFill>
                  <a:srgbClr val="1A1A1A"/>
                </a:solidFill>
                <a:latin typeface="Arial"/>
              </a:rPr>
              <a:t> is the smoothed volume filter of the term slide, over the last N bars. N, the lookback, is how many bars go into it.</a:t>
            </a:r>
          </a:p>
          <a:p>
            <a:pPr algn="l">
              <a:lnSpc>
                <a:spcPct val="105000"/>
              </a:lnSpc>
              <a:spcBef>
                <a:spcPts val="0"/>
              </a:spcBef>
              <a:spcAft>
                <a:spcPts val="1100"/>
              </a:spcAft>
            </a:pPr>
            <a:r>
              <a:rPr sz="17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700" b="0" i="0">
                <a:solidFill>
                  <a:srgbClr val="1A1A1A"/>
                </a:solidFill>
                <a:latin typeface="Arial"/>
              </a:rPr>
              <a:t>Long N, 100 bars say: slow and flat, only huge spikes cross it, few signals, some turns missed.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right N sits in between. How to find it: next slide.</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a:t>
            </a:r>
            <a:r>
              <a:rPr sz="1300" b="1" i="1">
                <a:solidFill>
                  <a:srgbClr val="C62828"/>
                </a:solidFill>
                <a:latin typeface="Arial"/>
              </a:rPr>
              <a:t>(2)</a:t>
            </a:r>
            <a:r>
              <a:rPr sz="1300" b="0" i="1">
                <a:solidFill>
                  <a:srgbClr val="818181"/>
                </a:solidFill>
                <a:latin typeface="Arial"/>
              </a:rPr>
              <a:t> up to a top or a bottom </a:t>
            </a:r>
            <a:r>
              <a:rPr sz="1300" b="1" i="1">
                <a:solidFill>
                  <a:srgbClr val="1F5FAD"/>
                </a:solidFill>
                <a:latin typeface="Arial"/>
              </a:rPr>
              <a:t>(3)</a:t>
            </a:r>
            <a:r>
              <a:rPr sz="1300" b="0" i="1">
                <a:solidFill>
                  <a:srgbClr val="818181"/>
                </a:solidFill>
                <a:latin typeface="Arial"/>
              </a:rPr>
              <a:t>.</a:t>
            </a:r>
          </a:p>
        </p:txBody>
      </p:sp>
      <p:sp>
        <p:nvSpPr>
          <p:cNvPr id="11" name="Rectangle 10"/>
          <p:cNvSpPr/>
          <p:nvPr/>
        </p:nvSpPr>
        <p:spPr>
          <a:xfrm>
            <a:off x="6583679" y="1810512"/>
            <a:ext cx="4830775" cy="273803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50028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04308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6.20</a:t>
            </a:r>
          </a:p>
          <a:p>
            <a:pPr algn="l">
              <a:lnSpc>
                <a:spcPct val="115000"/>
              </a:lnSpc>
              <a:spcBef>
                <a:spcPts val="0"/>
              </a:spcBef>
              <a:spcAft>
                <a:spcPts val="0"/>
              </a:spcAft>
            </a:pPr>
            <a:r>
              <a:rPr sz="15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p:txBody>
      </p:sp>
      <p:cxnSp>
        <p:nvCxnSpPr>
          <p:cNvPr id="15" name="Connector 14"/>
          <p:cNvCxnSpPr/>
          <p:nvPr/>
        </p:nvCxnSpPr>
        <p:spPr>
          <a:xfrm>
            <a:off x="6794412" y="4142139"/>
            <a:ext cx="3674425" cy="0"/>
          </a:xfrm>
          <a:prstGeom prst="line">
            <a:avLst/>
          </a:prstGeom>
          <a:ln w="44450">
            <a:solidFill>
              <a:srgbClr val="E09B00"/>
            </a:solidFill>
          </a:ln>
        </p:spPr>
      </p:cxnSp>
      <p:sp>
        <p:nvSpPr>
          <p:cNvPr id="16" name="Rectangle 15"/>
          <p:cNvSpPr/>
          <p:nvPr/>
        </p:nvSpPr>
        <p:spPr>
          <a:xfrm>
            <a:off x="7827844" y="3829603"/>
            <a:ext cx="206686" cy="350040"/>
          </a:xfrm>
          <a:prstGeom prst="rect">
            <a:avLst/>
          </a:prstGeom>
          <a:noFill/>
          <a:ln w="44450">
            <a:solidFill>
              <a:srgbClr val="C62828"/>
            </a:solidFill>
          </a:ln>
        </p:spPr>
        <p:txBody>
          <a:bodyPr rtlCol="0" anchor="ctr"/>
          <a:lstStyle/>
          <a:p>
            <a:pPr algn="ctr"/>
          </a:p>
        </p:txBody>
      </p:sp>
      <p:sp>
        <p:nvSpPr>
          <p:cNvPr id="17" name="Oval 16"/>
          <p:cNvSpPr/>
          <p:nvPr/>
        </p:nvSpPr>
        <p:spPr>
          <a:xfrm>
            <a:off x="7781914" y="2754479"/>
            <a:ext cx="275581" cy="350040"/>
          </a:xfrm>
          <a:prstGeom prst="ellipse">
            <a:avLst/>
          </a:prstGeom>
          <a:noFill/>
          <a:ln w="44450">
            <a:solidFill>
              <a:srgbClr val="1F5FAD"/>
            </a:solidFill>
          </a:ln>
        </p:spPr>
        <p:txBody>
          <a:bodyPr rtlCol="0" anchor="ctr"/>
          <a:lstStyle/>
          <a:p>
            <a:pPr algn="ctr"/>
          </a:p>
        </p:txBody>
      </p:sp>
      <p:sp>
        <p:nvSpPr>
          <p:cNvPr id="18" name="Oval 17"/>
          <p:cNvSpPr/>
          <p:nvPr/>
        </p:nvSpPr>
        <p:spPr>
          <a:xfrm>
            <a:off x="6638964" y="39866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062804" y="36241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26466" y="259903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63998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6.20 -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Sigma, the standard deviation: how far volume typically strays from its mean over the same N bars. The line: mean + k x sigma, k = 3 here, or 2.</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20 bars average 10 million, sigma 2 million. 3-sigma line: 10 + 3 x 2 = 16 million; 12 million stays under, 18 million crosses. 2-sigma, 14 million, flags more.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2- or 3-sigma filter, a volatility filter, keeps only the most significant surges: the upper Bollinger Band of volume, k standard deviations above its average.</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At each bar: take its last 20 volume bars, this one included. Mean, then sigma. Plot mean + 3 x sigma. Move forward one bar, repeat.</a:t>
            </a:r>
          </a:p>
          <a:p>
            <a:pPr algn="l">
              <a:lnSpc>
                <a:spcPct val="105000"/>
              </a:lnSpc>
              <a:spcBef>
                <a:spcPts val="0"/>
              </a:spcBef>
              <a:spcAft>
                <a:spcPts val="1100"/>
              </a:spcAft>
            </a:pPr>
            <a:r>
              <a:rPr sz="1900" b="0" i="0">
                <a:solidFill>
                  <a:srgbClr val="1A1A1A"/>
                </a:solidFill>
                <a:latin typeface="Arial"/>
              </a:rPr>
              <a:t>That is why it jumps, at 1: a spike entering the window raises both at once, so the line leaps up. It stays high until the spike leaves 20 bars later, at 2.</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Recomputed from nothing at every bar: no memory beyond its window.</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u.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HU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things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never says if sigma divides by 20 or by 19.</a:t>
            </a:r>
          </a:p>
          <a:p>
            <a:pPr algn="l">
              <a:lnSpc>
                <a:spcPct val="118000"/>
              </a:lnSpc>
              <a:spcBef>
                <a:spcPts val="0"/>
              </a:spcBef>
              <a:spcAft>
                <a:spcPts val="1300"/>
              </a:spcAft>
            </a:pPr>
            <a:r>
              <a:rPr sz="2100" b="0" i="0">
                <a:solidFill>
                  <a:srgbClr val="1A1A1A"/>
                </a:solidFill>
                <a:latin typeface="Arial"/>
              </a:rPr>
              <a:t>Nor does it say if the bar sits in its own window of 20.</a:t>
            </a:r>
          </a:p>
          <a:p>
            <a:pPr algn="l">
              <a:lnSpc>
                <a:spcPct val="118000"/>
              </a:lnSpc>
              <a:spcBef>
                <a:spcPts val="0"/>
              </a:spcBef>
              <a:spcAft>
                <a:spcPts val="1300"/>
              </a:spcAft>
            </a:pPr>
            <a:r>
              <a:rPr sz="2100" b="0" i="0">
                <a:solidFill>
                  <a:srgbClr val="1A1A1A"/>
                </a:solidFill>
                <a:latin typeface="Arial"/>
              </a:rPr>
              <a:t>Our code divides by 20 and includes the bar.</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method is the book's; these two choices are ours.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computes the line, read from the code.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Daily USDJPY with a three-sigma filter on its volume. Three surges cross the line; the book marks each with an arrow up to price </a:t>
            </a:r>
            <a:r>
              <a:rPr sz="1800" b="1" i="0">
                <a:solidFill>
                  <a:srgbClr val="E09B00"/>
                </a:solidFill>
                <a:latin typeface="Arial"/>
              </a:rPr>
              <a:t>(1)</a:t>
            </a:r>
            <a:r>
              <a:rPr sz="1800" b="0" i="0">
                <a:solidFill>
                  <a:srgbClr val="1A1A1A"/>
                </a:solidFill>
                <a:latin typeface="Arial"/>
              </a:rPr>
              <a: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Stricter than the smoothed filter, this line skips the April 2011 top </a:t>
            </a:r>
            <a:r>
              <a:rPr sz="1800" b="1" i="0">
                <a:solidFill>
                  <a:srgbClr val="007A33"/>
                </a:solidFill>
                <a:latin typeface="Arial"/>
              </a:rPr>
              <a:t>(4)</a:t>
            </a:r>
            <a:r>
              <a:rPr sz="1800" b="0" i="0">
                <a:solidFill>
                  <a:srgbClr val="1A1A1A"/>
                </a:solidFill>
                <a:latin typeface="Arial"/>
              </a:rPr>
              <a:t>, the highest price on the chart.</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42793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such surges tend to come at the most significant tops and bottoms.</a:t>
            </a:r>
          </a:p>
        </p:txBody>
      </p:sp>
      <p:sp>
        <p:nvSpPr>
          <p:cNvPr id="10" name="Rectangle 9"/>
          <p:cNvSpPr/>
          <p:nvPr/>
        </p:nvSpPr>
        <p:spPr>
          <a:xfrm>
            <a:off x="5669279" y="1810512"/>
            <a:ext cx="5745175" cy="35614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788151" y="1929384"/>
            <a:ext cx="5507431" cy="33237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62471" y="2203703"/>
            <a:ext cx="4958791" cy="28665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daily USDJPY chart with a stepped line across its volume panel labelled 3-sigma volume overextension threshold, and dotted arrows from the three overextensions in volume above it up to turns in price; the April 2011 top has no arrow.</a:t>
            </a:r>
          </a:p>
        </p:txBody>
      </p:sp>
      <p:sp>
        <p:nvSpPr>
          <p:cNvPr id="14" name="Oval 13"/>
          <p:cNvSpPr/>
          <p:nvPr/>
        </p:nvSpPr>
        <p:spPr>
          <a:xfrm>
            <a:off x="7412844" y="3258878"/>
            <a:ext cx="330445" cy="797696"/>
          </a:xfrm>
          <a:prstGeom prst="ellipse">
            <a:avLst/>
          </a:prstGeom>
          <a:noFill/>
          <a:ln w="44450">
            <a:solidFill>
              <a:srgbClr val="E09B00"/>
            </a:solidFill>
          </a:ln>
        </p:spPr>
        <p:txBody>
          <a:bodyPr rtlCol="0" anchor="ctr"/>
          <a:lstStyle/>
          <a:p>
            <a:pPr algn="ctr"/>
          </a:p>
        </p:txBody>
      </p:sp>
      <p:sp>
        <p:nvSpPr>
          <p:cNvPr id="15" name="Oval 14"/>
          <p:cNvSpPr/>
          <p:nvPr/>
        </p:nvSpPr>
        <p:spPr>
          <a:xfrm>
            <a:off x="9175222" y="3591252"/>
            <a:ext cx="330445" cy="465323"/>
          </a:xfrm>
          <a:prstGeom prst="ellipse">
            <a:avLst/>
          </a:prstGeom>
          <a:noFill/>
          <a:ln w="44450">
            <a:solidFill>
              <a:srgbClr val="C62828"/>
            </a:solidFill>
          </a:ln>
        </p:spPr>
        <p:txBody>
          <a:bodyPr rtlCol="0" anchor="ctr"/>
          <a:lstStyle/>
          <a:p>
            <a:pPr algn="ctr"/>
          </a:p>
        </p:txBody>
      </p:sp>
      <p:sp>
        <p:nvSpPr>
          <p:cNvPr id="16" name="Oval 15"/>
          <p:cNvSpPr/>
          <p:nvPr/>
        </p:nvSpPr>
        <p:spPr>
          <a:xfrm>
            <a:off x="10249171" y="3857151"/>
            <a:ext cx="330445" cy="432085"/>
          </a:xfrm>
          <a:prstGeom prst="ellipse">
            <a:avLst/>
          </a:prstGeom>
          <a:noFill/>
          <a:ln w="44450">
            <a:solidFill>
              <a:srgbClr val="1F5FAD"/>
            </a:solidFill>
          </a:ln>
        </p:spPr>
        <p:txBody>
          <a:bodyPr rtlCol="0" anchor="ctr"/>
          <a:lstStyle/>
          <a:p>
            <a:pPr algn="ctr"/>
          </a:p>
        </p:txBody>
      </p:sp>
      <p:sp>
        <p:nvSpPr>
          <p:cNvPr id="17" name="Oval 16"/>
          <p:cNvSpPr/>
          <p:nvPr/>
        </p:nvSpPr>
        <p:spPr>
          <a:xfrm>
            <a:off x="7688215" y="1929384"/>
            <a:ext cx="330445" cy="432085"/>
          </a:xfrm>
          <a:prstGeom prst="ellipse">
            <a:avLst/>
          </a:prstGeom>
          <a:noFill/>
          <a:ln w="44450">
            <a:solidFill>
              <a:srgbClr val="007A33"/>
            </a:solidFill>
          </a:ln>
        </p:spPr>
        <p:txBody>
          <a:bodyPr rtlCol="0" anchor="ctr"/>
          <a:lstStyle/>
          <a:p>
            <a:pPr algn="ctr"/>
          </a:p>
        </p:txBody>
      </p:sp>
      <p:sp>
        <p:nvSpPr>
          <p:cNvPr id="18" name="Oval 17"/>
          <p:cNvSpPr/>
          <p:nvPr/>
        </p:nvSpPr>
        <p:spPr>
          <a:xfrm>
            <a:off x="7257396" y="310343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19774" y="34358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093723" y="370170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7863213" y="198997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5669279" y="546343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April top, read off the figure.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three-sigma line, close 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24</a:t>
            </a:r>
          </a:p>
        </p:txBody>
      </p:sp>
      <p:sp>
        <p:nvSpPr>
          <p:cNvPr id="7" name="TextBox 6"/>
          <p:cNvSpPr txBox="1"/>
          <p:nvPr/>
        </p:nvSpPr>
        <p:spPr>
          <a:xfrm>
            <a:off x="777240" y="1965960"/>
            <a:ext cx="40233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Stepped line </a:t>
            </a:r>
            <a:r>
              <a:rPr sz="1800" b="1" i="0">
                <a:solidFill>
                  <a:srgbClr val="E09B00"/>
                </a:solidFill>
                <a:latin typeface="Arial"/>
              </a:rPr>
              <a:t>(1)</a:t>
            </a:r>
            <a:r>
              <a:rPr sz="1800" b="0" i="0">
                <a:solidFill>
                  <a:srgbClr val="1A1A1A"/>
                </a:solidFill>
                <a:latin typeface="Arial"/>
              </a:rPr>
              <a:t>: the three-sigma filter, drawn over the volume bars.</a:t>
            </a:r>
          </a:p>
          <a:p>
            <a:pPr algn="l">
              <a:lnSpc>
                <a:spcPct val="105000"/>
              </a:lnSpc>
              <a:spcBef>
                <a:spcPts val="0"/>
              </a:spcBef>
              <a:spcAft>
                <a:spcPts val="1100"/>
              </a:spcAft>
            </a:pPr>
            <a:r>
              <a:rPr sz="1800" b="0" i="0">
                <a:solidFill>
                  <a:srgbClr val="1A1A1A"/>
                </a:solidFill>
                <a:latin typeface="Arial"/>
              </a:rPr>
              <a:t>Three surges cross it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 </a:t>
            </a:r>
            <a:r>
              <a:rPr sz="1800" b="1" i="0">
                <a:solidFill>
                  <a:srgbClr val="007A33"/>
                </a:solidFill>
                <a:latin typeface="Arial"/>
              </a:rPr>
              <a:t>(4)</a:t>
            </a:r>
            <a:r>
              <a:rPr sz="1800" b="0" i="0">
                <a:solidFill>
                  <a:srgbClr val="1A1A1A"/>
                </a:solidFill>
                <a:latin typeface="Arial"/>
              </a:rPr>
              <a:t>, each under an arrow up to price.</a:t>
            </a:r>
          </a:p>
          <a:p>
            <a:pPr algn="l">
              <a:lnSpc>
                <a:spcPct val="105000"/>
              </a:lnSpc>
              <a:spcBef>
                <a:spcPts val="0"/>
              </a:spcBef>
              <a:spcAft>
                <a:spcPts val="1100"/>
              </a:spcAft>
            </a:pPr>
            <a:r>
              <a:rPr sz="1800" b="0" i="0">
                <a:solidFill>
                  <a:srgbClr val="1A1A1A"/>
                </a:solidFill>
                <a:latin typeface="Arial"/>
              </a:rPr>
              <a:t>It stays high for months after the March spike </a:t>
            </a:r>
            <a:r>
              <a:rPr sz="1800" b="1" i="0">
                <a:solidFill>
                  <a:srgbClr val="C62828"/>
                </a:solidFill>
                <a:latin typeface="Arial"/>
              </a:rPr>
              <a:t>(2)</a:t>
            </a:r>
            <a:r>
              <a:rPr sz="1800" b="0" i="0">
                <a:solidFill>
                  <a:srgbClr val="1A1A1A"/>
                </a:solidFill>
                <a:latin typeface="Arial"/>
              </a:rPr>
              <a:t>, far beyond our 20 bars. The book never gives its N.</a:t>
            </a:r>
          </a:p>
          <a:p>
            <a:pPr algn="l">
              <a:lnSpc>
                <a:spcPct val="105000"/>
              </a:lnSpc>
              <a:spcBef>
                <a:spcPts val="0"/>
              </a:spcBef>
              <a:spcAft>
                <a:spcPts val="1100"/>
              </a:spcAft>
            </a:pPr>
            <a:r>
              <a:rPr sz="1800" b="0" i="0">
                <a:solidFill>
                  <a:srgbClr val="1A1A1A"/>
                </a:solidFill>
                <a:latin typeface="Arial"/>
              </a:rPr>
              <a:t>The two lower lines </a:t>
            </a:r>
            <a:r>
              <a:rPr sz="1800" b="1" i="0">
                <a:solidFill>
                  <a:srgbClr val="7B3FA0"/>
                </a:solidFill>
                <a:latin typeface="Arial"/>
              </a:rPr>
              <a:t>(5)</a:t>
            </a:r>
            <a:r>
              <a:rPr sz="1800" b="0" i="0">
                <a:solidFill>
                  <a:srgbClr val="1A1A1A"/>
                </a:solidFill>
                <a:latin typeface="Arial"/>
              </a:rPr>
              <a:t> </a:t>
            </a:r>
            <a:r>
              <a:rPr sz="1800" b="1" i="0">
                <a:solidFill>
                  <a:srgbClr val="007A33"/>
                </a:solidFill>
                <a:latin typeface="Arial"/>
              </a:rPr>
              <a:t>(6)</a:t>
            </a:r>
            <a:r>
              <a:rPr sz="1800" b="0" i="0">
                <a:solidFill>
                  <a:srgbClr val="1A1A1A"/>
                </a:solidFill>
                <a:latin typeface="Arial"/>
              </a:rPr>
              <a:t> are drawn and not named by the book; only the top one is the filter.</a:t>
            </a:r>
          </a:p>
        </p:txBody>
      </p:sp>
      <p:sp>
        <p:nvSpPr>
          <p:cNvPr id="8" name="Rectangle 7"/>
          <p:cNvSpPr/>
          <p:nvPr/>
        </p:nvSpPr>
        <p:spPr>
          <a:xfrm>
            <a:off x="5120640" y="1810512"/>
            <a:ext cx="6293814" cy="218306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239512" y="1929384"/>
            <a:ext cx="6056070" cy="194531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239512" y="1929384"/>
            <a:ext cx="60560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513831" y="2203703"/>
            <a:ext cx="5507431" cy="148811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volume panel of the daily USDJPY chart, drawn larger: the stepped 3-sigma volume overextension threshold over the volume bars, the three surges that cross it, and two lower lines the book does not name.</a:t>
            </a:r>
          </a:p>
        </p:txBody>
      </p:sp>
      <p:cxnSp>
        <p:nvCxnSpPr>
          <p:cNvPr id="12" name="Connector 11"/>
          <p:cNvCxnSpPr/>
          <p:nvPr/>
        </p:nvCxnSpPr>
        <p:spPr>
          <a:xfrm>
            <a:off x="5778502" y="2942894"/>
            <a:ext cx="3857717" cy="0"/>
          </a:xfrm>
          <a:prstGeom prst="line">
            <a:avLst/>
          </a:prstGeom>
          <a:ln w="44450">
            <a:solidFill>
              <a:srgbClr val="E09B00"/>
            </a:solidFill>
          </a:ln>
        </p:spPr>
      </p:cxnSp>
      <p:sp>
        <p:nvSpPr>
          <p:cNvPr id="13" name="Oval 12"/>
          <p:cNvSpPr/>
          <p:nvPr/>
        </p:nvSpPr>
        <p:spPr>
          <a:xfrm>
            <a:off x="5433306" y="2518815"/>
            <a:ext cx="490541" cy="824815"/>
          </a:xfrm>
          <a:prstGeom prst="ellipse">
            <a:avLst/>
          </a:prstGeom>
          <a:noFill/>
          <a:ln w="44450">
            <a:solidFill>
              <a:srgbClr val="C62828"/>
            </a:solidFill>
          </a:ln>
        </p:spPr>
        <p:txBody>
          <a:bodyPr rtlCol="0" anchor="ctr"/>
          <a:lstStyle/>
          <a:p>
            <a:pPr algn="ctr"/>
          </a:p>
        </p:txBody>
      </p:sp>
      <p:sp>
        <p:nvSpPr>
          <p:cNvPr id="14" name="Oval 13"/>
          <p:cNvSpPr/>
          <p:nvPr/>
        </p:nvSpPr>
        <p:spPr>
          <a:xfrm>
            <a:off x="8558238" y="2518815"/>
            <a:ext cx="490541" cy="824815"/>
          </a:xfrm>
          <a:prstGeom prst="ellipse">
            <a:avLst/>
          </a:prstGeom>
          <a:noFill/>
          <a:ln w="44450">
            <a:solidFill>
              <a:srgbClr val="1F5FAD"/>
            </a:solidFill>
          </a:ln>
        </p:spPr>
        <p:txBody>
          <a:bodyPr rtlCol="0" anchor="ctr"/>
          <a:lstStyle/>
          <a:p>
            <a:pPr algn="ctr"/>
          </a:p>
        </p:txBody>
      </p:sp>
      <p:sp>
        <p:nvSpPr>
          <p:cNvPr id="15" name="Oval 14"/>
          <p:cNvSpPr/>
          <p:nvPr/>
        </p:nvSpPr>
        <p:spPr>
          <a:xfrm>
            <a:off x="10465901" y="2518815"/>
            <a:ext cx="490541" cy="824815"/>
          </a:xfrm>
          <a:prstGeom prst="ellipse">
            <a:avLst/>
          </a:prstGeom>
          <a:noFill/>
          <a:ln w="44450">
            <a:solidFill>
              <a:srgbClr val="007A33"/>
            </a:solidFill>
          </a:ln>
        </p:spPr>
        <p:txBody>
          <a:bodyPr rtlCol="0" anchor="ctr"/>
          <a:lstStyle/>
          <a:p>
            <a:pPr algn="ctr"/>
          </a:p>
        </p:txBody>
      </p:sp>
      <p:cxnSp>
        <p:nvCxnSpPr>
          <p:cNvPr id="16" name="Connector 15"/>
          <p:cNvCxnSpPr/>
          <p:nvPr/>
        </p:nvCxnSpPr>
        <p:spPr>
          <a:xfrm>
            <a:off x="6414389" y="3372810"/>
            <a:ext cx="4687399" cy="0"/>
          </a:xfrm>
          <a:prstGeom prst="line">
            <a:avLst/>
          </a:prstGeom>
          <a:ln w="44450">
            <a:solidFill>
              <a:srgbClr val="7B3FA0"/>
            </a:solidFill>
          </a:ln>
        </p:spPr>
      </p:cxnSp>
      <p:cxnSp>
        <p:nvCxnSpPr>
          <p:cNvPr id="17" name="Connector 16"/>
          <p:cNvCxnSpPr/>
          <p:nvPr/>
        </p:nvCxnSpPr>
        <p:spPr>
          <a:xfrm>
            <a:off x="6414389" y="3668498"/>
            <a:ext cx="4687399" cy="0"/>
          </a:xfrm>
          <a:prstGeom prst="line">
            <a:avLst/>
          </a:prstGeom>
          <a:ln w="44450">
            <a:solidFill>
              <a:srgbClr val="007A33"/>
            </a:solidFill>
          </a:ln>
        </p:spPr>
      </p:cxnSp>
      <p:sp>
        <p:nvSpPr>
          <p:cNvPr id="18" name="Oval 17"/>
          <p:cNvSpPr/>
          <p:nvPr/>
        </p:nvSpPr>
        <p:spPr>
          <a:xfrm>
            <a:off x="6053035" y="25520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5277858" y="236336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645033" y="19101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52696" y="191010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Oval 21"/>
          <p:cNvSpPr/>
          <p:nvPr/>
        </p:nvSpPr>
        <p:spPr>
          <a:xfrm>
            <a:off x="10946340" y="3217362"/>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3" name="Oval 22"/>
          <p:cNvSpPr/>
          <p:nvPr/>
        </p:nvSpPr>
        <p:spPr>
          <a:xfrm>
            <a:off x="6258941" y="3513050"/>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4" name="TextBox 23"/>
          <p:cNvSpPr txBox="1"/>
          <p:nvPr/>
        </p:nvSpPr>
        <p:spPr>
          <a:xfrm>
            <a:off x="5120640" y="4085014"/>
            <a:ext cx="62938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its volume panel. Ours: what the lines do, read off the figure.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(Part 1).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and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a:t>
            </a:r>
            <a:r>
              <a:rPr sz="1700" b="1" i="0">
                <a:solidFill>
                  <a:srgbClr val="E09B00"/>
                </a:solidFill>
                <a:latin typeface="Arial"/>
              </a:rPr>
              <a:t>(1)</a:t>
            </a:r>
            <a:r>
              <a:rPr sz="1700" b="0" i="0">
                <a:solidFill>
                  <a:srgbClr val="1A1A1A"/>
                </a:solidFill>
                <a:latin typeface="Arial"/>
              </a:rPr>
              <a:t>, so only the most significant peaks reach it. The oval </a:t>
            </a:r>
            <a:r>
              <a:rPr sz="1700" b="1" i="0">
                <a:solidFill>
                  <a:srgbClr val="C62828"/>
                </a:solidFill>
                <a:latin typeface="Arial"/>
              </a:rPr>
              <a:t>(2)</a:t>
            </a:r>
            <a:r>
              <a:rPr sz="1700" b="0" i="0">
                <a:solidFill>
                  <a:srgbClr val="1A1A1A"/>
                </a:solidFill>
                <a:latin typeface="Arial"/>
              </a:rPr>
              <a:t>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a:t>
            </a:r>
            <a:r>
              <a:rPr sz="1800" b="1" i="0">
                <a:solidFill>
                  <a:srgbClr val="1F5FAD"/>
                </a:solidFill>
                <a:latin typeface="Arial"/>
              </a:rPr>
              <a:t>(3)</a:t>
            </a:r>
            <a:r>
              <a:rPr sz="1800" b="1" i="0">
                <a:solidFill>
                  <a:srgbClr val="1A1A1A"/>
                </a:solidFill>
                <a:latin typeface="Arial"/>
              </a:rPr>
              <a:t> price bounces off the lower line, a short-term buy, then falls through it </a:t>
            </a:r>
            <a:r>
              <a:rPr sz="1800" b="1" i="0">
                <a:solidFill>
                  <a:srgbClr val="007A33"/>
                </a:solidFill>
                <a:latin typeface="Arial"/>
              </a:rPr>
              <a:t>(4)</a:t>
            </a:r>
            <a:r>
              <a:rPr sz="1800" b="1" i="0">
                <a:solidFill>
                  <a:srgbClr val="1A1A1A"/>
                </a:solidFill>
                <a:latin typeface="Arial"/>
              </a:rPr>
              <a:t>.</a:t>
            </a:r>
          </a:p>
        </p:txBody>
      </p:sp>
      <p:sp>
        <p:nvSpPr>
          <p:cNvPr id="10" name="Rectangle 9"/>
          <p:cNvSpPr/>
          <p:nvPr/>
        </p:nvSpPr>
        <p:spPr>
          <a:xfrm>
            <a:off x="6217919" y="1810512"/>
            <a:ext cx="5196535" cy="27246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48685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2965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5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p:txBody>
      </p:sp>
      <p:cxnSp>
        <p:nvCxnSpPr>
          <p:cNvPr id="14" name="Connector 13"/>
          <p:cNvCxnSpPr/>
          <p:nvPr/>
        </p:nvCxnSpPr>
        <p:spPr>
          <a:xfrm>
            <a:off x="6832671" y="4172528"/>
            <a:ext cx="4314148" cy="0"/>
          </a:xfrm>
          <a:prstGeom prst="line">
            <a:avLst/>
          </a:prstGeom>
          <a:ln w="44450">
            <a:solidFill>
              <a:srgbClr val="E09B00"/>
            </a:solidFill>
          </a:ln>
        </p:spPr>
      </p:cxnSp>
      <p:sp>
        <p:nvSpPr>
          <p:cNvPr id="15" name="Rectangle 14"/>
          <p:cNvSpPr/>
          <p:nvPr/>
        </p:nvSpPr>
        <p:spPr>
          <a:xfrm>
            <a:off x="8791393" y="3894000"/>
            <a:ext cx="595054" cy="348159"/>
          </a:xfrm>
          <a:prstGeom prst="rect">
            <a:avLst/>
          </a:prstGeom>
          <a:noFill/>
          <a:ln w="44450">
            <a:solidFill>
              <a:srgbClr val="C62828"/>
            </a:solidFill>
          </a:ln>
        </p:spPr>
        <p:txBody>
          <a:bodyPr rtlCol="0" anchor="ctr"/>
          <a:lstStyle/>
          <a:p>
            <a:pPr algn="ctr"/>
          </a:p>
        </p:txBody>
      </p:sp>
      <p:sp>
        <p:nvSpPr>
          <p:cNvPr id="16" name="Oval 15"/>
          <p:cNvSpPr/>
          <p:nvPr/>
        </p:nvSpPr>
        <p:spPr>
          <a:xfrm>
            <a:off x="9088921" y="2924126"/>
            <a:ext cx="322321" cy="323291"/>
          </a:xfrm>
          <a:prstGeom prst="ellipse">
            <a:avLst/>
          </a:prstGeom>
          <a:noFill/>
          <a:ln w="44450">
            <a:solidFill>
              <a:srgbClr val="1F5FAD"/>
            </a:solidFill>
          </a:ln>
        </p:spPr>
        <p:txBody>
          <a:bodyPr rtlCol="0" anchor="ctr"/>
          <a:lstStyle/>
          <a:p>
            <a:pPr algn="ctr"/>
          </a:p>
        </p:txBody>
      </p:sp>
      <p:cxnSp>
        <p:nvCxnSpPr>
          <p:cNvPr id="17" name="Connector 16"/>
          <p:cNvCxnSpPr/>
          <p:nvPr/>
        </p:nvCxnSpPr>
        <p:spPr>
          <a:xfrm>
            <a:off x="9510418" y="2924126"/>
            <a:ext cx="74382" cy="795794"/>
          </a:xfrm>
          <a:prstGeom prst="line">
            <a:avLst/>
          </a:prstGeom>
          <a:ln w="44450">
            <a:solidFill>
              <a:srgbClr val="007A33"/>
            </a:solidFill>
            <a:tailEnd type="triangle" w="med" len="med"/>
          </a:ln>
        </p:spPr>
      </p:cxnSp>
      <p:sp>
        <p:nvSpPr>
          <p:cNvPr id="18" name="Oval 17"/>
          <p:cNvSpPr/>
          <p:nvPr/>
        </p:nvSpPr>
        <p:spPr>
          <a:xfrm>
            <a:off x="6677223" y="40170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35945" y="373855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759915" y="29427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652497" y="316657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62655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the lower line at 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the lower line rises at the slope of peaks 1 to 2: PHP 4.00 in 40 bars, 0.10 a bar.</a:t>
            </a:r>
          </a:p>
          <a:p>
            <a:pPr algn="l">
              <a:lnSpc>
                <a:spcPct val="105000"/>
              </a:lnSpc>
              <a:spcBef>
                <a:spcPts val="0"/>
              </a:spcBef>
              <a:spcAft>
                <a:spcPts val="1100"/>
              </a:spcAft>
            </a:pPr>
            <a:r>
              <a:rPr sz="1800" b="0" i="0">
                <a:solidFill>
                  <a:srgbClr val="1A1A1A"/>
                </a:solidFill>
                <a:latin typeface="Arial"/>
              </a:rPr>
              <a:t>X is bar 72, 28 bars after trough 3 at bar 44, shaded. The lower line is there at 49.00 + 28 x 0.10 = PHP 51.80; price touches it and turns up.</a:t>
            </a:r>
          </a:p>
        </p:txBody>
      </p:sp>
      <p:sp>
        <p:nvSpPr>
          <p:cNvPr id="8" name="Rectangle 7"/>
          <p:cNvSpPr/>
          <p:nvPr/>
        </p:nvSpPr>
        <p:spPr>
          <a:xfrm>
            <a:off x="777240" y="3936491"/>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73068"/>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What to do: at the lower line, look for a short-term buy. Falling through it violates the channel, the book's word.</a:t>
            </a:r>
          </a:p>
        </p:txBody>
      </p:sp>
      <p:sp>
        <p:nvSpPr>
          <p:cNvPr id="10" name="TextBox 9"/>
          <p:cNvSpPr txBox="1"/>
          <p:nvPr/>
        </p:nvSpPr>
        <p:spPr>
          <a:xfrm>
            <a:off x="777240" y="515264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uptrend line joined troughs; here the book joins two peaks, 1 and 2, and gives no reason.</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v.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HV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Ours: the channel, its numbers and the arithmetic at X, on the step by step chart's invented prices.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6.22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22 of 24</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channel uses only the July to August peaks in tick volume </a:t>
            </a:r>
            <a:r>
              <a:rPr sz="1700" b="1" i="0">
                <a:solidFill>
                  <a:srgbClr val="E09B00"/>
                </a:solidFill>
                <a:latin typeface="Arial"/>
              </a:rPr>
              <a:t>(4)</a:t>
            </a:r>
            <a:r>
              <a:rPr sz="1700" b="0" i="0">
                <a:solidFill>
                  <a:srgbClr val="1A1A1A"/>
                </a:solidFill>
                <a:latin typeface="Arial"/>
              </a:rPr>
              <a:t>, under the arrows to Points 1, 2 and 3.</a:t>
            </a:r>
          </a:p>
          <a:p>
            <a:pPr algn="l">
              <a:lnSpc>
                <a:spcPct val="105000"/>
              </a:lnSpc>
              <a:spcBef>
                <a:spcPts val="0"/>
              </a:spcBef>
              <a:spcAft>
                <a:spcPts val="1100"/>
              </a:spcAft>
            </a:pPr>
            <a:r>
              <a:rPr sz="1700" b="0" i="0">
                <a:solidFill>
                  <a:srgbClr val="1A1A1A"/>
                </a:solidFill>
                <a:latin typeface="Arial"/>
              </a:rPr>
              <a:t>Yet silver's April bars </a:t>
            </a:r>
            <a:r>
              <a:rPr sz="1700" b="1" i="0">
                <a:solidFill>
                  <a:srgbClr val="C62828"/>
                </a:solidFill>
                <a:latin typeface="Arial"/>
              </a:rPr>
              <a:t>(5)</a:t>
            </a:r>
            <a:r>
              <a:rPr sz="1700" b="0" i="0">
                <a:solidFill>
                  <a:srgbClr val="1A1A1A"/>
                </a:solidFill>
                <a:latin typeface="Arial"/>
              </a:rPr>
              <a:t>, at the line labelled High tick volume level, and late September bars </a:t>
            </a:r>
            <a:r>
              <a:rPr sz="1700" b="1" i="0">
                <a:solidFill>
                  <a:srgbClr val="1F5FAD"/>
                </a:solidFill>
                <a:latin typeface="Arial"/>
              </a:rPr>
              <a:t>(6)</a:t>
            </a:r>
            <a:r>
              <a:rPr sz="1700" b="0" i="0">
                <a:solidFill>
                  <a:srgbClr val="1A1A1A"/>
                </a:solidFill>
                <a:latin typeface="Arial"/>
              </a:rPr>
              <a:t>, reach the threshold too; the book does not say why it skips them.</a:t>
            </a:r>
          </a:p>
        </p:txBody>
      </p:sp>
      <p:sp>
        <p:nvSpPr>
          <p:cNvPr id="8" name="Rectangle 7"/>
          <p:cNvSpPr/>
          <p:nvPr/>
        </p:nvSpPr>
        <p:spPr>
          <a:xfrm>
            <a:off x="777240" y="4672583"/>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59"/>
            <a:ext cx="39136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Use heavily traded turns; which of them is left to the eye.</a:t>
            </a:r>
          </a:p>
        </p:txBody>
      </p:sp>
      <p:sp>
        <p:nvSpPr>
          <p:cNvPr id="10" name="Rectangle 9"/>
          <p:cNvSpPr/>
          <p:nvPr/>
        </p:nvSpPr>
        <p:spPr>
          <a:xfrm>
            <a:off x="5303519" y="1810512"/>
            <a:ext cx="6110935" cy="214094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22391" y="1929384"/>
            <a:ext cx="5873191" cy="190320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5696711" y="2203703"/>
            <a:ext cx="5324551" cy="144600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300" b="0" i="0">
                <a:solidFill>
                  <a:srgbClr val="1A1A1A"/>
                </a:solidFill>
                <a:latin typeface="Palatino"/>
              </a:rPr>
              <a:t>The daily silver chart, XAGUSD, with its tick volume overextension threshold. The July to August tick volume peaks are ringed under Points 1, 2 and 3; the April bars, at the line labelled high tick volume level, and the late September bars also reach the threshold and are not used.</a:t>
            </a:r>
          </a:p>
        </p:txBody>
      </p:sp>
      <p:sp>
        <p:nvSpPr>
          <p:cNvPr id="14" name="Rectangle 13"/>
          <p:cNvSpPr/>
          <p:nvPr/>
        </p:nvSpPr>
        <p:spPr>
          <a:xfrm>
            <a:off x="8541056" y="3016112"/>
            <a:ext cx="1080667" cy="635669"/>
          </a:xfrm>
          <a:prstGeom prst="rect">
            <a:avLst/>
          </a:prstGeom>
          <a:noFill/>
          <a:ln w="44450">
            <a:solidFill>
              <a:srgbClr val="E09B00"/>
            </a:solidFill>
          </a:ln>
        </p:spPr>
        <p:txBody>
          <a:bodyPr rtlCol="0" anchor="ctr"/>
          <a:lstStyle/>
          <a:p>
            <a:pPr algn="ctr"/>
          </a:p>
        </p:txBody>
      </p:sp>
      <p:sp>
        <p:nvSpPr>
          <p:cNvPr id="15" name="Rectangle 14"/>
          <p:cNvSpPr/>
          <p:nvPr/>
        </p:nvSpPr>
        <p:spPr>
          <a:xfrm>
            <a:off x="6373848" y="3242593"/>
            <a:ext cx="722402" cy="409188"/>
          </a:xfrm>
          <a:prstGeom prst="rect">
            <a:avLst/>
          </a:prstGeom>
          <a:noFill/>
          <a:ln w="44450">
            <a:solidFill>
              <a:srgbClr val="C62828"/>
            </a:solidFill>
          </a:ln>
        </p:spPr>
        <p:txBody>
          <a:bodyPr rtlCol="0" anchor="ctr"/>
          <a:lstStyle/>
          <a:p>
            <a:pPr algn="ctr"/>
          </a:p>
        </p:txBody>
      </p:sp>
      <p:sp>
        <p:nvSpPr>
          <p:cNvPr id="16" name="Rectangle 15"/>
          <p:cNvSpPr/>
          <p:nvPr/>
        </p:nvSpPr>
        <p:spPr>
          <a:xfrm>
            <a:off x="9891890" y="3242593"/>
            <a:ext cx="722402" cy="409188"/>
          </a:xfrm>
          <a:prstGeom prst="rect">
            <a:avLst/>
          </a:prstGeom>
          <a:noFill/>
          <a:ln w="44450">
            <a:solidFill>
              <a:srgbClr val="1F5FAD"/>
            </a:solidFill>
          </a:ln>
        </p:spPr>
        <p:txBody>
          <a:bodyPr rtlCol="0" anchor="ctr"/>
          <a:lstStyle/>
          <a:p>
            <a:pPr algn="ctr"/>
          </a:p>
        </p:txBody>
      </p:sp>
      <p:sp>
        <p:nvSpPr>
          <p:cNvPr id="17" name="Oval 16"/>
          <p:cNvSpPr/>
          <p:nvPr/>
        </p:nvSpPr>
        <p:spPr>
          <a:xfrm>
            <a:off x="8385608" y="286066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8" name="Oval 17"/>
          <p:cNvSpPr/>
          <p:nvPr/>
        </p:nvSpPr>
        <p:spPr>
          <a:xfrm>
            <a:off x="7163984" y="281689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9" name="Oval 18"/>
          <p:cNvSpPr/>
          <p:nvPr/>
        </p:nvSpPr>
        <p:spPr>
          <a:xfrm>
            <a:off x="9736442" y="30871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0" name="TextBox 19"/>
          <p:cNvSpPr txBox="1"/>
          <p:nvPr/>
        </p:nvSpPr>
        <p:spPr>
          <a:xfrm>
            <a:off x="5303519" y="4042898"/>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what the figure's volume panel shows that the text does not explain.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 </a:t>
            </a:r>
            <a:r>
              <a:rPr sz="1700" b="1" i="0">
                <a:solidFill>
                  <a:srgbClr val="E09B00"/>
                </a:solidFill>
                <a:latin typeface="Arial"/>
              </a:rPr>
              <a:t>(7)</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 parallel from 4, carried back, meets the trough at X </a:t>
            </a:r>
            <a:r>
              <a:rPr sz="1700" b="1" i="0">
                <a:solidFill>
                  <a:srgbClr val="C62828"/>
                </a:solidFill>
                <a:latin typeface="Arial"/>
              </a:rPr>
              <a:t>(8)</a:t>
            </a:r>
            <a:r>
              <a:rPr sz="1700" b="0" i="0">
                <a:solidFill>
                  <a:srgbClr val="1A1A1A"/>
                </a:solidFill>
                <a:latin typeface="Arial"/>
              </a:rPr>
              <a:t>,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 </a:t>
            </a:r>
            <a:r>
              <a:rPr sz="1700" b="1" i="0">
                <a:solidFill>
                  <a:srgbClr val="1F5FAD"/>
                </a:solidFill>
                <a:latin typeface="Arial"/>
              </a:rPr>
              <a:t>(9)</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27396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019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447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p:txBody>
      </p:sp>
      <p:sp>
        <p:nvSpPr>
          <p:cNvPr id="14" name="Oval 13"/>
          <p:cNvSpPr/>
          <p:nvPr/>
        </p:nvSpPr>
        <p:spPr>
          <a:xfrm>
            <a:off x="9411242" y="2830072"/>
            <a:ext cx="272733" cy="700535"/>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6857465" y="3580646"/>
            <a:ext cx="1710782" cy="663007"/>
          </a:xfrm>
          <a:prstGeom prst="line">
            <a:avLst/>
          </a:prstGeom>
          <a:ln w="44450">
            <a:solidFill>
              <a:srgbClr val="C62828"/>
            </a:solidFill>
          </a:ln>
        </p:spPr>
      </p:cxnSp>
      <p:sp>
        <p:nvSpPr>
          <p:cNvPr id="16" name="Rectangle 15"/>
          <p:cNvSpPr/>
          <p:nvPr/>
        </p:nvSpPr>
        <p:spPr>
          <a:xfrm>
            <a:off x="9535212" y="3330455"/>
            <a:ext cx="1016552" cy="900688"/>
          </a:xfrm>
          <a:prstGeom prst="rect">
            <a:avLst/>
          </a:prstGeom>
          <a:noFill/>
          <a:ln w="44450">
            <a:solidFill>
              <a:srgbClr val="1F5FAD"/>
            </a:solidFill>
          </a:ln>
        </p:spPr>
        <p:txBody>
          <a:bodyPr rtlCol="0" anchor="ctr"/>
          <a:lstStyle/>
          <a:p>
            <a:pPr algn="ctr"/>
          </a:p>
        </p:txBody>
      </p:sp>
      <p:sp>
        <p:nvSpPr>
          <p:cNvPr id="17" name="Oval 16"/>
          <p:cNvSpPr/>
          <p:nvPr/>
        </p:nvSpPr>
        <p:spPr>
          <a:xfrm>
            <a:off x="9255794" y="267462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6776398" y="35753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9900437" y="317500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217919" y="464160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24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line has the slope of trendline 1 to 2 </a:t>
            </a:r>
            <a:r>
              <a:rPr sz="1700" b="1" i="0">
                <a:solidFill>
                  <a:srgbClr val="E09B00"/>
                </a:solidFill>
                <a:latin typeface="Arial"/>
              </a:rPr>
              <a:t>(7)</a:t>
            </a:r>
            <a:r>
              <a:rPr sz="1700" b="0" i="0">
                <a:solidFill>
                  <a:srgbClr val="1A1A1A"/>
                </a:solidFill>
                <a:latin typeface="Arial"/>
              </a:rPr>
              <a:t>: one steady angle, the book's near perfect angular symmetry (Chapter 5).</a:t>
            </a:r>
          </a:p>
          <a:p>
            <a:pPr algn="l">
              <a:lnSpc>
                <a:spcPct val="105000"/>
              </a:lnSpc>
              <a:spcBef>
                <a:spcPts val="0"/>
              </a:spcBef>
              <a:spcAft>
                <a:spcPts val="1100"/>
              </a:spcAft>
            </a:pPr>
            <a:r>
              <a:rPr sz="1700" b="0" i="0">
                <a:solidFill>
                  <a:srgbClr val="1A1A1A"/>
                </a:solidFill>
                <a:latin typeface="Arial"/>
              </a:rPr>
              <a:t>The 5 and 6 channel </a:t>
            </a:r>
            <a:r>
              <a:rPr sz="1700" b="1" i="0">
                <a:solidFill>
                  <a:srgbClr val="C62828"/>
                </a:solidFill>
                <a:latin typeface="Arial"/>
              </a:rPr>
              <a:t>(8)</a:t>
            </a:r>
            <a:r>
              <a:rPr sz="1700" b="0" i="0">
                <a:solidFill>
                  <a:srgbClr val="1A1A1A"/>
                </a:solidFill>
                <a:latin typeface="Arial"/>
              </a:rPr>
              <a:t>: resistance at its top, support at its bottom.</a:t>
            </a:r>
          </a:p>
          <a:p>
            <a:pPr algn="l">
              <a:lnSpc>
                <a:spcPct val="105000"/>
              </a:lnSpc>
              <a:spcBef>
                <a:spcPts val="0"/>
              </a:spcBef>
              <a:spcAft>
                <a:spcPts val="1100"/>
              </a:spcAft>
            </a:pPr>
            <a:r>
              <a:rPr sz="1700" b="0" i="0">
                <a:solidFill>
                  <a:srgbClr val="1A1A1A"/>
                </a:solidFill>
                <a:latin typeface="Arial"/>
              </a:rPr>
              <a:t>Open: the text says USDJPY; the chart, silver.</a:t>
            </a:r>
          </a:p>
          <a:p>
            <a:pPr algn="l">
              <a:lnSpc>
                <a:spcPct val="105000"/>
              </a:lnSpc>
              <a:spcBef>
                <a:spcPts val="0"/>
              </a:spcBef>
              <a:spcAft>
                <a:spcPts val="1100"/>
              </a:spcAft>
            </a:pPr>
            <a:r>
              <a:rPr sz="1700" b="0" i="0">
                <a:solidFill>
                  <a:srgbClr val="1A1A1A"/>
                </a:solidFill>
                <a:latin typeface="Arial"/>
              </a:rPr>
              <a:t>Open: no heavy volume is ringed under 4 </a:t>
            </a:r>
            <a:r>
              <a:rPr sz="1700" b="1" i="0">
                <a:solidFill>
                  <a:srgbClr val="1F5FAD"/>
                </a:solidFill>
                <a:latin typeface="Arial"/>
              </a:rPr>
              <a:t>(9)</a:t>
            </a:r>
            <a:r>
              <a:rPr sz="1700" b="0" i="0">
                <a:solidFill>
                  <a:srgbClr val="1A1A1A"/>
                </a:solidFill>
                <a:latin typeface="Arial"/>
              </a:rPr>
              <a:t> or X, yet both anchor lines.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Build lines on heavily traded turns; watch the parallels for resistance and support.</a:t>
            </a:r>
          </a:p>
        </p:txBody>
      </p:sp>
      <p:sp>
        <p:nvSpPr>
          <p:cNvPr id="10" name="Rectangle 9"/>
          <p:cNvSpPr/>
          <p:nvPr/>
        </p:nvSpPr>
        <p:spPr>
          <a:xfrm>
            <a:off x="6583679" y="1810512"/>
            <a:ext cx="4830775" cy="255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1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86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300" b="0" i="0">
                <a:solidFill>
                  <a:srgbClr val="1A1A1A"/>
                </a:solidFill>
                <a:latin typeface="Palatino"/>
              </a:rPr>
              <a:t>The same silver chart with volume filtered points 1 to 6 and X. Every line runs parallel to the trendline from 1 to 2; the last channel runs from 5 and 6; the volume panel rings heavy volume under 1, under 3 and 2, and under 5 and 6, and nothing under 4 or X.</a:t>
            </a:r>
          </a:p>
        </p:txBody>
      </p:sp>
      <p:cxnSp>
        <p:nvCxnSpPr>
          <p:cNvPr id="14" name="Connector 13"/>
          <p:cNvCxnSpPr/>
          <p:nvPr/>
        </p:nvCxnSpPr>
        <p:spPr>
          <a:xfrm flipV="1">
            <a:off x="8287147" y="2358097"/>
            <a:ext cx="1446805" cy="556170"/>
          </a:xfrm>
          <a:prstGeom prst="line">
            <a:avLst/>
          </a:prstGeom>
          <a:ln w="44450">
            <a:solidFill>
              <a:srgbClr val="E09B00"/>
            </a:solidFill>
          </a:ln>
        </p:spPr>
      </p:cxnSp>
      <p:sp>
        <p:nvSpPr>
          <p:cNvPr id="15" name="Rectangle 14"/>
          <p:cNvSpPr/>
          <p:nvPr/>
        </p:nvSpPr>
        <p:spPr>
          <a:xfrm>
            <a:off x="9665056" y="3227112"/>
            <a:ext cx="941571" cy="834253"/>
          </a:xfrm>
          <a:prstGeom prst="rect">
            <a:avLst/>
          </a:prstGeom>
          <a:noFill/>
          <a:ln w="44450">
            <a:solidFill>
              <a:srgbClr val="C62828"/>
            </a:solidFill>
          </a:ln>
        </p:spPr>
        <p:txBody>
          <a:bodyPr rtlCol="0" anchor="ctr"/>
          <a:lstStyle/>
          <a:p>
            <a:pPr algn="ctr"/>
          </a:p>
        </p:txBody>
      </p:sp>
      <p:sp>
        <p:nvSpPr>
          <p:cNvPr id="16" name="Rectangle 15"/>
          <p:cNvSpPr/>
          <p:nvPr/>
        </p:nvSpPr>
        <p:spPr>
          <a:xfrm>
            <a:off x="8539764" y="3875976"/>
            <a:ext cx="459303" cy="208563"/>
          </a:xfrm>
          <a:prstGeom prst="rect">
            <a:avLst/>
          </a:prstGeom>
          <a:noFill/>
          <a:ln w="44450">
            <a:solidFill>
              <a:srgbClr val="1F5FAD"/>
            </a:solidFill>
          </a:ln>
        </p:spPr>
        <p:txBody>
          <a:bodyPr rtlCol="0" anchor="ctr"/>
          <a:lstStyle/>
          <a:p>
            <a:pPr algn="ctr"/>
          </a:p>
        </p:txBody>
      </p:sp>
      <p:sp>
        <p:nvSpPr>
          <p:cNvPr id="17" name="Oval 16"/>
          <p:cNvSpPr/>
          <p:nvPr/>
        </p:nvSpPr>
        <p:spPr>
          <a:xfrm>
            <a:off x="8843619" y="228375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9509608" y="307166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8384316" y="372052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583679" y="44570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Holding a losing position, not selling at a loss, hoping it comes back. Holding is not trading: it adds no volume.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Bought at PHP 50, now PHP 38: an unrealized loss of PHP 12, on paper only, unsold. You hold for breakeven, PHP 50.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49224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7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700" b="0" i="0">
                <a:solidFill>
                  <a:srgbClr val="1A1A1A"/>
                </a:solidFill>
                <a:latin typeface="Arial"/>
              </a:rPr>
              <a:t>3  More investment funds market their services in a bull market, drawing in investors.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46354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7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7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trades five times the shares; B has ten times the participation.</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Plus 1 when a new long and short both open; minus 1 when both close; no change when one side is replaced.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Day 1: A buys 1 from B, both new, A long and B short: plus 1. Open interest 1.</a:t>
            </a:r>
          </a:p>
          <a:p>
            <a:pPr algn="l">
              <a:lnSpc>
                <a:spcPct val="105000"/>
              </a:lnSpc>
              <a:spcBef>
                <a:spcPts val="0"/>
              </a:spcBef>
              <a:spcAft>
                <a:spcPts val="1100"/>
              </a:spcAft>
            </a:pPr>
            <a:r>
              <a:rPr sz="1700" b="0" i="0">
                <a:solidFill>
                  <a:srgbClr val="1A1A1A"/>
                </a:solidFill>
                <a:latin typeface="Arial"/>
              </a:rPr>
              <a:t>Day 2: C buys 2 from D, both new: plus 2. Open interest 3.</a:t>
            </a:r>
          </a:p>
          <a:p>
            <a:pPr algn="l">
              <a:lnSpc>
                <a:spcPct val="105000"/>
              </a:lnSpc>
              <a:spcBef>
                <a:spcPts val="0"/>
              </a:spcBef>
              <a:spcAft>
                <a:spcPts val="1100"/>
              </a:spcAft>
            </a:pPr>
            <a:r>
              <a:rPr sz="1700" b="0" i="0">
                <a:solidFill>
                  <a:srgbClr val="1A1A1A"/>
                </a:solidFill>
                <a:latin typeface="Arial"/>
              </a:rPr>
              <a:t>Day 3: A sells that 1 to E, the new long; B is still short: no change. Still 3.</a:t>
            </a:r>
          </a:p>
          <a:p>
            <a:pPr algn="l">
              <a:lnSpc>
                <a:spcPct val="105000"/>
              </a:lnSpc>
              <a:spcBef>
                <a:spcPts val="0"/>
              </a:spcBef>
              <a:spcAft>
                <a:spcPts val="1100"/>
              </a:spcAft>
            </a:pPr>
            <a:r>
              <a:rPr sz="1700" b="0" i="0">
                <a:solidFill>
                  <a:srgbClr val="1A1A1A"/>
                </a:solidFill>
                <a:latin typeface="Arial"/>
              </a:rPr>
              <a:t>Day 4: D buys back 2 from C: D's short and C's long close: minus 2. Now 1.</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Only both sides opening, or both closing, moves the count.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rules, and why count: unlike stocks, futures and options contracts expire. Traders and counts: ours.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29</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7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7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is confirmation, falling is divergence: as for non-price-based volume.</a:t>
            </a:r>
          </a:p>
        </p:txBody>
      </p:sp>
      <p:sp>
        <p:nvSpPr>
          <p:cNvPr id="10" name="Rectangle 9"/>
          <p:cNvSpPr/>
          <p:nvPr/>
        </p:nvSpPr>
        <p:spPr>
          <a:xfrm>
            <a:off x="7499451" y="1810512"/>
            <a:ext cx="39136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7618323" y="1929384"/>
            <a:ext cx="3675888" cy="3511296"/>
          </a:xfrm>
          <a:prstGeom prst="rect">
            <a:avLst/>
          </a:prstGeom>
        </p:spPr>
      </p:pic>
      <p:sp>
        <p:nvSpPr>
          <p:cNvPr id="12" name="TextBox 11"/>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Ours: a futures contract rises, PHP 100 to 110. Open interest 50,000 to 60,000, volume 8,000 to 12,000 a day: bullish confirmation, buying pressure.</a:t>
            </a:r>
          </a:p>
          <a:p>
            <a:pPr algn="l">
              <a:lnSpc>
                <a:spcPct val="105000"/>
              </a:lnSpc>
              <a:spcBef>
                <a:spcPts val="0"/>
              </a:spcBef>
              <a:spcAft>
                <a:spcPts val="1100"/>
              </a:spcAft>
            </a:pPr>
            <a:r>
              <a:rPr sz="1700" b="0" i="0">
                <a:solidFill>
                  <a:srgbClr val="1A1A1A"/>
                </a:solidFill>
                <a:latin typeface="Arial"/>
              </a:rPr>
              <a:t>2  Same rise; open interest 50,000 to 40,000, volume 8,000 to 5,000: bearish divergence, shorts covering, longs leaving.</a:t>
            </a:r>
          </a:p>
          <a:p>
            <a:pPr algn="l">
              <a:lnSpc>
                <a:spcPct val="105000"/>
              </a:lnSpc>
              <a:spcBef>
                <a:spcPts val="0"/>
              </a:spcBef>
              <a:spcAft>
                <a:spcPts val="1100"/>
              </a:spcAft>
            </a:pPr>
            <a:r>
              <a:rPr sz="1700" b="0" i="0">
                <a:solidFill>
                  <a:srgbClr val="1A1A1A"/>
                </a:solidFill>
                <a:latin typeface="Arial"/>
              </a:rPr>
              <a:t>Falling, PHP 110 to 100: 3, both rising, bearish confirmation, short selling; 4, both falling, bullish divergence.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Same price move, opposite readings: volume and open interest decide.</a:t>
            </a:r>
          </a:p>
        </p:txBody>
      </p:sp>
      <p:sp>
        <p:nvSpPr>
          <p:cNvPr id="10" name="Rectangle 9"/>
          <p:cNvSpPr/>
          <p:nvPr/>
        </p:nvSpPr>
        <p:spPr>
          <a:xfrm>
            <a:off x="7865211" y="1810512"/>
            <a:ext cx="35478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b.png"/>
          <p:cNvPicPr>
            <a:picLocks noChangeAspect="1"/>
          </p:cNvPicPr>
          <p:nvPr/>
        </p:nvPicPr>
        <p:blipFill>
          <a:blip r:embed="rId2"/>
          <a:stretch>
            <a:fillRect/>
          </a:stretch>
        </p:blipFill>
        <p:spPr>
          <a:xfrm>
            <a:off x="7984083" y="1929384"/>
            <a:ext cx="3310128" cy="3511296"/>
          </a:xfrm>
          <a:prstGeom prst="rect">
            <a:avLst/>
          </a:prstGeom>
        </p:spPr>
      </p:pic>
      <p:sp>
        <p:nvSpPr>
          <p:cNvPr id="12" name="TextBox 11"/>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All three rising, bullish: look for buy signals.</a:t>
            </a:r>
          </a:p>
          <a:p>
            <a:pPr algn="l">
              <a:lnSpc>
                <a:spcPct val="105000"/>
              </a:lnSpc>
              <a:spcBef>
                <a:spcPts val="0"/>
              </a:spcBef>
              <a:spcAft>
                <a:spcPts val="1100"/>
              </a:spcAft>
            </a:pPr>
            <a:r>
              <a:rPr sz="19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9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4739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Figure 6.24, silver: from A, about $20, price rose to B, about $49 </a:t>
            </a:r>
            <a:r>
              <a:rPr sz="2000" b="1" i="0">
                <a:solidFill>
                  <a:srgbClr val="E09B00"/>
                </a:solidFill>
                <a:latin typeface="Arial"/>
              </a:rPr>
              <a:t>(1)</a:t>
            </a:r>
            <a:r>
              <a:rPr sz="2000" b="1" i="0">
                <a:solidFill>
                  <a:srgbClr val="1A1A1A"/>
                </a:solidFill>
                <a:latin typeface="Arial"/>
              </a:rPr>
              <a:t>, then fell to under $30 </a:t>
            </a:r>
            <a:r>
              <a:rPr sz="2000" b="1" i="0">
                <a:solidFill>
                  <a:srgbClr val="C62828"/>
                </a:solidFill>
                <a:latin typeface="Arial"/>
              </a:rPr>
              <a:t>(2)</a:t>
            </a:r>
            <a:r>
              <a:rPr sz="2000" b="1" i="0">
                <a:solidFill>
                  <a:srgbClr val="1A1A1A"/>
                </a:solidFill>
                <a:latin typeface="Arial"/>
              </a:rPr>
              <a:t>. Which of the four was it at B? Next slide.</a:t>
            </a:r>
          </a:p>
        </p:txBody>
      </p:sp>
      <p:sp>
        <p:nvSpPr>
          <p:cNvPr id="10" name="Rectangle 9"/>
          <p:cNvSpPr/>
          <p:nvPr/>
        </p:nvSpPr>
        <p:spPr>
          <a:xfrm>
            <a:off x="7863840" y="1810512"/>
            <a:ext cx="3550614" cy="34389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32012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7440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price panel of the continuous daily chart of silver: from A, about $20 in 2008, price rises to B, about $49 in 2011, then falls to under $30.</a:t>
            </a:r>
          </a:p>
        </p:txBody>
      </p:sp>
      <p:cxnSp>
        <p:nvCxnSpPr>
          <p:cNvPr id="14" name="Connector 13"/>
          <p:cNvCxnSpPr/>
          <p:nvPr/>
        </p:nvCxnSpPr>
        <p:spPr>
          <a:xfrm flipV="1">
            <a:off x="8307373" y="2217493"/>
            <a:ext cx="1808827" cy="2272861"/>
          </a:xfrm>
          <a:prstGeom prst="line">
            <a:avLst/>
          </a:prstGeom>
          <a:ln w="44450">
            <a:solidFill>
              <a:srgbClr val="E09B00"/>
            </a:solidFill>
            <a:tailEnd type="triangle" w="med" len="med"/>
          </a:ln>
        </p:spPr>
      </p:cxnSp>
      <p:cxnSp>
        <p:nvCxnSpPr>
          <p:cNvPr id="15" name="Connector 14"/>
          <p:cNvCxnSpPr/>
          <p:nvPr/>
        </p:nvCxnSpPr>
        <p:spPr>
          <a:xfrm>
            <a:off x="10215587" y="2313529"/>
            <a:ext cx="400857" cy="1472558"/>
          </a:xfrm>
          <a:prstGeom prst="line">
            <a:avLst/>
          </a:prstGeom>
          <a:ln w="44450">
            <a:solidFill>
              <a:srgbClr val="C62828"/>
            </a:solidFill>
            <a:tailEnd type="triangle" w="med" len="med"/>
          </a:ln>
        </p:spPr>
      </p:cxnSp>
      <p:sp>
        <p:nvSpPr>
          <p:cNvPr id="16" name="Oval 15"/>
          <p:cNvSpPr/>
          <p:nvPr/>
        </p:nvSpPr>
        <p:spPr>
          <a:xfrm>
            <a:off x="8092293" y="3822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77560" y="2590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863840" y="5340908"/>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6.24: volume and open interest disagree at B</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peaks higher at B than at A </a:t>
            </a:r>
            <a:r>
              <a:rPr sz="1700" b="1" i="0">
                <a:solidFill>
                  <a:srgbClr val="E09B00"/>
                </a:solidFill>
                <a:latin typeface="Arial"/>
              </a:rPr>
              <a:t>(1)</a:t>
            </a:r>
            <a:r>
              <a:rPr sz="1700" b="0" i="0">
                <a:solidFill>
                  <a:srgbClr val="1A1A1A"/>
                </a:solidFill>
                <a:latin typeface="Arial"/>
              </a:rPr>
              <a:t>: price and volume rise together, bullish confirmation.</a:t>
            </a:r>
          </a:p>
          <a:p>
            <a:pPr algn="l">
              <a:lnSpc>
                <a:spcPct val="105000"/>
              </a:lnSpc>
              <a:spcBef>
                <a:spcPts val="0"/>
              </a:spcBef>
              <a:spcAft>
                <a:spcPts val="1100"/>
              </a:spcAft>
            </a:pPr>
            <a:r>
              <a:rPr sz="1700" b="0" i="0">
                <a:solidFill>
                  <a:srgbClr val="1A1A1A"/>
                </a:solidFill>
                <a:latin typeface="Arial"/>
              </a:rPr>
              <a:t>Open interest peaks lower at B than at A </a:t>
            </a:r>
            <a:r>
              <a:rPr sz="1700" b="1" i="0">
                <a:solidFill>
                  <a:srgbClr val="C62828"/>
                </a:solidFill>
                <a:latin typeface="Arial"/>
              </a:rPr>
              <a:t>(2)</a:t>
            </a:r>
            <a:r>
              <a:rPr sz="1700" b="0" i="0">
                <a:solidFill>
                  <a:srgbClr val="1A1A1A"/>
                </a:solidFill>
                <a:latin typeface="Arial"/>
              </a:rPr>
              <a:t>: price rises as open interest falls, bearish divergence.</a:t>
            </a:r>
          </a:p>
          <a:p>
            <a:pPr algn="l">
              <a:lnSpc>
                <a:spcPct val="105000"/>
              </a:lnSpc>
              <a:spcBef>
                <a:spcPts val="0"/>
              </a:spcBef>
              <a:spcAft>
                <a:spcPts val="1100"/>
              </a:spcAft>
            </a:pPr>
            <a:r>
              <a:rPr sz="1700" b="0" i="0">
                <a:solidFill>
                  <a:srgbClr val="1A1A1A"/>
                </a:solidFill>
                <a:latin typeface="Arial"/>
              </a:rPr>
              <a:t>They disagree. The book reads the open interest: longs liquidating, early. Silver then fell from about $49 to under $30.</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When the two disagree, the book reads open interest.</a:t>
            </a:r>
          </a:p>
        </p:txBody>
      </p:sp>
      <p:sp>
        <p:nvSpPr>
          <p:cNvPr id="10" name="Rectangle 9"/>
          <p:cNvSpPr/>
          <p:nvPr/>
        </p:nvSpPr>
        <p:spPr>
          <a:xfrm>
            <a:off x="6722440" y="1810512"/>
            <a:ext cx="4187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41312" y="1929384"/>
            <a:ext cx="394975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41312" y="1929384"/>
            <a:ext cx="394975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15632" y="2203703"/>
            <a:ext cx="340111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open interest and volume panels of the continuous daily chart of silver, from 2005 to 2012. At B, early 2011, volume makes a higher peak than at A, marked 1, labelled bullish confirmation; open interest makes a lower peak, marked 2, labelled bearish divergence.</a:t>
            </a:r>
          </a:p>
        </p:txBody>
      </p:sp>
      <p:sp>
        <p:nvSpPr>
          <p:cNvPr id="14" name="Oval 13"/>
          <p:cNvSpPr/>
          <p:nvPr/>
        </p:nvSpPr>
        <p:spPr>
          <a:xfrm>
            <a:off x="9116368" y="3646407"/>
            <a:ext cx="718854" cy="649589"/>
          </a:xfrm>
          <a:prstGeom prst="ellipse">
            <a:avLst/>
          </a:prstGeom>
          <a:noFill/>
          <a:ln w="44450">
            <a:solidFill>
              <a:srgbClr val="E09B00"/>
            </a:solidFill>
          </a:ln>
        </p:spPr>
        <p:txBody>
          <a:bodyPr rtlCol="0" anchor="ctr"/>
          <a:lstStyle/>
          <a:p>
            <a:pPr algn="ctr"/>
          </a:p>
        </p:txBody>
      </p:sp>
      <p:sp>
        <p:nvSpPr>
          <p:cNvPr id="15" name="Oval 14"/>
          <p:cNvSpPr/>
          <p:nvPr/>
        </p:nvSpPr>
        <p:spPr>
          <a:xfrm>
            <a:off x="9116368" y="2768583"/>
            <a:ext cx="718854" cy="572341"/>
          </a:xfrm>
          <a:prstGeom prst="ellipse">
            <a:avLst/>
          </a:prstGeom>
          <a:noFill/>
          <a:ln w="44450">
            <a:solidFill>
              <a:srgbClr val="C62828"/>
            </a:solidFill>
          </a:ln>
        </p:spPr>
        <p:txBody>
          <a:bodyPr rtlCol="0" anchor="ctr"/>
          <a:lstStyle/>
          <a:p>
            <a:pPr algn="ctr"/>
          </a:p>
        </p:txBody>
      </p:sp>
      <p:sp>
        <p:nvSpPr>
          <p:cNvPr id="16" name="Oval 15"/>
          <p:cNvSpPr/>
          <p:nvPr/>
        </p:nvSpPr>
        <p:spPr>
          <a:xfrm>
            <a:off x="8960920" y="34909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60920" y="26131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Confirmation and divergence: Part 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7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700" b="0" i="0">
                <a:solidFill>
                  <a:srgbClr val="1A1A1A"/>
                </a:solidFill>
                <a:latin typeface="Arial"/>
              </a:rPr>
              <a:t>Ours: about 85,000 open contracts against 20,000. After the same top, the first falls steeply.</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reason: many open contracts liquidating and covering at once.</a:t>
            </a:r>
          </a:p>
        </p:txBody>
      </p:sp>
      <p:sp>
        <p:nvSpPr>
          <p:cNvPr id="10" name="TextBox 9"/>
          <p:cNvSpPr txBox="1"/>
          <p:nvPr/>
        </p:nvSpPr>
        <p:spPr>
          <a:xfrm>
            <a:off x="777240" y="51892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shares: one tick is one trade, of any size. Met in Chapters 1 and 3.</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 counted trades the same way.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Advances / declines = 1,500 / 1,000 = 1.5 rising stocks for each falling one.</a:t>
            </a:r>
          </a:p>
          <a:p>
            <a:pPr algn="l">
              <a:lnSpc>
                <a:spcPct val="105000"/>
              </a:lnSpc>
              <a:spcBef>
                <a:spcPts val="0"/>
              </a:spcBef>
              <a:spcAft>
                <a:spcPts val="1100"/>
              </a:spcAft>
            </a:pPr>
            <a:r>
              <a:rPr sz="1700" b="0" i="0">
                <a:solidFill>
                  <a:srgbClr val="1A1A1A"/>
                </a:solidFill>
                <a:latin typeface="Arial"/>
              </a:rPr>
              <a:t>2  Up volume / down volume = 600m / 800m = 0.75: the falling stocks traded more shares.</a:t>
            </a:r>
          </a:p>
          <a:p>
            <a:pPr algn="l">
              <a:lnSpc>
                <a:spcPct val="105000"/>
              </a:lnSpc>
              <a:spcBef>
                <a:spcPts val="0"/>
              </a:spcBef>
              <a:spcAft>
                <a:spcPts val="1100"/>
              </a:spcAft>
            </a:pPr>
            <a:r>
              <a:rPr sz="17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61254"/>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Step 3 and the gold line are our arithmetic; the book never reads one value such as 2.0.</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e.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tick: the book never says what it measures. On Figure 6.25 it goes below zero </a:t>
            </a:r>
            <a:r>
              <a:rPr sz="1700" b="1" i="0">
                <a:solidFill>
                  <a:srgbClr val="E09B00"/>
                </a:solidFill>
                <a:latin typeface="Arial"/>
              </a:rPr>
              <a:t>(1)</a:t>
            </a:r>
            <a:r>
              <a:rPr sz="1700" b="0" i="0">
                <a:solidFill>
                  <a:srgbClr val="1A1A1A"/>
                </a:solidFill>
                <a:latin typeface="Arial"/>
              </a:rPr>
              <a:t>, so it is not tick volume, a count of trades.</a:t>
            </a:r>
          </a:p>
          <a:p>
            <a:pPr algn="l">
              <a:lnSpc>
                <a:spcPct val="105000"/>
              </a:lnSpc>
              <a:spcBef>
                <a:spcPts val="0"/>
              </a:spcBef>
              <a:spcAft>
                <a:spcPts val="1100"/>
              </a:spcAft>
            </a:pPr>
            <a:r>
              <a:rPr sz="17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700" b="0" i="0">
                <a:solidFill>
                  <a:srgbClr val="1A1A1A"/>
                </a:solidFill>
                <a:latin typeface="Arial"/>
              </a:rPr>
              <a:t>Figure 6.25 shows something else: tick down to about -1,000 </a:t>
            </a:r>
            <a:r>
              <a:rPr sz="1700" b="1" i="0">
                <a:solidFill>
                  <a:srgbClr val="E09B00"/>
                </a:solidFill>
                <a:latin typeface="Arial"/>
              </a:rPr>
              <a:t>(1)</a:t>
            </a:r>
            <a:r>
              <a:rPr sz="1700" b="0" i="0">
                <a:solidFill>
                  <a:srgbClr val="1A1A1A"/>
                </a:solidFill>
                <a:latin typeface="Arial"/>
              </a:rPr>
              <a:t>, TRIN up to about 2.2 </a:t>
            </a:r>
            <a:r>
              <a:rPr sz="1700" b="1" i="0">
                <a:solidFill>
                  <a:srgbClr val="C62828"/>
                </a:solidFill>
                <a:latin typeface="Arial"/>
              </a:rPr>
              <a:t>(2)</a:t>
            </a:r>
            <a:r>
              <a:rPr sz="1700" b="0" i="0">
                <a:solidFill>
                  <a:srgbClr val="1A1A1A"/>
                </a:solidFill>
                <a:latin typeface="Arial"/>
              </a:rPr>
              <a:t>, both at levels it labels oversold. The index then rose </a:t>
            </a:r>
            <a:r>
              <a:rPr sz="1700" b="1" i="0">
                <a:solidFill>
                  <a:srgbClr val="1F5FAD"/>
                </a:solidFill>
                <a:latin typeface="Arial"/>
              </a:rPr>
              <a:t>(3)</a:t>
            </a:r>
            <a:r>
              <a:rPr sz="1700" b="0" i="0">
                <a:solidFill>
                  <a:srgbClr val="1A1A1A"/>
                </a:solidFill>
                <a:latin typeface="Arial"/>
              </a:rPr>
              <a: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733288"/>
            <a:ext cx="67665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863840" y="1810512"/>
            <a:ext cx="3550614" cy="366225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342451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257032" y="2203703"/>
            <a:ext cx="2764230" cy="296731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p:txBody>
      </p:sp>
      <p:sp>
        <p:nvSpPr>
          <p:cNvPr id="15" name="Rectangle 14"/>
          <p:cNvSpPr/>
          <p:nvPr/>
        </p:nvSpPr>
        <p:spPr>
          <a:xfrm>
            <a:off x="8721482" y="4155315"/>
            <a:ext cx="563188" cy="534223"/>
          </a:xfrm>
          <a:prstGeom prst="rect">
            <a:avLst/>
          </a:prstGeom>
          <a:noFill/>
          <a:ln w="44450">
            <a:solidFill>
              <a:srgbClr val="E09B00"/>
            </a:solidFill>
          </a:ln>
        </p:spPr>
        <p:txBody>
          <a:bodyPr rtlCol="0" anchor="ctr"/>
          <a:lstStyle/>
          <a:p>
            <a:pPr algn="ctr"/>
          </a:p>
        </p:txBody>
      </p:sp>
      <p:sp>
        <p:nvSpPr>
          <p:cNvPr id="16" name="Rectangle 15"/>
          <p:cNvSpPr/>
          <p:nvPr/>
        </p:nvSpPr>
        <p:spPr>
          <a:xfrm>
            <a:off x="8721482" y="4713510"/>
            <a:ext cx="563188" cy="277385"/>
          </a:xfrm>
          <a:prstGeom prst="rect">
            <a:avLst/>
          </a:prstGeom>
          <a:noFill/>
          <a:ln w="44450">
            <a:solidFill>
              <a:srgbClr val="C62828"/>
            </a:solidFill>
          </a:ln>
        </p:spPr>
        <p:txBody>
          <a:bodyPr rtlCol="0" anchor="ctr"/>
          <a:lstStyle/>
          <a:p>
            <a:pPr algn="ctr"/>
          </a:p>
        </p:txBody>
      </p:sp>
      <p:cxnSp>
        <p:nvCxnSpPr>
          <p:cNvPr id="17" name="Connector 16"/>
          <p:cNvCxnSpPr/>
          <p:nvPr/>
        </p:nvCxnSpPr>
        <p:spPr>
          <a:xfrm flipV="1">
            <a:off x="9165406" y="3299188"/>
            <a:ext cx="1066745" cy="513676"/>
          </a:xfrm>
          <a:prstGeom prst="line">
            <a:avLst/>
          </a:prstGeom>
          <a:ln w="44450">
            <a:solidFill>
              <a:srgbClr val="1F5FAD"/>
            </a:solidFill>
            <a:tailEnd type="triangle" w="med" len="med"/>
          </a:ln>
        </p:spPr>
      </p:cxnSp>
      <p:sp>
        <p:nvSpPr>
          <p:cNvPr id="18" name="Oval 17"/>
          <p:cNvSpPr/>
          <p:nvPr/>
        </p:nvSpPr>
        <p:spPr>
          <a:xfrm>
            <a:off x="8566034" y="399986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489838" y="451354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009958" y="365741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863840" y="5564206"/>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200 + 2 x 300 = 800; above it, oversold. Daily TRIN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either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The weekly tick numbers are ours, in invented units; the book never says what the tick measures.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6.25 against the text's rules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text calls a bullish TRIN overbought. Figure 6.25 labels its TRIN oversold </a:t>
            </a:r>
            <a:r>
              <a:rPr sz="2000" b="1" i="0">
                <a:solidFill>
                  <a:srgbClr val="C62828"/>
                </a:solidFill>
                <a:latin typeface="Arial"/>
              </a:rPr>
              <a:t>(2)</a:t>
            </a:r>
            <a:r>
              <a:rPr sz="2000" b="0" i="0">
                <a:solidFill>
                  <a:srgbClr val="1A1A1A"/>
                </a:solidFill>
                <a:latin typeface="Arial"/>
              </a:rPr>
              <a:t>, at the low, before the index rose.</a:t>
            </a:r>
          </a:p>
          <a:p>
            <a:pPr algn="l">
              <a:lnSpc>
                <a:spcPct val="105000"/>
              </a:lnSpc>
              <a:spcBef>
                <a:spcPts val="0"/>
              </a:spcBef>
              <a:spcAft>
                <a:spcPts val="1100"/>
              </a:spcAft>
            </a:pPr>
            <a:r>
              <a:rPr sz="2000" b="0" i="0">
                <a:solidFill>
                  <a:srgbClr val="1A1A1A"/>
                </a:solidFill>
                <a:latin typeface="Arial"/>
              </a:rPr>
              <a:t>The text's longer-term oversold tick is above a two-sigma level. The figure's oversold tick </a:t>
            </a:r>
            <a:r>
              <a:rPr sz="2000" b="1" i="0">
                <a:solidFill>
                  <a:srgbClr val="E09B00"/>
                </a:solidFill>
                <a:latin typeface="Arial"/>
              </a:rPr>
              <a:t>(1)</a:t>
            </a:r>
            <a:r>
              <a:rPr sz="2000" b="0" i="0">
                <a:solidFill>
                  <a:srgbClr val="1A1A1A"/>
                </a:solidFill>
                <a:latin typeface="Arial"/>
              </a:rPr>
              <a:t> sits at its low.</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book does not say why its figure and its text differ.</a:t>
            </a:r>
          </a:p>
        </p:txBody>
      </p:sp>
      <p:sp>
        <p:nvSpPr>
          <p:cNvPr id="10" name="Rectangle 9"/>
          <p:cNvSpPr/>
          <p:nvPr/>
        </p:nvSpPr>
        <p:spPr>
          <a:xfrm>
            <a:off x="7181781" y="1810512"/>
            <a:ext cx="3634571"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00653" y="1929384"/>
            <a:ext cx="3396827"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300653" y="1929384"/>
            <a:ext cx="3396827"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74973" y="2203703"/>
            <a:ext cx="284818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1-minute S&amp;P 500 chart of the last slides. In the box at the low, the TRIN reaches about 2.2 at the line the figure labels TRIN oversold, and the tick drops to about -1,000 at the line it labels TICK oversold: both at the bottom of their swing, not above a two-sigma level.</a:t>
            </a:r>
          </a:p>
        </p:txBody>
      </p:sp>
      <p:sp>
        <p:nvSpPr>
          <p:cNvPr id="14" name="Rectangle 13"/>
          <p:cNvSpPr/>
          <p:nvPr/>
        </p:nvSpPr>
        <p:spPr>
          <a:xfrm>
            <a:off x="8058146" y="4211726"/>
            <a:ext cx="577460" cy="547762"/>
          </a:xfrm>
          <a:prstGeom prst="rect">
            <a:avLst/>
          </a:prstGeom>
          <a:noFill/>
          <a:ln w="44450">
            <a:solidFill>
              <a:srgbClr val="E09B00"/>
            </a:solidFill>
          </a:ln>
        </p:spPr>
        <p:txBody>
          <a:bodyPr rtlCol="0" anchor="ctr"/>
          <a:lstStyle/>
          <a:p>
            <a:pPr algn="ctr"/>
          </a:p>
        </p:txBody>
      </p:sp>
      <p:sp>
        <p:nvSpPr>
          <p:cNvPr id="15" name="Rectangle 14"/>
          <p:cNvSpPr/>
          <p:nvPr/>
        </p:nvSpPr>
        <p:spPr>
          <a:xfrm>
            <a:off x="8058146" y="4784067"/>
            <a:ext cx="577460" cy="284414"/>
          </a:xfrm>
          <a:prstGeom prst="rect">
            <a:avLst/>
          </a:prstGeom>
          <a:noFill/>
          <a:ln w="44450">
            <a:solidFill>
              <a:srgbClr val="C62828"/>
            </a:solidFill>
          </a:ln>
        </p:spPr>
        <p:txBody>
          <a:bodyPr rtlCol="0" anchor="ctr"/>
          <a:lstStyle/>
          <a:p>
            <a:pPr algn="ctr"/>
          </a:p>
        </p:txBody>
      </p:sp>
      <p:sp>
        <p:nvSpPr>
          <p:cNvPr id="16" name="Oval 15"/>
          <p:cNvSpPr/>
          <p:nvPr/>
        </p:nvSpPr>
        <p:spPr>
          <a:xfrm>
            <a:off x="7902698"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824571" y="458297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6.26: the S&amp;P 500 falls all afternoon. The boxed TRIN rises from about 0.9 to 1.34 </a:t>
            </a:r>
            <a:r>
              <a:rPr sz="1800" b="1" i="0">
                <a:solidFill>
                  <a:srgbClr val="E09B00"/>
                </a:solidFill>
                <a:latin typeface="Arial"/>
              </a:rPr>
              <a:t>(1)</a:t>
            </a:r>
            <a:r>
              <a:rPr sz="1800" b="0" i="0">
                <a:solidFill>
                  <a:srgbClr val="1A1A1A"/>
                </a:solidFill>
                <a:latin typeface="Arial"/>
              </a:rPr>
              <a:t>: bearish, by the short-term rule.</a:t>
            </a:r>
          </a:p>
          <a:p>
            <a:pPr algn="l">
              <a:lnSpc>
                <a:spcPct val="105000"/>
              </a:lnSpc>
              <a:spcBef>
                <a:spcPts val="0"/>
              </a:spcBef>
              <a:spcAft>
                <a:spcPts val="1100"/>
              </a:spcAft>
            </a:pPr>
            <a:r>
              <a:rPr sz="1800" b="0" i="0">
                <a:solidFill>
                  <a:srgbClr val="1A1A1A"/>
                </a:solidFill>
                <a:latin typeface="Arial"/>
              </a:rPr>
              <a:t>1:45 to 2:45 p.m.: the text says largely absent of activity; the figure says absent of uptick action. In its shaded box </a:t>
            </a:r>
            <a:r>
              <a:rPr sz="1800" b="1" i="0">
                <a:solidFill>
                  <a:srgbClr val="C62828"/>
                </a:solidFill>
                <a:latin typeface="Arial"/>
              </a:rPr>
              <a:t>(2)</a:t>
            </a:r>
            <a:r>
              <a:rPr sz="1800" b="0" i="0">
                <a:solidFill>
                  <a:srgbClr val="1A1A1A"/>
                </a:solidFill>
                <a:latin typeface="Arial"/>
              </a:rPr>
              <a:t> the tick barely rises above zero and twice drops to about -1,000, circled as extreme bearish ticks </a:t>
            </a:r>
            <a:r>
              <a:rPr sz="1800" b="1" i="0">
                <a:solidFill>
                  <a:srgbClr val="1F5FAD"/>
                </a:solidFill>
                <a:latin typeface="Arial"/>
              </a:rPr>
              <a:t>(3)</a:t>
            </a:r>
            <a:r>
              <a:rPr sz="1800" b="0" i="0">
                <a:solidFill>
                  <a:srgbClr val="1A1A1A"/>
                </a:solidFill>
                <a:latin typeface="Arial"/>
              </a:rPr>
              <a:t>.</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Together, a short-term bearish signal: look for a short entry.</a:t>
            </a:r>
          </a:p>
        </p:txBody>
      </p:sp>
      <p:sp>
        <p:nvSpPr>
          <p:cNvPr id="10" name="TextBox 9"/>
          <p:cNvSpPr txBox="1"/>
          <p:nvPr/>
        </p:nvSpPr>
        <p:spPr>
          <a:xfrm>
            <a:off x="777240" y="5727192"/>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7590872" y="1810512"/>
            <a:ext cx="3365029"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09744" y="1929384"/>
            <a:ext cx="3127285"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09744" y="1929384"/>
            <a:ext cx="3127285"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984064" y="2203703"/>
            <a:ext cx="25786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p:txBody>
      </p:sp>
      <p:cxnSp>
        <p:nvCxnSpPr>
          <p:cNvPr id="15" name="Connector 14"/>
          <p:cNvCxnSpPr/>
          <p:nvPr/>
        </p:nvCxnSpPr>
        <p:spPr>
          <a:xfrm flipV="1">
            <a:off x="8238255" y="4538276"/>
            <a:ext cx="2107791" cy="575853"/>
          </a:xfrm>
          <a:prstGeom prst="line">
            <a:avLst/>
          </a:prstGeom>
          <a:ln w="44450">
            <a:solidFill>
              <a:srgbClr val="E09B00"/>
            </a:solidFill>
            <a:tailEnd type="triangle" w="med" len="med"/>
          </a:ln>
        </p:spPr>
      </p:cxnSp>
      <p:sp>
        <p:nvSpPr>
          <p:cNvPr id="16" name="Rectangle 15"/>
          <p:cNvSpPr/>
          <p:nvPr/>
        </p:nvSpPr>
        <p:spPr>
          <a:xfrm>
            <a:off x="8060000" y="3758769"/>
            <a:ext cx="1232150" cy="452957"/>
          </a:xfrm>
          <a:prstGeom prst="rect">
            <a:avLst/>
          </a:prstGeom>
          <a:noFill/>
          <a:ln w="44450">
            <a:solidFill>
              <a:srgbClr val="C62828"/>
            </a:solidFill>
          </a:ln>
        </p:spPr>
        <p:txBody>
          <a:bodyPr rtlCol="0" anchor="ctr"/>
          <a:lstStyle/>
          <a:p>
            <a:pPr algn="ctr"/>
          </a:p>
        </p:txBody>
      </p:sp>
      <p:cxnSp>
        <p:nvCxnSpPr>
          <p:cNvPr id="17" name="Connector 16"/>
          <p:cNvCxnSpPr/>
          <p:nvPr/>
        </p:nvCxnSpPr>
        <p:spPr>
          <a:xfrm>
            <a:off x="7803563" y="4362712"/>
            <a:ext cx="362765" cy="0"/>
          </a:xfrm>
          <a:prstGeom prst="line">
            <a:avLst/>
          </a:prstGeom>
          <a:ln w="44450">
            <a:solidFill>
              <a:srgbClr val="1F5FAD"/>
            </a:solidFill>
            <a:tailEnd type="triangle" w="med" len="med"/>
          </a:ln>
        </p:spPr>
      </p:cxnSp>
      <p:sp>
        <p:nvSpPr>
          <p:cNvPr id="18" name="Oval 17"/>
          <p:cNvSpPr/>
          <p:nvPr/>
        </p:nvSpPr>
        <p:spPr>
          <a:xfrm>
            <a:off x="8292336" y="51588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904552" y="36033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48115" y="42072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6.26 -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6.27, iShares Silver Trust: sideways bars longest around $17 </a:t>
            </a:r>
            <a:r>
              <a:rPr sz="1700" b="1" i="0">
                <a:solidFill>
                  <a:srgbClr val="E09B00"/>
                </a:solidFill>
                <a:latin typeface="Arial"/>
              </a:rPr>
              <a:t>(1)</a:t>
            </a:r>
            <a:r>
              <a:rPr sz="1700" b="0" i="0">
                <a:solidFill>
                  <a:srgbClr val="1A1A1A"/>
                </a:solidFill>
                <a:latin typeface="Arial"/>
              </a:rPr>
              <a:t>. The book's volume turnover here is shares traded, not the turnover ratio.</a:t>
            </a:r>
          </a:p>
          <a:p>
            <a:pPr algn="l">
              <a:lnSpc>
                <a:spcPct val="105000"/>
              </a:lnSpc>
              <a:spcBef>
                <a:spcPts val="0"/>
              </a:spcBef>
              <a:spcAft>
                <a:spcPts val="1100"/>
              </a:spcAft>
            </a:pPr>
            <a:r>
              <a:rPr sz="1700" b="0" i="0">
                <a:solidFill>
                  <a:srgbClr val="1A1A1A"/>
                </a:solidFill>
                <a:latin typeface="Arial"/>
              </a:rPr>
              <a:t>So $17 </a:t>
            </a:r>
            <a:r>
              <a:rPr sz="1700" b="1" i="0">
                <a:solidFill>
                  <a:srgbClr val="C62828"/>
                </a:solidFill>
                <a:latin typeface="Arial"/>
              </a:rPr>
              <a:t>(2)</a:t>
            </a:r>
            <a:r>
              <a:rPr sz="1700" b="0" i="0">
                <a:solidFill>
                  <a:srgbClr val="1A1A1A"/>
                </a:solidFill>
                <a:latin typeface="Arial"/>
              </a:rPr>
              <a:t> represents a significant support: a floor where a fall may stop. The figure: significant capital commitment.</a:t>
            </a:r>
          </a:p>
          <a:p>
            <a:pPr algn="l">
              <a:lnSpc>
                <a:spcPct val="105000"/>
              </a:lnSpc>
              <a:spcBef>
                <a:spcPts val="0"/>
              </a:spcBef>
              <a:spcAft>
                <a:spcPts val="1100"/>
              </a:spcAft>
            </a:pPr>
            <a:r>
              <a:rPr sz="1700" b="0" i="0">
                <a:solidFill>
                  <a:srgbClr val="1A1A1A"/>
                </a:solidFill>
                <a:latin typeface="Arial"/>
              </a:rPr>
              <a:t>Also marked: high volume at about $35 </a:t>
            </a:r>
            <a:r>
              <a:rPr sz="1700" b="1" i="0">
                <a:solidFill>
                  <a:srgbClr val="1F5FAD"/>
                </a:solidFill>
                <a:latin typeface="Arial"/>
              </a:rPr>
              <a:t>(3)</a:t>
            </a:r>
            <a:r>
              <a:rPr sz="1700" b="0" i="0">
                <a:solidFill>
                  <a:srgbClr val="1A1A1A"/>
                </a:solidFill>
                <a:latin typeface="Arial"/>
              </a:rPr>
              <a:t>, a new consolidation level, not in the text.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Ordinary volume bars show when, not at what price.</a:t>
            </a:r>
          </a:p>
        </p:txBody>
      </p:sp>
      <p:sp>
        <p:nvSpPr>
          <p:cNvPr id="10" name="TextBox 9"/>
          <p:cNvSpPr txBox="1"/>
          <p:nvPr/>
        </p:nvSpPr>
        <p:spPr>
          <a:xfrm>
            <a:off x="777240" y="5733288"/>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583679" y="1810512"/>
            <a:ext cx="4830775" cy="316510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927362"/>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470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6.27</a:t>
            </a:r>
          </a:p>
          <a:p>
            <a:pPr algn="l">
              <a:lnSpc>
                <a:spcPct val="115000"/>
              </a:lnSpc>
              <a:spcBef>
                <a:spcPts val="0"/>
              </a:spcBef>
              <a:spcAft>
                <a:spcPts val="0"/>
              </a:spcAft>
            </a:pPr>
            <a:r>
              <a:rPr sz="15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p:txBody>
      </p:sp>
      <p:sp>
        <p:nvSpPr>
          <p:cNvPr id="15" name="Rectangle 14"/>
          <p:cNvSpPr/>
          <p:nvPr/>
        </p:nvSpPr>
        <p:spPr>
          <a:xfrm>
            <a:off x="6725517" y="4198089"/>
            <a:ext cx="2181689" cy="292736"/>
          </a:xfrm>
          <a:prstGeom prst="rect">
            <a:avLst/>
          </a:prstGeom>
          <a:noFill/>
          <a:ln w="44450">
            <a:solidFill>
              <a:srgbClr val="E09B00"/>
            </a:solidFill>
          </a:ln>
        </p:spPr>
        <p:txBody>
          <a:bodyPr rtlCol="0" anchor="ctr"/>
          <a:lstStyle/>
          <a:p>
            <a:pPr algn="ctr"/>
          </a:p>
        </p:txBody>
      </p:sp>
      <p:cxnSp>
        <p:nvCxnSpPr>
          <p:cNvPr id="16" name="Connector 15"/>
          <p:cNvCxnSpPr/>
          <p:nvPr/>
        </p:nvCxnSpPr>
        <p:spPr>
          <a:xfrm>
            <a:off x="8999067" y="4285910"/>
            <a:ext cx="918606" cy="0"/>
          </a:xfrm>
          <a:prstGeom prst="line">
            <a:avLst/>
          </a:prstGeom>
          <a:ln w="44450">
            <a:solidFill>
              <a:srgbClr val="C62828"/>
            </a:solidFill>
          </a:ln>
        </p:spPr>
      </p:cxnSp>
      <p:sp>
        <p:nvSpPr>
          <p:cNvPr id="17" name="Rectangle 16"/>
          <p:cNvSpPr/>
          <p:nvPr/>
        </p:nvSpPr>
        <p:spPr>
          <a:xfrm>
            <a:off x="6725517" y="3363791"/>
            <a:ext cx="1286048" cy="278099"/>
          </a:xfrm>
          <a:prstGeom prst="rect">
            <a:avLst/>
          </a:prstGeom>
          <a:noFill/>
          <a:ln w="44450">
            <a:solidFill>
              <a:srgbClr val="1F5FAD"/>
            </a:solidFill>
          </a:ln>
        </p:spPr>
        <p:txBody>
          <a:bodyPr rtlCol="0" anchor="ctr"/>
          <a:lstStyle/>
          <a:p>
            <a:pPr algn="ctr"/>
          </a:p>
        </p:txBody>
      </p:sp>
      <p:sp>
        <p:nvSpPr>
          <p:cNvPr id="18" name="Oval 17"/>
          <p:cNvSpPr/>
          <p:nvPr/>
        </p:nvSpPr>
        <p:spPr>
          <a:xfrm>
            <a:off x="6570069" y="404264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348852" y="391091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570069" y="32083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5067058"/>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6.27 -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 showed the same thing and called it price-based volume.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6.28, 3M: the longest sideways bars, bracketed, $77 to $86 </a:t>
            </a:r>
            <a:r>
              <a:rPr sz="1800" b="1" i="0">
                <a:solidFill>
                  <a:srgbClr val="E09B00"/>
                </a:solidFill>
                <a:latin typeface="Arial"/>
              </a:rPr>
              <a:t>(1)</a:t>
            </a:r>
            <a:r>
              <a:rPr sz="1800" b="0" i="0">
                <a:solidFill>
                  <a:srgbClr val="1A1A1A"/>
                </a:solidFill>
                <a:latin typeface="Arial"/>
              </a:rPr>
              <a:t>: the most traded range, more shares than at any other price.</a:t>
            </a:r>
          </a:p>
          <a:p>
            <a:pPr algn="l">
              <a:lnSpc>
                <a:spcPct val="105000"/>
              </a:lnSpc>
              <a:spcBef>
                <a:spcPts val="0"/>
              </a:spcBef>
              <a:spcAft>
                <a:spcPts val="1100"/>
              </a:spcAft>
            </a:pPr>
            <a:r>
              <a:rPr sz="1800" b="0" i="0">
                <a:solidFill>
                  <a:srgbClr val="1A1A1A"/>
                </a:solidFill>
                <a:latin typeface="Arial"/>
              </a:rPr>
              <a:t>With 3M last at about $88 </a:t>
            </a:r>
            <a:r>
              <a:rPr sz="1800" b="1" i="0">
                <a:solidFill>
                  <a:srgbClr val="C62828"/>
                </a:solidFill>
                <a:latin typeface="Arial"/>
              </a:rPr>
              <a:t>(2)</a:t>
            </a:r>
            <a:r>
              <a:rPr sz="1800" b="0" i="0">
                <a:solidFill>
                  <a:srgbClr val="1A1A1A"/>
                </a:solidFill>
                <a:latin typeface="Arial"/>
              </a:rPr>
              <a:t>, $77 to $86 lies below: potential support, the figure's label. $90 to $92 above </a:t>
            </a:r>
            <a:r>
              <a:rPr sz="1800" b="1" i="0">
                <a:solidFill>
                  <a:srgbClr val="1F5FAD"/>
                </a:solidFill>
                <a:latin typeface="Arial"/>
              </a:rPr>
              <a:t>(3)</a:t>
            </a:r>
            <a:r>
              <a:rPr sz="1800" b="0" i="0">
                <a:solidFill>
                  <a:srgbClr val="1A1A1A"/>
                </a:solidFill>
                <a:latin typeface="Arial"/>
              </a:rPr>
              <a:t>: some resistance, says the book, not how it was found.</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These price ranges are potential future support and resistance levels.</a:t>
            </a:r>
          </a:p>
        </p:txBody>
      </p:sp>
      <p:sp>
        <p:nvSpPr>
          <p:cNvPr id="10" name="Rectangle 9"/>
          <p:cNvSpPr/>
          <p:nvPr/>
        </p:nvSpPr>
        <p:spPr>
          <a:xfrm>
            <a:off x="6217919" y="1810512"/>
            <a:ext cx="5196535" cy="238973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15198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16947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300" b="0" i="0">
                <a:solidFill>
                  <a:srgbClr val="1A1A1A"/>
                </a:solidFill>
                <a:latin typeface="Palatino"/>
              </a:rPr>
              <a:t>The price panel of the daily chart of 3M with volume by price as horizontal bars, the longest bracketed between about $77 and $86 and labelled maximum capital commitment in this range, an important support zone in the future; 3M last at about $88.</a:t>
            </a:r>
          </a:p>
        </p:txBody>
      </p:sp>
      <p:sp>
        <p:nvSpPr>
          <p:cNvPr id="14" name="Rectangle 13"/>
          <p:cNvSpPr/>
          <p:nvPr/>
        </p:nvSpPr>
        <p:spPr>
          <a:xfrm>
            <a:off x="6361585" y="2852586"/>
            <a:ext cx="2305837" cy="583188"/>
          </a:xfrm>
          <a:prstGeom prst="rect">
            <a:avLst/>
          </a:prstGeom>
          <a:noFill/>
          <a:ln w="44450">
            <a:solidFill>
              <a:srgbClr val="E09B00"/>
            </a:solidFill>
          </a:ln>
        </p:spPr>
        <p:txBody>
          <a:bodyPr rtlCol="0" anchor="ctr"/>
          <a:lstStyle/>
          <a:p>
            <a:pPr algn="ctr"/>
          </a:p>
        </p:txBody>
      </p:sp>
      <p:sp>
        <p:nvSpPr>
          <p:cNvPr id="15" name="Oval 14"/>
          <p:cNvSpPr/>
          <p:nvPr/>
        </p:nvSpPr>
        <p:spPr>
          <a:xfrm>
            <a:off x="10725322" y="2652451"/>
            <a:ext cx="347115" cy="230262"/>
          </a:xfrm>
          <a:prstGeom prst="ellipse">
            <a:avLst/>
          </a:prstGeom>
          <a:noFill/>
          <a:ln w="44450">
            <a:solidFill>
              <a:srgbClr val="C62828"/>
            </a:solidFill>
          </a:ln>
        </p:spPr>
        <p:txBody>
          <a:bodyPr rtlCol="0" anchor="ctr"/>
          <a:lstStyle/>
          <a:p>
            <a:pPr algn="ctr"/>
          </a:p>
        </p:txBody>
      </p:sp>
      <p:sp>
        <p:nvSpPr>
          <p:cNvPr id="16" name="Rectangle 15"/>
          <p:cNvSpPr/>
          <p:nvPr/>
        </p:nvSpPr>
        <p:spPr>
          <a:xfrm>
            <a:off x="6361585" y="2404972"/>
            <a:ext cx="1710782" cy="215198"/>
          </a:xfrm>
          <a:prstGeom prst="rect">
            <a:avLst/>
          </a:prstGeom>
          <a:noFill/>
          <a:ln w="44450">
            <a:solidFill>
              <a:srgbClr val="1F5FAD"/>
            </a:solidFill>
          </a:ln>
        </p:spPr>
        <p:txBody>
          <a:bodyPr rtlCol="0" anchor="ctr"/>
          <a:lstStyle/>
          <a:p>
            <a:pPr algn="ctr"/>
          </a:p>
        </p:txBody>
      </p:sp>
      <p:sp>
        <p:nvSpPr>
          <p:cNvPr id="17" name="Oval 16"/>
          <p:cNvSpPr/>
          <p:nvPr/>
        </p:nvSpPr>
        <p:spPr>
          <a:xfrm>
            <a:off x="6206137" y="269713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098788" y="269713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06137" y="224952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217919" y="429168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panel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figure's own lines carry Part 1's names.</a:t>
            </a:r>
          </a:p>
          <a:p>
            <a:pPr algn="l">
              <a:lnSpc>
                <a:spcPct val="105000"/>
              </a:lnSpc>
              <a:spcBef>
                <a:spcPts val="0"/>
              </a:spcBef>
              <a:spcAft>
                <a:spcPts val="1100"/>
              </a:spcAft>
            </a:pPr>
            <a:r>
              <a:rPr sz="2000" b="0" i="0">
                <a:solidFill>
                  <a:srgbClr val="1A1A1A"/>
                </a:solidFill>
                <a:latin typeface="Arial"/>
              </a:rPr>
              <a:t>Bearish confirmation </a:t>
            </a:r>
            <a:r>
              <a:rPr sz="2000" b="1" i="0">
                <a:solidFill>
                  <a:srgbClr val="E09B00"/>
                </a:solidFill>
                <a:latin typeface="Arial"/>
              </a:rPr>
              <a:t>(4)</a:t>
            </a:r>
            <a:r>
              <a:rPr sz="2000" b="0" i="0">
                <a:solidFill>
                  <a:srgbClr val="1A1A1A"/>
                </a:solidFill>
                <a:latin typeface="Arial"/>
              </a:rPr>
              <a:t>: price falling, May to October, on rising volume.</a:t>
            </a:r>
          </a:p>
          <a:p>
            <a:pPr algn="l">
              <a:lnSpc>
                <a:spcPct val="105000"/>
              </a:lnSpc>
              <a:spcBef>
                <a:spcPts val="0"/>
              </a:spcBef>
              <a:spcAft>
                <a:spcPts val="1100"/>
              </a:spcAft>
            </a:pPr>
            <a:r>
              <a:rPr sz="2000" b="0" i="0">
                <a:solidFill>
                  <a:srgbClr val="1A1A1A"/>
                </a:solidFill>
                <a:latin typeface="Arial"/>
              </a:rPr>
              <a:t>Bearish divergence </a:t>
            </a:r>
            <a:r>
              <a:rPr sz="2000" b="1" i="0">
                <a:solidFill>
                  <a:srgbClr val="C62828"/>
                </a:solidFill>
                <a:latin typeface="Arial"/>
              </a:rPr>
              <a:t>(5)</a:t>
            </a:r>
            <a:r>
              <a:rPr sz="2000" b="0" i="0">
                <a:solidFill>
                  <a:srgbClr val="1A1A1A"/>
                </a:solidFill>
                <a:latin typeface="Arial"/>
              </a:rPr>
              <a:t>: price rising, November to February, on falling volume.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read against price, as in Part 1, on the same chart.</a:t>
            </a:r>
          </a:p>
        </p:txBody>
      </p:sp>
      <p:sp>
        <p:nvSpPr>
          <p:cNvPr id="10" name="Rectangle 9"/>
          <p:cNvSpPr/>
          <p:nvPr/>
        </p:nvSpPr>
        <p:spPr>
          <a:xfrm>
            <a:off x="6683548" y="1810512"/>
            <a:ext cx="4265278" cy="37490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02420" y="1929384"/>
            <a:ext cx="40275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02420" y="1929384"/>
            <a:ext cx="40275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76740" y="2203703"/>
            <a:ext cx="34788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500" b="0" i="0">
                <a:solidFill>
                  <a:srgbClr val="1A1A1A"/>
                </a:solidFill>
                <a:latin typeface="Palatino"/>
              </a:rPr>
              <a:t>The daily chart of 3M from May 2011 to February 2012: a falling price line with a rising volume line under it, labelled bearish confirmation, then a rising price line with a falling volume line under it, labelled bearish divergence.</a:t>
            </a:r>
          </a:p>
        </p:txBody>
      </p:sp>
      <p:cxnSp>
        <p:nvCxnSpPr>
          <p:cNvPr id="14" name="Connector 13"/>
          <p:cNvCxnSpPr/>
          <p:nvPr/>
        </p:nvCxnSpPr>
        <p:spPr>
          <a:xfrm flipV="1">
            <a:off x="6822557" y="4464539"/>
            <a:ext cx="1900997" cy="312506"/>
          </a:xfrm>
          <a:prstGeom prst="line">
            <a:avLst/>
          </a:prstGeom>
          <a:ln w="44450">
            <a:solidFill>
              <a:srgbClr val="E09B00"/>
            </a:solidFill>
          </a:ln>
        </p:spPr>
      </p:cxnSp>
      <p:cxnSp>
        <p:nvCxnSpPr>
          <p:cNvPr id="15" name="Connector 14"/>
          <p:cNvCxnSpPr/>
          <p:nvPr/>
        </p:nvCxnSpPr>
        <p:spPr>
          <a:xfrm>
            <a:off x="9065894" y="4524231"/>
            <a:ext cx="1325059" cy="488070"/>
          </a:xfrm>
          <a:prstGeom prst="line">
            <a:avLst/>
          </a:prstGeom>
          <a:ln w="44450">
            <a:solidFill>
              <a:srgbClr val="C62828"/>
            </a:solidFill>
          </a:ln>
        </p:spPr>
      </p:cxnSp>
      <p:sp>
        <p:nvSpPr>
          <p:cNvPr id="16" name="Oval 15"/>
          <p:cNvSpPr/>
          <p:nvPr/>
        </p:nvSpPr>
        <p:spPr>
          <a:xfrm>
            <a:off x="6667109" y="462159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Oval 16"/>
          <p:cNvSpPr/>
          <p:nvPr/>
        </p:nvSpPr>
        <p:spPr>
          <a:xfrm>
            <a:off x="8910446" y="436878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8" name="TextBox 17"/>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 Confirmation and divergence: Part 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Largest volume by price range: ours, PHP 48 to 50.</a:t>
            </a:r>
          </a:p>
          <a:p>
            <a:pPr algn="l">
              <a:lnSpc>
                <a:spcPct val="105000"/>
              </a:lnSpc>
              <a:spcBef>
                <a:spcPts val="0"/>
              </a:spcBef>
              <a:spcAft>
                <a:spcPts val="1100"/>
              </a:spcAft>
            </a:pPr>
            <a:r>
              <a:rPr sz="17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7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7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a:t>
            </a:r>
          </a:p>
        </p:txBody>
      </p:sp>
      <p:sp>
        <p:nvSpPr>
          <p:cNvPr id="10" name="TextBox 9"/>
          <p:cNvSpPr txBox="1"/>
          <p:nvPr/>
        </p:nvSpPr>
        <p:spPr>
          <a:xfrm>
            <a:off x="777240" y="5625846"/>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Support at PHP 47.50: price turned up near it twice, at 1, PHP 47.40, and 2, PHP 47.50.</a:t>
            </a:r>
          </a:p>
          <a:p>
            <a:pPr algn="l">
              <a:lnSpc>
                <a:spcPct val="105000"/>
              </a:lnSpc>
              <a:spcBef>
                <a:spcPts val="0"/>
              </a:spcBef>
              <a:spcAft>
                <a:spcPts val="1100"/>
              </a:spcAft>
            </a:pPr>
            <a:r>
              <a:rPr sz="1900" b="0" i="0">
                <a:solidFill>
                  <a:srgbClr val="1A1A1A"/>
                </a:solidFill>
                <a:latin typeface="Arial"/>
              </a:rPr>
              <a:t>Resistance at PHP 50.80: price turned down near it twice, at 3, PHP 50.90, and 4, PHP 50.80, then broke above it and rose to about PHP 58.60, at 5.</a:t>
            </a:r>
          </a:p>
        </p:txBody>
      </p:sp>
      <p:sp>
        <p:nvSpPr>
          <p:cNvPr id="8" name="Rectangle 7"/>
          <p:cNvSpPr/>
          <p:nvPr/>
        </p:nvSpPr>
        <p:spPr>
          <a:xfrm>
            <a:off x="777240" y="4320540"/>
            <a:ext cx="82296" cy="13655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57116"/>
            <a:ext cx="5193792" cy="13655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Potential levels, the book says, not certain ones: ours held twice, then broke. It does not say what a break means.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g.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$74 to $80: the book's largest volume by price range, the dark sideways bars.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The dark columns, where volume reaches the dotted overextended volume level (Part 2), cross it in two white boxes, </a:t>
            </a:r>
            <a:r>
              <a:rPr sz="1700" b="1" i="0">
                <a:solidFill>
                  <a:srgbClr val="1F5FAD"/>
                </a:solidFill>
                <a:latin typeface="Arial"/>
              </a:rPr>
              <a:t>(3)</a:t>
            </a:r>
            <a:r>
              <a:rPr sz="1700" b="0" i="0">
                <a:solidFill>
                  <a:srgbClr val="1A1A1A"/>
                </a:solidFill>
                <a:latin typeface="Arial"/>
              </a:rPr>
              <a:t> and </a:t>
            </a:r>
            <a:r>
              <a:rPr sz="1700" b="1" i="0">
                <a:solidFill>
                  <a:srgbClr val="7B3FA0"/>
                </a:solidFill>
                <a:latin typeface="Arial"/>
              </a:rPr>
              <a:t>(5)</a:t>
            </a:r>
            <a:r>
              <a:rPr sz="1700" b="0" i="0">
                <a:solidFill>
                  <a:srgbClr val="1A1A1A"/>
                </a:solidFill>
                <a:latin typeface="Arial"/>
              </a:rPr>
              <a:t>.</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page earlier the book gave 3M's most traded range as $77 to $86. It does not say why they differ.</a:t>
            </a:r>
          </a:p>
        </p:txBody>
      </p:sp>
      <p:sp>
        <p:nvSpPr>
          <p:cNvPr id="11" name="Rectangle 10"/>
          <p:cNvSpPr/>
          <p:nvPr/>
        </p:nvSpPr>
        <p:spPr>
          <a:xfrm>
            <a:off x="6217919" y="1810512"/>
            <a:ext cx="5196535" cy="323218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9443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3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6.29</a:t>
            </a:r>
          </a:p>
          <a:p>
            <a:pPr algn="l">
              <a:lnSpc>
                <a:spcPct val="115000"/>
              </a:lnSpc>
              <a:spcBef>
                <a:spcPts val="0"/>
              </a:spcBef>
              <a:spcAft>
                <a:spcPts val="0"/>
              </a:spcAft>
            </a:pPr>
            <a:r>
              <a:rPr sz="15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p:txBody>
      </p:sp>
      <p:sp>
        <p:nvSpPr>
          <p:cNvPr id="15" name="Rectangle 14"/>
          <p:cNvSpPr/>
          <p:nvPr/>
        </p:nvSpPr>
        <p:spPr>
          <a:xfrm>
            <a:off x="6361585" y="2917548"/>
            <a:ext cx="2206661" cy="509054"/>
          </a:xfrm>
          <a:prstGeom prst="rect">
            <a:avLst/>
          </a:prstGeom>
          <a:noFill/>
          <a:ln w="44450">
            <a:solidFill>
              <a:srgbClr val="E09B00"/>
            </a:solidFill>
          </a:ln>
        </p:spPr>
        <p:txBody>
          <a:bodyPr rtlCol="0" anchor="ctr"/>
          <a:lstStyle/>
          <a:p>
            <a:pPr algn="ctr"/>
          </a:p>
        </p:txBody>
      </p:sp>
      <p:sp>
        <p:nvSpPr>
          <p:cNvPr id="16" name="Rectangle 15"/>
          <p:cNvSpPr/>
          <p:nvPr/>
        </p:nvSpPr>
        <p:spPr>
          <a:xfrm>
            <a:off x="9088921" y="4205157"/>
            <a:ext cx="1041346" cy="628832"/>
          </a:xfrm>
          <a:prstGeom prst="rect">
            <a:avLst/>
          </a:prstGeom>
          <a:noFill/>
          <a:ln w="44450">
            <a:solidFill>
              <a:srgbClr val="C62828"/>
            </a:solidFill>
          </a:ln>
        </p:spPr>
        <p:txBody>
          <a:bodyPr rtlCol="0" anchor="ctr"/>
          <a:lstStyle/>
          <a:p>
            <a:pPr algn="ctr"/>
          </a:p>
        </p:txBody>
      </p:sp>
      <p:sp>
        <p:nvSpPr>
          <p:cNvPr id="17" name="Rectangle 16"/>
          <p:cNvSpPr/>
          <p:nvPr/>
        </p:nvSpPr>
        <p:spPr>
          <a:xfrm>
            <a:off x="9113714" y="3037326"/>
            <a:ext cx="247939" cy="389277"/>
          </a:xfrm>
          <a:prstGeom prst="rect">
            <a:avLst/>
          </a:prstGeom>
          <a:noFill/>
          <a:ln w="44450">
            <a:solidFill>
              <a:srgbClr val="1F5FAD"/>
            </a:solidFill>
          </a:ln>
        </p:spPr>
        <p:txBody>
          <a:bodyPr rtlCol="0" anchor="ctr"/>
          <a:lstStyle/>
          <a:p>
            <a:pPr algn="ctr"/>
          </a:p>
        </p:txBody>
      </p:sp>
      <p:sp>
        <p:nvSpPr>
          <p:cNvPr id="18" name="Rectangle 17"/>
          <p:cNvSpPr/>
          <p:nvPr/>
        </p:nvSpPr>
        <p:spPr>
          <a:xfrm>
            <a:off x="9807945" y="3037326"/>
            <a:ext cx="247939" cy="389277"/>
          </a:xfrm>
          <a:prstGeom prst="rect">
            <a:avLst/>
          </a:prstGeom>
          <a:noFill/>
          <a:ln w="44450">
            <a:solidFill>
              <a:srgbClr val="7B3FA0"/>
            </a:solidFill>
          </a:ln>
        </p:spPr>
        <p:txBody>
          <a:bodyPr rtlCol="0" anchor="ctr"/>
          <a:lstStyle/>
          <a:p>
            <a:pPr algn="ctr"/>
          </a:p>
        </p:txBody>
      </p:sp>
      <p:sp>
        <p:nvSpPr>
          <p:cNvPr id="19" name="Rectangle 18"/>
          <p:cNvSpPr/>
          <p:nvPr/>
        </p:nvSpPr>
        <p:spPr>
          <a:xfrm>
            <a:off x="10254236" y="2977437"/>
            <a:ext cx="768612" cy="628832"/>
          </a:xfrm>
          <a:prstGeom prst="rect">
            <a:avLst/>
          </a:prstGeom>
          <a:noFill/>
          <a:ln w="44450">
            <a:solidFill>
              <a:srgbClr val="007A33"/>
            </a:solidFill>
          </a:ln>
        </p:spPr>
        <p:txBody>
          <a:bodyPr rtlCol="0" anchor="ctr"/>
          <a:lstStyle/>
          <a:p>
            <a:pPr algn="ctr"/>
          </a:p>
        </p:txBody>
      </p:sp>
      <p:sp>
        <p:nvSpPr>
          <p:cNvPr id="20" name="Oval 19"/>
          <p:cNvSpPr/>
          <p:nvPr/>
        </p:nvSpPr>
        <p:spPr>
          <a:xfrm>
            <a:off x="6206137" y="27621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9404558" y="404970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9082236" y="27621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776467" y="2762100"/>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Oval 23"/>
          <p:cNvSpPr/>
          <p:nvPr/>
        </p:nvSpPr>
        <p:spPr>
          <a:xfrm>
            <a:off x="10098788" y="2821989"/>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5" name="TextBox 24"/>
          <p:cNvSpPr txBox="1"/>
          <p:nvPr/>
        </p:nvSpPr>
        <p:spPr>
          <a:xfrm>
            <a:off x="6217919" y="513413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23</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as an empty box, the range, over a black box, the volume.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short range, low volume; </a:t>
            </a:r>
            <a:r>
              <a:rPr sz="1700" b="1" i="0">
                <a:solidFill>
                  <a:srgbClr val="C62828"/>
                </a:solidFill>
                <a:latin typeface="Arial"/>
              </a:rPr>
              <a:t>(2)</a:t>
            </a:r>
            <a:r>
              <a:rPr sz="1700" b="0" i="0">
                <a:solidFill>
                  <a:srgbClr val="1A1A1A"/>
                </a:solidFill>
                <a:latin typeface="Arial"/>
              </a:rPr>
              <a:t> short, high; </a:t>
            </a:r>
            <a:r>
              <a:rPr sz="1700" b="1" i="0">
                <a:solidFill>
                  <a:srgbClr val="1F5FAD"/>
                </a:solidFill>
                <a:latin typeface="Arial"/>
              </a:rPr>
              <a:t>(3)</a:t>
            </a:r>
            <a:r>
              <a:rPr sz="1700" b="0" i="0">
                <a:solidFill>
                  <a:srgbClr val="1A1A1A"/>
                </a:solidFill>
                <a:latin typeface="Arial"/>
              </a:rPr>
              <a:t> tall, low; </a:t>
            </a:r>
            <a:r>
              <a:rPr sz="1700" b="1" i="0">
                <a:solidFill>
                  <a:srgbClr val="007A33"/>
                </a:solidFill>
                <a:latin typeface="Arial"/>
              </a:rPr>
              <a:t>(4)</a:t>
            </a:r>
            <a:r>
              <a:rPr sz="1700" b="0" i="0">
                <a:solidFill>
                  <a:srgbClr val="1A1A1A"/>
                </a:solidFill>
                <a:latin typeface="Arial"/>
              </a:rPr>
              <a:t>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0596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282186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36466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6.30</a:t>
            </a:r>
          </a:p>
          <a:p>
            <a:pPr algn="l">
              <a:lnSpc>
                <a:spcPct val="115000"/>
              </a:lnSpc>
              <a:spcBef>
                <a:spcPts val="0"/>
              </a:spcBef>
              <a:spcAft>
                <a:spcPts val="0"/>
              </a:spcAft>
            </a:pPr>
            <a:r>
              <a:rPr sz="1500" b="0" i="0">
                <a:solidFill>
                  <a:srgbClr val="1A1A1A"/>
                </a:solidFill>
                <a:latin typeface="Palatino"/>
              </a:rPr>
              <a:t>Four numbered pairs: an empty box for the bar range over a black box for the volume. 1 short on low, 2 short on high, 3 tall on low, 4 tall on high.</a:t>
            </a:r>
          </a:p>
        </p:txBody>
      </p:sp>
      <p:cxnSp>
        <p:nvCxnSpPr>
          <p:cNvPr id="14" name="Connector 13"/>
          <p:cNvCxnSpPr/>
          <p:nvPr/>
        </p:nvCxnSpPr>
        <p:spPr>
          <a:xfrm>
            <a:off x="9075959" y="2550194"/>
            <a:ext cx="0" cy="1805994"/>
          </a:xfrm>
          <a:prstGeom prst="line">
            <a:avLst/>
          </a:prstGeom>
          <a:ln w="44450">
            <a:solidFill>
              <a:srgbClr val="E09B00"/>
            </a:solidFill>
          </a:ln>
        </p:spPr>
      </p:cxnSp>
      <p:cxnSp>
        <p:nvCxnSpPr>
          <p:cNvPr id="15" name="Connector 14"/>
          <p:cNvCxnSpPr/>
          <p:nvPr/>
        </p:nvCxnSpPr>
        <p:spPr>
          <a:xfrm>
            <a:off x="9705404" y="2550194"/>
            <a:ext cx="0" cy="1805994"/>
          </a:xfrm>
          <a:prstGeom prst="line">
            <a:avLst/>
          </a:prstGeom>
          <a:ln w="44450">
            <a:solidFill>
              <a:srgbClr val="C62828"/>
            </a:solidFill>
          </a:ln>
        </p:spPr>
      </p:cxnSp>
      <p:cxnSp>
        <p:nvCxnSpPr>
          <p:cNvPr id="16" name="Connector 15"/>
          <p:cNvCxnSpPr/>
          <p:nvPr/>
        </p:nvCxnSpPr>
        <p:spPr>
          <a:xfrm>
            <a:off x="10334850" y="1985821"/>
            <a:ext cx="0" cy="2370367"/>
          </a:xfrm>
          <a:prstGeom prst="line">
            <a:avLst/>
          </a:prstGeom>
          <a:ln w="44450">
            <a:solidFill>
              <a:srgbClr val="1F5FAD"/>
            </a:solidFill>
          </a:ln>
        </p:spPr>
      </p:cxnSp>
      <p:cxnSp>
        <p:nvCxnSpPr>
          <p:cNvPr id="17" name="Connector 16"/>
          <p:cNvCxnSpPr/>
          <p:nvPr/>
        </p:nvCxnSpPr>
        <p:spPr>
          <a:xfrm>
            <a:off x="10964295" y="1985821"/>
            <a:ext cx="0" cy="2370367"/>
          </a:xfrm>
          <a:prstGeom prst="line">
            <a:avLst/>
          </a:prstGeom>
          <a:ln w="44450">
            <a:solidFill>
              <a:srgbClr val="007A33"/>
            </a:solidFill>
          </a:ln>
        </p:spPr>
      </p:cxnSp>
      <p:sp>
        <p:nvSpPr>
          <p:cNvPr id="18" name="Oval 17"/>
          <p:cNvSpPr/>
          <p:nvPr/>
        </p:nvSpPr>
        <p:spPr>
          <a:xfrm>
            <a:off x="8920511" y="33259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549956" y="332596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179402" y="332596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808847" y="332596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7863840" y="496156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23</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23</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Step 1, the usual bar, grey: about PHP 1.00 high to low, on 2 million shares. Ours, as the book gives no number.</a:t>
            </a:r>
          </a:p>
          <a:p>
            <a:pPr algn="l">
              <a:lnSpc>
                <a:spcPct val="105000"/>
              </a:lnSpc>
              <a:spcBef>
                <a:spcPts val="0"/>
              </a:spcBef>
              <a:spcAft>
                <a:spcPts val="1100"/>
              </a:spcAft>
            </a:pPr>
            <a:r>
              <a:rPr sz="1600" b="0" i="0">
                <a:solidFill>
                  <a:srgbClr val="1A1A1A"/>
                </a:solidFill>
                <a:latin typeface="Arial"/>
              </a:rPr>
              <a:t>Step 2, compare. </a:t>
            </a:r>
            <a:r>
              <a:rPr sz="1600" b="1" i="0">
                <a:solidFill>
                  <a:srgbClr val="E09B00"/>
                </a:solidFill>
                <a:latin typeface="Arial"/>
              </a:rPr>
              <a:t>(1)</a:t>
            </a:r>
            <a:r>
              <a:rPr sz="1600" b="0" i="0">
                <a:solidFill>
                  <a:srgbClr val="1A1A1A"/>
                </a:solidFill>
                <a:latin typeface="Arial"/>
              </a:rPr>
              <a:t> PHP 0.20 on 1 million: narrow, low: Low Volume Rest Bar. </a:t>
            </a:r>
            <a:r>
              <a:rPr sz="1600" b="1" i="0">
                <a:solidFill>
                  <a:srgbClr val="C62828"/>
                </a:solidFill>
                <a:latin typeface="Arial"/>
              </a:rPr>
              <a:t>(2)</a:t>
            </a:r>
            <a:r>
              <a:rPr sz="1600" b="0" i="0">
                <a:solidFill>
                  <a:srgbClr val="1A1A1A"/>
                </a:solidFill>
                <a:latin typeface="Arial"/>
              </a:rPr>
              <a:t> PHP 0.20 on 5 million: narrow, high: High Volume Reversal Bar.</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PHP 2.50 on 1 million: wide, low: Low Volume Reversal Bar. </a:t>
            </a:r>
            <a:r>
              <a:rPr sz="1600" b="1" i="0">
                <a:solidFill>
                  <a:srgbClr val="007A33"/>
                </a:solidFill>
                <a:latin typeface="Arial"/>
              </a:rPr>
              <a:t>(4)</a:t>
            </a:r>
            <a:r>
              <a:rPr sz="1600" b="0" i="0">
                <a:solidFill>
                  <a:srgbClr val="1A1A1A"/>
                </a:solidFill>
                <a:latin typeface="Arial"/>
              </a:rPr>
              <a:t> PHP 2.50 on 5 million: wide, high: High Volume Continuation Bar.</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5595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Judge each bar's range and volume against the bars around it.</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a.png"/>
          <p:cNvPicPr>
            <a:picLocks noChangeAspect="1"/>
          </p:cNvPicPr>
          <p:nvPr/>
        </p:nvPicPr>
        <p:blipFill>
          <a:blip r:embed="rId2"/>
          <a:stretch>
            <a:fillRect/>
          </a:stretch>
        </p:blipFill>
        <p:spPr>
          <a:xfrm>
            <a:off x="7069683" y="1929384"/>
            <a:ext cx="4224528" cy="3511296"/>
          </a:xfrm>
          <a:prstGeom prst="rect">
            <a:avLst/>
          </a:prstGeom>
        </p:spPr>
      </p:pic>
      <p:sp>
        <p:nvSpPr>
          <p:cNvPr id="12" name="Rectangle 11"/>
          <p:cNvSpPr/>
          <p:nvPr/>
        </p:nvSpPr>
        <p:spPr>
          <a:xfrm>
            <a:off x="8738372" y="2350739"/>
            <a:ext cx="253471" cy="1088501"/>
          </a:xfrm>
          <a:prstGeom prst="rect">
            <a:avLst/>
          </a:prstGeom>
          <a:noFill/>
          <a:ln w="44450">
            <a:solidFill>
              <a:srgbClr val="E09B00"/>
            </a:solidFill>
          </a:ln>
        </p:spPr>
        <p:txBody>
          <a:bodyPr rtlCol="0" anchor="ctr"/>
          <a:lstStyle/>
          <a:p>
            <a:pPr algn="ctr"/>
          </a:p>
        </p:txBody>
      </p:sp>
      <p:sp>
        <p:nvSpPr>
          <p:cNvPr id="13" name="Rectangle 12"/>
          <p:cNvSpPr/>
          <p:nvPr/>
        </p:nvSpPr>
        <p:spPr>
          <a:xfrm>
            <a:off x="10850636" y="2350739"/>
            <a:ext cx="253471" cy="1088501"/>
          </a:xfrm>
          <a:prstGeom prst="rect">
            <a:avLst/>
          </a:prstGeom>
          <a:noFill/>
          <a:ln w="44450">
            <a:solidFill>
              <a:srgbClr val="C62828"/>
            </a:solidFill>
          </a:ln>
        </p:spPr>
        <p:txBody>
          <a:bodyPr rtlCol="0" anchor="ctr"/>
          <a:lstStyle/>
          <a:p>
            <a:pPr algn="ctr"/>
          </a:p>
        </p:txBody>
      </p:sp>
      <p:sp>
        <p:nvSpPr>
          <p:cNvPr id="14" name="Rectangle 13"/>
          <p:cNvSpPr/>
          <p:nvPr/>
        </p:nvSpPr>
        <p:spPr>
          <a:xfrm>
            <a:off x="8738372" y="3930822"/>
            <a:ext cx="253471" cy="1018275"/>
          </a:xfrm>
          <a:prstGeom prst="rect">
            <a:avLst/>
          </a:prstGeom>
          <a:noFill/>
          <a:ln w="44450">
            <a:solidFill>
              <a:srgbClr val="1F5FAD"/>
            </a:solidFill>
          </a:ln>
        </p:spPr>
        <p:txBody>
          <a:bodyPr rtlCol="0" anchor="ctr"/>
          <a:lstStyle/>
          <a:p>
            <a:pPr algn="ctr"/>
          </a:p>
        </p:txBody>
      </p:sp>
      <p:sp>
        <p:nvSpPr>
          <p:cNvPr id="15" name="Rectangle 14"/>
          <p:cNvSpPr/>
          <p:nvPr/>
        </p:nvSpPr>
        <p:spPr>
          <a:xfrm>
            <a:off x="10850636" y="3930822"/>
            <a:ext cx="253471" cy="1018275"/>
          </a:xfrm>
          <a:prstGeom prst="rect">
            <a:avLst/>
          </a:prstGeom>
          <a:noFill/>
          <a:ln w="44450">
            <a:solidFill>
              <a:srgbClr val="007A33"/>
            </a:solidFill>
          </a:ln>
        </p:spPr>
        <p:txBody>
          <a:bodyPr rtlCol="0" anchor="ctr"/>
          <a:lstStyle/>
          <a:p>
            <a:pPr algn="ctr"/>
          </a:p>
        </p:txBody>
      </p:sp>
      <p:sp>
        <p:nvSpPr>
          <p:cNvPr id="16" name="Oval 15"/>
          <p:cNvSpPr/>
          <p:nvPr/>
        </p:nvSpPr>
        <p:spPr>
          <a:xfrm>
            <a:off x="8582924" y="21952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695188" y="21952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582924" y="377537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695188" y="3775374"/>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JA - FIN1209 teaching chart, drawn for this course. Illustrative data, not a real instrument.</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the comparison with the usual bar, which the book does not put a number on, and the chart: sketches, not prices.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High Volume Reversal Bar, narrow on high volume, chart left: a strong potential for reversal. Bearish in an uptrend; the converse, bullish, in a downtrend.</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Low Volume Reversal Bar, wide on low volume, right: a potential for reversal. The longer the bar, the more bearish in an uptrend, bullish in a downtrend.</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Rectangle 11"/>
          <p:cNvSpPr/>
          <p:nvPr/>
        </p:nvSpPr>
        <p:spPr>
          <a:xfrm>
            <a:off x="7651516" y="2385852"/>
            <a:ext cx="346923" cy="2809036"/>
          </a:xfrm>
          <a:prstGeom prst="rect">
            <a:avLst/>
          </a:prstGeom>
          <a:noFill/>
          <a:ln w="44450">
            <a:solidFill>
              <a:srgbClr val="E09B00"/>
            </a:solidFill>
          </a:ln>
        </p:spPr>
        <p:txBody>
          <a:bodyPr rtlCol="0" anchor="ctr"/>
          <a:lstStyle/>
          <a:p>
            <a:pPr algn="ctr"/>
          </a:p>
        </p:txBody>
      </p:sp>
      <p:sp>
        <p:nvSpPr>
          <p:cNvPr id="13" name="Rectangle 12"/>
          <p:cNvSpPr/>
          <p:nvPr/>
        </p:nvSpPr>
        <p:spPr>
          <a:xfrm>
            <a:off x="10129540" y="2385852"/>
            <a:ext cx="346923" cy="2809036"/>
          </a:xfrm>
          <a:prstGeom prst="rect">
            <a:avLst/>
          </a:prstGeom>
          <a:noFill/>
          <a:ln w="44450">
            <a:solidFill>
              <a:srgbClr val="C62828"/>
            </a:solidFill>
          </a:ln>
        </p:spPr>
        <p:txBody>
          <a:bodyPr rtlCol="0" anchor="ctr"/>
          <a:lstStyle/>
          <a:p>
            <a:pPr algn="ctr"/>
          </a:p>
        </p:txBody>
      </p:sp>
      <p:sp>
        <p:nvSpPr>
          <p:cNvPr id="14" name="Oval 13"/>
          <p:cNvSpPr/>
          <p:nvPr/>
        </p:nvSpPr>
        <p:spPr>
          <a:xfrm>
            <a:off x="7496068" y="223040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974092" y="22304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23</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Ours: the usual bar moves PHP 1.00 on 2 million shares. Today 5 million trade, 2.5 times usual, and price moves only PHP 0.20.</a:t>
            </a:r>
          </a:p>
          <a:p>
            <a:pPr algn="l">
              <a:lnSpc>
                <a:spcPct val="105000"/>
              </a:lnSpc>
              <a:spcBef>
                <a:spcPts val="0"/>
              </a:spcBef>
              <a:spcAft>
                <a:spcPts val="1100"/>
              </a:spcAft>
            </a:pPr>
            <a:r>
              <a:rPr sz="1600" b="0" i="0">
                <a:solidFill>
                  <a:srgbClr val="1A1A1A"/>
                </a:solidFill>
                <a:latin typeface="Arial"/>
              </a:rPr>
              <a:t>The book: were that volume buying, the range would be much wider, so sellers are attempting to take control. In a downtrend, the converse.</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Ours: price jumps PHP 3.00 on 0.7 million, a third of usual. The book: a large move on little participation, its word for volume: a lack of interest.</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5595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warning of a potential turn, not a certainty: no entry rule.</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b.png"/>
          <p:cNvPicPr>
            <a:picLocks noChangeAspect="1"/>
          </p:cNvPicPr>
          <p:nvPr/>
        </p:nvPicPr>
        <p:blipFill>
          <a:blip r:embed="rId2"/>
          <a:stretch>
            <a:fillRect/>
          </a:stretch>
        </p:blipFill>
        <p:spPr>
          <a:xfrm>
            <a:off x="7069683" y="1929384"/>
            <a:ext cx="4224528" cy="3511296"/>
          </a:xfrm>
          <a:prstGeom prst="rect">
            <a:avLst/>
          </a:prstGeom>
        </p:spPr>
      </p:pic>
      <p:sp>
        <p:nvSpPr>
          <p:cNvPr id="12" name="Rectangle 11"/>
          <p:cNvSpPr/>
          <p:nvPr/>
        </p:nvSpPr>
        <p:spPr>
          <a:xfrm>
            <a:off x="8231428" y="2420965"/>
            <a:ext cx="274594" cy="2598359"/>
          </a:xfrm>
          <a:prstGeom prst="rect">
            <a:avLst/>
          </a:prstGeom>
          <a:noFill/>
          <a:ln w="44450">
            <a:solidFill>
              <a:srgbClr val="E09B00"/>
            </a:solidFill>
          </a:ln>
        </p:spPr>
        <p:txBody>
          <a:bodyPr rtlCol="0" anchor="ctr"/>
          <a:lstStyle/>
          <a:p>
            <a:pPr algn="ctr"/>
          </a:p>
        </p:txBody>
      </p:sp>
      <p:sp>
        <p:nvSpPr>
          <p:cNvPr id="13" name="Rectangle 12"/>
          <p:cNvSpPr/>
          <p:nvPr/>
        </p:nvSpPr>
        <p:spPr>
          <a:xfrm>
            <a:off x="10322570" y="2420965"/>
            <a:ext cx="253471" cy="2598359"/>
          </a:xfrm>
          <a:prstGeom prst="rect">
            <a:avLst/>
          </a:prstGeom>
          <a:noFill/>
          <a:ln w="44450">
            <a:solidFill>
              <a:srgbClr val="C62828"/>
            </a:solidFill>
          </a:ln>
        </p:spPr>
        <p:txBody>
          <a:bodyPr rtlCol="0" anchor="ctr"/>
          <a:lstStyle/>
          <a:p>
            <a:pPr algn="ctr"/>
          </a:p>
        </p:txBody>
      </p:sp>
      <p:sp>
        <p:nvSpPr>
          <p:cNvPr id="14" name="Oval 13"/>
          <p:cNvSpPr/>
          <p:nvPr/>
        </p:nvSpPr>
        <p:spPr>
          <a:xfrm>
            <a:off x="8075980" y="226551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167122" y="226551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 and the chart: sketches, not prices.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a:t>
            </a:r>
            <a:r>
              <a:rPr sz="1700" b="1" i="0">
                <a:solidFill>
                  <a:srgbClr val="E09B00"/>
                </a:solidFill>
                <a:latin typeface="Arial"/>
              </a:rPr>
              <a:t>(1)</a:t>
            </a:r>
            <a:r>
              <a:rPr sz="1700" b="0" i="0">
                <a:solidFill>
                  <a:srgbClr val="1A1A1A"/>
                </a:solidFill>
                <a:latin typeface="Arial"/>
              </a:rPr>
              <a:t>, a potential reversal; in a weak to average one </a:t>
            </a:r>
            <a:r>
              <a:rPr sz="1700" b="1" i="0">
                <a:solidFill>
                  <a:srgbClr val="C62828"/>
                </a:solidFill>
                <a:latin typeface="Arial"/>
              </a:rPr>
              <a:t>(2)</a:t>
            </a:r>
            <a:r>
              <a:rPr sz="1700" b="0" i="0">
                <a:solidFill>
                  <a:srgbClr val="1A1A1A"/>
                </a:solidFill>
                <a:latin typeface="Arial"/>
              </a:rPr>
              <a:t>, a point of rest.</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High Volume Continuation Bar, wide on high volume: backed by very large participation. Bullish in an uptrend, bearish in a downtrend.</a:t>
            </a:r>
          </a:p>
        </p:txBody>
      </p:sp>
      <p:sp>
        <p:nvSpPr>
          <p:cNvPr id="8" name="Rectangle 7"/>
          <p:cNvSpPr/>
          <p:nvPr/>
        </p:nvSpPr>
        <p:spPr>
          <a:xfrm>
            <a:off x="777240" y="4400550"/>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Rectangle 11"/>
          <p:cNvSpPr/>
          <p:nvPr/>
        </p:nvSpPr>
        <p:spPr>
          <a:xfrm>
            <a:off x="7131131" y="2561417"/>
            <a:ext cx="322143" cy="2633472"/>
          </a:xfrm>
          <a:prstGeom prst="rect">
            <a:avLst/>
          </a:prstGeom>
          <a:noFill/>
          <a:ln w="44450">
            <a:solidFill>
              <a:srgbClr val="E09B00"/>
            </a:solidFill>
          </a:ln>
        </p:spPr>
        <p:txBody>
          <a:bodyPr rtlCol="0" anchor="ctr"/>
          <a:lstStyle/>
          <a:p>
            <a:pPr algn="ctr"/>
          </a:p>
        </p:txBody>
      </p:sp>
      <p:sp>
        <p:nvSpPr>
          <p:cNvPr id="13" name="Rectangle 12"/>
          <p:cNvSpPr/>
          <p:nvPr/>
        </p:nvSpPr>
        <p:spPr>
          <a:xfrm>
            <a:off x="8717066" y="2877433"/>
            <a:ext cx="322143" cy="2317455"/>
          </a:xfrm>
          <a:prstGeom prst="rect">
            <a:avLst/>
          </a:prstGeom>
          <a:noFill/>
          <a:ln w="44450">
            <a:solidFill>
              <a:srgbClr val="C62828"/>
            </a:solidFill>
          </a:ln>
        </p:spPr>
        <p:txBody>
          <a:bodyPr rtlCol="0" anchor="ctr"/>
          <a:lstStyle/>
          <a:p>
            <a:pPr algn="ctr"/>
          </a:p>
        </p:txBody>
      </p:sp>
      <p:sp>
        <p:nvSpPr>
          <p:cNvPr id="14" name="Rectangle 13"/>
          <p:cNvSpPr/>
          <p:nvPr/>
        </p:nvSpPr>
        <p:spPr>
          <a:xfrm>
            <a:off x="10377342" y="2947659"/>
            <a:ext cx="346923" cy="2247229"/>
          </a:xfrm>
          <a:prstGeom prst="rect">
            <a:avLst/>
          </a:prstGeom>
          <a:noFill/>
          <a:ln w="44450">
            <a:solidFill>
              <a:srgbClr val="1F5FAD"/>
            </a:solidFill>
          </a:ln>
        </p:spPr>
        <p:txBody>
          <a:bodyPr rtlCol="0" anchor="ctr"/>
          <a:lstStyle/>
          <a:p>
            <a:pPr algn="ctr"/>
          </a:p>
        </p:txBody>
      </p:sp>
      <p:sp>
        <p:nvSpPr>
          <p:cNvPr id="15" name="Oval 14"/>
          <p:cNvSpPr/>
          <p:nvPr/>
        </p:nvSpPr>
        <p:spPr>
          <a:xfrm>
            <a:off x="6975683" y="240596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61618" y="27219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21894" y="279221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23</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Ours: a rise of PHP 1.60 a bar stalls on a PHP 0.30 bar with a quarter of the usual volume. That fast, then that quiet: a potential reversal.</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The same quiet bar in a rise of PHP 0.45 a bar: a point of rest, a pause before the rise goes on. The book gives no speed for strong and rapid.</a:t>
            </a:r>
          </a:p>
          <a:p>
            <a:pPr algn="l">
              <a:lnSpc>
                <a:spcPct val="105000"/>
              </a:lnSpc>
              <a:spcBef>
                <a:spcPts val="0"/>
              </a:spcBef>
              <a:spcAft>
                <a:spcPts val="1100"/>
              </a:spcAft>
            </a:pPr>
            <a:r>
              <a:rPr sz="18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555955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the rest bar with the trend's speed.</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c.png"/>
          <p:cNvPicPr>
            <a:picLocks noChangeAspect="1"/>
          </p:cNvPicPr>
          <p:nvPr/>
        </p:nvPicPr>
        <p:blipFill>
          <a:blip r:embed="rId2"/>
          <a:stretch>
            <a:fillRect/>
          </a:stretch>
        </p:blipFill>
        <p:spPr>
          <a:xfrm>
            <a:off x="7069683" y="1929384"/>
            <a:ext cx="4224528" cy="3511296"/>
          </a:xfrm>
          <a:prstGeom prst="rect">
            <a:avLst/>
          </a:prstGeom>
        </p:spPr>
      </p:pic>
      <p:sp>
        <p:nvSpPr>
          <p:cNvPr id="12" name="Rectangle 11"/>
          <p:cNvSpPr/>
          <p:nvPr/>
        </p:nvSpPr>
        <p:spPr>
          <a:xfrm>
            <a:off x="8168060" y="2561417"/>
            <a:ext cx="253471" cy="2563246"/>
          </a:xfrm>
          <a:prstGeom prst="rect">
            <a:avLst/>
          </a:prstGeom>
          <a:noFill/>
          <a:ln w="44450">
            <a:solidFill>
              <a:srgbClr val="E09B00"/>
            </a:solidFill>
          </a:ln>
        </p:spPr>
        <p:txBody>
          <a:bodyPr rtlCol="0" anchor="ctr"/>
          <a:lstStyle/>
          <a:p>
            <a:pPr algn="ctr"/>
          </a:p>
        </p:txBody>
      </p:sp>
      <p:sp>
        <p:nvSpPr>
          <p:cNvPr id="13" name="Rectangle 12"/>
          <p:cNvSpPr/>
          <p:nvPr/>
        </p:nvSpPr>
        <p:spPr>
          <a:xfrm>
            <a:off x="10174711" y="2947659"/>
            <a:ext cx="253471" cy="2177003"/>
          </a:xfrm>
          <a:prstGeom prst="rect">
            <a:avLst/>
          </a:prstGeom>
          <a:noFill/>
          <a:ln w="44450">
            <a:solidFill>
              <a:srgbClr val="C62828"/>
            </a:solidFill>
          </a:ln>
        </p:spPr>
        <p:txBody>
          <a:bodyPr rtlCol="0" anchor="ctr"/>
          <a:lstStyle/>
          <a:p>
            <a:pPr algn="ctr"/>
          </a:p>
        </p:txBody>
      </p:sp>
      <p:sp>
        <p:nvSpPr>
          <p:cNvPr id="14" name="Oval 13"/>
          <p:cNvSpPr/>
          <p:nvPr/>
        </p:nvSpPr>
        <p:spPr>
          <a:xfrm>
            <a:off x="8012612" y="240596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019263" y="279221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JC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the chart, and a pause as the plain reading of point of rest. The book gives no reason speed matters.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a:t>
            </a:r>
            <a:r>
              <a:rPr sz="1700" b="1" i="0">
                <a:solidFill>
                  <a:srgbClr val="E09B00"/>
                </a:solidFill>
                <a:latin typeface="Arial"/>
              </a:rPr>
              <a:t>(1)</a:t>
            </a:r>
            <a:r>
              <a:rPr sz="1700" b="0" i="0">
                <a:solidFill>
                  <a:srgbClr val="1A1A1A"/>
                </a:solidFill>
                <a:latin typeface="Arial"/>
              </a:rPr>
              <a:t> and </a:t>
            </a:r>
            <a:r>
              <a:rPr sz="1700" b="1" i="0">
                <a:solidFill>
                  <a:srgbClr val="C62828"/>
                </a:solidFill>
                <a:latin typeface="Arial"/>
              </a:rPr>
              <a:t>(2)</a:t>
            </a:r>
            <a:r>
              <a:rPr sz="1700" b="0" i="0">
                <a:solidFill>
                  <a:srgbClr val="1A1A1A"/>
                </a:solidFill>
                <a:latin typeface="Arial"/>
              </a:rPr>
              <a:t>: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04008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80233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4513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6.31</a:t>
            </a:r>
          </a:p>
          <a:p>
            <a:pPr algn="l">
              <a:lnSpc>
                <a:spcPct val="115000"/>
              </a:lnSpc>
              <a:spcBef>
                <a:spcPts val="0"/>
              </a:spcBef>
              <a:spcAft>
                <a:spcPts val="0"/>
              </a:spcAft>
            </a:pPr>
            <a:r>
              <a:rPr sz="1500" b="0" i="0">
                <a:solidFill>
                  <a:srgbClr val="1A1A1A"/>
                </a:solidFill>
                <a:latin typeface="Palatino"/>
              </a:rPr>
              <a:t>The daily dollar fund: narrow range candlesticks on high volume circled at 1, at a low, and 2, at a dip near the highs, lined to tall volume bars; a triangle at the left.</a:t>
            </a:r>
          </a:p>
        </p:txBody>
      </p:sp>
      <p:sp>
        <p:nvSpPr>
          <p:cNvPr id="14" name="Oval 13"/>
          <p:cNvSpPr/>
          <p:nvPr/>
        </p:nvSpPr>
        <p:spPr>
          <a:xfrm>
            <a:off x="9044997" y="3302529"/>
            <a:ext cx="505233" cy="476397"/>
          </a:xfrm>
          <a:prstGeom prst="ellipse">
            <a:avLst/>
          </a:prstGeom>
          <a:noFill/>
          <a:ln w="44450">
            <a:solidFill>
              <a:srgbClr val="E09B00"/>
            </a:solidFill>
          </a:ln>
        </p:spPr>
        <p:txBody>
          <a:bodyPr rtlCol="0" anchor="ctr"/>
          <a:lstStyle/>
          <a:p>
            <a:pPr algn="ctr"/>
          </a:p>
        </p:txBody>
      </p:sp>
      <p:sp>
        <p:nvSpPr>
          <p:cNvPr id="15" name="Oval 14"/>
          <p:cNvSpPr/>
          <p:nvPr/>
        </p:nvSpPr>
        <p:spPr>
          <a:xfrm>
            <a:off x="10629593" y="2377757"/>
            <a:ext cx="390407" cy="364303"/>
          </a:xfrm>
          <a:prstGeom prst="ellipse">
            <a:avLst/>
          </a:prstGeom>
          <a:noFill/>
          <a:ln w="44450">
            <a:solidFill>
              <a:srgbClr val="C62828"/>
            </a:solidFill>
          </a:ln>
        </p:spPr>
        <p:txBody>
          <a:bodyPr rtlCol="0" anchor="ctr"/>
          <a:lstStyle/>
          <a:p>
            <a:pPr algn="ctr"/>
          </a:p>
        </p:txBody>
      </p:sp>
      <p:sp>
        <p:nvSpPr>
          <p:cNvPr id="16" name="Rectangle 15"/>
          <p:cNvSpPr/>
          <p:nvPr/>
        </p:nvSpPr>
        <p:spPr>
          <a:xfrm>
            <a:off x="7024064" y="3162412"/>
            <a:ext cx="1148257" cy="784654"/>
          </a:xfrm>
          <a:prstGeom prst="rect">
            <a:avLst/>
          </a:prstGeom>
          <a:noFill/>
          <a:ln w="44450">
            <a:solidFill>
              <a:srgbClr val="1F5FAD"/>
            </a:solidFill>
          </a:ln>
        </p:spPr>
        <p:txBody>
          <a:bodyPr rtlCol="0" anchor="ctr"/>
          <a:lstStyle/>
          <a:p>
            <a:pPr algn="ctr"/>
          </a:p>
        </p:txBody>
      </p:sp>
      <p:sp>
        <p:nvSpPr>
          <p:cNvPr id="17" name="Oval 16"/>
          <p:cNvSpPr/>
          <p:nvPr/>
        </p:nvSpPr>
        <p:spPr>
          <a:xfrm>
            <a:off x="8889549" y="314708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474145" y="222230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868616" y="30069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942033"/>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23</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 </a:t>
            </a:r>
            <a:r>
              <a:rPr sz="1900" b="1" i="0">
                <a:solidFill>
                  <a:srgbClr val="E09B00"/>
                </a:solidFill>
                <a:latin typeface="Arial"/>
              </a:rPr>
              <a:t>(1)</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a:t>
            </a:r>
            <a:r>
              <a:rPr sz="1900" b="1" i="0">
                <a:solidFill>
                  <a:srgbClr val="C62828"/>
                </a:solidFill>
                <a:latin typeface="Arial"/>
              </a:rPr>
              <a:t>(2)</a:t>
            </a:r>
            <a:r>
              <a:rPr sz="1900" b="0" i="0">
                <a:solidFill>
                  <a:srgbClr val="1A1A1A"/>
                </a:solidFill>
                <a:latin typeface="Arial"/>
              </a:rPr>
              <a:t>,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24642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19671" y="1929384"/>
            <a:ext cx="4775911" cy="222653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93991" y="2203703"/>
            <a:ext cx="4227271" cy="17693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6.32</a:t>
            </a:r>
          </a:p>
          <a:p>
            <a:pPr algn="l">
              <a:lnSpc>
                <a:spcPct val="115000"/>
              </a:lnSpc>
              <a:spcBef>
                <a:spcPts val="0"/>
              </a:spcBef>
              <a:spcAft>
                <a:spcPts val="0"/>
              </a:spcAft>
            </a:pPr>
            <a:r>
              <a:rPr sz="1500" b="0" i="0">
                <a:solidFill>
                  <a:srgbClr val="1A1A1A"/>
                </a:solidFill>
                <a:latin typeface="Palatino"/>
              </a:rPr>
              <a:t>The daily PowerShares DB U.S. Dollar Bullish Fund with a narrow range candlestick on high volume circled at a low at the start of November, followed by a strong rise.</a:t>
            </a:r>
          </a:p>
        </p:txBody>
      </p:sp>
      <p:sp>
        <p:nvSpPr>
          <p:cNvPr id="14" name="Oval 13"/>
          <p:cNvSpPr/>
          <p:nvPr/>
        </p:nvSpPr>
        <p:spPr>
          <a:xfrm>
            <a:off x="6997263" y="3688344"/>
            <a:ext cx="549229" cy="445306"/>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7474854" y="2307894"/>
            <a:ext cx="740266" cy="1269123"/>
          </a:xfrm>
          <a:prstGeom prst="line">
            <a:avLst/>
          </a:prstGeom>
          <a:ln w="44450">
            <a:solidFill>
              <a:srgbClr val="C62828"/>
            </a:solidFill>
            <a:tailEnd type="triangle" w="med" len="med"/>
          </a:ln>
        </p:spPr>
      </p:cxnSp>
      <p:sp>
        <p:nvSpPr>
          <p:cNvPr id="16" name="Oval 15"/>
          <p:cNvSpPr/>
          <p:nvPr/>
        </p:nvSpPr>
        <p:spPr>
          <a:xfrm>
            <a:off x="6841815" y="353289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319406" y="34215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400799" y="436622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23</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t>
            </a:r>
            <a:r>
              <a:rPr sz="1700" b="1" i="0">
                <a:solidFill>
                  <a:srgbClr val="E09B00"/>
                </a:solidFill>
                <a:latin typeface="Arial"/>
              </a:rPr>
              <a:t>(1)</a:t>
            </a:r>
            <a:r>
              <a:rPr sz="1700" b="0" i="0">
                <a:solidFill>
                  <a:srgbClr val="1A1A1A"/>
                </a:solidFill>
                <a:latin typeface="Arial"/>
              </a:rPr>
              <a:t>, about 23.4 in January to 21.0 in May. A short rally ends at a circled high volume reversal bar </a:t>
            </a:r>
            <a:r>
              <a:rPr sz="1700" b="1" i="0">
                <a:solidFill>
                  <a:srgbClr val="C62828"/>
                </a:solidFill>
                <a:latin typeface="Arial"/>
              </a:rPr>
              <a:t>(2)</a:t>
            </a:r>
            <a:r>
              <a:rPr sz="1700" b="0" i="0">
                <a:solidFill>
                  <a:srgbClr val="1A1A1A"/>
                </a:solidFill>
                <a:latin typeface="Arial"/>
              </a:rPr>
              <a:t>, May 23.</a:t>
            </a:r>
          </a:p>
          <a:p>
            <a:pPr algn="l">
              <a:lnSpc>
                <a:spcPct val="105000"/>
              </a:lnSpc>
              <a:spcBef>
                <a:spcPts val="0"/>
              </a:spcBef>
              <a:spcAft>
                <a:spcPts val="1100"/>
              </a:spcAft>
            </a:pPr>
            <a:r>
              <a:rPr sz="1700" b="0" i="0">
                <a:solidFill>
                  <a:srgbClr val="1A1A1A"/>
                </a:solidFill>
                <a:latin typeface="Arial"/>
              </a:rPr>
              <a:t>Before it, bearish divergence </a:t>
            </a:r>
            <a:r>
              <a:rPr sz="1700" b="1" i="0">
                <a:solidFill>
                  <a:srgbClr val="1F5FAD"/>
                </a:solidFill>
                <a:latin typeface="Arial"/>
              </a:rPr>
              <a:t>(3)</a:t>
            </a:r>
            <a:r>
              <a:rPr sz="1700" b="0" i="0">
                <a:solidFill>
                  <a:srgbClr val="1A1A1A"/>
                </a:solidFill>
                <a:latin typeface="Arial"/>
              </a:rPr>
              <a:t>: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63041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339267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93547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a circled high volume reversal bar at a short rally's top in late May, falling lines over volume and the MACD before it, and a continuation bar at X.</a:t>
            </a:r>
          </a:p>
        </p:txBody>
      </p:sp>
      <p:cxnSp>
        <p:nvCxnSpPr>
          <p:cNvPr id="14" name="Connector 13"/>
          <p:cNvCxnSpPr/>
          <p:nvPr/>
        </p:nvCxnSpPr>
        <p:spPr>
          <a:xfrm>
            <a:off x="7786948" y="2777552"/>
            <a:ext cx="2240453" cy="1390996"/>
          </a:xfrm>
          <a:prstGeom prst="line">
            <a:avLst/>
          </a:prstGeom>
          <a:ln w="44450">
            <a:solidFill>
              <a:srgbClr val="E09B00"/>
            </a:solidFill>
            <a:tailEnd type="triangle" w="med" len="med"/>
          </a:ln>
        </p:spPr>
      </p:cxnSp>
      <p:sp>
        <p:nvSpPr>
          <p:cNvPr id="15" name="Oval 14"/>
          <p:cNvSpPr/>
          <p:nvPr/>
        </p:nvSpPr>
        <p:spPr>
          <a:xfrm>
            <a:off x="10450128" y="3523940"/>
            <a:ext cx="507272" cy="407120"/>
          </a:xfrm>
          <a:prstGeom prst="ellipse">
            <a:avLst/>
          </a:prstGeom>
          <a:noFill/>
          <a:ln w="44450">
            <a:solidFill>
              <a:srgbClr val="C62828"/>
            </a:solidFill>
          </a:ln>
        </p:spPr>
        <p:txBody>
          <a:bodyPr rtlCol="0" anchor="ctr"/>
          <a:lstStyle/>
          <a:p>
            <a:pPr algn="ctr"/>
          </a:p>
        </p:txBody>
      </p:sp>
      <p:sp>
        <p:nvSpPr>
          <p:cNvPr id="16" name="Rectangle 15"/>
          <p:cNvSpPr/>
          <p:nvPr/>
        </p:nvSpPr>
        <p:spPr>
          <a:xfrm>
            <a:off x="10281037" y="3964988"/>
            <a:ext cx="634090" cy="407120"/>
          </a:xfrm>
          <a:prstGeom prst="rect">
            <a:avLst/>
          </a:prstGeom>
          <a:noFill/>
          <a:ln w="44450">
            <a:solidFill>
              <a:srgbClr val="1F5FAD"/>
            </a:solidFill>
          </a:ln>
        </p:spPr>
        <p:txBody>
          <a:bodyPr rtlCol="0" anchor="ctr"/>
          <a:lstStyle/>
          <a:p>
            <a:pPr algn="ctr"/>
          </a:p>
        </p:txBody>
      </p:sp>
      <p:sp>
        <p:nvSpPr>
          <p:cNvPr id="17" name="Oval 16"/>
          <p:cNvSpPr/>
          <p:nvPr/>
        </p:nvSpPr>
        <p:spPr>
          <a:xfrm>
            <a:off x="9985128" y="3863207"/>
            <a:ext cx="317045" cy="339267"/>
          </a:xfrm>
          <a:prstGeom prst="ellipse">
            <a:avLst/>
          </a:prstGeom>
          <a:noFill/>
          <a:ln w="44450">
            <a:solidFill>
              <a:srgbClr val="007A33"/>
            </a:solidFill>
          </a:ln>
        </p:spPr>
        <p:txBody>
          <a:bodyPr rtlCol="0" anchor="ctr"/>
          <a:lstStyle/>
          <a:p>
            <a:pPr algn="ctr"/>
          </a:p>
        </p:txBody>
      </p:sp>
      <p:sp>
        <p:nvSpPr>
          <p:cNvPr id="18" name="Oval 17"/>
          <p:cNvSpPr/>
          <p:nvPr/>
        </p:nvSpPr>
        <p:spPr>
          <a:xfrm>
            <a:off x="7631500" y="262210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94680" y="336849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125589" y="380954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829680" y="3707759"/>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949440" y="5532369"/>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23</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Larger, or predominant, trend: the whole move, our reading; the book gives none. </a:t>
            </a:r>
            <a:r>
              <a:rPr sz="1600" b="1" i="0">
                <a:solidFill>
                  <a:srgbClr val="E09B00"/>
                </a:solidFill>
                <a:latin typeface="Arial"/>
              </a:rPr>
              <a:t>(1)</a:t>
            </a:r>
            <a:r>
              <a:rPr sz="1600" b="0" i="0">
                <a:solidFill>
                  <a:srgbClr val="1A1A1A"/>
                </a:solidFill>
                <a:latin typeface="Arial"/>
              </a:rPr>
              <a:t> Here, about 23.4 in January to 21.0 in May.</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The circled high volume reversal bar is bearish, with that fall: potentially more reliable. The book says the same of continuation bars.</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X, our reading: rising against the larger downtrend, the less reliable kind. Its rally lasted about two and a half weeks.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5595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Ask which way the larger trend runs. The book gives no further reason.</a:t>
            </a:r>
          </a:p>
        </p:txBody>
      </p:sp>
      <p:sp>
        <p:nvSpPr>
          <p:cNvPr id="10" name="Rectangle 9"/>
          <p:cNvSpPr/>
          <p:nvPr/>
        </p:nvSpPr>
        <p:spPr>
          <a:xfrm>
            <a:off x="6949440" y="1810512"/>
            <a:ext cx="4465014" cy="363041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339267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93547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from about 23.4 in January to 21.0 in May: a circled high volume reversal bar at a short rally's top in late May, and a continuation bar at X in early May.</a:t>
            </a:r>
          </a:p>
        </p:txBody>
      </p:sp>
      <p:cxnSp>
        <p:nvCxnSpPr>
          <p:cNvPr id="14" name="Connector 13"/>
          <p:cNvCxnSpPr/>
          <p:nvPr/>
        </p:nvCxnSpPr>
        <p:spPr>
          <a:xfrm>
            <a:off x="7786948" y="2777552"/>
            <a:ext cx="2240453" cy="1390996"/>
          </a:xfrm>
          <a:prstGeom prst="line">
            <a:avLst/>
          </a:prstGeom>
          <a:ln w="44450">
            <a:solidFill>
              <a:srgbClr val="E09B00"/>
            </a:solidFill>
            <a:tailEnd type="triangle" w="med" len="med"/>
          </a:ln>
        </p:spPr>
      </p:cxnSp>
      <p:sp>
        <p:nvSpPr>
          <p:cNvPr id="15" name="Oval 14"/>
          <p:cNvSpPr/>
          <p:nvPr/>
        </p:nvSpPr>
        <p:spPr>
          <a:xfrm>
            <a:off x="10450128" y="3523940"/>
            <a:ext cx="507272" cy="407120"/>
          </a:xfrm>
          <a:prstGeom prst="ellipse">
            <a:avLst/>
          </a:prstGeom>
          <a:noFill/>
          <a:ln w="44450">
            <a:solidFill>
              <a:srgbClr val="C62828"/>
            </a:solidFill>
          </a:ln>
        </p:spPr>
        <p:txBody>
          <a:bodyPr rtlCol="0" anchor="ctr"/>
          <a:lstStyle/>
          <a:p>
            <a:pPr algn="ctr"/>
          </a:p>
        </p:txBody>
      </p:sp>
      <p:sp>
        <p:nvSpPr>
          <p:cNvPr id="16" name="Oval 15"/>
          <p:cNvSpPr/>
          <p:nvPr/>
        </p:nvSpPr>
        <p:spPr>
          <a:xfrm>
            <a:off x="9985128" y="3863207"/>
            <a:ext cx="317045" cy="339267"/>
          </a:xfrm>
          <a:prstGeom prst="ellipse">
            <a:avLst/>
          </a:prstGeom>
          <a:noFill/>
          <a:ln w="44450">
            <a:solidFill>
              <a:srgbClr val="1F5FAD"/>
            </a:solidFill>
          </a:ln>
        </p:spPr>
        <p:txBody>
          <a:bodyPr rtlCol="0" anchor="ctr"/>
          <a:lstStyle/>
          <a:p>
            <a:pPr algn="ctr"/>
          </a:p>
        </p:txBody>
      </p:sp>
      <p:sp>
        <p:nvSpPr>
          <p:cNvPr id="17" name="Oval 16"/>
          <p:cNvSpPr/>
          <p:nvPr/>
        </p:nvSpPr>
        <p:spPr>
          <a:xfrm>
            <a:off x="7631500" y="262210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94680" y="336849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829680" y="370775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949440" y="5532369"/>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Ours: levels read by eye, the larger trend read as the whole move, and X. The book does not define the larger trend.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23</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 </a:t>
            </a:r>
            <a:r>
              <a:rPr sz="1700" b="1" i="0">
                <a:solidFill>
                  <a:srgbClr val="E09B00"/>
                </a:solidFill>
                <a:latin typeface="Arial"/>
              </a:rPr>
              <a:t>(1)</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Its volume reaches the line across the volume panel </a:t>
            </a:r>
            <a:r>
              <a:rPr sz="1700" b="1" i="0">
                <a:solidFill>
                  <a:srgbClr val="C62828"/>
                </a:solidFill>
                <a:latin typeface="Arial"/>
              </a:rPr>
              <a:t>(2)</a:t>
            </a:r>
            <a:r>
              <a:rPr sz="1700" b="0" i="0">
                <a:solidFill>
                  <a:srgbClr val="1A1A1A"/>
                </a:solidFill>
                <a:latin typeface="Arial"/>
              </a:rPr>
              <a:t>,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a:t>
            </a:r>
            <a:r>
              <a:rPr sz="1700" b="1" i="0">
                <a:solidFill>
                  <a:srgbClr val="1F5FAD"/>
                </a:solidFill>
                <a:latin typeface="Arial"/>
              </a:rPr>
              <a:t>(3)</a:t>
            </a:r>
            <a:r>
              <a:rPr sz="1700" b="0" i="0">
                <a:solidFill>
                  <a:srgbClr val="1A1A1A"/>
                </a:solidFill>
                <a:latin typeface="Arial"/>
              </a:rPr>
              <a:t>.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766559" y="1810512"/>
            <a:ext cx="4647895" cy="23053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206758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161038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6.34</a:t>
            </a:r>
          </a:p>
          <a:p>
            <a:pPr algn="l">
              <a:lnSpc>
                <a:spcPct val="115000"/>
              </a:lnSpc>
              <a:spcBef>
                <a:spcPts val="0"/>
              </a:spcBef>
              <a:spcAft>
                <a:spcPts val="0"/>
              </a:spcAft>
            </a:pPr>
            <a:r>
              <a:rPr sz="13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p:txBody>
      </p:sp>
      <p:sp>
        <p:nvSpPr>
          <p:cNvPr id="14" name="Oval 13"/>
          <p:cNvSpPr/>
          <p:nvPr/>
        </p:nvSpPr>
        <p:spPr>
          <a:xfrm>
            <a:off x="10215096" y="3293987"/>
            <a:ext cx="396913" cy="537571"/>
          </a:xfrm>
          <a:prstGeom prst="ellipse">
            <a:avLst/>
          </a:prstGeom>
          <a:noFill/>
          <a:ln w="44450">
            <a:solidFill>
              <a:srgbClr val="E09B00"/>
            </a:solidFill>
          </a:ln>
        </p:spPr>
        <p:txBody>
          <a:bodyPr rtlCol="0" anchor="ctr"/>
          <a:lstStyle/>
          <a:p>
            <a:pPr algn="ctr"/>
          </a:p>
        </p:txBody>
      </p:sp>
      <p:cxnSp>
        <p:nvCxnSpPr>
          <p:cNvPr id="15" name="Connector 14"/>
          <p:cNvCxnSpPr/>
          <p:nvPr/>
        </p:nvCxnSpPr>
        <p:spPr>
          <a:xfrm>
            <a:off x="8825898" y="3387028"/>
            <a:ext cx="2160974" cy="0"/>
          </a:xfrm>
          <a:prstGeom prst="line">
            <a:avLst/>
          </a:prstGeom>
          <a:ln w="44450">
            <a:solidFill>
              <a:srgbClr val="C62828"/>
            </a:solidFill>
          </a:ln>
        </p:spPr>
      </p:cxnSp>
      <p:sp>
        <p:nvSpPr>
          <p:cNvPr id="16" name="Oval 15"/>
          <p:cNvSpPr/>
          <p:nvPr/>
        </p:nvSpPr>
        <p:spPr>
          <a:xfrm>
            <a:off x="9134609" y="3211284"/>
            <a:ext cx="926131" cy="392840"/>
          </a:xfrm>
          <a:prstGeom prst="ellipse">
            <a:avLst/>
          </a:prstGeom>
          <a:noFill/>
          <a:ln w="44450">
            <a:solidFill>
              <a:srgbClr val="1F5FAD"/>
            </a:solidFill>
          </a:ln>
        </p:spPr>
        <p:txBody>
          <a:bodyPr rtlCol="0" anchor="ctr"/>
          <a:lstStyle/>
          <a:p>
            <a:pPr algn="ctr"/>
          </a:p>
        </p:txBody>
      </p:sp>
      <p:sp>
        <p:nvSpPr>
          <p:cNvPr id="17" name="Oval 16"/>
          <p:cNvSpPr/>
          <p:nvPr/>
        </p:nvSpPr>
        <p:spPr>
          <a:xfrm>
            <a:off x="10059648" y="31385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831424" y="323158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979161" y="305583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766559" y="420727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a:t>
            </a:r>
            <a:r>
              <a:rPr sz="1700" b="1" i="0">
                <a:solidFill>
                  <a:srgbClr val="E09B00"/>
                </a:solidFill>
                <a:latin typeface="Arial"/>
              </a:rPr>
              <a:t>(1)</a:t>
            </a:r>
            <a:r>
              <a:rPr sz="1700" b="0" i="0">
                <a:solidFill>
                  <a:srgbClr val="1A1A1A"/>
                </a:solidFill>
                <a:latin typeface="Arial"/>
              </a:rPr>
              <a:t>, sellers taking control; a very tall bar </a:t>
            </a:r>
            <a:r>
              <a:rPr sz="1700" b="1" i="0">
                <a:solidFill>
                  <a:srgbClr val="C62828"/>
                </a:solidFill>
                <a:latin typeface="Arial"/>
              </a:rPr>
              <a:t>(2)</a:t>
            </a:r>
            <a:r>
              <a:rPr sz="1700" b="0" i="0">
                <a:solidFill>
                  <a:srgbClr val="1A1A1A"/>
                </a:solidFill>
                <a:latin typeface="Arial"/>
              </a:rPr>
              <a:t>,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23776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00002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5428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6.35</a:t>
            </a:r>
          </a:p>
          <a:p>
            <a:pPr algn="l">
              <a:lnSpc>
                <a:spcPct val="115000"/>
              </a:lnSpc>
              <a:spcBef>
                <a:spcPts val="0"/>
              </a:spcBef>
              <a:spcAft>
                <a:spcPts val="0"/>
              </a:spcAft>
            </a:pPr>
            <a:r>
              <a:rPr sz="1500" b="0" i="0">
                <a:solidFill>
                  <a:srgbClr val="1A1A1A"/>
                </a:solidFill>
                <a:latin typeface="Palatino"/>
              </a:rPr>
              <a:t>Two sketches of a constant volume chart, all volume bars equal. Left: a rise topped by a narrow bar on relatively high volume. Right: by a very tall bar on relatively low volume. Both bearish.</a:t>
            </a:r>
          </a:p>
        </p:txBody>
      </p:sp>
      <p:sp>
        <p:nvSpPr>
          <p:cNvPr id="14" name="Rectangle 13"/>
          <p:cNvSpPr/>
          <p:nvPr/>
        </p:nvSpPr>
        <p:spPr>
          <a:xfrm>
            <a:off x="7919705" y="2319386"/>
            <a:ext cx="344477" cy="345002"/>
          </a:xfrm>
          <a:prstGeom prst="rect">
            <a:avLst/>
          </a:prstGeom>
          <a:noFill/>
          <a:ln w="44450">
            <a:solidFill>
              <a:srgbClr val="E09B00"/>
            </a:solidFill>
          </a:ln>
        </p:spPr>
        <p:txBody>
          <a:bodyPr rtlCol="0" anchor="ctr"/>
          <a:lstStyle/>
          <a:p>
            <a:pPr algn="ctr"/>
          </a:p>
        </p:txBody>
      </p:sp>
      <p:sp>
        <p:nvSpPr>
          <p:cNvPr id="15" name="Rectangle 14"/>
          <p:cNvSpPr/>
          <p:nvPr/>
        </p:nvSpPr>
        <p:spPr>
          <a:xfrm>
            <a:off x="10537732" y="2079385"/>
            <a:ext cx="275581" cy="1650011"/>
          </a:xfrm>
          <a:prstGeom prst="rect">
            <a:avLst/>
          </a:prstGeom>
          <a:noFill/>
          <a:ln w="44450">
            <a:solidFill>
              <a:srgbClr val="C62828"/>
            </a:solidFill>
          </a:ln>
        </p:spPr>
        <p:txBody>
          <a:bodyPr rtlCol="0" anchor="ctr"/>
          <a:lstStyle/>
          <a:p>
            <a:pPr algn="ctr"/>
          </a:p>
        </p:txBody>
      </p:sp>
      <p:sp>
        <p:nvSpPr>
          <p:cNvPr id="16" name="Rectangle 15"/>
          <p:cNvSpPr/>
          <p:nvPr/>
        </p:nvSpPr>
        <p:spPr>
          <a:xfrm>
            <a:off x="7207785" y="4419400"/>
            <a:ext cx="1584595" cy="495003"/>
          </a:xfrm>
          <a:prstGeom prst="rect">
            <a:avLst/>
          </a:prstGeom>
          <a:noFill/>
          <a:ln w="44450">
            <a:solidFill>
              <a:srgbClr val="1F5FAD"/>
            </a:solidFill>
          </a:ln>
        </p:spPr>
        <p:txBody>
          <a:bodyPr rtlCol="0" anchor="ctr"/>
          <a:lstStyle/>
          <a:p>
            <a:pPr algn="ctr"/>
          </a:p>
        </p:txBody>
      </p:sp>
      <p:sp>
        <p:nvSpPr>
          <p:cNvPr id="17" name="Oval 16"/>
          <p:cNvSpPr/>
          <p:nvPr/>
        </p:nvSpPr>
        <p:spPr>
          <a:xfrm>
            <a:off x="7764257" y="216393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382284" y="192393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052337" y="426395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13971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23</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Ours: every bar holds 100,000 shares; a usual bar spans PHP 1.00. That is 100,000 shares for each peso of range.</a:t>
            </a:r>
          </a:p>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A PHP 0.20 bar: 100,000 shares moved price 20 centavos, 500,000 a peso, five times usual. Figure 6.35's label: relatively high volume.</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A PHP 4.00 bar: 100,000 shares moved price 4 pesos, 25,000 a peso, a quarter of usual. Its label: relatively low volume.</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5595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Volume is fixed, so the range alone says if it was a lot or a little.</a:t>
            </a:r>
          </a:p>
        </p:txBody>
      </p:sp>
      <p:sp>
        <p:nvSpPr>
          <p:cNvPr id="10" name="Rectangle 9"/>
          <p:cNvSpPr/>
          <p:nvPr/>
        </p:nvSpPr>
        <p:spPr>
          <a:xfrm>
            <a:off x="6949440" y="1810512"/>
            <a:ext cx="4465014" cy="299886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276111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30391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6.35</a:t>
            </a:r>
          </a:p>
          <a:p>
            <a:pPr algn="l">
              <a:lnSpc>
                <a:spcPct val="115000"/>
              </a:lnSpc>
              <a:spcBef>
                <a:spcPts val="0"/>
              </a:spcBef>
              <a:spcAft>
                <a:spcPts val="0"/>
              </a:spcAft>
            </a:pPr>
            <a:r>
              <a:rPr sz="1500" b="0" i="0">
                <a:solidFill>
                  <a:srgbClr val="1A1A1A"/>
                </a:solidFill>
                <a:latin typeface="Palatino"/>
              </a:rPr>
              <a:t>Two sketches of a constant volume chart, all volume bars equal. 1, left: a rise topped by a narrow bar labelled relatively high volume. 2, right: a rise topped by a very tall bar labelled relatively low volume.</a:t>
            </a:r>
          </a:p>
        </p:txBody>
      </p:sp>
      <p:sp>
        <p:nvSpPr>
          <p:cNvPr id="14" name="Rectangle 13"/>
          <p:cNvSpPr/>
          <p:nvPr/>
        </p:nvSpPr>
        <p:spPr>
          <a:xfrm>
            <a:off x="8188538" y="2288329"/>
            <a:ext cx="317045" cy="317528"/>
          </a:xfrm>
          <a:prstGeom prst="rect">
            <a:avLst/>
          </a:prstGeom>
          <a:noFill/>
          <a:ln w="44450">
            <a:solidFill>
              <a:srgbClr val="E09B00"/>
            </a:solidFill>
          </a:ln>
        </p:spPr>
        <p:txBody>
          <a:bodyPr rtlCol="0" anchor="ctr"/>
          <a:lstStyle/>
          <a:p>
            <a:pPr algn="ctr"/>
          </a:p>
        </p:txBody>
      </p:sp>
      <p:sp>
        <p:nvSpPr>
          <p:cNvPr id="15" name="Rectangle 14"/>
          <p:cNvSpPr/>
          <p:nvPr/>
        </p:nvSpPr>
        <p:spPr>
          <a:xfrm>
            <a:off x="10598083" y="2067439"/>
            <a:ext cx="253636" cy="1518614"/>
          </a:xfrm>
          <a:prstGeom prst="rect">
            <a:avLst/>
          </a:prstGeom>
          <a:noFill/>
          <a:ln w="44450">
            <a:solidFill>
              <a:srgbClr val="C62828"/>
            </a:solidFill>
          </a:ln>
        </p:spPr>
        <p:txBody>
          <a:bodyPr rtlCol="0" anchor="ctr"/>
          <a:lstStyle/>
          <a:p>
            <a:pPr algn="ctr"/>
          </a:p>
        </p:txBody>
      </p:sp>
      <p:sp>
        <p:nvSpPr>
          <p:cNvPr id="16" name="Oval 15"/>
          <p:cNvSpPr/>
          <p:nvPr/>
        </p:nvSpPr>
        <p:spPr>
          <a:xfrm>
            <a:off x="8033090" y="213288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42635" y="19119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949440" y="4900813"/>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a:t>
            </a:r>
            <a:r>
              <a:rPr sz="1700" b="1" i="0">
                <a:solidFill>
                  <a:srgbClr val="E09B00"/>
                </a:solidFill>
                <a:latin typeface="Arial"/>
              </a:rPr>
              <a:t>(1)</a:t>
            </a:r>
            <a:r>
              <a:rPr sz="1700" b="0" i="0">
                <a:solidFill>
                  <a:srgbClr val="1A1A1A"/>
                </a:solidFill>
                <a:latin typeface="Arial"/>
              </a:rPr>
              <a:t>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a:t>
            </a:r>
            <a:r>
              <a:rPr sz="1700" b="1" i="0">
                <a:solidFill>
                  <a:srgbClr val="C62828"/>
                </a:solidFill>
                <a:latin typeface="Arial"/>
              </a:rPr>
              <a:t>(2)</a:t>
            </a:r>
            <a:r>
              <a:rPr sz="1700" b="0" i="0">
                <a:solidFill>
                  <a:srgbClr val="1A1A1A"/>
                </a:solidFill>
                <a:latin typeface="Arial"/>
              </a:rPr>
              <a:t>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Oval 11"/>
          <p:cNvSpPr/>
          <p:nvPr/>
        </p:nvSpPr>
        <p:spPr>
          <a:xfrm>
            <a:off x="9633935" y="3088111"/>
            <a:ext cx="396483" cy="351129"/>
          </a:xfrm>
          <a:prstGeom prst="ellipse">
            <a:avLst/>
          </a:prstGeom>
          <a:noFill/>
          <a:ln w="44450">
            <a:solidFill>
              <a:srgbClr val="E09B00"/>
            </a:solidFill>
          </a:ln>
        </p:spPr>
        <p:txBody>
          <a:bodyPr rtlCol="0" anchor="ctr"/>
          <a:lstStyle/>
          <a:p>
            <a:pPr algn="ctr"/>
          </a:p>
        </p:txBody>
      </p:sp>
      <p:sp>
        <p:nvSpPr>
          <p:cNvPr id="13" name="Rectangle 12"/>
          <p:cNvSpPr/>
          <p:nvPr/>
        </p:nvSpPr>
        <p:spPr>
          <a:xfrm>
            <a:off x="10253441" y="4106387"/>
            <a:ext cx="941649" cy="912936"/>
          </a:xfrm>
          <a:prstGeom prst="rect">
            <a:avLst/>
          </a:prstGeom>
          <a:noFill/>
          <a:ln w="44450">
            <a:solidFill>
              <a:srgbClr val="C62828"/>
            </a:solidFill>
          </a:ln>
        </p:spPr>
        <p:txBody>
          <a:bodyPr rtlCol="0" anchor="ctr"/>
          <a:lstStyle/>
          <a:p>
            <a:pPr algn="ctr"/>
          </a:p>
        </p:txBody>
      </p:sp>
      <p:sp>
        <p:nvSpPr>
          <p:cNvPr id="14" name="Oval 13"/>
          <p:cNvSpPr/>
          <p:nvPr/>
        </p:nvSpPr>
        <p:spPr>
          <a:xfrm>
            <a:off x="9478487" y="29326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1039642" y="486387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23</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Ours: a usual day trades 1.3 million. </a:t>
            </a:r>
            <a:r>
              <a:rPr sz="1600" b="1" i="0">
                <a:solidFill>
                  <a:srgbClr val="E09B00"/>
                </a:solidFill>
                <a:latin typeface="Arial"/>
              </a:rPr>
              <a:t>(1)</a:t>
            </a:r>
            <a:r>
              <a:rPr sz="1600" b="0" i="0">
                <a:solidFill>
                  <a:srgbClr val="1A1A1A"/>
                </a:solidFill>
                <a:latin typeface="Arial"/>
              </a:rPr>
              <a:t> Price closes PHP 0.80 above a two-month falling trendline, </a:t>
            </a:r>
            <a:r>
              <a:rPr sz="1600" b="1" i="0">
                <a:solidFill>
                  <a:srgbClr val="C62828"/>
                </a:solidFill>
                <a:latin typeface="Arial"/>
              </a:rPr>
              <a:t>(2)</a:t>
            </a:r>
            <a:r>
              <a:rPr sz="1600" b="0" i="0">
                <a:solidFill>
                  <a:srgbClr val="1A1A1A"/>
                </a:solidFill>
                <a:latin typeface="Arial"/>
              </a:rPr>
              <a:t> on 1.3 million: an ordinary day.</a:t>
            </a:r>
          </a:p>
          <a:p>
            <a:pPr algn="l">
              <a:lnSpc>
                <a:spcPct val="105000"/>
              </a:lnSpc>
              <a:spcBef>
                <a:spcPts val="0"/>
              </a:spcBef>
              <a:spcAft>
                <a:spcPts val="1100"/>
              </a:spcAft>
            </a:pPr>
            <a:r>
              <a:rPr sz="1600" b="0" i="0">
                <a:solidFill>
                  <a:srgbClr val="1A1A1A"/>
                </a:solidFill>
                <a:latin typeface="Arial"/>
              </a:rPr>
              <a:t>By volume alone, nothing happened. But the break shows on every chart: </a:t>
            </a:r>
            <a:r>
              <a:rPr sz="1600" b="1" i="0">
                <a:solidFill>
                  <a:srgbClr val="1F5FAD"/>
                </a:solidFill>
                <a:latin typeface="Arial"/>
              </a:rPr>
              <a:t>(3)</a:t>
            </a:r>
            <a:r>
              <a:rPr sz="1600" b="0" i="0">
                <a:solidFill>
                  <a:srgbClr val="1A1A1A"/>
                </a:solidFill>
                <a:latin typeface="Arial"/>
              </a:rPr>
              <a:t> days later, 3 million trade.</a:t>
            </a:r>
          </a:p>
          <a:p>
            <a:pPr algn="l">
              <a:lnSpc>
                <a:spcPct val="105000"/>
              </a:lnSpc>
              <a:spcBef>
                <a:spcPts val="0"/>
              </a:spcBef>
              <a:spcAft>
                <a:spcPts val="1100"/>
              </a:spcAft>
            </a:pPr>
            <a:r>
              <a:rPr sz="1600" b="0" i="0">
                <a:solidFill>
                  <a:srgbClr val="1A1A1A"/>
                </a:solidFill>
                <a:latin typeface="Arial"/>
              </a:rPr>
              <a:t>So light volume on a break does not cancel it: watch whether volume follows. The book gives no rule for how long to wait.</a:t>
            </a:r>
          </a:p>
        </p:txBody>
      </p:sp>
      <p:sp>
        <p:nvSpPr>
          <p:cNvPr id="8" name="Rectangle 7"/>
          <p:cNvSpPr/>
          <p:nvPr/>
        </p:nvSpPr>
        <p:spPr>
          <a:xfrm>
            <a:off x="777240" y="4709160"/>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55955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Volume can follow the signal, and more often now, the book says: technical analysis is widely used.</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e.png"/>
          <p:cNvPicPr>
            <a:picLocks noChangeAspect="1"/>
          </p:cNvPicPr>
          <p:nvPr/>
        </p:nvPicPr>
        <p:blipFill>
          <a:blip r:embed="rId2"/>
          <a:stretch>
            <a:fillRect/>
          </a:stretch>
        </p:blipFill>
        <p:spPr>
          <a:xfrm>
            <a:off x="7069683" y="1929384"/>
            <a:ext cx="4224528" cy="3511296"/>
          </a:xfrm>
          <a:prstGeom prst="rect">
            <a:avLst/>
          </a:prstGeom>
        </p:spPr>
      </p:pic>
      <p:sp>
        <p:nvSpPr>
          <p:cNvPr id="12" name="Oval 11"/>
          <p:cNvSpPr/>
          <p:nvPr/>
        </p:nvSpPr>
        <p:spPr>
          <a:xfrm>
            <a:off x="9900117" y="3052998"/>
            <a:ext cx="380207" cy="386242"/>
          </a:xfrm>
          <a:prstGeom prst="ellipse">
            <a:avLst/>
          </a:prstGeom>
          <a:noFill/>
          <a:ln w="44450">
            <a:solidFill>
              <a:srgbClr val="E09B00"/>
            </a:solidFill>
          </a:ln>
        </p:spPr>
        <p:txBody>
          <a:bodyPr rtlCol="0" anchor="ctr"/>
          <a:lstStyle/>
          <a:p>
            <a:pPr algn="ctr"/>
          </a:p>
        </p:txBody>
      </p:sp>
      <p:sp>
        <p:nvSpPr>
          <p:cNvPr id="13" name="Rectangle 12"/>
          <p:cNvSpPr/>
          <p:nvPr/>
        </p:nvSpPr>
        <p:spPr>
          <a:xfrm>
            <a:off x="9942362" y="4492630"/>
            <a:ext cx="211226" cy="526694"/>
          </a:xfrm>
          <a:prstGeom prst="rect">
            <a:avLst/>
          </a:prstGeom>
          <a:noFill/>
          <a:ln w="44450">
            <a:solidFill>
              <a:srgbClr val="C62828"/>
            </a:solidFill>
          </a:ln>
        </p:spPr>
        <p:txBody>
          <a:bodyPr rtlCol="0" anchor="ctr"/>
          <a:lstStyle/>
          <a:p>
            <a:pPr algn="ctr"/>
          </a:p>
        </p:txBody>
      </p:sp>
      <p:sp>
        <p:nvSpPr>
          <p:cNvPr id="14" name="Rectangle 13"/>
          <p:cNvSpPr/>
          <p:nvPr/>
        </p:nvSpPr>
        <p:spPr>
          <a:xfrm>
            <a:off x="10428183" y="4106387"/>
            <a:ext cx="739292" cy="912936"/>
          </a:xfrm>
          <a:prstGeom prst="rect">
            <a:avLst/>
          </a:prstGeom>
          <a:noFill/>
          <a:ln w="44450">
            <a:solidFill>
              <a:srgbClr val="1F5FAD"/>
            </a:solidFill>
          </a:ln>
        </p:spPr>
        <p:txBody>
          <a:bodyPr rtlCol="0" anchor="ctr"/>
          <a:lstStyle/>
          <a:p>
            <a:pPr algn="ctr"/>
          </a:p>
        </p:txBody>
      </p:sp>
      <p:sp>
        <p:nvSpPr>
          <p:cNvPr id="15" name="Oval 14"/>
          <p:cNvSpPr/>
          <p:nvPr/>
        </p:nvSpPr>
        <p:spPr>
          <a:xfrm>
            <a:off x="9744669" y="289755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786914" y="433718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1012027" y="48638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JE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and the chart, Chart AK's line with its numbers. The book gives no test for when a light volume signal will draw volume in.</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a:t>
            </a:r>
            <a:r>
              <a:rPr sz="1700" b="1" i="0">
                <a:solidFill>
                  <a:srgbClr val="E09B00"/>
                </a:solidFill>
                <a:latin typeface="Arial"/>
              </a:rPr>
              <a:t>(1)</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a continuation at </a:t>
            </a:r>
            <a:r>
              <a:rPr sz="1700" b="1" i="0">
                <a:solidFill>
                  <a:srgbClr val="C62828"/>
                </a:solidFill>
                <a:latin typeface="Arial"/>
              </a:rPr>
              <a:t>(2)</a:t>
            </a:r>
            <a:r>
              <a:rPr sz="1700" b="0" i="0">
                <a:solidFill>
                  <a:srgbClr val="1A1A1A"/>
                </a:solidFill>
                <a:latin typeface="Arial"/>
              </a:rPr>
              <a:t>.</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Oval 15"/>
          <p:cNvSpPr/>
          <p:nvPr/>
        </p:nvSpPr>
        <p:spPr>
          <a:xfrm>
            <a:off x="8101309" y="3400013"/>
            <a:ext cx="323331" cy="348020"/>
          </a:xfrm>
          <a:prstGeom prst="ellipse">
            <a:avLst/>
          </a:prstGeom>
          <a:noFill/>
          <a:ln w="44450">
            <a:solidFill>
              <a:srgbClr val="E09B00"/>
            </a:solidFill>
          </a:ln>
        </p:spPr>
        <p:txBody>
          <a:bodyPr rtlCol="0" anchor="ctr"/>
          <a:lstStyle/>
          <a:p>
            <a:pPr algn="ctr"/>
          </a:p>
        </p:txBody>
      </p:sp>
      <p:sp>
        <p:nvSpPr>
          <p:cNvPr id="17" name="Oval 16"/>
          <p:cNvSpPr/>
          <p:nvPr/>
        </p:nvSpPr>
        <p:spPr>
          <a:xfrm>
            <a:off x="9131929" y="2877982"/>
            <a:ext cx="323331" cy="316382"/>
          </a:xfrm>
          <a:prstGeom prst="ellipse">
            <a:avLst/>
          </a:prstGeom>
          <a:noFill/>
          <a:ln w="44450">
            <a:solidFill>
              <a:srgbClr val="C62828"/>
            </a:solidFill>
          </a:ln>
        </p:spPr>
        <p:txBody>
          <a:bodyPr rtlCol="0" anchor="ctr"/>
          <a:lstStyle/>
          <a:p>
            <a:pPr algn="ctr"/>
          </a:p>
        </p:txBody>
      </p:sp>
      <p:sp>
        <p:nvSpPr>
          <p:cNvPr id="18" name="Oval 17"/>
          <p:cNvSpPr/>
          <p:nvPr/>
        </p:nvSpPr>
        <p:spPr>
          <a:xfrm>
            <a:off x="10485881" y="2529961"/>
            <a:ext cx="323331" cy="348020"/>
          </a:xfrm>
          <a:prstGeom prst="ellipse">
            <a:avLst/>
          </a:prstGeom>
          <a:noFill/>
          <a:ln w="44450">
            <a:solidFill>
              <a:srgbClr val="1F5FAD"/>
            </a:solidFill>
          </a:ln>
        </p:spPr>
        <p:txBody>
          <a:bodyPr rtlCol="0" anchor="ctr"/>
          <a:lstStyle/>
          <a:p>
            <a:pPr algn="ctr"/>
          </a:p>
        </p:txBody>
      </p:sp>
      <p:sp>
        <p:nvSpPr>
          <p:cNvPr id="19" name="Oval 18"/>
          <p:cNvSpPr/>
          <p:nvPr/>
        </p:nvSpPr>
        <p:spPr>
          <a:xfrm>
            <a:off x="7945861" y="32445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976481" y="272253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330433" y="237451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TextBox 2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Follow the solid line down from Market bottom </a:t>
            </a:r>
            <a:r>
              <a:rPr sz="1800" b="1" i="0">
                <a:solidFill>
                  <a:srgbClr val="E09B00"/>
                </a:solidFill>
                <a:latin typeface="Arial"/>
              </a:rPr>
              <a:t>(1)</a:t>
            </a:r>
            <a:r>
              <a:rPr sz="1800" b="0" i="0">
                <a:solidFill>
                  <a:srgbClr val="1A1A1A"/>
                </a:solidFill>
                <a:latin typeface="Arial"/>
              </a:rPr>
              <a:t>: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a:t>
            </a:r>
            <a:r>
              <a:rPr sz="1800" b="1" i="0">
                <a:solidFill>
                  <a:srgbClr val="1F5FAD"/>
                </a:solidFill>
                <a:latin typeface="Arial"/>
              </a:rPr>
              <a:t>(3)</a:t>
            </a:r>
            <a:r>
              <a:rPr sz="1800" b="0" i="0">
                <a:solidFill>
                  <a:srgbClr val="1A1A1A"/>
                </a:solidFill>
                <a:latin typeface="Arial"/>
              </a:rPr>
              <a:t>: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2595562"/>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57818"/>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90061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6.36</a:t>
            </a:r>
          </a:p>
          <a:p>
            <a:pPr algn="l">
              <a:lnSpc>
                <a:spcPct val="115000"/>
              </a:lnSpc>
              <a:spcBef>
                <a:spcPts val="0"/>
              </a:spcBef>
              <a:spcAft>
                <a:spcPts val="0"/>
              </a:spcAft>
            </a:pPr>
            <a:r>
              <a:rPr sz="1500" b="0" i="0">
                <a:solidFill>
                  <a:srgbClr val="1A1A1A"/>
                </a:solidFill>
                <a:latin typeface="Palatino"/>
              </a:rPr>
              <a:t>A 30-minute EURUSD chart over weeks, with support and resistance lines, a triangle and a channel, over daily volume cycles; price turns at the peaks.</a:t>
            </a:r>
          </a:p>
        </p:txBody>
      </p:sp>
      <p:sp>
        <p:nvSpPr>
          <p:cNvPr id="14" name="Oval 13"/>
          <p:cNvSpPr/>
          <p:nvPr/>
        </p:nvSpPr>
        <p:spPr>
          <a:xfrm>
            <a:off x="8287147" y="3461966"/>
            <a:ext cx="367442" cy="235781"/>
          </a:xfrm>
          <a:prstGeom prst="ellipse">
            <a:avLst/>
          </a:prstGeom>
          <a:noFill/>
          <a:ln w="44450">
            <a:solidFill>
              <a:srgbClr val="E09B00"/>
            </a:solidFill>
          </a:ln>
        </p:spPr>
        <p:txBody>
          <a:bodyPr rtlCol="0" anchor="ctr"/>
          <a:lstStyle/>
          <a:p>
            <a:pPr algn="ctr"/>
          </a:p>
        </p:txBody>
      </p:sp>
      <p:sp>
        <p:nvSpPr>
          <p:cNvPr id="15" name="Rectangle 14"/>
          <p:cNvSpPr/>
          <p:nvPr/>
        </p:nvSpPr>
        <p:spPr>
          <a:xfrm>
            <a:off x="6794412" y="3886373"/>
            <a:ext cx="4409309" cy="341883"/>
          </a:xfrm>
          <a:prstGeom prst="rect">
            <a:avLst/>
          </a:prstGeom>
          <a:noFill/>
          <a:ln w="44450">
            <a:solidFill>
              <a:srgbClr val="C62828"/>
            </a:solidFill>
          </a:ln>
        </p:spPr>
        <p:txBody>
          <a:bodyPr rtlCol="0" anchor="ctr"/>
          <a:lstStyle/>
          <a:p>
            <a:pPr algn="ctr"/>
          </a:p>
        </p:txBody>
      </p:sp>
      <p:sp>
        <p:nvSpPr>
          <p:cNvPr id="16" name="Rectangle 15"/>
          <p:cNvSpPr/>
          <p:nvPr/>
        </p:nvSpPr>
        <p:spPr>
          <a:xfrm>
            <a:off x="8769415" y="2683886"/>
            <a:ext cx="826745" cy="565876"/>
          </a:xfrm>
          <a:prstGeom prst="rect">
            <a:avLst/>
          </a:prstGeom>
          <a:noFill/>
          <a:ln w="44450">
            <a:solidFill>
              <a:srgbClr val="1F5FAD"/>
            </a:solidFill>
          </a:ln>
        </p:spPr>
        <p:txBody>
          <a:bodyPr rtlCol="0" anchor="ctr"/>
          <a:lstStyle/>
          <a:p>
            <a:pPr algn="ctr"/>
          </a:p>
        </p:txBody>
      </p:sp>
      <p:sp>
        <p:nvSpPr>
          <p:cNvPr id="17" name="Oval 16"/>
          <p:cNvSpPr/>
          <p:nvPr/>
        </p:nvSpPr>
        <p:spPr>
          <a:xfrm>
            <a:off x="8131699" y="330651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638964" y="37309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613967" y="25284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497514"/>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23</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the book's 1, 4 and 5 price rebounds off a rising trendline </a:t>
            </a:r>
            <a:r>
              <a:rPr sz="1700" b="1" i="0">
                <a:solidFill>
                  <a:srgbClr val="E09B00"/>
                </a:solidFill>
                <a:latin typeface="Arial"/>
              </a:rPr>
              <a:t>(1)</a:t>
            </a:r>
            <a:r>
              <a:rPr sz="1700" b="0" i="0">
                <a:solidFill>
                  <a:srgbClr val="1A1A1A"/>
                </a:solidFill>
                <a:latin typeface="Arial"/>
              </a:rPr>
              <a:t>, each time at a tick volume peak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 cycle-tuned stochastic, bottom panel, read oversold there </a:t>
            </a:r>
            <a:r>
              <a:rPr sz="1700" b="1" i="0">
                <a:solidFill>
                  <a:srgbClr val="1F5FAD"/>
                </a:solidFill>
                <a:latin typeface="Arial"/>
              </a:rPr>
              <a:t>(3)</a:t>
            </a:r>
            <a:r>
              <a:rPr sz="1700" b="0" i="0">
                <a:solidFill>
                  <a:srgbClr val="1A1A1A"/>
                </a:solidFill>
                <a:latin typeface="Arial"/>
              </a:rPr>
              <a:t>: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a:t>
            </a:r>
            <a:r>
              <a:rPr sz="1700" b="1" i="0">
                <a:solidFill>
                  <a:srgbClr val="007A33"/>
                </a:solidFill>
                <a:latin typeface="Arial"/>
              </a:rPr>
              <a:t>(4)</a:t>
            </a:r>
            <a:r>
              <a:rPr sz="1700" b="0" i="0">
                <a:solidFill>
                  <a:srgbClr val="1A1A1A"/>
                </a:solidFill>
                <a:latin typeface="Arial"/>
              </a:rPr>
              <a:t> the stochastic was still mid-panel, not clearly oversold.</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7424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7132319" y="1810512"/>
            <a:ext cx="4282135" cy="222418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251191" y="1929384"/>
            <a:ext cx="4044391" cy="19864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251191" y="1929384"/>
            <a:ext cx="40443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25511" y="2203703"/>
            <a:ext cx="3495751" cy="1529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6.37</a:t>
            </a:r>
          </a:p>
          <a:p>
            <a:pPr algn="l">
              <a:lnSpc>
                <a:spcPct val="115000"/>
              </a:lnSpc>
              <a:spcBef>
                <a:spcPts val="0"/>
              </a:spcBef>
              <a:spcAft>
                <a:spcPts val="0"/>
              </a:spcAft>
            </a:pPr>
            <a:r>
              <a:rPr sz="1300" b="0" i="0">
                <a:solidFill>
                  <a:srgbClr val="1A1A1A"/>
                </a:solidFill>
                <a:latin typeface="Palatino"/>
              </a:rPr>
              <a:t>Hourly EURUSD with rising trendlines and retests 1 to 5, daily volume cycles below, and a stochastic panel: oversold under 1, 4 and 5, not at X and Y.</a:t>
            </a:r>
          </a:p>
        </p:txBody>
      </p:sp>
      <p:cxnSp>
        <p:nvCxnSpPr>
          <p:cNvPr id="14" name="Connector 13"/>
          <p:cNvCxnSpPr/>
          <p:nvPr/>
        </p:nvCxnSpPr>
        <p:spPr>
          <a:xfrm flipV="1">
            <a:off x="9859824" y="2594841"/>
            <a:ext cx="1253761" cy="337694"/>
          </a:xfrm>
          <a:prstGeom prst="line">
            <a:avLst/>
          </a:prstGeom>
          <a:ln w="44450">
            <a:solidFill>
              <a:srgbClr val="E09B00"/>
            </a:solidFill>
          </a:ln>
        </p:spPr>
      </p:cxnSp>
      <p:sp>
        <p:nvSpPr>
          <p:cNvPr id="15" name="Rectangle 14"/>
          <p:cNvSpPr/>
          <p:nvPr/>
        </p:nvSpPr>
        <p:spPr>
          <a:xfrm>
            <a:off x="7271413" y="3170908"/>
            <a:ext cx="4003947" cy="198643"/>
          </a:xfrm>
          <a:prstGeom prst="rect">
            <a:avLst/>
          </a:prstGeom>
          <a:noFill/>
          <a:ln w="44450">
            <a:solidFill>
              <a:srgbClr val="C62828"/>
            </a:solidFill>
          </a:ln>
        </p:spPr>
        <p:txBody>
          <a:bodyPr rtlCol="0" anchor="ctr"/>
          <a:lstStyle/>
          <a:p>
            <a:pPr algn="ctr"/>
          </a:p>
        </p:txBody>
      </p:sp>
      <p:sp>
        <p:nvSpPr>
          <p:cNvPr id="16" name="Rectangle 15"/>
          <p:cNvSpPr/>
          <p:nvPr/>
        </p:nvSpPr>
        <p:spPr>
          <a:xfrm>
            <a:off x="7574743" y="3697315"/>
            <a:ext cx="3518620" cy="139050"/>
          </a:xfrm>
          <a:prstGeom prst="rect">
            <a:avLst/>
          </a:prstGeom>
          <a:noFill/>
          <a:ln w="44450">
            <a:solidFill>
              <a:srgbClr val="1F5FAD"/>
            </a:solidFill>
          </a:ln>
        </p:spPr>
        <p:txBody>
          <a:bodyPr rtlCol="0" anchor="ctr"/>
          <a:lstStyle/>
          <a:p>
            <a:pPr algn="ctr"/>
          </a:p>
        </p:txBody>
      </p:sp>
      <p:sp>
        <p:nvSpPr>
          <p:cNvPr id="17" name="Rectangle 16"/>
          <p:cNvSpPr/>
          <p:nvPr/>
        </p:nvSpPr>
        <p:spPr>
          <a:xfrm>
            <a:off x="8100514" y="3498671"/>
            <a:ext cx="1577312" cy="178779"/>
          </a:xfrm>
          <a:prstGeom prst="rect">
            <a:avLst/>
          </a:prstGeom>
          <a:noFill/>
          <a:ln w="44450">
            <a:solidFill>
              <a:srgbClr val="007A33"/>
            </a:solidFill>
          </a:ln>
        </p:spPr>
        <p:txBody>
          <a:bodyPr rtlCol="0" anchor="ctr"/>
          <a:lstStyle/>
          <a:p>
            <a:pPr algn="ctr"/>
          </a:p>
        </p:txBody>
      </p:sp>
      <p:sp>
        <p:nvSpPr>
          <p:cNvPr id="18" name="Oval 17"/>
          <p:cNvSpPr/>
          <p:nvPr/>
        </p:nvSpPr>
        <p:spPr>
          <a:xfrm>
            <a:off x="9704376" y="277708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115965" y="30154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419295" y="35418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7945066" y="3343223"/>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7132319" y="4126135"/>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6.37 -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23</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7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700" b="0" i="0">
                <a:solidFill>
                  <a:srgbClr val="1A1A1A"/>
                </a:solidFill>
                <a:latin typeface="Arial"/>
              </a:rPr>
              <a:t>That changes the angle of trendlines, channels and chart patterns. Figure 6.38, top: Apple on a standard daily chart, with a trendline </a:t>
            </a:r>
            <a:r>
              <a:rPr sz="1700" b="1" i="0">
                <a:solidFill>
                  <a:srgbClr val="C62828"/>
                </a:solidFill>
                <a:latin typeface="Arial"/>
              </a:rPr>
              <a:t>(2)</a:t>
            </a:r>
            <a:r>
              <a:rPr sz="1700" b="0" i="0">
                <a:solidFill>
                  <a:srgbClr val="1A1A1A"/>
                </a:solidFill>
                <a:latin typeface="Arial"/>
              </a:rPr>
              <a: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E09B00"/>
                </a:solidFill>
                <a:latin typeface="Arial"/>
              </a:rPr>
              <a:t>(1)</a:t>
            </a:r>
            <a:r>
              <a:rPr sz="1800" b="1" i="0">
                <a:solidFill>
                  <a:srgbClr val="1A1A1A"/>
                </a:solidFill>
                <a:latin typeface="Arial"/>
              </a:rPr>
              <a:t> Circled, late May: on the standard chart, price stays above the line.</a:t>
            </a:r>
          </a:p>
        </p:txBody>
      </p:sp>
      <p:sp>
        <p:nvSpPr>
          <p:cNvPr id="10" name="Rectangle 9"/>
          <p:cNvSpPr/>
          <p:nvPr/>
        </p:nvSpPr>
        <p:spPr>
          <a:xfrm>
            <a:off x="7132319" y="1810512"/>
            <a:ext cx="4282135" cy="274963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251191" y="1929384"/>
            <a:ext cx="4044391" cy="251188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251191" y="1929384"/>
            <a:ext cx="40443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25511" y="2203703"/>
            <a:ext cx="3495751" cy="20546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6.38</a:t>
            </a:r>
          </a:p>
          <a:p>
            <a:pPr algn="l">
              <a:lnSpc>
                <a:spcPct val="115000"/>
              </a:lnSpc>
              <a:spcBef>
                <a:spcPts val="0"/>
              </a:spcBef>
              <a:spcAft>
                <a:spcPts val="0"/>
              </a:spcAft>
            </a:pPr>
            <a:r>
              <a:rPr sz="1500" b="0" i="0">
                <a:solidFill>
                  <a:srgbClr val="1A1A1A"/>
                </a:solidFill>
                <a:latin typeface="Palatino"/>
              </a:rPr>
              <a:t>The upper panel of Figure 6.38: Apple on a standard daily chart, a rising trendline under it, and a circle in late May where price stays above the line.</a:t>
            </a:r>
          </a:p>
        </p:txBody>
      </p:sp>
      <p:sp>
        <p:nvSpPr>
          <p:cNvPr id="14" name="Oval 13"/>
          <p:cNvSpPr/>
          <p:nvPr/>
        </p:nvSpPr>
        <p:spPr>
          <a:xfrm>
            <a:off x="10122709" y="2984376"/>
            <a:ext cx="444883" cy="477258"/>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8181401" y="3122530"/>
            <a:ext cx="2790630" cy="1080111"/>
          </a:xfrm>
          <a:prstGeom prst="line">
            <a:avLst/>
          </a:prstGeom>
          <a:ln w="44450">
            <a:solidFill>
              <a:srgbClr val="C62828"/>
            </a:solidFill>
          </a:ln>
        </p:spPr>
      </p:cxnSp>
      <p:sp>
        <p:nvSpPr>
          <p:cNvPr id="16" name="Oval 15"/>
          <p:cNvSpPr/>
          <p:nvPr/>
        </p:nvSpPr>
        <p:spPr>
          <a:xfrm>
            <a:off x="9967261" y="282892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025953" y="404719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132319" y="465158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its upper panel. Point and figure, Renko, three line break and equivolume charts were Chapter 3 terms.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line on the equivolume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6.38, bottom: the same Apple prices on an equivolume chart, and the same trendline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Bars on heavy days are drawn wider, so the time axis stretches and the line meets late May at a different place.</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E09B00"/>
                </a:solidFill>
                <a:latin typeface="Arial"/>
              </a:rPr>
              <a:t>(1)</a:t>
            </a:r>
            <a:r>
              <a:rPr sz="2100" b="1" i="0">
                <a:solidFill>
                  <a:srgbClr val="1A1A1A"/>
                </a:solidFill>
                <a:latin typeface="Arial"/>
              </a:rPr>
              <a:t> Circled, late May: on the equivolume chart, price cuts through the line.</a:t>
            </a:r>
          </a:p>
        </p:txBody>
      </p:sp>
      <p:sp>
        <p:nvSpPr>
          <p:cNvPr id="10" name="Rectangle 9"/>
          <p:cNvSpPr/>
          <p:nvPr/>
        </p:nvSpPr>
        <p:spPr>
          <a:xfrm>
            <a:off x="6583679" y="1810512"/>
            <a:ext cx="4830775" cy="306156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82382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666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6.38</a:t>
            </a:r>
          </a:p>
          <a:p>
            <a:pPr algn="l">
              <a:lnSpc>
                <a:spcPct val="115000"/>
              </a:lnSpc>
              <a:spcBef>
                <a:spcPts val="0"/>
              </a:spcBef>
              <a:spcAft>
                <a:spcPts val="0"/>
              </a:spcAft>
            </a:pPr>
            <a:r>
              <a:rPr sz="1500" b="0" i="0">
                <a:solidFill>
                  <a:srgbClr val="1A1A1A"/>
                </a:solidFill>
                <a:latin typeface="Palatino"/>
              </a:rPr>
              <a:t>The lower panel of Figure 6.38: the same Apple prices on an equivolume chart, the same trendline, and a circle in late May where price cuts through the line.</a:t>
            </a:r>
          </a:p>
        </p:txBody>
      </p:sp>
      <p:sp>
        <p:nvSpPr>
          <p:cNvPr id="14" name="Oval 13"/>
          <p:cNvSpPr/>
          <p:nvPr/>
        </p:nvSpPr>
        <p:spPr>
          <a:xfrm>
            <a:off x="9917673" y="2917721"/>
            <a:ext cx="551163" cy="564764"/>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7850809" y="3016555"/>
            <a:ext cx="2709889" cy="1468386"/>
          </a:xfrm>
          <a:prstGeom prst="line">
            <a:avLst/>
          </a:prstGeom>
          <a:ln w="44450">
            <a:solidFill>
              <a:srgbClr val="C62828"/>
            </a:solidFill>
          </a:ln>
        </p:spPr>
      </p:cxnSp>
      <p:sp>
        <p:nvSpPr>
          <p:cNvPr id="16" name="Oval 15"/>
          <p:cNvSpPr/>
          <p:nvPr/>
        </p:nvSpPr>
        <p:spPr>
          <a:xfrm>
            <a:off x="9762225" y="276227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695361" y="432949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96351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its lower panel: the same prices and the same line as the slide before, on an equivolume chart.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23 of 23</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Ours: lows of PHP 100 and PHP 110, ten ordinary days apart, one step a day on both charts. The line rises PHP 1.00 a step.</a:t>
            </a:r>
          </a:p>
          <a:p>
            <a:pPr algn="l">
              <a:lnSpc>
                <a:spcPct val="105000"/>
              </a:lnSpc>
              <a:spcBef>
                <a:spcPts val="0"/>
              </a:spcBef>
              <a:spcAft>
                <a:spcPts val="1100"/>
              </a:spcAft>
            </a:pPr>
            <a:r>
              <a:rPr sz="1600" b="0" i="0">
                <a:solidFill>
                  <a:srgbClr val="1A1A1A"/>
                </a:solidFill>
                <a:latin typeface="Arial"/>
              </a:rPr>
              <a:t>Then five heavy days: </a:t>
            </a:r>
            <a:r>
              <a:rPr sz="1600" b="1" i="0">
                <a:solidFill>
                  <a:srgbClr val="E09B00"/>
                </a:solidFill>
                <a:latin typeface="Arial"/>
              </a:rPr>
              <a:t>(1)</a:t>
            </a:r>
            <a:r>
              <a:rPr sz="1600" b="0" i="0">
                <a:solidFill>
                  <a:srgbClr val="1A1A1A"/>
                </a:solidFill>
                <a:latin typeface="Arial"/>
              </a:rPr>
              <a:t> one step each on the daily chart, </a:t>
            </a:r>
            <a:r>
              <a:rPr sz="1600" b="1" i="0">
                <a:solidFill>
                  <a:srgbClr val="C62828"/>
                </a:solidFill>
                <a:latin typeface="Arial"/>
              </a:rPr>
              <a:t>(2)</a:t>
            </a:r>
            <a:r>
              <a:rPr sz="1600" b="0" i="0">
                <a:solidFill>
                  <a:srgbClr val="1A1A1A"/>
                </a:solidFill>
                <a:latin typeface="Arial"/>
              </a:rPr>
              <a:t> two each on the equivolume one. The daily line reaches PHP 115, the equivolume PHP 120.</a:t>
            </a:r>
          </a:p>
          <a:p>
            <a:pPr algn="l">
              <a:lnSpc>
                <a:spcPct val="105000"/>
              </a:lnSpc>
              <a:spcBef>
                <a:spcPts val="0"/>
              </a:spcBef>
              <a:spcAft>
                <a:spcPts val="1100"/>
              </a:spcAft>
            </a:pPr>
            <a:r>
              <a:rPr sz="1600" b="0" i="0">
                <a:solidFill>
                  <a:srgbClr val="1A1A1A"/>
                </a:solidFill>
                <a:latin typeface="Arial"/>
              </a:rPr>
              <a:t>That day's low of PHP 117 holds above the daily line and cuts the equivolume one. Equal widths would move nothing.</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5595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book shows the discrepancy, not which break to trust.</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g.png"/>
          <p:cNvPicPr>
            <a:picLocks noChangeAspect="1"/>
          </p:cNvPicPr>
          <p:nvPr/>
        </p:nvPicPr>
        <p:blipFill>
          <a:blip r:embed="rId2"/>
          <a:stretch>
            <a:fillRect/>
          </a:stretch>
        </p:blipFill>
        <p:spPr>
          <a:xfrm>
            <a:off x="7069683" y="1929384"/>
            <a:ext cx="4224528" cy="3511296"/>
          </a:xfrm>
          <a:prstGeom prst="rect">
            <a:avLst/>
          </a:prstGeom>
        </p:spPr>
      </p:pic>
      <p:sp>
        <p:nvSpPr>
          <p:cNvPr id="12" name="Oval 11"/>
          <p:cNvSpPr/>
          <p:nvPr/>
        </p:nvSpPr>
        <p:spPr>
          <a:xfrm>
            <a:off x="10005730" y="2280513"/>
            <a:ext cx="295716" cy="351129"/>
          </a:xfrm>
          <a:prstGeom prst="ellipse">
            <a:avLst/>
          </a:prstGeom>
          <a:noFill/>
          <a:ln w="44450">
            <a:solidFill>
              <a:srgbClr val="E09B00"/>
            </a:solidFill>
          </a:ln>
        </p:spPr>
        <p:txBody>
          <a:bodyPr rtlCol="0" anchor="ctr"/>
          <a:lstStyle/>
          <a:p>
            <a:pPr algn="ctr"/>
          </a:p>
        </p:txBody>
      </p:sp>
      <p:sp>
        <p:nvSpPr>
          <p:cNvPr id="13" name="Oval 12"/>
          <p:cNvSpPr/>
          <p:nvPr/>
        </p:nvSpPr>
        <p:spPr>
          <a:xfrm>
            <a:off x="10808390" y="3790370"/>
            <a:ext cx="295716" cy="351129"/>
          </a:xfrm>
          <a:prstGeom prst="ellipse">
            <a:avLst/>
          </a:prstGeom>
          <a:noFill/>
          <a:ln w="44450">
            <a:solidFill>
              <a:srgbClr val="C62828"/>
            </a:solidFill>
          </a:ln>
        </p:spPr>
        <p:txBody>
          <a:bodyPr rtlCol="0" anchor="ctr"/>
          <a:lstStyle/>
          <a:p>
            <a:pPr algn="ctr"/>
          </a:p>
        </p:txBody>
      </p:sp>
      <p:sp>
        <p:nvSpPr>
          <p:cNvPr id="14" name="Oval 13"/>
          <p:cNvSpPr/>
          <p:nvPr/>
        </p:nvSpPr>
        <p:spPr>
          <a:xfrm>
            <a:off x="9850282" y="21250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652942" y="363492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JG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and the chart. The book says the angle is affected and shows the result in Figure 6.38; it does not work the arithmetic.</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(the Chaikin pair, later).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sets no start; we start at 0 on day 1, with no day before it. </a:t>
            </a:r>
            <a:r>
              <a:rPr sz="1700" b="1" i="0">
                <a:solidFill>
                  <a:srgbClr val="E09B00"/>
                </a:solidFill>
                <a:latin typeface="Arial"/>
              </a:rPr>
              <a:t>(1)</a:t>
            </a:r>
            <a:r>
              <a:rPr sz="1700" b="0" i="0">
                <a:solidFill>
                  <a:srgbClr val="1A1A1A"/>
                </a:solidFill>
                <a:latin typeface="Arial"/>
              </a:rPr>
              <a:t> Up days: 2.0 + 3.0 = 5.0 million; </a:t>
            </a:r>
            <a:r>
              <a:rPr sz="1700" b="1" i="0">
                <a:solidFill>
                  <a:srgbClr val="C62828"/>
                </a:solidFill>
                <a:latin typeface="Arial"/>
              </a:rPr>
              <a:t>(2)</a:t>
            </a:r>
            <a:r>
              <a:rPr sz="1700" b="0" i="0">
                <a:solidFill>
                  <a:srgbClr val="1A1A1A"/>
                </a:solidFill>
                <a:latin typeface="Arial"/>
              </a:rPr>
              <a:t> down days: 1.5 + 1.0 = 2.5. </a:t>
            </a:r>
            <a:r>
              <a:rPr sz="1700" b="1" i="0">
                <a:solidFill>
                  <a:srgbClr val="1F5FAD"/>
                </a:solidFill>
                <a:latin typeface="Arial"/>
              </a:rPr>
              <a:t>(3)</a:t>
            </a:r>
            <a:r>
              <a:rPr sz="1700" b="0" i="0">
                <a:solidFill>
                  <a:srgbClr val="1A1A1A"/>
                </a:solidFill>
                <a:latin typeface="Arial"/>
              </a:rPr>
              <a:t> OBV: 2.5.</a:t>
            </a:r>
          </a:p>
          <a:p>
            <a:pPr algn="l">
              <a:lnSpc>
                <a:spcPct val="105000"/>
              </a:lnSpc>
              <a:spcBef>
                <a:spcPts val="0"/>
              </a:spcBef>
              <a:spcAft>
                <a:spcPts val="1100"/>
              </a:spcAft>
            </a:pPr>
            <a:r>
              <a:rPr sz="1700" b="0" i="0">
                <a:solidFill>
                  <a:srgbClr val="1A1A1A"/>
                </a:solidFill>
                <a:latin typeface="Arial"/>
              </a:rPr>
              <a:t>Rising OBV: more volume on up closes than down closes. Falling: the reverse.</a:t>
            </a:r>
          </a:p>
          <a:p>
            <a:pPr algn="l">
              <a:lnSpc>
                <a:spcPct val="105000"/>
              </a:lnSpc>
              <a:spcBef>
                <a:spcPts val="0"/>
              </a:spcBef>
              <a:spcAft>
                <a:spcPts val="1100"/>
              </a:spcAft>
            </a:pPr>
            <a:r>
              <a:rPr sz="17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it by rises and falls against price, not by level: next slide.</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h.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060893" y="2262957"/>
            <a:ext cx="1475201" cy="245790"/>
          </a:xfrm>
          <a:prstGeom prst="rect">
            <a:avLst/>
          </a:prstGeom>
          <a:noFill/>
          <a:ln w="44450">
            <a:solidFill>
              <a:srgbClr val="E09B00"/>
            </a:solidFill>
          </a:ln>
        </p:spPr>
        <p:txBody>
          <a:bodyPr rtlCol="0" anchor="ctr"/>
          <a:lstStyle/>
          <a:p>
            <a:pPr algn="ctr"/>
          </a:p>
        </p:txBody>
      </p:sp>
      <p:sp>
        <p:nvSpPr>
          <p:cNvPr id="13" name="Rectangle 12"/>
          <p:cNvSpPr/>
          <p:nvPr/>
        </p:nvSpPr>
        <p:spPr>
          <a:xfrm>
            <a:off x="9495678" y="3369015"/>
            <a:ext cx="1657075" cy="245790"/>
          </a:xfrm>
          <a:prstGeom prst="rect">
            <a:avLst/>
          </a:prstGeom>
          <a:noFill/>
          <a:ln w="44450">
            <a:solidFill>
              <a:srgbClr val="C62828"/>
            </a:solidFill>
          </a:ln>
        </p:spPr>
        <p:txBody>
          <a:bodyPr rtlCol="0" anchor="ctr"/>
          <a:lstStyle/>
          <a:p>
            <a:pPr algn="ctr"/>
          </a:p>
        </p:txBody>
      </p:sp>
      <p:sp>
        <p:nvSpPr>
          <p:cNvPr id="14" name="Oval 13"/>
          <p:cNvSpPr/>
          <p:nvPr/>
        </p:nvSpPr>
        <p:spPr>
          <a:xfrm>
            <a:off x="10344424" y="4036161"/>
            <a:ext cx="282915" cy="316016"/>
          </a:xfrm>
          <a:prstGeom prst="ellipse">
            <a:avLst/>
          </a:prstGeom>
          <a:noFill/>
          <a:ln w="44450">
            <a:solidFill>
              <a:srgbClr val="1F5FAD"/>
            </a:solidFill>
          </a:ln>
        </p:spPr>
        <p:txBody>
          <a:bodyPr rtlCol="0" anchor="ctr"/>
          <a:lstStyle/>
          <a:p>
            <a:pPr algn="ctr"/>
          </a:p>
        </p:txBody>
      </p:sp>
      <p:sp>
        <p:nvSpPr>
          <p:cNvPr id="15" name="Oval 14"/>
          <p:cNvSpPr/>
          <p:nvPr/>
        </p:nvSpPr>
        <p:spPr>
          <a:xfrm>
            <a:off x="7905445" y="210750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340230" y="321356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88976" y="388071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JH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and the chart are ours, on Chart AM's six days. The reading rule is Part 1's, Figure 6.7.</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Its level, the book's absolute value, depends on the start date. Start our six days on day 3: day 6 reads 2.0 </a:t>
            </a:r>
            <a:r>
              <a:rPr sz="1700" b="1" i="0">
                <a:solidFill>
                  <a:srgbClr val="C62828"/>
                </a:solidFill>
                <a:latin typeface="Arial"/>
              </a:rPr>
              <a:t>(2)</a:t>
            </a:r>
            <a:r>
              <a:rPr sz="1700" b="0" i="0">
                <a:solidFill>
                  <a:srgbClr val="1A1A1A"/>
                </a:solidFill>
                <a:latin typeface="Arial"/>
              </a:rPr>
              <a:t>, not 2.5 </a:t>
            </a:r>
            <a:r>
              <a:rPr sz="1700" b="1" i="0">
                <a:solidFill>
                  <a:srgbClr val="E09B00"/>
                </a:solidFill>
                <a:latin typeface="Arial"/>
              </a:rPr>
              <a:t>(1)</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Its changes, the relative value, do not. From day 3 </a:t>
            </a:r>
            <a:r>
              <a:rPr sz="1700" b="1" i="0">
                <a:solidFill>
                  <a:srgbClr val="1F5FAD"/>
                </a:solidFill>
                <a:latin typeface="Arial"/>
              </a:rPr>
              <a:t>(3)</a:t>
            </a:r>
            <a:r>
              <a:rPr sz="1700" b="0" i="0">
                <a:solidFill>
                  <a:srgbClr val="1A1A1A"/>
                </a:solidFill>
                <a:latin typeface="Arial"/>
              </a:rPr>
              <a:t> to day 6, both lines rise 2.0: 0.5 to 2.5, 0 to 2.0.</a:t>
            </a:r>
          </a:p>
          <a:p>
            <a:pPr algn="l">
              <a:lnSpc>
                <a:spcPct val="105000"/>
              </a:lnSpc>
              <a:spcBef>
                <a:spcPts val="0"/>
              </a:spcBef>
              <a:spcAft>
                <a:spcPts val="1100"/>
              </a:spcAft>
            </a:pPr>
            <a:r>
              <a:rPr sz="1700" b="0" i="0">
                <a:solidFill>
                  <a:srgbClr val="1A1A1A"/>
                </a:solidFill>
                <a:latin typeface="Arial"/>
              </a:rPr>
              <a:t>The book: so all eight methods may still be used. Divergence reads rises and falls.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Oval 11"/>
          <p:cNvSpPr/>
          <p:nvPr/>
        </p:nvSpPr>
        <p:spPr>
          <a:xfrm>
            <a:off x="10129540" y="2842320"/>
            <a:ext cx="346923" cy="368686"/>
          </a:xfrm>
          <a:prstGeom prst="ellipse">
            <a:avLst/>
          </a:prstGeom>
          <a:noFill/>
          <a:ln w="44450">
            <a:solidFill>
              <a:srgbClr val="E09B00"/>
            </a:solidFill>
          </a:ln>
        </p:spPr>
        <p:txBody>
          <a:bodyPr rtlCol="0" anchor="ctr"/>
          <a:lstStyle/>
          <a:p>
            <a:pPr algn="ctr"/>
          </a:p>
        </p:txBody>
      </p:sp>
      <p:sp>
        <p:nvSpPr>
          <p:cNvPr id="13" name="Oval 12"/>
          <p:cNvSpPr/>
          <p:nvPr/>
        </p:nvSpPr>
        <p:spPr>
          <a:xfrm>
            <a:off x="10129540" y="3211007"/>
            <a:ext cx="346923" cy="316016"/>
          </a:xfrm>
          <a:prstGeom prst="ellipse">
            <a:avLst/>
          </a:prstGeom>
          <a:noFill/>
          <a:ln w="44450">
            <a:solidFill>
              <a:srgbClr val="C62828"/>
            </a:solidFill>
          </a:ln>
        </p:spPr>
        <p:txBody>
          <a:bodyPr rtlCol="0" anchor="ctr"/>
          <a:lstStyle/>
          <a:p>
            <a:pPr algn="ctr"/>
          </a:p>
        </p:txBody>
      </p:sp>
      <p:sp>
        <p:nvSpPr>
          <p:cNvPr id="14" name="Rectangle 13"/>
          <p:cNvSpPr/>
          <p:nvPr/>
        </p:nvSpPr>
        <p:spPr>
          <a:xfrm>
            <a:off x="8320582" y="3878153"/>
            <a:ext cx="396483" cy="632033"/>
          </a:xfrm>
          <a:prstGeom prst="rect">
            <a:avLst/>
          </a:prstGeom>
          <a:noFill/>
          <a:ln w="44450">
            <a:solidFill>
              <a:srgbClr val="1F5FAD"/>
            </a:solidFill>
          </a:ln>
        </p:spPr>
        <p:txBody>
          <a:bodyPr rtlCol="0" anchor="ctr"/>
          <a:lstStyle/>
          <a:p>
            <a:pPr algn="ctr"/>
          </a:p>
        </p:txBody>
      </p:sp>
      <p:sp>
        <p:nvSpPr>
          <p:cNvPr id="15" name="Oval 14"/>
          <p:cNvSpPr/>
          <p:nvPr/>
        </p:nvSpPr>
        <p:spPr>
          <a:xfrm>
            <a:off x="9974092" y="268687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4092" y="305555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165134" y="372270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Volume is added or subtracted regardless of the bar's own behavior.</a:t>
            </a:r>
          </a:p>
          <a:p>
            <a:pPr algn="l">
              <a:lnSpc>
                <a:spcPct val="105000"/>
              </a:lnSpc>
              <a:spcBef>
                <a:spcPts val="0"/>
              </a:spcBef>
              <a:spcAft>
                <a:spcPts val="1100"/>
              </a:spcAft>
            </a:pPr>
            <a:r>
              <a:rPr sz="1800" b="0" i="0">
                <a:solidFill>
                  <a:srgbClr val="1A1A1A"/>
                </a:solidFill>
                <a:latin typeface="Arial"/>
              </a:rPr>
              <a:t>Ours: bar 1 has a high of 51.00 and closes 50.80. Bar 2 rallies to a new high of 54.00 </a:t>
            </a:r>
            <a:r>
              <a:rPr sz="1800" b="1" i="0">
                <a:solidFill>
                  <a:srgbClr val="E09B00"/>
                </a:solidFill>
                <a:latin typeface="Arial"/>
              </a:rPr>
              <a:t>(1)</a:t>
            </a:r>
            <a:r>
              <a:rPr sz="1800" b="0" i="0">
                <a:solidFill>
                  <a:srgbClr val="1A1A1A"/>
                </a:solidFill>
                <a:latin typeface="Arial"/>
              </a:rPr>
              <a:t>, far above, and closes 50.70 </a:t>
            </a:r>
            <a:r>
              <a:rPr sz="1800" b="1" i="0">
                <a:solidFill>
                  <a:srgbClr val="C62828"/>
                </a:solidFill>
                <a:latin typeface="Arial"/>
              </a:rPr>
              <a:t>(2)</a:t>
            </a:r>
            <a:r>
              <a:rPr sz="1800" b="0" i="0">
                <a:solidFill>
                  <a:srgbClr val="1A1A1A"/>
                </a:solidFill>
                <a:latin typeface="Arial"/>
              </a:rPr>
              <a:t>, just under 50.80.</a:t>
            </a:r>
          </a:p>
          <a:p>
            <a:pPr algn="l">
              <a:lnSpc>
                <a:spcPct val="105000"/>
              </a:lnSpc>
              <a:spcBef>
                <a:spcPts val="0"/>
              </a:spcBef>
              <a:spcAft>
                <a:spcPts val="1100"/>
              </a:spcAft>
            </a:pPr>
            <a:r>
              <a:rPr sz="1800" b="0" i="0">
                <a:solidFill>
                  <a:srgbClr val="1A1A1A"/>
                </a:solidFill>
                <a:latin typeface="Arial"/>
              </a:rPr>
              <a:t>Bar 2 closed lower, so all its 3.0 million is subtracted </a:t>
            </a:r>
            <a:r>
              <a:rPr sz="1800" b="1" i="0">
                <a:solidFill>
                  <a:srgbClr val="1F5FAD"/>
                </a:solidFill>
                <a:latin typeface="Arial"/>
              </a:rPr>
              <a:t>(3)</a:t>
            </a:r>
            <a:r>
              <a:rPr sz="1800" b="0" i="0">
                <a:solidFill>
                  <a:srgbClr val="1A1A1A"/>
                </a:solidFill>
                <a:latin typeface="Arial"/>
              </a:rPr>
              <a: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3766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that is, to put it right, many prefer the ADL or the two Chaikin indicators: next.</a:t>
            </a:r>
          </a:p>
        </p:txBody>
      </p:sp>
      <p:sp>
        <p:nvSpPr>
          <p:cNvPr id="10" name="Rectangle 9"/>
          <p:cNvSpPr/>
          <p:nvPr/>
        </p:nvSpPr>
        <p:spPr>
          <a:xfrm>
            <a:off x="6766559" y="1810512"/>
            <a:ext cx="4647894" cy="336227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885431" y="1929384"/>
            <a:ext cx="4410151" cy="3124535"/>
          </a:xfrm>
          <a:prstGeom prst="rect">
            <a:avLst/>
          </a:prstGeom>
        </p:spPr>
      </p:pic>
      <p:sp>
        <p:nvSpPr>
          <p:cNvPr id="12" name="Oval 11"/>
          <p:cNvSpPr/>
          <p:nvPr/>
        </p:nvSpPr>
        <p:spPr>
          <a:xfrm>
            <a:off x="9421268" y="2085610"/>
            <a:ext cx="396913" cy="312453"/>
          </a:xfrm>
          <a:prstGeom prst="ellipse">
            <a:avLst/>
          </a:prstGeom>
          <a:noFill/>
          <a:ln w="44450">
            <a:solidFill>
              <a:srgbClr val="E09B00"/>
            </a:solidFill>
          </a:ln>
        </p:spPr>
        <p:txBody>
          <a:bodyPr rtlCol="0" anchor="ctr"/>
          <a:lstStyle/>
          <a:p>
            <a:pPr algn="ctr"/>
          </a:p>
        </p:txBody>
      </p:sp>
      <p:sp>
        <p:nvSpPr>
          <p:cNvPr id="13" name="Oval 12"/>
          <p:cNvSpPr/>
          <p:nvPr/>
        </p:nvSpPr>
        <p:spPr>
          <a:xfrm>
            <a:off x="9487421" y="2897989"/>
            <a:ext cx="529218" cy="281208"/>
          </a:xfrm>
          <a:prstGeom prst="ellipse">
            <a:avLst/>
          </a:prstGeom>
          <a:noFill/>
          <a:ln w="44450">
            <a:solidFill>
              <a:srgbClr val="C62828"/>
            </a:solidFill>
          </a:ln>
        </p:spPr>
        <p:txBody>
          <a:bodyPr rtlCol="0" anchor="ctr"/>
          <a:lstStyle/>
          <a:p>
            <a:pPr algn="ctr"/>
          </a:p>
        </p:txBody>
      </p:sp>
      <p:sp>
        <p:nvSpPr>
          <p:cNvPr id="14" name="Rectangle 13"/>
          <p:cNvSpPr/>
          <p:nvPr/>
        </p:nvSpPr>
        <p:spPr>
          <a:xfrm>
            <a:off x="9244862" y="4069690"/>
            <a:ext cx="749725" cy="359321"/>
          </a:xfrm>
          <a:prstGeom prst="rect">
            <a:avLst/>
          </a:prstGeom>
          <a:noFill/>
          <a:ln w="44450">
            <a:solidFill>
              <a:srgbClr val="1F5FAD"/>
            </a:solidFill>
          </a:ln>
        </p:spPr>
        <p:txBody>
          <a:bodyPr rtlCol="0" anchor="ctr"/>
          <a:lstStyle/>
          <a:p>
            <a:pPr algn="ctr"/>
          </a:p>
        </p:txBody>
      </p:sp>
      <p:sp>
        <p:nvSpPr>
          <p:cNvPr id="15" name="Oval 14"/>
          <p:cNvSpPr/>
          <p:nvPr/>
        </p:nvSpPr>
        <p:spPr>
          <a:xfrm>
            <a:off x="9265820" y="19301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331973" y="274254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89414" y="391424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766559" y="526423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Price: a lower low, August to October 2011: the falling line.</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39407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315633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26991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6.39</a:t>
            </a:r>
          </a:p>
          <a:p>
            <a:pPr algn="l">
              <a:lnSpc>
                <a:spcPct val="115000"/>
              </a:lnSpc>
              <a:spcBef>
                <a:spcPts val="0"/>
              </a:spcBef>
              <a:spcAft>
                <a:spcPts val="0"/>
              </a:spcAft>
            </a:pPr>
            <a:r>
              <a:rPr sz="15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p:txBody>
      </p:sp>
      <p:cxnSp>
        <p:nvCxnSpPr>
          <p:cNvPr id="14" name="Connector 13"/>
          <p:cNvCxnSpPr/>
          <p:nvPr/>
        </p:nvCxnSpPr>
        <p:spPr>
          <a:xfrm>
            <a:off x="9855915" y="3681150"/>
            <a:ext cx="565583" cy="489232"/>
          </a:xfrm>
          <a:prstGeom prst="line">
            <a:avLst/>
          </a:prstGeom>
          <a:ln w="44450">
            <a:solidFill>
              <a:srgbClr val="E09B00"/>
            </a:solidFill>
          </a:ln>
        </p:spPr>
      </p:cxnSp>
      <p:cxnSp>
        <p:nvCxnSpPr>
          <p:cNvPr id="15" name="Connector 14"/>
          <p:cNvCxnSpPr/>
          <p:nvPr/>
        </p:nvCxnSpPr>
        <p:spPr>
          <a:xfrm flipV="1">
            <a:off x="9907331" y="4817431"/>
            <a:ext cx="591292" cy="126253"/>
          </a:xfrm>
          <a:prstGeom prst="line">
            <a:avLst/>
          </a:prstGeom>
          <a:ln w="44450">
            <a:solidFill>
              <a:srgbClr val="C62828"/>
            </a:solidFill>
          </a:ln>
        </p:spPr>
      </p:cxnSp>
      <p:cxnSp>
        <p:nvCxnSpPr>
          <p:cNvPr id="16" name="Connector 15"/>
          <p:cNvCxnSpPr/>
          <p:nvPr/>
        </p:nvCxnSpPr>
        <p:spPr>
          <a:xfrm flipV="1">
            <a:off x="10447207" y="3097228"/>
            <a:ext cx="205667" cy="915337"/>
          </a:xfrm>
          <a:prstGeom prst="line">
            <a:avLst/>
          </a:prstGeom>
          <a:ln w="44450">
            <a:solidFill>
              <a:srgbClr val="1F5FAD"/>
            </a:solidFill>
            <a:tailEnd type="triangle" w="med" len="med"/>
          </a:ln>
        </p:spPr>
      </p:cxnSp>
      <p:sp>
        <p:nvSpPr>
          <p:cNvPr id="17" name="Oval 16"/>
          <p:cNvSpPr/>
          <p:nvPr/>
        </p:nvSpPr>
        <p:spPr>
          <a:xfrm>
            <a:off x="9700467" y="35257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51883" y="478823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91759" y="38571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035040" y="529603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First arrow, March to April 2011: equal peaks near 4.5; the OBV falls.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a:t>
            </a:r>
            <a:r>
              <a:rPr sz="1700" b="1" i="0">
                <a:solidFill>
                  <a:srgbClr val="1F5FAD"/>
                </a:solidFill>
                <a:latin typeface="Arial"/>
              </a:rPr>
              <a:t>(3)</a:t>
            </a:r>
            <a:r>
              <a:rPr sz="1700" b="0" i="0">
                <a:solidFill>
                  <a:srgbClr val="1A1A1A"/>
                </a:solidFill>
                <a:latin typeface="Arial"/>
              </a:rPr>
              <a:t> while price holds or rises.</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115008"/>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287726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24200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6.40</a:t>
            </a:r>
          </a:p>
          <a:p>
            <a:pPr algn="l">
              <a:lnSpc>
                <a:spcPct val="115000"/>
              </a:lnSpc>
              <a:spcBef>
                <a:spcPts val="0"/>
              </a:spcBef>
              <a:spcAft>
                <a:spcPts val="0"/>
              </a:spcAft>
            </a:pPr>
            <a:r>
              <a:rPr sz="15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p:txBody>
      </p:sp>
      <p:sp>
        <p:nvSpPr>
          <p:cNvPr id="14" name="Rectangle 13"/>
          <p:cNvSpPr/>
          <p:nvPr/>
        </p:nvSpPr>
        <p:spPr>
          <a:xfrm>
            <a:off x="8107746" y="2130792"/>
            <a:ext cx="617000" cy="230181"/>
          </a:xfrm>
          <a:prstGeom prst="rect">
            <a:avLst/>
          </a:prstGeom>
          <a:noFill/>
          <a:ln w="44450">
            <a:solidFill>
              <a:srgbClr val="E09B00"/>
            </a:solidFill>
          </a:ln>
        </p:spPr>
        <p:txBody>
          <a:bodyPr rtlCol="0" anchor="ctr"/>
          <a:lstStyle/>
          <a:p>
            <a:pPr algn="ctr"/>
          </a:p>
        </p:txBody>
      </p:sp>
      <p:sp>
        <p:nvSpPr>
          <p:cNvPr id="15" name="Rectangle 14"/>
          <p:cNvSpPr/>
          <p:nvPr/>
        </p:nvSpPr>
        <p:spPr>
          <a:xfrm>
            <a:off x="8981831" y="2102019"/>
            <a:ext cx="719833" cy="517907"/>
          </a:xfrm>
          <a:prstGeom prst="rect">
            <a:avLst/>
          </a:prstGeom>
          <a:noFill/>
          <a:ln w="44450">
            <a:solidFill>
              <a:srgbClr val="C62828"/>
            </a:solidFill>
          </a:ln>
        </p:spPr>
        <p:txBody>
          <a:bodyPr rtlCol="0" anchor="ctr"/>
          <a:lstStyle/>
          <a:p>
            <a:pPr algn="ctr"/>
          </a:p>
        </p:txBody>
      </p:sp>
      <p:sp>
        <p:nvSpPr>
          <p:cNvPr id="16" name="Rectangle 15"/>
          <p:cNvSpPr/>
          <p:nvPr/>
        </p:nvSpPr>
        <p:spPr>
          <a:xfrm>
            <a:off x="8107746" y="4029786"/>
            <a:ext cx="1799584" cy="345271"/>
          </a:xfrm>
          <a:prstGeom prst="rect">
            <a:avLst/>
          </a:prstGeom>
          <a:noFill/>
          <a:ln w="44450">
            <a:solidFill>
              <a:srgbClr val="1F5FAD"/>
            </a:solidFill>
          </a:ln>
        </p:spPr>
        <p:txBody>
          <a:bodyPr rtlCol="0" anchor="ctr"/>
          <a:lstStyle/>
          <a:p>
            <a:pPr algn="ctr"/>
          </a:p>
        </p:txBody>
      </p:sp>
      <p:cxnSp>
        <p:nvCxnSpPr>
          <p:cNvPr id="17" name="Connector 16"/>
          <p:cNvCxnSpPr/>
          <p:nvPr/>
        </p:nvCxnSpPr>
        <p:spPr>
          <a:xfrm>
            <a:off x="9881623" y="2562382"/>
            <a:ext cx="488459" cy="1208451"/>
          </a:xfrm>
          <a:prstGeom prst="line">
            <a:avLst/>
          </a:prstGeom>
          <a:ln w="44450">
            <a:solidFill>
              <a:srgbClr val="007A33"/>
            </a:solidFill>
            <a:tailEnd type="triangle" w="med" len="med"/>
          </a:ln>
        </p:spPr>
      </p:cxnSp>
      <p:sp>
        <p:nvSpPr>
          <p:cNvPr id="18" name="Oval 17"/>
          <p:cNvSpPr/>
          <p:nvPr/>
        </p:nvSpPr>
        <p:spPr>
          <a:xfrm>
            <a:off x="7952298" y="197534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826383" y="194657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952298" y="38743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26175" y="2406934"/>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035040" y="501696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bar: low L = 48, high H = 52, range H - L = 4, volume 2.0 million. C - L: the close's height above the low. H - C: its depth below the high.</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Close 52: (4 - 0) / 4 = 1, add 2.0.   </a:t>
            </a:r>
            <a:r>
              <a:rPr sz="1700" b="1" i="0">
                <a:solidFill>
                  <a:srgbClr val="C62828"/>
                </a:solidFill>
                <a:latin typeface="Arial"/>
              </a:rPr>
              <a:t>(2)</a:t>
            </a:r>
            <a:r>
              <a:rPr sz="1700" b="0" i="0">
                <a:solidFill>
                  <a:srgbClr val="1A1A1A"/>
                </a:solidFill>
                <a:latin typeface="Arial"/>
              </a:rPr>
              <a:t> Close 50: (2 - 2) / 4 = 0, add nothing.   </a:t>
            </a:r>
            <a:r>
              <a:rPr sz="1700" b="1" i="0">
                <a:solidFill>
                  <a:srgbClr val="1F5FAD"/>
                </a:solidFill>
                <a:latin typeface="Arial"/>
              </a:rPr>
              <a:t>(3)</a:t>
            </a:r>
            <a:r>
              <a:rPr sz="1700" b="0" i="0">
                <a:solidFill>
                  <a:srgbClr val="1A1A1A"/>
                </a:solidFill>
                <a:latin typeface="Arial"/>
              </a:rPr>
              <a:t> Close 49: (1 - 3) / 4 = -0.5, take 1.0.</a:t>
            </a:r>
          </a:p>
          <a:p>
            <a:pPr algn="l">
              <a:lnSpc>
                <a:spcPct val="105000"/>
              </a:lnSpc>
              <a:spcBef>
                <a:spcPts val="0"/>
              </a:spcBef>
              <a:spcAft>
                <a:spcPts val="1100"/>
              </a:spcAft>
            </a:pPr>
            <a:r>
              <a:rPr sz="1700" b="0" i="0">
                <a:solidFill>
                  <a:srgbClr val="1A1A1A"/>
                </a:solidFill>
                <a:latin typeface="Arial"/>
              </a:rPr>
              <a:t>The running total, bar by bar: 2.0, then 2.0 + 0 = 2.0, then 2.0 - 1.0 = 1.0. That total is the ADL.</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factor scores where the close sits: -1 at the low, 0 at the midpoint, +1 at the high.</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i.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626723" y="2034722"/>
            <a:ext cx="484997" cy="983162"/>
          </a:xfrm>
          <a:prstGeom prst="rect">
            <a:avLst/>
          </a:prstGeom>
          <a:noFill/>
          <a:ln w="44450">
            <a:solidFill>
              <a:srgbClr val="E09B00"/>
            </a:solidFill>
          </a:ln>
        </p:spPr>
        <p:txBody>
          <a:bodyPr rtlCol="0" anchor="ctr"/>
          <a:lstStyle/>
          <a:p>
            <a:pPr algn="ctr"/>
          </a:p>
        </p:txBody>
      </p:sp>
      <p:sp>
        <p:nvSpPr>
          <p:cNvPr id="13" name="Rectangle 12"/>
          <p:cNvSpPr/>
          <p:nvPr/>
        </p:nvSpPr>
        <p:spPr>
          <a:xfrm>
            <a:off x="9273387" y="2034722"/>
            <a:ext cx="484997" cy="983162"/>
          </a:xfrm>
          <a:prstGeom prst="rect">
            <a:avLst/>
          </a:prstGeom>
          <a:noFill/>
          <a:ln w="44450">
            <a:solidFill>
              <a:srgbClr val="C62828"/>
            </a:solidFill>
          </a:ln>
        </p:spPr>
        <p:txBody>
          <a:bodyPr rtlCol="0" anchor="ctr"/>
          <a:lstStyle/>
          <a:p>
            <a:pPr algn="ctr"/>
          </a:p>
        </p:txBody>
      </p:sp>
      <p:sp>
        <p:nvSpPr>
          <p:cNvPr id="14" name="Rectangle 13"/>
          <p:cNvSpPr/>
          <p:nvPr/>
        </p:nvSpPr>
        <p:spPr>
          <a:xfrm>
            <a:off x="9920051" y="2034722"/>
            <a:ext cx="444581" cy="983162"/>
          </a:xfrm>
          <a:prstGeom prst="rect">
            <a:avLst/>
          </a:prstGeom>
          <a:noFill/>
          <a:ln w="44450">
            <a:solidFill>
              <a:srgbClr val="1F5FAD"/>
            </a:solidFill>
          </a:ln>
        </p:spPr>
        <p:txBody>
          <a:bodyPr rtlCol="0" anchor="ctr"/>
          <a:lstStyle/>
          <a:p>
            <a:pPr algn="ctr"/>
          </a:p>
        </p:txBody>
      </p:sp>
      <p:sp>
        <p:nvSpPr>
          <p:cNvPr id="15" name="Oval 14"/>
          <p:cNvSpPr/>
          <p:nvPr/>
        </p:nvSpPr>
        <p:spPr>
          <a:xfrm>
            <a:off x="8471275" y="18792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17939" y="187927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764603" y="187927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JI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arithmetic and chart are ours, Chart AO's three bars.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Oval 11"/>
          <p:cNvSpPr/>
          <p:nvPr/>
        </p:nvSpPr>
        <p:spPr>
          <a:xfrm>
            <a:off x="8890528" y="3246120"/>
            <a:ext cx="396483" cy="316016"/>
          </a:xfrm>
          <a:prstGeom prst="ellipse">
            <a:avLst/>
          </a:prstGeom>
          <a:noFill/>
          <a:ln w="44450">
            <a:solidFill>
              <a:srgbClr val="E09B00"/>
            </a:solidFill>
          </a:ln>
        </p:spPr>
        <p:txBody>
          <a:bodyPr rtlCol="0" anchor="ctr"/>
          <a:lstStyle/>
          <a:p>
            <a:pPr algn="ctr"/>
          </a:p>
        </p:txBody>
      </p:sp>
      <p:sp>
        <p:nvSpPr>
          <p:cNvPr id="13" name="Oval 12"/>
          <p:cNvSpPr/>
          <p:nvPr/>
        </p:nvSpPr>
        <p:spPr>
          <a:xfrm>
            <a:off x="10526024" y="2298070"/>
            <a:ext cx="396483" cy="316016"/>
          </a:xfrm>
          <a:prstGeom prst="ellipse">
            <a:avLst/>
          </a:prstGeom>
          <a:noFill/>
          <a:ln w="44450">
            <a:solidFill>
              <a:srgbClr val="C62828"/>
            </a:solidFill>
          </a:ln>
        </p:spPr>
        <p:txBody>
          <a:bodyPr rtlCol="0" anchor="ctr"/>
          <a:lstStyle/>
          <a:p>
            <a:pPr algn="ctr"/>
          </a:p>
        </p:txBody>
      </p:sp>
      <p:sp>
        <p:nvSpPr>
          <p:cNvPr id="14" name="Oval 13"/>
          <p:cNvSpPr/>
          <p:nvPr/>
        </p:nvSpPr>
        <p:spPr>
          <a:xfrm>
            <a:off x="8735080" y="309067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370576" y="214262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yesterday closed 50.00. Today runs from 46.00 to 51.00 on 2.0 million shares and closes at 49.75.</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OBV: 49.75 is below 50.00, so subtract all 2.0 million.</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ADL: C - L = 3.75, H - C = 1.25, range 5. Factor (3.75 - 1.25) / 5 = 0.5: add 1.0 million.</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OBV sees only yesterday's close; the ADL sees where today closed in today's bar.</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j.png"/>
          <p:cNvPicPr>
            <a:picLocks noChangeAspect="1"/>
          </p:cNvPicPr>
          <p:nvPr/>
        </p:nvPicPr>
        <p:blipFill>
          <a:blip r:embed="rId2"/>
          <a:stretch>
            <a:fillRect/>
          </a:stretch>
        </p:blipFill>
        <p:spPr>
          <a:xfrm>
            <a:off x="6703923" y="1929384"/>
            <a:ext cx="4590288" cy="3511296"/>
          </a:xfrm>
          <a:prstGeom prst="rect">
            <a:avLst/>
          </a:prstGeom>
        </p:spPr>
      </p:pic>
      <p:sp>
        <p:nvSpPr>
          <p:cNvPr id="12" name="Rectangle 11"/>
          <p:cNvSpPr/>
          <p:nvPr/>
        </p:nvSpPr>
        <p:spPr>
          <a:xfrm>
            <a:off x="9549902" y="3333902"/>
            <a:ext cx="527883" cy="1264066"/>
          </a:xfrm>
          <a:prstGeom prst="rect">
            <a:avLst/>
          </a:prstGeom>
          <a:noFill/>
          <a:ln w="44450">
            <a:solidFill>
              <a:srgbClr val="E09B00"/>
            </a:solidFill>
          </a:ln>
        </p:spPr>
        <p:txBody>
          <a:bodyPr rtlCol="0" anchor="ctr"/>
          <a:lstStyle/>
          <a:p>
            <a:pPr algn="ctr"/>
          </a:p>
        </p:txBody>
      </p:sp>
      <p:sp>
        <p:nvSpPr>
          <p:cNvPr id="13" name="Rectangle 12"/>
          <p:cNvSpPr/>
          <p:nvPr/>
        </p:nvSpPr>
        <p:spPr>
          <a:xfrm>
            <a:off x="10215493" y="2666756"/>
            <a:ext cx="550834" cy="772485"/>
          </a:xfrm>
          <a:prstGeom prst="rect">
            <a:avLst/>
          </a:prstGeom>
          <a:noFill/>
          <a:ln w="44450">
            <a:solidFill>
              <a:srgbClr val="C62828"/>
            </a:solidFill>
          </a:ln>
        </p:spPr>
        <p:txBody>
          <a:bodyPr rtlCol="0" anchor="ctr"/>
          <a:lstStyle/>
          <a:p>
            <a:pPr algn="ctr"/>
          </a:p>
        </p:txBody>
      </p:sp>
      <p:sp>
        <p:nvSpPr>
          <p:cNvPr id="14" name="Oval 13"/>
          <p:cNvSpPr/>
          <p:nvPr/>
        </p:nvSpPr>
        <p:spPr>
          <a:xfrm>
            <a:off x="9394454" y="317845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060045" y="25113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JJ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and the chart, read by the book's two rules from pp.203 and 205.</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Hourly EURUSD, June 2011: price makes new highs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ADL, price-based: rising with price, so bullish confirmation.</a:t>
            </a:r>
          </a:p>
          <a:p>
            <a:pPr algn="l">
              <a:lnSpc>
                <a:spcPct val="105000"/>
              </a:lnSpc>
              <a:spcBef>
                <a:spcPts val="0"/>
              </a:spcBef>
              <a:spcAft>
                <a:spcPts val="1100"/>
              </a:spcAft>
            </a:pPr>
            <a:r>
              <a:rPr sz="1800" b="1" i="0">
                <a:solidFill>
                  <a:srgbClr val="1F5FAD"/>
                </a:solidFill>
                <a:latin typeface="Arial"/>
              </a:rPr>
              <a:t>(3)</a:t>
            </a:r>
            <a:r>
              <a:rPr sz="1800" b="0" i="0">
                <a:solidFill>
                  <a:srgbClr val="1A1A1A"/>
                </a:solidFill>
                <a:latin typeface="Arial"/>
              </a:rPr>
              <a:t> Volume, plain: falling as price rises, so bearish divergence: an underlying weakness, the book says.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They disagree: wait for price itself to confirm a reversal, by breaking its own trendline.</a:t>
            </a:r>
          </a:p>
        </p:txBody>
      </p:sp>
      <p:sp>
        <p:nvSpPr>
          <p:cNvPr id="10" name="Rectangle 9"/>
          <p:cNvSpPr/>
          <p:nvPr/>
        </p:nvSpPr>
        <p:spPr>
          <a:xfrm>
            <a:off x="6035040" y="1810512"/>
            <a:ext cx="5379414" cy="2815022"/>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2577278"/>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21200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6.41</a:t>
            </a:r>
          </a:p>
          <a:p>
            <a:pPr algn="l">
              <a:lnSpc>
                <a:spcPct val="115000"/>
              </a:lnSpc>
              <a:spcBef>
                <a:spcPts val="0"/>
              </a:spcBef>
              <a:spcAft>
                <a:spcPts val="0"/>
              </a:spcAft>
            </a:pPr>
            <a:r>
              <a:rPr sz="15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p:txBody>
      </p:sp>
      <p:sp>
        <p:nvSpPr>
          <p:cNvPr id="14" name="Rectangle 13"/>
          <p:cNvSpPr/>
          <p:nvPr/>
        </p:nvSpPr>
        <p:spPr>
          <a:xfrm>
            <a:off x="8878997" y="2419066"/>
            <a:ext cx="1285417" cy="438137"/>
          </a:xfrm>
          <a:prstGeom prst="rect">
            <a:avLst/>
          </a:prstGeom>
          <a:noFill/>
          <a:ln w="44450">
            <a:solidFill>
              <a:srgbClr val="E09B00"/>
            </a:solidFill>
          </a:ln>
        </p:spPr>
        <p:txBody>
          <a:bodyPr rtlCol="0" anchor="ctr"/>
          <a:lstStyle/>
          <a:p>
            <a:pPr algn="ctr"/>
          </a:p>
        </p:txBody>
      </p:sp>
      <p:sp>
        <p:nvSpPr>
          <p:cNvPr id="15" name="Rectangle 14"/>
          <p:cNvSpPr/>
          <p:nvPr/>
        </p:nvSpPr>
        <p:spPr>
          <a:xfrm>
            <a:off x="8930414" y="3527296"/>
            <a:ext cx="1079750" cy="206182"/>
          </a:xfrm>
          <a:prstGeom prst="rect">
            <a:avLst/>
          </a:prstGeom>
          <a:noFill/>
          <a:ln w="44450">
            <a:solidFill>
              <a:srgbClr val="C62828"/>
            </a:solidFill>
          </a:ln>
        </p:spPr>
        <p:txBody>
          <a:bodyPr rtlCol="0" anchor="ctr"/>
          <a:lstStyle/>
          <a:p>
            <a:pPr algn="ctr"/>
          </a:p>
        </p:txBody>
      </p:sp>
      <p:sp>
        <p:nvSpPr>
          <p:cNvPr id="16" name="Rectangle 15"/>
          <p:cNvSpPr/>
          <p:nvPr/>
        </p:nvSpPr>
        <p:spPr>
          <a:xfrm>
            <a:off x="8519080" y="3991206"/>
            <a:ext cx="1953834" cy="386591"/>
          </a:xfrm>
          <a:prstGeom prst="rect">
            <a:avLst/>
          </a:prstGeom>
          <a:noFill/>
          <a:ln w="44450">
            <a:solidFill>
              <a:srgbClr val="1F5FAD"/>
            </a:solidFill>
          </a:ln>
        </p:spPr>
        <p:txBody>
          <a:bodyPr rtlCol="0" anchor="ctr"/>
          <a:lstStyle/>
          <a:p>
            <a:pPr algn="ctr"/>
          </a:p>
        </p:txBody>
      </p:sp>
      <p:sp>
        <p:nvSpPr>
          <p:cNvPr id="17" name="Oval 16"/>
          <p:cNvSpPr/>
          <p:nvPr/>
        </p:nvSpPr>
        <p:spPr>
          <a:xfrm>
            <a:off x="8723549" y="226361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774966" y="337184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363632" y="38357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035040" y="4716974"/>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Both rising, or both falling: price trends in a decisive manner. Right ellipse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Opposite directions: price tends to range or consolidate, going sideways. Left ellipse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it may help choose. Together, trend-following; apart, range-bound.</a:t>
            </a:r>
          </a:p>
        </p:txBody>
      </p:sp>
      <p:sp>
        <p:nvSpPr>
          <p:cNvPr id="10" name="Rectangle 9"/>
          <p:cNvSpPr/>
          <p:nvPr/>
        </p:nvSpPr>
        <p:spPr>
          <a:xfrm>
            <a:off x="6462521" y="1810512"/>
            <a:ext cx="4890211"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1393" y="1929384"/>
            <a:ext cx="4652467"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1393" y="1929384"/>
            <a:ext cx="4652467"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55713" y="2203703"/>
            <a:ext cx="410382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6.42</a:t>
            </a:r>
          </a:p>
          <a:p>
            <a:pPr algn="l">
              <a:lnSpc>
                <a:spcPct val="115000"/>
              </a:lnSpc>
              <a:spcBef>
                <a:spcPts val="0"/>
              </a:spcBef>
              <a:spcAft>
                <a:spcPts val="0"/>
              </a:spcAft>
            </a:pPr>
            <a:r>
              <a:rPr sz="15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p:txBody>
      </p:sp>
      <p:sp>
        <p:nvSpPr>
          <p:cNvPr id="14" name="Oval 13"/>
          <p:cNvSpPr/>
          <p:nvPr/>
        </p:nvSpPr>
        <p:spPr>
          <a:xfrm>
            <a:off x="9140250" y="4001048"/>
            <a:ext cx="1581838" cy="1299179"/>
          </a:xfrm>
          <a:prstGeom prst="ellipse">
            <a:avLst/>
          </a:prstGeom>
          <a:noFill/>
          <a:ln w="44450">
            <a:solidFill>
              <a:srgbClr val="E09B00"/>
            </a:solidFill>
          </a:ln>
        </p:spPr>
        <p:txBody>
          <a:bodyPr rtlCol="0" anchor="ctr"/>
          <a:lstStyle/>
          <a:p>
            <a:pPr algn="ctr"/>
          </a:p>
        </p:txBody>
      </p:sp>
      <p:sp>
        <p:nvSpPr>
          <p:cNvPr id="15" name="Oval 14"/>
          <p:cNvSpPr/>
          <p:nvPr/>
        </p:nvSpPr>
        <p:spPr>
          <a:xfrm>
            <a:off x="6674443" y="3930822"/>
            <a:ext cx="2233184" cy="1474744"/>
          </a:xfrm>
          <a:prstGeom prst="ellipse">
            <a:avLst/>
          </a:prstGeom>
          <a:noFill/>
          <a:ln w="44450">
            <a:solidFill>
              <a:srgbClr val="C62828"/>
            </a:solidFill>
          </a:ln>
        </p:spPr>
        <p:txBody>
          <a:bodyPr rtlCol="0" anchor="ctr"/>
          <a:lstStyle/>
          <a:p>
            <a:pPr algn="ctr"/>
          </a:p>
        </p:txBody>
      </p:sp>
      <p:sp>
        <p:nvSpPr>
          <p:cNvPr id="16" name="Oval 15"/>
          <p:cNvSpPr/>
          <p:nvPr/>
        </p:nvSpPr>
        <p:spPr>
          <a:xfrm>
            <a:off x="8984802" y="38456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6518995" y="377537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400799" y="5650991"/>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6.42 -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ADL's factor runs from -1 to +1, so no S is bigger than its bar's volume, and the CMF also runs from -1 to +1.</a:t>
            </a:r>
          </a:p>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-1: every bar closed at its low. </a:t>
            </a:r>
            <a:r>
              <a:rPr sz="1600" b="1" i="0">
                <a:solidFill>
                  <a:srgbClr val="C62828"/>
                </a:solidFill>
                <a:latin typeface="Arial"/>
              </a:rPr>
              <a:t>(2)</a:t>
            </a:r>
            <a:r>
              <a:rPr sz="1600" b="0" i="0">
                <a:solidFill>
                  <a:srgbClr val="1A1A1A"/>
                </a:solidFill>
                <a:latin typeface="Arial"/>
              </a:rPr>
              <a:t> 0: on balance, closes at their midpoints. +1: every bar closed at its high.</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Our 0.17: of 6.0 million traded, a net 1.0 million counts as added: on balance, volume came with closes above their midpoints.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5595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Our arithmetic. The book reads the CMF only by a line and an oversold level, three slides on.</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k.png"/>
          <p:cNvPicPr>
            <a:picLocks noChangeAspect="1"/>
          </p:cNvPicPr>
          <p:nvPr/>
        </p:nvPicPr>
        <p:blipFill>
          <a:blip r:embed="rId2"/>
          <a:stretch>
            <a:fillRect/>
          </a:stretch>
        </p:blipFill>
        <p:spPr>
          <a:xfrm>
            <a:off x="7069683" y="1929384"/>
            <a:ext cx="4224528" cy="3511296"/>
          </a:xfrm>
          <a:prstGeom prst="rect">
            <a:avLst/>
          </a:prstGeom>
        </p:spPr>
      </p:pic>
      <p:sp>
        <p:nvSpPr>
          <p:cNvPr id="12" name="Rectangle 11"/>
          <p:cNvSpPr/>
          <p:nvPr/>
        </p:nvSpPr>
        <p:spPr>
          <a:xfrm>
            <a:off x="8168060" y="3298789"/>
            <a:ext cx="506943" cy="983162"/>
          </a:xfrm>
          <a:prstGeom prst="rect">
            <a:avLst/>
          </a:prstGeom>
          <a:noFill/>
          <a:ln w="44450">
            <a:solidFill>
              <a:srgbClr val="E09B00"/>
            </a:solidFill>
          </a:ln>
        </p:spPr>
        <p:txBody>
          <a:bodyPr rtlCol="0" anchor="ctr"/>
          <a:lstStyle/>
          <a:p>
            <a:pPr algn="ctr"/>
          </a:p>
        </p:txBody>
      </p:sp>
      <p:sp>
        <p:nvSpPr>
          <p:cNvPr id="13" name="Oval 12"/>
          <p:cNvSpPr/>
          <p:nvPr/>
        </p:nvSpPr>
        <p:spPr>
          <a:xfrm>
            <a:off x="8843985" y="3158337"/>
            <a:ext cx="422452" cy="386242"/>
          </a:xfrm>
          <a:prstGeom prst="ellipse">
            <a:avLst/>
          </a:prstGeom>
          <a:noFill/>
          <a:ln w="44450">
            <a:solidFill>
              <a:srgbClr val="C62828"/>
            </a:solidFill>
          </a:ln>
        </p:spPr>
        <p:txBody>
          <a:bodyPr rtlCol="0" anchor="ctr"/>
          <a:lstStyle/>
          <a:p>
            <a:pPr algn="ctr"/>
          </a:p>
        </p:txBody>
      </p:sp>
      <p:sp>
        <p:nvSpPr>
          <p:cNvPr id="14" name="Rectangle 13"/>
          <p:cNvSpPr/>
          <p:nvPr/>
        </p:nvSpPr>
        <p:spPr>
          <a:xfrm>
            <a:off x="9456541" y="3017885"/>
            <a:ext cx="506943" cy="456468"/>
          </a:xfrm>
          <a:prstGeom prst="rect">
            <a:avLst/>
          </a:prstGeom>
          <a:noFill/>
          <a:ln w="44450">
            <a:solidFill>
              <a:srgbClr val="1F5FAD"/>
            </a:solidFill>
          </a:ln>
        </p:spPr>
        <p:txBody>
          <a:bodyPr rtlCol="0" anchor="ctr"/>
          <a:lstStyle/>
          <a:p>
            <a:pPr algn="ctr"/>
          </a:p>
        </p:txBody>
      </p:sp>
      <p:sp>
        <p:nvSpPr>
          <p:cNvPr id="15" name="Oval 14"/>
          <p:cNvSpPr/>
          <p:nvPr/>
        </p:nvSpPr>
        <p:spPr>
          <a:xfrm>
            <a:off x="8012612" y="314334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88537" y="300288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01093" y="286243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JK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and the chart. The book gives no reading of the CMF's value.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EMA, exponential moving average: a moving average of the last few values, like Part 3's smoothed volume. This chapter never says how it weights them.</a:t>
            </a:r>
          </a:p>
          <a:p>
            <a:pPr algn="l">
              <a:lnSpc>
                <a:spcPct val="105000"/>
              </a:lnSpc>
              <a:spcBef>
                <a:spcPts val="0"/>
              </a:spcBef>
              <a:spcAft>
                <a:spcPts val="1100"/>
              </a:spcAft>
            </a:pPr>
            <a:r>
              <a:rPr sz="1700" b="0" i="0">
                <a:solidFill>
                  <a:srgbClr val="1A1A1A"/>
                </a:solidFill>
                <a:latin typeface="Arial"/>
              </a:rPr>
              <a:t>A 3-bar EMA follows the running total closely; a 10-bar one follows it slowly.</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Above 0, the recent average is above the longer one: the total has been rising lately. </a:t>
            </a:r>
            <a:r>
              <a:rPr sz="1700" b="1" i="0">
                <a:solidFill>
                  <a:srgbClr val="C62828"/>
                </a:solidFill>
                <a:latin typeface="Arial"/>
              </a:rPr>
              <a:t>(2)</a:t>
            </a:r>
            <a:r>
              <a:rPr sz="1700" b="0" i="0">
                <a:solidFill>
                  <a:srgbClr val="1A1A1A"/>
                </a:solidFill>
                <a:latin typeface="Arial"/>
              </a:rPr>
              <a:t> Below 0, falling. Ours: the book gives no reading of the sign.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a label CMF(20) as N = 20, and ChiOsc(3,10) as EMAs of 3 and 10 bars.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l.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667140" y="4141500"/>
            <a:ext cx="1758116" cy="561807"/>
          </a:xfrm>
          <a:prstGeom prst="rect">
            <a:avLst/>
          </a:prstGeom>
          <a:noFill/>
          <a:ln w="44450">
            <a:solidFill>
              <a:srgbClr val="E09B00"/>
            </a:solidFill>
          </a:ln>
        </p:spPr>
        <p:txBody>
          <a:bodyPr rtlCol="0" anchor="ctr"/>
          <a:lstStyle/>
          <a:p>
            <a:pPr algn="ctr"/>
          </a:p>
        </p:txBody>
      </p:sp>
      <p:sp>
        <p:nvSpPr>
          <p:cNvPr id="13" name="Rectangle 12"/>
          <p:cNvSpPr/>
          <p:nvPr/>
        </p:nvSpPr>
        <p:spPr>
          <a:xfrm>
            <a:off x="7535478" y="4615525"/>
            <a:ext cx="1212494" cy="263347"/>
          </a:xfrm>
          <a:prstGeom prst="rect">
            <a:avLst/>
          </a:prstGeom>
          <a:noFill/>
          <a:ln w="44450">
            <a:solidFill>
              <a:srgbClr val="C62828"/>
            </a:solidFill>
          </a:ln>
        </p:spPr>
        <p:txBody>
          <a:bodyPr rtlCol="0" anchor="ctr"/>
          <a:lstStyle/>
          <a:p>
            <a:pPr algn="ctr"/>
          </a:p>
        </p:txBody>
      </p:sp>
      <p:sp>
        <p:nvSpPr>
          <p:cNvPr id="14" name="Oval 13"/>
          <p:cNvSpPr/>
          <p:nvPr/>
        </p:nvSpPr>
        <p:spPr>
          <a:xfrm>
            <a:off x="8511692" y="39860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380030" y="446007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 the chart is Chart FD's invented values.</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t>
            </a:r>
            <a:r>
              <a:rPr sz="1700" b="1" i="0">
                <a:solidFill>
                  <a:srgbClr val="1F5FAD"/>
                </a:solidFill>
                <a:latin typeface="Arial"/>
              </a:rPr>
              <a:t>(3)</a:t>
            </a:r>
            <a:r>
              <a:rPr sz="1700" b="0" i="0">
                <a:solidFill>
                  <a:srgbClr val="1A1A1A"/>
                </a:solidFill>
                <a:latin typeface="Arial"/>
              </a:rPr>
              <a:t>: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362157" y="1810512"/>
            <a:ext cx="4725180"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81029" y="1929384"/>
            <a:ext cx="4487436"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81029" y="1929384"/>
            <a:ext cx="4487436"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55349" y="2203703"/>
            <a:ext cx="39387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6.43</a:t>
            </a:r>
          </a:p>
          <a:p>
            <a:pPr algn="l">
              <a:lnSpc>
                <a:spcPct val="115000"/>
              </a:lnSpc>
              <a:spcBef>
                <a:spcPts val="0"/>
              </a:spcBef>
              <a:spcAft>
                <a:spcPts val="0"/>
              </a:spcAft>
            </a:pPr>
            <a:r>
              <a:rPr sz="15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p:txBody>
      </p:sp>
      <p:sp>
        <p:nvSpPr>
          <p:cNvPr id="14" name="Rectangle 13"/>
          <p:cNvSpPr/>
          <p:nvPr/>
        </p:nvSpPr>
        <p:spPr>
          <a:xfrm>
            <a:off x="8769621" y="4071274"/>
            <a:ext cx="987235" cy="1193840"/>
          </a:xfrm>
          <a:prstGeom prst="rect">
            <a:avLst/>
          </a:prstGeom>
          <a:noFill/>
          <a:ln w="44450">
            <a:solidFill>
              <a:srgbClr val="E09B00"/>
            </a:solidFill>
          </a:ln>
        </p:spPr>
        <p:txBody>
          <a:bodyPr rtlCol="0" anchor="ctr"/>
          <a:lstStyle/>
          <a:p>
            <a:pPr algn="ctr"/>
          </a:p>
        </p:txBody>
      </p:sp>
      <p:sp>
        <p:nvSpPr>
          <p:cNvPr id="15" name="Oval 14"/>
          <p:cNvSpPr/>
          <p:nvPr/>
        </p:nvSpPr>
        <p:spPr>
          <a:xfrm>
            <a:off x="9218365" y="2175174"/>
            <a:ext cx="493617" cy="386242"/>
          </a:xfrm>
          <a:prstGeom prst="ellipse">
            <a:avLst/>
          </a:prstGeom>
          <a:noFill/>
          <a:ln w="44450">
            <a:solidFill>
              <a:srgbClr val="C62828"/>
            </a:solidFill>
          </a:ln>
        </p:spPr>
        <p:txBody>
          <a:bodyPr rtlCol="0" anchor="ctr"/>
          <a:lstStyle/>
          <a:p>
            <a:pPr algn="ctr"/>
          </a:p>
        </p:txBody>
      </p:sp>
      <p:sp>
        <p:nvSpPr>
          <p:cNvPr id="16" name="Rectangle 15"/>
          <p:cNvSpPr/>
          <p:nvPr/>
        </p:nvSpPr>
        <p:spPr>
          <a:xfrm>
            <a:off x="9958792" y="4492630"/>
            <a:ext cx="381432" cy="790041"/>
          </a:xfrm>
          <a:prstGeom prst="rect">
            <a:avLst/>
          </a:prstGeom>
          <a:noFill/>
          <a:ln w="44450">
            <a:solidFill>
              <a:srgbClr val="1F5FAD"/>
            </a:solidFill>
          </a:ln>
        </p:spPr>
        <p:txBody>
          <a:bodyPr rtlCol="0" anchor="ctr"/>
          <a:lstStyle/>
          <a:p>
            <a:pPr algn="ctr"/>
          </a:p>
        </p:txBody>
      </p:sp>
      <p:sp>
        <p:nvSpPr>
          <p:cNvPr id="17" name="Oval 16"/>
          <p:cNvSpPr/>
          <p:nvPr/>
        </p:nvSpPr>
        <p:spPr>
          <a:xfrm>
            <a:off x="8614173" y="391582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062917" y="201972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803344" y="433718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Top: the indicator falls through its rising trendline in mid 2011: an early bearish signal.</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a:t>
            </a:r>
            <a:r>
              <a:rPr sz="1700" b="1" i="0">
                <a:solidFill>
                  <a:srgbClr val="1F5FAD"/>
                </a:solidFill>
                <a:latin typeface="Arial"/>
              </a:rPr>
              <a:t>(3)</a:t>
            </a:r>
            <a:r>
              <a:rPr sz="1700" b="0" i="0">
                <a:solidFill>
                  <a:srgbClr val="1A1A1A"/>
                </a:solidFill>
                <a:latin typeface="Arial"/>
              </a:rPr>
              <a:t>.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2893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305156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943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6.44</a:t>
            </a:r>
          </a:p>
          <a:p>
            <a:pPr algn="l">
              <a:lnSpc>
                <a:spcPct val="115000"/>
              </a:lnSpc>
              <a:spcBef>
                <a:spcPts val="0"/>
              </a:spcBef>
              <a:spcAft>
                <a:spcPts val="0"/>
              </a:spcAft>
            </a:pPr>
            <a:r>
              <a:rPr sz="15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p:txBody>
      </p:sp>
      <p:sp>
        <p:nvSpPr>
          <p:cNvPr id="14" name="Oval 13"/>
          <p:cNvSpPr/>
          <p:nvPr/>
        </p:nvSpPr>
        <p:spPr>
          <a:xfrm>
            <a:off x="9907121" y="2173509"/>
            <a:ext cx="446291" cy="396703"/>
          </a:xfrm>
          <a:prstGeom prst="ellipse">
            <a:avLst/>
          </a:prstGeom>
          <a:noFill/>
          <a:ln w="44450">
            <a:solidFill>
              <a:srgbClr val="E09B00"/>
            </a:solidFill>
          </a:ln>
        </p:spPr>
        <p:txBody>
          <a:bodyPr rtlCol="0" anchor="ctr"/>
          <a:lstStyle/>
          <a:p>
            <a:pPr algn="ctr"/>
          </a:p>
        </p:txBody>
      </p:sp>
      <p:sp>
        <p:nvSpPr>
          <p:cNvPr id="15" name="Oval 14"/>
          <p:cNvSpPr/>
          <p:nvPr/>
        </p:nvSpPr>
        <p:spPr>
          <a:xfrm>
            <a:off x="10229442" y="4126509"/>
            <a:ext cx="396703" cy="427218"/>
          </a:xfrm>
          <a:prstGeom prst="ellipse">
            <a:avLst/>
          </a:prstGeom>
          <a:noFill/>
          <a:ln w="44450">
            <a:solidFill>
              <a:srgbClr val="C62828"/>
            </a:solidFill>
          </a:ln>
        </p:spPr>
        <p:txBody>
          <a:bodyPr rtlCol="0" anchor="ctr"/>
          <a:lstStyle/>
          <a:p>
            <a:pPr algn="ctr"/>
          </a:p>
        </p:txBody>
      </p:sp>
      <p:sp>
        <p:nvSpPr>
          <p:cNvPr id="16" name="Rectangle 15"/>
          <p:cNvSpPr/>
          <p:nvPr/>
        </p:nvSpPr>
        <p:spPr>
          <a:xfrm>
            <a:off x="6535143" y="3760322"/>
            <a:ext cx="595054" cy="335672"/>
          </a:xfrm>
          <a:prstGeom prst="rect">
            <a:avLst/>
          </a:prstGeom>
          <a:noFill/>
          <a:ln w="44450">
            <a:solidFill>
              <a:srgbClr val="1F5FAD"/>
            </a:solidFill>
          </a:ln>
        </p:spPr>
        <p:txBody>
          <a:bodyPr rtlCol="0" anchor="ctr"/>
          <a:lstStyle/>
          <a:p>
            <a:pPr algn="ctr"/>
          </a:p>
        </p:txBody>
      </p:sp>
      <p:sp>
        <p:nvSpPr>
          <p:cNvPr id="17" name="Oval 16"/>
          <p:cNvSpPr/>
          <p:nvPr/>
        </p:nvSpPr>
        <p:spPr>
          <a:xfrm>
            <a:off x="9751673" y="201806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073994" y="39710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379695" y="360487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217919" y="5191259"/>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Commercials: hedgers, holding non-cash positions, a phrase the book never explains.</a:t>
            </a:r>
          </a:p>
          <a:p>
            <a:pPr algn="l">
              <a:lnSpc>
                <a:spcPct val="105000"/>
              </a:lnSpc>
              <a:spcBef>
                <a:spcPts val="0"/>
              </a:spcBef>
              <a:spcAft>
                <a:spcPts val="1100"/>
              </a:spcAft>
            </a:pPr>
            <a:r>
              <a:rPr sz="1700" b="0" i="0">
                <a:solidFill>
                  <a:srgbClr val="1A1A1A"/>
                </a:solidFill>
                <a:latin typeface="Arial"/>
              </a:rPr>
              <a:t>The book: traders use it to identify potential tops and bottoms, by two things.</a:t>
            </a:r>
          </a:p>
          <a:p>
            <a:pPr algn="l">
              <a:lnSpc>
                <a:spcPct val="105000"/>
              </a:lnSpc>
              <a:spcBef>
                <a:spcPts val="0"/>
              </a:spcBef>
              <a:spcAft>
                <a:spcPts val="1100"/>
              </a:spcAft>
            </a:pPr>
            <a:r>
              <a:rPr sz="1700" b="0" i="0">
                <a:solidFill>
                  <a:srgbClr val="1A1A1A"/>
                </a:solidFill>
                <a:latin typeface="Arial"/>
              </a:rPr>
              <a:t>One: changes in net commercial or non-commercial positions. Net: never defined, so not drawn.</a:t>
            </a:r>
          </a:p>
          <a:p>
            <a:pPr algn="l">
              <a:lnSpc>
                <a:spcPct val="105000"/>
              </a:lnSpc>
              <a:spcBef>
                <a:spcPts val="0"/>
              </a:spcBef>
              <a:spcAft>
                <a:spcPts val="1100"/>
              </a:spcAft>
            </a:pPr>
            <a:r>
              <a:rPr sz="1700" b="0" i="0">
                <a:solidFill>
                  <a:srgbClr val="1A1A1A"/>
                </a:solidFill>
                <a:latin typeface="Arial"/>
              </a:rPr>
              <a:t>Two: open interest testing a significant or historical level: back at an old level </a:t>
            </a:r>
            <a:r>
              <a:rPr sz="1700" b="1" i="0">
                <a:solidFill>
                  <a:srgbClr val="E09B00"/>
                </a:solidFill>
                <a:latin typeface="Arial"/>
              </a:rPr>
              <a:t>(1)</a:t>
            </a:r>
            <a:r>
              <a:rPr sz="1700" b="0" i="0">
                <a:solidFill>
                  <a:srgbClr val="1A1A1A"/>
                </a:solidFill>
                <a:latin typeface="Arial"/>
              </a:rPr>
              <a: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Ours: treat either as a warning, and wait for price to confirm </a:t>
            </a:r>
            <a:r>
              <a:rPr sz="1800" b="1" i="0">
                <a:solidFill>
                  <a:srgbClr val="C62828"/>
                </a:solidFill>
                <a:latin typeface="Arial"/>
              </a:rPr>
              <a:t>(2)</a:t>
            </a:r>
            <a:r>
              <a:rPr sz="1800" b="1" i="0">
                <a:solidFill>
                  <a:srgbClr val="1A1A1A"/>
                </a:solidFill>
                <a:latin typeface="Arial"/>
              </a:rPr>
              <a:t>, as for the ADL.</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m.png"/>
          <p:cNvPicPr>
            <a:picLocks noChangeAspect="1"/>
          </p:cNvPicPr>
          <p:nvPr/>
        </p:nvPicPr>
        <p:blipFill>
          <a:blip r:embed="rId2"/>
          <a:stretch>
            <a:fillRect/>
          </a:stretch>
        </p:blipFill>
        <p:spPr>
          <a:xfrm>
            <a:off x="7252563" y="1929384"/>
            <a:ext cx="4041648" cy="3511296"/>
          </a:xfrm>
          <a:prstGeom prst="rect">
            <a:avLst/>
          </a:prstGeom>
        </p:spPr>
      </p:pic>
      <p:sp>
        <p:nvSpPr>
          <p:cNvPr id="12" name="Oval 11"/>
          <p:cNvSpPr/>
          <p:nvPr/>
        </p:nvSpPr>
        <p:spPr>
          <a:xfrm>
            <a:off x="10485881" y="3614806"/>
            <a:ext cx="323331" cy="351129"/>
          </a:xfrm>
          <a:prstGeom prst="ellipse">
            <a:avLst/>
          </a:prstGeom>
          <a:noFill/>
          <a:ln w="44450">
            <a:solidFill>
              <a:srgbClr val="E09B00"/>
            </a:solidFill>
          </a:ln>
        </p:spPr>
        <p:txBody>
          <a:bodyPr rtlCol="0" anchor="ctr"/>
          <a:lstStyle/>
          <a:p>
            <a:pPr algn="ctr"/>
          </a:p>
        </p:txBody>
      </p:sp>
      <p:sp>
        <p:nvSpPr>
          <p:cNvPr id="13" name="Oval 12"/>
          <p:cNvSpPr/>
          <p:nvPr/>
        </p:nvSpPr>
        <p:spPr>
          <a:xfrm>
            <a:off x="10910254" y="2245400"/>
            <a:ext cx="323331" cy="421355"/>
          </a:xfrm>
          <a:prstGeom prst="ellipse">
            <a:avLst/>
          </a:prstGeom>
          <a:noFill/>
          <a:ln w="44450">
            <a:solidFill>
              <a:srgbClr val="C62828"/>
            </a:solidFill>
          </a:ln>
        </p:spPr>
        <p:txBody>
          <a:bodyPr rtlCol="0" anchor="ctr"/>
          <a:lstStyle/>
          <a:p>
            <a:pPr algn="ctr"/>
          </a:p>
        </p:txBody>
      </p:sp>
      <p:sp>
        <p:nvSpPr>
          <p:cNvPr id="14" name="Oval 13"/>
          <p:cNvSpPr/>
          <p:nvPr/>
        </p:nvSpPr>
        <p:spPr>
          <a:xfrm>
            <a:off x="10330433" y="345935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754806" y="208995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 the chart is ours, invented.</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the VWMA</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Above the VWMA (Part 2): the text calls price potentially bullish, then, a paragraph later, overvalued, where institutions look to sell.</a:t>
            </a:r>
          </a:p>
          <a:p>
            <a:pPr algn="l">
              <a:lnSpc>
                <a:spcPct val="105000"/>
              </a:lnSpc>
              <a:spcBef>
                <a:spcPts val="0"/>
              </a:spcBef>
              <a:spcAft>
                <a:spcPts val="1100"/>
              </a:spcAft>
            </a:pPr>
            <a:r>
              <a:rPr sz="1900" b="0" i="0">
                <a:solidFill>
                  <a:srgbClr val="1A1A1A"/>
                </a:solidFill>
                <a:latin typeface="Arial"/>
              </a:rPr>
              <a:t>Figure 6.11, the book's VWMA picture, prints price above its line as bullish </a:t>
            </a:r>
            <a:r>
              <a:rPr sz="1900" b="1" i="0">
                <a:solidFill>
                  <a:srgbClr val="E09B00"/>
                </a:solidFill>
                <a:latin typeface="Arial"/>
              </a:rPr>
              <a:t>(1)</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Its caption says a VWMA on a daily chart; its own labels say VWAP on 10-minute bars </a:t>
            </a:r>
            <a:r>
              <a:rPr sz="1900" b="1" i="0">
                <a:solidFill>
                  <a:srgbClr val="C62828"/>
                </a:solidFill>
                <a:latin typeface="Arial"/>
              </a:rPr>
              <a:t>(2)</a:t>
            </a:r>
            <a:r>
              <a:rPr sz="1900" b="0" i="0">
                <a:solidFill>
                  <a:srgbClr val="1A1A1A"/>
                </a:solidFill>
                <a:latin typeface="Arial"/>
              </a:rPr>
              <a:t>.</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No check rests on any of these. If asked, give both readings.</a:t>
            </a:r>
          </a:p>
        </p:txBody>
      </p:sp>
      <p:sp>
        <p:nvSpPr>
          <p:cNvPr id="10" name="Rectangle 9"/>
          <p:cNvSpPr/>
          <p:nvPr/>
        </p:nvSpPr>
        <p:spPr>
          <a:xfrm>
            <a:off x="6583679" y="1810512"/>
            <a:ext cx="4830775" cy="29019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641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206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500" b="0" i="0">
                <a:solidFill>
                  <a:srgbClr val="1A1A1A"/>
                </a:solidFill>
                <a:latin typeface="Palatino"/>
              </a:rPr>
              <a:t>The SPY on 10-minute bars with its VWAP line: the label price above VWAP, bullish, and the chart's own labels, SPY 10 min and VWAP, top left.</a:t>
            </a:r>
          </a:p>
        </p:txBody>
      </p:sp>
      <p:sp>
        <p:nvSpPr>
          <p:cNvPr id="14" name="Rectangle 13"/>
          <p:cNvSpPr/>
          <p:nvPr/>
        </p:nvSpPr>
        <p:spPr>
          <a:xfrm>
            <a:off x="8976102" y="2169159"/>
            <a:ext cx="918606" cy="146529"/>
          </a:xfrm>
          <a:prstGeom prst="rect">
            <a:avLst/>
          </a:prstGeom>
          <a:noFill/>
          <a:ln w="44450">
            <a:solidFill>
              <a:srgbClr val="E09B00"/>
            </a:solidFill>
          </a:ln>
        </p:spPr>
        <p:txBody>
          <a:bodyPr rtlCol="0" anchor="ctr"/>
          <a:lstStyle/>
          <a:p>
            <a:pPr algn="ctr"/>
          </a:p>
        </p:txBody>
      </p:sp>
      <p:sp>
        <p:nvSpPr>
          <p:cNvPr id="15" name="Rectangle 14"/>
          <p:cNvSpPr/>
          <p:nvPr/>
        </p:nvSpPr>
        <p:spPr>
          <a:xfrm>
            <a:off x="6702551" y="2009309"/>
            <a:ext cx="803780" cy="173171"/>
          </a:xfrm>
          <a:prstGeom prst="rect">
            <a:avLst/>
          </a:prstGeom>
          <a:noFill/>
          <a:ln w="44450">
            <a:solidFill>
              <a:srgbClr val="C62828"/>
            </a:solidFill>
          </a:ln>
        </p:spPr>
        <p:txBody>
          <a:bodyPr rtlCol="0" anchor="ctr"/>
          <a:lstStyle/>
          <a:p>
            <a:pPr algn="ctr"/>
          </a:p>
        </p:txBody>
      </p:sp>
      <p:sp>
        <p:nvSpPr>
          <p:cNvPr id="16" name="Oval 15"/>
          <p:cNvSpPr/>
          <p:nvPr/>
        </p:nvSpPr>
        <p:spPr>
          <a:xfrm>
            <a:off x="8820654" y="201371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6547103" y="18538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8038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p.181 and Figure 6.11 (Part 2). Each is also named on its own slide.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bullish TRIN (Part 4): the text calls it overbought. Figure 6.25 labels it TRIN oversold </a:t>
            </a:r>
            <a:r>
              <a:rPr sz="2000" b="1" i="0">
                <a:solidFill>
                  <a:srgbClr val="E09B00"/>
                </a:solidFill>
                <a:latin typeface="Arial"/>
              </a:rPr>
              <a:t>(1)</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Its caption says a daily chart; its own label and its time axis say 1-minute bars </a:t>
            </a:r>
            <a:r>
              <a:rPr sz="2000" b="1" i="0">
                <a:solidFill>
                  <a:srgbClr val="C62828"/>
                </a:solidFill>
                <a:latin typeface="Arial"/>
              </a:rPr>
              <a:t>(2)</a:t>
            </a:r>
            <a:r>
              <a:rPr sz="2000" b="0" i="0">
                <a:solidFill>
                  <a:srgbClr val="1A1A1A"/>
                </a:solidFill>
                <a:latin typeface="Arial"/>
              </a:rPr>
              <a:t>, within one day.</a:t>
            </a:r>
          </a:p>
        </p:txBody>
      </p:sp>
      <p:sp>
        <p:nvSpPr>
          <p:cNvPr id="8" name="Rectangle 7"/>
          <p:cNvSpPr/>
          <p:nvPr/>
        </p:nvSpPr>
        <p:spPr>
          <a:xfrm>
            <a:off x="777240" y="4416552"/>
            <a:ext cx="82296" cy="4663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46634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either. Name both.</a:t>
            </a:r>
          </a:p>
        </p:txBody>
      </p:sp>
      <p:sp>
        <p:nvSpPr>
          <p:cNvPr id="10" name="Rectangle 9"/>
          <p:cNvSpPr/>
          <p:nvPr/>
        </p:nvSpPr>
        <p:spPr>
          <a:xfrm>
            <a:off x="6583679" y="1810512"/>
            <a:ext cx="4830775" cy="35612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32346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6626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S&amp;P 500 on 1-minute bars over its tick and TRIN panels, with the TRIN's high marked TRIN oversold and the chart's own label, SPX 1 min, top left.</a:t>
            </a:r>
          </a:p>
        </p:txBody>
      </p:sp>
      <p:sp>
        <p:nvSpPr>
          <p:cNvPr id="14" name="Rectangle 13"/>
          <p:cNvSpPr/>
          <p:nvPr/>
        </p:nvSpPr>
        <p:spPr>
          <a:xfrm>
            <a:off x="9527266" y="4621392"/>
            <a:ext cx="1630526" cy="232642"/>
          </a:xfrm>
          <a:prstGeom prst="rect">
            <a:avLst/>
          </a:prstGeom>
          <a:noFill/>
          <a:ln w="44450">
            <a:solidFill>
              <a:srgbClr val="E09B00"/>
            </a:solidFill>
          </a:ln>
        </p:spPr>
        <p:txBody>
          <a:bodyPr rtlCol="0" anchor="ctr"/>
          <a:lstStyle/>
          <a:p>
            <a:pPr algn="ctr"/>
          </a:p>
        </p:txBody>
      </p:sp>
      <p:sp>
        <p:nvSpPr>
          <p:cNvPr id="15" name="Rectangle 14"/>
          <p:cNvSpPr/>
          <p:nvPr/>
        </p:nvSpPr>
        <p:spPr>
          <a:xfrm>
            <a:off x="6771447" y="2029088"/>
            <a:ext cx="918606" cy="132938"/>
          </a:xfrm>
          <a:prstGeom prst="rect">
            <a:avLst/>
          </a:prstGeom>
          <a:noFill/>
          <a:ln w="44450">
            <a:solidFill>
              <a:srgbClr val="C62828"/>
            </a:solidFill>
          </a:ln>
        </p:spPr>
        <p:txBody>
          <a:bodyPr rtlCol="0" anchor="ctr"/>
          <a:lstStyle/>
          <a:p>
            <a:pPr algn="ctr"/>
          </a:p>
        </p:txBody>
      </p:sp>
      <p:sp>
        <p:nvSpPr>
          <p:cNvPr id="16" name="Oval 15"/>
          <p:cNvSpPr/>
          <p:nvPr/>
        </p:nvSpPr>
        <p:spPr>
          <a:xfrm>
            <a:off x="9371818" y="446594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6615999" y="187364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46316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p.193 and Figure 6.25 (Part 4). Each is also named on its own slide.</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the NYSE line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NYSE Up/Down Volume (Part 6): the text calls it the ratio of advancing volume over declining volume.</a:t>
            </a:r>
          </a:p>
          <a:p>
            <a:pPr algn="l">
              <a:lnSpc>
                <a:spcPct val="105000"/>
              </a:lnSpc>
              <a:spcBef>
                <a:spcPts val="0"/>
              </a:spcBef>
              <a:spcAft>
                <a:spcPts val="1100"/>
              </a:spcAft>
            </a:pPr>
            <a:r>
              <a:rPr sz="2000" b="0" i="0">
                <a:solidFill>
                  <a:srgbClr val="1A1A1A"/>
                </a:solidFill>
                <a:latin typeface="Arial"/>
              </a:rPr>
              <a:t>Figure 6.44 labels its line cumulative </a:t>
            </a:r>
            <a:r>
              <a:rPr sz="2000" b="1" i="0">
                <a:solidFill>
                  <a:srgbClr val="E09B00"/>
                </a:solidFill>
                <a:latin typeface="Arial"/>
              </a:rPr>
              <a:t>(1)</a:t>
            </a:r>
            <a:r>
              <a:rPr sz="2000" b="0" i="0">
                <a:solidFill>
                  <a:srgbClr val="1A1A1A"/>
                </a:solidFill>
                <a:latin typeface="Arial"/>
              </a:rPr>
              <a:t>, and the line runs below zero </a:t>
            </a:r>
            <a:r>
              <a:rPr sz="2000" b="1" i="0">
                <a:solidFill>
                  <a:srgbClr val="C62828"/>
                </a:solidFill>
                <a:latin typeface="Arial"/>
              </a:rPr>
              <a:t>(2)</a:t>
            </a:r>
            <a:r>
              <a:rPr sz="2000" b="0" i="0">
                <a:solidFill>
                  <a:srgbClr val="1A1A1A"/>
                </a:solidFill>
                <a:latin typeface="Arial"/>
              </a:rPr>
              <a:t>, which a ratio of two volumes cannot.</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book does not reconcile them. If asked, give both.</a:t>
            </a:r>
          </a:p>
        </p:txBody>
      </p:sp>
      <p:sp>
        <p:nvSpPr>
          <p:cNvPr id="10" name="Rectangle 9"/>
          <p:cNvSpPr/>
          <p:nvPr/>
        </p:nvSpPr>
        <p:spPr>
          <a:xfrm>
            <a:off x="6583679" y="1810512"/>
            <a:ext cx="4830775" cy="306422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82648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6928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6.44</a:t>
            </a:r>
          </a:p>
          <a:p>
            <a:pPr algn="l">
              <a:lnSpc>
                <a:spcPct val="115000"/>
              </a:lnSpc>
              <a:spcBef>
                <a:spcPts val="0"/>
              </a:spcBef>
              <a:spcAft>
                <a:spcPts val="0"/>
              </a:spcAft>
            </a:pPr>
            <a:r>
              <a:rPr sz="1500" b="0" i="0">
                <a:solidFill>
                  <a:srgbClr val="1A1A1A"/>
                </a:solidFill>
                <a:latin typeface="Palatino"/>
              </a:rPr>
              <a:t>The NYSE Advance-Decline Volume line, labelled cumulative top left, dipping below zero in early 2009, over the NYSE Composite Index.</a:t>
            </a:r>
          </a:p>
        </p:txBody>
      </p:sp>
      <p:sp>
        <p:nvSpPr>
          <p:cNvPr id="14" name="Rectangle 13"/>
          <p:cNvSpPr/>
          <p:nvPr/>
        </p:nvSpPr>
        <p:spPr>
          <a:xfrm>
            <a:off x="6702551" y="2028310"/>
            <a:ext cx="1837212" cy="127191"/>
          </a:xfrm>
          <a:prstGeom prst="rect">
            <a:avLst/>
          </a:prstGeom>
          <a:noFill/>
          <a:ln w="44450">
            <a:solidFill>
              <a:srgbClr val="E09B00"/>
            </a:solidFill>
          </a:ln>
        </p:spPr>
        <p:txBody>
          <a:bodyPr rtlCol="0" anchor="ctr"/>
          <a:lstStyle/>
          <a:p>
            <a:pPr algn="ctr"/>
          </a:p>
        </p:txBody>
      </p:sp>
      <p:sp>
        <p:nvSpPr>
          <p:cNvPr id="15" name="Rectangle 14"/>
          <p:cNvSpPr/>
          <p:nvPr/>
        </p:nvSpPr>
        <p:spPr>
          <a:xfrm>
            <a:off x="6886273" y="3611139"/>
            <a:ext cx="574128" cy="325045"/>
          </a:xfrm>
          <a:prstGeom prst="rect">
            <a:avLst/>
          </a:prstGeom>
          <a:noFill/>
          <a:ln w="44450">
            <a:solidFill>
              <a:srgbClr val="C62828"/>
            </a:solidFill>
          </a:ln>
        </p:spPr>
        <p:txBody>
          <a:bodyPr rtlCol="0" anchor="ctr"/>
          <a:lstStyle/>
          <a:p>
            <a:pPr algn="ctr"/>
          </a:p>
        </p:txBody>
      </p:sp>
      <p:sp>
        <p:nvSpPr>
          <p:cNvPr id="16" name="Oval 15"/>
          <p:cNvSpPr/>
          <p:nvPr/>
        </p:nvSpPr>
        <p:spPr>
          <a:xfrm>
            <a:off x="6547103" y="18728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6730825" y="34556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96617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6.44 -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p.206 and Figure 6.44 (Part 6). Each is also named on its own slide.</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Bullish divergence (Part 1): the text says it can only occur in a downtrend.</a:t>
            </a:r>
          </a:p>
          <a:p>
            <a:pPr algn="l">
              <a:lnSpc>
                <a:spcPct val="105000"/>
              </a:lnSpc>
              <a:spcBef>
                <a:spcPts val="0"/>
              </a:spcBef>
              <a:spcAft>
                <a:spcPts val="1100"/>
              </a:spcAft>
            </a:pPr>
            <a:r>
              <a:rPr sz="2000" b="0" i="0">
                <a:solidFill>
                  <a:srgbClr val="1A1A1A"/>
                </a:solidFill>
                <a:latin typeface="Arial"/>
              </a:rPr>
              <a:t>Yet the book reads periods 4 </a:t>
            </a:r>
            <a:r>
              <a:rPr sz="2000" b="1" i="0">
                <a:solidFill>
                  <a:srgbClr val="E09B00"/>
                </a:solidFill>
                <a:latin typeface="Arial"/>
              </a:rPr>
              <a:t>(1)</a:t>
            </a:r>
            <a:r>
              <a:rPr sz="2000" b="0" i="0">
                <a:solidFill>
                  <a:srgbClr val="1A1A1A"/>
                </a:solidFill>
                <a:latin typeface="Arial"/>
              </a:rPr>
              <a:t> and 6 </a:t>
            </a:r>
            <a:r>
              <a:rPr sz="2000" b="1" i="0">
                <a:solidFill>
                  <a:srgbClr val="C62828"/>
                </a:solidFill>
                <a:latin typeface="Arial"/>
              </a:rPr>
              <a:t>(2)</a:t>
            </a:r>
            <a:r>
              <a:rPr sz="2000" b="0" i="0">
                <a:solidFill>
                  <a:srgbClr val="1A1A1A"/>
                </a:solidFill>
                <a:latin typeface="Arial"/>
              </a:rPr>
              <a:t> of Figure 6.6 as bullish divergence: dips inside a four-year uptrend.</a:t>
            </a:r>
          </a:p>
          <a:p>
            <a:pPr algn="l">
              <a:lnSpc>
                <a:spcPct val="105000"/>
              </a:lnSpc>
              <a:spcBef>
                <a:spcPts val="0"/>
              </a:spcBef>
              <a:spcAft>
                <a:spcPts val="1100"/>
              </a:spcAft>
            </a:pPr>
            <a:r>
              <a:rPr sz="2000" b="0" i="0">
                <a:solidFill>
                  <a:srgbClr val="1A1A1A"/>
                </a:solidFill>
                <a:latin typeface="Arial"/>
              </a:rPr>
              <a:t>Its caption says a daily chart; its own label says weekly </a:t>
            </a:r>
            <a:r>
              <a:rPr sz="2000" b="1" i="0">
                <a:solidFill>
                  <a:srgbClr val="1F5FAD"/>
                </a:solidFill>
                <a:latin typeface="Arial"/>
              </a:rPr>
              <a:t>(3)</a:t>
            </a:r>
            <a:r>
              <a:rPr sz="2000" b="0" i="0">
                <a:solidFill>
                  <a:srgbClr val="1A1A1A"/>
                </a:solidFill>
                <a:latin typeface="Arial"/>
              </a:rPr>
              <a:t>.</a:t>
            </a:r>
          </a:p>
        </p:txBody>
      </p:sp>
      <p:sp>
        <p:nvSpPr>
          <p:cNvPr id="8" name="Rectangle 7"/>
          <p:cNvSpPr/>
          <p:nvPr/>
        </p:nvSpPr>
        <p:spPr>
          <a:xfrm>
            <a:off x="777240" y="4901183"/>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7759"/>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any of these. If asked, give both readings.</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in ten numbered periods: periods 4 and 6 are dips inside the uptrend, and the label top left says weekly.</a:t>
            </a:r>
          </a:p>
        </p:txBody>
      </p:sp>
      <p:sp>
        <p:nvSpPr>
          <p:cNvPr id="14" name="Rectangle 13"/>
          <p:cNvSpPr/>
          <p:nvPr/>
        </p:nvSpPr>
        <p:spPr>
          <a:xfrm>
            <a:off x="9113893" y="2324200"/>
            <a:ext cx="298547" cy="526421"/>
          </a:xfrm>
          <a:prstGeom prst="rect">
            <a:avLst/>
          </a:prstGeom>
          <a:noFill/>
          <a:ln w="44450">
            <a:solidFill>
              <a:srgbClr val="E09B00"/>
            </a:solidFill>
          </a:ln>
        </p:spPr>
        <p:txBody>
          <a:bodyPr rtlCol="0" anchor="ctr"/>
          <a:lstStyle/>
          <a:p>
            <a:pPr algn="ctr"/>
          </a:p>
        </p:txBody>
      </p:sp>
      <p:sp>
        <p:nvSpPr>
          <p:cNvPr id="15" name="Rectangle 14"/>
          <p:cNvSpPr/>
          <p:nvPr/>
        </p:nvSpPr>
        <p:spPr>
          <a:xfrm>
            <a:off x="9504300" y="2455805"/>
            <a:ext cx="275581" cy="690928"/>
          </a:xfrm>
          <a:prstGeom prst="rect">
            <a:avLst/>
          </a:prstGeom>
          <a:noFill/>
          <a:ln w="44450">
            <a:solidFill>
              <a:srgbClr val="C62828"/>
            </a:solidFill>
          </a:ln>
        </p:spPr>
        <p:txBody>
          <a:bodyPr rtlCol="0" anchor="ctr"/>
          <a:lstStyle/>
          <a:p>
            <a:pPr algn="ctr"/>
          </a:p>
        </p:txBody>
      </p:sp>
      <p:sp>
        <p:nvSpPr>
          <p:cNvPr id="16" name="Rectangle 15"/>
          <p:cNvSpPr/>
          <p:nvPr/>
        </p:nvSpPr>
        <p:spPr>
          <a:xfrm>
            <a:off x="6702551" y="2044538"/>
            <a:ext cx="1033431" cy="148056"/>
          </a:xfrm>
          <a:prstGeom prst="rect">
            <a:avLst/>
          </a:prstGeom>
          <a:noFill/>
          <a:ln w="44450">
            <a:solidFill>
              <a:srgbClr val="1F5FAD"/>
            </a:solidFill>
          </a:ln>
        </p:spPr>
        <p:txBody>
          <a:bodyPr rtlCol="0" anchor="ctr"/>
          <a:lstStyle/>
          <a:p>
            <a:pPr algn="ctr"/>
          </a:p>
        </p:txBody>
      </p:sp>
      <p:sp>
        <p:nvSpPr>
          <p:cNvPr id="17" name="Oval 16"/>
          <p:cNvSpPr/>
          <p:nvPr/>
        </p:nvSpPr>
        <p:spPr>
          <a:xfrm>
            <a:off x="8958445" y="21687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348852" y="230035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547103" y="188909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pp.176 and 178 and Figure 6.6 (Part 1). Each is also named on its own slide.</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captions that disagree: silver or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6.23 (Part 3) is captioned silver.</a:t>
            </a:r>
          </a:p>
          <a:p>
            <a:pPr algn="l">
              <a:lnSpc>
                <a:spcPct val="105000"/>
              </a:lnSpc>
              <a:spcBef>
                <a:spcPts val="0"/>
              </a:spcBef>
              <a:spcAft>
                <a:spcPts val="1100"/>
              </a:spcAft>
            </a:pPr>
            <a:r>
              <a:rPr sz="2000" b="0" i="0">
                <a:solidFill>
                  <a:srgbClr val="1A1A1A"/>
                </a:solidFill>
                <a:latin typeface="Arial"/>
              </a:rPr>
              <a:t>The text calls 6.23 the same daily chart of USDJPY, then, a sentence on, the Silver market.</a:t>
            </a:r>
          </a:p>
          <a:p>
            <a:pPr algn="l">
              <a:lnSpc>
                <a:spcPct val="105000"/>
              </a:lnSpc>
              <a:spcBef>
                <a:spcPts val="0"/>
              </a:spcBef>
              <a:spcAft>
                <a:spcPts val="1100"/>
              </a:spcAft>
            </a:pPr>
            <a:r>
              <a:rPr sz="2000" b="0" i="0">
                <a:solidFill>
                  <a:srgbClr val="1A1A1A"/>
                </a:solidFill>
                <a:latin typeface="Arial"/>
              </a:rPr>
              <a:t>The chart's own label, top left </a:t>
            </a:r>
            <a:r>
              <a:rPr sz="2000" b="1" i="0">
                <a:solidFill>
                  <a:srgbClr val="E09B00"/>
                </a:solidFill>
                <a:latin typeface="Arial"/>
              </a:rPr>
              <a:t>(1)</a:t>
            </a:r>
            <a:r>
              <a:rPr sz="2000" b="0" i="0">
                <a:solidFill>
                  <a:srgbClr val="1A1A1A"/>
                </a:solidFill>
                <a:latin typeface="Arial"/>
              </a:rPr>
              <a:t>, names its market; the book never refers to it.</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it. Read the chart, and name both.</a:t>
            </a:r>
          </a:p>
        </p:txBody>
      </p:sp>
      <p:sp>
        <p:nvSpPr>
          <p:cNvPr id="10" name="Rectangle 9"/>
          <p:cNvSpPr/>
          <p:nvPr/>
        </p:nvSpPr>
        <p:spPr>
          <a:xfrm>
            <a:off x="6583679" y="1810512"/>
            <a:ext cx="4830775" cy="255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1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86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A daily chart with a volume filtered channel drawn through numbered turns, X and 1 to 6, and the chart's own label top left.</a:t>
            </a:r>
          </a:p>
        </p:txBody>
      </p:sp>
      <p:sp>
        <p:nvSpPr>
          <p:cNvPr id="14" name="Rectangle 13"/>
          <p:cNvSpPr/>
          <p:nvPr/>
        </p:nvSpPr>
        <p:spPr>
          <a:xfrm>
            <a:off x="6702551" y="1929384"/>
            <a:ext cx="987501" cy="104281"/>
          </a:xfrm>
          <a:prstGeom prst="rect">
            <a:avLst/>
          </a:prstGeom>
          <a:noFill/>
          <a:ln w="44450">
            <a:solidFill>
              <a:srgbClr val="E09B00"/>
            </a:solidFill>
          </a:ln>
        </p:spPr>
        <p:txBody>
          <a:bodyPr rtlCol="0" anchor="ctr"/>
          <a:lstStyle/>
          <a:p>
            <a:pPr algn="ctr"/>
          </a:p>
        </p:txBody>
      </p:sp>
      <p:sp>
        <p:nvSpPr>
          <p:cNvPr id="15" name="Oval 14"/>
          <p:cNvSpPr/>
          <p:nvPr/>
        </p:nvSpPr>
        <p:spPr>
          <a:xfrm>
            <a:off x="6547103" y="177393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44570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6.23 -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Book pp.189-190 and Figure 6.23 (Part 3).</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captions that disagree: daily or intraday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6.26 (Part 4) is captioned daily.</a:t>
            </a:r>
          </a:p>
          <a:p>
            <a:pPr algn="l">
              <a:lnSpc>
                <a:spcPct val="105000"/>
              </a:lnSpc>
              <a:spcBef>
                <a:spcPts val="0"/>
              </a:spcBef>
              <a:spcAft>
                <a:spcPts val="1100"/>
              </a:spcAft>
            </a:pPr>
            <a:r>
              <a:rPr sz="2000" b="0" i="0">
                <a:solidFill>
                  <a:srgbClr val="1A1A1A"/>
                </a:solidFill>
                <a:latin typeface="Arial"/>
              </a:rPr>
              <a:t>Its own label says 1-minute bars </a:t>
            </a:r>
            <a:r>
              <a:rPr sz="2000" b="1" i="0">
                <a:solidFill>
                  <a:srgbClr val="E09B00"/>
                </a:solidFill>
                <a:latin typeface="Arial"/>
              </a:rPr>
              <a:t>(1)</a:t>
            </a:r>
            <a:r>
              <a:rPr sz="2000" b="0" i="0">
                <a:solidFill>
                  <a:srgbClr val="1A1A1A"/>
                </a:solidFill>
                <a:latin typeface="Arial"/>
              </a:rPr>
              <a:t>, and its time axis runs from 10:00 to 3:30 </a:t>
            </a:r>
            <a:r>
              <a:rPr sz="2000" b="1" i="0">
                <a:solidFill>
                  <a:srgbClr val="C62828"/>
                </a:solidFill>
                <a:latin typeface="Arial"/>
              </a:rPr>
              <a:t>(2)</a:t>
            </a:r>
            <a:r>
              <a:rPr sz="2000" b="0" i="0">
                <a:solidFill>
                  <a:srgbClr val="1A1A1A"/>
                </a:solidFill>
                <a:latin typeface="Arial"/>
              </a:rPr>
              <a:t>: one day, an intraday chart.</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it. Read the chart, and name both.</a:t>
            </a:r>
          </a:p>
        </p:txBody>
      </p:sp>
      <p:sp>
        <p:nvSpPr>
          <p:cNvPr id="10" name="Rectangle 9"/>
          <p:cNvSpPr/>
          <p:nvPr/>
        </p:nvSpPr>
        <p:spPr>
          <a:xfrm>
            <a:off x="6583679" y="1810512"/>
            <a:ext cx="4830775" cy="3516138"/>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7839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2119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The S&amp;P 500 on 1-minute bars over its tick and TRIN panels, the label SPX 1 min top left and a time axis from 10:00 to 3:30.</a:t>
            </a:r>
          </a:p>
        </p:txBody>
      </p:sp>
      <p:sp>
        <p:nvSpPr>
          <p:cNvPr id="14" name="Rectangle 13"/>
          <p:cNvSpPr/>
          <p:nvPr/>
        </p:nvSpPr>
        <p:spPr>
          <a:xfrm>
            <a:off x="6771447" y="2044127"/>
            <a:ext cx="918606" cy="131135"/>
          </a:xfrm>
          <a:prstGeom prst="rect">
            <a:avLst/>
          </a:prstGeom>
          <a:noFill/>
          <a:ln w="44450">
            <a:solidFill>
              <a:srgbClr val="E09B00"/>
            </a:solidFill>
          </a:ln>
        </p:spPr>
        <p:txBody>
          <a:bodyPr rtlCol="0" anchor="ctr"/>
          <a:lstStyle/>
          <a:p>
            <a:pPr algn="ctr"/>
          </a:p>
        </p:txBody>
      </p:sp>
      <p:sp>
        <p:nvSpPr>
          <p:cNvPr id="15" name="Rectangle 14"/>
          <p:cNvSpPr/>
          <p:nvPr/>
        </p:nvSpPr>
        <p:spPr>
          <a:xfrm>
            <a:off x="6794412" y="5060250"/>
            <a:ext cx="3858146" cy="140970"/>
          </a:xfrm>
          <a:prstGeom prst="rect">
            <a:avLst/>
          </a:prstGeom>
          <a:noFill/>
          <a:ln w="44450">
            <a:solidFill>
              <a:srgbClr val="C62828"/>
            </a:solidFill>
          </a:ln>
        </p:spPr>
        <p:txBody>
          <a:bodyPr rtlCol="0" anchor="ctr"/>
          <a:lstStyle/>
          <a:p>
            <a:pPr algn="ctr"/>
          </a:p>
        </p:txBody>
      </p:sp>
      <p:sp>
        <p:nvSpPr>
          <p:cNvPr id="16" name="Oval 15"/>
          <p:cNvSpPr/>
          <p:nvPr/>
        </p:nvSpPr>
        <p:spPr>
          <a:xfrm>
            <a:off x="6615999" y="188867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6638964" y="490480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418090"/>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Book p.194 and Figure 6.26 (Part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