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arrows,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900" b="0" i="0">
                <a:solidFill>
                  <a:srgbClr val="1A1A1A"/>
                </a:solidFill>
                <a:latin typeface="Arial"/>
              </a:rPr>
              <a:t>2, 8 and 10: volume declines in a consolidation, timing the breakout.</a:t>
            </a:r>
          </a:p>
        </p:txBody>
      </p:sp>
      <p:sp>
        <p:nvSpPr>
          <p:cNvPr id="8" name="Rectangle 7"/>
          <p:cNvSpPr/>
          <p:nvPr/>
        </p:nvSpPr>
        <p:spPr>
          <a:xfrm>
            <a:off x="777240" y="401650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5307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At the end of 2, 8 and 10, price breaks out as volume reaches its minimum.</a:t>
            </a:r>
          </a:p>
        </p:txBody>
      </p:sp>
      <p:sp>
        <p:nvSpPr>
          <p:cNvPr id="10" name="TextBox 9"/>
          <p:cNvSpPr txBox="1"/>
          <p:nvPr/>
        </p:nvSpPr>
        <p:spPr>
          <a:xfrm>
            <a:off x="777240" y="527837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period here is bullish volume: price and volume move together.</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nine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lookback period: a simple backtest may be needed to find the filtering right for a setup.</a:t>
            </a:r>
          </a:p>
          <a:p>
            <a:pPr algn="l">
              <a:lnSpc>
                <a:spcPct val="105000"/>
              </a:lnSpc>
              <a:spcBef>
                <a:spcPts val="0"/>
              </a:spcBef>
              <a:spcAft>
                <a:spcPts val="1100"/>
              </a:spcAft>
            </a:pPr>
            <a:r>
              <a:rPr sz="1700" b="0" i="0">
                <a:solidFill>
                  <a:srgbClr val="1A1A1A"/>
                </a:solidFill>
                <a:latin typeface="Arial"/>
              </a:rPr>
              <a:t>Some set it to the dominant trading cycle period, or one half of it.</a:t>
            </a:r>
          </a:p>
          <a:p>
            <a:pPr algn="l">
              <a:lnSpc>
                <a:spcPct val="105000"/>
              </a:lnSpc>
              <a:spcBef>
                <a:spcPts val="0"/>
              </a:spcBef>
              <a:spcAft>
                <a:spcPts val="1100"/>
              </a:spcAft>
            </a:pPr>
            <a:r>
              <a:rPr sz="1700" b="0" i="0">
                <a:solidFill>
                  <a:srgbClr val="1A1A1A"/>
                </a:solidFill>
                <a:latin typeface="Arial"/>
              </a:rPr>
              <a:t>Figure 6.20: spikes above the smoothed volume line on USDJPY, each at a top or a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leaves the length to testing or to the cycle: it gives no number.</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Backtest, Chapter 5: run the method against past prices. Cycle period, Chapter 5: how long each swing takes.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 Backtest: Chapter 5's gloss. Cycle period: a Chapter 5 term.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two or three standard deviations above average volume: only surges that cross it count.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the 20-bar average plus three standard deviations of those bars. Three bars cross it.</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two- or three-standard deviation, or sigma, filter, also called a volatility filter, keeps only the most significant surges: a 2 or 3 standard deviation Bollinger Band on volume, upper band only.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Standard deviation, Chapter 5: how far values typically spread from their average. Bollinger Bands: named in Chapter 5, unexplained. Chart: ours, computed.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Fewer signals than the smoothed filter, at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peso example of turnover.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is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This tick is an indicator the book does not explain; it is not shown to be tick volume.</a:t>
            </a:r>
          </a:p>
        </p:txBody>
      </p:sp>
      <p:sp>
        <p:nvSpPr>
          <p:cNvPr id="11" name="Rectangle 10"/>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adds what the text does not: balanced tick action, read as a potential consolidation.</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By time: the usual bars, one a period. By price: sideways bars, one per price level.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three months: 9 million shares at PHP 48 to 50, 2 million at PHP 54 to 56. The longest sideways bar: PHP 48 to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volume oscillators, which build price into a line.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lot of volume turnover between $77 and $86 on the daily chart of 3M.</a:t>
            </a:r>
          </a:p>
          <a:p>
            <a:pPr algn="l">
              <a:lnSpc>
                <a:spcPct val="105000"/>
              </a:lnSpc>
              <a:spcBef>
                <a:spcPts val="0"/>
              </a:spcBef>
              <a:spcAft>
                <a:spcPts val="1100"/>
              </a:spcAft>
            </a:pPr>
            <a:r>
              <a:rPr sz="2000" b="0" i="0">
                <a:solidFill>
                  <a:srgbClr val="1A1A1A"/>
                </a:solidFill>
                <a:latin typeface="Arial"/>
              </a:rPr>
              <a:t>This is the most traded range, with some resistance at the $90 to $92 level.</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20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2000" b="0" i="0">
                <a:solidFill>
                  <a:srgbClr val="1A1A1A"/>
                </a:solidFill>
                <a:latin typeface="Arial"/>
              </a:rPr>
              <a:t>Spread means bar range, as in Chapter 5: not Chapter 3's bid-ask spread.</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four cases. Chapter 6 names them, and reads two of them more strongly.</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8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rest bar depends on its trend; the continuation bar does not.</a:t>
            </a:r>
          </a:p>
        </p:txBody>
      </p:sp>
      <p:sp>
        <p:nvSpPr>
          <p:cNvPr id="10" name="TextBox 9"/>
          <p:cNvSpPr txBox="1"/>
          <p:nvPr/>
        </p:nvSpPr>
        <p:spPr>
          <a:xfrm>
            <a:off x="777240" y="543915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 in the opposite direction.</a:t>
            </a:r>
          </a:p>
          <a:p>
            <a:pPr algn="l">
              <a:lnSpc>
                <a:spcPct val="105000"/>
              </a:lnSpc>
              <a:spcBef>
                <a:spcPts val="0"/>
              </a:spcBef>
              <a:spcAft>
                <a:spcPts val="1100"/>
              </a:spcAft>
            </a:pPr>
            <a:r>
              <a:rPr sz="1800" b="0" i="0">
                <a:solidFill>
                  <a:srgbClr val="1A1A1A"/>
                </a:solidFill>
                <a:latin typeface="Arial"/>
              </a:rPr>
              <a:t>Also: a low volume breakout signal near the apex of a descending triangle in August, then a large volume surge on the breakout.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apex is where the triangle's two lines meet.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for each bar, so a reversal bar is found from its range alone and its height against the rest.</a:t>
            </a:r>
          </a:p>
          <a:p>
            <a:pPr algn="l">
              <a:lnSpc>
                <a:spcPct val="105000"/>
              </a:lnSpc>
              <a:spcBef>
                <a:spcPts val="0"/>
              </a:spcBef>
              <a:spcAft>
                <a:spcPts val="1100"/>
              </a:spcAft>
            </a:pPr>
            <a:r>
              <a:rPr sz="1800" b="0" i="0">
                <a:solidFill>
                  <a:srgbClr val="1A1A1A"/>
                </a:solidFill>
                <a:latin typeface="Arial"/>
              </a:rPr>
              <a:t>Figure 6.35: a narrow range bar, bearish, sellers taking control; a wider bar, a lack of interest in the rise.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pinpointing reversal bars on high or low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for signals by eight standard methods. Only one, divergence, is used here.</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Chaikin oscillator gives an earlier sell, or bearish, signal than the CMF.</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related oscillators: one turns first, both agree at the bottom.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