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700" b="0" i="0">
                <a:solidFill>
                  <a:srgbClr val="1A1A1A"/>
                </a:solidFill>
                <a:latin typeface="Arial"/>
              </a:rPr>
              <a:t>Uptrend: volume rises as price rises, falls on the dips. The book calls this bullish volume action.</a:t>
            </a:r>
          </a:p>
          <a:p>
            <a:pPr algn="l">
              <a:lnSpc>
                <a:spcPct val="105000"/>
              </a:lnSpc>
              <a:spcBef>
                <a:spcPts val="0"/>
              </a:spcBef>
              <a:spcAft>
                <a:spcPts val="1100"/>
              </a:spcAft>
            </a:pPr>
            <a:r>
              <a:rPr sz="1700" b="0" i="0">
                <a:solidFill>
                  <a:srgbClr val="1A1A1A"/>
                </a:solidFill>
                <a:latin typeface="Arial"/>
              </a:rPr>
              <a:t>Downtrend: volume rises as price falls, falls on the bounces. The book calls this bearish volume action.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confirm their trend. Numbers on the next slide.</a:t>
            </a:r>
          </a:p>
        </p:txBody>
      </p:sp>
      <p:sp>
        <p:nvSpPr>
          <p:cNvPr id="10" name="TextBox 9"/>
          <p:cNvSpPr txBox="1"/>
          <p:nvPr/>
        </p:nvSpPr>
        <p:spPr>
          <a:xfrm>
            <a:off x="777240" y="546125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25</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about 260 in 2001 to 1,900 in 2011 as volume expands: bullish. Then to about 1,200 in 2013 as volume declines: bullish too.</a:t>
            </a:r>
          </a:p>
        </p:txBody>
      </p:sp>
      <p:sp>
        <p:nvSpPr>
          <p:cNvPr id="8" name="Rectangle 7"/>
          <p:cNvSpPr/>
          <p:nvPr/>
        </p:nvSpPr>
        <p:spPr>
          <a:xfrm>
            <a:off x="777240" y="422452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15112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0" i="0">
                <a:solidFill>
                  <a:srgbClr val="1A1A1A"/>
                </a:solidFill>
                <a:latin typeface="Arial"/>
              </a:rPr>
              <a:t>Uptrend, ours: PHP 40 to 46 as volume shrinks 4 to 2 million, dip to 44 as it grows to 3. Opposite ways: bearish volume, a potentially weak uptrend.</a:t>
            </a:r>
          </a:p>
          <a:p>
            <a:pPr algn="l">
              <a:lnSpc>
                <a:spcPct val="105000"/>
              </a:lnSpc>
              <a:spcBef>
                <a:spcPts val="0"/>
              </a:spcBef>
              <a:spcAft>
                <a:spcPts val="1100"/>
              </a:spcAft>
            </a:pPr>
            <a:r>
              <a:rPr sz="1700" b="0" i="0">
                <a:solidFill>
                  <a:srgbClr val="1A1A1A"/>
                </a:solidFill>
                <a:latin typeface="Arial"/>
              </a:rPr>
              <a:t>Downtrend, ours: PHP 50 to 46 as volume shrinks 4 to 2 million, bounce to 48 as it grows to 3. Same way: bullish volume, a potentially bullish downtrend.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confirms the trend (Chapter 2, p.174): over the whole trend, big with it and small against it. It judges the pattern.</a:t>
            </a:r>
          </a:p>
          <a:p>
            <a:pPr algn="l">
              <a:lnSpc>
                <a:spcPct val="118000"/>
              </a:lnSpc>
              <a:spcBef>
                <a:spcPts val="0"/>
              </a:spcBef>
              <a:spcAft>
                <a:spcPts val="1300"/>
              </a:spcAft>
            </a:pPr>
            <a:r>
              <a:rPr sz="2100" b="0" i="0">
                <a:solidFill>
                  <a:srgbClr val="1A1A1A"/>
                </a:solidFill>
                <a:latin typeface="Arial"/>
              </a:rPr>
              <a:t>Volume confirmation (p.175): on one stretch, volume rising. It judges one leg at a time.</a:t>
            </a:r>
          </a:p>
          <a:p>
            <a:pPr algn="l">
              <a:lnSpc>
                <a:spcPct val="118000"/>
              </a:lnSpc>
              <a:spcBef>
                <a:spcPts val="0"/>
              </a:spcBef>
              <a:spcAft>
                <a:spcPts val="1300"/>
              </a:spcAft>
            </a:pPr>
            <a:r>
              <a:rPr sz="2100" b="0" i="0">
                <a:solidFill>
                  <a:srgbClr val="1A1A1A"/>
                </a:solidFill>
                <a:latin typeface="Arial"/>
              </a:rPr>
              <a:t>Ours: PHP 40 to 46 on 2 to 4 million, a dip to 44 on 1 million. The trend is confirmed. The dip alone, volume falling with price, is bullish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dip can be a bullish divergence inside a confirmed uptrend.</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Figure 6.6, below, does the same: bullish volume overall, with two dips labelled bullish divergence.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and p.175 (volume confirmation). The prices and share counts are the tenet's, ours. Figure 6.6: p.178.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PHP 50 to 46, volume 2 to 4 million: opposite, bearish; volume up, confirmation. Figure 6.4's third column: price top, volume below.</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volume falling as price rises: fewer will buy higher, a potential downside reversal. Confirmation: a potential continuation.</a:t>
            </a:r>
          </a:p>
          <a:p>
            <a:pPr algn="l">
              <a:lnSpc>
                <a:spcPct val="118000"/>
              </a:lnSpc>
              <a:spcBef>
                <a:spcPts val="0"/>
              </a:spcBef>
              <a:spcAft>
                <a:spcPts val="1300"/>
              </a:spcAft>
            </a:pPr>
            <a:r>
              <a:rPr sz="2100" b="0" i="0">
                <a:solidFill>
                  <a:srgbClr val="1A1A1A"/>
                </a:solidFill>
                <a:latin typeface="Arial"/>
              </a:rPr>
              <a:t>The book says bullish divergence can only occur in a downtrend, bearish only in an uptrend (p.176), yet Figure 6.6 finds bullish divergence in uptrend dips.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Our reading: the p.178 summary on any stretch, so a dip inside an uptrend can be bullish divergence. 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 Where each can occur is its p.176 to 177 wording.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volume falls as price falls: volume falling, divergence; with price, bullish. Fewer are willing to sell lower.</a:t>
            </a:r>
          </a:p>
        </p:txBody>
      </p:sp>
      <p:sp>
        <p:nvSpPr>
          <p:cNvPr id="8" name="Rectangle 7"/>
          <p:cNvSpPr/>
          <p:nvPr/>
        </p:nvSpPr>
        <p:spPr>
          <a:xfrm>
            <a:off x="777240" y="412851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0246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3, 7 and 9: price and volume rise, bullish confirmation. 4 and 6: price dips as volume falls, bullish divergence. 5: volume flat, no reading.</a:t>
            </a:r>
          </a:p>
          <a:p>
            <a:pPr algn="l">
              <a:lnSpc>
                <a:spcPct val="105000"/>
              </a:lnSpc>
              <a:spcBef>
                <a:spcPts val="0"/>
              </a:spcBef>
              <a:spcAft>
                <a:spcPts val="1100"/>
              </a:spcAft>
            </a:pPr>
            <a:r>
              <a:rPr sz="1700" b="0" i="0">
                <a:solidFill>
                  <a:srgbClr val="1A1A1A"/>
                </a:solidFill>
                <a:latin typeface="Arial"/>
              </a:rPr>
              <a:t>2, 8 and 10: volume falls as price moves sideways, a consolidation (Chapter 4). At volume's minimum, price breaks out.</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a consolidation, volume times the breakout: Part 2.</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25</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Non-price-based, plain volume included: bullish if it moves with price, bearish if against. Divergence if it falls, confirmation if it rises.</a:t>
            </a:r>
          </a:p>
          <a:p>
            <a:pPr algn="l">
              <a:lnSpc>
                <a:spcPct val="105000"/>
              </a:lnSpc>
              <a:spcBef>
                <a:spcPts val="0"/>
              </a:spcBef>
              <a:spcAft>
                <a:spcPts val="1100"/>
              </a:spcAft>
            </a:pPr>
            <a:r>
              <a:rPr sz="1700" b="0" i="0">
                <a:solidFill>
                  <a:srgbClr val="1A1A1A"/>
                </a:solidFill>
                <a:latin typeface="Arial"/>
              </a:rPr>
              <a:t>Price-based, such as the OBV: bullish if it rises, bearish if it falls. Divergence if it moves against price, confirmation if with it.</a:t>
            </a:r>
          </a:p>
          <a:p>
            <a:pPr algn="l">
              <a:lnSpc>
                <a:spcPct val="105000"/>
              </a:lnSpc>
              <a:spcBef>
                <a:spcPts val="0"/>
              </a:spcBef>
              <a:spcAft>
                <a:spcPts val="1100"/>
              </a:spcAft>
            </a:pPr>
            <a:r>
              <a:rPr sz="1700" b="0" i="0">
                <a:solidFill>
                  <a:srgbClr val="1A1A1A"/>
                </a:solidFill>
                <a:latin typeface="Arial"/>
              </a:rPr>
              <a:t>Figure 6.7: top half divergence, bottom half confirmation; left box plain volume, right box price-based. Only two volume arrows flip.</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01091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First ask which kind you are reading.</a:t>
            </a:r>
          </a:p>
        </p:txBody>
      </p:sp>
      <p:sp>
        <p:nvSpPr>
          <p:cNvPr id="10" name="TextBox 9"/>
          <p:cNvSpPr txBox="1"/>
          <p:nvPr/>
        </p:nvSpPr>
        <p:spPr>
          <a:xfrm>
            <a:off x="777240" y="57310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rising, PHP 46 to 50: both kinds read alike. Volume 3 to 5 million, OBV 5 to 7: bullish confirmation. Both down: bearish divergence.</a:t>
            </a:r>
          </a:p>
          <a:p>
            <a:pPr algn="l">
              <a:lnSpc>
                <a:spcPct val="118000"/>
              </a:lnSpc>
              <a:spcBef>
                <a:spcPts val="0"/>
              </a:spcBef>
              <a:spcAft>
                <a:spcPts val="1300"/>
              </a:spcAft>
            </a:pPr>
            <a:r>
              <a:rPr sz="2100" b="0" i="0">
                <a:solidFill>
                  <a:srgbClr val="1A1A1A"/>
                </a:solidFill>
                <a:latin typeface="Arial"/>
              </a:rPr>
              <a:t>Price falling, 50 to 46, bullish divergence: volume falls 3 to 1 million, with price; the OBV rises 5 to 7 million, against price.</a:t>
            </a:r>
          </a:p>
          <a:p>
            <a:pPr algn="l">
              <a:lnSpc>
                <a:spcPct val="118000"/>
              </a:lnSpc>
              <a:spcBef>
                <a:spcPts val="0"/>
              </a:spcBef>
              <a:spcAft>
                <a:spcPts val="1300"/>
              </a:spcAft>
            </a:pPr>
            <a:r>
              <a:rPr sz="2100" b="0" i="0">
                <a:solidFill>
                  <a:srgbClr val="1A1A1A"/>
                </a:solidFill>
                <a:latin typeface="Arial"/>
              </a:rPr>
              <a:t>Price falling, 50 to 46, bearish confirmation: volume rises 3 to 5 million, against price; the OBV falls 5 to 3 million, with price.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falling: same names, opposite arrows.</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Plain volume: rising is confirmation. A price-based line: moving with price is confirmation.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four names on both kinds. The prices and the volume and OBV numbers are ours.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25</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trust rises from about 129 to 133, October to January.</a:t>
            </a:r>
          </a:p>
          <a:p>
            <a:pPr algn="l">
              <a:lnSpc>
                <a:spcPct val="105000"/>
              </a:lnSpc>
              <a:spcBef>
                <a:spcPts val="0"/>
              </a:spcBef>
              <a:spcAft>
                <a:spcPts val="1100"/>
              </a:spcAft>
            </a:pPr>
            <a:r>
              <a:rPr sz="1700" b="0" i="0">
                <a:solidFill>
                  <a:srgbClr val="1A1A1A"/>
                </a:solidFill>
                <a:latin typeface="Arial"/>
              </a:rPr>
              <a:t>Volume and smoothed volume, a 20-day average, non-price-based: falling, against price: bearish divergence.</a:t>
            </a:r>
          </a:p>
          <a:p>
            <a:pPr algn="l">
              <a:lnSpc>
                <a:spcPct val="105000"/>
              </a:lnSpc>
              <a:spcBef>
                <a:spcPts val="0"/>
              </a:spcBef>
              <a:spcAft>
                <a:spcPts val="1100"/>
              </a:spcAft>
            </a:pPr>
            <a:r>
              <a:rPr sz="1700" b="0" i="0">
                <a:solidFill>
                  <a:srgbClr val="1A1A1A"/>
                </a:solidFill>
                <a:latin typeface="Arial"/>
              </a:rPr>
              <a:t>The PVO, a detrended volume oscillator the book never explains: non-price-based, falling: bearish divergence too.</a:t>
            </a:r>
          </a:p>
          <a:p>
            <a:pPr algn="l">
              <a:lnSpc>
                <a:spcPct val="105000"/>
              </a:lnSpc>
              <a:spcBef>
                <a:spcPts val="0"/>
              </a:spcBef>
              <a:spcAft>
                <a:spcPts val="1100"/>
              </a:spcAft>
            </a:pPr>
            <a:r>
              <a:rPr sz="1700" b="0" i="0">
                <a:solidFill>
                  <a:srgbClr val="1A1A1A"/>
                </a:solidFill>
                <a:latin typeface="Arial"/>
              </a:rPr>
              <a:t>ADL, price-based: rising, with price: bullish confirmation.</a:t>
            </a:r>
          </a:p>
        </p:txBody>
      </p:sp>
      <p:sp>
        <p:nvSpPr>
          <p:cNvPr id="8" name="Rectangle 7"/>
          <p:cNvSpPr/>
          <p:nvPr/>
        </p:nvSpPr>
        <p:spPr>
          <a:xfrm>
            <a:off x="777240" y="4729734"/>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61081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kind read by its own rule.</a:t>
            </a:r>
          </a:p>
        </p:txBody>
      </p:sp>
      <p:sp>
        <p:nvSpPr>
          <p:cNvPr id="10" name="TextBox 9"/>
          <p:cNvSpPr txBox="1"/>
          <p:nvPr/>
        </p:nvSpPr>
        <p:spPr>
          <a:xfrm>
            <a:off x="777240" y="5351526"/>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 Smoothed volume: Part 3.</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PVO and detrending are on the figure and not explained by the book.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Consolidation: price moving sideways in a range, here PHP 48 to 52.</a:t>
            </a:r>
          </a:p>
          <a:p>
            <a:pPr algn="l">
              <a:lnSpc>
                <a:spcPct val="105000"/>
              </a:lnSpc>
              <a:spcBef>
                <a:spcPts val="0"/>
              </a:spcBef>
              <a:spcAft>
                <a:spcPts val="1100"/>
              </a:spcAft>
            </a:pPr>
            <a:r>
              <a:rPr sz="1500" b="0" i="0">
                <a:solidFill>
                  <a:srgbClr val="1A1A1A"/>
                </a:solidFill>
                <a:latin typeface="Arial"/>
              </a:rPr>
              <a:t>The book: as volume falls close to its lowest historical level, a breakout from the range is expected.</a:t>
            </a:r>
          </a:p>
          <a:p>
            <a:pPr algn="l">
              <a:lnSpc>
                <a:spcPct val="105000"/>
              </a:lnSpc>
              <a:spcBef>
                <a:spcPts val="0"/>
              </a:spcBef>
              <a:spcAft>
                <a:spcPts val="1100"/>
              </a:spcAft>
            </a:pPr>
            <a:r>
              <a:rPr sz="1500" b="0" i="0">
                <a:solidFill>
                  <a:srgbClr val="1A1A1A"/>
                </a:solidFill>
                <a:latin typeface="Arial"/>
              </a:rPr>
              <a:t>Ours: an earlier low, 0.45 million, sets the dashed level. Volume falls back to 0.42 at 1, testing it; at 2 price breaks out on 3.6 million.</a:t>
            </a:r>
          </a:p>
        </p:txBody>
      </p:sp>
      <p:sp>
        <p:nvSpPr>
          <p:cNvPr id="8" name="Rectangle 7"/>
          <p:cNvSpPr/>
          <p:nvPr/>
        </p:nvSpPr>
        <p:spPr>
          <a:xfrm>
            <a:off x="777240" y="458114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No divergence reading in a range: price moves sideways.</a:t>
            </a:r>
          </a:p>
        </p:txBody>
      </p:sp>
      <p:sp>
        <p:nvSpPr>
          <p:cNvPr id="10" name="TextBox 9"/>
          <p:cNvSpPr txBox="1"/>
          <p:nvPr/>
        </p:nvSpPr>
        <p:spPr>
          <a:xfrm>
            <a:off x="777240" y="541629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How far back historical reaches, the book does not say.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Consolidation and breakout: Chapters 2 and 4. The chart is ours, on invented prices and volume; the numbers are read off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lowest volume times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Volume shrinks as each side finishes: most who wanted to buy have bought, most who wanted to sell have sold.</a:t>
            </a:r>
          </a:p>
          <a:p>
            <a:pPr algn="l">
              <a:lnSpc>
                <a:spcPct val="118000"/>
              </a:lnSpc>
              <a:spcBef>
                <a:spcPts val="0"/>
              </a:spcBef>
              <a:spcAft>
                <a:spcPts val="1300"/>
              </a:spcAft>
            </a:pPr>
            <a:r>
              <a:rPr sz="2100" b="0" i="0">
                <a:solidFill>
                  <a:srgbClr val="1A1A1A"/>
                </a:solidFill>
                <a:latin typeface="Arial"/>
              </a:rPr>
              <a:t>2  Stop orders pile up outside the range: buy stops above PHP 52, sell stops below PHP 48 (Chapter 1: they trade once price pushes through their level).</a:t>
            </a:r>
          </a:p>
          <a:p>
            <a:pPr algn="l">
              <a:lnSpc>
                <a:spcPct val="118000"/>
              </a:lnSpc>
              <a:spcBef>
                <a:spcPts val="0"/>
              </a:spcBef>
              <a:spcAft>
                <a:spcPts val="1300"/>
              </a:spcAft>
            </a:pPr>
            <a:r>
              <a:rPr sz="2100" b="0" i="0">
                <a:solidFill>
                  <a:srgbClr val="1A1A1A"/>
                </a:solidFill>
                <a:latin typeface="Arial"/>
              </a:rPr>
              <a:t>3  When price reaches one edge, those stops trigger together and push it out: the catalyst.</a:t>
            </a:r>
          </a:p>
          <a:p>
            <a:pPr algn="l">
              <a:lnSpc>
                <a:spcPct val="118000"/>
              </a:lnSpc>
              <a:spcBef>
                <a:spcPts val="0"/>
              </a:spcBef>
              <a:spcAft>
                <a:spcPts val="1300"/>
              </a:spcAft>
            </a:pPr>
            <a:r>
              <a:rPr sz="2100" b="0" i="0">
                <a:solidFill>
                  <a:srgbClr val="1A1A1A"/>
                </a:solidFill>
                <a:latin typeface="Arial"/>
              </a:rPr>
              <a:t>4  Up or down, the book does not say: let price show the way.</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volume back at an earlier low, expect a breakout.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reasons are the book's. Stop orders: Chapters 1 and 5. The PHP 48 and 52 edges are ours, from the last slide's chart.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signal, not a trade: in a range, volume falls back to a low it has touched before, testing it. Expect price to leave the range soon, up or down.</a:t>
            </a:r>
          </a:p>
        </p:txBody>
      </p:sp>
      <p:sp>
        <p:nvSpPr>
          <p:cNvPr id="10" name="Rectangle 9"/>
          <p:cNvSpPr/>
          <p:nvPr/>
        </p:nvSpPr>
        <p:spPr>
          <a:xfrm>
            <a:off x="777240" y="34015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63093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6.9, Apple: the dashed level sits at earlier lows, touched at time lines 1 and 2. In late March, inside the Accumulation box (a buying range, Chapters 2 and 4), volume falls back to it; in April price breaks out of the top.</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63093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 Accumulation: Chapters 2 and 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Price turns as volume sits at its minimum. In a trend, volume testing its low says the trend may turn, the book's tendency; price shows which way.</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volume shrinks to 0.55 million at 1, the PHP 56 peak, and price turns down. That low is the dashed line. At 2, PHP 47, volume falls back to it and price turns up.</a:t>
            </a:r>
          </a:p>
        </p:txBody>
      </p:sp>
      <p:sp>
        <p:nvSpPr>
          <p:cNvPr id="12" name="Rectangle 11"/>
          <p:cNvSpPr/>
          <p:nvPr/>
        </p:nvSpPr>
        <p:spPr>
          <a:xfrm>
            <a:off x="777240" y="45445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 The book does not say how the low is set.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three boxes are consolidations. The low volume threshold runs low across the volume panel, near 10 million shares.</a:t>
            </a:r>
          </a:p>
          <a:p>
            <a:pPr algn="l">
              <a:lnSpc>
                <a:spcPct val="105000"/>
              </a:lnSpc>
              <a:spcBef>
                <a:spcPts val="0"/>
              </a:spcBef>
              <a:spcAft>
                <a:spcPts val="1100"/>
              </a:spcAft>
            </a:pPr>
            <a:r>
              <a:rPr sz="1600" b="0" i="0">
                <a:solidFill>
                  <a:srgbClr val="1A1A1A"/>
                </a:solidFill>
                <a:latin typeface="Arial"/>
              </a:rPr>
              <a:t>Dotted arrows: volume falls to it in each box. Then price breaks out: up at 1, from an accumulation; down at 2 and 3, from distributions, ranges where informed holders sell.</a:t>
            </a:r>
          </a:p>
          <a:p>
            <a:pPr algn="l">
              <a:lnSpc>
                <a:spcPct val="105000"/>
              </a:lnSpc>
              <a:spcBef>
                <a:spcPts val="0"/>
              </a:spcBef>
              <a:spcAft>
                <a:spcPts val="1100"/>
              </a:spcAft>
            </a:pPr>
            <a:r>
              <a:rPr sz="1600" b="0" i="0">
                <a:solidFill>
                  <a:srgbClr val="1A1A1A"/>
                </a:solidFill>
                <a:latin typeface="Arial"/>
              </a:rPr>
              <a:t>Volume rises on the breakout bars, 1, 2 and 3.</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signal, three times: it said when; price chose the way.</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 Accumulation and distribution: Chapters 2 and 4. The 10 million is read by eye off the figure's scale.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25</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moving average: the average of the last few closes, redone at each new bar. Volume-weighted: each close counts by its volume, so heavy days pull the line toward their price.</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Line at PHP 50: price at 52, above it, is potentially bullish; at 48, below it, potentially bearish. Our chart: the gold dot crosses above, the green dot below.</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Moving averages: met in Chapters 4 and 5. The chart is ours; its line is a 10-bar VWMA we computed.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our VWMA line is computed,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three bars close at PHP 50, 52 and 54, on 1, 1 and 2 million shares.</a:t>
            </a:r>
          </a:p>
          <a:p>
            <a:pPr algn="l">
              <a:lnSpc>
                <a:spcPct val="118000"/>
              </a:lnSpc>
              <a:spcBef>
                <a:spcPts val="0"/>
              </a:spcBef>
              <a:spcAft>
                <a:spcPts val="1300"/>
              </a:spcAft>
            </a:pPr>
            <a:r>
              <a:rPr sz="2100" b="0" i="0">
                <a:solidFill>
                  <a:srgbClr val="1A1A1A"/>
                </a:solidFill>
                <a:latin typeface="Arial"/>
              </a:rPr>
              <a:t>Plain average: (50 + 52 + 54) / 3 = PHP 52. Every bar counts the same.</a:t>
            </a:r>
          </a:p>
          <a:p>
            <a:pPr algn="l">
              <a:lnSpc>
                <a:spcPct val="118000"/>
              </a:lnSpc>
              <a:spcBef>
                <a:spcPts val="0"/>
              </a:spcBef>
              <a:spcAft>
                <a:spcPts val="1300"/>
              </a:spcAft>
            </a:pPr>
            <a:r>
              <a:rPr sz="2100" b="0" i="0">
                <a:solidFill>
                  <a:srgbClr val="1A1A1A"/>
                </a:solidFill>
                <a:latin typeface="Arial"/>
              </a:rPr>
              <a:t>Volume-weighted: each close times its volume, added up, divided by the total volume: (50 x 1 + 52 x 1 + 54 x 2) / 4 = 210 / 4 = PHP 52.50.</a:t>
            </a:r>
          </a:p>
          <a:p>
            <a:pPr algn="l">
              <a:lnSpc>
                <a:spcPct val="118000"/>
              </a:lnSpc>
              <a:spcBef>
                <a:spcPts val="0"/>
              </a:spcBef>
              <a:spcAft>
                <a:spcPts val="1300"/>
              </a:spcAft>
            </a:pPr>
            <a:r>
              <a:rPr sz="2100" b="0" i="0">
                <a:solidFill>
                  <a:srgbClr val="1A1A1A"/>
                </a:solidFill>
                <a:latin typeface="Arial"/>
              </a:rPr>
              <a:t>The heavy PHP 54 day pulls the line up toward it. At the next bar, drop the oldest, add the newest, compute again; our charts use 10 bars.</a:t>
            </a:r>
          </a:p>
        </p:txBody>
      </p:sp>
      <p:sp>
        <p:nvSpPr>
          <p:cNvPr id="8" name="Rectangle 7"/>
          <p:cNvSpPr/>
          <p:nvPr/>
        </p:nvSpPr>
        <p:spPr>
          <a:xfrm>
            <a:off x="777240" y="489661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VWMA: the average price, weighted by how much traded at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how our charts compute the line, read from build/charts_chapter06.py, on invented numbers. The book's own calculation is in its Chapter 11.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10-minute chart of the S&amp;P 500 SPDR. Dashed: the line labelled VWAP, volume-weighted average price; the book treats VWAP and VWMA as one line here.</a:t>
            </a:r>
          </a:p>
          <a:p>
            <a:pPr algn="l">
              <a:lnSpc>
                <a:spcPct val="105000"/>
              </a:lnSpc>
              <a:spcBef>
                <a:spcPts val="0"/>
              </a:spcBef>
              <a:spcAft>
                <a:spcPts val="1100"/>
              </a:spcAft>
            </a:pPr>
            <a:r>
              <a:rPr sz="1600" b="0" i="0">
                <a:solidFill>
                  <a:srgbClr val="1A1A1A"/>
                </a:solidFill>
                <a:latin typeface="Arial"/>
              </a:rPr>
              <a:t>Price rises decisively each time it crosses above the line, and falls after crossing below.</a:t>
            </a:r>
          </a:p>
          <a:p>
            <a:pPr algn="l">
              <a:lnSpc>
                <a:spcPct val="105000"/>
              </a:lnSpc>
              <a:spcBef>
                <a:spcPts val="0"/>
              </a:spcBef>
              <a:spcAft>
                <a:spcPts val="1100"/>
              </a:spcAft>
            </a:pPr>
            <a:r>
              <a:rPr sz="1600" b="0" i="0">
                <a:solidFill>
                  <a:srgbClr val="1A1A1A"/>
                </a:solidFill>
                <a:latin typeface="Arial"/>
              </a:rPr>
              <a:t>Circles: each day's volume peak, its busiest stretch (Part 5). Dashed arrows run up from each: the crossovers came at those peaks.</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Above the line, bullish; below it, bearish.</a:t>
            </a:r>
          </a:p>
        </p:txBody>
      </p:sp>
      <p:sp>
        <p:nvSpPr>
          <p:cNvPr id="10" name="TextBox 9"/>
          <p:cNvSpPr txBox="1"/>
          <p:nvPr/>
        </p:nvSpPr>
        <p:spPr>
          <a:xfrm>
            <a:off x="777240" y="531571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watch each day's busiest stretch: the crossovers came there, and the book gives no rule beyond that. The line also acts as support, a floor, and resistance, a ceiling (Chapter 5).</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 Support and resistance: Chapter 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600" b="0" i="0">
                <a:solidFill>
                  <a:srgbClr val="1A1A1A"/>
                </a:solidFill>
                <a:latin typeface="Arial"/>
              </a:rPr>
              <a:t>Its buy signals come from another method, unnamed; the VWMA only decides whether to take one.</a:t>
            </a:r>
          </a:p>
          <a:p>
            <a:pPr algn="l">
              <a:lnSpc>
                <a:spcPct val="105000"/>
              </a:lnSpc>
              <a:spcBef>
                <a:spcPts val="0"/>
              </a:spcBef>
              <a:spcAft>
                <a:spcPts val="1100"/>
              </a:spcAft>
            </a:pPr>
            <a:r>
              <a:rPr sz="1600" b="0" i="0">
                <a:solidFill>
                  <a:srgbClr val="1A1A1A"/>
                </a:solidFill>
                <a:latin typeface="Arial"/>
              </a:rPr>
              <a:t>Institutions buy only below the line, sell only above. Ours, line at PHP 50: a buy signal at 48, yes; at 52, no.</a:t>
            </a:r>
          </a:p>
          <a:p>
            <a:pPr algn="l">
              <a:lnSpc>
                <a:spcPct val="105000"/>
              </a:lnSpc>
              <a:spcBef>
                <a:spcPts val="0"/>
              </a:spcBef>
              <a:spcAft>
                <a:spcPts val="1100"/>
              </a:spcAft>
            </a:pPr>
            <a:r>
              <a:rPr sz="1600" b="0" i="0">
                <a:solidFill>
                  <a:srgbClr val="1A1A1A"/>
                </a:solidFill>
                <a:latin typeface="Arial"/>
              </a:rPr>
              <a:t>So above the line is bullish for the trend, yet overvalued: not where institutions buy.</a:t>
            </a:r>
          </a:p>
        </p:txBody>
      </p:sp>
      <p:sp>
        <p:nvSpPr>
          <p:cNvPr id="8" name="Rectangle 7"/>
          <p:cNvSpPr/>
          <p:nvPr/>
        </p:nvSpPr>
        <p:spPr>
          <a:xfrm>
            <a:off x="777240" y="5129784"/>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66360"/>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readings of one line, both the book's.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m.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and the PHP 50 example are ours.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from the VWMA to volume itself: how much trades on the day a market turns?</a:t>
            </a:r>
          </a:p>
          <a:p>
            <a:pPr algn="l">
              <a:lnSpc>
                <a:spcPct val="105000"/>
              </a:lnSpc>
              <a:spcBef>
                <a:spcPts val="0"/>
              </a:spcBef>
              <a:spcAft>
                <a:spcPts val="1100"/>
              </a:spcAft>
            </a:pPr>
            <a:r>
              <a:rPr sz="1500" b="0" i="0">
                <a:solidFill>
                  <a:srgbClr val="1A1A1A"/>
                </a:solidFill>
                <a:latin typeface="Arial"/>
              </a:rPr>
              <a:t>The book: tops and bottoms usually come on relatively large or extreme volume, or relatively low or minimal volume.</a:t>
            </a:r>
          </a:p>
          <a:p>
            <a:pPr algn="l">
              <a:lnSpc>
                <a:spcPct val="105000"/>
              </a:lnSpc>
              <a:spcBef>
                <a:spcPts val="0"/>
              </a:spcBef>
              <a:spcAft>
                <a:spcPts val="1100"/>
              </a:spcAft>
            </a:pPr>
            <a:r>
              <a:rPr sz="1500" b="0" i="0">
                <a:solidFill>
                  <a:srgbClr val="1A1A1A"/>
                </a:solidFill>
                <a:latin typeface="Arial"/>
              </a:rPr>
              <a:t>Ours, usual volume 2 million a day. On 9 million: a top is a blow-off or buying climax; a bottom, a sell-off or selling climax.</a:t>
            </a:r>
          </a:p>
          <a:p>
            <a:pPr algn="l">
              <a:lnSpc>
                <a:spcPct val="105000"/>
              </a:lnSpc>
              <a:spcBef>
                <a:spcPts val="0"/>
              </a:spcBef>
              <a:spcAft>
                <a:spcPts val="1100"/>
              </a:spcAft>
            </a:pPr>
            <a:r>
              <a:rPr sz="1500" b="0" i="0">
                <a:solidFill>
                  <a:srgbClr val="1A1A1A"/>
                </a:solidFill>
                <a:latin typeface="Arial"/>
              </a:rPr>
              <a:t>On 0.3 million: a low volume top, or a low volume bottom.</a:t>
            </a:r>
          </a:p>
        </p:txBody>
      </p:sp>
      <p:sp>
        <p:nvSpPr>
          <p:cNvPr id="8" name="Rectangle 7"/>
          <p:cNvSpPr/>
          <p:nvPr/>
        </p:nvSpPr>
        <p:spPr>
          <a:xfrm>
            <a:off x="777240" y="5225796"/>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62372"/>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Four turns, named by place and by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with our invented volumes.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quiet pair matters, and why sell-off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one peak at PHP 60. On 9 million the rise ends in a frenzy; on 0.3 million it runs out of interest. Watch only spikes and you miss the second.</a:t>
            </a:r>
          </a:p>
          <a:p>
            <a:pPr algn="l">
              <a:lnSpc>
                <a:spcPct val="118000"/>
              </a:lnSpc>
              <a:spcBef>
                <a:spcPts val="0"/>
              </a:spcBef>
              <a:spcAft>
                <a:spcPts val="1300"/>
              </a:spcAft>
            </a:pPr>
            <a:r>
              <a:rPr sz="2100" b="0" i="0">
                <a:solidFill>
                  <a:srgbClr val="1A1A1A"/>
                </a:solidFill>
                <a:latin typeface="Arial"/>
              </a:rPr>
              <a:t>Every trade has a buyer and a seller; the names say who was rushing.</a:t>
            </a:r>
          </a:p>
          <a:p>
            <a:pPr algn="l">
              <a:lnSpc>
                <a:spcPct val="118000"/>
              </a:lnSpc>
              <a:spcBef>
                <a:spcPts val="0"/>
              </a:spcBef>
              <a:spcAft>
                <a:spcPts val="1300"/>
              </a:spcAft>
            </a:pPr>
            <a:r>
              <a:rPr sz="2100" b="0" i="0">
                <a:solidFill>
                  <a:srgbClr val="1A1A1A"/>
                </a:solidFill>
                <a:latin typeface="Arial"/>
              </a:rPr>
              <a:t>Selling climax, Chapter 4: a deep fall ends as the uninformed sell at any price and the informed buy from them.</a:t>
            </a:r>
          </a:p>
          <a:p>
            <a:pPr algn="l">
              <a:lnSpc>
                <a:spcPct val="118000"/>
              </a:lnSpc>
              <a:spcBef>
                <a:spcPts val="0"/>
              </a:spcBef>
              <a:spcAft>
                <a:spcPts val="1300"/>
              </a:spcAft>
            </a:pPr>
            <a:r>
              <a:rPr sz="2100" b="0" i="0">
                <a:solidFill>
                  <a:srgbClr val="1A1A1A"/>
                </a:solidFill>
                <a:latin typeface="Arial"/>
              </a:rPr>
              <a:t>Buying climax, the mirror: a strong rise ends as the uninformed buy at any price and the informed sell to them.</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quiet pair are the low volume reversals: turns on silence.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pp.182-185. Who trades in each climax: Chapter 4, its accumulation and distribution slides.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Overextended volume: far above usual. The upper level is a line only the most extreme spikes reach; a lower one, still high, is reached more often.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6.12, Exxon Mobil: the extreme volume of two selling climaxes, under the ellipse, sets the upper level.</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extreme volume level is the upper overextended volume level, a signal for predicting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near 120 million shares, and lower level volume overextension, near 70 million.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tell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Off Figure 6.12's scale: most days trade under 40 million shares; the lower line sits a little under 70 million, the upper a little above 120 million.</a:t>
            </a:r>
          </a:p>
          <a:p>
            <a:pPr algn="l">
              <a:lnSpc>
                <a:spcPct val="118000"/>
              </a:lnSpc>
              <a:spcBef>
                <a:spcPts val="0"/>
              </a:spcBef>
              <a:spcAft>
                <a:spcPts val="1300"/>
              </a:spcAft>
            </a:pPr>
            <a:r>
              <a:rPr sz="2100" b="0" i="0">
                <a:solidFill>
                  <a:srgbClr val="1A1A1A"/>
                </a:solidFill>
                <a:latin typeface="Arial"/>
              </a:rPr>
              <a:t>Both are high volume: lower means less extreme, not low volume.</a:t>
            </a:r>
          </a:p>
          <a:p>
            <a:pPr algn="l">
              <a:lnSpc>
                <a:spcPct val="118000"/>
              </a:lnSpc>
              <a:spcBef>
                <a:spcPts val="0"/>
              </a:spcBef>
              <a:spcAft>
                <a:spcPts val="1300"/>
              </a:spcAft>
            </a:pPr>
            <a:r>
              <a:rPr sz="2100" b="0" i="0">
                <a:solidFill>
                  <a:srgbClr val="1A1A1A"/>
                </a:solidFill>
                <a:latin typeface="Arial"/>
              </a:rPr>
              <a:t>Upper: potential tops or bottoms, a warning and not a promise. Lower: less significant corrections, smaller moves against the trend.</a:t>
            </a:r>
          </a:p>
          <a:p>
            <a:pPr algn="l">
              <a:lnSpc>
                <a:spcPct val="118000"/>
              </a:lnSpc>
              <a:spcBef>
                <a:spcPts val="0"/>
              </a:spcBef>
              <a:spcAft>
                <a:spcPts val="1300"/>
              </a:spcAft>
            </a:pPr>
            <a:r>
              <a:rPr sz="2100" b="0" i="0">
                <a:solidFill>
                  <a:srgbClr val="1A1A1A"/>
                </a:solidFill>
                <a:latin typeface="Arial"/>
              </a:rPr>
              <a:t>The figure shows only bottoms; the book says the same level signals tops too.</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Above the line: a potential turn. Which way: price, afterwards.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its scale read by eye. Correction: Chapter 5. Not a promise: the book's word potential, said plainly.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blow-off, or buying climax: a market top on extreme volume, the mirror of Exxon's selling climaxes.</a:t>
            </a:r>
          </a:p>
          <a:p>
            <a:pPr algn="l">
              <a:lnSpc>
                <a:spcPct val="105000"/>
              </a:lnSpc>
              <a:spcBef>
                <a:spcPts val="0"/>
              </a:spcBef>
              <a:spcAft>
                <a:spcPts val="1100"/>
              </a:spcAft>
            </a:pPr>
            <a:r>
              <a:rPr sz="1600" b="0" i="0">
                <a:solidFill>
                  <a:srgbClr val="1A1A1A"/>
                </a:solidFill>
                <a:latin typeface="Arial"/>
              </a:rPr>
              <a:t>Follow each arrow from BLOW-OFF to its circled volume spike, then up to the top above it. Price falls after each.</a:t>
            </a:r>
          </a:p>
          <a:p>
            <a:pPr algn="l">
              <a:lnSpc>
                <a:spcPct val="105000"/>
              </a:lnSpc>
              <a:spcBef>
                <a:spcPts val="0"/>
              </a:spcBef>
              <a:spcAft>
                <a:spcPts val="1100"/>
              </a:spcAft>
            </a:pPr>
            <a:r>
              <a:rPr sz="1600" b="0" i="0">
                <a:solidFill>
                  <a:srgbClr val="1A1A1A"/>
                </a:solidFill>
                <a:latin typeface="Arial"/>
              </a:rPr>
              <a:t>Relatively high, the book says: the first spike tops 200 thousand shares, the second only about 100 thousand, yet each towers over its neighbours.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Compare a spike with its own neighbours, not with the biggest bar.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 the first above 200 thousand shares, the second about 100 thousand.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 The volumes are read by eye off the figure's scale.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By visual inspection, the book says: by eye, no formula. Find the spikes under the most significant tops and bottoms; draw the line just below them.</a:t>
            </a:r>
          </a:p>
          <a:p>
            <a:pPr algn="l">
              <a:lnSpc>
                <a:spcPct val="105000"/>
              </a:lnSpc>
              <a:spcBef>
                <a:spcPts val="0"/>
              </a:spcBef>
              <a:spcAft>
                <a:spcPts val="1100"/>
              </a:spcAft>
            </a:pPr>
            <a:r>
              <a:rPr sz="1500" b="0" i="0">
                <a:solidFill>
                  <a:srgbClr val="1A1A1A"/>
                </a:solidFill>
                <a:latin typeface="Arial"/>
              </a:rPr>
              <a:t>Set lower, more spikes cross it: more frequent signals, at less significant tops and bottoms.</a:t>
            </a:r>
          </a:p>
          <a:p>
            <a:pPr algn="l">
              <a:lnSpc>
                <a:spcPct val="105000"/>
              </a:lnSpc>
              <a:spcBef>
                <a:spcPts val="0"/>
              </a:spcBef>
              <a:spcAft>
                <a:spcPts val="1100"/>
              </a:spcAft>
            </a:pPr>
            <a:r>
              <a:rPr sz="1500" b="0" i="0">
                <a:solidFill>
                  <a:srgbClr val="1A1A1A"/>
                </a:solidFill>
                <a:latin typeface="Arial"/>
              </a:rPr>
              <a:t>Figure 6.14, gold: the circled spikes cross the dashed level. At the far right price breaks a significant support, a level where falls had stopped, on extreme volume.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Higher level, fewer and bigger turns.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second, computed line: next slide.</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 stepped computed line under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Support: Chapter 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figure's second line: a rolling 2-sigma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On Figure 6.14: the solid line stepping under the dashed level.</a:t>
            </a:r>
          </a:p>
          <a:p>
            <a:pPr algn="l">
              <a:lnSpc>
                <a:spcPct val="118000"/>
              </a:lnSpc>
              <a:spcBef>
                <a:spcPts val="0"/>
              </a:spcBef>
              <a:spcAft>
                <a:spcPts val="1300"/>
              </a:spcAft>
            </a:pPr>
            <a:r>
              <a:rPr sz="2100" b="0" i="0">
                <a:solidFill>
                  <a:srgbClr val="1A1A1A"/>
                </a:solidFill>
                <a:latin typeface="Arial"/>
              </a:rPr>
              <a:t>Rolling 100-day 2-sigma level = 100-day average volume + 2 x sigma. Sigma, the standard deviation: how far volume typically strays from its average.</a:t>
            </a:r>
          </a:p>
          <a:p>
            <a:pPr algn="l">
              <a:lnSpc>
                <a:spcPct val="118000"/>
              </a:lnSpc>
              <a:spcBef>
                <a:spcPts val="0"/>
              </a:spcBef>
              <a:spcAft>
                <a:spcPts val="1300"/>
              </a:spcAft>
            </a:pPr>
            <a:r>
              <a:rPr sz="2100" b="0" i="0">
                <a:solidFill>
                  <a:srgbClr val="1A1A1A"/>
                </a:solidFill>
                <a:latin typeface="Arial"/>
              </a:rPr>
              <a:t>Ours: average 20 million, sigma 10 million: 20 + 2 x 10 = 40 million. A 35 million day stays under; 55 million crosses.</a:t>
            </a:r>
          </a:p>
          <a:p>
            <a:pPr algn="l">
              <a:lnSpc>
                <a:spcPct val="118000"/>
              </a:lnSpc>
              <a:spcBef>
                <a:spcPts val="0"/>
              </a:spcBef>
              <a:spcAft>
                <a:spcPts val="1300"/>
              </a:spcAft>
            </a:pPr>
            <a:r>
              <a:rPr sz="2100" b="0" i="0">
                <a:solidFill>
                  <a:srgbClr val="1A1A1A"/>
                </a:solidFill>
                <a:latin typeface="Arial"/>
              </a:rPr>
              <a:t>Rolling: redone daily over the latest 100 days. The August 2011 spikes lift it; some 100 days later, as they leave the window, it drops back.</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By eye or by formula: only volume above the line counts.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line and notes the spikes are all above it. Ours: the arithmetic, the 20 and 10 million, and which line it is, by eye.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Ours: ordinary bars trade 0.9 to 1.5 million shares. Upper level 4.0 million, lower 2.2, both by eye.</a:t>
            </a:r>
          </a:p>
          <a:p>
            <a:pPr algn="l">
              <a:lnSpc>
                <a:spcPct val="105000"/>
              </a:lnSpc>
              <a:spcBef>
                <a:spcPts val="0"/>
              </a:spcBef>
              <a:spcAft>
                <a:spcPts val="1100"/>
              </a:spcAft>
            </a:pPr>
            <a:r>
              <a:rPr sz="1500" b="0" i="0">
                <a:solidFill>
                  <a:srgbClr val="1A1A1A"/>
                </a:solidFill>
                <a:latin typeface="Arial"/>
              </a:rPr>
              <a:t>Upper: only the spikes of 4.6 million cross it, at 1, the top at PHP 60, and at 2, the bottom at PHP 42. Two signals, both major turns.</a:t>
            </a:r>
          </a:p>
          <a:p>
            <a:pPr algn="l">
              <a:lnSpc>
                <a:spcPct val="105000"/>
              </a:lnSpc>
              <a:spcBef>
                <a:spcPts val="0"/>
              </a:spcBef>
              <a:spcAft>
                <a:spcPts val="1100"/>
              </a:spcAft>
            </a:pPr>
            <a:r>
              <a:rPr sz="1500" b="0" i="0">
                <a:solidFill>
                  <a:srgbClr val="1A1A1A"/>
                </a:solidFill>
                <a:latin typeface="Arial"/>
              </a:rPr>
              <a:t>Lower: those two, plus spikes of 2.6 million at a, b and c, smaller corrections. Five signals.</a:t>
            </a:r>
          </a:p>
        </p:txBody>
      </p:sp>
      <p:sp>
        <p:nvSpPr>
          <p:cNvPr id="8" name="Rectangle 7"/>
          <p:cNvSpPr/>
          <p:nvPr/>
        </p:nvSpPr>
        <p:spPr>
          <a:xfrm>
            <a:off x="777240" y="434111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7769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Where the line goes decides which turns it signals.</a:t>
            </a:r>
          </a:p>
        </p:txBody>
      </p:sp>
      <p:sp>
        <p:nvSpPr>
          <p:cNvPr id="10" name="TextBox 9"/>
          <p:cNvSpPr txBox="1"/>
          <p:nvPr/>
        </p:nvSpPr>
        <p:spPr>
          <a:xfrm>
            <a:off x="777240" y="517626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Only the major turns: the upper line. The corrections too: the lower, which flags smaller moves.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every price and every volume are ours.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Volatility: how widely price swings. The bottom panel, a Bollinger Bandwidth oscillator, is the book's gauge of it here; the chapter does not say how it is calculated.</a:t>
            </a:r>
          </a:p>
          <a:p>
            <a:pPr algn="l">
              <a:lnSpc>
                <a:spcPct val="105000"/>
              </a:lnSpc>
              <a:spcBef>
                <a:spcPts val="0"/>
              </a:spcBef>
              <a:spcAft>
                <a:spcPts val="1100"/>
              </a:spcAft>
            </a:pPr>
            <a:r>
              <a:rPr sz="1600" b="0" i="0">
                <a:solidFill>
                  <a:srgbClr val="1A1A1A"/>
                </a:solidFill>
                <a:latin typeface="Arial"/>
              </a:rPr>
              <a:t>Thin upright lines join circled volatility spikes to volume crossing the overextension lines, and up to turns in price.</a:t>
            </a:r>
          </a:p>
          <a:p>
            <a:pPr algn="l">
              <a:lnSpc>
                <a:spcPct val="105000"/>
              </a:lnSpc>
              <a:spcBef>
                <a:spcPts val="0"/>
              </a:spcBef>
              <a:spcAft>
                <a:spcPts val="1100"/>
              </a:spcAft>
            </a:pPr>
            <a:r>
              <a:rPr sz="1600" b="0" i="0">
                <a:solidFill>
                  <a:srgbClr val="1A1A1A"/>
                </a:solidFill>
                <a:latin typeface="Arial"/>
              </a:rPr>
              <a:t>At 1 and 2, lows after sharp falls, volume and volatility spike together.</a:t>
            </a:r>
          </a:p>
        </p:txBody>
      </p:sp>
      <p:sp>
        <p:nvSpPr>
          <p:cNvPr id="8" name="Rectangle 7"/>
          <p:cNvSpPr/>
          <p:nvPr/>
        </p:nvSpPr>
        <p:spPr>
          <a:xfrm>
            <a:off x="777240" y="4965192"/>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different measures flag the same turns.</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two lows after sharp falls, at 1 and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The figure's caption calls 1 and 2 selling climaxes.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volatility spike adds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19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second, separate measure, price's swings, agreeing with volume at the same turns: evidence that corroborates, the chapter's first idea.</a:t>
            </a:r>
          </a:p>
          <a:p>
            <a:pPr algn="l">
              <a:lnSpc>
                <a:spcPct val="118000"/>
              </a:lnSpc>
              <a:spcBef>
                <a:spcPts val="0"/>
              </a:spcBef>
              <a:spcAft>
                <a:spcPts val="1300"/>
              </a:spcAft>
            </a:pPr>
            <a:r>
              <a:rPr sz="2100" b="0" i="0">
                <a:solidFill>
                  <a:srgbClr val="1A1A1A"/>
                </a:solidFill>
                <a:latin typeface="Arial"/>
              </a:rPr>
              <a:t>Two lines, by eye off the scale: below the dashed one, near 15, is noise, which many practitioners filter out. All four circled spikes clear it.</a:t>
            </a:r>
          </a:p>
          <a:p>
            <a:pPr algn="l">
              <a:lnSpc>
                <a:spcPct val="118000"/>
              </a:lnSpc>
              <a:spcBef>
                <a:spcPts val="0"/>
              </a:spcBef>
              <a:spcAft>
                <a:spcPts val="1300"/>
              </a:spcAft>
            </a:pPr>
            <a:r>
              <a:rPr sz="2100" b="0" i="0">
                <a:solidFill>
                  <a:srgbClr val="1A1A1A"/>
                </a:solidFill>
                <a:latin typeface="Arial"/>
              </a:rPr>
              <a:t>Only the spikes at 1 and 2 reach the historical volatility level, near 40: the major turns, as on the volume panel's upper line.</a:t>
            </a:r>
          </a:p>
          <a:p>
            <a:pPr algn="l">
              <a:lnSpc>
                <a:spcPct val="118000"/>
              </a:lnSpc>
              <a:spcBef>
                <a:spcPts val="0"/>
              </a:spcBef>
              <a:spcAft>
                <a:spcPts val="1300"/>
              </a:spcAft>
            </a:pPr>
            <a:r>
              <a:rPr sz="2100" b="0" i="0">
                <a:solidFill>
                  <a:srgbClr val="1A1A1A"/>
                </a:solidFill>
                <a:latin typeface="Arial"/>
              </a:rPr>
              <a:t>Both crossing together is stronger evidence; the book gives no weighting.</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 on volume: a low line for noise, a high one for the major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Evidence that corroborates: the chapter's first slide, p.173.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20 of 25</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top, or a bottom, made on very little volume. Ours: usual volume 2 million a day; a peak, or a trough, on 0.3 million.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6.16, Apple: seven circles where volume dips to a lower threshold; the book does not say how it is set. Each time line runs up to a turn, top or bottom.</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 The 2 and 0.3 million are ours.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low volume 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21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it means: when volume falls to its threshold, expect a turn, the book's tendency.</a:t>
            </a:r>
          </a:p>
          <a:p>
            <a:pPr algn="l">
              <a:lnSpc>
                <a:spcPct val="118000"/>
              </a:lnSpc>
              <a:spcBef>
                <a:spcPts val="0"/>
              </a:spcBef>
              <a:spcAft>
                <a:spcPts val="1300"/>
              </a:spcAft>
            </a:pPr>
            <a:r>
              <a:rPr sz="2100" b="0" i="0">
                <a:solidFill>
                  <a:srgbClr val="1A1A1A"/>
                </a:solidFill>
                <a:latin typeface="Arial"/>
              </a:rPr>
              <a:t>Why, by the book's reason for breakouts: those who wanted to trade have traded, so the move runs out of participants. The book gives that reason for breakouts, not for turns.</a:t>
            </a:r>
          </a:p>
          <a:p>
            <a:pPr algn="l">
              <a:lnSpc>
                <a:spcPct val="118000"/>
              </a:lnSpc>
              <a:spcBef>
                <a:spcPts val="0"/>
              </a:spcBef>
              <a:spcAft>
                <a:spcPts val="1300"/>
              </a:spcAft>
            </a:pPr>
            <a:r>
              <a:rPr sz="2100" b="0" i="0">
                <a:solidFill>
                  <a:srgbClr val="1A1A1A"/>
                </a:solidFill>
                <a:latin typeface="Arial"/>
              </a:rPr>
              <a:t>Top or bottom: the touch does not say. Wait for price to show which it was.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going quiet says a turn may come; price says which.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 and 185. The reason is the book's for breakouts, p.180; it gives none for these turns.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22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to the spikes, with one caution.</a:t>
            </a:r>
          </a:p>
          <a:p>
            <a:pPr algn="l">
              <a:lnSpc>
                <a:spcPct val="105000"/>
              </a:lnSpc>
              <a:spcBef>
                <a:spcPts val="0"/>
              </a:spcBef>
              <a:spcAft>
                <a:spcPts val="1100"/>
              </a:spcAft>
            </a:pPr>
            <a:r>
              <a:rPr sz="1500" b="0" i="0">
                <a:solidFill>
                  <a:srgbClr val="1A1A1A"/>
                </a:solidFill>
                <a:latin typeface="Arial"/>
              </a:rPr>
              <a:t>Overextended volume can signal a top or a bottom: extreme buying and selling both generate volume.</a:t>
            </a:r>
          </a:p>
          <a:p>
            <a:pPr algn="l">
              <a:lnSpc>
                <a:spcPct val="105000"/>
              </a:lnSpc>
              <a:spcBef>
                <a:spcPts val="0"/>
              </a:spcBef>
              <a:spcAft>
                <a:spcPts val="1100"/>
              </a:spcAft>
            </a:pPr>
            <a:r>
              <a:rPr sz="1500" b="0" i="0">
                <a:solidFill>
                  <a:srgbClr val="1A1A1A"/>
                </a:solidFill>
                <a:latin typeface="Arial"/>
              </a:rPr>
              <a:t>Overbought: an extreme tied to a top; oversold, to a bottom: the book's usage. Plain words, ours: risen too far, fallen too far.</a:t>
            </a:r>
          </a:p>
          <a:p>
            <a:pPr algn="l">
              <a:lnSpc>
                <a:spcPct val="105000"/>
              </a:lnSpc>
              <a:spcBef>
                <a:spcPts val="0"/>
              </a:spcBef>
              <a:spcAft>
                <a:spcPts val="1100"/>
              </a:spcAft>
            </a:pPr>
            <a:r>
              <a:rPr sz="1500" b="0" i="0">
                <a:solidFill>
                  <a:srgbClr val="1A1A1A"/>
                </a:solidFill>
                <a:latin typeface="Arial"/>
              </a:rPr>
              <a:t>Our chart: the same 9 million spike twice. Price rose into it, then fell: a top. Or fell, then rose: a bottom.</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Overextension: pinpointed now. Overbought or oversold: only in retrospect.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with our invented volumes. Overbought and oversold are used and not defined in this chapter.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caution teaches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point: a volume spike tells you something is happening, not what. Volume alone cannot call a market overbought or oversold.</a:t>
            </a:r>
          </a:p>
          <a:p>
            <a:pPr algn="l">
              <a:lnSpc>
                <a:spcPct val="118000"/>
              </a:lnSpc>
              <a:spcBef>
                <a:spcPts val="0"/>
              </a:spcBef>
              <a:spcAft>
                <a:spcPts val="1300"/>
              </a:spcAft>
            </a:pPr>
            <a:r>
              <a:rPr sz="2100" b="0" i="0">
                <a:solidFill>
                  <a:srgbClr val="1A1A1A"/>
                </a:solidFill>
                <a:latin typeface="Arial"/>
              </a:rPr>
              <a:t>So do not trade the spike alone: name the overextension now, and wait for price to show which way it turned.</a:t>
            </a:r>
          </a:p>
          <a:p>
            <a:pPr algn="l">
              <a:lnSpc>
                <a:spcPct val="118000"/>
              </a:lnSpc>
              <a:spcBef>
                <a:spcPts val="0"/>
              </a:spcBef>
              <a:spcAft>
                <a:spcPts val="1300"/>
              </a:spcAft>
            </a:pPr>
            <a:r>
              <a:rPr sz="2100" b="0" i="0">
                <a:solidFill>
                  <a:srgbClr val="1A1A1A"/>
                </a:solidFill>
                <a:latin typeface="Arial"/>
              </a:rPr>
              <a:t>It returns to the spikes because the book puts the caution here, p.186.</a:t>
            </a:r>
          </a:p>
          <a:p>
            <a:pPr algn="l">
              <a:lnSpc>
                <a:spcPct val="118000"/>
              </a:lnSpc>
              <a:spcBef>
                <a:spcPts val="0"/>
              </a:spcBef>
              <a:spcAft>
                <a:spcPts val="1300"/>
              </a:spcAft>
            </a:pPr>
            <a:r>
              <a:rPr sz="2100" b="0" i="0">
                <a:solidFill>
                  <a:srgbClr val="1A1A1A"/>
                </a:solidFill>
                <a:latin typeface="Arial"/>
              </a:rPr>
              <a:t>The book is silent on two things: whether the quiet turns carry it too, and what overbought and oversold mean.</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says a turn is likely; price says which kind it was.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Where the caution sits is the book's order. That it is silent on the quiet turns is a reading of p.186, which names overextensions only.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24 of 25</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Timeframe: the time one bar covers. A monthly bar adds up every day of the month.</a:t>
            </a:r>
          </a:p>
          <a:p>
            <a:pPr algn="l">
              <a:lnSpc>
                <a:spcPct val="105000"/>
              </a:lnSpc>
              <a:spcBef>
                <a:spcPts val="0"/>
              </a:spcBef>
              <a:spcAft>
                <a:spcPts val="1100"/>
              </a:spcAft>
            </a:pPr>
            <a:r>
              <a:rPr sz="1600" b="0" i="0">
                <a:solidFill>
                  <a:srgbClr val="1A1A1A"/>
                </a:solidFill>
                <a:latin typeface="Arial"/>
              </a:rPr>
              <a:t>Figure 6.17, gold: daily and weekly volume peak in 2013, circled at far right; monthly, quarterly and yearly peak in 2011.</a:t>
            </a:r>
          </a:p>
          <a:p>
            <a:pPr algn="l">
              <a:lnSpc>
                <a:spcPct val="105000"/>
              </a:lnSpc>
              <a:spcBef>
                <a:spcPts val="0"/>
              </a:spcBef>
              <a:spcAft>
                <a:spcPts val="1100"/>
              </a:spcAft>
            </a:pPr>
            <a:r>
              <a:rPr sz="1600" b="0" i="0">
                <a:solidFill>
                  <a:srgbClr val="1A1A1A"/>
                </a:solidFill>
                <a:latin typeface="Arial"/>
              </a:rPr>
              <a:t>Ours: a record 2013 day of 10 million, in a month of 19 quiet days of 3 million: 10 + 57 = 67 million.</a:t>
            </a:r>
          </a:p>
          <a:p>
            <a:pPr algn="l">
              <a:lnSpc>
                <a:spcPct val="105000"/>
              </a:lnSpc>
              <a:spcBef>
                <a:spcPts val="0"/>
              </a:spcBef>
              <a:spcAft>
                <a:spcPts val="1100"/>
              </a:spcAft>
            </a:pPr>
            <a:r>
              <a:rPr sz="1600" b="0" i="0">
                <a:solidFill>
                  <a:srgbClr val="1A1A1A"/>
                </a:solidFill>
                <a:latin typeface="Arial"/>
              </a:rPr>
              <a:t>A 2011 month with no record day, 20 days of 6 million: 120 million, the monthly peak.</a:t>
            </a:r>
          </a:p>
        </p:txBody>
      </p:sp>
      <p:sp>
        <p:nvSpPr>
          <p:cNvPr id="8" name="Rectangle 7"/>
          <p:cNvSpPr/>
          <p:nvPr/>
        </p:nvSpPr>
        <p:spPr>
          <a:xfrm>
            <a:off x="777240" y="487375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10328"/>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Lower timeframes are more sensitive: one day's burst shows. Higher ones show the overall trend of volume.</a:t>
            </a:r>
          </a:p>
        </p:txBody>
      </p:sp>
      <p:sp>
        <p:nvSpPr>
          <p:cNvPr id="10" name="TextBox 9"/>
          <p:cNvSpPr txBox="1"/>
          <p:nvPr/>
        </p:nvSpPr>
        <p:spPr>
          <a:xfrm>
            <a:off x="777240" y="5739384"/>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daily to spot a single burst, monthly or higher to see the trend in volume.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 The 10, 3 and 6 million are ours, to show the arithmetic.</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Daily: the tallest bar is one spike of 6.0 million shares, late in the record, at 1.</a:t>
            </a:r>
          </a:p>
          <a:p>
            <a:pPr algn="l">
              <a:lnSpc>
                <a:spcPct val="105000"/>
              </a:lnSpc>
              <a:spcBef>
                <a:spcPts val="0"/>
              </a:spcBef>
              <a:spcAft>
                <a:spcPts val="1100"/>
              </a:spcAft>
            </a:pPr>
            <a:r>
              <a:rPr sz="1700" b="0" i="0">
                <a:solidFill>
                  <a:srgbClr val="1A1A1A"/>
                </a:solidFill>
                <a:latin typeface="Arial"/>
              </a:rPr>
              <a:t>Monthly, the same days added twenty at a time: the spike's month comes to only 24.4 million, one big day and nineteen of about 1 million.</a:t>
            </a:r>
          </a:p>
          <a:p>
            <a:pPr algn="l">
              <a:lnSpc>
                <a:spcPct val="105000"/>
              </a:lnSpc>
              <a:spcBef>
                <a:spcPts val="0"/>
              </a:spcBef>
              <a:spcAft>
                <a:spcPts val="1100"/>
              </a:spcAft>
            </a:pPr>
            <a:r>
              <a:rPr sz="1700" b="0" i="0">
                <a:solidFill>
                  <a:srgbClr val="1A1A1A"/>
                </a:solidFill>
                <a:latin typeface="Arial"/>
              </a:rPr>
              <a:t>The busiest month, 2, comes earlier: no day above 3.5 million, but twenty of them add to 55.7 million.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 and the sums are read from 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Support 1.</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Support 2.</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0" i="0">
                <a:solidFill>
                  <a:srgbClr val="1A1A1A"/>
                </a:solidFill>
                <a:latin typeface="Arial"/>
              </a:rPr>
              <a:t>1 Increasing: each bar taller. 2 Decreasing: each shorter. 3 Peaking: tallest at the touch.</a:t>
            </a:r>
          </a:p>
          <a:p>
            <a:pPr algn="l">
              <a:lnSpc>
                <a:spcPct val="105000"/>
              </a:lnSpc>
              <a:spcBef>
                <a:spcPts val="0"/>
              </a:spcBef>
              <a:spcAft>
                <a:spcPts val="1100"/>
              </a:spcAft>
            </a:pPr>
            <a:r>
              <a:rPr sz="1700" b="0" i="0">
                <a:solidFill>
                  <a:srgbClr val="1A1A1A"/>
                </a:solidFill>
                <a:latin typeface="Arial"/>
              </a:rPr>
              <a:t>4 Bottoming: shortest at the touch. 5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21</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1 to 4, as an empty box, the range, over a black box, the volume.</a:t>
            </a:r>
          </a:p>
          <a:p>
            <a:pPr algn="l">
              <a:lnSpc>
                <a:spcPct val="105000"/>
              </a:lnSpc>
              <a:spcBef>
                <a:spcPts val="0"/>
              </a:spcBef>
              <a:spcAft>
                <a:spcPts val="1100"/>
              </a:spcAft>
            </a:pPr>
            <a:r>
              <a:rPr sz="1700" b="0" i="0">
                <a:solidFill>
                  <a:srgbClr val="1A1A1A"/>
                </a:solidFill>
                <a:latin typeface="Arial"/>
              </a:rPr>
              <a:t>1 short range, low volume; 2 short, high; 3 tall, low; 4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an empty box for the bar range over a black box for the volume. 1 short on low, 2 short on high, 3 tall on low, 4 tall on high.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(Figure 6.43).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sets no start; we start at 0 on day 1, with no day before it. Up days: 2.0 + 3.0 = 5.0 million; down days: 1.5 + 1.0 = 2.5. OBV: 2.5.</a:t>
            </a:r>
          </a:p>
          <a:p>
            <a:pPr algn="l">
              <a:lnSpc>
                <a:spcPct val="118000"/>
              </a:lnSpc>
              <a:spcBef>
                <a:spcPts val="0"/>
              </a:spcBef>
              <a:spcAft>
                <a:spcPts val="1300"/>
              </a:spcAft>
            </a:pPr>
            <a:r>
              <a:rPr sz="2100" b="0" i="0">
                <a:solidFill>
                  <a:srgbClr val="1A1A1A"/>
                </a:solidFill>
                <a:latin typeface="Arial"/>
              </a:rPr>
              <a:t>Rising OBV: more volume on up closes than down closes. Falling: the reverse.</a:t>
            </a:r>
          </a:p>
          <a:p>
            <a:pPr algn="l">
              <a:lnSpc>
                <a:spcPct val="118000"/>
              </a:lnSpc>
              <a:spcBef>
                <a:spcPts val="0"/>
              </a:spcBef>
              <a:spcAft>
                <a:spcPts val="1300"/>
              </a:spcAft>
            </a:pPr>
            <a:r>
              <a:rPr sz="21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it by rises and falls against price, not by level: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is added or subtracted regardless of the bar's own behavior.</a:t>
            </a:r>
          </a:p>
          <a:p>
            <a:pPr algn="l">
              <a:lnSpc>
                <a:spcPct val="105000"/>
              </a:lnSpc>
              <a:spcBef>
                <a:spcPts val="0"/>
              </a:spcBef>
              <a:spcAft>
                <a:spcPts val="1100"/>
              </a:spcAft>
            </a:pPr>
            <a:r>
              <a:rPr sz="17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700" b="0" i="0">
                <a:solidFill>
                  <a:srgbClr val="1A1A1A"/>
                </a:solidFill>
                <a:latin typeface="Arial"/>
              </a:rPr>
              <a:t>Bar 2 closed lower, so all its 3.0 million is subtracted.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 redress it, that is, to put it right,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First arrow, March to April 2011: equal peaks near 4.5; the OBV falls.</a:t>
            </a:r>
          </a:p>
          <a:p>
            <a:pPr algn="l">
              <a:lnSpc>
                <a:spcPct val="105000"/>
              </a:lnSpc>
              <a:spcBef>
                <a:spcPts val="0"/>
              </a:spcBef>
              <a:spcAft>
                <a:spcPts val="1100"/>
              </a:spcAft>
            </a:pPr>
            <a:r>
              <a:rPr sz="1700" b="0" i="0">
                <a:solidFill>
                  <a:srgbClr val="1A1A1A"/>
                </a:solidFill>
                <a:latin typeface="Arial"/>
              </a:rPr>
              <a:t>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while price holds or rises.</a:t>
            </a:r>
          </a:p>
          <a:p>
            <a:pPr algn="l">
              <a:lnSpc>
                <a:spcPct val="105000"/>
              </a:lnSpc>
              <a:spcBef>
                <a:spcPts val="0"/>
              </a:spcBef>
              <a:spcAft>
                <a:spcPts val="1100"/>
              </a:spcAft>
            </a:pPr>
            <a:r>
              <a:rPr sz="1700" b="0" i="0">
                <a:solidFill>
                  <a:srgbClr val="1A1A1A"/>
                </a:solidFill>
                <a:latin typeface="Arial"/>
              </a:rPr>
              <a:t>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makes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the book says.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disagree: wait for price to confirm a reversal, as in Figure 6.44, where price breaks its own trendline.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Together, trend-following; apart, range-bound.</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ADL's factor runs from -1 to +1, so no S is bigger than its bar's volume. So the CMF also runs from -1 to +1.</a:t>
            </a:r>
          </a:p>
          <a:p>
            <a:pPr algn="l">
              <a:lnSpc>
                <a:spcPct val="118000"/>
              </a:lnSpc>
              <a:spcBef>
                <a:spcPts val="0"/>
              </a:spcBef>
              <a:spcAft>
                <a:spcPts val="1300"/>
              </a:spcAft>
            </a:pPr>
            <a:r>
              <a:rPr sz="2100" b="0" i="0">
                <a:solidFill>
                  <a:srgbClr val="1A1A1A"/>
                </a:solidFill>
                <a:latin typeface="Arial"/>
              </a:rPr>
              <a:t>+1: every bar closed at its high. -1: every bar closed at its low. 0: on balance, the closes sat at their midpoints.</a:t>
            </a:r>
          </a:p>
          <a:p>
            <a:pPr algn="l">
              <a:lnSpc>
                <a:spcPct val="118000"/>
              </a:lnSpc>
              <a:spcBef>
                <a:spcPts val="0"/>
              </a:spcBef>
              <a:spcAft>
                <a:spcPts val="1300"/>
              </a:spcAft>
            </a:pPr>
            <a:r>
              <a:rPr sz="2100" b="0" i="0">
                <a:solidFill>
                  <a:srgbClr val="1A1A1A"/>
                </a:solidFill>
                <a:latin typeface="Arial"/>
              </a:rPr>
              <a:t>Our 0.17: of 6.0 million traded, a net 1.0 million counts as added. Above 0, on balance the volume came with closes above their midpoints.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reading is our arithmetic. The book reads the CMF only by a line and an oversold level, Figure 6.43.</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The book gives no reading of the CMF's value.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EMA, exponential moving average: a moving average of the last few values, like Part 3's smoothed volume. This chapter never says how it weights them.</a:t>
            </a:r>
          </a:p>
          <a:p>
            <a:pPr algn="l">
              <a:lnSpc>
                <a:spcPct val="118000"/>
              </a:lnSpc>
              <a:spcBef>
                <a:spcPts val="0"/>
              </a:spcBef>
              <a:spcAft>
                <a:spcPts val="1300"/>
              </a:spcAft>
            </a:pPr>
            <a:r>
              <a:rPr sz="2100" b="0" i="0">
                <a:solidFill>
                  <a:srgbClr val="1A1A1A"/>
                </a:solidFill>
                <a:latin typeface="Arial"/>
              </a:rPr>
              <a:t>A 3-bar EMA follows the running total closely; a 10-bar one follows it slowly.</a:t>
            </a:r>
          </a:p>
          <a:p>
            <a:pPr algn="l">
              <a:lnSpc>
                <a:spcPct val="118000"/>
              </a:lnSpc>
              <a:spcBef>
                <a:spcPts val="0"/>
              </a:spcBef>
              <a:spcAft>
                <a:spcPts val="1300"/>
              </a:spcAft>
            </a:pPr>
            <a:r>
              <a:rPr sz="2100" b="0" i="0">
                <a:solidFill>
                  <a:srgbClr val="1A1A1A"/>
                </a:solidFill>
                <a:latin typeface="Arial"/>
              </a:rPr>
              <a:t>Above 0, the recent average is above the longer one: the total has been rising lately. Below 0, falling. Ours: the book gives no reading of the sign.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Figure 6.43, next: CMF(20) is N = 20; ChiOsc(3,10) is EMAs of 3 and 10 bars.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Commercials: hedgers, holding non-cash positions, a phrase the book never explains.</a:t>
            </a:r>
          </a:p>
          <a:p>
            <a:pPr algn="l">
              <a:lnSpc>
                <a:spcPct val="118000"/>
              </a:lnSpc>
              <a:spcBef>
                <a:spcPts val="0"/>
              </a:spcBef>
              <a:spcAft>
                <a:spcPts val="1300"/>
              </a:spcAft>
            </a:pPr>
            <a:r>
              <a:rPr sz="2100" b="0" i="0">
                <a:solidFill>
                  <a:srgbClr val="1A1A1A"/>
                </a:solidFill>
                <a:latin typeface="Arial"/>
              </a:rPr>
              <a:t>The book: traders use it to identify potential tops and bottoms, by two things.</a:t>
            </a:r>
          </a:p>
          <a:p>
            <a:pPr algn="l">
              <a:lnSpc>
                <a:spcPct val="118000"/>
              </a:lnSpc>
              <a:spcBef>
                <a:spcPts val="0"/>
              </a:spcBef>
              <a:spcAft>
                <a:spcPts val="1300"/>
              </a:spcAft>
            </a:pPr>
            <a:r>
              <a:rPr sz="2100" b="0" i="0">
                <a:solidFill>
                  <a:srgbClr val="1A1A1A"/>
                </a:solidFill>
                <a:latin typeface="Arial"/>
              </a:rPr>
              <a:t>1  Changes in net commercial or non-commercial positions. Net: never defined.</a:t>
            </a:r>
          </a:p>
          <a:p>
            <a:pPr algn="l">
              <a:lnSpc>
                <a:spcPct val="118000"/>
              </a:lnSpc>
              <a:spcBef>
                <a:spcPts val="0"/>
              </a:spcBef>
              <a:spcAft>
                <a:spcPts val="1300"/>
              </a:spcAft>
            </a:pPr>
            <a:r>
              <a:rPr sz="2100" b="0" i="0">
                <a:solidFill>
                  <a:srgbClr val="1A1A1A"/>
                </a:solidFill>
                <a:latin typeface="Arial"/>
              </a:rPr>
              <a:t>2  Open interest testing a significant or historical level: back at an old level.</a:t>
            </a:r>
          </a:p>
        </p:txBody>
      </p:sp>
      <p:sp>
        <p:nvSpPr>
          <p:cNvPr id="8" name="Rectangle 7"/>
          <p:cNvSpPr/>
          <p:nvPr/>
        </p:nvSpPr>
        <p:spPr>
          <a:xfrm>
            <a:off x="777240" y="4896612"/>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Ours: treat either as a warning, and wait for price to confirm (Figure 6.41).</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the text calls price potentially bullish, then a paragraph later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in the text; Figure 6.44's line runs below zero, which a ratio cannot.</a:t>
            </a:r>
          </a:p>
          <a:p>
            <a:pPr algn="l">
              <a:lnSpc>
                <a:spcPct val="118000"/>
              </a:lnSpc>
              <a:spcBef>
                <a:spcPts val="0"/>
              </a:spcBef>
              <a:spcAft>
                <a:spcPts val="1300"/>
              </a:spcAft>
            </a:pPr>
            <a:r>
              <a:rPr sz="2100" b="0" i="0">
                <a:solidFill>
                  <a:srgbClr val="1A1A1A"/>
                </a:solidFill>
                <a:latin typeface="Arial"/>
              </a:rPr>
              <a:t>Bullish divergence (Part 1): downtrends only, says the text; Figure 6.6 shows it in dips inside an uptrend.</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If asked, give both readings.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figure captions that disagree with their chart or 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6.6 (Part 1): captioned daily; the chart itself is labelled weekly.</a:t>
            </a:r>
          </a:p>
          <a:p>
            <a:pPr algn="l">
              <a:lnSpc>
                <a:spcPct val="118000"/>
              </a:lnSpc>
              <a:spcBef>
                <a:spcPts val="0"/>
              </a:spcBef>
              <a:spcAft>
                <a:spcPts val="1300"/>
              </a:spcAft>
            </a:pPr>
            <a:r>
              <a:rPr sz="2100" b="0" i="0">
                <a:solidFill>
                  <a:srgbClr val="1A1A1A"/>
                </a:solidFill>
                <a:latin typeface="Arial"/>
              </a:rPr>
              <a:t>Figure 6.11 (Part 2): captioned a VWMA on a daily chart; it is a VWAP on 10-minute bars.</a:t>
            </a:r>
          </a:p>
          <a:p>
            <a:pPr algn="l">
              <a:lnSpc>
                <a:spcPct val="118000"/>
              </a:lnSpc>
              <a:spcBef>
                <a:spcPts val="0"/>
              </a:spcBef>
              <a:spcAft>
                <a:spcPts val="1300"/>
              </a:spcAft>
            </a:pPr>
            <a:r>
              <a:rPr sz="2100" b="0" i="0">
                <a:solidFill>
                  <a:srgbClr val="1A1A1A"/>
                </a:solidFill>
                <a:latin typeface="Arial"/>
              </a:rPr>
              <a:t>Figure 6.23 (Part 3): captioned silver; the text calls it USDJPY, then silver.</a:t>
            </a:r>
          </a:p>
          <a:p>
            <a:pPr algn="l">
              <a:lnSpc>
                <a:spcPct val="118000"/>
              </a:lnSpc>
              <a:spcBef>
                <a:spcPts val="0"/>
              </a:spcBef>
              <a:spcAft>
                <a:spcPts val="1300"/>
              </a:spcAft>
            </a:pPr>
            <a:r>
              <a:rPr sz="2100" b="0" i="0">
                <a:solidFill>
                  <a:srgbClr val="1A1A1A"/>
                </a:solidFill>
                <a:latin typeface="Arial"/>
              </a:rPr>
              <a:t>Figures 6.25 and 6.26 (Part 4): captioned daily; both charts are intraday.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Read the chart, and name both.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Each is also named on its own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