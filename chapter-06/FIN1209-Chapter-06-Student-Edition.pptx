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sketches, not prices.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700" b="0" i="0">
                <a:solidFill>
                  <a:srgbClr val="1A1A1A"/>
                </a:solidFill>
                <a:latin typeface="Arial"/>
              </a:rPr>
              <a:t>2, 8 and 10: volume declines in a consolidation, timing the breakout (why: Part 2).</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the end of 2, 8 and 10, price breaks out as volume reaches its minimum.</a:t>
            </a:r>
          </a:p>
        </p:txBody>
      </p:sp>
      <p:sp>
        <p:nvSpPr>
          <p:cNvPr id="10" name="TextBox 9"/>
          <p:cNvSpPr txBox="1"/>
          <p:nvPr/>
        </p:nvSpPr>
        <p:spPr>
          <a:xfrm>
            <a:off x="777240" y="502691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1, 2 and 4 are bullish volume. In 3 price moves sideways: no reading, Part 2.</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17</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Support or resistance formed at a volume peak: the most reliable, the strongest barrier to future retests.</a:t>
            </a:r>
          </a:p>
          <a:p>
            <a:pPr algn="l">
              <a:lnSpc>
                <a:spcPct val="105000"/>
              </a:lnSpc>
              <a:spcBef>
                <a:spcPts val="0"/>
              </a:spcBef>
              <a:spcAft>
                <a:spcPts val="1100"/>
              </a:spcAft>
            </a:pPr>
            <a:r>
              <a:rPr sz="1700" b="0" i="0">
                <a:solidFill>
                  <a:srgbClr val="1A1A1A"/>
                </a:solidFill>
                <a:latin typeface="Arial"/>
              </a:rPr>
              <a:t>Why: even with the surge in volume, price could not get through. Traders expect it to hold.</a:t>
            </a:r>
          </a:p>
          <a:p>
            <a:pPr algn="l">
              <a:lnSpc>
                <a:spcPct val="105000"/>
              </a:lnSpc>
              <a:spcBef>
                <a:spcPts val="0"/>
              </a:spcBef>
              <a:spcAft>
                <a:spcPts val="1100"/>
              </a:spcAft>
            </a:pPr>
            <a:r>
              <a:rPr sz="1700" b="0" i="0">
                <a:solidFill>
                  <a:srgbClr val="1A1A1A"/>
                </a:solidFill>
                <a:latin typeface="Arial"/>
              </a:rPr>
              <a:t>Formed across a volume dip or trough: less reliable. It held only for lack of interest.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Resistance 1 and Support 1 are the more reliable barriers.</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the reasons are the book's. Barrier: Chapter 5, a support below price or a resistance above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17</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Volume increasing across support or resistance.</a:t>
            </a:r>
          </a:p>
          <a:p>
            <a:pPr algn="l">
              <a:lnSpc>
                <a:spcPct val="105000"/>
              </a:lnSpc>
              <a:spcBef>
                <a:spcPts val="0"/>
              </a:spcBef>
              <a:spcAft>
                <a:spcPts val="1100"/>
              </a:spcAft>
            </a:pPr>
            <a:r>
              <a:rPr sz="1800" b="0" i="0">
                <a:solidFill>
                  <a:srgbClr val="1A1A1A"/>
                </a:solidFill>
                <a:latin typeface="Arial"/>
              </a:rPr>
              <a:t>2  Volume decreasing across it.</a:t>
            </a:r>
          </a:p>
          <a:p>
            <a:pPr algn="l">
              <a:lnSpc>
                <a:spcPct val="105000"/>
              </a:lnSpc>
              <a:spcBef>
                <a:spcPts val="0"/>
              </a:spcBef>
              <a:spcAft>
                <a:spcPts val="1100"/>
              </a:spcAft>
            </a:pPr>
            <a:r>
              <a:rPr sz="1800" b="0" i="0">
                <a:solidFill>
                  <a:srgbClr val="1A1A1A"/>
                </a:solidFill>
                <a:latin typeface="Arial"/>
              </a:rPr>
              <a:t>3  Volume peaking at it.</a:t>
            </a:r>
          </a:p>
          <a:p>
            <a:pPr algn="l">
              <a:lnSpc>
                <a:spcPct val="105000"/>
              </a:lnSpc>
              <a:spcBef>
                <a:spcPts val="0"/>
              </a:spcBef>
              <a:spcAft>
                <a:spcPts val="1100"/>
              </a:spcAft>
            </a:pPr>
            <a:r>
              <a:rPr sz="1800" b="0" i="0">
                <a:solidFill>
                  <a:srgbClr val="1A1A1A"/>
                </a:solidFill>
                <a:latin typeface="Arial"/>
              </a:rPr>
              <a:t>4  Volume bottoming at it.</a:t>
            </a:r>
          </a:p>
          <a:p>
            <a:pPr algn="l">
              <a:lnSpc>
                <a:spcPct val="105000"/>
              </a:lnSpc>
              <a:spcBef>
                <a:spcPts val="0"/>
              </a:spcBef>
              <a:spcAft>
                <a:spcPts val="1100"/>
              </a:spcAft>
            </a:pPr>
            <a:r>
              <a:rPr sz="1800" b="0" i="0">
                <a:solidFill>
                  <a:srgbClr val="1A1A1A"/>
                </a:solidFill>
                <a:latin typeface="Arial"/>
              </a:rPr>
              <a:t>5  Volume flatlining across it.</a:t>
            </a:r>
          </a:p>
        </p:txBody>
      </p:sp>
      <p:sp>
        <p:nvSpPr>
          <p:cNvPr id="8" name="Rectangle 7"/>
          <p:cNvSpPr/>
          <p:nvPr/>
        </p:nvSpPr>
        <p:spPr>
          <a:xfrm>
            <a:off x="777240" y="471830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4880"/>
            <a:ext cx="44622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Increasing or decreasing volume across a barrier signifies a change in sentiment there.</a:t>
            </a:r>
          </a:p>
        </p:txBody>
      </p:sp>
      <p:sp>
        <p:nvSpPr>
          <p:cNvPr id="10" name="Rectangle 9"/>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five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Increasing: volume picks up as price reverses, driving it away with confirmation.</a:t>
            </a:r>
          </a:p>
          <a:p>
            <a:pPr algn="l">
              <a:lnSpc>
                <a:spcPct val="105000"/>
              </a:lnSpc>
              <a:spcBef>
                <a:spcPts val="0"/>
              </a:spcBef>
              <a:spcAft>
                <a:spcPts val="1100"/>
              </a:spcAft>
            </a:pPr>
            <a:r>
              <a:rPr sz="1800" b="0" i="0">
                <a:solidFill>
                  <a:srgbClr val="1A1A1A"/>
                </a:solidFill>
                <a:latin typeface="Arial"/>
              </a:rPr>
              <a:t>Decreasing: too little force, and less on the way back. A retest is likely; in extreme cases, a penetration.</a:t>
            </a:r>
          </a:p>
          <a:p>
            <a:pPr algn="l">
              <a:lnSpc>
                <a:spcPct val="105000"/>
              </a:lnSpc>
              <a:spcBef>
                <a:spcPts val="0"/>
              </a:spcBef>
              <a:spcAft>
                <a:spcPts val="1100"/>
              </a:spcAft>
            </a:pPr>
            <a:r>
              <a:rPr sz="1800" b="0" i="0">
                <a:solidFill>
                  <a:srgbClr val="1A1A1A"/>
                </a:solidFill>
                <a:latin typeface="Arial"/>
              </a:rPr>
              <a:t>Peaking: most reliable. Bottoming: less reliable. Flatlining: not enough information.</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Rising volume backs a barrier; falling volume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what each tells. The chart is ours: sketches, not prices, each case at a support, with the book's outcome written on it.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action. The book lists four ways:</a:t>
            </a:r>
          </a:p>
          <a:p>
            <a:pPr algn="l">
              <a:lnSpc>
                <a:spcPct val="105000"/>
              </a:lnSpc>
              <a:spcBef>
                <a:spcPts val="0"/>
              </a:spcBef>
              <a:spcAft>
                <a:spcPts val="1100"/>
              </a:spcAft>
            </a:pPr>
            <a:r>
              <a:rPr sz="1700" b="0" i="0">
                <a:solidFill>
                  <a:srgbClr val="1A1A1A"/>
                </a:solidFill>
                <a:latin typeface="Arial"/>
              </a:rPr>
              <a:t>1  A moving average filter.</a:t>
            </a:r>
          </a:p>
          <a:p>
            <a:pPr algn="l">
              <a:lnSpc>
                <a:spcPct val="105000"/>
              </a:lnSpc>
              <a:spcBef>
                <a:spcPts val="0"/>
              </a:spcBef>
              <a:spcAft>
                <a:spcPts val="1100"/>
              </a:spcAft>
            </a:pPr>
            <a:r>
              <a:rPr sz="1700" b="0" i="0">
                <a:solidFill>
                  <a:srgbClr val="1A1A1A"/>
                </a:solidFill>
                <a:latin typeface="Arial"/>
              </a:rPr>
              <a:t>2  A volatility filter.</a:t>
            </a:r>
          </a:p>
          <a:p>
            <a:pPr algn="l">
              <a:lnSpc>
                <a:spcPct val="105000"/>
              </a:lnSpc>
              <a:spcBef>
                <a:spcPts val="0"/>
              </a:spcBef>
              <a:spcAft>
                <a:spcPts val="1100"/>
              </a:spcAft>
            </a:pPr>
            <a:r>
              <a:rPr sz="1700" b="0" i="0">
                <a:solidFill>
                  <a:srgbClr val="1A1A1A"/>
                </a:solidFill>
                <a:latin typeface="Arial"/>
              </a:rPr>
              <a:t>3  Prior volume peaks.</a:t>
            </a:r>
          </a:p>
          <a:p>
            <a:pPr algn="l">
              <a:lnSpc>
                <a:spcPct val="105000"/>
              </a:lnSpc>
              <a:spcBef>
                <a:spcPts val="0"/>
              </a:spcBef>
              <a:spcAft>
                <a:spcPts val="1100"/>
              </a:spcAft>
            </a:pPr>
            <a:r>
              <a:rPr sz="1700" b="0" i="0">
                <a:solidFill>
                  <a:srgbClr val="1A1A1A"/>
                </a:solidFill>
                <a:latin typeface="Arial"/>
              </a:rPr>
              <a:t>4  Volume cycles.</a:t>
            </a:r>
          </a:p>
        </p:txBody>
      </p:sp>
      <p:sp>
        <p:nvSpPr>
          <p:cNvPr id="8" name="Rectangle 7"/>
          <p:cNvSpPr/>
          <p:nvPr/>
        </p:nvSpPr>
        <p:spPr>
          <a:xfrm>
            <a:off x="777240" y="462229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5886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one draws a line, or a rhythm, that only significant volume crosses.</a:t>
            </a:r>
          </a:p>
        </p:txBody>
      </p:sp>
      <p:sp>
        <p:nvSpPr>
          <p:cNvPr id="10" name="TextBox 9"/>
          <p:cNvSpPr txBox="1"/>
          <p:nvPr/>
        </p:nvSpPr>
        <p:spPr>
          <a:xfrm>
            <a:off x="777240" y="55184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Prior volume peaks: the overextension levels of Part 2. Volume cycles: Part 5. The first two follow now.</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four, as listed. The chart is ours: one small sketch of each, on invented volume.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17</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three-sigma filter, run on the book's daily USDJPY chart.</a:t>
            </a:r>
          </a:p>
          <a:p>
            <a:pPr algn="l">
              <a:lnSpc>
                <a:spcPct val="105000"/>
              </a:lnSpc>
              <a:spcBef>
                <a:spcPts val="0"/>
              </a:spcBef>
              <a:spcAft>
                <a:spcPts val="1100"/>
              </a:spcAft>
            </a:pPr>
            <a:r>
              <a:rPr sz="1700" b="0" i="0">
                <a:solidFill>
                  <a:srgbClr val="1A1A1A"/>
                </a:solidFill>
                <a:latin typeface="Arial"/>
              </a:rPr>
              <a:t>Each arrow runs from a bar crossing the stepped 3-sigma line up to price that day. Only three cross.</a:t>
            </a:r>
          </a:p>
          <a:p>
            <a:pPr algn="l">
              <a:lnSpc>
                <a:spcPct val="105000"/>
              </a:lnSpc>
              <a:spcBef>
                <a:spcPts val="0"/>
              </a:spcBef>
              <a:spcAft>
                <a:spcPts val="1100"/>
              </a:spcAft>
            </a:pPr>
            <a:r>
              <a:rPr sz="1700" b="0" i="0">
                <a:solidFill>
                  <a:srgbClr val="1A1A1A"/>
                </a:solidFill>
                <a:latin typeface="Arial"/>
              </a:rPr>
              <a:t>Figure 6.20, same market: many bars cross its smoothed average; the book marks six. This line is stricter.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crossings and arrows, read off Figures 6.20 and 6.21.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Two things the book leaves out: the N behind Figure 6.21's line, and how it chose Figure 6.20's six arrows.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draw the 3-sigma line over the volume bars. A bar above it may mark a top or a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threshold line. Six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trendline and channel: Chapter 5. The chart is ours, invented.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Mark every peak and trough: the gold and grey dots, nine of them.</a:t>
            </a:r>
          </a:p>
          <a:p>
            <a:pPr algn="l">
              <a:lnSpc>
                <a:spcPct val="118000"/>
              </a:lnSpc>
              <a:spcBef>
                <a:spcPts val="0"/>
              </a:spcBef>
              <a:spcAft>
                <a:spcPts val="1300"/>
              </a:spcAft>
            </a:pPr>
            <a:r>
              <a:rPr sz="2100" b="0" i="0">
                <a:solidFill>
                  <a:srgbClr val="1A1A1A"/>
                </a:solidFill>
                <a:latin typeface="Arial"/>
              </a:rPr>
              <a:t>Step 2. By eye, draw a threshold line only the heaviest volume reaches: ours 2.5 million, average 1.3. The book gives no number. Keep 1, 2, 3.</a:t>
            </a:r>
          </a:p>
          <a:p>
            <a:pPr algn="l">
              <a:lnSpc>
                <a:spcPct val="118000"/>
              </a:lnSpc>
              <a:spcBef>
                <a:spcPts val="0"/>
              </a:spcBef>
              <a:spcAft>
                <a:spcPts val="1300"/>
              </a:spcAft>
            </a:pPr>
            <a:r>
              <a:rPr sz="2100" b="0" i="0">
                <a:solidFill>
                  <a:srgbClr val="1A1A1A"/>
                </a:solidFill>
                <a:latin typeface="Arial"/>
              </a:rPr>
              <a:t>Step 3. Trendline through peaks 1 (bar 22, PHP 52.00) and 2 (bar 62, PHP 56.00): up PHP 4.00 in 40 bars, 0.10 a bar.</a:t>
            </a:r>
          </a:p>
          <a:p>
            <a:pPr algn="l">
              <a:lnSpc>
                <a:spcPct val="118000"/>
              </a:lnSpc>
              <a:spcBef>
                <a:spcPts val="0"/>
              </a:spcBef>
              <a:spcAft>
                <a:spcPts val="1300"/>
              </a:spcAft>
            </a:pPr>
            <a:r>
              <a:rPr sz="2100" b="0" i="0">
                <a:solidFill>
                  <a:srgbClr val="1A1A1A"/>
                </a:solidFill>
                <a:latin typeface="Arial"/>
              </a:rPr>
              <a:t>Step 4. Through trough 3 (bar 44, PHP 49.00), a parallel at the same 0.10 a bar.</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two parallels are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as on Chart V. The method is the book's, p.189.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them.</a:t>
            </a:r>
          </a:p>
          <a:p>
            <a:pPr algn="l">
              <a:lnSpc>
                <a:spcPct val="105000"/>
              </a:lnSpc>
              <a:spcBef>
                <a:spcPts val="0"/>
              </a:spcBef>
              <a:spcAft>
                <a:spcPts val="1100"/>
              </a:spcAft>
            </a:pPr>
            <a:r>
              <a:rPr sz="1700" b="0" i="0">
                <a:solidFill>
                  <a:srgbClr val="1A1A1A"/>
                </a:solidFill>
                <a:latin typeface="Arial"/>
              </a:rPr>
              <a:t>Arrows rise to Points 1, 2 and 3, the only turns used: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both X's, ours and the book's, price turns up at the lower line: support. Ours: 49.00 + 28 bars x 0.10 = PHP 51.80.</a:t>
            </a:r>
          </a:p>
          <a:p>
            <a:pPr algn="l">
              <a:lnSpc>
                <a:spcPct val="118000"/>
              </a:lnSpc>
              <a:spcBef>
                <a:spcPts val="0"/>
              </a:spcBef>
              <a:spcAft>
                <a:spcPts val="1300"/>
              </a:spcAft>
            </a:pPr>
            <a:r>
              <a:rPr sz="2100" b="0" i="0">
                <a:solidFill>
                  <a:srgbClr val="1A1A1A"/>
                </a:solidFill>
                <a:latin typeface="Arial"/>
              </a:rPr>
              <a:t>Why only heavily traded turns? The book says only: the importance of significant inflection points.</a:t>
            </a:r>
          </a:p>
          <a:p>
            <a:pPr algn="l">
              <a:lnSpc>
                <a:spcPct val="118000"/>
              </a:lnSpc>
              <a:spcBef>
                <a:spcPts val="0"/>
              </a:spcBef>
              <a:spcAft>
                <a:spcPts val="1300"/>
              </a:spcAft>
            </a:pPr>
            <a:r>
              <a:rPr sz="2100" b="0" i="0">
                <a:solidFill>
                  <a:srgbClr val="1A1A1A"/>
                </a:solidFill>
                <a:latin typeface="Arial"/>
              </a:rPr>
              <a:t>Part 3's first rule fits: a barrier formed at a volume peak is the most reliable. That link is ours.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Chapter 5's uptrend line joined troughs. Here the book joins two peaks, parallel through a trough, and gives no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 189-190. Ours: the arithmetic at X and the link to Part 3's first slide.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Trendline 1 to 2, parallel from 3: a large bearish candlestick, closing far below its open, breaks down through it.</a:t>
            </a:r>
          </a:p>
          <a:p>
            <a:pPr algn="l">
              <a:lnSpc>
                <a:spcPct val="105000"/>
              </a:lnSpc>
              <a:spcBef>
                <a:spcPts val="0"/>
              </a:spcBef>
              <a:spcAft>
                <a:spcPts val="1100"/>
              </a:spcAft>
            </a:pPr>
            <a:r>
              <a:rPr sz="1700" b="0" i="0">
                <a:solidFill>
                  <a:srgbClr val="1A1A1A"/>
                </a:solidFill>
                <a:latin typeface="Arial"/>
              </a:rPr>
              <a:t>A parallel from 4, carried back, touches the trough at X, January 2011. Found looking back; the book still calls it valid.</a:t>
            </a:r>
          </a:p>
          <a:p>
            <a:pPr algn="l">
              <a:lnSpc>
                <a:spcPct val="105000"/>
              </a:lnSpc>
              <a:spcBef>
                <a:spcPts val="0"/>
              </a:spcBef>
              <a:spcAft>
                <a:spcPts val="1100"/>
              </a:spcAft>
            </a:pPr>
            <a:r>
              <a:rPr sz="1700" b="0" i="0">
                <a:solidFill>
                  <a:srgbClr val="1A1A1A"/>
                </a:solidFill>
                <a:latin typeface="Arial"/>
              </a:rPr>
              <a:t>Parallels from 5 and 6: a new channel, resistance at its top, support at its bottom.</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Chapter 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Its lesson: the importance of constructing chart patterns based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Absolute volume is not as important as relative volume: the change in volume tells the most.</a:t>
            </a:r>
          </a:p>
          <a:p>
            <a:pPr algn="l">
              <a:lnSpc>
                <a:spcPct val="105000"/>
              </a:lnSpc>
              <a:spcBef>
                <a:spcPts val="0"/>
              </a:spcBef>
              <a:spcAft>
                <a:spcPts val="1100"/>
              </a:spcAft>
            </a:pPr>
            <a:r>
              <a:rPr sz="1700" b="0" i="0">
                <a:solidFill>
                  <a:srgbClr val="1A1A1A"/>
                </a:solidFill>
                <a:latin typeface="Arial"/>
              </a:rPr>
              <a:t>Rising and declining volume show interest at various prices, and whether a trend is bullish or bearish.</a:t>
            </a:r>
          </a:p>
          <a:p>
            <a:pPr algn="l">
              <a:lnSpc>
                <a:spcPct val="105000"/>
              </a:lnSpc>
              <a:spcBef>
                <a:spcPts val="0"/>
              </a:spcBef>
              <a:spcAft>
                <a:spcPts val="1100"/>
              </a:spcAft>
            </a:pPr>
            <a:r>
              <a:rPr sz="1700" b="0" i="0">
                <a:solidFill>
                  <a:srgbClr val="1A1A1A"/>
                </a:solidFill>
                <a:latin typeface="Arial"/>
              </a:rPr>
              <a:t>Volume overextensions, historical peaks and troughs, give a reference for future tops and bottoms.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The chart is ours, on invented prices: a trend that persists on flat volume.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18</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Holding on to a losing position rather than selling it at a loss, hoping it comes back.</a:t>
            </a:r>
          </a:p>
        </p:txBody>
      </p:sp>
      <p:sp>
        <p:nvSpPr>
          <p:cNvPr id="10" name="Rectangle 9"/>
          <p:cNvSpPr/>
          <p:nvPr/>
        </p:nvSpPr>
        <p:spPr>
          <a:xfrm>
            <a:off x="777240" y="3264407"/>
            <a:ext cx="64008" cy="7498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Bought at PHP 50, now PHP 38: you hold, waiting for PHP 50. You do not sell, so you add no volume.</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Loss aversion: holding on in a falling market adds nothing to its trading.</a:t>
            </a:r>
          </a:p>
          <a:p>
            <a:pPr algn="l">
              <a:lnSpc>
                <a:spcPct val="105000"/>
              </a:lnSpc>
              <a:spcBef>
                <a:spcPts val="0"/>
              </a:spcBef>
              <a:spcAft>
                <a:spcPts val="1100"/>
              </a:spcAft>
            </a:pPr>
            <a:r>
              <a:rPr sz="1800" b="0" i="0">
                <a:solidFill>
                  <a:srgbClr val="1A1A1A"/>
                </a:solidFill>
                <a:latin typeface="Arial"/>
              </a:rPr>
              <a:t>In a rising market, investors and traders can use house money, their profit, to fund new positions.</a:t>
            </a:r>
          </a:p>
          <a:p>
            <a:pPr algn="l">
              <a:lnSpc>
                <a:spcPct val="105000"/>
              </a:lnSpc>
              <a:spcBef>
                <a:spcPts val="0"/>
              </a:spcBef>
              <a:spcAft>
                <a:spcPts val="1100"/>
              </a:spcAft>
            </a:pPr>
            <a:r>
              <a:rPr sz="1800" b="0" i="0">
                <a:solidFill>
                  <a:srgbClr val="1A1A1A"/>
                </a:solidFill>
                <a:latin typeface="Arial"/>
              </a:rPr>
              <a:t>More investment funds market their services in a bull market, drawing in more investors.</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So a bull market tends to trade more than a bear market.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y.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is ours, on invented prices.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Finding potential price rejection levels at significant or historical prices.</a:t>
            </a:r>
          </a:p>
          <a:p>
            <a:pPr algn="l">
              <a:lnSpc>
                <a:spcPct val="105000"/>
              </a:lnSpc>
              <a:spcBef>
                <a:spcPts val="0"/>
              </a:spcBef>
              <a:spcAft>
                <a:spcPts val="1100"/>
              </a:spcAft>
            </a:pPr>
            <a:r>
              <a:rPr sz="1700" b="0" i="0">
                <a:solidFill>
                  <a:srgbClr val="1A1A1A"/>
                </a:solidFill>
                <a:latin typeface="Arial"/>
              </a:rPr>
              <a:t>Comparing participation across stocks, sectors, industries or commodities, in search of greater liquidity.</a:t>
            </a:r>
          </a:p>
          <a:p>
            <a:pPr algn="l">
              <a:lnSpc>
                <a:spcPct val="105000"/>
              </a:lnSpc>
              <a:spcBef>
                <a:spcPts val="0"/>
              </a:spcBef>
              <a:spcAft>
                <a:spcPts val="1100"/>
              </a:spcAft>
            </a:pPr>
            <a:r>
              <a:rPr sz="1700" b="0" i="0">
                <a:solidFill>
                  <a:srgbClr val="1A1A1A"/>
                </a:solidFill>
                <a:latin typeface="Arial"/>
              </a:rPr>
              <a:t>Total turnover against the shares outstanding: the absolute level of participation in a stock.</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Relative volume reads a trend. Absolute volume compares markets.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Price rejection: a Chapter 3 term. Liquidity: the book's word, not defined here.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z.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the traditional meaning of volume.</a:t>
            </a:r>
          </a:p>
          <a:p>
            <a:pPr algn="l">
              <a:lnSpc>
                <a:spcPct val="118000"/>
              </a:lnSpc>
              <a:spcBef>
                <a:spcPts val="0"/>
              </a:spcBef>
              <a:spcAft>
                <a:spcPts val="1300"/>
              </a:spcAft>
            </a:pPr>
            <a:r>
              <a:rPr sz="2100" b="0" i="0">
                <a:solidFill>
                  <a:srgbClr val="1A1A1A"/>
                </a:solidFill>
                <a:latin typeface="Arial"/>
              </a:rPr>
              <a:t>So the volume traders read may not be totally indicative of true volume action in the classical sense.</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read as participation assumes the trades are people taking part in the move.</a:t>
            </a:r>
          </a:p>
        </p:txBody>
      </p:sp>
      <p:sp>
        <p:nvSpPr>
          <p:cNvPr id="10" name="TextBox 9"/>
          <p:cNvSpPr txBox="1"/>
          <p:nvPr/>
        </p:nvSpPr>
        <p:spPr>
          <a:xfrm>
            <a:off x="777240" y="492810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Chapter 1: program trading is machines trading in ways humans cannot replicate. The book gives no remedy for the distortion.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book explains none of them here.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futures or options contracts are still open: each a long and a short, not yet closed.</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Day 1: A buys 1 from B, both new: 1. Day 2: C buys 2 from D: 3. Day 3: A sells to E: still 3. Day 4: D buys 2 back from C: 1.</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Open interest shows interest in a rise or a fall; its divergence reads as for non-price-based volume.</a:t>
            </a:r>
          </a:p>
          <a:p>
            <a:pPr algn="l">
              <a:lnSpc>
                <a:spcPct val="105000"/>
              </a:lnSpc>
              <a:spcBef>
                <a:spcPts val="0"/>
              </a:spcBef>
              <a:spcAft>
                <a:spcPts val="1100"/>
              </a:spcAft>
            </a:pPr>
            <a:r>
              <a:rPr sz="1800" b="0" i="0">
                <a:solidFill>
                  <a:srgbClr val="1A1A1A"/>
                </a:solidFill>
                <a:latin typeface="Arial"/>
              </a:rPr>
              <a:t>All rising: bullish, buying. Price up, both down: bearish, shorts covering, longs leaving.</a:t>
            </a:r>
          </a:p>
          <a:p>
            <a:pPr algn="l">
              <a:lnSpc>
                <a:spcPct val="105000"/>
              </a:lnSpc>
              <a:spcBef>
                <a:spcPts val="0"/>
              </a:spcBef>
              <a:spcAft>
                <a:spcPts val="1100"/>
              </a:spcAft>
            </a:pPr>
            <a:r>
              <a:rPr sz="1800" b="0" i="0">
                <a:solidFill>
                  <a:srgbClr val="1A1A1A"/>
                </a:solidFill>
                <a:latin typeface="Arial"/>
              </a:rPr>
              <a:t>Price down, both up: bearish, short selling. All falling: bullish, selling drying up.</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With price, bullish; against it, bearish.</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18</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open interest and volume all rising: look for buy signals.</a:t>
            </a:r>
          </a:p>
          <a:p>
            <a:pPr algn="l">
              <a:lnSpc>
                <a:spcPct val="105000"/>
              </a:lnSpc>
              <a:spcBef>
                <a:spcPts val="0"/>
              </a:spcBef>
              <a:spcAft>
                <a:spcPts val="1100"/>
              </a:spcAft>
            </a:pPr>
            <a:r>
              <a:rPr sz="1800" b="0" i="0">
                <a:solidFill>
                  <a:srgbClr val="1A1A1A"/>
                </a:solidFill>
                <a:latin typeface="Arial"/>
              </a:rPr>
              <a:t>Rising price on declining open interest and volume: look to exit, liquidating longs.</a:t>
            </a:r>
          </a:p>
          <a:p>
            <a:pPr algn="l">
              <a:lnSpc>
                <a:spcPct val="105000"/>
              </a:lnSpc>
              <a:spcBef>
                <a:spcPts val="0"/>
              </a:spcBef>
              <a:spcAft>
                <a:spcPts val="1100"/>
              </a:spcAft>
            </a:pPr>
            <a:r>
              <a:rPr sz="1800" b="0" i="0">
                <a:solidFill>
                  <a:srgbClr val="1A1A1A"/>
                </a:solidFill>
                <a:latin typeface="Arial"/>
              </a:rPr>
              <a:t>Declining market, open interest and volume rising: look to go short. When both start to decline together: rapidly cover all shorts.</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64739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6.24: volume confirms silver's rise at 1, but open interest diverges at 2. Many longs are liquidating; silver then retraced significantly.</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Go long, liquidate, go short and cover are Chapter 1 terms.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level of open interest may indicate the nature of a potential reversal or breakout.</a:t>
            </a:r>
          </a:p>
          <a:p>
            <a:pPr algn="l">
              <a:lnSpc>
                <a:spcPct val="105000"/>
              </a:lnSpc>
              <a:spcBef>
                <a:spcPts val="0"/>
              </a:spcBef>
              <a:spcAft>
                <a:spcPts val="1100"/>
              </a:spcAft>
            </a:pPr>
            <a:r>
              <a:rPr sz="2000" b="0" i="0">
                <a:solidFill>
                  <a:srgbClr val="1A1A1A"/>
                </a:solidFill>
                <a:latin typeface="Arial"/>
              </a:rPr>
              <a:t>If open interest is very high, the reversal that follows may be significantly more rapid.</a:t>
            </a:r>
          </a:p>
        </p:txBody>
      </p:sp>
      <p:sp>
        <p:nvSpPr>
          <p:cNvPr id="8" name="Rectangle 7"/>
          <p:cNvSpPr/>
          <p:nvPr/>
        </p:nvSpPr>
        <p:spPr>
          <a:xfrm>
            <a:off x="777240" y="441655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reason: a large number of open contracts liquidating and covering at once.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count of trades, not of shares. Met in Chapter 1's caption; Chapter 3's tick chart counts the same.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Part 1's five trades of 0.1 to 1.2 million shares: volume 2.4 million shares, tick volume 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stocks rose over how many fell, divided by the volume in risers over the volume in fallers.</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and 1,000 declines: 1.5. Up volume 600 million, down volume 800 million: 0.75. TRIN = 1.5 divided by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18</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Short term: a rising, not overbought tick with a falling, not oversold TRIN: bullish; the converse bearish.</a:t>
            </a:r>
          </a:p>
          <a:p>
            <a:pPr algn="l">
              <a:lnSpc>
                <a:spcPct val="105000"/>
              </a:lnSpc>
              <a:spcBef>
                <a:spcPts val="0"/>
              </a:spcBef>
              <a:spcAft>
                <a:spcPts val="1100"/>
              </a:spcAft>
            </a:pPr>
            <a:r>
              <a:rPr sz="1700" b="0" i="0">
                <a:solidFill>
                  <a:srgbClr val="1A1A1A"/>
                </a:solidFill>
                <a:latin typeface="Arial"/>
              </a:rPr>
              <a:t>Longer term: tick oversold, above its weekly two-sigma level, with TRIN overbought, near or above 3.0 daily: bullish.</a:t>
            </a:r>
          </a:p>
          <a:p>
            <a:pPr algn="l">
              <a:lnSpc>
                <a:spcPct val="105000"/>
              </a:lnSpc>
              <a:spcBef>
                <a:spcPts val="0"/>
              </a:spcBef>
              <a:spcAft>
                <a:spcPts val="1100"/>
              </a:spcAft>
            </a:pPr>
            <a:r>
              <a:rPr sz="1700" b="0" i="0">
                <a:solidFill>
                  <a:srgbClr val="1A1A1A"/>
                </a:solidFill>
                <a:latin typeface="Arial"/>
              </a:rPr>
              <a:t>Figure 6.25, 1-minute: tick and TRIN both oversold. Short-term bullish; the index rose.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2910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text: a bullish TRIN is overbought. The figure: oversold.</a:t>
            </a:r>
          </a:p>
        </p:txBody>
      </p:sp>
      <p:sp>
        <p:nvSpPr>
          <p:cNvPr id="10" name="TextBox 9"/>
          <p:cNvSpPr txBox="1"/>
          <p:nvPr/>
        </p:nvSpPr>
        <p:spPr>
          <a:xfrm>
            <a:off x="777240" y="5461254"/>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these rules no reasons, does not say how to read one value such as 2.0, and never says what this tick measures. No check rests on them.</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caption says daily; the chart and the text say 1-minute. The book never says what its tick measures.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short-term downtrend in the S&amp;P 500 with a bearish rising TRIN.</a:t>
            </a:r>
          </a:p>
          <a:p>
            <a:pPr algn="l">
              <a:lnSpc>
                <a:spcPct val="105000"/>
              </a:lnSpc>
              <a:spcBef>
                <a:spcPts val="0"/>
              </a:spcBef>
              <a:spcAft>
                <a:spcPts val="1100"/>
              </a:spcAft>
            </a:pPr>
            <a:r>
              <a:rPr sz="2000" b="0" i="0">
                <a:solidFill>
                  <a:srgbClr val="1A1A1A"/>
                </a:solidFill>
                <a:latin typeface="Arial"/>
              </a:rPr>
              <a:t>The tick is largely absent of activity between 1:45 p.m. and 2:45 p.m.</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Together, a short-term bearish signal.</a:t>
            </a:r>
          </a:p>
        </p:txBody>
      </p:sp>
      <p:sp>
        <p:nvSpPr>
          <p:cNvPr id="10" name="TextBox 9"/>
          <p:cNvSpPr txBox="1"/>
          <p:nvPr/>
        </p:nvSpPr>
        <p:spPr>
          <a:xfrm>
            <a:off x="777240" y="476402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other tick labels, such as balanced tick action, are not explained by the book.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18</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different split from the tick and the TRIN: not a breadth count, but one share count sliced two ways. By time: the usual bars, one a period. By price: sideways bars, one per price level.</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 chart, 100 days: 68 million shares at PHP 48 to 50, 12 million at PHP 54 to 56. The longest sideways bar: PHP 48 to 50.</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large volume turnover around the $17 price level in the iShares Silver Trust.</a:t>
            </a:r>
          </a:p>
          <a:p>
            <a:pPr algn="l">
              <a:lnSpc>
                <a:spcPct val="105000"/>
              </a:lnSpc>
              <a:spcBef>
                <a:spcPts val="0"/>
              </a:spcBef>
              <a:spcAft>
                <a:spcPts val="1100"/>
              </a:spcAft>
            </a:pPr>
            <a:r>
              <a:rPr sz="2000" b="0" i="0">
                <a:solidFill>
                  <a:srgbClr val="1A1A1A"/>
                </a:solidFill>
                <a:latin typeface="Arial"/>
              </a:rPr>
              <a:t>So $17 represents a significant support.</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This is not obvious from conventional volume bar action.</a:t>
            </a:r>
          </a:p>
        </p:txBody>
      </p:sp>
      <p:sp>
        <p:nvSpPr>
          <p:cNvPr id="10" name="TextBox 9"/>
          <p:cNvSpPr txBox="1"/>
          <p:nvPr/>
        </p:nvSpPr>
        <p:spPr>
          <a:xfrm>
            <a:off x="777240" y="508406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called this price-based volume; it is not Part 1's price-based oscillators. The figure's top panel is an oscillator the book does not discuss.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lot of volume turnover between $77 and $86 on the daily chart of 3M.</a:t>
            </a:r>
          </a:p>
          <a:p>
            <a:pPr algn="l">
              <a:lnSpc>
                <a:spcPct val="105000"/>
              </a:lnSpc>
              <a:spcBef>
                <a:spcPts val="0"/>
              </a:spcBef>
              <a:spcAft>
                <a:spcPts val="1100"/>
              </a:spcAft>
            </a:pPr>
            <a:r>
              <a:rPr sz="1900" b="0" i="0">
                <a:solidFill>
                  <a:srgbClr val="1A1A1A"/>
                </a:solidFill>
                <a:latin typeface="Arial"/>
              </a:rPr>
              <a:t>This is the most traded range, with some resistance at the $90 to $92 level.</a:t>
            </a:r>
          </a:p>
        </p:txBody>
      </p:sp>
      <p:sp>
        <p:nvSpPr>
          <p:cNvPr id="8" name="Rectangle 7"/>
          <p:cNvSpPr/>
          <p:nvPr/>
        </p:nvSpPr>
        <p:spPr>
          <a:xfrm>
            <a:off x="777240" y="3712463"/>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749039"/>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These price ranges are potential future support and resistance levels.</a:t>
            </a:r>
          </a:p>
        </p:txBody>
      </p:sp>
      <p:sp>
        <p:nvSpPr>
          <p:cNvPr id="10" name="TextBox 9"/>
          <p:cNvSpPr txBox="1"/>
          <p:nvPr/>
        </p:nvSpPr>
        <p:spPr>
          <a:xfrm>
            <a:off x="777240" y="4974336"/>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also marks bearish confirmation, price falling on rising volume, and bearish divergence, price rising on falling volume: Part 1's names.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Locate the largest volume by price range.</a:t>
            </a:r>
          </a:p>
          <a:p>
            <a:pPr algn="l">
              <a:lnSpc>
                <a:spcPct val="105000"/>
              </a:lnSpc>
              <a:spcBef>
                <a:spcPts val="0"/>
              </a:spcBef>
              <a:spcAft>
                <a:spcPts val="1100"/>
              </a:spcAft>
            </a:pPr>
            <a:r>
              <a:rPr sz="1700" b="0" i="0">
                <a:solidFill>
                  <a:srgbClr val="1A1A1A"/>
                </a:solidFill>
                <a:latin typeface="Arial"/>
              </a:rPr>
              <a:t>2  Locate the largest volume by time intervals.</a:t>
            </a:r>
          </a:p>
          <a:p>
            <a:pPr algn="l">
              <a:lnSpc>
                <a:spcPct val="105000"/>
              </a:lnSpc>
              <a:spcBef>
                <a:spcPts val="0"/>
              </a:spcBef>
              <a:spcAft>
                <a:spcPts val="1100"/>
              </a:spcAft>
            </a:pPr>
            <a:r>
              <a:rPr sz="1700" b="0" i="0">
                <a:solidFill>
                  <a:srgbClr val="1A1A1A"/>
                </a:solidFill>
                <a:latin typeface="Arial"/>
              </a:rPr>
              <a:t>3  Find where the two intersect.</a:t>
            </a:r>
          </a:p>
          <a:p>
            <a:pPr algn="l">
              <a:lnSpc>
                <a:spcPct val="105000"/>
              </a:lnSpc>
              <a:spcBef>
                <a:spcPts val="0"/>
              </a:spcBef>
              <a:spcAft>
                <a:spcPts val="1100"/>
              </a:spcAft>
            </a:pPr>
            <a:r>
              <a:rPr sz="1700" b="0" i="0">
                <a:solidFill>
                  <a:srgbClr val="1A1A1A"/>
                </a:solidFill>
                <a:latin typeface="Arial"/>
              </a:rPr>
              <a:t>4  The closest peak above the intersection: resistance. The closest trough below: support.</a:t>
            </a:r>
          </a:p>
        </p:txBody>
      </p:sp>
      <p:sp>
        <p:nvSpPr>
          <p:cNvPr id="8" name="Rectangle 7"/>
          <p:cNvSpPr/>
          <p:nvPr/>
        </p:nvSpPr>
        <p:spPr>
          <a:xfrm>
            <a:off x="777240" y="418566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2224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Potentially the most significant and reliable support and resistance in the formation.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g.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The $74 to $80 range has the most significant volume by price.</a:t>
            </a:r>
          </a:p>
          <a:p>
            <a:pPr algn="l">
              <a:lnSpc>
                <a:spcPct val="105000"/>
              </a:lnSpc>
              <a:spcBef>
                <a:spcPts val="0"/>
              </a:spcBef>
              <a:spcAft>
                <a:spcPts val="1100"/>
              </a:spcAft>
            </a:pPr>
            <a:r>
              <a:rPr sz="1900" b="0" i="0">
                <a:solidFill>
                  <a:srgbClr val="1A1A1A"/>
                </a:solidFill>
                <a:latin typeface="Arial"/>
              </a:rPr>
              <a:t>2 and 3  The largest volume by time intervals cross it in two white boxes.</a:t>
            </a:r>
          </a:p>
          <a:p>
            <a:pPr algn="l">
              <a:lnSpc>
                <a:spcPct val="105000"/>
              </a:lnSpc>
              <a:spcBef>
                <a:spcPts val="0"/>
              </a:spcBef>
              <a:spcAft>
                <a:spcPts val="1100"/>
              </a:spcAft>
            </a:pPr>
            <a:r>
              <a:rPr sz="1900" b="0" i="0">
                <a:solidFill>
                  <a:srgbClr val="1A1A1A"/>
                </a:solidFill>
                <a:latin typeface="Arial"/>
              </a:rPr>
              <a:t>4  The closest peak above is resistance, the closest trough below is support.</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Both levels act as effective barriers to price on the daily chart of 3M.</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14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5's characteristic 15, volume spread action, set bar range against volume four ways.</a:t>
            </a:r>
          </a:p>
          <a:p>
            <a:pPr algn="l">
              <a:lnSpc>
                <a:spcPct val="105000"/>
              </a:lnSpc>
              <a:spcBef>
                <a:spcPts val="0"/>
              </a:spcBef>
              <a:spcAft>
                <a:spcPts val="1100"/>
              </a:spcAft>
            </a:pPr>
            <a:r>
              <a:rPr sz="1900" b="0" i="0">
                <a:solidFill>
                  <a:srgbClr val="1A1A1A"/>
                </a:solidFill>
                <a:latin typeface="Arial"/>
              </a:rPr>
              <a:t>Here the book uses the four to forecast potential breakouts and reversals, and names each bar.</a:t>
            </a:r>
          </a:p>
          <a:p>
            <a:pPr algn="l">
              <a:lnSpc>
                <a:spcPct val="105000"/>
              </a:lnSpc>
              <a:spcBef>
                <a:spcPts val="0"/>
              </a:spcBef>
              <a:spcAft>
                <a:spcPts val="1100"/>
              </a:spcAft>
            </a:pPr>
            <a:r>
              <a:rPr sz="1900" b="0" i="0">
                <a:solidFill>
                  <a:srgbClr val="1A1A1A"/>
                </a:solidFill>
                <a:latin typeface="Arial"/>
              </a:rPr>
              <a:t>Spread means bar range, as in Chapter 5: not Chapter 3's bid-ask spread.</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1081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Chapter 5's squat bar is the High Volume Reversal Bar.</a:t>
            </a:r>
          </a:p>
        </p:txBody>
      </p:sp>
      <p:sp>
        <p:nvSpPr>
          <p:cNvPr id="10" name="TextBox 9"/>
          <p:cNvSpPr txBox="1"/>
          <p:nvPr/>
        </p:nvSpPr>
        <p:spPr>
          <a:xfrm>
            <a:off x="777240" y="544220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6 reads two cases more strongly: both reversal bars. Chapter 5 called the large range on low volume only trend inhibiting.</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each an empty box for the bar range above a black box for the volume: 1 a short range on low volume, 2 a short range on high volume, 3 a tall range on low volume, 4 a tall range on high volume.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against this course's Chapter 5, characteristic 15. Spread is the book's word for bar range here.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for a bar's range against its volume: narrow or wide, on low or high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fast uptrend's usual bar is PHP 1.00 on 2 million shares. A PHP 0.20 bar on 5 million: narrow range on high volume.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High Volume Reversal Bar: strong reversal potential. Were the volume buying, the range would be wider: sellers are in control. Bearish in an uptrend, the converse in a downtrend.</a:t>
            </a:r>
          </a:p>
          <a:p>
            <a:pPr algn="l">
              <a:lnSpc>
                <a:spcPct val="105000"/>
              </a:lnSpc>
              <a:spcBef>
                <a:spcPts val="0"/>
              </a:spcBef>
              <a:spcAft>
                <a:spcPts val="1100"/>
              </a:spcAft>
            </a:pPr>
            <a:r>
              <a:rPr sz="1700" b="0" i="0">
                <a:solidFill>
                  <a:srgbClr val="1A1A1A"/>
                </a:solidFill>
                <a:latin typeface="Arial"/>
              </a:rPr>
              <a:t>Low Volume Reversal Bar: a big move on little participation. The longer the bar, the more bearish in an uptrend, bullish in a downtrend.</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Too little movement for the volume, or too little volume for the move.</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called a large range on low volume only trend inhibiting.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i.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a lack of participation. In a strong, rapid trend, a potential reversal; in a weak to average one, a point of rest.</a:t>
            </a:r>
          </a:p>
          <a:p>
            <a:pPr algn="l">
              <a:lnSpc>
                <a:spcPct val="105000"/>
              </a:lnSpc>
              <a:spcBef>
                <a:spcPts val="0"/>
              </a:spcBef>
              <a:spcAft>
                <a:spcPts val="1100"/>
              </a:spcAft>
            </a:pPr>
            <a:r>
              <a:rPr sz="1700" b="0" i="0">
                <a:solidFill>
                  <a:srgbClr val="1A1A1A"/>
                </a:solidFill>
                <a:latin typeface="Arial"/>
              </a:rPr>
              <a:t>High Volume Continuation Bar: a big move on very large participation. Bullish in an uptrend, bearish in a downtrend.</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bar's meaning depends on the trend's speed; the continuation bar continues whichever trend it is in.</a:t>
            </a:r>
          </a:p>
        </p:txBody>
      </p:sp>
      <p:sp>
        <p:nvSpPr>
          <p:cNvPr id="10" name="TextBox 9"/>
          <p:cNvSpPr txBox="1"/>
          <p:nvPr/>
        </p:nvSpPr>
        <p:spPr>
          <a:xfrm>
            <a:off x="777240" y="529894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small range, low volume, trend inhibiting; large range, large volume, trend promoting.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Two narrow range candlesticks on high volume, at Points 1 and 2.</a:t>
            </a:r>
          </a:p>
          <a:p>
            <a:pPr algn="l">
              <a:lnSpc>
                <a:spcPct val="105000"/>
              </a:lnSpc>
              <a:spcBef>
                <a:spcPts val="0"/>
              </a:spcBef>
              <a:spcAft>
                <a:spcPts val="1100"/>
              </a:spcAft>
            </a:pPr>
            <a:r>
              <a:rPr sz="1800" b="0" i="0">
                <a:solidFill>
                  <a:srgbClr val="1A1A1A"/>
                </a:solidFill>
                <a:latin typeface="Arial"/>
              </a:rPr>
              <a:t>After each, price reverses rapidly.</a:t>
            </a:r>
          </a:p>
          <a:p>
            <a:pPr algn="l">
              <a:lnSpc>
                <a:spcPct val="105000"/>
              </a:lnSpc>
              <a:spcBef>
                <a:spcPts val="0"/>
              </a:spcBef>
              <a:spcAft>
                <a:spcPts val="1100"/>
              </a:spcAft>
            </a:pPr>
            <a:r>
              <a:rPr sz="1800" b="0" i="0">
                <a:solidFill>
                  <a:srgbClr val="1A1A1A"/>
                </a:solidFill>
                <a:latin typeface="Arial"/>
              </a:rPr>
              <a:t>Also: in August a low volume breakout signal at a descending triangle's apex, then a volume surge.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Narrow bar, heavy volume, rapid reversal.</a:t>
            </a:r>
          </a:p>
        </p:txBody>
      </p:sp>
      <p:sp>
        <p:nvSpPr>
          <p:cNvPr id="10" name="TextBox 9"/>
          <p:cNvSpPr txBox="1"/>
          <p:nvPr/>
        </p:nvSpPr>
        <p:spPr>
          <a:xfrm>
            <a:off x="777240" y="531571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Apex: where the triangle's lines meet. The curved lines are Bollinger Bands, not discussed. After Point 2 the reversal runs past the chart's edge.</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PowerShares DB U.S. Dollar Bullish Fund. Narrow range candlesticks on high volume are circled at 1, near a low, and at 2, near a high, with lines down to their tall volume bars. At the left a triangle narrows into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Descending triangle: named in Chapter 4; its shape is in the book's Chapter 13.</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narrow range candlestick on high volume, around the beginning of November.</a:t>
            </a:r>
          </a:p>
          <a:p>
            <a:pPr algn="l">
              <a:lnSpc>
                <a:spcPct val="105000"/>
              </a:lnSpc>
              <a:spcBef>
                <a:spcPts val="0"/>
              </a:spcBef>
              <a:spcAft>
                <a:spcPts val="1100"/>
              </a:spcAft>
            </a:pPr>
            <a:r>
              <a:rPr sz="2000" b="0" i="0">
                <a:solidFill>
                  <a:srgbClr val="1A1A1A"/>
                </a:solidFill>
                <a:latin typeface="Arial"/>
              </a:rPr>
              <a:t>It led to a significant rebound in price.</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converse case: a high volume reversal bar in a decline is bullish.</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high volume reversal bar around May 23, 2011, after bearish divergence in volume and on the MACD.</a:t>
            </a:r>
          </a:p>
          <a:p>
            <a:pPr algn="l">
              <a:lnSpc>
                <a:spcPct val="105000"/>
              </a:lnSpc>
              <a:spcBef>
                <a:spcPts val="0"/>
              </a:spcBef>
              <a:spcAft>
                <a:spcPts val="1100"/>
              </a:spcAft>
            </a:pPr>
            <a:r>
              <a:rPr sz="1800" b="0" i="0">
                <a:solidFill>
                  <a:srgbClr val="1A1A1A"/>
                </a:solidFill>
                <a:latin typeface="Arial"/>
              </a:rPr>
              <a:t>It is potentially more reliable because it formed within a larger downtrend.</a:t>
            </a:r>
          </a:p>
          <a:p>
            <a:pPr algn="l">
              <a:lnSpc>
                <a:spcPct val="105000"/>
              </a:lnSpc>
              <a:spcBef>
                <a:spcPts val="0"/>
              </a:spcBef>
              <a:spcAft>
                <a:spcPts val="1100"/>
              </a:spcAft>
            </a:pPr>
            <a:r>
              <a:rPr sz="1800" b="0" i="0">
                <a:solidFill>
                  <a:srgbClr val="1A1A1A"/>
                </a:solidFill>
                <a:latin typeface="Arial"/>
              </a:rPr>
              <a:t>At Point X, a high volume continuation bar. Continuation bars too are more reliable in the direction of the predominant trend.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bar that agrees with the larger trend is the more reliable.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PowerShares DB U.S. Dollar Bullish Fund in a long decline under its moving averages, with a circled high volume reversal bar at a short rally's top in late May, a falling line over volume and the MACD leading up to it, and a high volume continuation bar marked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MACD is used here and not taught; Chapter 4 met it. The figure's RSI panel and two moving averages are not discussed.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high volume reversal bar around the end of October 2011.</a:t>
            </a:r>
          </a:p>
          <a:p>
            <a:pPr algn="l">
              <a:lnSpc>
                <a:spcPct val="105000"/>
              </a:lnSpc>
              <a:spcBef>
                <a:spcPts val="0"/>
              </a:spcBef>
              <a:spcAft>
                <a:spcPts val="1100"/>
              </a:spcAft>
            </a:pPr>
            <a:r>
              <a:rPr sz="2000" b="0" i="0">
                <a:solidFill>
                  <a:srgbClr val="1A1A1A"/>
                </a:solidFill>
                <a:latin typeface="Arial"/>
              </a:rPr>
              <a:t>It occurred at a historically overextended volume level, drawn on the chart.</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Two signals agree: the reversal bar, and Part 2's overextended volume.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Chapter 3: a constant volume chart draws a new bar once a set volume has traded.</a:t>
            </a:r>
          </a:p>
          <a:p>
            <a:pPr algn="l">
              <a:lnSpc>
                <a:spcPct val="105000"/>
              </a:lnSpc>
              <a:spcBef>
                <a:spcPts val="0"/>
              </a:spcBef>
              <a:spcAft>
                <a:spcPts val="1100"/>
              </a:spcAft>
            </a:pPr>
            <a:r>
              <a:rPr sz="1800" b="0" i="0">
                <a:solidFill>
                  <a:srgbClr val="1A1A1A"/>
                </a:solidFill>
                <a:latin typeface="Arial"/>
              </a:rPr>
              <a:t>Volume is fixed per bar, so a reversal bar is found from its range and height alone.</a:t>
            </a:r>
          </a:p>
          <a:p>
            <a:pPr algn="l">
              <a:lnSpc>
                <a:spcPct val="105000"/>
              </a:lnSpc>
              <a:spcBef>
                <a:spcPts val="0"/>
              </a:spcBef>
              <a:spcAft>
                <a:spcPts val="1100"/>
              </a:spcAft>
            </a:pPr>
            <a:r>
              <a:rPr sz="1800" b="0" i="0">
                <a:solidFill>
                  <a:srgbClr val="1A1A1A"/>
                </a:solidFill>
                <a:latin typeface="Arial"/>
              </a:rPr>
              <a:t>Figure 6.35: a narrow bar, bearish, sellers in control; a tall bar, no interest in the rise.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Especially useful for reversal bars on high or low volume.</a:t>
            </a:r>
          </a:p>
        </p:txBody>
      </p:sp>
      <p:sp>
        <p:nvSpPr>
          <p:cNvPr id="10" name="TextBox 9"/>
          <p:cNvSpPr txBox="1"/>
          <p:nvPr/>
        </p:nvSpPr>
        <p:spPr>
          <a:xfrm>
            <a:off x="777240" y="531571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High and low against the range: a narrow bar packs the fixed volume into little movement, a tall bar spreads it over a big one.</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bar chart, every volume bar the same height. Left: a rise topped by a narrow range bar on relatively high volume, bearish. Right: a rise topped by one overextended, very tall bar on relatively low volume,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Most practitioners agree that without participation, volume, price cannot move significantly.</a:t>
            </a:r>
          </a:p>
          <a:p>
            <a:pPr algn="l">
              <a:lnSpc>
                <a:spcPct val="105000"/>
              </a:lnSpc>
              <a:spcBef>
                <a:spcPts val="0"/>
              </a:spcBef>
              <a:spcAft>
                <a:spcPts val="1100"/>
              </a:spcAft>
            </a:pPr>
            <a:r>
              <a:rPr sz="1800" b="0" i="0">
                <a:solidFill>
                  <a:srgbClr val="1A1A1A"/>
                </a:solidFill>
                <a:latin typeface="Arial"/>
              </a:rPr>
              <a:t>Yet buy and sell signals need not have much volume to appear on the chart.</a:t>
            </a:r>
          </a:p>
          <a:p>
            <a:pPr algn="l">
              <a:lnSpc>
                <a:spcPct val="105000"/>
              </a:lnSpc>
              <a:spcBef>
                <a:spcPts val="0"/>
              </a:spcBef>
              <a:spcAft>
                <a:spcPts val="1100"/>
              </a:spcAft>
            </a:pPr>
            <a:r>
              <a:rPr sz="1800" b="0" i="0">
                <a:solidFill>
                  <a:srgbClr val="1A1A1A"/>
                </a:solidFill>
                <a:latin typeface="Arial"/>
              </a:rPr>
              <a:t>A small breakout of a very significant trendline may set off a larger one, inviting tremendous volume.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Then price leads volume: more often now, the book says.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chart is ours, on invented prices. Breakout of a trendline: Chapter 5's use of the word.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rises and falls on a daily rhythm,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1:30 to 2:30 p.m. GMT is 9:30 to 10:30 p.m. in Manila. On our chart, price turns or breaks away at each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Almost every reversal on the 30-minute EURUSD comes at an intraday tick volume peak.</a:t>
            </a:r>
          </a:p>
          <a:p>
            <a:pPr algn="l">
              <a:lnSpc>
                <a:spcPct val="105000"/>
              </a:lnSpc>
              <a:spcBef>
                <a:spcPts val="0"/>
              </a:spcBef>
              <a:spcAft>
                <a:spcPts val="1100"/>
              </a:spcAft>
            </a:pPr>
            <a:r>
              <a:rPr sz="1700" b="0" i="0">
                <a:solidFill>
                  <a:srgbClr val="1A1A1A"/>
                </a:solidFill>
                <a:latin typeface="Arial"/>
              </a:rPr>
              <a:t>Especially useful when price retests a previous support or resistance level.</a:t>
            </a:r>
          </a:p>
          <a:p>
            <a:pPr algn="l">
              <a:lnSpc>
                <a:spcPct val="105000"/>
              </a:lnSpc>
              <a:spcBef>
                <a:spcPts val="0"/>
              </a:spcBef>
              <a:spcAft>
                <a:spcPts val="1100"/>
              </a:spcAft>
            </a:pPr>
            <a:r>
              <a:rPr sz="1700" b="0" i="0">
                <a:solidFill>
                  <a:srgbClr val="1A1A1A"/>
                </a:solidFill>
                <a:latin typeface="Arial"/>
              </a:rPr>
              <a:t>Many use a bidirectional, or straddle, entry at the peak, since price rarely stays unchanged.</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Know when the peak comes; catch price either way.</a:t>
            </a:r>
          </a:p>
        </p:txBody>
      </p:sp>
      <p:sp>
        <p:nvSpPr>
          <p:cNvPr id="10" name="TextBox 9"/>
          <p:cNvSpPr txBox="1"/>
          <p:nvPr/>
        </p:nvSpPr>
        <p:spPr>
          <a:xfrm>
            <a:off x="777240" y="5189220"/>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bidirectional entry: a trade either way, depending on the breakout.</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several weeks with support and resistance lines, a triangle and a channel, and daily volume cycles in the volume panel; price reverses at the volume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Bidirectional entry: a Chapter 5 term.</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hourly EURUSD, price rebounds off trendline retests at Points 1, 4 and 5, each during a tick volume cycle peak.</a:t>
            </a:r>
          </a:p>
          <a:p>
            <a:pPr algn="l">
              <a:lnSpc>
                <a:spcPct val="105000"/>
              </a:lnSpc>
              <a:spcBef>
                <a:spcPts val="0"/>
              </a:spcBef>
              <a:spcAft>
                <a:spcPts val="1100"/>
              </a:spcAft>
            </a:pPr>
            <a:r>
              <a:rPr sz="1800" b="0" i="0">
                <a:solidFill>
                  <a:srgbClr val="1A1A1A"/>
                </a:solidFill>
                <a:latin typeface="Arial"/>
              </a:rPr>
              <a:t>A cycle-tuned stochastic oscillator showed oversold conditions there too.</a:t>
            </a:r>
          </a:p>
          <a:p>
            <a:pPr algn="l">
              <a:lnSpc>
                <a:spcPct val="105000"/>
              </a:lnSpc>
              <a:spcBef>
                <a:spcPts val="0"/>
              </a:spcBef>
              <a:spcAft>
                <a:spcPts val="1100"/>
              </a:spcAft>
            </a:pPr>
            <a:r>
              <a:rPr sz="1800" b="0" i="0">
                <a:solidFill>
                  <a:srgbClr val="1A1A1A"/>
                </a:solidFill>
                <a:latin typeface="Arial"/>
              </a:rPr>
              <a:t>At Points 2 and 3 the trendline failed. There the stochastic showed no clear oversold condition, at X and Y.</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volume peak times the retest; the oscillator confirms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An hourly EURUSD chart with three rising trendlines, retests marked at 1 to 5, a volume panel with daily volume cycles, and a stochastic panel whose oversold readings are marked under 1, 4 and 5, with circles at X and Y where it was not clearly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The cycle-tuned stochastic: named in Chapter 5; oscillators are Chapter 8.</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14</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Point and figure, Renko and three line break charts, Chapter 3: the time axis is not plotted in a linear fashion.</a:t>
            </a:r>
          </a:p>
          <a:p>
            <a:pPr algn="l">
              <a:lnSpc>
                <a:spcPct val="105000"/>
              </a:lnSpc>
              <a:spcBef>
                <a:spcPts val="0"/>
              </a:spcBef>
              <a:spcAft>
                <a:spcPts val="1100"/>
              </a:spcAft>
            </a:pPr>
            <a:r>
              <a:rPr sz="1800" b="0" i="0">
                <a:solidFill>
                  <a:srgbClr val="1A1A1A"/>
                </a:solidFill>
                <a:latin typeface="Arial"/>
              </a:rPr>
              <a:t>That affects the angle of trendlines, channels and chart patterns.</a:t>
            </a:r>
          </a:p>
          <a:p>
            <a:pPr algn="l">
              <a:lnSpc>
                <a:spcPct val="105000"/>
              </a:lnSpc>
              <a:spcBef>
                <a:spcPts val="0"/>
              </a:spcBef>
              <a:spcAft>
                <a:spcPts val="1100"/>
              </a:spcAft>
            </a:pPr>
            <a:r>
              <a:rPr sz="1800" b="0" i="0">
                <a:solidFill>
                  <a:srgbClr val="1A1A1A"/>
                </a:solidFill>
                <a:latin typeface="Arial"/>
              </a:rPr>
              <a:t>Equivolume charts are unique: constant time bars, but bar width varies with volume, so the time axis is non-linear too.</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6.38: the same trendline is violated at different points on the two charts.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Two daily Apple charts of the same months, a standard chart with a linear time axis above and an equivolume chart with a non-linear time axis below. The same rising trendline is drawn on both, and circles mark where each is violated, at different places.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eight: the VWMA, the Accumulation Distribution Line (ADL),</a:t>
            </a:r>
          </a:p>
          <a:p>
            <a:pPr algn="l">
              <a:lnSpc>
                <a:spcPct val="118000"/>
              </a:lnSpc>
              <a:spcBef>
                <a:spcPts val="0"/>
              </a:spcBef>
              <a:spcAft>
                <a:spcPts val="1300"/>
              </a:spcAft>
            </a:pPr>
            <a:r>
              <a:rPr sz="2100" b="0" i="0">
                <a:solidFill>
                  <a:srgbClr val="1A1A1A"/>
                </a:solidFill>
                <a:latin typeface="Arial"/>
              </a:rPr>
              <a:t>On Balance Volume (OBV), the Chaikin Money Flow and Chaikin Oscillator,</a:t>
            </a:r>
          </a:p>
          <a:p>
            <a:pPr algn="l">
              <a:lnSpc>
                <a:spcPct val="118000"/>
              </a:lnSpc>
              <a:spcBef>
                <a:spcPts val="0"/>
              </a:spcBef>
              <a:spcAft>
                <a:spcPts val="1300"/>
              </a:spcAft>
            </a:pPr>
            <a:r>
              <a:rPr sz="2100" b="0" i="0">
                <a:solidFill>
                  <a:srgbClr val="1A1A1A"/>
                </a:solidFill>
                <a:latin typeface="Arial"/>
              </a:rPr>
              <a:t>the Demand Index, the Herrick Payoff Index, the NYSE Up/Down Volume Line.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is read by eight standard methods. Here: mostly divergence, plus oversold levels and trendlines on the indicator.</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eight methods, Chapter 8: 1 OBOS overextended levels, 2 equilibrium and zero line crossovers, 3 signal line crossovers, 4 price-oscillator divergence, 5 to 7 geometrically, numerically and horizontally based oscillator pattern analysis, 8 oscillator-on-oscillator analysis. OBOS: overbought and oversold. The VWMA was Part 2; the Demand Index is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both lists, as printed. It refers the eight methods to Chapter 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add the day's volume if the close rose, subtract it if the close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Closes PHP 50.00, 50.50, 50.20, 50.20, 50.80, 50.60; volumes after day 1: 2.0, 1.5, 1.0, 3.0, 1.0 million. OBV: 0, 2.0, 0.5, 0.5, 3.5, 2.5.</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 a disadvantage and a weakness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Disadvantage: its absolute value depends on the start date. Its relative changes do not, so the eight methods still work.</a:t>
            </a:r>
          </a:p>
          <a:p>
            <a:pPr algn="l">
              <a:lnSpc>
                <a:spcPct val="105000"/>
              </a:lnSpc>
              <a:spcBef>
                <a:spcPts val="0"/>
              </a:spcBef>
              <a:spcAft>
                <a:spcPts val="1100"/>
              </a:spcAft>
            </a:pPr>
            <a:r>
              <a:rPr sz="1800" b="0" i="0">
                <a:solidFill>
                  <a:srgbClr val="1A1A1A"/>
                </a:solidFill>
                <a:latin typeface="Arial"/>
              </a:rPr>
              <a:t>Weakness: volume is added or subtracted regardless of the bar's own behavior.</a:t>
            </a:r>
          </a:p>
          <a:p>
            <a:pPr algn="l">
              <a:lnSpc>
                <a:spcPct val="105000"/>
              </a:lnSpc>
              <a:spcBef>
                <a:spcPts val="0"/>
              </a:spcBef>
              <a:spcAft>
                <a:spcPts val="1100"/>
              </a:spcAft>
            </a:pPr>
            <a:r>
              <a:rPr sz="1800" b="0" i="0">
                <a:solidFill>
                  <a:srgbClr val="1A1A1A"/>
                </a:solidFill>
                <a:latin typeface="Arial"/>
              </a:rPr>
              <a:t>A bar closing just below the last close is subtracted, even after a new high far above the last bar's.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many prefer the ADL or the two Chaikin indicators.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the weakness and its example are the book's. The chart is ours, on invented bars.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Citigroup's price falls to a lower low while the OBV makes a higher one.</a:t>
            </a:r>
          </a:p>
          <a:p>
            <a:pPr algn="l">
              <a:lnSpc>
                <a:spcPct val="105000"/>
              </a:lnSpc>
              <a:spcBef>
                <a:spcPts val="0"/>
              </a:spcBef>
              <a:spcAft>
                <a:spcPts val="1100"/>
              </a:spcAft>
            </a:pPr>
            <a:r>
              <a:rPr sz="2000" b="0" i="0">
                <a:solidFill>
                  <a:srgbClr val="1A1A1A"/>
                </a:solidFill>
                <a:latin typeface="Arial"/>
              </a:rPr>
              <a:t>Prices rebound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OBV is price-based: bullish divergence is price falling while it rises.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Copper's price rises, twice, while the OBV falls.</a:t>
            </a:r>
          </a:p>
          <a:p>
            <a:pPr algn="l">
              <a:lnSpc>
                <a:spcPct val="105000"/>
              </a:lnSpc>
              <a:spcBef>
                <a:spcPts val="0"/>
              </a:spcBef>
              <a:spcAft>
                <a:spcPts val="1100"/>
              </a:spcAft>
            </a:pPr>
            <a:r>
              <a:rPr sz="2000" b="0" i="0">
                <a:solidFill>
                  <a:srgbClr val="1A1A1A"/>
                </a:solidFill>
                <a:latin typeface="Arial"/>
              </a:rPr>
              <a:t>Prices fell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Bearish divergence reads the same on both kinds: price up, the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rising to higher peaks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each bar adding or subtracting a share of its volume by where it closed.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High PHP 52, low PHP 48, 2 million shares. Close 52: add 2.0 million. Close 50, the middle: add nothing. Close 49: subtract 1.0 million.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the close, high and low of the bar, Chapter 1's OHLC. The bars and their volume are ours.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close at the midpoint adds nothing: if C - L = H - C, then C = (H + L) / 2.</a:t>
            </a:r>
          </a:p>
          <a:p>
            <a:pPr algn="l">
              <a:lnSpc>
                <a:spcPct val="105000"/>
              </a:lnSpc>
              <a:spcBef>
                <a:spcPts val="0"/>
              </a:spcBef>
              <a:spcAft>
                <a:spcPts val="1100"/>
              </a:spcAft>
            </a:pPr>
            <a:r>
              <a:rPr sz="1800" b="0" i="0">
                <a:solidFill>
                  <a:srgbClr val="1A1A1A"/>
                </a:solidFill>
                <a:latin typeface="Arial"/>
              </a:rPr>
              <a:t>The further above the midpoint price closes, the more volume is added; below, the more subtracted.</a:t>
            </a:r>
          </a:p>
          <a:p>
            <a:pPr algn="l">
              <a:lnSpc>
                <a:spcPct val="105000"/>
              </a:lnSpc>
              <a:spcBef>
                <a:spcPts val="0"/>
              </a:spcBef>
              <a:spcAft>
                <a:spcPts val="1100"/>
              </a:spcAft>
            </a:pPr>
            <a:r>
              <a:rPr sz="1800" b="0" i="0">
                <a:solidFill>
                  <a:srgbClr val="1A1A1A"/>
                </a:solidFill>
                <a:latin typeface="Arial"/>
              </a:rPr>
              <a:t>At most the day's total volume is added: a close at the high makes the factor exactly 1.</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is the book's. The chart is ours: the factor drawn against where the close sits.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ADL shows bullish confirmation, rising with price.</a:t>
            </a:r>
          </a:p>
          <a:p>
            <a:pPr algn="l">
              <a:lnSpc>
                <a:spcPct val="105000"/>
              </a:lnSpc>
              <a:spcBef>
                <a:spcPts val="0"/>
              </a:spcBef>
              <a:spcAft>
                <a:spcPts val="1100"/>
              </a:spcAft>
            </a:pPr>
            <a:r>
              <a:rPr sz="2000" b="0" i="0">
                <a:solidFill>
                  <a:srgbClr val="1A1A1A"/>
                </a:solidFill>
                <a:latin typeface="Arial"/>
              </a:rPr>
              <a:t>The volume bars show bearish divergence: an underlying weakness in the uptrend.</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trader should wait for price confirmation of a reversal before taking part.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When the OBV and the ADL rise or fall together, price trends in a decisive manner.</a:t>
            </a:r>
          </a:p>
          <a:p>
            <a:pPr algn="l">
              <a:lnSpc>
                <a:spcPct val="105000"/>
              </a:lnSpc>
              <a:spcBef>
                <a:spcPts val="0"/>
              </a:spcBef>
              <a:spcAft>
                <a:spcPts val="1100"/>
              </a:spcAft>
            </a:pPr>
            <a:r>
              <a:rPr sz="1800" b="0" i="0">
                <a:solidFill>
                  <a:srgbClr val="1A1A1A"/>
                </a:solidFill>
                <a:latin typeface="Arial"/>
              </a:rPr>
              <a:t>When they move in opposite directions, price tends to range or consolidate.</a:t>
            </a:r>
          </a:p>
          <a:p>
            <a:pPr algn="l">
              <a:lnSpc>
                <a:spcPct val="105000"/>
              </a:lnSpc>
              <a:spcBef>
                <a:spcPts val="0"/>
              </a:spcBef>
              <a:spcAft>
                <a:spcPts val="1100"/>
              </a:spcAft>
            </a:pPr>
            <a:r>
              <a:rPr sz="1800" b="0" i="0">
                <a:solidFill>
                  <a:srgbClr val="1A1A1A"/>
                </a:solidFill>
                <a:latin typeface="Arial"/>
              </a:rPr>
              <a:t>Useful for gauging behavioral or regime changes in the market.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It may help decide between a trend-following and a range-bound strategy.</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the ADL's signed volume over N bars, over their volume. The oscillator: two averages of its running total.</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Signed volumes 2.0, 0 and -0.5 million on volumes 2.0, 1.0 and 1.0 million: CMF = 1.5 / 4.0 = 0.375.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is the multiplying factor times volume. N-period CMF: the N-period sum of S over the N-period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two EMA lengths. EMA: an exponential moving average, Chapter 11. N: a number of periods. The bars and volumes are ours.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sell, or bearish, signal: each breaks the rising line drawn under it. The Chaikin oscillator breaks first, the CMF later.</a:t>
            </a:r>
          </a:p>
          <a:p>
            <a:pPr algn="l">
              <a:lnSpc>
                <a:spcPct val="105000"/>
              </a:lnSpc>
              <a:spcBef>
                <a:spcPts val="0"/>
              </a:spcBef>
              <a:spcAft>
                <a:spcPts val="1100"/>
              </a:spcAft>
            </a:pPr>
            <a:r>
              <a:rPr sz="2000" b="0" i="0">
                <a:solidFill>
                  <a:srgbClr val="1A1A1A"/>
                </a:solidFill>
                <a:latin typeface="Arial"/>
              </a:rPr>
              <a:t>Oversold levels on both point to a potential market bottom in copper around October 2011.</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Chaikin oscillator gives the earlier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figure prints CMF(20) and ChiOsc(3,10); the text gives no settings.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14</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in the NYSE's rising stocks set against volume in its falling ones.</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6.44: the indicator breaks its rising trendline first, an early bearish signal; the NYSE Composite breaks later.</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price-based volume oscillator that also uses open interest, so it can only be used where there is open interest: futures and options.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gold futures chart it can be read. On a PSE share, which has no open interest, it cannot.</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Bearish signals: money flowing out; bullish signals: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14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who holds the open positions in a futures market, group by group.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Traders look for changes in the net commercial or non-commercial positions, and for a test of a significant or historical open interest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it does not define net. The chart is ours, on invented prices and open interest.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is participation: moving with price, bullish; against it, bearish.</a:t>
            </a:r>
          </a:p>
          <a:p>
            <a:pPr algn="l">
              <a:lnSpc>
                <a:spcPct val="118000"/>
              </a:lnSpc>
              <a:spcBef>
                <a:spcPts val="0"/>
              </a:spcBef>
              <a:spcAft>
                <a:spcPts val="1300"/>
              </a:spcAft>
            </a:pPr>
            <a:r>
              <a:rPr sz="2100" b="0" i="0">
                <a:solidFill>
                  <a:srgbClr val="1A1A1A"/>
                </a:solidFill>
                <a:latin typeface="Arial"/>
              </a:rPr>
              <a:t>Volume falling is divergence, rising is confirmation, whatever price does.</a:t>
            </a:r>
          </a:p>
          <a:p>
            <a:pPr algn="l">
              <a:lnSpc>
                <a:spcPct val="118000"/>
              </a:lnSpc>
              <a:spcBef>
                <a:spcPts val="0"/>
              </a:spcBef>
              <a:spcAft>
                <a:spcPts val="1300"/>
              </a:spcAft>
            </a:pPr>
            <a:r>
              <a:rPr sz="2100" b="0" i="0">
                <a:solidFill>
                  <a:srgbClr val="1A1A1A"/>
                </a:solidFill>
                <a:latin typeface="Arial"/>
              </a:rPr>
              <a:t>Minimum volume times breakouts and reversals; extreme volume, climaxes.</a:t>
            </a:r>
          </a:p>
          <a:p>
            <a:pPr algn="l">
              <a:lnSpc>
                <a:spcPct val="118000"/>
              </a:lnSpc>
              <a:spcBef>
                <a:spcPts val="0"/>
              </a:spcBef>
              <a:spcAft>
                <a:spcPts val="1300"/>
              </a:spcAft>
            </a:pPr>
            <a:r>
              <a:rPr sz="2100" b="0" i="0">
                <a:solidFill>
                  <a:srgbClr val="1A1A1A"/>
                </a:solidFill>
                <a:latin typeface="Arial"/>
              </a:rPr>
              <a:t>Barriers, filters and volume by price pick out the volume that matters.</a:t>
            </a:r>
          </a:p>
          <a:p>
            <a:pPr algn="l">
              <a:lnSpc>
                <a:spcPct val="118000"/>
              </a:lnSpc>
              <a:spcBef>
                <a:spcPts val="0"/>
              </a:spcBef>
              <a:spcAft>
                <a:spcPts val="1300"/>
              </a:spcAft>
            </a:pPr>
            <a:r>
              <a:rPr sz="2100" b="0" i="0">
                <a:solidFill>
                  <a:srgbClr val="1A1A1A"/>
                </a:solidFill>
                <a:latin typeface="Arial"/>
              </a:rPr>
              <a:t>Open interest reads like volume; the OBV, ADL and Chaikin pair use price.</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summary: price-based volume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against tick volume?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Volume cycles: their use, and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the first and last lines carry two each.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not explained: overbought, oversold, Bollinger Bands and Bandwidth, MACD, EMA, the tick, the cycle-tuned stochastic.</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by chapter: oscillators 8, divergence 9, moving averages and the VWMA's calculation 11.</a:t>
            </a:r>
          </a:p>
          <a:p>
            <a:pPr algn="l">
              <a:lnSpc>
                <a:spcPct val="118000"/>
              </a:lnSpc>
              <a:spcBef>
                <a:spcPts val="0"/>
              </a:spcBef>
              <a:spcAft>
                <a:spcPts val="1300"/>
              </a:spcAft>
            </a:pPr>
            <a:r>
              <a:rPr sz="2100" b="0" i="0">
                <a:solidFill>
                  <a:srgbClr val="1A1A1A"/>
                </a:solidFill>
                <a:latin typeface="Arial"/>
              </a:rPr>
              <a:t>Two answers: above the VWMA, bullish or overvalued; a bullish TRIN, overbought or oversold; the up/down line, ratio or cumulative.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