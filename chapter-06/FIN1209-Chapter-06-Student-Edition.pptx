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volume rises as price rises, falls on the dips: bullish volume action, the book says.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volume rises as price falls, falls on the bounces: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52890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291157"/>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83395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a:t>
            </a:r>
          </a:p>
          <a:p>
            <a:pPr algn="l">
              <a:lnSpc>
                <a:spcPct val="115000"/>
              </a:lnSpc>
              <a:spcBef>
                <a:spcPts val="0"/>
              </a:spcBef>
              <a:spcAft>
                <a:spcPts val="0"/>
              </a:spcAft>
            </a:pPr>
            <a:r>
              <a:rPr sz="15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p:txBody>
      </p:sp>
      <p:sp>
        <p:nvSpPr>
          <p:cNvPr id="15" name="Rectangle 14"/>
          <p:cNvSpPr/>
          <p:nvPr/>
        </p:nvSpPr>
        <p:spPr>
          <a:xfrm>
            <a:off x="7683669" y="2281537"/>
            <a:ext cx="2178614" cy="684560"/>
          </a:xfrm>
          <a:prstGeom prst="rect">
            <a:avLst/>
          </a:prstGeom>
          <a:noFill/>
          <a:ln w="44450">
            <a:solidFill>
              <a:srgbClr val="E09B00"/>
            </a:solidFill>
          </a:ln>
        </p:spPr>
        <p:txBody>
          <a:bodyPr rtlCol="0" anchor="ctr"/>
          <a:lstStyle/>
          <a:p>
            <a:pPr algn="ctr"/>
          </a:p>
        </p:txBody>
      </p:sp>
      <p:sp>
        <p:nvSpPr>
          <p:cNvPr id="16" name="Rectangle 15"/>
          <p:cNvSpPr/>
          <p:nvPr/>
        </p:nvSpPr>
        <p:spPr>
          <a:xfrm>
            <a:off x="7683669" y="4522816"/>
            <a:ext cx="2209485" cy="638484"/>
          </a:xfrm>
          <a:prstGeom prst="rect">
            <a:avLst/>
          </a:prstGeom>
          <a:noFill/>
          <a:ln w="44450">
            <a:solidFill>
              <a:srgbClr val="C62828"/>
            </a:solidFill>
          </a:ln>
        </p:spPr>
        <p:txBody>
          <a:bodyPr rtlCol="0" anchor="ctr"/>
          <a:lstStyle/>
          <a:p>
            <a:pPr algn="ctr"/>
          </a:p>
        </p:txBody>
      </p:sp>
      <p:sp>
        <p:nvSpPr>
          <p:cNvPr id="17" name="Oval 16"/>
          <p:cNvSpPr/>
          <p:nvPr/>
        </p:nvSpPr>
        <p:spPr>
          <a:xfrm>
            <a:off x="9706835" y="281065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37706" y="49334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766559" y="5430853"/>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t>
            </a:r>
            <a:r>
              <a:rPr sz="1800" b="1" i="0">
                <a:solidFill>
                  <a:srgbClr val="E09B00"/>
                </a:solidFill>
                <a:latin typeface="Arial"/>
              </a:rPr>
              <a:t>(1)</a:t>
            </a:r>
            <a:r>
              <a:rPr sz="1800" b="0" i="0">
                <a:solidFill>
                  <a:srgbClr val="1A1A1A"/>
                </a:solidFill>
                <a:latin typeface="Arial"/>
              </a:rPr>
              <a:t> about 260 in 2001 to 1,900 in 2011 as volume expands </a:t>
            </a:r>
            <a:r>
              <a:rPr sz="1800" b="1" i="0">
                <a:solidFill>
                  <a:srgbClr val="C62828"/>
                </a:solidFill>
                <a:latin typeface="Arial"/>
              </a:rPr>
              <a:t>(2)</a:t>
            </a:r>
            <a:r>
              <a:rPr sz="1800" b="0" i="0">
                <a:solidFill>
                  <a:srgbClr val="1A1A1A"/>
                </a:solidFill>
                <a:latin typeface="Arial"/>
              </a:rPr>
              <a:t>: bullish. </a:t>
            </a:r>
            <a:r>
              <a:rPr sz="1800" b="1" i="0">
                <a:solidFill>
                  <a:srgbClr val="1F5FAD"/>
                </a:solidFill>
                <a:latin typeface="Arial"/>
              </a:rPr>
              <a:t>(3)</a:t>
            </a:r>
            <a:r>
              <a:rPr sz="1800" b="0" i="0">
                <a:solidFill>
                  <a:srgbClr val="1A1A1A"/>
                </a:solidFill>
                <a:latin typeface="Arial"/>
              </a:rPr>
              <a:t> Then to about 1,200 in 2013 as volume declines: bullish too.</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43915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02986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79211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33491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a:t>
            </a:r>
          </a:p>
          <a:p>
            <a:pPr algn="l">
              <a:lnSpc>
                <a:spcPct val="115000"/>
              </a:lnSpc>
              <a:spcBef>
                <a:spcPts val="0"/>
              </a:spcBef>
              <a:spcAft>
                <a:spcPts val="0"/>
              </a:spcAft>
            </a:pPr>
            <a:r>
              <a:rPr sz="15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p:txBody>
      </p:sp>
      <p:cxnSp>
        <p:nvCxnSpPr>
          <p:cNvPr id="15" name="Connector 14"/>
          <p:cNvCxnSpPr/>
          <p:nvPr/>
        </p:nvCxnSpPr>
        <p:spPr>
          <a:xfrm flipV="1">
            <a:off x="9256277" y="2387291"/>
            <a:ext cx="1557037" cy="1552416"/>
          </a:xfrm>
          <a:prstGeom prst="line">
            <a:avLst/>
          </a:prstGeom>
          <a:ln w="44450">
            <a:solidFill>
              <a:srgbClr val="E09B00"/>
            </a:solidFill>
            <a:tailEnd type="triangle" w="med" len="med"/>
          </a:ln>
        </p:spPr>
      </p:cxnSp>
      <p:sp>
        <p:nvSpPr>
          <p:cNvPr id="16" name="Rectangle 15"/>
          <p:cNvSpPr/>
          <p:nvPr/>
        </p:nvSpPr>
        <p:spPr>
          <a:xfrm>
            <a:off x="9233312" y="4070937"/>
            <a:ext cx="1524886" cy="494204"/>
          </a:xfrm>
          <a:prstGeom prst="rect">
            <a:avLst/>
          </a:prstGeom>
          <a:noFill/>
          <a:ln w="44450">
            <a:solidFill>
              <a:srgbClr val="C62828"/>
            </a:solidFill>
          </a:ln>
        </p:spPr>
        <p:txBody>
          <a:bodyPr rtlCol="0" anchor="ctr"/>
          <a:lstStyle/>
          <a:p>
            <a:pPr algn="ctr"/>
          </a:p>
        </p:txBody>
      </p:sp>
      <p:sp>
        <p:nvSpPr>
          <p:cNvPr id="17" name="Oval 16"/>
          <p:cNvSpPr/>
          <p:nvPr/>
        </p:nvSpPr>
        <p:spPr>
          <a:xfrm>
            <a:off x="10588256" y="2074574"/>
            <a:ext cx="486861" cy="603097"/>
          </a:xfrm>
          <a:prstGeom prst="ellipse">
            <a:avLst/>
          </a:prstGeom>
          <a:noFill/>
          <a:ln w="44450">
            <a:solidFill>
              <a:srgbClr val="1F5FAD"/>
            </a:solidFill>
          </a:ln>
        </p:spPr>
        <p:txBody>
          <a:bodyPr rtlCol="0" anchor="ctr"/>
          <a:lstStyle/>
          <a:p>
            <a:pPr algn="ctr"/>
          </a:p>
        </p:txBody>
      </p:sp>
      <p:sp>
        <p:nvSpPr>
          <p:cNvPr id="18" name="Oval 17"/>
          <p:cNvSpPr/>
          <p:nvPr/>
        </p:nvSpPr>
        <p:spPr>
          <a:xfrm>
            <a:off x="9100829" y="37842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602750" y="39154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32808" y="19191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93181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ours: PHP 40 to 46 as volume shrinks 4 to 2 million, dip to 44 as it grows to 3. Opposite ways: bearish volume, a potentially weak uptrend.</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ours: PHP 50 to 46 as volume shrinks 4 to 2 million, bounce to 48 as it grows to 3. Same way: bullish volume, a potentially bullish downtrend.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5191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32813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824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a:t>
            </a:r>
          </a:p>
          <a:p>
            <a:pPr algn="l">
              <a:lnSpc>
                <a:spcPct val="115000"/>
              </a:lnSpc>
              <a:spcBef>
                <a:spcPts val="0"/>
              </a:spcBef>
              <a:spcAft>
                <a:spcPts val="0"/>
              </a:spcAft>
            </a:pPr>
            <a:r>
              <a:rPr sz="15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p:txBody>
      </p:sp>
      <p:sp>
        <p:nvSpPr>
          <p:cNvPr id="14" name="Rectangle 13"/>
          <p:cNvSpPr/>
          <p:nvPr/>
        </p:nvSpPr>
        <p:spPr>
          <a:xfrm>
            <a:off x="7718950" y="2529873"/>
            <a:ext cx="2050720" cy="475797"/>
          </a:xfrm>
          <a:prstGeom prst="rect">
            <a:avLst/>
          </a:prstGeom>
          <a:noFill/>
          <a:ln w="44450">
            <a:solidFill>
              <a:srgbClr val="E09B00"/>
            </a:solidFill>
          </a:ln>
        </p:spPr>
        <p:txBody>
          <a:bodyPr rtlCol="0" anchor="ctr"/>
          <a:lstStyle/>
          <a:p>
            <a:pPr algn="ctr"/>
          </a:p>
        </p:txBody>
      </p:sp>
      <p:sp>
        <p:nvSpPr>
          <p:cNvPr id="15" name="Rectangle 14"/>
          <p:cNvSpPr/>
          <p:nvPr/>
        </p:nvSpPr>
        <p:spPr>
          <a:xfrm>
            <a:off x="7718950" y="4734948"/>
            <a:ext cx="2284458" cy="456109"/>
          </a:xfrm>
          <a:prstGeom prst="rect">
            <a:avLst/>
          </a:prstGeom>
          <a:noFill/>
          <a:ln w="44450">
            <a:solidFill>
              <a:srgbClr val="C62828"/>
            </a:solidFill>
          </a:ln>
        </p:spPr>
        <p:txBody>
          <a:bodyPr rtlCol="0" anchor="ctr"/>
          <a:lstStyle/>
          <a:p>
            <a:pPr algn="ctr"/>
          </a:p>
        </p:txBody>
      </p:sp>
      <p:sp>
        <p:nvSpPr>
          <p:cNvPr id="16" name="Oval 15"/>
          <p:cNvSpPr/>
          <p:nvPr/>
        </p:nvSpPr>
        <p:spPr>
          <a:xfrm>
            <a:off x="7563502" y="23744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847960" y="492404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421058"/>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next slide finds both on the book's own chart.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on one chart: Figure 6.6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Over the whole rise, volume expands: the trend is confirmed.</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The dips of periods 4 and 6, on falling volume: the book labels each bullish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confirmed uptrend with two bullish divergences inside it.</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Volume expands across the whole uptrend, and periods 4 and 6 are dips on falling volume, labelled bullish divergence by the book.</a:t>
            </a:r>
          </a:p>
        </p:txBody>
      </p:sp>
      <p:cxnSp>
        <p:nvCxnSpPr>
          <p:cNvPr id="14" name="Connector 13"/>
          <p:cNvCxnSpPr/>
          <p:nvPr/>
        </p:nvCxnSpPr>
        <p:spPr>
          <a:xfrm flipV="1">
            <a:off x="7304239" y="4216029"/>
            <a:ext cx="3444773" cy="85872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7148791" y="4919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the book labels the whole trend bullish volume and two of its dips bullish divergence.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a:t>
            </a:r>
            <a:r>
              <a:rPr sz="1700" b="1" i="0">
                <a:solidFill>
                  <a:srgbClr val="E09B00"/>
                </a:solidFill>
                <a:latin typeface="Arial"/>
              </a:rPr>
              <a:t>(1)</a:t>
            </a:r>
            <a:r>
              <a:rPr sz="1700" b="0" i="0">
                <a:solidFill>
                  <a:srgbClr val="1A1A1A"/>
                </a:solidFill>
                <a:latin typeface="Arial"/>
              </a:rPr>
              <a:t>: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132319" y="2157984"/>
            <a:ext cx="4282135" cy="2833630"/>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251191" y="2276856"/>
            <a:ext cx="4044391" cy="2595886"/>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251191" y="2276856"/>
            <a:ext cx="40443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525511" y="2551175"/>
            <a:ext cx="3495751" cy="21386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a:t>
            </a:r>
          </a:p>
          <a:p>
            <a:pPr algn="l">
              <a:lnSpc>
                <a:spcPct val="115000"/>
              </a:lnSpc>
              <a:spcBef>
                <a:spcPts val="0"/>
              </a:spcBef>
              <a:spcAft>
                <a:spcPts val="0"/>
              </a:spcAft>
            </a:pPr>
            <a:r>
              <a:rPr sz="11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p:txBody>
      </p:sp>
      <p:sp>
        <p:nvSpPr>
          <p:cNvPr id="18" name="Rectangle 17"/>
          <p:cNvSpPr/>
          <p:nvPr/>
        </p:nvSpPr>
        <p:spPr>
          <a:xfrm>
            <a:off x="9657604" y="2295027"/>
            <a:ext cx="841233" cy="2206503"/>
          </a:xfrm>
          <a:prstGeom prst="rect">
            <a:avLst/>
          </a:prstGeom>
          <a:noFill/>
          <a:ln w="44450">
            <a:solidFill>
              <a:srgbClr val="E09B00"/>
            </a:solidFill>
          </a:ln>
        </p:spPr>
        <p:txBody>
          <a:bodyPr rtlCol="0" anchor="ctr"/>
          <a:lstStyle/>
          <a:p>
            <a:pPr algn="ctr"/>
          </a:p>
        </p:txBody>
      </p:sp>
      <p:sp>
        <p:nvSpPr>
          <p:cNvPr id="19" name="Oval 18"/>
          <p:cNvSpPr/>
          <p:nvPr/>
        </p:nvSpPr>
        <p:spPr>
          <a:xfrm>
            <a:off x="9502156" y="213957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132319" y="5083054"/>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PHP 46 to 50 as volume falls 3 to 1 million: fewer will buy higher. A potential downside reversal.</a:t>
            </a:r>
          </a:p>
          <a:p>
            <a:pPr algn="l">
              <a:lnSpc>
                <a:spcPct val="118000"/>
              </a:lnSpc>
              <a:spcBef>
                <a:spcPts val="0"/>
              </a:spcBef>
              <a:spcAft>
                <a:spcPts val="1300"/>
              </a:spcAft>
            </a:pPr>
            <a:r>
              <a:rPr sz="2100" b="0" i="0">
                <a:solidFill>
                  <a:srgbClr val="1A1A1A"/>
                </a:solidFill>
                <a:latin typeface="Arial"/>
              </a:rPr>
              <a:t>Bullish or bearish confirmation, volume rising with the move: more are taking part. A potential continuation.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divergence can occur: the book and its figure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bullish divergence can only occur in a downtrend, bearish only in an uptrend (p.176).</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Yet on Figure 6.6, price rises from about 42 to about 120, the span on the right: an uptrend.</a:t>
            </a:r>
          </a:p>
          <a:p>
            <a:pPr algn="l">
              <a:lnSpc>
                <a:spcPct val="105000"/>
              </a:lnSpc>
              <a:spcBef>
                <a:spcPts val="0"/>
              </a:spcBef>
              <a:spcAft>
                <a:spcPts val="1100"/>
              </a:spcAft>
            </a:pPr>
            <a:r>
              <a:rPr sz="1800" b="0" i="0">
                <a:solidFill>
                  <a:srgbClr val="1A1A1A"/>
                </a:solidFill>
                <a:latin typeface="Arial"/>
              </a:rPr>
              <a:t>Inside it, the book labels the dips of periods 4 </a:t>
            </a:r>
            <a:r>
              <a:rPr sz="1800" b="1" i="0">
                <a:solidFill>
                  <a:srgbClr val="C62828"/>
                </a:solidFill>
                <a:latin typeface="Arial"/>
              </a:rPr>
              <a:t>(2)</a:t>
            </a:r>
            <a:r>
              <a:rPr sz="1800" b="0" i="0">
                <a:solidFill>
                  <a:srgbClr val="1A1A1A"/>
                </a:solidFill>
                <a:latin typeface="Arial"/>
              </a:rPr>
              <a:t> and 6 </a:t>
            </a:r>
            <a:r>
              <a:rPr sz="1800" b="1" i="0">
                <a:solidFill>
                  <a:srgbClr val="1F5FAD"/>
                </a:solidFill>
                <a:latin typeface="Arial"/>
              </a:rPr>
              <a:t>(3)</a:t>
            </a:r>
            <a:r>
              <a:rPr sz="1800" b="0" i="0">
                <a:solidFill>
                  <a:srgbClr val="1A1A1A"/>
                </a:solidFill>
                <a:latin typeface="Arial"/>
              </a:rPr>
              <a:t>, price and volume falling together, bullish divergence.</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Our reading: the p.178 summary applies to any stretch, so a dip inside an uptrend can be bullish divergence.</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rising from about 42 to about 120, split into ten numbered periods. Periods 4 and 6 are dips on falling volume inside that uptrend, labelled bullish divergence by the book.</a:t>
            </a:r>
          </a:p>
        </p:txBody>
      </p:sp>
      <p:cxnSp>
        <p:nvCxnSpPr>
          <p:cNvPr id="14" name="Connector 13"/>
          <p:cNvCxnSpPr/>
          <p:nvPr/>
        </p:nvCxnSpPr>
        <p:spPr>
          <a:xfrm flipV="1">
            <a:off x="10997035" y="2291299"/>
            <a:ext cx="0" cy="157926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10841587" y="387962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pp.176-177 for where each can occur, and Figure 6.6 (p.178). Our reading is said to be ours.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a:t>
            </a:r>
            <a:r>
              <a:rPr sz="1700" b="1" i="0">
                <a:solidFill>
                  <a:srgbClr val="C62828"/>
                </a:solidFill>
                <a:latin typeface="Arial"/>
              </a:rPr>
              <a:t>(2)</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volume falls as price falls: volume falling, divergence; with price, bullish. Fewer are willing to sell lower.</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2070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693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12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6.5</a:t>
            </a:r>
          </a:p>
          <a:p>
            <a:pPr algn="l">
              <a:lnSpc>
                <a:spcPct val="115000"/>
              </a:lnSpc>
              <a:spcBef>
                <a:spcPts val="0"/>
              </a:spcBef>
              <a:spcAft>
                <a:spcPts val="0"/>
              </a:spcAft>
            </a:pPr>
            <a:r>
              <a:rPr sz="15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p:txBody>
      </p:sp>
      <p:sp>
        <p:nvSpPr>
          <p:cNvPr id="15" name="Rectangle 14"/>
          <p:cNvSpPr/>
          <p:nvPr/>
        </p:nvSpPr>
        <p:spPr>
          <a:xfrm>
            <a:off x="8816187" y="2642024"/>
            <a:ext cx="2261208" cy="1446066"/>
          </a:xfrm>
          <a:prstGeom prst="rect">
            <a:avLst/>
          </a:prstGeom>
          <a:noFill/>
          <a:ln w="44450">
            <a:solidFill>
              <a:srgbClr val="E09B00"/>
            </a:solidFill>
          </a:ln>
        </p:spPr>
        <p:txBody>
          <a:bodyPr rtlCol="0" anchor="ctr"/>
          <a:lstStyle/>
          <a:p>
            <a:pPr algn="ctr"/>
          </a:p>
        </p:txBody>
      </p:sp>
      <p:sp>
        <p:nvSpPr>
          <p:cNvPr id="16" name="Rectangle 15"/>
          <p:cNvSpPr/>
          <p:nvPr/>
        </p:nvSpPr>
        <p:spPr>
          <a:xfrm>
            <a:off x="8836022" y="4111845"/>
            <a:ext cx="971923" cy="656223"/>
          </a:xfrm>
          <a:prstGeom prst="rect">
            <a:avLst/>
          </a:prstGeom>
          <a:noFill/>
          <a:ln w="44450">
            <a:solidFill>
              <a:srgbClr val="C62828"/>
            </a:solidFill>
          </a:ln>
        </p:spPr>
        <p:txBody>
          <a:bodyPr rtlCol="0" anchor="ctr"/>
          <a:lstStyle/>
          <a:p>
            <a:pPr algn="ctr"/>
          </a:p>
        </p:txBody>
      </p:sp>
      <p:sp>
        <p:nvSpPr>
          <p:cNvPr id="17" name="Rectangle 16"/>
          <p:cNvSpPr/>
          <p:nvPr/>
        </p:nvSpPr>
        <p:spPr>
          <a:xfrm>
            <a:off x="10006297" y="4236558"/>
            <a:ext cx="1056222" cy="558235"/>
          </a:xfrm>
          <a:prstGeom prst="rect">
            <a:avLst/>
          </a:prstGeom>
          <a:noFill/>
          <a:ln w="44450">
            <a:solidFill>
              <a:srgbClr val="1F5FAD"/>
            </a:solidFill>
          </a:ln>
        </p:spPr>
        <p:txBody>
          <a:bodyPr rtlCol="0" anchor="ctr"/>
          <a:lstStyle/>
          <a:p>
            <a:pPr algn="ctr"/>
          </a:p>
        </p:txBody>
      </p:sp>
      <p:sp>
        <p:nvSpPr>
          <p:cNvPr id="18" name="Oval 17"/>
          <p:cNvSpPr/>
          <p:nvPr/>
        </p:nvSpPr>
        <p:spPr>
          <a:xfrm>
            <a:off x="8660739" y="2486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80574" y="46126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907071" y="46393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0903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29</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a:t>
            </a:r>
            <a:r>
              <a:rPr sz="1700" b="1" i="0">
                <a:solidFill>
                  <a:srgbClr val="E09B00"/>
                </a:solidFill>
                <a:latin typeface="Arial"/>
              </a:rPr>
              <a:t>(1)</a:t>
            </a:r>
            <a:r>
              <a:rPr sz="1700" b="0" i="0">
                <a:solidFill>
                  <a:srgbClr val="1A1A1A"/>
                </a:solidFill>
                <a:latin typeface="Arial"/>
              </a:rPr>
              <a:t>, 7 and 9: price and volume rise, bullish confirmation. 4 </a:t>
            </a:r>
            <a:r>
              <a:rPr sz="1700" b="1" i="0">
                <a:solidFill>
                  <a:srgbClr val="C62828"/>
                </a:solidFill>
                <a:latin typeface="Arial"/>
              </a:rPr>
              <a:t>(2)</a:t>
            </a:r>
            <a:r>
              <a:rPr sz="1700" b="0" i="0">
                <a:solidFill>
                  <a:srgbClr val="1A1A1A"/>
                </a:solidFill>
                <a:latin typeface="Arial"/>
              </a:rPr>
              <a:t> and 6 </a:t>
            </a:r>
            <a:r>
              <a:rPr sz="1700" b="1" i="0">
                <a:solidFill>
                  <a:srgbClr val="1F5FAD"/>
                </a:solidFill>
                <a:latin typeface="Arial"/>
              </a:rPr>
              <a:t>(3)</a:t>
            </a:r>
            <a:r>
              <a:rPr sz="1700" b="0" i="0">
                <a:solidFill>
                  <a:srgbClr val="1A1A1A"/>
                </a:solidFill>
                <a:latin typeface="Arial"/>
              </a:rPr>
              <a:t>: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a:t>
            </a:r>
            <a:r>
              <a:rPr sz="1700" b="1" i="0">
                <a:solidFill>
                  <a:srgbClr val="007A33"/>
                </a:solidFill>
                <a:latin typeface="Arial"/>
              </a:rPr>
              <a:t>(4)</a:t>
            </a:r>
            <a:r>
              <a:rPr sz="1700" b="0" i="0">
                <a:solidFill>
                  <a:srgbClr val="1A1A1A"/>
                </a:solidFill>
                <a:latin typeface="Arial"/>
              </a:rPr>
              <a:t>,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154990" y="1810512"/>
            <a:ext cx="5139513"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73862" y="1929384"/>
            <a:ext cx="4901769"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273862" y="1929384"/>
            <a:ext cx="4901769"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548182" y="2203703"/>
            <a:ext cx="435312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p:txBody>
      </p:sp>
      <p:sp>
        <p:nvSpPr>
          <p:cNvPr id="15" name="Rectangle 14"/>
          <p:cNvSpPr/>
          <p:nvPr/>
        </p:nvSpPr>
        <p:spPr>
          <a:xfrm>
            <a:off x="8391427" y="2308603"/>
            <a:ext cx="504882" cy="3051316"/>
          </a:xfrm>
          <a:prstGeom prst="rect">
            <a:avLst/>
          </a:prstGeom>
          <a:noFill/>
          <a:ln w="44450">
            <a:solidFill>
              <a:srgbClr val="E09B00"/>
            </a:solidFill>
          </a:ln>
        </p:spPr>
        <p:txBody>
          <a:bodyPr rtlCol="0" anchor="ctr"/>
          <a:lstStyle/>
          <a:p>
            <a:pPr algn="ctr"/>
          </a:p>
        </p:txBody>
      </p:sp>
      <p:sp>
        <p:nvSpPr>
          <p:cNvPr id="16" name="Oval 15"/>
          <p:cNvSpPr/>
          <p:nvPr/>
        </p:nvSpPr>
        <p:spPr>
          <a:xfrm>
            <a:off x="8832586" y="2431499"/>
            <a:ext cx="372534" cy="428378"/>
          </a:xfrm>
          <a:prstGeom prst="ellipse">
            <a:avLst/>
          </a:prstGeom>
          <a:noFill/>
          <a:ln w="44450">
            <a:solidFill>
              <a:srgbClr val="C62828"/>
            </a:solidFill>
          </a:ln>
        </p:spPr>
        <p:txBody>
          <a:bodyPr rtlCol="0" anchor="ctr"/>
          <a:lstStyle/>
          <a:p>
            <a:pPr algn="ctr"/>
          </a:p>
        </p:txBody>
      </p:sp>
      <p:sp>
        <p:nvSpPr>
          <p:cNvPr id="17" name="Oval 16"/>
          <p:cNvSpPr/>
          <p:nvPr/>
        </p:nvSpPr>
        <p:spPr>
          <a:xfrm>
            <a:off x="9263942" y="2614086"/>
            <a:ext cx="328418" cy="589897"/>
          </a:xfrm>
          <a:prstGeom prst="ellipse">
            <a:avLst/>
          </a:prstGeom>
          <a:noFill/>
          <a:ln w="44450">
            <a:solidFill>
              <a:srgbClr val="1F5FAD"/>
            </a:solidFill>
          </a:ln>
        </p:spPr>
        <p:txBody>
          <a:bodyPr rtlCol="0" anchor="ctr"/>
          <a:lstStyle/>
          <a:p>
            <a:pPr algn="ctr"/>
          </a:p>
        </p:txBody>
      </p:sp>
      <p:sp>
        <p:nvSpPr>
          <p:cNvPr id="18" name="Rectangle 17"/>
          <p:cNvSpPr/>
          <p:nvPr/>
        </p:nvSpPr>
        <p:spPr>
          <a:xfrm>
            <a:off x="7347350" y="2982772"/>
            <a:ext cx="1014666" cy="2377147"/>
          </a:xfrm>
          <a:prstGeom prst="rect">
            <a:avLst/>
          </a:prstGeom>
          <a:noFill/>
          <a:ln w="44450">
            <a:solidFill>
              <a:srgbClr val="007A33"/>
            </a:solidFill>
          </a:ln>
        </p:spPr>
        <p:txBody>
          <a:bodyPr rtlCol="0" anchor="ctr"/>
          <a:lstStyle/>
          <a:p>
            <a:pPr algn="ctr"/>
          </a:p>
        </p:txBody>
      </p:sp>
      <p:sp>
        <p:nvSpPr>
          <p:cNvPr id="19" name="Oval 18"/>
          <p:cNvSpPr/>
          <p:nvPr/>
        </p:nvSpPr>
        <p:spPr>
          <a:xfrm>
            <a:off x="8740861" y="520447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677138" y="227605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9108494" y="24586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7191902" y="520447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Non-price-based, plain volume included: bullish if it moves with price, bearish if against. Divergence if it falls, confirmation if it rises.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a:t>
            </a:r>
            <a:r>
              <a:rPr sz="1700" b="1" i="0">
                <a:solidFill>
                  <a:srgbClr val="E09B00"/>
                </a:solidFill>
                <a:latin typeface="Arial"/>
              </a:rPr>
              <a:t>(1)</a:t>
            </a:r>
            <a:r>
              <a:rPr sz="1700" b="0" i="0">
                <a:solidFill>
                  <a:srgbClr val="1A1A1A"/>
                </a:solidFill>
                <a:latin typeface="Arial"/>
              </a:rPr>
              <a:t> plain volume, right </a:t>
            </a:r>
            <a:r>
              <a:rPr sz="1700" b="1" i="0">
                <a:solidFill>
                  <a:srgbClr val="C62828"/>
                </a:solidFill>
                <a:latin typeface="Arial"/>
              </a:rPr>
              <a:t>(2)</a:t>
            </a:r>
            <a:r>
              <a:rPr sz="1700" b="0" i="0">
                <a:solidFill>
                  <a:srgbClr val="1A1A1A"/>
                </a:solidFill>
                <a:latin typeface="Arial"/>
              </a:rPr>
              <a:t> price-based. Two arrows flip, </a:t>
            </a:r>
            <a:r>
              <a:rPr sz="1700" b="1" i="0">
                <a:solidFill>
                  <a:srgbClr val="1F5FAD"/>
                </a:solidFill>
                <a:latin typeface="Arial"/>
              </a:rPr>
              <a:t>(3)</a:t>
            </a:r>
            <a:r>
              <a:rPr sz="1700" b="0" i="0">
                <a:solidFill>
                  <a:srgbClr val="1A1A1A"/>
                </a:solidFill>
                <a:latin typeface="Arial"/>
              </a:rPr>
              <a:t> and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766559" y="1810512"/>
            <a:ext cx="4647894" cy="35965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3588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9016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p:txBody>
      </p:sp>
      <p:sp>
        <p:nvSpPr>
          <p:cNvPr id="15" name="Rectangle 14"/>
          <p:cNvSpPr/>
          <p:nvPr/>
        </p:nvSpPr>
        <p:spPr>
          <a:xfrm>
            <a:off x="6951584" y="2006637"/>
            <a:ext cx="2125692" cy="3234558"/>
          </a:xfrm>
          <a:prstGeom prst="rect">
            <a:avLst/>
          </a:prstGeom>
          <a:noFill/>
          <a:ln w="44450">
            <a:solidFill>
              <a:srgbClr val="E09B00"/>
            </a:solidFill>
          </a:ln>
        </p:spPr>
        <p:txBody>
          <a:bodyPr rtlCol="0" anchor="ctr"/>
          <a:lstStyle/>
          <a:p>
            <a:pPr algn="ctr"/>
          </a:p>
        </p:txBody>
      </p:sp>
      <p:sp>
        <p:nvSpPr>
          <p:cNvPr id="16" name="Rectangle 15"/>
          <p:cNvSpPr/>
          <p:nvPr/>
        </p:nvSpPr>
        <p:spPr>
          <a:xfrm>
            <a:off x="9130198" y="2006637"/>
            <a:ext cx="2112462" cy="3234558"/>
          </a:xfrm>
          <a:prstGeom prst="rect">
            <a:avLst/>
          </a:prstGeom>
          <a:noFill/>
          <a:ln w="44450">
            <a:solidFill>
              <a:srgbClr val="C62828"/>
            </a:solidFill>
          </a:ln>
        </p:spPr>
        <p:txBody>
          <a:bodyPr rtlCol="0" anchor="ctr"/>
          <a:lstStyle/>
          <a:p>
            <a:pPr algn="ctr"/>
          </a:p>
        </p:txBody>
      </p:sp>
      <p:sp>
        <p:nvSpPr>
          <p:cNvPr id="17" name="Oval 16"/>
          <p:cNvSpPr/>
          <p:nvPr/>
        </p:nvSpPr>
        <p:spPr>
          <a:xfrm>
            <a:off x="10413552" y="2836269"/>
            <a:ext cx="771776" cy="470236"/>
          </a:xfrm>
          <a:prstGeom prst="ellipse">
            <a:avLst/>
          </a:prstGeom>
          <a:noFill/>
          <a:ln w="44450">
            <a:solidFill>
              <a:srgbClr val="1F5FAD"/>
            </a:solidFill>
          </a:ln>
        </p:spPr>
        <p:txBody>
          <a:bodyPr rtlCol="0" anchor="ctr"/>
          <a:lstStyle/>
          <a:p>
            <a:pPr algn="ctr"/>
          </a:p>
        </p:txBody>
      </p:sp>
      <p:sp>
        <p:nvSpPr>
          <p:cNvPr id="18" name="Oval 17"/>
          <p:cNvSpPr/>
          <p:nvPr/>
        </p:nvSpPr>
        <p:spPr>
          <a:xfrm>
            <a:off x="10409142" y="4354463"/>
            <a:ext cx="807057" cy="641537"/>
          </a:xfrm>
          <a:prstGeom prst="ellipse">
            <a:avLst/>
          </a:prstGeom>
          <a:noFill/>
          <a:ln w="44450">
            <a:solidFill>
              <a:srgbClr val="007A33"/>
            </a:solidFill>
          </a:ln>
        </p:spPr>
        <p:txBody>
          <a:bodyPr rtlCol="0" anchor="ctr"/>
          <a:lstStyle/>
          <a:p>
            <a:pPr algn="ctr"/>
          </a:p>
        </p:txBody>
      </p:sp>
      <p:sp>
        <p:nvSpPr>
          <p:cNvPr id="19" name="Oval 18"/>
          <p:cNvSpPr/>
          <p:nvPr/>
        </p:nvSpPr>
        <p:spPr>
          <a:xfrm>
            <a:off x="6796136" y="50857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974750" y="50857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1029881" y="31510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11060752" y="419901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766559" y="549853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the four names on both kinds. The prices and the volume and OBV numbers are ours.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four on Figure 6.7's arrows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27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and </a:t>
            </a:r>
            <a:r>
              <a:rPr sz="1800" b="1" i="0">
                <a:solidFill>
                  <a:srgbClr val="E09B00"/>
                </a:solidFill>
                <a:latin typeface="Arial"/>
              </a:rPr>
              <a:t>(2)</a:t>
            </a:r>
            <a:r>
              <a:rPr sz="1800" b="0" i="0">
                <a:solidFill>
                  <a:srgbClr val="1A1A1A"/>
                </a:solidFill>
                <a:latin typeface="Arial"/>
              </a:rPr>
              <a:t> Bullish confirmation, price rising: the volume arrows match on both kinds.</a:t>
            </a:r>
          </a:p>
          <a:p>
            <a:pPr algn="l">
              <a:lnSpc>
                <a:spcPct val="105000"/>
              </a:lnSpc>
              <a:spcBef>
                <a:spcPts val="0"/>
              </a:spcBef>
              <a:spcAft>
                <a:spcPts val="1100"/>
              </a:spcAft>
            </a:pPr>
            <a:r>
              <a:rPr sz="1800" b="1" i="0">
                <a:solidFill>
                  <a:srgbClr val="C62828"/>
                </a:solidFill>
                <a:latin typeface="Arial"/>
              </a:rPr>
              <a:t>(3)</a:t>
            </a:r>
            <a:r>
              <a:rPr sz="1800" b="0" i="0">
                <a:solidFill>
                  <a:srgbClr val="1A1A1A"/>
                </a:solidFill>
                <a:latin typeface="Arial"/>
              </a:rPr>
              <a:t> and </a:t>
            </a:r>
            <a:r>
              <a:rPr sz="1800" b="1" i="0">
                <a:solidFill>
                  <a:srgbClr val="C62828"/>
                </a:solidFill>
                <a:latin typeface="Arial"/>
              </a:rPr>
              <a:t>(4)</a:t>
            </a:r>
            <a:r>
              <a:rPr sz="1800" b="0" i="0">
                <a:solidFill>
                  <a:srgbClr val="1A1A1A"/>
                </a:solidFill>
                <a:latin typeface="Arial"/>
              </a:rPr>
              <a:t> Bullish divergence: plain volume falls with price; the price-based arrow rises.</a:t>
            </a:r>
          </a:p>
          <a:p>
            <a:pPr algn="l">
              <a:lnSpc>
                <a:spcPct val="105000"/>
              </a:lnSpc>
              <a:spcBef>
                <a:spcPts val="0"/>
              </a:spcBef>
              <a:spcAft>
                <a:spcPts val="1100"/>
              </a:spcAft>
            </a:pPr>
            <a:r>
              <a:rPr sz="1800" b="1" i="0">
                <a:solidFill>
                  <a:srgbClr val="1F5FAD"/>
                </a:solidFill>
                <a:latin typeface="Arial"/>
              </a:rPr>
              <a:t>(5)</a:t>
            </a:r>
            <a:r>
              <a:rPr sz="1800" b="0" i="0">
                <a:solidFill>
                  <a:srgbClr val="1A1A1A"/>
                </a:solidFill>
                <a:latin typeface="Arial"/>
              </a:rPr>
              <a:t> and </a:t>
            </a:r>
            <a:r>
              <a:rPr sz="1800" b="1" i="0">
                <a:solidFill>
                  <a:srgbClr val="1F5FAD"/>
                </a:solidFill>
                <a:latin typeface="Arial"/>
              </a:rPr>
              <a:t>(6)</a:t>
            </a:r>
            <a:r>
              <a:rPr sz="1800" b="0" i="0">
                <a:solidFill>
                  <a:srgbClr val="1A1A1A"/>
                </a:solidFill>
                <a:latin typeface="Arial"/>
              </a:rPr>
              <a:t> Bearish confirmation: plain volume rises; the price-based arrow falls with price.</a:t>
            </a:r>
          </a:p>
        </p:txBody>
      </p:sp>
      <p:sp>
        <p:nvSpPr>
          <p:cNvPr id="8" name="Rectangle 7"/>
          <p:cNvSpPr/>
          <p:nvPr/>
        </p:nvSpPr>
        <p:spPr>
          <a:xfrm>
            <a:off x="777240" y="4389120"/>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19379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the two price-falling cases flip.</a:t>
            </a:r>
          </a:p>
        </p:txBody>
      </p:sp>
      <p:sp>
        <p:nvSpPr>
          <p:cNvPr id="10" name="Rectangle 9"/>
          <p:cNvSpPr/>
          <p:nvPr/>
        </p:nvSpPr>
        <p:spPr>
          <a:xfrm>
            <a:off x="6583679" y="1810512"/>
            <a:ext cx="4830775" cy="37358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4981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30409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With price rising the two kinds of oscillator match; with price falling, in bullish divergence and bearish confirmation, the price-based volume arrow points the other way.</a:t>
            </a:r>
          </a:p>
        </p:txBody>
      </p:sp>
      <p:sp>
        <p:nvSpPr>
          <p:cNvPr id="14" name="Rectangle 13"/>
          <p:cNvSpPr/>
          <p:nvPr/>
        </p:nvSpPr>
        <p:spPr>
          <a:xfrm>
            <a:off x="6748482" y="3748406"/>
            <a:ext cx="987501" cy="1294304"/>
          </a:xfrm>
          <a:prstGeom prst="rect">
            <a:avLst/>
          </a:prstGeom>
          <a:noFill/>
          <a:ln w="44450">
            <a:solidFill>
              <a:srgbClr val="E09B00"/>
            </a:solidFill>
          </a:ln>
        </p:spPr>
        <p:txBody>
          <a:bodyPr rtlCol="0" anchor="ctr"/>
          <a:lstStyle/>
          <a:p>
            <a:pPr algn="ctr"/>
          </a:p>
        </p:txBody>
      </p:sp>
      <p:sp>
        <p:nvSpPr>
          <p:cNvPr id="15" name="Rectangle 14"/>
          <p:cNvSpPr/>
          <p:nvPr/>
        </p:nvSpPr>
        <p:spPr>
          <a:xfrm>
            <a:off x="9067962" y="3748406"/>
            <a:ext cx="964536" cy="1294304"/>
          </a:xfrm>
          <a:prstGeom prst="rect">
            <a:avLst/>
          </a:prstGeom>
          <a:noFill/>
          <a:ln w="44450">
            <a:solidFill>
              <a:srgbClr val="E09B00"/>
            </a:solidFill>
          </a:ln>
        </p:spPr>
        <p:txBody>
          <a:bodyPr rtlCol="0" anchor="ctr"/>
          <a:lstStyle/>
          <a:p>
            <a:pPr algn="ctr"/>
          </a:p>
        </p:txBody>
      </p:sp>
      <p:sp>
        <p:nvSpPr>
          <p:cNvPr id="16" name="Rectangle 15"/>
          <p:cNvSpPr/>
          <p:nvPr/>
        </p:nvSpPr>
        <p:spPr>
          <a:xfrm>
            <a:off x="8080461" y="1999346"/>
            <a:ext cx="877268" cy="1259323"/>
          </a:xfrm>
          <a:prstGeom prst="rect">
            <a:avLst/>
          </a:prstGeom>
          <a:noFill/>
          <a:ln w="44450">
            <a:solidFill>
              <a:srgbClr val="C62828"/>
            </a:solidFill>
          </a:ln>
        </p:spPr>
        <p:txBody>
          <a:bodyPr rtlCol="0" anchor="ctr"/>
          <a:lstStyle/>
          <a:p>
            <a:pPr algn="ctr"/>
          </a:p>
        </p:txBody>
      </p:sp>
      <p:sp>
        <p:nvSpPr>
          <p:cNvPr id="17" name="Rectangle 16"/>
          <p:cNvSpPr/>
          <p:nvPr/>
        </p:nvSpPr>
        <p:spPr>
          <a:xfrm>
            <a:off x="10376976" y="1999346"/>
            <a:ext cx="891048" cy="1259323"/>
          </a:xfrm>
          <a:prstGeom prst="rect">
            <a:avLst/>
          </a:prstGeom>
          <a:noFill/>
          <a:ln w="44450">
            <a:solidFill>
              <a:srgbClr val="C62828"/>
            </a:solidFill>
          </a:ln>
        </p:spPr>
        <p:txBody>
          <a:bodyPr rtlCol="0" anchor="ctr"/>
          <a:lstStyle/>
          <a:p>
            <a:pPr algn="ctr"/>
          </a:p>
        </p:txBody>
      </p:sp>
      <p:sp>
        <p:nvSpPr>
          <p:cNvPr id="18" name="Rectangle 17"/>
          <p:cNvSpPr/>
          <p:nvPr/>
        </p:nvSpPr>
        <p:spPr>
          <a:xfrm>
            <a:off x="8080461" y="3748406"/>
            <a:ext cx="877268" cy="1294304"/>
          </a:xfrm>
          <a:prstGeom prst="rect">
            <a:avLst/>
          </a:prstGeom>
          <a:noFill/>
          <a:ln w="44450">
            <a:solidFill>
              <a:srgbClr val="1F5FAD"/>
            </a:solidFill>
          </a:ln>
        </p:spPr>
        <p:txBody>
          <a:bodyPr rtlCol="0" anchor="ctr"/>
          <a:lstStyle/>
          <a:p>
            <a:pPr algn="ctr"/>
          </a:p>
        </p:txBody>
      </p:sp>
      <p:sp>
        <p:nvSpPr>
          <p:cNvPr id="19" name="Rectangle 18"/>
          <p:cNvSpPr/>
          <p:nvPr/>
        </p:nvSpPr>
        <p:spPr>
          <a:xfrm>
            <a:off x="10376976" y="3748406"/>
            <a:ext cx="891048" cy="1294304"/>
          </a:xfrm>
          <a:prstGeom prst="rect">
            <a:avLst/>
          </a:prstGeom>
          <a:noFill/>
          <a:ln w="44450">
            <a:solidFill>
              <a:srgbClr val="1F5FAD"/>
            </a:solidFill>
          </a:ln>
        </p:spPr>
        <p:txBody>
          <a:bodyPr rtlCol="0" anchor="ctr"/>
          <a:lstStyle/>
          <a:p>
            <a:pPr algn="ctr"/>
          </a:p>
        </p:txBody>
      </p:sp>
      <p:sp>
        <p:nvSpPr>
          <p:cNvPr id="20" name="Oval 19"/>
          <p:cNvSpPr/>
          <p:nvPr/>
        </p:nvSpPr>
        <p:spPr>
          <a:xfrm>
            <a:off x="659303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91251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7925013"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10221528"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8802282"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Oval 24"/>
          <p:cNvSpPr/>
          <p:nvPr/>
        </p:nvSpPr>
        <p:spPr>
          <a:xfrm>
            <a:off x="11112576"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6" name="TextBox 25"/>
          <p:cNvSpPr txBox="1"/>
          <p:nvPr/>
        </p:nvSpPr>
        <p:spPr>
          <a:xfrm>
            <a:off x="6583679" y="56378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7" name="TextBox 2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where the two kinds' arrows match and where they differ.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price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trust rises from about 129 to 133, October to January.</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Volume and smoothed volume, a 20-day average, non-price-based: falling, against price: bearish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Plain volume falling under a rising price: bearish divergence.</a:t>
            </a:r>
          </a:p>
        </p:txBody>
      </p:sp>
      <p:sp>
        <p:nvSpPr>
          <p:cNvPr id="10" name="TextBox 9"/>
          <p:cNvSpPr txBox="1"/>
          <p:nvPr/>
        </p:nvSpPr>
        <p:spPr>
          <a:xfrm>
            <a:off x="777240" y="508406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Smoothed volume: Part 3. The figure's two lower panels come next.</a:t>
            </a:r>
          </a:p>
        </p:txBody>
      </p:sp>
      <p:sp>
        <p:nvSpPr>
          <p:cNvPr id="11" name="Rectangle 10"/>
          <p:cNvSpPr/>
          <p:nvPr/>
        </p:nvSpPr>
        <p:spPr>
          <a:xfrm>
            <a:off x="6583679" y="1810512"/>
            <a:ext cx="4830775" cy="338358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314584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6886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top of Figure 6.8: a daily chart of the Currency Shares Euro Trust rising from about 129 to 133, and under it volume with a smoothed line, labelled bearish divergence.</a:t>
            </a:r>
          </a:p>
        </p:txBody>
      </p:sp>
      <p:cxnSp>
        <p:nvCxnSpPr>
          <p:cNvPr id="15" name="Connector 14"/>
          <p:cNvCxnSpPr/>
          <p:nvPr/>
        </p:nvCxnSpPr>
        <p:spPr>
          <a:xfrm flipV="1">
            <a:off x="8291740" y="2580573"/>
            <a:ext cx="1873957" cy="311438"/>
          </a:xfrm>
          <a:prstGeom prst="line">
            <a:avLst/>
          </a:prstGeom>
          <a:ln w="44450">
            <a:solidFill>
              <a:srgbClr val="E09B00"/>
            </a:solidFill>
            <a:tailEnd type="triangle" w="med" len="med"/>
          </a:ln>
        </p:spPr>
      </p:cxnSp>
      <p:sp>
        <p:nvSpPr>
          <p:cNvPr id="16" name="Rectangle 15"/>
          <p:cNvSpPr/>
          <p:nvPr/>
        </p:nvSpPr>
        <p:spPr>
          <a:xfrm>
            <a:off x="6734703" y="4096868"/>
            <a:ext cx="4528728" cy="962627"/>
          </a:xfrm>
          <a:prstGeom prst="rect">
            <a:avLst/>
          </a:prstGeom>
          <a:noFill/>
          <a:ln w="44450">
            <a:solidFill>
              <a:srgbClr val="C62828"/>
            </a:solidFill>
          </a:ln>
        </p:spPr>
        <p:txBody>
          <a:bodyPr rtlCol="0" anchor="ctr"/>
          <a:lstStyle/>
          <a:p>
            <a:pPr algn="ctr"/>
          </a:p>
        </p:txBody>
      </p:sp>
      <p:sp>
        <p:nvSpPr>
          <p:cNvPr id="17" name="Oval 16"/>
          <p:cNvSpPr/>
          <p:nvPr/>
        </p:nvSpPr>
        <p:spPr>
          <a:xfrm>
            <a:off x="8136292" y="27365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579255" y="394142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583679" y="528553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Shown: its price and volume panels.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the PVO and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29 of 29</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same months, the same price rising from about 129 to 133.</a:t>
            </a:r>
          </a:p>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The PVO, a detrended volume oscillator the book never explains: non-price-based, falling: bearish divergence too.</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ADL, price-based: rising, with price: bullish confirmation.</a:t>
            </a:r>
          </a:p>
        </p:txBody>
      </p:sp>
      <p:sp>
        <p:nvSpPr>
          <p:cNvPr id="8" name="Rectangle 7"/>
          <p:cNvSpPr/>
          <p:nvPr/>
        </p:nvSpPr>
        <p:spPr>
          <a:xfrm>
            <a:off x="777240" y="5093208"/>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29784"/>
            <a:ext cx="42793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Each kind read by its own rule.</a:t>
            </a:r>
          </a:p>
        </p:txBody>
      </p:sp>
      <p:sp>
        <p:nvSpPr>
          <p:cNvPr id="10" name="TextBox 9"/>
          <p:cNvSpPr txBox="1"/>
          <p:nvPr/>
        </p:nvSpPr>
        <p:spPr>
          <a:xfrm>
            <a:off x="777240" y="574548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a:t>
            </a:r>
          </a:p>
        </p:txBody>
      </p:sp>
      <p:sp>
        <p:nvSpPr>
          <p:cNvPr id="11" name="Rectangle 10"/>
          <p:cNvSpPr/>
          <p:nvPr/>
        </p:nvSpPr>
        <p:spPr>
          <a:xfrm>
            <a:off x="5669279" y="1810512"/>
            <a:ext cx="5745175" cy="266224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242450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062471" y="2203703"/>
            <a:ext cx="4958791" cy="19673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bottom of Figure 6.8: a detrended volume oscillator, the PVO, labelled bearish divergence, and under it the accumulation distribution line rising, labelled bullish confirmation.</a:t>
            </a:r>
          </a:p>
        </p:txBody>
      </p:sp>
      <p:sp>
        <p:nvSpPr>
          <p:cNvPr id="15" name="Rectangle 14"/>
          <p:cNvSpPr/>
          <p:nvPr/>
        </p:nvSpPr>
        <p:spPr>
          <a:xfrm>
            <a:off x="5826704" y="1987572"/>
            <a:ext cx="5430326" cy="1095874"/>
          </a:xfrm>
          <a:prstGeom prst="rect">
            <a:avLst/>
          </a:prstGeom>
          <a:noFill/>
          <a:ln w="44450">
            <a:solidFill>
              <a:srgbClr val="E09B00"/>
            </a:solidFill>
          </a:ln>
        </p:spPr>
        <p:txBody>
          <a:bodyPr rtlCol="0" anchor="ctr"/>
          <a:lstStyle/>
          <a:p>
            <a:pPr algn="ctr"/>
          </a:p>
        </p:txBody>
      </p:sp>
      <p:sp>
        <p:nvSpPr>
          <p:cNvPr id="16" name="Rectangle 15"/>
          <p:cNvSpPr/>
          <p:nvPr/>
        </p:nvSpPr>
        <p:spPr>
          <a:xfrm>
            <a:off x="5826704" y="3122238"/>
            <a:ext cx="5430326" cy="1212250"/>
          </a:xfrm>
          <a:prstGeom prst="rect">
            <a:avLst/>
          </a:prstGeom>
          <a:noFill/>
          <a:ln w="44450">
            <a:solidFill>
              <a:srgbClr val="C62828"/>
            </a:solidFill>
          </a:ln>
        </p:spPr>
        <p:txBody>
          <a:bodyPr rtlCol="0" anchor="ctr"/>
          <a:lstStyle/>
          <a:p>
            <a:pPr algn="ctr"/>
          </a:p>
        </p:txBody>
      </p:sp>
      <p:sp>
        <p:nvSpPr>
          <p:cNvPr id="17" name="Oval 16"/>
          <p:cNvSpPr/>
          <p:nvPr/>
        </p:nvSpPr>
        <p:spPr>
          <a:xfrm>
            <a:off x="11101582" y="29279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1101582" y="41790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5669279" y="4564196"/>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Shown: its two lower panels. PVO and detrending are on the figure and not explained by the book.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one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1  Volume shrinks, to 0.42 million.</a:t>
            </a:r>
          </a:p>
          <a:p>
            <a:pPr algn="l">
              <a:lnSpc>
                <a:spcPct val="105000"/>
              </a:lnSpc>
              <a:spcBef>
                <a:spcPts val="0"/>
              </a:spcBef>
              <a:spcAft>
                <a:spcPts val="1100"/>
              </a:spcAft>
            </a:pPr>
            <a:r>
              <a:rPr sz="2000" b="0" i="0">
                <a:solidFill>
                  <a:srgbClr val="1A1A1A"/>
                </a:solidFill>
                <a:latin typeface="Arial"/>
              </a:rPr>
              <a:t>2  Buy stops wait above PHP 52, sell stops below PHP 48.</a:t>
            </a:r>
          </a:p>
          <a:p>
            <a:pPr algn="l">
              <a:lnSpc>
                <a:spcPct val="105000"/>
              </a:lnSpc>
              <a:spcBef>
                <a:spcPts val="0"/>
              </a:spcBef>
              <a:spcAft>
                <a:spcPts val="1100"/>
              </a:spcAft>
            </a:pPr>
            <a:r>
              <a:rPr sz="2000" b="0" i="0">
                <a:solidFill>
                  <a:srgbClr val="1A1A1A"/>
                </a:solidFill>
                <a:latin typeface="Arial"/>
              </a:rPr>
              <a:t>3  Price reaches the top edge: the buy stops trigger.</a:t>
            </a:r>
          </a:p>
          <a:p>
            <a:pPr algn="l">
              <a:lnSpc>
                <a:spcPct val="105000"/>
              </a:lnSpc>
              <a:spcBef>
                <a:spcPts val="0"/>
              </a:spcBef>
              <a:spcAft>
                <a:spcPts val="1100"/>
              </a:spcAft>
            </a:pPr>
            <a:r>
              <a:rPr sz="2000" b="0" i="0">
                <a:solidFill>
                  <a:srgbClr val="1A1A1A"/>
                </a:solidFill>
                <a:latin typeface="Arial"/>
              </a:rPr>
              <a:t>4  It breaks out up, on 3.6 million.</a:t>
            </a:r>
          </a:p>
        </p:txBody>
      </p:sp>
      <p:sp>
        <p:nvSpPr>
          <p:cNvPr id="8" name="Rectangle 7"/>
          <p:cNvSpPr/>
          <p:nvPr/>
        </p:nvSpPr>
        <p:spPr>
          <a:xfrm>
            <a:off x="777240" y="4745736"/>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82312"/>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quiet range is where the breakout is loaded.</a:t>
            </a:r>
          </a:p>
        </p:txBody>
      </p:sp>
      <p:sp>
        <p:nvSpPr>
          <p:cNvPr id="10" name="Rectangle 9"/>
          <p:cNvSpPr/>
          <p:nvPr/>
        </p:nvSpPr>
        <p:spPr>
          <a:xfrm>
            <a:off x="640217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ga.png"/>
          <p:cNvPicPr>
            <a:picLocks noChangeAspect="1"/>
          </p:cNvPicPr>
          <p:nvPr/>
        </p:nvPicPr>
        <p:blipFill>
          <a:blip r:embed="rId2"/>
          <a:stretch>
            <a:fillRect/>
          </a:stretch>
        </p:blipFill>
        <p:spPr>
          <a:xfrm>
            <a:off x="6521043" y="1929384"/>
            <a:ext cx="459028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p.180's four reasons, drawn on our invented range, PHP 48 to 52. Every price and volume is ours.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in late March, inside the Accumulation box </a:t>
            </a:r>
            <a:r>
              <a:rPr sz="1500" b="1" i="0">
                <a:solidFill>
                  <a:srgbClr val="C62828"/>
                </a:solidFill>
                <a:latin typeface="Arial"/>
              </a:rPr>
              <a:t>(2)</a:t>
            </a:r>
            <a:r>
              <a:rPr sz="1500" b="0" i="0">
                <a:solidFill>
                  <a:srgbClr val="1A1A1A"/>
                </a:solidFill>
                <a:latin typeface="Arial"/>
              </a:rPr>
              <a:t>, a buying range (Chapters 2 and 4), volume falls back to the dashed low volume level </a:t>
            </a:r>
            <a:r>
              <a:rPr sz="1500" b="1" i="0">
                <a:solidFill>
                  <a:srgbClr val="E09B00"/>
                </a:solidFill>
                <a:latin typeface="Arial"/>
              </a:rPr>
              <a:t>(1)</a:t>
            </a:r>
            <a:r>
              <a:rPr sz="1500" b="0" i="0">
                <a:solidFill>
                  <a:srgbClr val="1A1A1A"/>
                </a:solidFill>
                <a:latin typeface="Arial"/>
              </a:rPr>
              <a:t>, at </a:t>
            </a:r>
            <a:r>
              <a:rPr sz="1500" b="1" i="0">
                <a:solidFill>
                  <a:srgbClr val="1F5FAD"/>
                </a:solidFill>
                <a:latin typeface="Arial"/>
              </a:rPr>
              <a:t>(3)</a:t>
            </a:r>
            <a:r>
              <a:rPr sz="1500" b="0" i="0">
                <a:solidFill>
                  <a:srgbClr val="1A1A1A"/>
                </a:solidFill>
                <a:latin typeface="Arial"/>
              </a:rPr>
              <a: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6766559" y="2157984"/>
            <a:ext cx="4647894" cy="3311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3074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617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6.9</a:t>
            </a:r>
          </a:p>
          <a:p>
            <a:pPr algn="l">
              <a:lnSpc>
                <a:spcPct val="115000"/>
              </a:lnSpc>
              <a:spcBef>
                <a:spcPts val="0"/>
              </a:spcBef>
              <a:spcAft>
                <a:spcPts val="0"/>
              </a:spcAft>
            </a:pPr>
            <a:r>
              <a:rPr sz="15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p:txBody>
      </p:sp>
      <p:cxnSp>
        <p:nvCxnSpPr>
          <p:cNvPr id="18" name="Connector 17"/>
          <p:cNvCxnSpPr/>
          <p:nvPr/>
        </p:nvCxnSpPr>
        <p:spPr>
          <a:xfrm>
            <a:off x="6929533" y="4963750"/>
            <a:ext cx="4321948" cy="0"/>
          </a:xfrm>
          <a:prstGeom prst="line">
            <a:avLst/>
          </a:prstGeom>
          <a:ln w="44450">
            <a:solidFill>
              <a:srgbClr val="E09B00"/>
            </a:solidFill>
          </a:ln>
        </p:spPr>
      </p:cxnSp>
      <p:sp>
        <p:nvSpPr>
          <p:cNvPr id="19" name="Rectangle 18"/>
          <p:cNvSpPr/>
          <p:nvPr/>
        </p:nvSpPr>
        <p:spPr>
          <a:xfrm>
            <a:off x="9496241" y="2937819"/>
            <a:ext cx="1428888" cy="740894"/>
          </a:xfrm>
          <a:prstGeom prst="rect">
            <a:avLst/>
          </a:prstGeom>
          <a:noFill/>
          <a:ln w="44450">
            <a:solidFill>
              <a:srgbClr val="C62828"/>
            </a:solidFill>
          </a:ln>
        </p:spPr>
        <p:txBody>
          <a:bodyPr rtlCol="0" anchor="ctr"/>
          <a:lstStyle/>
          <a:p>
            <a:pPr algn="ctr"/>
          </a:p>
        </p:txBody>
      </p:sp>
      <p:sp>
        <p:nvSpPr>
          <p:cNvPr id="20" name="Oval 19"/>
          <p:cNvSpPr/>
          <p:nvPr/>
        </p:nvSpPr>
        <p:spPr>
          <a:xfrm>
            <a:off x="10431193" y="4524132"/>
            <a:ext cx="529218" cy="562587"/>
          </a:xfrm>
          <a:prstGeom prst="ellipse">
            <a:avLst/>
          </a:prstGeom>
          <a:noFill/>
          <a:ln w="44450">
            <a:solidFill>
              <a:srgbClr val="1F5FAD"/>
            </a:solidFill>
          </a:ln>
        </p:spPr>
        <p:txBody>
          <a:bodyPr rtlCol="0" anchor="ctr"/>
          <a:lstStyle/>
          <a:p>
            <a:pPr algn="ctr"/>
          </a:p>
        </p:txBody>
      </p:sp>
      <p:sp>
        <p:nvSpPr>
          <p:cNvPr id="21" name="Oval 20"/>
          <p:cNvSpPr/>
          <p:nvPr/>
        </p:nvSpPr>
        <p:spPr>
          <a:xfrm>
            <a:off x="6774085" y="48083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40793" y="278237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875525" y="4931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766559" y="556141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6.9 -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a:t>
            </a:r>
            <a:r>
              <a:rPr sz="1600" b="1" i="0">
                <a:solidFill>
                  <a:srgbClr val="E09B00"/>
                </a:solidFill>
                <a:latin typeface="Arial"/>
              </a:rPr>
              <a:t>(1)</a:t>
            </a:r>
            <a:r>
              <a:rPr sz="1600" b="0" i="0">
                <a:solidFill>
                  <a:srgbClr val="1A1A1A"/>
                </a:solidFill>
                <a:latin typeface="Arial"/>
              </a:rPr>
              <a:t>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a:t>
            </a:r>
            <a:r>
              <a:rPr sz="1600" b="1" i="0">
                <a:solidFill>
                  <a:srgbClr val="C62828"/>
                </a:solidFill>
                <a:latin typeface="Arial"/>
              </a:rPr>
              <a:t>(2)</a:t>
            </a:r>
            <a:r>
              <a:rPr sz="1600" b="0" i="0">
                <a:solidFill>
                  <a:srgbClr val="1A1A1A"/>
                </a:solidFill>
                <a:latin typeface="Arial"/>
              </a:rPr>
              <a: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under the book's 1, 2 and 3.</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21242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746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1747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6.10</a:t>
            </a:r>
          </a:p>
          <a:p>
            <a:pPr algn="l">
              <a:lnSpc>
                <a:spcPct val="115000"/>
              </a:lnSpc>
              <a:spcBef>
                <a:spcPts val="0"/>
              </a:spcBef>
              <a:spcAft>
                <a:spcPts val="0"/>
              </a:spcAft>
            </a:pPr>
            <a:r>
              <a:rPr sz="15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p:txBody>
      </p:sp>
      <p:cxnSp>
        <p:nvCxnSpPr>
          <p:cNvPr id="14" name="Connector 13"/>
          <p:cNvCxnSpPr/>
          <p:nvPr/>
        </p:nvCxnSpPr>
        <p:spPr>
          <a:xfrm>
            <a:off x="6366544" y="4630393"/>
            <a:ext cx="4899286" cy="0"/>
          </a:xfrm>
          <a:prstGeom prst="line">
            <a:avLst/>
          </a:prstGeom>
          <a:ln w="44450">
            <a:solidFill>
              <a:srgbClr val="E09B00"/>
            </a:solidFill>
          </a:ln>
        </p:spPr>
      </p:cxnSp>
      <p:sp>
        <p:nvSpPr>
          <p:cNvPr id="15" name="Oval 14"/>
          <p:cNvSpPr/>
          <p:nvPr/>
        </p:nvSpPr>
        <p:spPr>
          <a:xfrm>
            <a:off x="7988069" y="4359697"/>
            <a:ext cx="223145" cy="345062"/>
          </a:xfrm>
          <a:prstGeom prst="ellipse">
            <a:avLst/>
          </a:prstGeom>
          <a:noFill/>
          <a:ln w="44450">
            <a:solidFill>
              <a:srgbClr val="C62828"/>
            </a:solidFill>
          </a:ln>
        </p:spPr>
        <p:txBody>
          <a:bodyPr rtlCol="0" anchor="ctr"/>
          <a:lstStyle/>
          <a:p>
            <a:pPr algn="ctr"/>
          </a:p>
        </p:txBody>
      </p:sp>
      <p:sp>
        <p:nvSpPr>
          <p:cNvPr id="16" name="Oval 15"/>
          <p:cNvSpPr/>
          <p:nvPr/>
        </p:nvSpPr>
        <p:spPr>
          <a:xfrm>
            <a:off x="10075720" y="4395393"/>
            <a:ext cx="223145" cy="309366"/>
          </a:xfrm>
          <a:prstGeom prst="ellipse">
            <a:avLst/>
          </a:prstGeom>
          <a:noFill/>
          <a:ln w="44450">
            <a:solidFill>
              <a:srgbClr val="1F5FAD"/>
            </a:solidFill>
          </a:ln>
        </p:spPr>
        <p:txBody>
          <a:bodyPr rtlCol="0" anchor="ctr"/>
          <a:lstStyle/>
          <a:p>
            <a:pPr algn="ctr"/>
          </a:p>
        </p:txBody>
      </p:sp>
      <p:sp>
        <p:nvSpPr>
          <p:cNvPr id="17" name="Oval 16"/>
          <p:cNvSpPr/>
          <p:nvPr/>
        </p:nvSpPr>
        <p:spPr>
          <a:xfrm>
            <a:off x="10735239" y="4297229"/>
            <a:ext cx="233063" cy="407531"/>
          </a:xfrm>
          <a:prstGeom prst="ellipse">
            <a:avLst/>
          </a:prstGeom>
          <a:noFill/>
          <a:ln w="44450">
            <a:solidFill>
              <a:srgbClr val="007A33"/>
            </a:solidFill>
          </a:ln>
        </p:spPr>
        <p:txBody>
          <a:bodyPr rtlCol="0" anchor="ctr"/>
          <a:lstStyle/>
          <a:p>
            <a:pPr algn="ctr"/>
          </a:p>
        </p:txBody>
      </p:sp>
      <p:sp>
        <p:nvSpPr>
          <p:cNvPr id="18" name="Oval 17"/>
          <p:cNvSpPr/>
          <p:nvPr/>
        </p:nvSpPr>
        <p:spPr>
          <a:xfrm>
            <a:off x="6211096" y="44749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832621" y="42042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920272" y="42399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79791" y="414178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511437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30</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a:t>
            </a:r>
            <a:r>
              <a:rPr sz="1600" b="1" i="0">
                <a:solidFill>
                  <a:srgbClr val="E09B00"/>
                </a:solidFill>
                <a:latin typeface="Arial"/>
              </a:rPr>
              <a:t>(1)</a:t>
            </a:r>
            <a:r>
              <a:rPr sz="1600" b="0" i="0">
                <a:solidFill>
                  <a:srgbClr val="1A1A1A"/>
                </a:solidFill>
                <a:latin typeface="Arial"/>
              </a:rPr>
              <a:t>: the line labelled VWAP, volume-weighted average price; the book treats VWAP and VWMA as one line here.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Price rises decisively each time it crosses above the line, and falls after crossing below.</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The four 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3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p:txBody>
      </p:sp>
      <p:cxnSp>
        <p:nvCxnSpPr>
          <p:cNvPr id="15" name="Connector 14"/>
          <p:cNvCxnSpPr/>
          <p:nvPr/>
        </p:nvCxnSpPr>
        <p:spPr>
          <a:xfrm flipH="1">
            <a:off x="8539764" y="2462218"/>
            <a:ext cx="321512" cy="639401"/>
          </a:xfrm>
          <a:prstGeom prst="line">
            <a:avLst/>
          </a:prstGeom>
          <a:ln w="44450">
            <a:solidFill>
              <a:srgbClr val="E09B00"/>
            </a:solidFill>
            <a:tailEnd type="triangle" w="med" len="med"/>
          </a:ln>
        </p:spPr>
      </p:cxnSp>
      <p:sp>
        <p:nvSpPr>
          <p:cNvPr id="16" name="Oval 15"/>
          <p:cNvSpPr/>
          <p:nvPr/>
        </p:nvSpPr>
        <p:spPr>
          <a:xfrm>
            <a:off x="8870462" y="3272126"/>
            <a:ext cx="298547" cy="311708"/>
          </a:xfrm>
          <a:prstGeom prst="ellipse">
            <a:avLst/>
          </a:prstGeom>
          <a:noFill/>
          <a:ln w="44450">
            <a:solidFill>
              <a:srgbClr val="C62828"/>
            </a:solidFill>
          </a:ln>
        </p:spPr>
        <p:txBody>
          <a:bodyPr rtlCol="0" anchor="ctr"/>
          <a:lstStyle/>
          <a:p>
            <a:pPr algn="ctr"/>
          </a:p>
        </p:txBody>
      </p:sp>
      <p:sp>
        <p:nvSpPr>
          <p:cNvPr id="17" name="Rectangle 16"/>
          <p:cNvSpPr/>
          <p:nvPr/>
        </p:nvSpPr>
        <p:spPr>
          <a:xfrm>
            <a:off x="7069994" y="3980795"/>
            <a:ext cx="2985470" cy="346342"/>
          </a:xfrm>
          <a:prstGeom prst="rect">
            <a:avLst/>
          </a:prstGeom>
          <a:noFill/>
          <a:ln w="44450">
            <a:solidFill>
              <a:srgbClr val="1F5FAD"/>
            </a:solidFill>
          </a:ln>
        </p:spPr>
        <p:txBody>
          <a:bodyPr rtlCol="0" anchor="ctr"/>
          <a:lstStyle/>
          <a:p>
            <a:pPr algn="ctr"/>
          </a:p>
        </p:txBody>
      </p:sp>
      <p:sp>
        <p:nvSpPr>
          <p:cNvPr id="18" name="Oval 17"/>
          <p:cNvSpPr/>
          <p:nvPr/>
        </p:nvSpPr>
        <p:spPr>
          <a:xfrm>
            <a:off x="8705828" y="23067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23154" y="347900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776755" y="399851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a:t>
            </a:r>
            <a:r>
              <a:rPr sz="1500" b="1" i="0">
                <a:solidFill>
                  <a:srgbClr val="E09B00"/>
                </a:solidFill>
                <a:latin typeface="Arial"/>
              </a:rPr>
              <a:t>(1)</a:t>
            </a:r>
            <a:r>
              <a:rPr sz="1500" b="0" i="0">
                <a:solidFill>
                  <a:srgbClr val="1A1A1A"/>
                </a:solidFill>
                <a:latin typeface="Arial"/>
              </a:rPr>
              <a:t>, under the ellipse, sets the upper level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923059" y="2157984"/>
            <a:ext cx="4334896"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041931" y="2276856"/>
            <a:ext cx="4097152" cy="316382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041931" y="2276856"/>
            <a:ext cx="4097152"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316251" y="2551175"/>
            <a:ext cx="3548512" cy="2706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3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p:txBody>
      </p:sp>
      <p:sp>
        <p:nvSpPr>
          <p:cNvPr id="18" name="Rectangle 17"/>
          <p:cNvSpPr/>
          <p:nvPr/>
        </p:nvSpPr>
        <p:spPr>
          <a:xfrm>
            <a:off x="8434963" y="4175150"/>
            <a:ext cx="1024288" cy="506211"/>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7951499" y="4228935"/>
            <a:ext cx="2896686" cy="0"/>
          </a:xfrm>
          <a:prstGeom prst="line">
            <a:avLst/>
          </a:prstGeom>
          <a:ln w="44450">
            <a:solidFill>
              <a:srgbClr val="C62828"/>
            </a:solidFill>
          </a:ln>
        </p:spPr>
      </p:cxnSp>
      <p:sp>
        <p:nvSpPr>
          <p:cNvPr id="20" name="Oval 19"/>
          <p:cNvSpPr/>
          <p:nvPr/>
        </p:nvSpPr>
        <p:spPr>
          <a:xfrm>
            <a:off x="8791659" y="430444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10692737" y="4073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6.12's two levels, read off its scale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Most days trade under 40 million shares.</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The lower line: a little under 70 million.</a:t>
            </a:r>
          </a:p>
          <a:p>
            <a:pPr algn="l">
              <a:lnSpc>
                <a:spcPct val="105000"/>
              </a:lnSpc>
              <a:spcBef>
                <a:spcPts val="0"/>
              </a:spcBef>
              <a:spcAft>
                <a:spcPts val="1100"/>
              </a:spcAft>
            </a:pPr>
            <a:r>
              <a:rPr sz="1900" b="1" i="0">
                <a:solidFill>
                  <a:srgbClr val="1F5FAD"/>
                </a:solidFill>
                <a:latin typeface="Arial"/>
              </a:rPr>
              <a:t>(3)</a:t>
            </a:r>
            <a:r>
              <a:rPr sz="1900" b="0" i="0">
                <a:solidFill>
                  <a:srgbClr val="1A1A1A"/>
                </a:solidFill>
                <a:latin typeface="Arial"/>
              </a:rPr>
              <a:t> The upper line: a little above 120 million.</a:t>
            </a:r>
          </a:p>
          <a:p>
            <a:pPr algn="l">
              <a:lnSpc>
                <a:spcPct val="105000"/>
              </a:lnSpc>
              <a:spcBef>
                <a:spcPts val="0"/>
              </a:spcBef>
              <a:spcAft>
                <a:spcPts val="1100"/>
              </a:spcAft>
            </a:pPr>
            <a:r>
              <a:rPr sz="1900" b="1" i="0">
                <a:solidFill>
                  <a:srgbClr val="007A33"/>
                </a:solidFill>
                <a:latin typeface="Arial"/>
              </a:rPr>
              <a:t>(4)</a:t>
            </a:r>
            <a:r>
              <a:rPr sz="1900" b="0" i="0">
                <a:solidFill>
                  <a:srgbClr val="1A1A1A"/>
                </a:solidFill>
                <a:latin typeface="Arial"/>
              </a:rPr>
              <a:t> and </a:t>
            </a:r>
            <a:r>
              <a:rPr sz="1900" b="1" i="0">
                <a:solidFill>
                  <a:srgbClr val="7B3FA0"/>
                </a:solidFill>
                <a:latin typeface="Arial"/>
              </a:rPr>
              <a:t>(5)</a:t>
            </a:r>
            <a:r>
              <a:rPr sz="1900" b="0" i="0">
                <a:solidFill>
                  <a:srgbClr val="1A1A1A"/>
                </a:solidFill>
                <a:latin typeface="Arial"/>
              </a:rPr>
              <a:t> The two spikes that reach it sit under bottoms.</a:t>
            </a:r>
          </a:p>
        </p:txBody>
      </p:sp>
      <p:sp>
        <p:nvSpPr>
          <p:cNvPr id="8" name="Rectangle 7"/>
          <p:cNvSpPr/>
          <p:nvPr/>
        </p:nvSpPr>
        <p:spPr>
          <a:xfrm>
            <a:off x="777240" y="4953762"/>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90338"/>
            <a:ext cx="51937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lines are far above a usual day.</a:t>
            </a:r>
          </a:p>
        </p:txBody>
      </p:sp>
      <p:sp>
        <p:nvSpPr>
          <p:cNvPr id="10" name="Rectangle 9"/>
          <p:cNvSpPr/>
          <p:nvPr/>
        </p:nvSpPr>
        <p:spPr>
          <a:xfrm>
            <a:off x="6606631" y="1810512"/>
            <a:ext cx="4784872"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25503" y="1929384"/>
            <a:ext cx="4547128"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25503" y="1929384"/>
            <a:ext cx="4547128"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9823" y="2203703"/>
            <a:ext cx="39984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500" b="0" i="0">
                <a:solidFill>
                  <a:srgbClr val="1A1A1A"/>
                </a:solidFill>
                <a:latin typeface="Palatino"/>
              </a:rPr>
              <a:t>The daily chart of Exxon Mobil from 2006 to 2013. Most volume bars sit under 40 million shares; a lower overextension line runs near 70 million and an upper one near 120 million, and the two spikes that reach the upper line sit under the market bottom in the ellipse.</a:t>
            </a:r>
          </a:p>
        </p:txBody>
      </p:sp>
      <p:sp>
        <p:nvSpPr>
          <p:cNvPr id="14" name="Rectangle 13"/>
          <p:cNvSpPr/>
          <p:nvPr/>
        </p:nvSpPr>
        <p:spPr>
          <a:xfrm>
            <a:off x="6757333" y="4970166"/>
            <a:ext cx="4219735" cy="375708"/>
          </a:xfrm>
          <a:prstGeom prst="rect">
            <a:avLst/>
          </a:prstGeom>
          <a:noFill/>
          <a:ln w="44450">
            <a:solidFill>
              <a:srgbClr val="E09B00"/>
            </a:solidFill>
          </a:ln>
        </p:spPr>
        <p:txBody>
          <a:bodyPr rtlCol="0" anchor="ctr"/>
          <a:lstStyle/>
          <a:p>
            <a:pPr algn="ctr"/>
          </a:p>
        </p:txBody>
      </p:sp>
      <p:cxnSp>
        <p:nvCxnSpPr>
          <p:cNvPr id="15" name="Connector 14"/>
          <p:cNvCxnSpPr/>
          <p:nvPr/>
        </p:nvCxnSpPr>
        <p:spPr>
          <a:xfrm>
            <a:off x="6911935" y="4661172"/>
            <a:ext cx="4065133" cy="0"/>
          </a:xfrm>
          <a:prstGeom prst="line">
            <a:avLst/>
          </a:prstGeom>
          <a:ln w="44450">
            <a:solidFill>
              <a:srgbClr val="C62828"/>
            </a:solidFill>
          </a:ln>
        </p:spPr>
      </p:cxnSp>
      <p:cxnSp>
        <p:nvCxnSpPr>
          <p:cNvPr id="16" name="Connector 15"/>
          <p:cNvCxnSpPr/>
          <p:nvPr/>
        </p:nvCxnSpPr>
        <p:spPr>
          <a:xfrm>
            <a:off x="7734965" y="4095853"/>
            <a:ext cx="3242103" cy="0"/>
          </a:xfrm>
          <a:prstGeom prst="line">
            <a:avLst/>
          </a:prstGeom>
          <a:ln w="44450">
            <a:solidFill>
              <a:srgbClr val="1F5FAD"/>
            </a:solidFill>
          </a:ln>
        </p:spPr>
      </p:cxnSp>
      <p:sp>
        <p:nvSpPr>
          <p:cNvPr id="17" name="Oval 16"/>
          <p:cNvSpPr/>
          <p:nvPr/>
        </p:nvSpPr>
        <p:spPr>
          <a:xfrm>
            <a:off x="8244244" y="3892198"/>
            <a:ext cx="259186" cy="365174"/>
          </a:xfrm>
          <a:prstGeom prst="ellipse">
            <a:avLst/>
          </a:prstGeom>
          <a:noFill/>
          <a:ln w="44450">
            <a:solidFill>
              <a:srgbClr val="007A33"/>
            </a:solidFill>
          </a:ln>
        </p:spPr>
        <p:txBody>
          <a:bodyPr rtlCol="0" anchor="ctr"/>
          <a:lstStyle/>
          <a:p>
            <a:pPr algn="ctr"/>
          </a:p>
        </p:txBody>
      </p:sp>
      <p:sp>
        <p:nvSpPr>
          <p:cNvPr id="18" name="Oval 17"/>
          <p:cNvSpPr/>
          <p:nvPr/>
        </p:nvSpPr>
        <p:spPr>
          <a:xfrm>
            <a:off x="9180952" y="4176613"/>
            <a:ext cx="204620" cy="351129"/>
          </a:xfrm>
          <a:prstGeom prst="ellipse">
            <a:avLst/>
          </a:prstGeom>
          <a:noFill/>
          <a:ln w="44450">
            <a:solidFill>
              <a:srgbClr val="7B3FA0"/>
            </a:solidFill>
          </a:ln>
        </p:spPr>
        <p:txBody>
          <a:bodyPr rtlCol="0" anchor="ctr"/>
          <a:lstStyle/>
          <a:p>
            <a:pPr algn="ctr"/>
          </a:p>
        </p:txBody>
      </p:sp>
      <p:sp>
        <p:nvSpPr>
          <p:cNvPr id="19" name="Oval 18"/>
          <p:cNvSpPr/>
          <p:nvPr/>
        </p:nvSpPr>
        <p:spPr>
          <a:xfrm>
            <a:off x="6601885" y="48147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10480585" y="450572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821620" y="394040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8088796" y="4231843"/>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Oval 22"/>
          <p:cNvSpPr/>
          <p:nvPr/>
        </p:nvSpPr>
        <p:spPr>
          <a:xfrm>
            <a:off x="9230125" y="4372295"/>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TextBox 23"/>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6.12 -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Exxon's chart shows only bottoms; the book says the same level signals tops too.</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Correction: Chapter 5. Not a promise: the book's word potential, said plainly.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a:t>
            </a:r>
            <a:r>
              <a:rPr sz="1600" b="1" i="0">
                <a:solidFill>
                  <a:srgbClr val="E09B00"/>
                </a:solidFill>
                <a:latin typeface="Arial"/>
              </a:rPr>
              <a:t>(1)</a:t>
            </a:r>
            <a:r>
              <a:rPr sz="1600" b="0" i="0">
                <a:solidFill>
                  <a:srgbClr val="1A1A1A"/>
                </a:solidFill>
                <a:latin typeface="Arial"/>
              </a:rPr>
              <a:t> and </a:t>
            </a:r>
            <a:r>
              <a:rPr sz="1600" b="1" i="0">
                <a:solidFill>
                  <a:srgbClr val="C62828"/>
                </a:solidFill>
                <a:latin typeface="Arial"/>
              </a:rPr>
              <a:t>(2)</a:t>
            </a:r>
            <a:r>
              <a:rPr sz="1600" b="0" i="0">
                <a:solidFill>
                  <a:srgbClr val="1A1A1A"/>
                </a:solidFill>
                <a:latin typeface="Arial"/>
              </a:rPr>
              <a:t>, then up to the top above it,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28044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666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1094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6.13</a:t>
            </a:r>
          </a:p>
          <a:p>
            <a:pPr algn="l">
              <a:lnSpc>
                <a:spcPct val="115000"/>
              </a:lnSpc>
              <a:spcBef>
                <a:spcPts val="0"/>
              </a:spcBef>
              <a:spcAft>
                <a:spcPts val="0"/>
              </a:spcAft>
            </a:pPr>
            <a:r>
              <a:rPr sz="15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p:txBody>
      </p:sp>
      <p:sp>
        <p:nvSpPr>
          <p:cNvPr id="14" name="Oval 13"/>
          <p:cNvSpPr/>
          <p:nvPr/>
        </p:nvSpPr>
        <p:spPr>
          <a:xfrm>
            <a:off x="7239291" y="3636214"/>
            <a:ext cx="163640" cy="415799"/>
          </a:xfrm>
          <a:prstGeom prst="ellipse">
            <a:avLst/>
          </a:prstGeom>
          <a:noFill/>
          <a:ln w="44450">
            <a:solidFill>
              <a:srgbClr val="E09B00"/>
            </a:solidFill>
          </a:ln>
        </p:spPr>
        <p:txBody>
          <a:bodyPr rtlCol="0" anchor="ctr"/>
          <a:lstStyle/>
          <a:p>
            <a:pPr algn="ctr"/>
          </a:p>
        </p:txBody>
      </p:sp>
      <p:sp>
        <p:nvSpPr>
          <p:cNvPr id="15" name="Oval 14"/>
          <p:cNvSpPr/>
          <p:nvPr/>
        </p:nvSpPr>
        <p:spPr>
          <a:xfrm>
            <a:off x="9971585" y="4023780"/>
            <a:ext cx="158681" cy="336232"/>
          </a:xfrm>
          <a:prstGeom prst="ellipse">
            <a:avLst/>
          </a:prstGeom>
          <a:noFill/>
          <a:ln w="44450">
            <a:solidFill>
              <a:srgbClr val="C62828"/>
            </a:solidFill>
          </a:ln>
        </p:spPr>
        <p:txBody>
          <a:bodyPr rtlCol="0" anchor="ctr"/>
          <a:lstStyle/>
          <a:p>
            <a:pPr algn="ctr"/>
          </a:p>
        </p:txBody>
      </p:sp>
      <p:sp>
        <p:nvSpPr>
          <p:cNvPr id="16" name="Oval 15"/>
          <p:cNvSpPr/>
          <p:nvPr/>
        </p:nvSpPr>
        <p:spPr>
          <a:xfrm>
            <a:off x="7179786" y="2766115"/>
            <a:ext cx="287609" cy="433765"/>
          </a:xfrm>
          <a:prstGeom prst="ellipse">
            <a:avLst/>
          </a:prstGeom>
          <a:noFill/>
          <a:ln w="44450">
            <a:solidFill>
              <a:srgbClr val="1F5FAD"/>
            </a:solidFill>
          </a:ln>
        </p:spPr>
        <p:txBody>
          <a:bodyPr rtlCol="0" anchor="ctr"/>
          <a:lstStyle/>
          <a:p>
            <a:pPr algn="ctr"/>
          </a:p>
        </p:txBody>
      </p:sp>
      <p:sp>
        <p:nvSpPr>
          <p:cNvPr id="17" name="Oval 16"/>
          <p:cNvSpPr/>
          <p:nvPr/>
        </p:nvSpPr>
        <p:spPr>
          <a:xfrm>
            <a:off x="9921997" y="2147550"/>
            <a:ext cx="267774" cy="369599"/>
          </a:xfrm>
          <a:prstGeom prst="ellipse">
            <a:avLst/>
          </a:prstGeom>
          <a:noFill/>
          <a:ln w="44450">
            <a:solidFill>
              <a:srgbClr val="007A33"/>
            </a:solidFill>
          </a:ln>
        </p:spPr>
        <p:txBody>
          <a:bodyPr rtlCol="0" anchor="ctr"/>
          <a:lstStyle/>
          <a:p>
            <a:pPr algn="ctr"/>
          </a:p>
        </p:txBody>
      </p:sp>
      <p:sp>
        <p:nvSpPr>
          <p:cNvPr id="18" name="Oval 17"/>
          <p:cNvSpPr/>
          <p:nvPr/>
        </p:nvSpPr>
        <p:spPr>
          <a:xfrm>
            <a:off x="6776398" y="38272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098788" y="39812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024338" y="26106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66549" y="1992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70635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a:t>
            </a:r>
            <a:r>
              <a:rPr sz="1500" b="1" i="0">
                <a:solidFill>
                  <a:srgbClr val="C62828"/>
                </a:solidFill>
                <a:latin typeface="Arial"/>
              </a:rPr>
              <a:t>(2)</a:t>
            </a:r>
            <a:r>
              <a:rPr sz="1500" b="0" i="0">
                <a:solidFill>
                  <a:srgbClr val="1A1A1A"/>
                </a:solidFill>
                <a:latin typeface="Arial"/>
              </a:rPr>
              <a:t> cross the dashed level </a:t>
            </a:r>
            <a:r>
              <a:rPr sz="1500" b="1" i="0">
                <a:solidFill>
                  <a:srgbClr val="E09B00"/>
                </a:solidFill>
                <a:latin typeface="Arial"/>
              </a:rPr>
              <a:t>(1)</a:t>
            </a:r>
            <a:r>
              <a:rPr sz="1500" b="0" i="0">
                <a:solidFill>
                  <a:srgbClr val="1A1A1A"/>
                </a:solidFill>
                <a:latin typeface="Arial"/>
              </a:rPr>
              <a:t>. At the far right price breaks a significant support </a:t>
            </a:r>
            <a:r>
              <a:rPr sz="1500" b="1" i="0">
                <a:solidFill>
                  <a:srgbClr val="1F5FAD"/>
                </a:solidFill>
                <a:latin typeface="Arial"/>
              </a:rPr>
              <a:t>(3)</a:t>
            </a:r>
            <a:r>
              <a:rPr sz="1500" b="0" i="0">
                <a:solidFill>
                  <a:srgbClr val="1A1A1A"/>
                </a:solidFill>
                <a:latin typeface="Arial"/>
              </a:rPr>
              <a: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25037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301263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554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p:txBody>
      </p:sp>
      <p:cxnSp>
        <p:nvCxnSpPr>
          <p:cNvPr id="15" name="Connector 14"/>
          <p:cNvCxnSpPr/>
          <p:nvPr/>
        </p:nvCxnSpPr>
        <p:spPr>
          <a:xfrm>
            <a:off x="6366544" y="4396728"/>
            <a:ext cx="4899286" cy="0"/>
          </a:xfrm>
          <a:prstGeom prst="line">
            <a:avLst/>
          </a:prstGeom>
          <a:ln w="44450">
            <a:solidFill>
              <a:srgbClr val="E09B00"/>
            </a:solidFill>
          </a:ln>
        </p:spPr>
      </p:cxnSp>
      <p:sp>
        <p:nvSpPr>
          <p:cNvPr id="16" name="Oval 15"/>
          <p:cNvSpPr/>
          <p:nvPr/>
        </p:nvSpPr>
        <p:spPr>
          <a:xfrm>
            <a:off x="8801311" y="4149693"/>
            <a:ext cx="401662" cy="382604"/>
          </a:xfrm>
          <a:prstGeom prst="ellipse">
            <a:avLst/>
          </a:prstGeom>
          <a:noFill/>
          <a:ln w="44450">
            <a:solidFill>
              <a:srgbClr val="C62828"/>
            </a:solidFill>
          </a:ln>
        </p:spPr>
        <p:txBody>
          <a:bodyPr rtlCol="0" anchor="ctr"/>
          <a:lstStyle/>
          <a:p>
            <a:pPr algn="ctr"/>
          </a:p>
        </p:txBody>
      </p:sp>
      <p:sp>
        <p:nvSpPr>
          <p:cNvPr id="17" name="Oval 16"/>
          <p:cNvSpPr/>
          <p:nvPr/>
        </p:nvSpPr>
        <p:spPr>
          <a:xfrm>
            <a:off x="10809621" y="2549986"/>
            <a:ext cx="426456" cy="370553"/>
          </a:xfrm>
          <a:prstGeom prst="ellipse">
            <a:avLst/>
          </a:prstGeom>
          <a:noFill/>
          <a:ln w="44450">
            <a:solidFill>
              <a:srgbClr val="1F5FAD"/>
            </a:solidFill>
          </a:ln>
        </p:spPr>
        <p:txBody>
          <a:bodyPr rtlCol="0" anchor="ctr"/>
          <a:lstStyle/>
          <a:p>
            <a:pPr algn="ctr"/>
          </a:p>
        </p:txBody>
      </p:sp>
      <p:sp>
        <p:nvSpPr>
          <p:cNvPr id="18" name="Oval 17"/>
          <p:cNvSpPr/>
          <p:nvPr/>
        </p:nvSpPr>
        <p:spPr>
          <a:xfrm>
            <a:off x="6211096" y="42412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45863" y="3994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654173" y="23945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52327"/>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so the level moves as old days leave the window.</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100-day 2-sigma level. Ours: the arithmetic and the 20 and 10 million.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rolling line on Figure 6.14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On Figure 6.14, the solid line under the dashed level is the rolling level.</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August 2011 spikes enter its window: the line steps up.</a:t>
            </a:r>
          </a:p>
          <a:p>
            <a:pPr algn="l">
              <a:lnSpc>
                <a:spcPct val="105000"/>
              </a:lnSpc>
              <a:spcBef>
                <a:spcPts val="0"/>
              </a:spcBef>
              <a:spcAft>
                <a:spcPts val="1100"/>
              </a:spcAft>
            </a:pPr>
            <a:r>
              <a:rPr sz="2000" b="1" i="0">
                <a:solidFill>
                  <a:srgbClr val="1F5FAD"/>
                </a:solidFill>
                <a:latin typeface="Arial"/>
              </a:rPr>
              <a:t>(3)</a:t>
            </a:r>
            <a:r>
              <a:rPr sz="2000" b="0" i="0">
                <a:solidFill>
                  <a:srgbClr val="1A1A1A"/>
                </a:solidFill>
                <a:latin typeface="Arial"/>
              </a:rPr>
              <a:t> Some 100 days later they leave, and it drops back.</a:t>
            </a:r>
          </a:p>
        </p:txBody>
      </p:sp>
      <p:sp>
        <p:nvSpPr>
          <p:cNvPr id="8" name="Rectangle 7"/>
          <p:cNvSpPr/>
          <p:nvPr/>
        </p:nvSpPr>
        <p:spPr>
          <a:xfrm>
            <a:off x="777240" y="4581144"/>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19379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level follows volume's recent past: what counts as extreme changes over time.</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the solid rolling 100-day 2-sigma line steps up after the August 2011 volume spikes and drops back some 100 days later.</a:t>
            </a:r>
          </a:p>
        </p:txBody>
      </p:sp>
      <p:cxnSp>
        <p:nvCxnSpPr>
          <p:cNvPr id="14" name="Connector 13"/>
          <p:cNvCxnSpPr/>
          <p:nvPr/>
        </p:nvCxnSpPr>
        <p:spPr>
          <a:xfrm flipV="1">
            <a:off x="7938077" y="4410067"/>
            <a:ext cx="197500" cy="239976"/>
          </a:xfrm>
          <a:prstGeom prst="line">
            <a:avLst/>
          </a:prstGeom>
          <a:ln w="44450">
            <a:solidFill>
              <a:srgbClr val="E09B00"/>
            </a:solidFill>
            <a:tailEnd type="triangle" w="med" len="med"/>
          </a:ln>
        </p:spPr>
      </p:cxnSp>
      <p:cxnSp>
        <p:nvCxnSpPr>
          <p:cNvPr id="15" name="Connector 14"/>
          <p:cNvCxnSpPr/>
          <p:nvPr/>
        </p:nvCxnSpPr>
        <p:spPr>
          <a:xfrm flipV="1">
            <a:off x="8953137" y="4306821"/>
            <a:ext cx="146977" cy="354383"/>
          </a:xfrm>
          <a:prstGeom prst="line">
            <a:avLst/>
          </a:prstGeom>
          <a:ln w="44450">
            <a:solidFill>
              <a:srgbClr val="C62828"/>
            </a:solidFill>
            <a:tailEnd type="triangle" w="med" len="med"/>
          </a:ln>
        </p:spPr>
      </p:cxnSp>
      <p:cxnSp>
        <p:nvCxnSpPr>
          <p:cNvPr id="16" name="Connector 15"/>
          <p:cNvCxnSpPr/>
          <p:nvPr/>
        </p:nvCxnSpPr>
        <p:spPr>
          <a:xfrm flipH="1" flipV="1">
            <a:off x="9651277" y="4340306"/>
            <a:ext cx="151570" cy="320898"/>
          </a:xfrm>
          <a:prstGeom prst="line">
            <a:avLst/>
          </a:prstGeom>
          <a:ln w="44450">
            <a:solidFill>
              <a:srgbClr val="1F5FAD"/>
            </a:solidFill>
            <a:tailEnd type="triangle" w="med" len="med"/>
          </a:ln>
        </p:spPr>
      </p:cxnSp>
      <p:sp>
        <p:nvSpPr>
          <p:cNvPr id="17" name="Oval 16"/>
          <p:cNvSpPr/>
          <p:nvPr/>
        </p:nvSpPr>
        <p:spPr>
          <a:xfrm>
            <a:off x="7782629" y="4494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797689" y="45057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647399" y="45057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line. Ours: why it steps, read by eye off Figure 6.14.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a:t>
            </a:r>
            <a:r>
              <a:rPr sz="1600" b="1" i="0">
                <a:solidFill>
                  <a:srgbClr val="E09B00"/>
                </a:solidFill>
                <a:latin typeface="Arial"/>
              </a:rPr>
              <a:t>(1)</a:t>
            </a:r>
            <a:r>
              <a:rPr sz="1600" b="0" i="0">
                <a:solidFill>
                  <a:srgbClr val="1A1A1A"/>
                </a:solidFill>
                <a:latin typeface="Arial"/>
              </a:rPr>
              <a:t> to volume crossing the overextension lines </a:t>
            </a:r>
            <a:r>
              <a:rPr sz="1600" b="1" i="0">
                <a:solidFill>
                  <a:srgbClr val="C62828"/>
                </a:solidFill>
                <a:latin typeface="Arial"/>
              </a:rPr>
              <a:t>(2)</a:t>
            </a:r>
            <a:r>
              <a:rPr sz="1600" b="0" i="0">
                <a:solidFill>
                  <a:srgbClr val="1A1A1A"/>
                </a:solidFill>
                <a:latin typeface="Arial"/>
              </a:rPr>
              <a:t>, and up to turns in price.</a:t>
            </a:r>
          </a:p>
          <a:p>
            <a:pPr algn="l">
              <a:lnSpc>
                <a:spcPct val="105000"/>
              </a:lnSpc>
              <a:spcBef>
                <a:spcPts val="0"/>
              </a:spcBef>
              <a:spcAft>
                <a:spcPts val="1100"/>
              </a:spcAft>
            </a:pPr>
            <a:r>
              <a:rPr sz="1600" b="0" i="0">
                <a:solidFill>
                  <a:srgbClr val="1A1A1A"/>
                </a:solidFill>
                <a:latin typeface="Arial"/>
              </a:rPr>
              <a:t>At the book's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p:txBody>
      </p:sp>
      <p:sp>
        <p:nvSpPr>
          <p:cNvPr id="14" name="Rectangle 13"/>
          <p:cNvSpPr/>
          <p:nvPr/>
        </p:nvSpPr>
        <p:spPr>
          <a:xfrm>
            <a:off x="7823251" y="4132779"/>
            <a:ext cx="2392969" cy="254439"/>
          </a:xfrm>
          <a:prstGeom prst="rect">
            <a:avLst/>
          </a:prstGeom>
          <a:noFill/>
          <a:ln w="44450">
            <a:solidFill>
              <a:srgbClr val="E09B00"/>
            </a:solidFill>
          </a:ln>
        </p:spPr>
        <p:txBody>
          <a:bodyPr rtlCol="0" anchor="ctr"/>
          <a:lstStyle/>
          <a:p>
            <a:pPr algn="ctr"/>
          </a:p>
        </p:txBody>
      </p:sp>
      <p:sp>
        <p:nvSpPr>
          <p:cNvPr id="15" name="Rectangle 14"/>
          <p:cNvSpPr/>
          <p:nvPr/>
        </p:nvSpPr>
        <p:spPr>
          <a:xfrm>
            <a:off x="8815346" y="3267160"/>
            <a:ext cx="1860177" cy="372478"/>
          </a:xfrm>
          <a:prstGeom prst="rect">
            <a:avLst/>
          </a:prstGeom>
          <a:noFill/>
          <a:ln w="44450">
            <a:solidFill>
              <a:srgbClr val="C62828"/>
            </a:solidFill>
          </a:ln>
        </p:spPr>
        <p:txBody>
          <a:bodyPr rtlCol="0" anchor="ctr"/>
          <a:lstStyle/>
          <a:p>
            <a:pPr algn="ctr"/>
          </a:p>
        </p:txBody>
      </p:sp>
      <p:sp>
        <p:nvSpPr>
          <p:cNvPr id="16" name="Oval 15"/>
          <p:cNvSpPr/>
          <p:nvPr/>
        </p:nvSpPr>
        <p:spPr>
          <a:xfrm>
            <a:off x="7511640" y="397733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843619" y="311171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6.15's two volatility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dashed line, near 15: below it is noise, which many practitioners filter out. All four circled spikes clear it.</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historical volatility level, near 40: only the spikes under the book's two lows reach it.</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low line for noise, a high one for the major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its volume with two overextension lines, and under it a bandwidth oscillator labelled volatility: a dashed noise line near 15 that four circled spikes clear, and a historical volatility level near 40 that only the two spikes under the book's lows 1 and 2 reach.</a:t>
            </a:r>
          </a:p>
        </p:txBody>
      </p:sp>
      <p:cxnSp>
        <p:nvCxnSpPr>
          <p:cNvPr id="14" name="Connector 13"/>
          <p:cNvCxnSpPr/>
          <p:nvPr/>
        </p:nvCxnSpPr>
        <p:spPr>
          <a:xfrm>
            <a:off x="6730110" y="4282295"/>
            <a:ext cx="3936227" cy="0"/>
          </a:xfrm>
          <a:prstGeom prst="line">
            <a:avLst/>
          </a:prstGeom>
          <a:ln w="44450">
            <a:solidFill>
              <a:srgbClr val="E09B00"/>
            </a:solidFill>
          </a:ln>
        </p:spPr>
      </p:cxnSp>
      <p:cxnSp>
        <p:nvCxnSpPr>
          <p:cNvPr id="15" name="Connector 14"/>
          <p:cNvCxnSpPr/>
          <p:nvPr/>
        </p:nvCxnSpPr>
        <p:spPr>
          <a:xfrm>
            <a:off x="9343544" y="3938671"/>
            <a:ext cx="1322793" cy="0"/>
          </a:xfrm>
          <a:prstGeom prst="line">
            <a:avLst/>
          </a:prstGeom>
          <a:ln w="44450">
            <a:solidFill>
              <a:srgbClr val="C62828"/>
            </a:solidFill>
          </a:ln>
        </p:spPr>
      </p:cxnSp>
      <p:sp>
        <p:nvSpPr>
          <p:cNvPr id="16" name="Oval 15"/>
          <p:cNvSpPr/>
          <p:nvPr/>
        </p:nvSpPr>
        <p:spPr>
          <a:xfrm>
            <a:off x="6574662" y="41268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88096" y="378322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its two volatility lines read by eye.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A spike above the noise line is a real one; a spike at the historical level marks a major turn,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Evidence that corroborates: the chapter's first slide, p.173.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a:t>
            </a:r>
            <a:r>
              <a:rPr sz="1500" b="1" i="0">
                <a:solidFill>
                  <a:srgbClr val="E09B00"/>
                </a:solidFill>
                <a:latin typeface="Arial"/>
              </a:rPr>
              <a:t>(1)</a:t>
            </a:r>
            <a:r>
              <a:rPr sz="1500" b="0" i="0">
                <a:solidFill>
                  <a:srgbClr val="1A1A1A"/>
                </a:solidFill>
                <a:latin typeface="Arial"/>
              </a:rPr>
              <a:t>, set by a rule the book does not give. Each time line runs up to a turn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291218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267443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21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6.16</a:t>
            </a:r>
          </a:p>
          <a:p>
            <a:pPr algn="l">
              <a:lnSpc>
                <a:spcPct val="115000"/>
              </a:lnSpc>
              <a:spcBef>
                <a:spcPts val="0"/>
              </a:spcBef>
              <a:spcAft>
                <a:spcPts val="0"/>
              </a:spcAft>
            </a:pPr>
            <a:r>
              <a:rPr sz="15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p:txBody>
      </p:sp>
      <p:cxnSp>
        <p:nvCxnSpPr>
          <p:cNvPr id="18" name="Connector 17"/>
          <p:cNvCxnSpPr/>
          <p:nvPr/>
        </p:nvCxnSpPr>
        <p:spPr>
          <a:xfrm>
            <a:off x="7048607" y="4713270"/>
            <a:ext cx="3960316" cy="0"/>
          </a:xfrm>
          <a:prstGeom prst="line">
            <a:avLst/>
          </a:prstGeom>
          <a:ln w="44450">
            <a:solidFill>
              <a:srgbClr val="E09B00"/>
            </a:solidFill>
          </a:ln>
        </p:spPr>
      </p:cxnSp>
      <p:cxnSp>
        <p:nvCxnSpPr>
          <p:cNvPr id="19" name="Connector 18"/>
          <p:cNvCxnSpPr/>
          <p:nvPr/>
        </p:nvCxnSpPr>
        <p:spPr>
          <a:xfrm flipV="1">
            <a:off x="8406934" y="2707440"/>
            <a:ext cx="0" cy="1874782"/>
          </a:xfrm>
          <a:prstGeom prst="line">
            <a:avLst/>
          </a:prstGeom>
          <a:ln w="44450">
            <a:solidFill>
              <a:srgbClr val="C62828"/>
            </a:solidFill>
            <a:tailEnd type="triangle" w="med" len="med"/>
          </a:ln>
        </p:spPr>
      </p:cxnSp>
      <p:sp>
        <p:nvSpPr>
          <p:cNvPr id="20" name="Oval 19"/>
          <p:cNvSpPr/>
          <p:nvPr/>
        </p:nvSpPr>
        <p:spPr>
          <a:xfrm>
            <a:off x="6893159" y="45578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097130" y="265629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16160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27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28 of 30</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700" b="0" i="0">
                <a:solidFill>
                  <a:srgbClr val="1A1A1A"/>
                </a:solidFill>
                <a:latin typeface="Arial"/>
              </a:rPr>
              <a:t>Figure 6.17, gold: daily and weekly volume peak in 2013 </a:t>
            </a:r>
            <a:r>
              <a:rPr sz="1700" b="1" i="0">
                <a:solidFill>
                  <a:srgbClr val="E09B00"/>
                </a:solidFill>
                <a:latin typeface="Arial"/>
              </a:rPr>
              <a:t>(1)</a:t>
            </a:r>
            <a:r>
              <a:rPr sz="1700" b="0" i="0">
                <a:solidFill>
                  <a:srgbClr val="1A1A1A"/>
                </a:solidFill>
                <a:latin typeface="Arial"/>
              </a:rPr>
              <a:t>; monthly, quarterly and yearly peak in 2011 </a:t>
            </a:r>
            <a:r>
              <a:rPr sz="1700" b="1" i="0">
                <a:solidFill>
                  <a:srgbClr val="C62828"/>
                </a:solidFill>
                <a:latin typeface="Arial"/>
              </a:rPr>
              <a:t>(2)</a:t>
            </a:r>
            <a:r>
              <a:rPr sz="1700" b="0" i="0">
                <a:solidFill>
                  <a:srgbClr val="1A1A1A"/>
                </a:solidFill>
                <a:latin typeface="Arial"/>
              </a:rPr>
              <a:t>.</a:t>
            </a:r>
          </a:p>
        </p:txBody>
      </p:sp>
      <p:sp>
        <p:nvSpPr>
          <p:cNvPr id="8" name="Rectangle 7"/>
          <p:cNvSpPr/>
          <p:nvPr/>
        </p:nvSpPr>
        <p:spPr>
          <a:xfrm>
            <a:off x="777240" y="4128516"/>
            <a:ext cx="82296" cy="12435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3913632" cy="124358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Lower timeframes are more sensitive: one day's burst shows. Higher ones show the overall trend of volume.</a:t>
            </a:r>
          </a:p>
        </p:txBody>
      </p:sp>
      <p:sp>
        <p:nvSpPr>
          <p:cNvPr id="10" name="Rectangle 9"/>
          <p:cNvSpPr/>
          <p:nvPr/>
        </p:nvSpPr>
        <p:spPr>
          <a:xfrm>
            <a:off x="5875477" y="1810512"/>
            <a:ext cx="4967020"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994349" y="1929384"/>
            <a:ext cx="4729276"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994349" y="1929384"/>
            <a:ext cx="4729276"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8669" y="2203703"/>
            <a:ext cx="418063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6.17</a:t>
            </a:r>
          </a:p>
          <a:p>
            <a:pPr algn="l">
              <a:lnSpc>
                <a:spcPct val="115000"/>
              </a:lnSpc>
              <a:spcBef>
                <a:spcPts val="0"/>
              </a:spcBef>
              <a:spcAft>
                <a:spcPts val="0"/>
              </a:spcAft>
            </a:pPr>
            <a:r>
              <a:rPr sz="15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p:txBody>
      </p:sp>
      <p:sp>
        <p:nvSpPr>
          <p:cNvPr id="14" name="Rectangle 13"/>
          <p:cNvSpPr/>
          <p:nvPr/>
        </p:nvSpPr>
        <p:spPr>
          <a:xfrm>
            <a:off x="10137195" y="1943429"/>
            <a:ext cx="321590" cy="937516"/>
          </a:xfrm>
          <a:prstGeom prst="rect">
            <a:avLst/>
          </a:prstGeom>
          <a:noFill/>
          <a:ln w="44450">
            <a:solidFill>
              <a:srgbClr val="E09B00"/>
            </a:solidFill>
          </a:ln>
        </p:spPr>
        <p:txBody>
          <a:bodyPr rtlCol="0" anchor="ctr"/>
          <a:lstStyle/>
          <a:p>
            <a:pPr algn="ctr"/>
          </a:p>
        </p:txBody>
      </p:sp>
      <p:sp>
        <p:nvSpPr>
          <p:cNvPr id="15" name="Rectangle 14"/>
          <p:cNvSpPr/>
          <p:nvPr/>
        </p:nvSpPr>
        <p:spPr>
          <a:xfrm>
            <a:off x="9574411" y="3354970"/>
            <a:ext cx="255380" cy="2043574"/>
          </a:xfrm>
          <a:prstGeom prst="rect">
            <a:avLst/>
          </a:prstGeom>
          <a:noFill/>
          <a:ln w="44450">
            <a:solidFill>
              <a:srgbClr val="C62828"/>
            </a:solidFill>
          </a:ln>
        </p:spPr>
        <p:txBody>
          <a:bodyPr rtlCol="0" anchor="ctr"/>
          <a:lstStyle/>
          <a:p>
            <a:pPr algn="ctr"/>
          </a:p>
        </p:txBody>
      </p:sp>
      <p:sp>
        <p:nvSpPr>
          <p:cNvPr id="16" name="Oval 15"/>
          <p:cNvSpPr/>
          <p:nvPr/>
        </p:nvSpPr>
        <p:spPr>
          <a:xfrm>
            <a:off x="9480444" y="19495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18963" y="319952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peaks differ: the arithmetic</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29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record 2013 day of 10 million, in a month of 19 quiet days of 3 million: 10 + 57 = 67 million for the month.</a:t>
            </a:r>
          </a:p>
          <a:p>
            <a:pPr algn="l">
              <a:lnSpc>
                <a:spcPct val="118000"/>
              </a:lnSpc>
              <a:spcBef>
                <a:spcPts val="0"/>
              </a:spcBef>
              <a:spcAft>
                <a:spcPts val="1300"/>
              </a:spcAft>
            </a:pPr>
            <a:r>
              <a:rPr sz="2100" b="0" i="0">
                <a:solidFill>
                  <a:srgbClr val="1A1A1A"/>
                </a:solidFill>
                <a:latin typeface="Arial"/>
              </a:rPr>
              <a:t>A 2011 month with no record day, 20 days of 6 million: 20 x 6 = 120 million, the monthly peak.</a:t>
            </a:r>
          </a:p>
          <a:p>
            <a:pPr algn="l">
              <a:lnSpc>
                <a:spcPct val="118000"/>
              </a:lnSpc>
              <a:spcBef>
                <a:spcPts val="0"/>
              </a:spcBef>
              <a:spcAft>
                <a:spcPts val="1300"/>
              </a:spcAft>
            </a:pPr>
            <a:r>
              <a:rPr sz="2100" b="0" i="0">
                <a:solidFill>
                  <a:srgbClr val="1A1A1A"/>
                </a:solidFill>
                <a:latin typeface="Arial"/>
              </a:rPr>
              <a:t>So the record day tops the daily bars, and the steady month tops the monthly ones.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Daily to spot a single burst; monthly or higher to see the trend in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p.186's point, worked. The 10, 3 and 6 million are ours, to show the arithmetic.</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a:t>
            </a:r>
            <a:r>
              <a:rPr sz="1700" b="1" i="0">
                <a:solidFill>
                  <a:srgbClr val="E09B00"/>
                </a:solidFill>
                <a:latin typeface="Arial"/>
              </a:rPr>
              <a:t>(1)</a:t>
            </a:r>
            <a:r>
              <a:rPr sz="1700" b="0" i="0">
                <a:solidFill>
                  <a:srgbClr val="1A1A1A"/>
                </a:solidFill>
                <a:latin typeface="Arial"/>
              </a:rPr>
              <a:t>, Support 1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a:t>
            </a:r>
            <a:r>
              <a:rPr sz="1700" b="1" i="0">
                <a:solidFill>
                  <a:srgbClr val="1F5FAD"/>
                </a:solidFill>
                <a:latin typeface="Arial"/>
              </a:rPr>
              <a:t>(3)</a:t>
            </a:r>
            <a:r>
              <a:rPr sz="1700" b="0" i="0">
                <a:solidFill>
                  <a:srgbClr val="1A1A1A"/>
                </a:solidFill>
                <a:latin typeface="Arial"/>
              </a:rPr>
              <a:t>, Support 2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629454" y="1810512"/>
            <a:ext cx="473922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48326" y="1929384"/>
            <a:ext cx="4501481"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48326" y="1929384"/>
            <a:ext cx="450148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22646" y="2203703"/>
            <a:ext cx="395284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6.18</a:t>
            </a:r>
          </a:p>
          <a:p>
            <a:pPr algn="l">
              <a:lnSpc>
                <a:spcPct val="115000"/>
              </a:lnSpc>
              <a:spcBef>
                <a:spcPts val="0"/>
              </a:spcBef>
              <a:spcAft>
                <a:spcPts val="0"/>
              </a:spcAft>
            </a:pPr>
            <a:r>
              <a:rPr sz="15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p:txBody>
      </p:sp>
      <p:sp>
        <p:nvSpPr>
          <p:cNvPr id="14" name="Rectangle 13"/>
          <p:cNvSpPr/>
          <p:nvPr/>
        </p:nvSpPr>
        <p:spPr>
          <a:xfrm>
            <a:off x="7603608" y="2982772"/>
            <a:ext cx="540177" cy="737372"/>
          </a:xfrm>
          <a:prstGeom prst="rect">
            <a:avLst/>
          </a:prstGeom>
          <a:noFill/>
          <a:ln w="44450">
            <a:solidFill>
              <a:srgbClr val="E09B00"/>
            </a:solidFill>
          </a:ln>
        </p:spPr>
        <p:txBody>
          <a:bodyPr rtlCol="0" anchor="ctr"/>
          <a:lstStyle/>
          <a:p>
            <a:pPr algn="ctr"/>
          </a:p>
        </p:txBody>
      </p:sp>
      <p:sp>
        <p:nvSpPr>
          <p:cNvPr id="15" name="Rectangle 14"/>
          <p:cNvSpPr/>
          <p:nvPr/>
        </p:nvSpPr>
        <p:spPr>
          <a:xfrm>
            <a:off x="9944378" y="3088111"/>
            <a:ext cx="585192" cy="702259"/>
          </a:xfrm>
          <a:prstGeom prst="rect">
            <a:avLst/>
          </a:prstGeom>
          <a:noFill/>
          <a:ln w="44450">
            <a:solidFill>
              <a:srgbClr val="C62828"/>
            </a:solidFill>
          </a:ln>
        </p:spPr>
        <p:txBody>
          <a:bodyPr rtlCol="0" anchor="ctr"/>
          <a:lstStyle/>
          <a:p>
            <a:pPr algn="ctr"/>
          </a:p>
        </p:txBody>
      </p:sp>
      <p:sp>
        <p:nvSpPr>
          <p:cNvPr id="16" name="Rectangle 15"/>
          <p:cNvSpPr/>
          <p:nvPr/>
        </p:nvSpPr>
        <p:spPr>
          <a:xfrm>
            <a:off x="7603608" y="5089550"/>
            <a:ext cx="540177" cy="333573"/>
          </a:xfrm>
          <a:prstGeom prst="rect">
            <a:avLst/>
          </a:prstGeom>
          <a:noFill/>
          <a:ln w="44450">
            <a:solidFill>
              <a:srgbClr val="1F5FAD"/>
            </a:solidFill>
          </a:ln>
        </p:spPr>
        <p:txBody>
          <a:bodyPr rtlCol="0" anchor="ctr"/>
          <a:lstStyle/>
          <a:p>
            <a:pPr algn="ctr"/>
          </a:p>
        </p:txBody>
      </p:sp>
      <p:sp>
        <p:nvSpPr>
          <p:cNvPr id="17" name="Rectangle 16"/>
          <p:cNvSpPr/>
          <p:nvPr/>
        </p:nvSpPr>
        <p:spPr>
          <a:xfrm>
            <a:off x="9944378" y="5089550"/>
            <a:ext cx="585192" cy="333573"/>
          </a:xfrm>
          <a:prstGeom prst="rect">
            <a:avLst/>
          </a:prstGeom>
          <a:noFill/>
          <a:ln w="44450">
            <a:solidFill>
              <a:srgbClr val="007A33"/>
            </a:solidFill>
          </a:ln>
        </p:spPr>
        <p:txBody>
          <a:bodyPr rtlCol="0" anchor="ctr"/>
          <a:lstStyle/>
          <a:p>
            <a:pPr algn="ctr"/>
          </a:p>
        </p:txBody>
      </p:sp>
      <p:sp>
        <p:nvSpPr>
          <p:cNvPr id="18" name="Oval 17"/>
          <p:cNvSpPr/>
          <p:nvPr/>
        </p:nvSpPr>
        <p:spPr>
          <a:xfrm>
            <a:off x="7448160" y="36349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743915" y="370514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448160" y="493410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88930" y="4934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24</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Increasing: each bar taller. </a:t>
            </a:r>
            <a:r>
              <a:rPr sz="1700" b="1" i="0">
                <a:solidFill>
                  <a:srgbClr val="C62828"/>
                </a:solidFill>
                <a:latin typeface="Arial"/>
              </a:rPr>
              <a:t>(2)</a:t>
            </a:r>
            <a:r>
              <a:rPr sz="1700" b="0" i="0">
                <a:solidFill>
                  <a:srgbClr val="1A1A1A"/>
                </a:solidFill>
                <a:latin typeface="Arial"/>
              </a:rPr>
              <a:t> Decreasing: each shorter. </a:t>
            </a:r>
            <a:r>
              <a:rPr sz="1700" b="1" i="0">
                <a:solidFill>
                  <a:srgbClr val="1F5FAD"/>
                </a:solidFill>
                <a:latin typeface="Arial"/>
              </a:rPr>
              <a:t>(3)</a:t>
            </a:r>
            <a:r>
              <a:rPr sz="1700" b="0" i="0">
                <a:solidFill>
                  <a:srgbClr val="1A1A1A"/>
                </a:solidFill>
                <a:latin typeface="Arial"/>
              </a:rPr>
              <a:t> Peaking: tallest at the touch.</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Bottoming: shortest at the touch. </a:t>
            </a:r>
            <a:r>
              <a:rPr sz="1700" b="1" i="0">
                <a:solidFill>
                  <a:srgbClr val="7B3FA0"/>
                </a:solidFill>
                <a:latin typeface="Arial"/>
              </a:rPr>
              <a:t>(5)</a:t>
            </a:r>
            <a:r>
              <a:rPr sz="1700" b="0" i="0">
                <a:solidFill>
                  <a:srgbClr val="1A1A1A"/>
                </a:solidFill>
                <a:latin typeface="Arial"/>
              </a:rPr>
              <a:t>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917832" y="1810512"/>
            <a:ext cx="5430950"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6704" y="1929384"/>
            <a:ext cx="5193206"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036704" y="1929384"/>
            <a:ext cx="5193206"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311024" y="2203703"/>
            <a:ext cx="46445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6.19</a:t>
            </a:r>
          </a:p>
          <a:p>
            <a:pPr algn="l">
              <a:lnSpc>
                <a:spcPct val="115000"/>
              </a:lnSpc>
              <a:spcBef>
                <a:spcPts val="0"/>
              </a:spcBef>
              <a:spcAft>
                <a:spcPts val="0"/>
              </a:spcAft>
            </a:pPr>
            <a:r>
              <a:rPr sz="1500" b="0" i="0">
                <a:solidFill>
                  <a:srgbClr val="1A1A1A"/>
                </a:solidFill>
                <a:latin typeface="Palatino"/>
              </a:rPr>
              <a:t>Ten sketches in two rows, five at a resistance and five at a support, each with volume bars under the turn: increasing, decreasing, peaking, bottoming and flatlining across the barrier.</a:t>
            </a:r>
          </a:p>
        </p:txBody>
      </p:sp>
      <p:sp>
        <p:nvSpPr>
          <p:cNvPr id="15" name="Rectangle 14"/>
          <p:cNvSpPr/>
          <p:nvPr/>
        </p:nvSpPr>
        <p:spPr>
          <a:xfrm>
            <a:off x="6088636" y="2526304"/>
            <a:ext cx="934777" cy="702259"/>
          </a:xfrm>
          <a:prstGeom prst="rect">
            <a:avLst/>
          </a:prstGeom>
          <a:noFill/>
          <a:ln w="44450">
            <a:solidFill>
              <a:srgbClr val="E09B00"/>
            </a:solidFill>
          </a:ln>
        </p:spPr>
        <p:txBody>
          <a:bodyPr rtlCol="0" anchor="ctr"/>
          <a:lstStyle/>
          <a:p>
            <a:pPr algn="ctr"/>
          </a:p>
        </p:txBody>
      </p:sp>
      <p:sp>
        <p:nvSpPr>
          <p:cNvPr id="16" name="Rectangle 15"/>
          <p:cNvSpPr/>
          <p:nvPr/>
        </p:nvSpPr>
        <p:spPr>
          <a:xfrm>
            <a:off x="7127277" y="2526304"/>
            <a:ext cx="934777" cy="702259"/>
          </a:xfrm>
          <a:prstGeom prst="rect">
            <a:avLst/>
          </a:prstGeom>
          <a:noFill/>
          <a:ln w="44450">
            <a:solidFill>
              <a:srgbClr val="C62828"/>
            </a:solidFill>
          </a:ln>
        </p:spPr>
        <p:txBody>
          <a:bodyPr rtlCol="0" anchor="ctr"/>
          <a:lstStyle/>
          <a:p>
            <a:pPr algn="ctr"/>
          </a:p>
        </p:txBody>
      </p:sp>
      <p:sp>
        <p:nvSpPr>
          <p:cNvPr id="17" name="Rectangle 16"/>
          <p:cNvSpPr/>
          <p:nvPr/>
        </p:nvSpPr>
        <p:spPr>
          <a:xfrm>
            <a:off x="8165918" y="2526304"/>
            <a:ext cx="934777" cy="702259"/>
          </a:xfrm>
          <a:prstGeom prst="rect">
            <a:avLst/>
          </a:prstGeom>
          <a:noFill/>
          <a:ln w="44450">
            <a:solidFill>
              <a:srgbClr val="1F5FAD"/>
            </a:solidFill>
          </a:ln>
        </p:spPr>
        <p:txBody>
          <a:bodyPr rtlCol="0" anchor="ctr"/>
          <a:lstStyle/>
          <a:p>
            <a:pPr algn="ctr"/>
          </a:p>
        </p:txBody>
      </p:sp>
      <p:sp>
        <p:nvSpPr>
          <p:cNvPr id="18" name="Rectangle 17"/>
          <p:cNvSpPr/>
          <p:nvPr/>
        </p:nvSpPr>
        <p:spPr>
          <a:xfrm>
            <a:off x="9204560" y="2526304"/>
            <a:ext cx="934777" cy="702259"/>
          </a:xfrm>
          <a:prstGeom prst="rect">
            <a:avLst/>
          </a:prstGeom>
          <a:noFill/>
          <a:ln w="44450">
            <a:solidFill>
              <a:srgbClr val="007A33"/>
            </a:solidFill>
          </a:ln>
        </p:spPr>
        <p:txBody>
          <a:bodyPr rtlCol="0" anchor="ctr"/>
          <a:lstStyle/>
          <a:p>
            <a:pPr algn="ctr"/>
          </a:p>
        </p:txBody>
      </p:sp>
      <p:sp>
        <p:nvSpPr>
          <p:cNvPr id="19" name="Rectangle 18"/>
          <p:cNvSpPr/>
          <p:nvPr/>
        </p:nvSpPr>
        <p:spPr>
          <a:xfrm>
            <a:off x="10243201" y="2526304"/>
            <a:ext cx="934777" cy="702259"/>
          </a:xfrm>
          <a:prstGeom prst="rect">
            <a:avLst/>
          </a:prstGeom>
          <a:noFill/>
          <a:ln w="44450">
            <a:solidFill>
              <a:srgbClr val="7B3FA0"/>
            </a:solidFill>
          </a:ln>
        </p:spPr>
        <p:txBody>
          <a:bodyPr rtlCol="0" anchor="ctr"/>
          <a:lstStyle/>
          <a:p>
            <a:pPr algn="ctr"/>
          </a:p>
        </p:txBody>
      </p:sp>
      <p:sp>
        <p:nvSpPr>
          <p:cNvPr id="20" name="Oval 19"/>
          <p:cNvSpPr/>
          <p:nvPr/>
        </p:nvSpPr>
        <p:spPr>
          <a:xfrm>
            <a:off x="5933188" y="237085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6971829" y="23708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8010470" y="23708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049112" y="2370856"/>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10087753" y="2370856"/>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TextBox 24"/>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The book: most reliable.</a:t>
            </a:r>
          </a:p>
          <a:p>
            <a:pPr algn="l">
              <a:lnSpc>
                <a:spcPct val="105000"/>
              </a:lnSpc>
              <a:spcBef>
                <a:spcPts val="0"/>
              </a:spcBef>
              <a:spcAft>
                <a:spcPts val="1100"/>
              </a:spcAft>
            </a:pPr>
            <a:r>
              <a:rPr sz="1700" b="0" i="0">
                <a:solidFill>
                  <a:srgbClr val="1A1A1A"/>
                </a:solidFill>
                <a:latin typeface="Arial"/>
              </a:rPr>
              <a:t>Bottoming: 7, 4, 2, 1 at the touch, 2, 4, 7. The book: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average </a:t>
            </a:r>
            <a:r>
              <a:rPr sz="1700" b="1" i="0">
                <a:solidFill>
                  <a:srgbClr val="E09B00"/>
                </a:solidFill>
                <a:latin typeface="Arial"/>
              </a:rPr>
              <a:t>(1)</a:t>
            </a:r>
            <a:r>
              <a:rPr sz="1700" b="0" i="0">
                <a:solidFill>
                  <a:srgbClr val="1A1A1A"/>
                </a:solidFill>
                <a:latin typeface="Arial"/>
              </a:rPr>
              <a:t> is the smoothed volume filter of the term slide, over the last N bars. N, the lookback, is how many bars go into it.</a:t>
            </a:r>
          </a:p>
          <a:p>
            <a:pPr algn="l">
              <a:lnSpc>
                <a:spcPct val="105000"/>
              </a:lnSpc>
              <a:spcBef>
                <a:spcPts val="0"/>
              </a:spcBef>
              <a:spcAft>
                <a:spcPts val="1100"/>
              </a:spcAft>
            </a:pPr>
            <a:r>
              <a:rPr sz="17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700" b="0" i="0">
                <a:solidFill>
                  <a:srgbClr val="1A1A1A"/>
                </a:solidFill>
                <a:latin typeface="Arial"/>
              </a:rPr>
              <a:t>Long N, 100 bars say: slow and flat, only huge spikes cross it, few signals, some turns missed.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right N sits in between. How to find it: next slide.</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a:t>
            </a:r>
            <a:r>
              <a:rPr sz="1300" b="1" i="1">
                <a:solidFill>
                  <a:srgbClr val="C62828"/>
                </a:solidFill>
                <a:latin typeface="Arial"/>
              </a:rPr>
              <a:t>(2)</a:t>
            </a:r>
            <a:r>
              <a:rPr sz="1300" b="0" i="1">
                <a:solidFill>
                  <a:srgbClr val="818181"/>
                </a:solidFill>
                <a:latin typeface="Arial"/>
              </a:rPr>
              <a:t> up to a top or a bottom </a:t>
            </a:r>
            <a:r>
              <a:rPr sz="1300" b="1" i="1">
                <a:solidFill>
                  <a:srgbClr val="1F5FAD"/>
                </a:solidFill>
                <a:latin typeface="Arial"/>
              </a:rPr>
              <a:t>(3)</a:t>
            </a:r>
            <a:r>
              <a:rPr sz="1300" b="0" i="1">
                <a:solidFill>
                  <a:srgbClr val="818181"/>
                </a:solidFill>
                <a:latin typeface="Arial"/>
              </a:rPr>
              <a:t>.</a:t>
            </a:r>
          </a:p>
        </p:txBody>
      </p:sp>
      <p:sp>
        <p:nvSpPr>
          <p:cNvPr id="11" name="Rectangle 10"/>
          <p:cNvSpPr/>
          <p:nvPr/>
        </p:nvSpPr>
        <p:spPr>
          <a:xfrm>
            <a:off x="6583679" y="1810512"/>
            <a:ext cx="4830775" cy="273803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50028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04308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6.20</a:t>
            </a:r>
          </a:p>
          <a:p>
            <a:pPr algn="l">
              <a:lnSpc>
                <a:spcPct val="115000"/>
              </a:lnSpc>
              <a:spcBef>
                <a:spcPts val="0"/>
              </a:spcBef>
              <a:spcAft>
                <a:spcPts val="0"/>
              </a:spcAft>
            </a:pPr>
            <a:r>
              <a:rPr sz="15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p:txBody>
      </p:sp>
      <p:cxnSp>
        <p:nvCxnSpPr>
          <p:cNvPr id="15" name="Connector 14"/>
          <p:cNvCxnSpPr/>
          <p:nvPr/>
        </p:nvCxnSpPr>
        <p:spPr>
          <a:xfrm>
            <a:off x="6794412" y="4142139"/>
            <a:ext cx="3674425" cy="0"/>
          </a:xfrm>
          <a:prstGeom prst="line">
            <a:avLst/>
          </a:prstGeom>
          <a:ln w="44450">
            <a:solidFill>
              <a:srgbClr val="E09B00"/>
            </a:solidFill>
          </a:ln>
        </p:spPr>
      </p:cxnSp>
      <p:sp>
        <p:nvSpPr>
          <p:cNvPr id="16" name="Rectangle 15"/>
          <p:cNvSpPr/>
          <p:nvPr/>
        </p:nvSpPr>
        <p:spPr>
          <a:xfrm>
            <a:off x="7827844" y="3829603"/>
            <a:ext cx="206686" cy="350040"/>
          </a:xfrm>
          <a:prstGeom prst="rect">
            <a:avLst/>
          </a:prstGeom>
          <a:noFill/>
          <a:ln w="44450">
            <a:solidFill>
              <a:srgbClr val="C62828"/>
            </a:solidFill>
          </a:ln>
        </p:spPr>
        <p:txBody>
          <a:bodyPr rtlCol="0" anchor="ctr"/>
          <a:lstStyle/>
          <a:p>
            <a:pPr algn="ctr"/>
          </a:p>
        </p:txBody>
      </p:sp>
      <p:sp>
        <p:nvSpPr>
          <p:cNvPr id="17" name="Oval 16"/>
          <p:cNvSpPr/>
          <p:nvPr/>
        </p:nvSpPr>
        <p:spPr>
          <a:xfrm>
            <a:off x="7781914" y="2754479"/>
            <a:ext cx="275581" cy="350040"/>
          </a:xfrm>
          <a:prstGeom prst="ellipse">
            <a:avLst/>
          </a:prstGeom>
          <a:noFill/>
          <a:ln w="44450">
            <a:solidFill>
              <a:srgbClr val="1F5FAD"/>
            </a:solidFill>
          </a:ln>
        </p:spPr>
        <p:txBody>
          <a:bodyPr rtlCol="0" anchor="ctr"/>
          <a:lstStyle/>
          <a:p>
            <a:pPr algn="ctr"/>
          </a:p>
        </p:txBody>
      </p:sp>
      <p:sp>
        <p:nvSpPr>
          <p:cNvPr id="18" name="Oval 17"/>
          <p:cNvSpPr/>
          <p:nvPr/>
        </p:nvSpPr>
        <p:spPr>
          <a:xfrm>
            <a:off x="6638964" y="398669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062804" y="36241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26466" y="2599031"/>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63998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6.20 -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Sigma, the standard deviation: how far volume typically strays from its mean over the same N bars. The line: mean + k x sigma, k = 3 here, or 2.</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20 bars average 10 million, sigma 2 million. 3-sigma line: 10 + 3 x 2 = 16 million; 12 million stays under, 18 million crosses. 2-sigma, 14 million, flags more.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2- or 3-sigma filter, a volatility filter, keeps only the most significant surges: the upper Bollinger Band of volume, k standard deviations above its average.</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At each bar: take its last 20 volume bars, this one included. Mean, then sigma. Plot mean + 3 x sigma. Move forward one bar, repeat.</a:t>
            </a:r>
          </a:p>
          <a:p>
            <a:pPr algn="l">
              <a:lnSpc>
                <a:spcPct val="105000"/>
              </a:lnSpc>
              <a:spcBef>
                <a:spcPts val="0"/>
              </a:spcBef>
              <a:spcAft>
                <a:spcPts val="1100"/>
              </a:spcAft>
            </a:pPr>
            <a:r>
              <a:rPr sz="1900" b="0" i="0">
                <a:solidFill>
                  <a:srgbClr val="1A1A1A"/>
                </a:solidFill>
                <a:latin typeface="Arial"/>
              </a:rPr>
              <a:t>That is why it jumps, at 1: a spike entering the window raises both at once, so the line leaps up. It stays high until the spike leaves 20 bars later, at 2.</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1937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Recomputed from nothing at every bar: no memory beyond its window.</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u.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HU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things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never says if sigma divides by 20 or by 19.</a:t>
            </a:r>
          </a:p>
          <a:p>
            <a:pPr algn="l">
              <a:lnSpc>
                <a:spcPct val="118000"/>
              </a:lnSpc>
              <a:spcBef>
                <a:spcPts val="0"/>
              </a:spcBef>
              <a:spcAft>
                <a:spcPts val="1300"/>
              </a:spcAft>
            </a:pPr>
            <a:r>
              <a:rPr sz="2100" b="0" i="0">
                <a:solidFill>
                  <a:srgbClr val="1A1A1A"/>
                </a:solidFill>
                <a:latin typeface="Arial"/>
              </a:rPr>
              <a:t>Nor does it say if the bar sits in its own window of 20.</a:t>
            </a:r>
          </a:p>
          <a:p>
            <a:pPr algn="l">
              <a:lnSpc>
                <a:spcPct val="118000"/>
              </a:lnSpc>
              <a:spcBef>
                <a:spcPts val="0"/>
              </a:spcBef>
              <a:spcAft>
                <a:spcPts val="1300"/>
              </a:spcAft>
            </a:pPr>
            <a:r>
              <a:rPr sz="2100" b="0" i="0">
                <a:solidFill>
                  <a:srgbClr val="1A1A1A"/>
                </a:solidFill>
                <a:latin typeface="Arial"/>
              </a:rPr>
              <a:t>Our code divides by 20 and includes the bar.</a:t>
            </a:r>
          </a:p>
        </p:txBody>
      </p:sp>
      <p:sp>
        <p:nvSpPr>
          <p:cNvPr id="8" name="Rectangle 7"/>
          <p:cNvSpPr/>
          <p:nvPr/>
        </p:nvSpPr>
        <p:spPr>
          <a:xfrm>
            <a:off x="777240" y="3769614"/>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method is the book's; these two choices are ours.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computes the line, read from the code.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Daily USDJPY with a three-sigma filter on its volume. Three surges cross the line; the book marks each with an arrow up to price </a:t>
            </a:r>
            <a:r>
              <a:rPr sz="1800" b="1" i="0">
                <a:solidFill>
                  <a:srgbClr val="E09B00"/>
                </a:solidFill>
                <a:latin typeface="Arial"/>
              </a:rPr>
              <a:t>(1)</a:t>
            </a:r>
            <a:r>
              <a:rPr sz="1800" b="0" i="0">
                <a:solidFill>
                  <a:srgbClr val="1A1A1A"/>
                </a:solidFill>
                <a:latin typeface="Arial"/>
              </a:rPr>
              <a: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Stricter than the smoothed filter, this line skips the April 2011 top </a:t>
            </a:r>
            <a:r>
              <a:rPr sz="1800" b="1" i="0">
                <a:solidFill>
                  <a:srgbClr val="007A33"/>
                </a:solidFill>
                <a:latin typeface="Arial"/>
              </a:rPr>
              <a:t>(4)</a:t>
            </a:r>
            <a:r>
              <a:rPr sz="1800" b="0" i="0">
                <a:solidFill>
                  <a:srgbClr val="1A1A1A"/>
                </a:solidFill>
                <a:latin typeface="Arial"/>
              </a:rPr>
              <a:t>, the highest price on the chart.</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42793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such surges tend to come at the most significant tops and bottoms.</a:t>
            </a:r>
          </a:p>
        </p:txBody>
      </p:sp>
      <p:sp>
        <p:nvSpPr>
          <p:cNvPr id="10" name="Rectangle 9"/>
          <p:cNvSpPr/>
          <p:nvPr/>
        </p:nvSpPr>
        <p:spPr>
          <a:xfrm>
            <a:off x="5669279" y="1810512"/>
            <a:ext cx="5745175" cy="35614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788151" y="1929384"/>
            <a:ext cx="5507431" cy="33237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62471" y="2203703"/>
            <a:ext cx="4958791" cy="28665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daily USDJPY chart with a stepped line across its volume panel labelled 3-sigma volume overextension threshold, and dotted arrows from the three overextensions in volume above it up to turns in price; the April 2011 top has no arrow.</a:t>
            </a:r>
          </a:p>
        </p:txBody>
      </p:sp>
      <p:sp>
        <p:nvSpPr>
          <p:cNvPr id="14" name="Oval 13"/>
          <p:cNvSpPr/>
          <p:nvPr/>
        </p:nvSpPr>
        <p:spPr>
          <a:xfrm>
            <a:off x="7412844" y="3258878"/>
            <a:ext cx="330445" cy="797696"/>
          </a:xfrm>
          <a:prstGeom prst="ellipse">
            <a:avLst/>
          </a:prstGeom>
          <a:noFill/>
          <a:ln w="44450">
            <a:solidFill>
              <a:srgbClr val="E09B00"/>
            </a:solidFill>
          </a:ln>
        </p:spPr>
        <p:txBody>
          <a:bodyPr rtlCol="0" anchor="ctr"/>
          <a:lstStyle/>
          <a:p>
            <a:pPr algn="ctr"/>
          </a:p>
        </p:txBody>
      </p:sp>
      <p:sp>
        <p:nvSpPr>
          <p:cNvPr id="15" name="Oval 14"/>
          <p:cNvSpPr/>
          <p:nvPr/>
        </p:nvSpPr>
        <p:spPr>
          <a:xfrm>
            <a:off x="9175222" y="3591252"/>
            <a:ext cx="330445" cy="465323"/>
          </a:xfrm>
          <a:prstGeom prst="ellipse">
            <a:avLst/>
          </a:prstGeom>
          <a:noFill/>
          <a:ln w="44450">
            <a:solidFill>
              <a:srgbClr val="C62828"/>
            </a:solidFill>
          </a:ln>
        </p:spPr>
        <p:txBody>
          <a:bodyPr rtlCol="0" anchor="ctr"/>
          <a:lstStyle/>
          <a:p>
            <a:pPr algn="ctr"/>
          </a:p>
        </p:txBody>
      </p:sp>
      <p:sp>
        <p:nvSpPr>
          <p:cNvPr id="16" name="Oval 15"/>
          <p:cNvSpPr/>
          <p:nvPr/>
        </p:nvSpPr>
        <p:spPr>
          <a:xfrm>
            <a:off x="10249171" y="3857151"/>
            <a:ext cx="330445" cy="432085"/>
          </a:xfrm>
          <a:prstGeom prst="ellipse">
            <a:avLst/>
          </a:prstGeom>
          <a:noFill/>
          <a:ln w="44450">
            <a:solidFill>
              <a:srgbClr val="1F5FAD"/>
            </a:solidFill>
          </a:ln>
        </p:spPr>
        <p:txBody>
          <a:bodyPr rtlCol="0" anchor="ctr"/>
          <a:lstStyle/>
          <a:p>
            <a:pPr algn="ctr"/>
          </a:p>
        </p:txBody>
      </p:sp>
      <p:sp>
        <p:nvSpPr>
          <p:cNvPr id="17" name="Oval 16"/>
          <p:cNvSpPr/>
          <p:nvPr/>
        </p:nvSpPr>
        <p:spPr>
          <a:xfrm>
            <a:off x="7688215" y="1929384"/>
            <a:ext cx="330445" cy="432085"/>
          </a:xfrm>
          <a:prstGeom prst="ellipse">
            <a:avLst/>
          </a:prstGeom>
          <a:noFill/>
          <a:ln w="44450">
            <a:solidFill>
              <a:srgbClr val="007A33"/>
            </a:solidFill>
          </a:ln>
        </p:spPr>
        <p:txBody>
          <a:bodyPr rtlCol="0" anchor="ctr"/>
          <a:lstStyle/>
          <a:p>
            <a:pPr algn="ctr"/>
          </a:p>
        </p:txBody>
      </p:sp>
      <p:sp>
        <p:nvSpPr>
          <p:cNvPr id="18" name="Oval 17"/>
          <p:cNvSpPr/>
          <p:nvPr/>
        </p:nvSpPr>
        <p:spPr>
          <a:xfrm>
            <a:off x="7257396" y="310343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019774" y="343580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093723" y="370170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7863213" y="198997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5669279" y="546343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April top, read off the figure.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three-sigma line, close 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24</a:t>
            </a:r>
          </a:p>
        </p:txBody>
      </p:sp>
      <p:sp>
        <p:nvSpPr>
          <p:cNvPr id="7" name="TextBox 6"/>
          <p:cNvSpPr txBox="1"/>
          <p:nvPr/>
        </p:nvSpPr>
        <p:spPr>
          <a:xfrm>
            <a:off x="777240" y="1965960"/>
            <a:ext cx="40233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Stepped line </a:t>
            </a:r>
            <a:r>
              <a:rPr sz="1800" b="1" i="0">
                <a:solidFill>
                  <a:srgbClr val="E09B00"/>
                </a:solidFill>
                <a:latin typeface="Arial"/>
              </a:rPr>
              <a:t>(1)</a:t>
            </a:r>
            <a:r>
              <a:rPr sz="1800" b="0" i="0">
                <a:solidFill>
                  <a:srgbClr val="1A1A1A"/>
                </a:solidFill>
                <a:latin typeface="Arial"/>
              </a:rPr>
              <a:t>: the three-sigma filter, drawn over the volume bars.</a:t>
            </a:r>
          </a:p>
          <a:p>
            <a:pPr algn="l">
              <a:lnSpc>
                <a:spcPct val="105000"/>
              </a:lnSpc>
              <a:spcBef>
                <a:spcPts val="0"/>
              </a:spcBef>
              <a:spcAft>
                <a:spcPts val="1100"/>
              </a:spcAft>
            </a:pPr>
            <a:r>
              <a:rPr sz="1800" b="0" i="0">
                <a:solidFill>
                  <a:srgbClr val="1A1A1A"/>
                </a:solidFill>
                <a:latin typeface="Arial"/>
              </a:rPr>
              <a:t>Three surges cross it </a:t>
            </a:r>
            <a:r>
              <a:rPr sz="1800" b="1" i="0">
                <a:solidFill>
                  <a:srgbClr val="C62828"/>
                </a:solidFill>
                <a:latin typeface="Arial"/>
              </a:rPr>
              <a:t>(2)</a:t>
            </a:r>
            <a:r>
              <a:rPr sz="1800" b="0" i="0">
                <a:solidFill>
                  <a:srgbClr val="1A1A1A"/>
                </a:solidFill>
                <a:latin typeface="Arial"/>
              </a:rPr>
              <a:t> </a:t>
            </a:r>
            <a:r>
              <a:rPr sz="1800" b="1" i="0">
                <a:solidFill>
                  <a:srgbClr val="1F5FAD"/>
                </a:solidFill>
                <a:latin typeface="Arial"/>
              </a:rPr>
              <a:t>(3)</a:t>
            </a:r>
            <a:r>
              <a:rPr sz="1800" b="0" i="0">
                <a:solidFill>
                  <a:srgbClr val="1A1A1A"/>
                </a:solidFill>
                <a:latin typeface="Arial"/>
              </a:rPr>
              <a:t> </a:t>
            </a:r>
            <a:r>
              <a:rPr sz="1800" b="1" i="0">
                <a:solidFill>
                  <a:srgbClr val="007A33"/>
                </a:solidFill>
                <a:latin typeface="Arial"/>
              </a:rPr>
              <a:t>(4)</a:t>
            </a:r>
            <a:r>
              <a:rPr sz="1800" b="0" i="0">
                <a:solidFill>
                  <a:srgbClr val="1A1A1A"/>
                </a:solidFill>
                <a:latin typeface="Arial"/>
              </a:rPr>
              <a:t>, each under an arrow up to price.</a:t>
            </a:r>
          </a:p>
          <a:p>
            <a:pPr algn="l">
              <a:lnSpc>
                <a:spcPct val="105000"/>
              </a:lnSpc>
              <a:spcBef>
                <a:spcPts val="0"/>
              </a:spcBef>
              <a:spcAft>
                <a:spcPts val="1100"/>
              </a:spcAft>
            </a:pPr>
            <a:r>
              <a:rPr sz="1800" b="0" i="0">
                <a:solidFill>
                  <a:srgbClr val="1A1A1A"/>
                </a:solidFill>
                <a:latin typeface="Arial"/>
              </a:rPr>
              <a:t>It stays high for months after the March spike </a:t>
            </a:r>
            <a:r>
              <a:rPr sz="1800" b="1" i="0">
                <a:solidFill>
                  <a:srgbClr val="C62828"/>
                </a:solidFill>
                <a:latin typeface="Arial"/>
              </a:rPr>
              <a:t>(2)</a:t>
            </a:r>
            <a:r>
              <a:rPr sz="1800" b="0" i="0">
                <a:solidFill>
                  <a:srgbClr val="1A1A1A"/>
                </a:solidFill>
                <a:latin typeface="Arial"/>
              </a:rPr>
              <a:t>, far beyond our 20 bars. The book never gives its N.</a:t>
            </a:r>
          </a:p>
          <a:p>
            <a:pPr algn="l">
              <a:lnSpc>
                <a:spcPct val="105000"/>
              </a:lnSpc>
              <a:spcBef>
                <a:spcPts val="0"/>
              </a:spcBef>
              <a:spcAft>
                <a:spcPts val="1100"/>
              </a:spcAft>
            </a:pPr>
            <a:r>
              <a:rPr sz="1800" b="0" i="0">
                <a:solidFill>
                  <a:srgbClr val="1A1A1A"/>
                </a:solidFill>
                <a:latin typeface="Arial"/>
              </a:rPr>
              <a:t>The two lower lines </a:t>
            </a:r>
            <a:r>
              <a:rPr sz="1800" b="1" i="0">
                <a:solidFill>
                  <a:srgbClr val="7B3FA0"/>
                </a:solidFill>
                <a:latin typeface="Arial"/>
              </a:rPr>
              <a:t>(5)</a:t>
            </a:r>
            <a:r>
              <a:rPr sz="1800" b="0" i="0">
                <a:solidFill>
                  <a:srgbClr val="1A1A1A"/>
                </a:solidFill>
                <a:latin typeface="Arial"/>
              </a:rPr>
              <a:t> </a:t>
            </a:r>
            <a:r>
              <a:rPr sz="1800" b="1" i="0">
                <a:solidFill>
                  <a:srgbClr val="007A33"/>
                </a:solidFill>
                <a:latin typeface="Arial"/>
              </a:rPr>
              <a:t>(6)</a:t>
            </a:r>
            <a:r>
              <a:rPr sz="1800" b="0" i="0">
                <a:solidFill>
                  <a:srgbClr val="1A1A1A"/>
                </a:solidFill>
                <a:latin typeface="Arial"/>
              </a:rPr>
              <a:t> are drawn and not named by the book; only the top one is the filter.</a:t>
            </a:r>
          </a:p>
        </p:txBody>
      </p:sp>
      <p:sp>
        <p:nvSpPr>
          <p:cNvPr id="8" name="Rectangle 7"/>
          <p:cNvSpPr/>
          <p:nvPr/>
        </p:nvSpPr>
        <p:spPr>
          <a:xfrm>
            <a:off x="5120640" y="1810512"/>
            <a:ext cx="6293814" cy="218306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239512" y="1929384"/>
            <a:ext cx="6056070" cy="194531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239512" y="1929384"/>
            <a:ext cx="60560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513831" y="2203703"/>
            <a:ext cx="5507431" cy="148811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6.21</a:t>
            </a:r>
          </a:p>
          <a:p>
            <a:pPr algn="l">
              <a:lnSpc>
                <a:spcPct val="115000"/>
              </a:lnSpc>
              <a:spcBef>
                <a:spcPts val="0"/>
              </a:spcBef>
              <a:spcAft>
                <a:spcPts val="0"/>
              </a:spcAft>
            </a:pPr>
            <a:r>
              <a:rPr sz="1500" b="0" i="0">
                <a:solidFill>
                  <a:srgbClr val="1A1A1A"/>
                </a:solidFill>
                <a:latin typeface="Palatino"/>
              </a:rPr>
              <a:t>The volume panel of the daily USDJPY chart, drawn larger: the stepped 3-sigma volume overextension threshold over the volume bars, the three surges that cross it, and two lower lines the book does not name.</a:t>
            </a:r>
          </a:p>
        </p:txBody>
      </p:sp>
      <p:cxnSp>
        <p:nvCxnSpPr>
          <p:cNvPr id="12" name="Connector 11"/>
          <p:cNvCxnSpPr/>
          <p:nvPr/>
        </p:nvCxnSpPr>
        <p:spPr>
          <a:xfrm>
            <a:off x="5778502" y="2942894"/>
            <a:ext cx="3857717" cy="0"/>
          </a:xfrm>
          <a:prstGeom prst="line">
            <a:avLst/>
          </a:prstGeom>
          <a:ln w="44450">
            <a:solidFill>
              <a:srgbClr val="E09B00"/>
            </a:solidFill>
          </a:ln>
        </p:spPr>
      </p:cxnSp>
      <p:sp>
        <p:nvSpPr>
          <p:cNvPr id="13" name="Oval 12"/>
          <p:cNvSpPr/>
          <p:nvPr/>
        </p:nvSpPr>
        <p:spPr>
          <a:xfrm>
            <a:off x="5433306" y="2518815"/>
            <a:ext cx="490541" cy="824815"/>
          </a:xfrm>
          <a:prstGeom prst="ellipse">
            <a:avLst/>
          </a:prstGeom>
          <a:noFill/>
          <a:ln w="44450">
            <a:solidFill>
              <a:srgbClr val="C62828"/>
            </a:solidFill>
          </a:ln>
        </p:spPr>
        <p:txBody>
          <a:bodyPr rtlCol="0" anchor="ctr"/>
          <a:lstStyle/>
          <a:p>
            <a:pPr algn="ctr"/>
          </a:p>
        </p:txBody>
      </p:sp>
      <p:sp>
        <p:nvSpPr>
          <p:cNvPr id="14" name="Oval 13"/>
          <p:cNvSpPr/>
          <p:nvPr/>
        </p:nvSpPr>
        <p:spPr>
          <a:xfrm>
            <a:off x="8558238" y="2518815"/>
            <a:ext cx="490541" cy="824815"/>
          </a:xfrm>
          <a:prstGeom prst="ellipse">
            <a:avLst/>
          </a:prstGeom>
          <a:noFill/>
          <a:ln w="44450">
            <a:solidFill>
              <a:srgbClr val="1F5FAD"/>
            </a:solidFill>
          </a:ln>
        </p:spPr>
        <p:txBody>
          <a:bodyPr rtlCol="0" anchor="ctr"/>
          <a:lstStyle/>
          <a:p>
            <a:pPr algn="ctr"/>
          </a:p>
        </p:txBody>
      </p:sp>
      <p:sp>
        <p:nvSpPr>
          <p:cNvPr id="15" name="Oval 14"/>
          <p:cNvSpPr/>
          <p:nvPr/>
        </p:nvSpPr>
        <p:spPr>
          <a:xfrm>
            <a:off x="10465901" y="2518815"/>
            <a:ext cx="490541" cy="824815"/>
          </a:xfrm>
          <a:prstGeom prst="ellipse">
            <a:avLst/>
          </a:prstGeom>
          <a:noFill/>
          <a:ln w="44450">
            <a:solidFill>
              <a:srgbClr val="007A33"/>
            </a:solidFill>
          </a:ln>
        </p:spPr>
        <p:txBody>
          <a:bodyPr rtlCol="0" anchor="ctr"/>
          <a:lstStyle/>
          <a:p>
            <a:pPr algn="ctr"/>
          </a:p>
        </p:txBody>
      </p:sp>
      <p:cxnSp>
        <p:nvCxnSpPr>
          <p:cNvPr id="16" name="Connector 15"/>
          <p:cNvCxnSpPr/>
          <p:nvPr/>
        </p:nvCxnSpPr>
        <p:spPr>
          <a:xfrm>
            <a:off x="6414389" y="3372810"/>
            <a:ext cx="4687399" cy="0"/>
          </a:xfrm>
          <a:prstGeom prst="line">
            <a:avLst/>
          </a:prstGeom>
          <a:ln w="44450">
            <a:solidFill>
              <a:srgbClr val="7B3FA0"/>
            </a:solidFill>
          </a:ln>
        </p:spPr>
      </p:cxnSp>
      <p:cxnSp>
        <p:nvCxnSpPr>
          <p:cNvPr id="17" name="Connector 16"/>
          <p:cNvCxnSpPr/>
          <p:nvPr/>
        </p:nvCxnSpPr>
        <p:spPr>
          <a:xfrm>
            <a:off x="6414389" y="3668498"/>
            <a:ext cx="4687399" cy="0"/>
          </a:xfrm>
          <a:prstGeom prst="line">
            <a:avLst/>
          </a:prstGeom>
          <a:ln w="44450">
            <a:solidFill>
              <a:srgbClr val="007A33"/>
            </a:solidFill>
          </a:ln>
        </p:spPr>
      </p:cxnSp>
      <p:sp>
        <p:nvSpPr>
          <p:cNvPr id="18" name="Oval 17"/>
          <p:cNvSpPr/>
          <p:nvPr/>
        </p:nvSpPr>
        <p:spPr>
          <a:xfrm>
            <a:off x="6053035" y="25520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5277858" y="236336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645033" y="191010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52696" y="1910108"/>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Oval 21"/>
          <p:cNvSpPr/>
          <p:nvPr/>
        </p:nvSpPr>
        <p:spPr>
          <a:xfrm>
            <a:off x="10946340" y="3217362"/>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3" name="Oval 22"/>
          <p:cNvSpPr/>
          <p:nvPr/>
        </p:nvSpPr>
        <p:spPr>
          <a:xfrm>
            <a:off x="6258941" y="3513050"/>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4" name="TextBox 23"/>
          <p:cNvSpPr txBox="1"/>
          <p:nvPr/>
        </p:nvSpPr>
        <p:spPr>
          <a:xfrm>
            <a:off x="5120640" y="4085014"/>
            <a:ext cx="62938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its volume panel. Ours: what the lines do, read off the figure.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(Part 1).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and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a:t>
            </a:r>
            <a:r>
              <a:rPr sz="1700" b="1" i="0">
                <a:solidFill>
                  <a:srgbClr val="E09B00"/>
                </a:solidFill>
                <a:latin typeface="Arial"/>
              </a:rPr>
              <a:t>(1)</a:t>
            </a:r>
            <a:r>
              <a:rPr sz="1700" b="0" i="0">
                <a:solidFill>
                  <a:srgbClr val="1A1A1A"/>
                </a:solidFill>
                <a:latin typeface="Arial"/>
              </a:rPr>
              <a:t>, so only the most significant peaks reach it. The oval </a:t>
            </a:r>
            <a:r>
              <a:rPr sz="1700" b="1" i="0">
                <a:solidFill>
                  <a:srgbClr val="C62828"/>
                </a:solidFill>
                <a:latin typeface="Arial"/>
              </a:rPr>
              <a:t>(2)</a:t>
            </a:r>
            <a:r>
              <a:rPr sz="1700" b="0" i="0">
                <a:solidFill>
                  <a:srgbClr val="1A1A1A"/>
                </a:solidFill>
                <a:latin typeface="Arial"/>
              </a:rPr>
              <a:t>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a:t>
            </a:r>
            <a:r>
              <a:rPr sz="1800" b="1" i="0">
                <a:solidFill>
                  <a:srgbClr val="1F5FAD"/>
                </a:solidFill>
                <a:latin typeface="Arial"/>
              </a:rPr>
              <a:t>(3)</a:t>
            </a:r>
            <a:r>
              <a:rPr sz="1800" b="1" i="0">
                <a:solidFill>
                  <a:srgbClr val="1A1A1A"/>
                </a:solidFill>
                <a:latin typeface="Arial"/>
              </a:rPr>
              <a:t> price bounces off the lower line, a short-term buy, then falls through it </a:t>
            </a:r>
            <a:r>
              <a:rPr sz="1800" b="1" i="0">
                <a:solidFill>
                  <a:srgbClr val="007A33"/>
                </a:solidFill>
                <a:latin typeface="Arial"/>
              </a:rPr>
              <a:t>(4)</a:t>
            </a:r>
            <a:r>
              <a:rPr sz="1800" b="1" i="0">
                <a:solidFill>
                  <a:srgbClr val="1A1A1A"/>
                </a:solidFill>
                <a:latin typeface="Arial"/>
              </a:rPr>
              <a:t>.</a:t>
            </a:r>
          </a:p>
        </p:txBody>
      </p:sp>
      <p:sp>
        <p:nvSpPr>
          <p:cNvPr id="10" name="Rectangle 9"/>
          <p:cNvSpPr/>
          <p:nvPr/>
        </p:nvSpPr>
        <p:spPr>
          <a:xfrm>
            <a:off x="6217919" y="1810512"/>
            <a:ext cx="5196535" cy="27246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48685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2965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5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p:txBody>
      </p:sp>
      <p:cxnSp>
        <p:nvCxnSpPr>
          <p:cNvPr id="14" name="Connector 13"/>
          <p:cNvCxnSpPr/>
          <p:nvPr/>
        </p:nvCxnSpPr>
        <p:spPr>
          <a:xfrm>
            <a:off x="6832671" y="4172528"/>
            <a:ext cx="4314148" cy="0"/>
          </a:xfrm>
          <a:prstGeom prst="line">
            <a:avLst/>
          </a:prstGeom>
          <a:ln w="44450">
            <a:solidFill>
              <a:srgbClr val="E09B00"/>
            </a:solidFill>
          </a:ln>
        </p:spPr>
      </p:cxnSp>
      <p:sp>
        <p:nvSpPr>
          <p:cNvPr id="15" name="Rectangle 14"/>
          <p:cNvSpPr/>
          <p:nvPr/>
        </p:nvSpPr>
        <p:spPr>
          <a:xfrm>
            <a:off x="8791393" y="3894000"/>
            <a:ext cx="595054" cy="348159"/>
          </a:xfrm>
          <a:prstGeom prst="rect">
            <a:avLst/>
          </a:prstGeom>
          <a:noFill/>
          <a:ln w="44450">
            <a:solidFill>
              <a:srgbClr val="C62828"/>
            </a:solidFill>
          </a:ln>
        </p:spPr>
        <p:txBody>
          <a:bodyPr rtlCol="0" anchor="ctr"/>
          <a:lstStyle/>
          <a:p>
            <a:pPr algn="ctr"/>
          </a:p>
        </p:txBody>
      </p:sp>
      <p:sp>
        <p:nvSpPr>
          <p:cNvPr id="16" name="Oval 15"/>
          <p:cNvSpPr/>
          <p:nvPr/>
        </p:nvSpPr>
        <p:spPr>
          <a:xfrm>
            <a:off x="9088921" y="2924126"/>
            <a:ext cx="322321" cy="323291"/>
          </a:xfrm>
          <a:prstGeom prst="ellipse">
            <a:avLst/>
          </a:prstGeom>
          <a:noFill/>
          <a:ln w="44450">
            <a:solidFill>
              <a:srgbClr val="1F5FAD"/>
            </a:solidFill>
          </a:ln>
        </p:spPr>
        <p:txBody>
          <a:bodyPr rtlCol="0" anchor="ctr"/>
          <a:lstStyle/>
          <a:p>
            <a:pPr algn="ctr"/>
          </a:p>
        </p:txBody>
      </p:sp>
      <p:cxnSp>
        <p:nvCxnSpPr>
          <p:cNvPr id="17" name="Connector 16"/>
          <p:cNvCxnSpPr/>
          <p:nvPr/>
        </p:nvCxnSpPr>
        <p:spPr>
          <a:xfrm>
            <a:off x="9510418" y="2924126"/>
            <a:ext cx="74382" cy="795794"/>
          </a:xfrm>
          <a:prstGeom prst="line">
            <a:avLst/>
          </a:prstGeom>
          <a:ln w="44450">
            <a:solidFill>
              <a:srgbClr val="007A33"/>
            </a:solidFill>
            <a:tailEnd type="triangle" w="med" len="med"/>
          </a:ln>
        </p:spPr>
      </p:cxnSp>
      <p:sp>
        <p:nvSpPr>
          <p:cNvPr id="18" name="Oval 17"/>
          <p:cNvSpPr/>
          <p:nvPr/>
        </p:nvSpPr>
        <p:spPr>
          <a:xfrm>
            <a:off x="6677223" y="40170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35945" y="373855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759915" y="29427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652497" y="316657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62655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the lower line at X</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Ours: the lower line rises at the slope of peaks 1 to 2: PHP 4.00 in 40 bars, 0.10 a bar.</a:t>
            </a:r>
          </a:p>
          <a:p>
            <a:pPr algn="l">
              <a:lnSpc>
                <a:spcPct val="105000"/>
              </a:lnSpc>
              <a:spcBef>
                <a:spcPts val="0"/>
              </a:spcBef>
              <a:spcAft>
                <a:spcPts val="1100"/>
              </a:spcAft>
            </a:pPr>
            <a:r>
              <a:rPr sz="1800" b="0" i="0">
                <a:solidFill>
                  <a:srgbClr val="1A1A1A"/>
                </a:solidFill>
                <a:latin typeface="Arial"/>
              </a:rPr>
              <a:t>X is bar 72, 28 bars after trough 3 at bar 44, shaded. The lower line is there at 49.00 + 28 x 0.10 = PHP 51.80; price touches it and turns up.</a:t>
            </a:r>
          </a:p>
        </p:txBody>
      </p:sp>
      <p:sp>
        <p:nvSpPr>
          <p:cNvPr id="8" name="Rectangle 7"/>
          <p:cNvSpPr/>
          <p:nvPr/>
        </p:nvSpPr>
        <p:spPr>
          <a:xfrm>
            <a:off x="777240" y="3936491"/>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73068"/>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What to do: at the lower line, look for a short-term buy. Falling through it violates the channel, the book's word.</a:t>
            </a:r>
          </a:p>
        </p:txBody>
      </p:sp>
      <p:sp>
        <p:nvSpPr>
          <p:cNvPr id="10" name="TextBox 9"/>
          <p:cNvSpPr txBox="1"/>
          <p:nvPr/>
        </p:nvSpPr>
        <p:spPr>
          <a:xfrm>
            <a:off x="777240" y="515264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uptrend line joined troughs; here the book joins two peaks, 1 and 2, and gives no reason.</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v.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HV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Ours: the channel, its numbers and the arithmetic at X, on the step by step chart's invented prices.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6.22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22 of 24</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channel uses only the July to August peaks in tick volume </a:t>
            </a:r>
            <a:r>
              <a:rPr sz="1700" b="1" i="0">
                <a:solidFill>
                  <a:srgbClr val="E09B00"/>
                </a:solidFill>
                <a:latin typeface="Arial"/>
              </a:rPr>
              <a:t>(4)</a:t>
            </a:r>
            <a:r>
              <a:rPr sz="1700" b="0" i="0">
                <a:solidFill>
                  <a:srgbClr val="1A1A1A"/>
                </a:solidFill>
                <a:latin typeface="Arial"/>
              </a:rPr>
              <a:t>, under the arrows to Points 1, 2 and 3.</a:t>
            </a:r>
          </a:p>
          <a:p>
            <a:pPr algn="l">
              <a:lnSpc>
                <a:spcPct val="105000"/>
              </a:lnSpc>
              <a:spcBef>
                <a:spcPts val="0"/>
              </a:spcBef>
              <a:spcAft>
                <a:spcPts val="1100"/>
              </a:spcAft>
            </a:pPr>
            <a:r>
              <a:rPr sz="1700" b="0" i="0">
                <a:solidFill>
                  <a:srgbClr val="1A1A1A"/>
                </a:solidFill>
                <a:latin typeface="Arial"/>
              </a:rPr>
              <a:t>Yet silver's April bars </a:t>
            </a:r>
            <a:r>
              <a:rPr sz="1700" b="1" i="0">
                <a:solidFill>
                  <a:srgbClr val="C62828"/>
                </a:solidFill>
                <a:latin typeface="Arial"/>
              </a:rPr>
              <a:t>(5)</a:t>
            </a:r>
            <a:r>
              <a:rPr sz="1700" b="0" i="0">
                <a:solidFill>
                  <a:srgbClr val="1A1A1A"/>
                </a:solidFill>
                <a:latin typeface="Arial"/>
              </a:rPr>
              <a:t>, at the line labelled High tick volume level, and late September bars </a:t>
            </a:r>
            <a:r>
              <a:rPr sz="1700" b="1" i="0">
                <a:solidFill>
                  <a:srgbClr val="1F5FAD"/>
                </a:solidFill>
                <a:latin typeface="Arial"/>
              </a:rPr>
              <a:t>(6)</a:t>
            </a:r>
            <a:r>
              <a:rPr sz="1700" b="0" i="0">
                <a:solidFill>
                  <a:srgbClr val="1A1A1A"/>
                </a:solidFill>
                <a:latin typeface="Arial"/>
              </a:rPr>
              <a:t>, reach the threshold too; the book does not say why it skips them.</a:t>
            </a:r>
          </a:p>
        </p:txBody>
      </p:sp>
      <p:sp>
        <p:nvSpPr>
          <p:cNvPr id="8" name="Rectangle 7"/>
          <p:cNvSpPr/>
          <p:nvPr/>
        </p:nvSpPr>
        <p:spPr>
          <a:xfrm>
            <a:off x="777240" y="4672583"/>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59"/>
            <a:ext cx="39136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Use heavily traded turns; which of them is left to the eye.</a:t>
            </a:r>
          </a:p>
        </p:txBody>
      </p:sp>
      <p:sp>
        <p:nvSpPr>
          <p:cNvPr id="10" name="Rectangle 9"/>
          <p:cNvSpPr/>
          <p:nvPr/>
        </p:nvSpPr>
        <p:spPr>
          <a:xfrm>
            <a:off x="5303519" y="1810512"/>
            <a:ext cx="6110935" cy="214094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22391" y="1929384"/>
            <a:ext cx="5873191" cy="190320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696711" y="2203703"/>
            <a:ext cx="5324551" cy="144600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6.22</a:t>
            </a:r>
          </a:p>
          <a:p>
            <a:pPr algn="l">
              <a:lnSpc>
                <a:spcPct val="115000"/>
              </a:lnSpc>
              <a:spcBef>
                <a:spcPts val="0"/>
              </a:spcBef>
              <a:spcAft>
                <a:spcPts val="0"/>
              </a:spcAft>
            </a:pPr>
            <a:r>
              <a:rPr sz="1300" b="0" i="0">
                <a:solidFill>
                  <a:srgbClr val="1A1A1A"/>
                </a:solidFill>
                <a:latin typeface="Palatino"/>
              </a:rPr>
              <a:t>The daily silver chart, XAGUSD, with its tick volume overextension threshold. The July to August tick volume peaks are ringed under Points 1, 2 and 3; the April bars, at the line labelled high tick volume level, and the late September bars also reach the threshold and are not used.</a:t>
            </a:r>
          </a:p>
        </p:txBody>
      </p:sp>
      <p:sp>
        <p:nvSpPr>
          <p:cNvPr id="14" name="Rectangle 13"/>
          <p:cNvSpPr/>
          <p:nvPr/>
        </p:nvSpPr>
        <p:spPr>
          <a:xfrm>
            <a:off x="8541056" y="3016112"/>
            <a:ext cx="1080667" cy="635669"/>
          </a:xfrm>
          <a:prstGeom prst="rect">
            <a:avLst/>
          </a:prstGeom>
          <a:noFill/>
          <a:ln w="44450">
            <a:solidFill>
              <a:srgbClr val="E09B00"/>
            </a:solidFill>
          </a:ln>
        </p:spPr>
        <p:txBody>
          <a:bodyPr rtlCol="0" anchor="ctr"/>
          <a:lstStyle/>
          <a:p>
            <a:pPr algn="ctr"/>
          </a:p>
        </p:txBody>
      </p:sp>
      <p:sp>
        <p:nvSpPr>
          <p:cNvPr id="15" name="Rectangle 14"/>
          <p:cNvSpPr/>
          <p:nvPr/>
        </p:nvSpPr>
        <p:spPr>
          <a:xfrm>
            <a:off x="6373848" y="3242593"/>
            <a:ext cx="722402" cy="409188"/>
          </a:xfrm>
          <a:prstGeom prst="rect">
            <a:avLst/>
          </a:prstGeom>
          <a:noFill/>
          <a:ln w="44450">
            <a:solidFill>
              <a:srgbClr val="C62828"/>
            </a:solidFill>
          </a:ln>
        </p:spPr>
        <p:txBody>
          <a:bodyPr rtlCol="0" anchor="ctr"/>
          <a:lstStyle/>
          <a:p>
            <a:pPr algn="ctr"/>
          </a:p>
        </p:txBody>
      </p:sp>
      <p:sp>
        <p:nvSpPr>
          <p:cNvPr id="16" name="Rectangle 15"/>
          <p:cNvSpPr/>
          <p:nvPr/>
        </p:nvSpPr>
        <p:spPr>
          <a:xfrm>
            <a:off x="9891890" y="3242593"/>
            <a:ext cx="722402" cy="409188"/>
          </a:xfrm>
          <a:prstGeom prst="rect">
            <a:avLst/>
          </a:prstGeom>
          <a:noFill/>
          <a:ln w="44450">
            <a:solidFill>
              <a:srgbClr val="1F5FAD"/>
            </a:solidFill>
          </a:ln>
        </p:spPr>
        <p:txBody>
          <a:bodyPr rtlCol="0" anchor="ctr"/>
          <a:lstStyle/>
          <a:p>
            <a:pPr algn="ctr"/>
          </a:p>
        </p:txBody>
      </p:sp>
      <p:sp>
        <p:nvSpPr>
          <p:cNvPr id="17" name="Oval 16"/>
          <p:cNvSpPr/>
          <p:nvPr/>
        </p:nvSpPr>
        <p:spPr>
          <a:xfrm>
            <a:off x="8385608" y="286066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8" name="Oval 17"/>
          <p:cNvSpPr/>
          <p:nvPr/>
        </p:nvSpPr>
        <p:spPr>
          <a:xfrm>
            <a:off x="7163984" y="281689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9" name="Oval 18"/>
          <p:cNvSpPr/>
          <p:nvPr/>
        </p:nvSpPr>
        <p:spPr>
          <a:xfrm>
            <a:off x="9736442" y="30871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0" name="TextBox 19"/>
          <p:cNvSpPr txBox="1"/>
          <p:nvPr/>
        </p:nvSpPr>
        <p:spPr>
          <a:xfrm>
            <a:off x="5303519" y="4042898"/>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what the figure's volume panel shows that the text does not explain.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 </a:t>
            </a:r>
            <a:r>
              <a:rPr sz="1700" b="1" i="0">
                <a:solidFill>
                  <a:srgbClr val="E09B00"/>
                </a:solidFill>
                <a:latin typeface="Arial"/>
              </a:rPr>
              <a:t>(7)</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A parallel from 4, carried back, meets the trough at X </a:t>
            </a:r>
            <a:r>
              <a:rPr sz="1700" b="1" i="0">
                <a:solidFill>
                  <a:srgbClr val="C62828"/>
                </a:solidFill>
                <a:latin typeface="Arial"/>
              </a:rPr>
              <a:t>(8)</a:t>
            </a:r>
            <a:r>
              <a:rPr sz="1700" b="0" i="0">
                <a:solidFill>
                  <a:srgbClr val="1A1A1A"/>
                </a:solidFill>
                <a:latin typeface="Arial"/>
              </a:rPr>
              <a:t>,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 </a:t>
            </a:r>
            <a:r>
              <a:rPr sz="1700" b="1" i="0">
                <a:solidFill>
                  <a:srgbClr val="1F5FAD"/>
                </a:solidFill>
                <a:latin typeface="Arial"/>
              </a:rPr>
              <a:t>(9)</a:t>
            </a:r>
            <a:r>
              <a:rPr sz="1700" b="0" i="0">
                <a:solidFill>
                  <a:srgbClr val="1A1A1A"/>
                </a:solidFill>
                <a:latin typeface="Arial"/>
              </a:rPr>
              <a:t>.</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27396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019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0447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5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p:txBody>
      </p:sp>
      <p:sp>
        <p:nvSpPr>
          <p:cNvPr id="14" name="Oval 13"/>
          <p:cNvSpPr/>
          <p:nvPr/>
        </p:nvSpPr>
        <p:spPr>
          <a:xfrm>
            <a:off x="9411242" y="2830072"/>
            <a:ext cx="272733" cy="700535"/>
          </a:xfrm>
          <a:prstGeom prst="ellipse">
            <a:avLst/>
          </a:prstGeom>
          <a:noFill/>
          <a:ln w="44450">
            <a:solidFill>
              <a:srgbClr val="E09B00"/>
            </a:solidFill>
          </a:ln>
        </p:spPr>
        <p:txBody>
          <a:bodyPr rtlCol="0" anchor="ctr"/>
          <a:lstStyle/>
          <a:p>
            <a:pPr algn="ctr"/>
          </a:p>
        </p:txBody>
      </p:sp>
      <p:cxnSp>
        <p:nvCxnSpPr>
          <p:cNvPr id="15" name="Connector 14"/>
          <p:cNvCxnSpPr/>
          <p:nvPr/>
        </p:nvCxnSpPr>
        <p:spPr>
          <a:xfrm flipV="1">
            <a:off x="6857465" y="3580646"/>
            <a:ext cx="1710782" cy="663007"/>
          </a:xfrm>
          <a:prstGeom prst="line">
            <a:avLst/>
          </a:prstGeom>
          <a:ln w="44450">
            <a:solidFill>
              <a:srgbClr val="C62828"/>
            </a:solidFill>
          </a:ln>
        </p:spPr>
      </p:cxnSp>
      <p:sp>
        <p:nvSpPr>
          <p:cNvPr id="16" name="Rectangle 15"/>
          <p:cNvSpPr/>
          <p:nvPr/>
        </p:nvSpPr>
        <p:spPr>
          <a:xfrm>
            <a:off x="9535212" y="3330455"/>
            <a:ext cx="1016552" cy="900688"/>
          </a:xfrm>
          <a:prstGeom prst="rect">
            <a:avLst/>
          </a:prstGeom>
          <a:noFill/>
          <a:ln w="44450">
            <a:solidFill>
              <a:srgbClr val="1F5FAD"/>
            </a:solidFill>
          </a:ln>
        </p:spPr>
        <p:txBody>
          <a:bodyPr rtlCol="0" anchor="ctr"/>
          <a:lstStyle/>
          <a:p>
            <a:pPr algn="ctr"/>
          </a:p>
        </p:txBody>
      </p:sp>
      <p:sp>
        <p:nvSpPr>
          <p:cNvPr id="17" name="Oval 16"/>
          <p:cNvSpPr/>
          <p:nvPr/>
        </p:nvSpPr>
        <p:spPr>
          <a:xfrm>
            <a:off x="9255794" y="2674624"/>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6776398" y="357531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9900437" y="317500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217919" y="464160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24 of 24</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line has the slope of trendline 1 to 2 </a:t>
            </a:r>
            <a:r>
              <a:rPr sz="1700" b="1" i="0">
                <a:solidFill>
                  <a:srgbClr val="E09B00"/>
                </a:solidFill>
                <a:latin typeface="Arial"/>
              </a:rPr>
              <a:t>(7)</a:t>
            </a:r>
            <a:r>
              <a:rPr sz="1700" b="0" i="0">
                <a:solidFill>
                  <a:srgbClr val="1A1A1A"/>
                </a:solidFill>
                <a:latin typeface="Arial"/>
              </a:rPr>
              <a:t>: one steady angle, the book's near perfect angular symmetry (Chapter 5).</a:t>
            </a:r>
          </a:p>
          <a:p>
            <a:pPr algn="l">
              <a:lnSpc>
                <a:spcPct val="105000"/>
              </a:lnSpc>
              <a:spcBef>
                <a:spcPts val="0"/>
              </a:spcBef>
              <a:spcAft>
                <a:spcPts val="1100"/>
              </a:spcAft>
            </a:pPr>
            <a:r>
              <a:rPr sz="1700" b="0" i="0">
                <a:solidFill>
                  <a:srgbClr val="1A1A1A"/>
                </a:solidFill>
                <a:latin typeface="Arial"/>
              </a:rPr>
              <a:t>The 5 and 6 channel </a:t>
            </a:r>
            <a:r>
              <a:rPr sz="1700" b="1" i="0">
                <a:solidFill>
                  <a:srgbClr val="C62828"/>
                </a:solidFill>
                <a:latin typeface="Arial"/>
              </a:rPr>
              <a:t>(8)</a:t>
            </a:r>
            <a:r>
              <a:rPr sz="1700" b="0" i="0">
                <a:solidFill>
                  <a:srgbClr val="1A1A1A"/>
                </a:solidFill>
                <a:latin typeface="Arial"/>
              </a:rPr>
              <a:t>: resistance at its top, support at its bottom.</a:t>
            </a:r>
          </a:p>
          <a:p>
            <a:pPr algn="l">
              <a:lnSpc>
                <a:spcPct val="105000"/>
              </a:lnSpc>
              <a:spcBef>
                <a:spcPts val="0"/>
              </a:spcBef>
              <a:spcAft>
                <a:spcPts val="1100"/>
              </a:spcAft>
            </a:pPr>
            <a:r>
              <a:rPr sz="1700" b="0" i="0">
                <a:solidFill>
                  <a:srgbClr val="1A1A1A"/>
                </a:solidFill>
                <a:latin typeface="Arial"/>
              </a:rPr>
              <a:t>Open: the text says USDJPY; the chart, silver.</a:t>
            </a:r>
          </a:p>
          <a:p>
            <a:pPr algn="l">
              <a:lnSpc>
                <a:spcPct val="105000"/>
              </a:lnSpc>
              <a:spcBef>
                <a:spcPts val="0"/>
              </a:spcBef>
              <a:spcAft>
                <a:spcPts val="1100"/>
              </a:spcAft>
            </a:pPr>
            <a:r>
              <a:rPr sz="1700" b="0" i="0">
                <a:solidFill>
                  <a:srgbClr val="1A1A1A"/>
                </a:solidFill>
                <a:latin typeface="Arial"/>
              </a:rPr>
              <a:t>Open: no heavy volume is ringed under 4 </a:t>
            </a:r>
            <a:r>
              <a:rPr sz="1700" b="1" i="0">
                <a:solidFill>
                  <a:srgbClr val="1F5FAD"/>
                </a:solidFill>
                <a:latin typeface="Arial"/>
              </a:rPr>
              <a:t>(9)</a:t>
            </a:r>
            <a:r>
              <a:rPr sz="1700" b="0" i="0">
                <a:solidFill>
                  <a:srgbClr val="1A1A1A"/>
                </a:solidFill>
                <a:latin typeface="Arial"/>
              </a:rPr>
              <a:t> or X, yet both anchor lines.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Build lines on heavily traded turns; watch the parallels for resistance and support.</a:t>
            </a:r>
          </a:p>
        </p:txBody>
      </p:sp>
      <p:sp>
        <p:nvSpPr>
          <p:cNvPr id="10" name="Rectangle 9"/>
          <p:cNvSpPr/>
          <p:nvPr/>
        </p:nvSpPr>
        <p:spPr>
          <a:xfrm>
            <a:off x="6583679" y="1810512"/>
            <a:ext cx="4830775" cy="255511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31737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18601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6.23</a:t>
            </a:r>
          </a:p>
          <a:p>
            <a:pPr algn="l">
              <a:lnSpc>
                <a:spcPct val="115000"/>
              </a:lnSpc>
              <a:spcBef>
                <a:spcPts val="0"/>
              </a:spcBef>
              <a:spcAft>
                <a:spcPts val="0"/>
              </a:spcAft>
            </a:pPr>
            <a:r>
              <a:rPr sz="1300" b="0" i="0">
                <a:solidFill>
                  <a:srgbClr val="1A1A1A"/>
                </a:solidFill>
                <a:latin typeface="Palatino"/>
              </a:rPr>
              <a:t>The same silver chart with volume filtered points 1 to 6 and X. Every line runs parallel to the trendline from 1 to 2; the last channel runs from 5 and 6; the volume panel rings heavy volume under 1, under 3 and 2, and under 5 and 6, and nothing under 4 or X.</a:t>
            </a:r>
          </a:p>
        </p:txBody>
      </p:sp>
      <p:cxnSp>
        <p:nvCxnSpPr>
          <p:cNvPr id="14" name="Connector 13"/>
          <p:cNvCxnSpPr/>
          <p:nvPr/>
        </p:nvCxnSpPr>
        <p:spPr>
          <a:xfrm flipV="1">
            <a:off x="8287147" y="2358097"/>
            <a:ext cx="1446805" cy="556170"/>
          </a:xfrm>
          <a:prstGeom prst="line">
            <a:avLst/>
          </a:prstGeom>
          <a:ln w="44450">
            <a:solidFill>
              <a:srgbClr val="E09B00"/>
            </a:solidFill>
          </a:ln>
        </p:spPr>
      </p:cxnSp>
      <p:sp>
        <p:nvSpPr>
          <p:cNvPr id="15" name="Rectangle 14"/>
          <p:cNvSpPr/>
          <p:nvPr/>
        </p:nvSpPr>
        <p:spPr>
          <a:xfrm>
            <a:off x="9665056" y="3227112"/>
            <a:ext cx="941571" cy="834253"/>
          </a:xfrm>
          <a:prstGeom prst="rect">
            <a:avLst/>
          </a:prstGeom>
          <a:noFill/>
          <a:ln w="44450">
            <a:solidFill>
              <a:srgbClr val="C62828"/>
            </a:solidFill>
          </a:ln>
        </p:spPr>
        <p:txBody>
          <a:bodyPr rtlCol="0" anchor="ctr"/>
          <a:lstStyle/>
          <a:p>
            <a:pPr algn="ctr"/>
          </a:p>
        </p:txBody>
      </p:sp>
      <p:sp>
        <p:nvSpPr>
          <p:cNvPr id="16" name="Rectangle 15"/>
          <p:cNvSpPr/>
          <p:nvPr/>
        </p:nvSpPr>
        <p:spPr>
          <a:xfrm>
            <a:off x="8539764" y="3875976"/>
            <a:ext cx="459303" cy="208563"/>
          </a:xfrm>
          <a:prstGeom prst="rect">
            <a:avLst/>
          </a:prstGeom>
          <a:noFill/>
          <a:ln w="44450">
            <a:solidFill>
              <a:srgbClr val="1F5FAD"/>
            </a:solidFill>
          </a:ln>
        </p:spPr>
        <p:txBody>
          <a:bodyPr rtlCol="0" anchor="ctr"/>
          <a:lstStyle/>
          <a:p>
            <a:pPr algn="ctr"/>
          </a:p>
        </p:txBody>
      </p:sp>
      <p:sp>
        <p:nvSpPr>
          <p:cNvPr id="17" name="Oval 16"/>
          <p:cNvSpPr/>
          <p:nvPr/>
        </p:nvSpPr>
        <p:spPr>
          <a:xfrm>
            <a:off x="8843619" y="228375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7</a:t>
            </a:r>
          </a:p>
        </p:txBody>
      </p:sp>
      <p:sp>
        <p:nvSpPr>
          <p:cNvPr id="18" name="Oval 17"/>
          <p:cNvSpPr/>
          <p:nvPr/>
        </p:nvSpPr>
        <p:spPr>
          <a:xfrm>
            <a:off x="9509608" y="307166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8</a:t>
            </a:r>
          </a:p>
        </p:txBody>
      </p:sp>
      <p:sp>
        <p:nvSpPr>
          <p:cNvPr id="19" name="Oval 18"/>
          <p:cNvSpPr/>
          <p:nvPr/>
        </p:nvSpPr>
        <p:spPr>
          <a:xfrm>
            <a:off x="8384316" y="372052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9</a:t>
            </a:r>
          </a:p>
        </p:txBody>
      </p:sp>
      <p:sp>
        <p:nvSpPr>
          <p:cNvPr id="20" name="TextBox 19"/>
          <p:cNvSpPr txBox="1"/>
          <p:nvPr/>
        </p:nvSpPr>
        <p:spPr>
          <a:xfrm>
            <a:off x="6583679" y="44570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6.23 -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4922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Holding a losing position, not selling at a loss, hoping it comes back. Holding is not trading: it adds no volume.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4922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Bought at PHP 50, now PHP 38: an unrealized loss of PHP 12, on paper only, unsold. You hold for breakeven, PHP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49224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865211" y="2157984"/>
            <a:ext cx="354787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984083" y="2276856"/>
            <a:ext cx="3310128" cy="3163824"/>
          </a:xfrm>
          <a:prstGeom prst="rect">
            <a:avLst/>
          </a:prstGeom>
        </p:spPr>
      </p:pic>
      <p:sp>
        <p:nvSpPr>
          <p:cNvPr id="16" name="TextBox 15"/>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7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700" b="0" i="0">
                <a:solidFill>
                  <a:srgbClr val="1A1A1A"/>
                </a:solidFill>
                <a:latin typeface="Arial"/>
              </a:rPr>
              <a:t>3  More investment funds market their services in a bull market, drawing in investors.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46354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7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7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trades five times the shares; B has ten times the participation.</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Plus 1 when a new long and short both open; minus 1 when both close; no change when one side is replaced.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Day 1: A buys 1 from B, both new, A long and B short: plus 1. Open interest 1.</a:t>
            </a:r>
          </a:p>
          <a:p>
            <a:pPr algn="l">
              <a:lnSpc>
                <a:spcPct val="105000"/>
              </a:lnSpc>
              <a:spcBef>
                <a:spcPts val="0"/>
              </a:spcBef>
              <a:spcAft>
                <a:spcPts val="1100"/>
              </a:spcAft>
            </a:pPr>
            <a:r>
              <a:rPr sz="1700" b="0" i="0">
                <a:solidFill>
                  <a:srgbClr val="1A1A1A"/>
                </a:solidFill>
                <a:latin typeface="Arial"/>
              </a:rPr>
              <a:t>Day 2: C buys 2 from D, both new: plus 2. Open interest 3.</a:t>
            </a:r>
          </a:p>
          <a:p>
            <a:pPr algn="l">
              <a:lnSpc>
                <a:spcPct val="105000"/>
              </a:lnSpc>
              <a:spcBef>
                <a:spcPts val="0"/>
              </a:spcBef>
              <a:spcAft>
                <a:spcPts val="1100"/>
              </a:spcAft>
            </a:pPr>
            <a:r>
              <a:rPr sz="1700" b="0" i="0">
                <a:solidFill>
                  <a:srgbClr val="1A1A1A"/>
                </a:solidFill>
                <a:latin typeface="Arial"/>
              </a:rPr>
              <a:t>Day 3: A sells that 1 to E, the new long; B is still short: no change. Still 3.</a:t>
            </a:r>
          </a:p>
          <a:p>
            <a:pPr algn="l">
              <a:lnSpc>
                <a:spcPct val="105000"/>
              </a:lnSpc>
              <a:spcBef>
                <a:spcPts val="0"/>
              </a:spcBef>
              <a:spcAft>
                <a:spcPts val="1100"/>
              </a:spcAft>
            </a:pPr>
            <a:r>
              <a:rPr sz="1700" b="0" i="0">
                <a:solidFill>
                  <a:srgbClr val="1A1A1A"/>
                </a:solidFill>
                <a:latin typeface="Arial"/>
              </a:rPr>
              <a:t>Day 4: D buys back 2 from C: D's short and C's long close: minus 2. Now 1.</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Only both sides opening, or both closing, moves the count.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rules, and why count: unlike stocks, futures and options contracts expire. Traders and counts: ours.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29</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7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7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is confirmation, falling is divergence: as for non-price-based volume.</a:t>
            </a:r>
          </a:p>
        </p:txBody>
      </p:sp>
      <p:sp>
        <p:nvSpPr>
          <p:cNvPr id="10" name="Rectangle 9"/>
          <p:cNvSpPr/>
          <p:nvPr/>
        </p:nvSpPr>
        <p:spPr>
          <a:xfrm>
            <a:off x="7499451" y="1810512"/>
            <a:ext cx="39136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7618323" y="1929384"/>
            <a:ext cx="3675888" cy="3511296"/>
          </a:xfrm>
          <a:prstGeom prst="rect">
            <a:avLst/>
          </a:prstGeom>
        </p:spPr>
      </p:pic>
      <p:sp>
        <p:nvSpPr>
          <p:cNvPr id="12" name="TextBox 11"/>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Ours: a futures contract rises, PHP 100 to 110. Open interest 50,000 to 60,000, volume 8,000 to 12,000 a day: bullish confirmation, buying pressure.</a:t>
            </a:r>
          </a:p>
          <a:p>
            <a:pPr algn="l">
              <a:lnSpc>
                <a:spcPct val="105000"/>
              </a:lnSpc>
              <a:spcBef>
                <a:spcPts val="0"/>
              </a:spcBef>
              <a:spcAft>
                <a:spcPts val="1100"/>
              </a:spcAft>
            </a:pPr>
            <a:r>
              <a:rPr sz="1700" b="0" i="0">
                <a:solidFill>
                  <a:srgbClr val="1A1A1A"/>
                </a:solidFill>
                <a:latin typeface="Arial"/>
              </a:rPr>
              <a:t>2  Same rise; open interest 50,000 to 40,000, volume 8,000 to 5,000: bearish divergence, shorts covering, longs leaving.</a:t>
            </a:r>
          </a:p>
          <a:p>
            <a:pPr algn="l">
              <a:lnSpc>
                <a:spcPct val="105000"/>
              </a:lnSpc>
              <a:spcBef>
                <a:spcPts val="0"/>
              </a:spcBef>
              <a:spcAft>
                <a:spcPts val="1100"/>
              </a:spcAft>
            </a:pPr>
            <a:r>
              <a:rPr sz="1700" b="0" i="0">
                <a:solidFill>
                  <a:srgbClr val="1A1A1A"/>
                </a:solidFill>
                <a:latin typeface="Arial"/>
              </a:rPr>
              <a:t>Falling, PHP 110 to 100: 3, both rising, bearish confirmation, short selling; 4, both falling, bullish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Same price move, opposite readings: volume and open interest decide.</a:t>
            </a:r>
          </a:p>
        </p:txBody>
      </p:sp>
      <p:sp>
        <p:nvSpPr>
          <p:cNvPr id="10" name="Rectangle 9"/>
          <p:cNvSpPr/>
          <p:nvPr/>
        </p:nvSpPr>
        <p:spPr>
          <a:xfrm>
            <a:off x="7865211" y="1810512"/>
            <a:ext cx="354787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b.png"/>
          <p:cNvPicPr>
            <a:picLocks noChangeAspect="1"/>
          </p:cNvPicPr>
          <p:nvPr/>
        </p:nvPicPr>
        <p:blipFill>
          <a:blip r:embed="rId2"/>
          <a:stretch>
            <a:fillRect/>
          </a:stretch>
        </p:blipFill>
        <p:spPr>
          <a:xfrm>
            <a:off x="7984083" y="1929384"/>
            <a:ext cx="3310128" cy="3511296"/>
          </a:xfrm>
          <a:prstGeom prst="rect">
            <a:avLst/>
          </a:prstGeom>
        </p:spPr>
      </p:pic>
      <p:sp>
        <p:nvSpPr>
          <p:cNvPr id="12" name="TextBox 11"/>
          <p:cNvSpPr txBox="1"/>
          <p:nvPr/>
        </p:nvSpPr>
        <p:spPr>
          <a:xfrm>
            <a:off x="7863840" y="5650991"/>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All three rising, bullish: look for buy signals.</a:t>
            </a:r>
          </a:p>
          <a:p>
            <a:pPr algn="l">
              <a:lnSpc>
                <a:spcPct val="105000"/>
              </a:lnSpc>
              <a:spcBef>
                <a:spcPts val="0"/>
              </a:spcBef>
              <a:spcAft>
                <a:spcPts val="1100"/>
              </a:spcAft>
            </a:pPr>
            <a:r>
              <a:rPr sz="19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9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4739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Figure 6.24, silver: from A, about $20, price rose to B, about $49 </a:t>
            </a:r>
            <a:r>
              <a:rPr sz="2000" b="1" i="0">
                <a:solidFill>
                  <a:srgbClr val="E09B00"/>
                </a:solidFill>
                <a:latin typeface="Arial"/>
              </a:rPr>
              <a:t>(1)</a:t>
            </a:r>
            <a:r>
              <a:rPr sz="2000" b="1" i="0">
                <a:solidFill>
                  <a:srgbClr val="1A1A1A"/>
                </a:solidFill>
                <a:latin typeface="Arial"/>
              </a:rPr>
              <a:t>, then fell to under $30 </a:t>
            </a:r>
            <a:r>
              <a:rPr sz="2000" b="1" i="0">
                <a:solidFill>
                  <a:srgbClr val="C62828"/>
                </a:solidFill>
                <a:latin typeface="Arial"/>
              </a:rPr>
              <a:t>(2)</a:t>
            </a:r>
            <a:r>
              <a:rPr sz="2000" b="1" i="0">
                <a:solidFill>
                  <a:srgbClr val="1A1A1A"/>
                </a:solidFill>
                <a:latin typeface="Arial"/>
              </a:rPr>
              <a:t>. Which of the four was it at B? Next slide.</a:t>
            </a:r>
          </a:p>
        </p:txBody>
      </p:sp>
      <p:sp>
        <p:nvSpPr>
          <p:cNvPr id="10" name="Rectangle 9"/>
          <p:cNvSpPr/>
          <p:nvPr/>
        </p:nvSpPr>
        <p:spPr>
          <a:xfrm>
            <a:off x="7863840" y="1810512"/>
            <a:ext cx="3550614" cy="343895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320121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74401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price panel of the continuous daily chart of silver: from A, about $20 in 2008, price rises to B, about $49 in 2011, then falls to under $30.</a:t>
            </a:r>
          </a:p>
        </p:txBody>
      </p:sp>
      <p:cxnSp>
        <p:nvCxnSpPr>
          <p:cNvPr id="14" name="Connector 13"/>
          <p:cNvCxnSpPr/>
          <p:nvPr/>
        </p:nvCxnSpPr>
        <p:spPr>
          <a:xfrm flipV="1">
            <a:off x="8307373" y="2217493"/>
            <a:ext cx="1808827" cy="2272861"/>
          </a:xfrm>
          <a:prstGeom prst="line">
            <a:avLst/>
          </a:prstGeom>
          <a:ln w="44450">
            <a:solidFill>
              <a:srgbClr val="E09B00"/>
            </a:solidFill>
            <a:tailEnd type="triangle" w="med" len="med"/>
          </a:ln>
        </p:spPr>
      </p:cxnSp>
      <p:cxnSp>
        <p:nvCxnSpPr>
          <p:cNvPr id="15" name="Connector 14"/>
          <p:cNvCxnSpPr/>
          <p:nvPr/>
        </p:nvCxnSpPr>
        <p:spPr>
          <a:xfrm>
            <a:off x="10215587" y="2313529"/>
            <a:ext cx="400857" cy="1472558"/>
          </a:xfrm>
          <a:prstGeom prst="line">
            <a:avLst/>
          </a:prstGeom>
          <a:ln w="44450">
            <a:solidFill>
              <a:srgbClr val="C62828"/>
            </a:solidFill>
            <a:tailEnd type="triangle" w="med" len="med"/>
          </a:ln>
        </p:spPr>
      </p:cxnSp>
      <p:sp>
        <p:nvSpPr>
          <p:cNvPr id="16" name="Oval 15"/>
          <p:cNvSpPr/>
          <p:nvPr/>
        </p:nvSpPr>
        <p:spPr>
          <a:xfrm>
            <a:off x="8092293" y="382271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77560" y="2590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7863840" y="5340908"/>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6.24: volume and open interest disagree at B</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peaks higher at B than at A </a:t>
            </a:r>
            <a:r>
              <a:rPr sz="1700" b="1" i="0">
                <a:solidFill>
                  <a:srgbClr val="E09B00"/>
                </a:solidFill>
                <a:latin typeface="Arial"/>
              </a:rPr>
              <a:t>(1)</a:t>
            </a:r>
            <a:r>
              <a:rPr sz="1700" b="0" i="0">
                <a:solidFill>
                  <a:srgbClr val="1A1A1A"/>
                </a:solidFill>
                <a:latin typeface="Arial"/>
              </a:rPr>
              <a:t>: price and volume rise together, bullish confirmation.</a:t>
            </a:r>
          </a:p>
          <a:p>
            <a:pPr algn="l">
              <a:lnSpc>
                <a:spcPct val="105000"/>
              </a:lnSpc>
              <a:spcBef>
                <a:spcPts val="0"/>
              </a:spcBef>
              <a:spcAft>
                <a:spcPts val="1100"/>
              </a:spcAft>
            </a:pPr>
            <a:r>
              <a:rPr sz="1700" b="0" i="0">
                <a:solidFill>
                  <a:srgbClr val="1A1A1A"/>
                </a:solidFill>
                <a:latin typeface="Arial"/>
              </a:rPr>
              <a:t>Open interest peaks lower at B than at A </a:t>
            </a:r>
            <a:r>
              <a:rPr sz="1700" b="1" i="0">
                <a:solidFill>
                  <a:srgbClr val="C62828"/>
                </a:solidFill>
                <a:latin typeface="Arial"/>
              </a:rPr>
              <a:t>(2)</a:t>
            </a:r>
            <a:r>
              <a:rPr sz="1700" b="0" i="0">
                <a:solidFill>
                  <a:srgbClr val="1A1A1A"/>
                </a:solidFill>
                <a:latin typeface="Arial"/>
              </a:rPr>
              <a:t>: price rises as open interest falls, bearish divergence.</a:t>
            </a:r>
          </a:p>
          <a:p>
            <a:pPr algn="l">
              <a:lnSpc>
                <a:spcPct val="105000"/>
              </a:lnSpc>
              <a:spcBef>
                <a:spcPts val="0"/>
              </a:spcBef>
              <a:spcAft>
                <a:spcPts val="1100"/>
              </a:spcAft>
            </a:pPr>
            <a:r>
              <a:rPr sz="1700" b="0" i="0">
                <a:solidFill>
                  <a:srgbClr val="1A1A1A"/>
                </a:solidFill>
                <a:latin typeface="Arial"/>
              </a:rPr>
              <a:t>They disagree. The book reads the open interest: longs liquidating, early. Silver then fell from about $49 to under $30.</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When the two disagree, the book reads open interest.</a:t>
            </a:r>
          </a:p>
        </p:txBody>
      </p:sp>
      <p:sp>
        <p:nvSpPr>
          <p:cNvPr id="10" name="Rectangle 9"/>
          <p:cNvSpPr/>
          <p:nvPr/>
        </p:nvSpPr>
        <p:spPr>
          <a:xfrm>
            <a:off x="6722440" y="1810512"/>
            <a:ext cx="4187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41312" y="1929384"/>
            <a:ext cx="3949750"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41312" y="1929384"/>
            <a:ext cx="394975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15632" y="2203703"/>
            <a:ext cx="340111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6.24</a:t>
            </a:r>
          </a:p>
          <a:p>
            <a:pPr algn="l">
              <a:lnSpc>
                <a:spcPct val="115000"/>
              </a:lnSpc>
              <a:spcBef>
                <a:spcPts val="0"/>
              </a:spcBef>
              <a:spcAft>
                <a:spcPts val="0"/>
              </a:spcAft>
            </a:pPr>
            <a:r>
              <a:rPr sz="1500" b="0" i="0">
                <a:solidFill>
                  <a:srgbClr val="1A1A1A"/>
                </a:solidFill>
                <a:latin typeface="Palatino"/>
              </a:rPr>
              <a:t>The open interest and volume panels of the continuous daily chart of silver, from 2005 to 2012. At B, early 2011, volume makes a higher peak than at A, marked 1, labelled bullish confirmation; open interest makes a lower peak, marked 2, labelled bearish divergence.</a:t>
            </a:r>
          </a:p>
        </p:txBody>
      </p:sp>
      <p:sp>
        <p:nvSpPr>
          <p:cNvPr id="14" name="Oval 13"/>
          <p:cNvSpPr/>
          <p:nvPr/>
        </p:nvSpPr>
        <p:spPr>
          <a:xfrm>
            <a:off x="9116368" y="3646407"/>
            <a:ext cx="718854" cy="649589"/>
          </a:xfrm>
          <a:prstGeom prst="ellipse">
            <a:avLst/>
          </a:prstGeom>
          <a:noFill/>
          <a:ln w="44450">
            <a:solidFill>
              <a:srgbClr val="E09B00"/>
            </a:solidFill>
          </a:ln>
        </p:spPr>
        <p:txBody>
          <a:bodyPr rtlCol="0" anchor="ctr"/>
          <a:lstStyle/>
          <a:p>
            <a:pPr algn="ctr"/>
          </a:p>
        </p:txBody>
      </p:sp>
      <p:sp>
        <p:nvSpPr>
          <p:cNvPr id="15" name="Oval 14"/>
          <p:cNvSpPr/>
          <p:nvPr/>
        </p:nvSpPr>
        <p:spPr>
          <a:xfrm>
            <a:off x="9116368" y="2768583"/>
            <a:ext cx="718854" cy="572341"/>
          </a:xfrm>
          <a:prstGeom prst="ellipse">
            <a:avLst/>
          </a:prstGeom>
          <a:noFill/>
          <a:ln w="44450">
            <a:solidFill>
              <a:srgbClr val="C62828"/>
            </a:solidFill>
          </a:ln>
        </p:spPr>
        <p:txBody>
          <a:bodyPr rtlCol="0" anchor="ctr"/>
          <a:lstStyle/>
          <a:p>
            <a:pPr algn="ctr"/>
          </a:p>
        </p:txBody>
      </p:sp>
      <p:sp>
        <p:nvSpPr>
          <p:cNvPr id="16" name="Oval 15"/>
          <p:cNvSpPr/>
          <p:nvPr/>
        </p:nvSpPr>
        <p:spPr>
          <a:xfrm>
            <a:off x="8960920" y="34909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960920" y="261313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Confirmation and divergence: Part 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7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700" b="0" i="0">
                <a:solidFill>
                  <a:srgbClr val="1A1A1A"/>
                </a:solidFill>
                <a:latin typeface="Arial"/>
              </a:rPr>
              <a:t>Ours: about 85,000 open contracts against 20,000. After the same top, the first falls steeply.</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reason: many open contracts liquidating and covering at once.</a:t>
            </a:r>
          </a:p>
        </p:txBody>
      </p:sp>
      <p:sp>
        <p:nvSpPr>
          <p:cNvPr id="10" name="TextBox 9"/>
          <p:cNvSpPr txBox="1"/>
          <p:nvPr/>
        </p:nvSpPr>
        <p:spPr>
          <a:xfrm>
            <a:off x="777240" y="51892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shares: one tick is one trade, of any size. Met in Chapters 1 and 3.</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 counted trades the same way.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Advances / declines = 1,500 / 1,000 = 1.5 rising stocks for each falling one.</a:t>
            </a:r>
          </a:p>
          <a:p>
            <a:pPr algn="l">
              <a:lnSpc>
                <a:spcPct val="105000"/>
              </a:lnSpc>
              <a:spcBef>
                <a:spcPts val="0"/>
              </a:spcBef>
              <a:spcAft>
                <a:spcPts val="1100"/>
              </a:spcAft>
            </a:pPr>
            <a:r>
              <a:rPr sz="1700" b="0" i="0">
                <a:solidFill>
                  <a:srgbClr val="1A1A1A"/>
                </a:solidFill>
                <a:latin typeface="Arial"/>
              </a:rPr>
              <a:t>2  Up volume / down volume = 600m / 800m = 0.75: the falling stocks traded more shares.</a:t>
            </a:r>
          </a:p>
          <a:p>
            <a:pPr algn="l">
              <a:lnSpc>
                <a:spcPct val="105000"/>
              </a:lnSpc>
              <a:spcBef>
                <a:spcPts val="0"/>
              </a:spcBef>
              <a:spcAft>
                <a:spcPts val="1100"/>
              </a:spcAft>
            </a:pPr>
            <a:r>
              <a:rPr sz="17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61254"/>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Step 3 and the gold line are our arithmetic; the book never reads one value such as 2.0.</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e.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29</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tick: the book never says what it measures. On Figure 6.25 it goes below zero </a:t>
            </a:r>
            <a:r>
              <a:rPr sz="1700" b="1" i="0">
                <a:solidFill>
                  <a:srgbClr val="E09B00"/>
                </a:solidFill>
                <a:latin typeface="Arial"/>
              </a:rPr>
              <a:t>(1)</a:t>
            </a:r>
            <a:r>
              <a:rPr sz="1700" b="0" i="0">
                <a:solidFill>
                  <a:srgbClr val="1A1A1A"/>
                </a:solidFill>
                <a:latin typeface="Arial"/>
              </a:rPr>
              <a:t>, so it is not tick volume, a count of trades.</a:t>
            </a:r>
          </a:p>
          <a:p>
            <a:pPr algn="l">
              <a:lnSpc>
                <a:spcPct val="105000"/>
              </a:lnSpc>
              <a:spcBef>
                <a:spcPts val="0"/>
              </a:spcBef>
              <a:spcAft>
                <a:spcPts val="1100"/>
              </a:spcAft>
            </a:pPr>
            <a:r>
              <a:rPr sz="17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700" b="0" i="0">
                <a:solidFill>
                  <a:srgbClr val="1A1A1A"/>
                </a:solidFill>
                <a:latin typeface="Arial"/>
              </a:rPr>
              <a:t>Figure 6.25 shows something else: tick down to about -1,000 </a:t>
            </a:r>
            <a:r>
              <a:rPr sz="1700" b="1" i="0">
                <a:solidFill>
                  <a:srgbClr val="E09B00"/>
                </a:solidFill>
                <a:latin typeface="Arial"/>
              </a:rPr>
              <a:t>(1)</a:t>
            </a:r>
            <a:r>
              <a:rPr sz="1700" b="0" i="0">
                <a:solidFill>
                  <a:srgbClr val="1A1A1A"/>
                </a:solidFill>
                <a:latin typeface="Arial"/>
              </a:rPr>
              <a:t>, TRIN up to about 2.2 </a:t>
            </a:r>
            <a:r>
              <a:rPr sz="1700" b="1" i="0">
                <a:solidFill>
                  <a:srgbClr val="C62828"/>
                </a:solidFill>
                <a:latin typeface="Arial"/>
              </a:rPr>
              <a:t>(2)</a:t>
            </a:r>
            <a:r>
              <a:rPr sz="1700" b="0" i="0">
                <a:solidFill>
                  <a:srgbClr val="1A1A1A"/>
                </a:solidFill>
                <a:latin typeface="Arial"/>
              </a:rPr>
              <a:t>, both at levels it labels oversold. The index then rose </a:t>
            </a:r>
            <a:r>
              <a:rPr sz="1700" b="1" i="0">
                <a:solidFill>
                  <a:srgbClr val="1F5FAD"/>
                </a:solidFill>
                <a:latin typeface="Arial"/>
              </a:rPr>
              <a:t>(3)</a:t>
            </a:r>
            <a:r>
              <a:rPr sz="1700" b="0" i="0">
                <a:solidFill>
                  <a:srgbClr val="1A1A1A"/>
                </a:solidFill>
                <a:latin typeface="Arial"/>
              </a:rPr>
              <a: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733288"/>
            <a:ext cx="67665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863840" y="1810512"/>
            <a:ext cx="3550614" cy="366225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342451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8257032" y="2203703"/>
            <a:ext cx="2764230" cy="29673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p:txBody>
      </p:sp>
      <p:sp>
        <p:nvSpPr>
          <p:cNvPr id="15" name="Rectangle 14"/>
          <p:cNvSpPr/>
          <p:nvPr/>
        </p:nvSpPr>
        <p:spPr>
          <a:xfrm>
            <a:off x="8721482" y="4155315"/>
            <a:ext cx="563188" cy="534223"/>
          </a:xfrm>
          <a:prstGeom prst="rect">
            <a:avLst/>
          </a:prstGeom>
          <a:noFill/>
          <a:ln w="44450">
            <a:solidFill>
              <a:srgbClr val="E09B00"/>
            </a:solidFill>
          </a:ln>
        </p:spPr>
        <p:txBody>
          <a:bodyPr rtlCol="0" anchor="ctr"/>
          <a:lstStyle/>
          <a:p>
            <a:pPr algn="ctr"/>
          </a:p>
        </p:txBody>
      </p:sp>
      <p:sp>
        <p:nvSpPr>
          <p:cNvPr id="16" name="Rectangle 15"/>
          <p:cNvSpPr/>
          <p:nvPr/>
        </p:nvSpPr>
        <p:spPr>
          <a:xfrm>
            <a:off x="8721482" y="4713510"/>
            <a:ext cx="563188" cy="277385"/>
          </a:xfrm>
          <a:prstGeom prst="rect">
            <a:avLst/>
          </a:prstGeom>
          <a:noFill/>
          <a:ln w="44450">
            <a:solidFill>
              <a:srgbClr val="C62828"/>
            </a:solidFill>
          </a:ln>
        </p:spPr>
        <p:txBody>
          <a:bodyPr rtlCol="0" anchor="ctr"/>
          <a:lstStyle/>
          <a:p>
            <a:pPr algn="ctr"/>
          </a:p>
        </p:txBody>
      </p:sp>
      <p:cxnSp>
        <p:nvCxnSpPr>
          <p:cNvPr id="17" name="Connector 16"/>
          <p:cNvCxnSpPr/>
          <p:nvPr/>
        </p:nvCxnSpPr>
        <p:spPr>
          <a:xfrm flipV="1">
            <a:off x="9165406" y="3299188"/>
            <a:ext cx="1066745" cy="513676"/>
          </a:xfrm>
          <a:prstGeom prst="line">
            <a:avLst/>
          </a:prstGeom>
          <a:ln w="44450">
            <a:solidFill>
              <a:srgbClr val="1F5FAD"/>
            </a:solidFill>
            <a:tailEnd type="triangle" w="med" len="med"/>
          </a:ln>
        </p:spPr>
      </p:cxnSp>
      <p:sp>
        <p:nvSpPr>
          <p:cNvPr id="18" name="Oval 17"/>
          <p:cNvSpPr/>
          <p:nvPr/>
        </p:nvSpPr>
        <p:spPr>
          <a:xfrm>
            <a:off x="8566034" y="399986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489838" y="451354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009958" y="365741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863840" y="5564206"/>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200 + 2 x 300 = 800; above it, oversold. Daily TRIN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either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The weekly tick numbers are ours, in invented units; the book never says what the tick measures.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6.25 against the text's rules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text calls a bullish TRIN overbought. Figure 6.25 labels its TRIN oversold </a:t>
            </a:r>
            <a:r>
              <a:rPr sz="2000" b="1" i="0">
                <a:solidFill>
                  <a:srgbClr val="C62828"/>
                </a:solidFill>
                <a:latin typeface="Arial"/>
              </a:rPr>
              <a:t>(2)</a:t>
            </a:r>
            <a:r>
              <a:rPr sz="2000" b="0" i="0">
                <a:solidFill>
                  <a:srgbClr val="1A1A1A"/>
                </a:solidFill>
                <a:latin typeface="Arial"/>
              </a:rPr>
              <a:t>, at the low, before the index rose.</a:t>
            </a:r>
          </a:p>
          <a:p>
            <a:pPr algn="l">
              <a:lnSpc>
                <a:spcPct val="105000"/>
              </a:lnSpc>
              <a:spcBef>
                <a:spcPts val="0"/>
              </a:spcBef>
              <a:spcAft>
                <a:spcPts val="1100"/>
              </a:spcAft>
            </a:pPr>
            <a:r>
              <a:rPr sz="2000" b="0" i="0">
                <a:solidFill>
                  <a:srgbClr val="1A1A1A"/>
                </a:solidFill>
                <a:latin typeface="Arial"/>
              </a:rPr>
              <a:t>The text's longer-term oversold tick is above a two-sigma level. The figure's oversold tick </a:t>
            </a:r>
            <a:r>
              <a:rPr sz="2000" b="1" i="0">
                <a:solidFill>
                  <a:srgbClr val="E09B00"/>
                </a:solidFill>
                <a:latin typeface="Arial"/>
              </a:rPr>
              <a:t>(1)</a:t>
            </a:r>
            <a:r>
              <a:rPr sz="2000" b="0" i="0">
                <a:solidFill>
                  <a:srgbClr val="1A1A1A"/>
                </a:solidFill>
                <a:latin typeface="Arial"/>
              </a:rPr>
              <a:t> sits at its low.</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book does not say why its figure and its text differ.</a:t>
            </a:r>
          </a:p>
        </p:txBody>
      </p:sp>
      <p:sp>
        <p:nvSpPr>
          <p:cNvPr id="10" name="Rectangle 9"/>
          <p:cNvSpPr/>
          <p:nvPr/>
        </p:nvSpPr>
        <p:spPr>
          <a:xfrm>
            <a:off x="7181781" y="1810512"/>
            <a:ext cx="3634571"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00653" y="1929384"/>
            <a:ext cx="3396827"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300653" y="1929384"/>
            <a:ext cx="3396827"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574973" y="2203703"/>
            <a:ext cx="284818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6.25</a:t>
            </a:r>
          </a:p>
          <a:p>
            <a:pPr algn="l">
              <a:lnSpc>
                <a:spcPct val="115000"/>
              </a:lnSpc>
              <a:spcBef>
                <a:spcPts val="0"/>
              </a:spcBef>
              <a:spcAft>
                <a:spcPts val="0"/>
              </a:spcAft>
            </a:pPr>
            <a:r>
              <a:rPr sz="1500" b="0" i="0">
                <a:solidFill>
                  <a:srgbClr val="1A1A1A"/>
                </a:solidFill>
                <a:latin typeface="Palatino"/>
              </a:rPr>
              <a:t>The 1-minute S&amp;P 500 chart of the last slides. In the box at the low, the TRIN reaches about 2.2 at the line the figure labels TRIN oversold, and the tick drops to about -1,000 at the line it labels TICK oversold: both at the bottom of their swing, not above a two-sigma level.</a:t>
            </a:r>
          </a:p>
        </p:txBody>
      </p:sp>
      <p:sp>
        <p:nvSpPr>
          <p:cNvPr id="14" name="Rectangle 13"/>
          <p:cNvSpPr/>
          <p:nvPr/>
        </p:nvSpPr>
        <p:spPr>
          <a:xfrm>
            <a:off x="8058146" y="4211726"/>
            <a:ext cx="577460" cy="547762"/>
          </a:xfrm>
          <a:prstGeom prst="rect">
            <a:avLst/>
          </a:prstGeom>
          <a:noFill/>
          <a:ln w="44450">
            <a:solidFill>
              <a:srgbClr val="E09B00"/>
            </a:solidFill>
          </a:ln>
        </p:spPr>
        <p:txBody>
          <a:bodyPr rtlCol="0" anchor="ctr"/>
          <a:lstStyle/>
          <a:p>
            <a:pPr algn="ctr"/>
          </a:p>
        </p:txBody>
      </p:sp>
      <p:sp>
        <p:nvSpPr>
          <p:cNvPr id="15" name="Rectangle 14"/>
          <p:cNvSpPr/>
          <p:nvPr/>
        </p:nvSpPr>
        <p:spPr>
          <a:xfrm>
            <a:off x="8058146" y="4784067"/>
            <a:ext cx="577460" cy="284414"/>
          </a:xfrm>
          <a:prstGeom prst="rect">
            <a:avLst/>
          </a:prstGeom>
          <a:noFill/>
          <a:ln w="44450">
            <a:solidFill>
              <a:srgbClr val="C62828"/>
            </a:solidFill>
          </a:ln>
        </p:spPr>
        <p:txBody>
          <a:bodyPr rtlCol="0" anchor="ctr"/>
          <a:lstStyle/>
          <a:p>
            <a:pPr algn="ctr"/>
          </a:p>
        </p:txBody>
      </p:sp>
      <p:sp>
        <p:nvSpPr>
          <p:cNvPr id="16" name="Oval 15"/>
          <p:cNvSpPr/>
          <p:nvPr/>
        </p:nvSpPr>
        <p:spPr>
          <a:xfrm>
            <a:off x="7902698" y="405627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824571" y="458297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6.26: the S&amp;P 500 falls all afternoon. The boxed TRIN rises from about 0.9 to 1.34 </a:t>
            </a:r>
            <a:r>
              <a:rPr sz="1800" b="1" i="0">
                <a:solidFill>
                  <a:srgbClr val="E09B00"/>
                </a:solidFill>
                <a:latin typeface="Arial"/>
              </a:rPr>
              <a:t>(1)</a:t>
            </a:r>
            <a:r>
              <a:rPr sz="1800" b="0" i="0">
                <a:solidFill>
                  <a:srgbClr val="1A1A1A"/>
                </a:solidFill>
                <a:latin typeface="Arial"/>
              </a:rPr>
              <a:t>: bearish, by the short-term rule.</a:t>
            </a:r>
          </a:p>
          <a:p>
            <a:pPr algn="l">
              <a:lnSpc>
                <a:spcPct val="105000"/>
              </a:lnSpc>
              <a:spcBef>
                <a:spcPts val="0"/>
              </a:spcBef>
              <a:spcAft>
                <a:spcPts val="1100"/>
              </a:spcAft>
            </a:pPr>
            <a:r>
              <a:rPr sz="1800" b="0" i="0">
                <a:solidFill>
                  <a:srgbClr val="1A1A1A"/>
                </a:solidFill>
                <a:latin typeface="Arial"/>
              </a:rPr>
              <a:t>1:45 to 2:45 p.m.: the text says largely absent of activity; the figure says absent of uptick action. In its shaded box </a:t>
            </a:r>
            <a:r>
              <a:rPr sz="1800" b="1" i="0">
                <a:solidFill>
                  <a:srgbClr val="C62828"/>
                </a:solidFill>
                <a:latin typeface="Arial"/>
              </a:rPr>
              <a:t>(2)</a:t>
            </a:r>
            <a:r>
              <a:rPr sz="1800" b="0" i="0">
                <a:solidFill>
                  <a:srgbClr val="1A1A1A"/>
                </a:solidFill>
                <a:latin typeface="Arial"/>
              </a:rPr>
              <a:t> the tick barely rises above zero and twice drops to about -1,000, circled as extreme bearish ticks </a:t>
            </a:r>
            <a:r>
              <a:rPr sz="1800" b="1" i="0">
                <a:solidFill>
                  <a:srgbClr val="1F5FAD"/>
                </a:solidFill>
                <a:latin typeface="Arial"/>
              </a:rPr>
              <a:t>(3)</a:t>
            </a:r>
            <a:r>
              <a:rPr sz="1800" b="0" i="0">
                <a:solidFill>
                  <a:srgbClr val="1A1A1A"/>
                </a:solidFill>
                <a:latin typeface="Arial"/>
              </a:rPr>
              <a:t>.</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Together, a short-term bearish signal: look for a short entry.</a:t>
            </a:r>
          </a:p>
        </p:txBody>
      </p:sp>
      <p:sp>
        <p:nvSpPr>
          <p:cNvPr id="10" name="TextBox 9"/>
          <p:cNvSpPr txBox="1"/>
          <p:nvPr/>
        </p:nvSpPr>
        <p:spPr>
          <a:xfrm>
            <a:off x="777240" y="5727192"/>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7590872" y="1810512"/>
            <a:ext cx="3365029"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709744" y="1929384"/>
            <a:ext cx="3127285"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7709744" y="1929384"/>
            <a:ext cx="3127285"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984064" y="2203703"/>
            <a:ext cx="25786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6.26</a:t>
            </a:r>
          </a:p>
          <a:p>
            <a:pPr algn="l">
              <a:lnSpc>
                <a:spcPct val="115000"/>
              </a:lnSpc>
              <a:spcBef>
                <a:spcPts val="0"/>
              </a:spcBef>
              <a:spcAft>
                <a:spcPts val="0"/>
              </a:spcAft>
            </a:pPr>
            <a:r>
              <a:rPr sz="15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p:txBody>
      </p:sp>
      <p:cxnSp>
        <p:nvCxnSpPr>
          <p:cNvPr id="15" name="Connector 14"/>
          <p:cNvCxnSpPr/>
          <p:nvPr/>
        </p:nvCxnSpPr>
        <p:spPr>
          <a:xfrm flipV="1">
            <a:off x="8238255" y="4538276"/>
            <a:ext cx="2107791" cy="575853"/>
          </a:xfrm>
          <a:prstGeom prst="line">
            <a:avLst/>
          </a:prstGeom>
          <a:ln w="44450">
            <a:solidFill>
              <a:srgbClr val="E09B00"/>
            </a:solidFill>
            <a:tailEnd type="triangle" w="med" len="med"/>
          </a:ln>
        </p:spPr>
      </p:cxnSp>
      <p:sp>
        <p:nvSpPr>
          <p:cNvPr id="16" name="Rectangle 15"/>
          <p:cNvSpPr/>
          <p:nvPr/>
        </p:nvSpPr>
        <p:spPr>
          <a:xfrm>
            <a:off x="8060000" y="3758769"/>
            <a:ext cx="1232150" cy="452957"/>
          </a:xfrm>
          <a:prstGeom prst="rect">
            <a:avLst/>
          </a:prstGeom>
          <a:noFill/>
          <a:ln w="44450">
            <a:solidFill>
              <a:srgbClr val="C62828"/>
            </a:solidFill>
          </a:ln>
        </p:spPr>
        <p:txBody>
          <a:bodyPr rtlCol="0" anchor="ctr"/>
          <a:lstStyle/>
          <a:p>
            <a:pPr algn="ctr"/>
          </a:p>
        </p:txBody>
      </p:sp>
      <p:cxnSp>
        <p:nvCxnSpPr>
          <p:cNvPr id="17" name="Connector 16"/>
          <p:cNvCxnSpPr/>
          <p:nvPr/>
        </p:nvCxnSpPr>
        <p:spPr>
          <a:xfrm>
            <a:off x="7803563" y="4362712"/>
            <a:ext cx="362765" cy="0"/>
          </a:xfrm>
          <a:prstGeom prst="line">
            <a:avLst/>
          </a:prstGeom>
          <a:ln w="44450">
            <a:solidFill>
              <a:srgbClr val="1F5FAD"/>
            </a:solidFill>
            <a:tailEnd type="triangle" w="med" len="med"/>
          </a:ln>
        </p:spPr>
      </p:cxnSp>
      <p:sp>
        <p:nvSpPr>
          <p:cNvPr id="18" name="Oval 17"/>
          <p:cNvSpPr/>
          <p:nvPr/>
        </p:nvSpPr>
        <p:spPr>
          <a:xfrm>
            <a:off x="8292336" y="51588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904552" y="36033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48115" y="420726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6.26 -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499451" y="2157984"/>
            <a:ext cx="391363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618323" y="2276856"/>
            <a:ext cx="3675888" cy="3163824"/>
          </a:xfrm>
          <a:prstGeom prst="rect">
            <a:avLst/>
          </a:prstGeom>
        </p:spPr>
      </p:pic>
      <p:sp>
        <p:nvSpPr>
          <p:cNvPr id="16" name="TextBox 15"/>
          <p:cNvSpPr txBox="1"/>
          <p:nvPr/>
        </p:nvSpPr>
        <p:spPr>
          <a:xfrm>
            <a:off x="7498079" y="5650991"/>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6.27, iShares Silver Trust: sideways bars longest around $17 </a:t>
            </a:r>
            <a:r>
              <a:rPr sz="1700" b="1" i="0">
                <a:solidFill>
                  <a:srgbClr val="E09B00"/>
                </a:solidFill>
                <a:latin typeface="Arial"/>
              </a:rPr>
              <a:t>(1)</a:t>
            </a:r>
            <a:r>
              <a:rPr sz="1700" b="0" i="0">
                <a:solidFill>
                  <a:srgbClr val="1A1A1A"/>
                </a:solidFill>
                <a:latin typeface="Arial"/>
              </a:rPr>
              <a:t>. The book's volume turnover here is shares traded, not the turnover ratio.</a:t>
            </a:r>
          </a:p>
          <a:p>
            <a:pPr algn="l">
              <a:lnSpc>
                <a:spcPct val="105000"/>
              </a:lnSpc>
              <a:spcBef>
                <a:spcPts val="0"/>
              </a:spcBef>
              <a:spcAft>
                <a:spcPts val="1100"/>
              </a:spcAft>
            </a:pPr>
            <a:r>
              <a:rPr sz="1700" b="0" i="0">
                <a:solidFill>
                  <a:srgbClr val="1A1A1A"/>
                </a:solidFill>
                <a:latin typeface="Arial"/>
              </a:rPr>
              <a:t>So $17 </a:t>
            </a:r>
            <a:r>
              <a:rPr sz="1700" b="1" i="0">
                <a:solidFill>
                  <a:srgbClr val="C62828"/>
                </a:solidFill>
                <a:latin typeface="Arial"/>
              </a:rPr>
              <a:t>(2)</a:t>
            </a:r>
            <a:r>
              <a:rPr sz="1700" b="0" i="0">
                <a:solidFill>
                  <a:srgbClr val="1A1A1A"/>
                </a:solidFill>
                <a:latin typeface="Arial"/>
              </a:rPr>
              <a:t> represents a significant support: a floor where a fall may stop. The figure: significant capital commitment.</a:t>
            </a:r>
          </a:p>
          <a:p>
            <a:pPr algn="l">
              <a:lnSpc>
                <a:spcPct val="105000"/>
              </a:lnSpc>
              <a:spcBef>
                <a:spcPts val="0"/>
              </a:spcBef>
              <a:spcAft>
                <a:spcPts val="1100"/>
              </a:spcAft>
            </a:pPr>
            <a:r>
              <a:rPr sz="1700" b="0" i="0">
                <a:solidFill>
                  <a:srgbClr val="1A1A1A"/>
                </a:solidFill>
                <a:latin typeface="Arial"/>
              </a:rPr>
              <a:t>Also marked: high volume at about $35 </a:t>
            </a:r>
            <a:r>
              <a:rPr sz="1700" b="1" i="0">
                <a:solidFill>
                  <a:srgbClr val="1F5FAD"/>
                </a:solidFill>
                <a:latin typeface="Arial"/>
              </a:rPr>
              <a:t>(3)</a:t>
            </a:r>
            <a:r>
              <a:rPr sz="1700" b="0" i="0">
                <a:solidFill>
                  <a:srgbClr val="1A1A1A"/>
                </a:solidFill>
                <a:latin typeface="Arial"/>
              </a:rPr>
              <a:t>, a new consolidation level, not in the text.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Ordinary volume bars show when, not at what price.</a:t>
            </a:r>
          </a:p>
        </p:txBody>
      </p:sp>
      <p:sp>
        <p:nvSpPr>
          <p:cNvPr id="10" name="TextBox 9"/>
          <p:cNvSpPr txBox="1"/>
          <p:nvPr/>
        </p:nvSpPr>
        <p:spPr>
          <a:xfrm>
            <a:off x="777240" y="5733288"/>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583679" y="1810512"/>
            <a:ext cx="4830775" cy="316510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927362"/>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470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6.27</a:t>
            </a:r>
          </a:p>
          <a:p>
            <a:pPr algn="l">
              <a:lnSpc>
                <a:spcPct val="115000"/>
              </a:lnSpc>
              <a:spcBef>
                <a:spcPts val="0"/>
              </a:spcBef>
              <a:spcAft>
                <a:spcPts val="0"/>
              </a:spcAft>
            </a:pPr>
            <a:r>
              <a:rPr sz="15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p:txBody>
      </p:sp>
      <p:sp>
        <p:nvSpPr>
          <p:cNvPr id="15" name="Rectangle 14"/>
          <p:cNvSpPr/>
          <p:nvPr/>
        </p:nvSpPr>
        <p:spPr>
          <a:xfrm>
            <a:off x="6725517" y="4198089"/>
            <a:ext cx="2181689" cy="292736"/>
          </a:xfrm>
          <a:prstGeom prst="rect">
            <a:avLst/>
          </a:prstGeom>
          <a:noFill/>
          <a:ln w="44450">
            <a:solidFill>
              <a:srgbClr val="E09B00"/>
            </a:solidFill>
          </a:ln>
        </p:spPr>
        <p:txBody>
          <a:bodyPr rtlCol="0" anchor="ctr"/>
          <a:lstStyle/>
          <a:p>
            <a:pPr algn="ctr"/>
          </a:p>
        </p:txBody>
      </p:sp>
      <p:cxnSp>
        <p:nvCxnSpPr>
          <p:cNvPr id="16" name="Connector 15"/>
          <p:cNvCxnSpPr/>
          <p:nvPr/>
        </p:nvCxnSpPr>
        <p:spPr>
          <a:xfrm>
            <a:off x="8999067" y="4285910"/>
            <a:ext cx="918606" cy="0"/>
          </a:xfrm>
          <a:prstGeom prst="line">
            <a:avLst/>
          </a:prstGeom>
          <a:ln w="44450">
            <a:solidFill>
              <a:srgbClr val="C62828"/>
            </a:solidFill>
          </a:ln>
        </p:spPr>
      </p:cxnSp>
      <p:sp>
        <p:nvSpPr>
          <p:cNvPr id="17" name="Rectangle 16"/>
          <p:cNvSpPr/>
          <p:nvPr/>
        </p:nvSpPr>
        <p:spPr>
          <a:xfrm>
            <a:off x="6725517" y="3363791"/>
            <a:ext cx="1286048" cy="278099"/>
          </a:xfrm>
          <a:prstGeom prst="rect">
            <a:avLst/>
          </a:prstGeom>
          <a:noFill/>
          <a:ln w="44450">
            <a:solidFill>
              <a:srgbClr val="1F5FAD"/>
            </a:solidFill>
          </a:ln>
        </p:spPr>
        <p:txBody>
          <a:bodyPr rtlCol="0" anchor="ctr"/>
          <a:lstStyle/>
          <a:p>
            <a:pPr algn="ctr"/>
          </a:p>
        </p:txBody>
      </p:sp>
      <p:sp>
        <p:nvSpPr>
          <p:cNvPr id="18" name="Oval 17"/>
          <p:cNvSpPr/>
          <p:nvPr/>
        </p:nvSpPr>
        <p:spPr>
          <a:xfrm>
            <a:off x="6570069" y="404264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348852" y="391091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570069" y="3208343"/>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5067058"/>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6.27 -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 showed the same thing and called it price-based volume.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6.28, 3M: the longest sideways bars, bracketed, $77 to $86 </a:t>
            </a:r>
            <a:r>
              <a:rPr sz="1800" b="1" i="0">
                <a:solidFill>
                  <a:srgbClr val="E09B00"/>
                </a:solidFill>
                <a:latin typeface="Arial"/>
              </a:rPr>
              <a:t>(1)</a:t>
            </a:r>
            <a:r>
              <a:rPr sz="1800" b="0" i="0">
                <a:solidFill>
                  <a:srgbClr val="1A1A1A"/>
                </a:solidFill>
                <a:latin typeface="Arial"/>
              </a:rPr>
              <a:t>: the most traded range, more shares than at any other price.</a:t>
            </a:r>
          </a:p>
          <a:p>
            <a:pPr algn="l">
              <a:lnSpc>
                <a:spcPct val="105000"/>
              </a:lnSpc>
              <a:spcBef>
                <a:spcPts val="0"/>
              </a:spcBef>
              <a:spcAft>
                <a:spcPts val="1100"/>
              </a:spcAft>
            </a:pPr>
            <a:r>
              <a:rPr sz="1800" b="0" i="0">
                <a:solidFill>
                  <a:srgbClr val="1A1A1A"/>
                </a:solidFill>
                <a:latin typeface="Arial"/>
              </a:rPr>
              <a:t>With 3M last at about $88 </a:t>
            </a:r>
            <a:r>
              <a:rPr sz="1800" b="1" i="0">
                <a:solidFill>
                  <a:srgbClr val="C62828"/>
                </a:solidFill>
                <a:latin typeface="Arial"/>
              </a:rPr>
              <a:t>(2)</a:t>
            </a:r>
            <a:r>
              <a:rPr sz="1800" b="0" i="0">
                <a:solidFill>
                  <a:srgbClr val="1A1A1A"/>
                </a:solidFill>
                <a:latin typeface="Arial"/>
              </a:rPr>
              <a:t>, $77 to $86 lies below: potential support, the figure's label. $90 to $92 above </a:t>
            </a:r>
            <a:r>
              <a:rPr sz="1800" b="1" i="0">
                <a:solidFill>
                  <a:srgbClr val="1F5FAD"/>
                </a:solidFill>
                <a:latin typeface="Arial"/>
              </a:rPr>
              <a:t>(3)</a:t>
            </a:r>
            <a:r>
              <a:rPr sz="1800" b="0" i="0">
                <a:solidFill>
                  <a:srgbClr val="1A1A1A"/>
                </a:solidFill>
                <a:latin typeface="Arial"/>
              </a:rPr>
              <a:t>: some resistance, says the book, not how it was found.</a:t>
            </a:r>
          </a:p>
        </p:txBody>
      </p:sp>
      <p:sp>
        <p:nvSpPr>
          <p:cNvPr id="8" name="Rectangle 7"/>
          <p:cNvSpPr/>
          <p:nvPr/>
        </p:nvSpPr>
        <p:spPr>
          <a:xfrm>
            <a:off x="777240" y="480060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3717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These price ranges are potential future support and resistance levels.</a:t>
            </a:r>
          </a:p>
        </p:txBody>
      </p:sp>
      <p:sp>
        <p:nvSpPr>
          <p:cNvPr id="10" name="Rectangle 9"/>
          <p:cNvSpPr/>
          <p:nvPr/>
        </p:nvSpPr>
        <p:spPr>
          <a:xfrm>
            <a:off x="6217919" y="1810512"/>
            <a:ext cx="5196535" cy="238973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15198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16947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300" b="0" i="0">
                <a:solidFill>
                  <a:srgbClr val="1A1A1A"/>
                </a:solidFill>
                <a:latin typeface="Palatino"/>
              </a:rPr>
              <a:t>The price panel of the daily chart of 3M with volume by price as horizontal bars, the longest bracketed between about $77 and $86 and labelled maximum capital commitment in this range, an important support zone in the future; 3M last at about $88.</a:t>
            </a:r>
          </a:p>
        </p:txBody>
      </p:sp>
      <p:sp>
        <p:nvSpPr>
          <p:cNvPr id="14" name="Rectangle 13"/>
          <p:cNvSpPr/>
          <p:nvPr/>
        </p:nvSpPr>
        <p:spPr>
          <a:xfrm>
            <a:off x="6361585" y="2852586"/>
            <a:ext cx="2305837" cy="583188"/>
          </a:xfrm>
          <a:prstGeom prst="rect">
            <a:avLst/>
          </a:prstGeom>
          <a:noFill/>
          <a:ln w="44450">
            <a:solidFill>
              <a:srgbClr val="E09B00"/>
            </a:solidFill>
          </a:ln>
        </p:spPr>
        <p:txBody>
          <a:bodyPr rtlCol="0" anchor="ctr"/>
          <a:lstStyle/>
          <a:p>
            <a:pPr algn="ctr"/>
          </a:p>
        </p:txBody>
      </p:sp>
      <p:sp>
        <p:nvSpPr>
          <p:cNvPr id="15" name="Oval 14"/>
          <p:cNvSpPr/>
          <p:nvPr/>
        </p:nvSpPr>
        <p:spPr>
          <a:xfrm>
            <a:off x="10725322" y="2652451"/>
            <a:ext cx="347115" cy="230262"/>
          </a:xfrm>
          <a:prstGeom prst="ellipse">
            <a:avLst/>
          </a:prstGeom>
          <a:noFill/>
          <a:ln w="44450">
            <a:solidFill>
              <a:srgbClr val="C62828"/>
            </a:solidFill>
          </a:ln>
        </p:spPr>
        <p:txBody>
          <a:bodyPr rtlCol="0" anchor="ctr"/>
          <a:lstStyle/>
          <a:p>
            <a:pPr algn="ctr"/>
          </a:p>
        </p:txBody>
      </p:sp>
      <p:sp>
        <p:nvSpPr>
          <p:cNvPr id="16" name="Rectangle 15"/>
          <p:cNvSpPr/>
          <p:nvPr/>
        </p:nvSpPr>
        <p:spPr>
          <a:xfrm>
            <a:off x="6361585" y="2404972"/>
            <a:ext cx="1710782" cy="215198"/>
          </a:xfrm>
          <a:prstGeom prst="rect">
            <a:avLst/>
          </a:prstGeom>
          <a:noFill/>
          <a:ln w="44450">
            <a:solidFill>
              <a:srgbClr val="1F5FAD"/>
            </a:solidFill>
          </a:ln>
        </p:spPr>
        <p:txBody>
          <a:bodyPr rtlCol="0" anchor="ctr"/>
          <a:lstStyle/>
          <a:p>
            <a:pPr algn="ctr"/>
          </a:p>
        </p:txBody>
      </p:sp>
      <p:sp>
        <p:nvSpPr>
          <p:cNvPr id="17" name="Oval 16"/>
          <p:cNvSpPr/>
          <p:nvPr/>
        </p:nvSpPr>
        <p:spPr>
          <a:xfrm>
            <a:off x="6206137" y="269713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098788" y="269713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06137" y="2249524"/>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217919" y="429168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volume panel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figure's own lines carry Part 1's names.</a:t>
            </a:r>
          </a:p>
          <a:p>
            <a:pPr algn="l">
              <a:lnSpc>
                <a:spcPct val="105000"/>
              </a:lnSpc>
              <a:spcBef>
                <a:spcPts val="0"/>
              </a:spcBef>
              <a:spcAft>
                <a:spcPts val="1100"/>
              </a:spcAft>
            </a:pPr>
            <a:r>
              <a:rPr sz="2000" b="0" i="0">
                <a:solidFill>
                  <a:srgbClr val="1A1A1A"/>
                </a:solidFill>
                <a:latin typeface="Arial"/>
              </a:rPr>
              <a:t>Bearish confirmation </a:t>
            </a:r>
            <a:r>
              <a:rPr sz="2000" b="1" i="0">
                <a:solidFill>
                  <a:srgbClr val="E09B00"/>
                </a:solidFill>
                <a:latin typeface="Arial"/>
              </a:rPr>
              <a:t>(4)</a:t>
            </a:r>
            <a:r>
              <a:rPr sz="2000" b="0" i="0">
                <a:solidFill>
                  <a:srgbClr val="1A1A1A"/>
                </a:solidFill>
                <a:latin typeface="Arial"/>
              </a:rPr>
              <a:t>: price falling, May to October, on rising volume.</a:t>
            </a:r>
          </a:p>
          <a:p>
            <a:pPr algn="l">
              <a:lnSpc>
                <a:spcPct val="105000"/>
              </a:lnSpc>
              <a:spcBef>
                <a:spcPts val="0"/>
              </a:spcBef>
              <a:spcAft>
                <a:spcPts val="1100"/>
              </a:spcAft>
            </a:pPr>
            <a:r>
              <a:rPr sz="2000" b="0" i="0">
                <a:solidFill>
                  <a:srgbClr val="1A1A1A"/>
                </a:solidFill>
                <a:latin typeface="Arial"/>
              </a:rPr>
              <a:t>Bearish divergence </a:t>
            </a:r>
            <a:r>
              <a:rPr sz="2000" b="1" i="0">
                <a:solidFill>
                  <a:srgbClr val="C62828"/>
                </a:solidFill>
                <a:latin typeface="Arial"/>
              </a:rPr>
              <a:t>(5)</a:t>
            </a:r>
            <a:r>
              <a:rPr sz="2000" b="0" i="0">
                <a:solidFill>
                  <a:srgbClr val="1A1A1A"/>
                </a:solidFill>
                <a:latin typeface="Arial"/>
              </a:rPr>
              <a:t>: price rising, November to February, on falling volume.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read against price, as in Part 1, on the same chart.</a:t>
            </a:r>
          </a:p>
        </p:txBody>
      </p:sp>
      <p:sp>
        <p:nvSpPr>
          <p:cNvPr id="10" name="Rectangle 9"/>
          <p:cNvSpPr/>
          <p:nvPr/>
        </p:nvSpPr>
        <p:spPr>
          <a:xfrm>
            <a:off x="6683548" y="1810512"/>
            <a:ext cx="4265278" cy="37490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02420" y="1929384"/>
            <a:ext cx="402753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02420" y="1929384"/>
            <a:ext cx="402753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76740" y="2203703"/>
            <a:ext cx="347889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6.28</a:t>
            </a:r>
          </a:p>
          <a:p>
            <a:pPr algn="l">
              <a:lnSpc>
                <a:spcPct val="115000"/>
              </a:lnSpc>
              <a:spcBef>
                <a:spcPts val="0"/>
              </a:spcBef>
              <a:spcAft>
                <a:spcPts val="0"/>
              </a:spcAft>
            </a:pPr>
            <a:r>
              <a:rPr sz="1500" b="0" i="0">
                <a:solidFill>
                  <a:srgbClr val="1A1A1A"/>
                </a:solidFill>
                <a:latin typeface="Palatino"/>
              </a:rPr>
              <a:t>The daily chart of 3M from May 2011 to February 2012: a falling price line with a rising volume line under it, labelled bearish confirmation, then a rising price line with a falling volume line under it, labelled bearish divergence.</a:t>
            </a:r>
          </a:p>
        </p:txBody>
      </p:sp>
      <p:cxnSp>
        <p:nvCxnSpPr>
          <p:cNvPr id="14" name="Connector 13"/>
          <p:cNvCxnSpPr/>
          <p:nvPr/>
        </p:nvCxnSpPr>
        <p:spPr>
          <a:xfrm flipV="1">
            <a:off x="6822557" y="4464539"/>
            <a:ext cx="1900997" cy="312506"/>
          </a:xfrm>
          <a:prstGeom prst="line">
            <a:avLst/>
          </a:prstGeom>
          <a:ln w="44450">
            <a:solidFill>
              <a:srgbClr val="E09B00"/>
            </a:solidFill>
          </a:ln>
        </p:spPr>
      </p:cxnSp>
      <p:cxnSp>
        <p:nvCxnSpPr>
          <p:cNvPr id="15" name="Connector 14"/>
          <p:cNvCxnSpPr/>
          <p:nvPr/>
        </p:nvCxnSpPr>
        <p:spPr>
          <a:xfrm>
            <a:off x="9065894" y="4524231"/>
            <a:ext cx="1325059" cy="488070"/>
          </a:xfrm>
          <a:prstGeom prst="line">
            <a:avLst/>
          </a:prstGeom>
          <a:ln w="44450">
            <a:solidFill>
              <a:srgbClr val="C62828"/>
            </a:solidFill>
          </a:ln>
        </p:spPr>
      </p:cxnSp>
      <p:sp>
        <p:nvSpPr>
          <p:cNvPr id="16" name="Oval 15"/>
          <p:cNvSpPr/>
          <p:nvPr/>
        </p:nvSpPr>
        <p:spPr>
          <a:xfrm>
            <a:off x="6667109" y="462159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Oval 16"/>
          <p:cNvSpPr/>
          <p:nvPr/>
        </p:nvSpPr>
        <p:spPr>
          <a:xfrm>
            <a:off x="8910446" y="436878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8" name="TextBox 17"/>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 Confirmation and divergence: Part 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27 of 29</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Largest volume by price range: ours, PHP 48 to 50.</a:t>
            </a:r>
          </a:p>
          <a:p>
            <a:pPr algn="l">
              <a:lnSpc>
                <a:spcPct val="105000"/>
              </a:lnSpc>
              <a:spcBef>
                <a:spcPts val="0"/>
              </a:spcBef>
              <a:spcAft>
                <a:spcPts val="1100"/>
              </a:spcAft>
            </a:pPr>
            <a:r>
              <a:rPr sz="17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7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7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57424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a:t>
            </a:r>
          </a:p>
        </p:txBody>
      </p:sp>
      <p:sp>
        <p:nvSpPr>
          <p:cNvPr id="10" name="TextBox 9"/>
          <p:cNvSpPr txBox="1"/>
          <p:nvPr/>
        </p:nvSpPr>
        <p:spPr>
          <a:xfrm>
            <a:off x="777240" y="5625846"/>
            <a:ext cx="60350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7252563" y="1929384"/>
            <a:ext cx="4041648" cy="3511296"/>
          </a:xfrm>
          <a:prstGeom prst="rect">
            <a:avLst/>
          </a:prstGeom>
        </p:spPr>
      </p:pic>
      <p:sp>
        <p:nvSpPr>
          <p:cNvPr id="13" name="TextBox 12"/>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Support at PHP 47.50: price turned up near it twice, at 1, PHP 47.40, and 2, PHP 47.50.</a:t>
            </a:r>
          </a:p>
          <a:p>
            <a:pPr algn="l">
              <a:lnSpc>
                <a:spcPct val="105000"/>
              </a:lnSpc>
              <a:spcBef>
                <a:spcPts val="0"/>
              </a:spcBef>
              <a:spcAft>
                <a:spcPts val="1100"/>
              </a:spcAft>
            </a:pPr>
            <a:r>
              <a:rPr sz="1900" b="0" i="0">
                <a:solidFill>
                  <a:srgbClr val="1A1A1A"/>
                </a:solidFill>
                <a:latin typeface="Arial"/>
              </a:rPr>
              <a:t>Resistance at PHP 50.80: price turned down near it twice, at 3, PHP 50.90, and 4, PHP 50.80, then broke above it and rose to about PHP 58.60, at 5.</a:t>
            </a:r>
          </a:p>
        </p:txBody>
      </p:sp>
      <p:sp>
        <p:nvSpPr>
          <p:cNvPr id="8" name="Rectangle 7"/>
          <p:cNvSpPr/>
          <p:nvPr/>
        </p:nvSpPr>
        <p:spPr>
          <a:xfrm>
            <a:off x="777240" y="4320540"/>
            <a:ext cx="82296" cy="13655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57116"/>
            <a:ext cx="5193792" cy="13655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Potential levels, the book says, not certain ones: ours held twice, then broke. It does not say what a break means.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g.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$74 to $80: the book's largest volume by price range, the dark sideways bars.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The dark columns, where volume reaches the dotted overextended volume level (Part 2), cross it in two white boxes, </a:t>
            </a:r>
            <a:r>
              <a:rPr sz="1700" b="1" i="0">
                <a:solidFill>
                  <a:srgbClr val="1F5FAD"/>
                </a:solidFill>
                <a:latin typeface="Arial"/>
              </a:rPr>
              <a:t>(3)</a:t>
            </a:r>
            <a:r>
              <a:rPr sz="1700" b="0" i="0">
                <a:solidFill>
                  <a:srgbClr val="1A1A1A"/>
                </a:solidFill>
                <a:latin typeface="Arial"/>
              </a:rPr>
              <a:t> and </a:t>
            </a:r>
            <a:r>
              <a:rPr sz="1700" b="1" i="0">
                <a:solidFill>
                  <a:srgbClr val="7B3FA0"/>
                </a:solidFill>
                <a:latin typeface="Arial"/>
              </a:rPr>
              <a:t>(5)</a:t>
            </a:r>
            <a:r>
              <a:rPr sz="1700" b="0" i="0">
                <a:solidFill>
                  <a:srgbClr val="1A1A1A"/>
                </a:solidFill>
                <a:latin typeface="Arial"/>
              </a:rPr>
              <a:t>.</a:t>
            </a:r>
          </a:p>
          <a:p>
            <a:pPr algn="l">
              <a:lnSpc>
                <a:spcPct val="105000"/>
              </a:lnSpc>
              <a:spcBef>
                <a:spcPts val="0"/>
              </a:spcBef>
              <a:spcAft>
                <a:spcPts val="1100"/>
              </a:spcAft>
            </a:pPr>
            <a:r>
              <a:rPr sz="1700" b="1" i="0">
                <a:solidFill>
                  <a:srgbClr val="007A33"/>
                </a:solidFill>
                <a:latin typeface="Arial"/>
              </a:rPr>
              <a:t>(4)</a:t>
            </a:r>
            <a:r>
              <a:rPr sz="1700" b="0" i="0">
                <a:solidFill>
                  <a:srgbClr val="1A1A1A"/>
                </a:solidFill>
                <a:latin typeface="Arial"/>
              </a:rPr>
              <a:t>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page earlier the book gave 3M's most traded range as $77 to $86. It does not say why they differ.</a:t>
            </a:r>
          </a:p>
        </p:txBody>
      </p:sp>
      <p:sp>
        <p:nvSpPr>
          <p:cNvPr id="11" name="Rectangle 10"/>
          <p:cNvSpPr/>
          <p:nvPr/>
        </p:nvSpPr>
        <p:spPr>
          <a:xfrm>
            <a:off x="6217919" y="1810512"/>
            <a:ext cx="5196535" cy="3232183"/>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94439"/>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3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6.29</a:t>
            </a:r>
          </a:p>
          <a:p>
            <a:pPr algn="l">
              <a:lnSpc>
                <a:spcPct val="115000"/>
              </a:lnSpc>
              <a:spcBef>
                <a:spcPts val="0"/>
              </a:spcBef>
              <a:spcAft>
                <a:spcPts val="0"/>
              </a:spcAft>
            </a:pPr>
            <a:r>
              <a:rPr sz="15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p:txBody>
      </p:sp>
      <p:sp>
        <p:nvSpPr>
          <p:cNvPr id="15" name="Rectangle 14"/>
          <p:cNvSpPr/>
          <p:nvPr/>
        </p:nvSpPr>
        <p:spPr>
          <a:xfrm>
            <a:off x="6361585" y="2917548"/>
            <a:ext cx="2206661" cy="509054"/>
          </a:xfrm>
          <a:prstGeom prst="rect">
            <a:avLst/>
          </a:prstGeom>
          <a:noFill/>
          <a:ln w="44450">
            <a:solidFill>
              <a:srgbClr val="E09B00"/>
            </a:solidFill>
          </a:ln>
        </p:spPr>
        <p:txBody>
          <a:bodyPr rtlCol="0" anchor="ctr"/>
          <a:lstStyle/>
          <a:p>
            <a:pPr algn="ctr"/>
          </a:p>
        </p:txBody>
      </p:sp>
      <p:sp>
        <p:nvSpPr>
          <p:cNvPr id="16" name="Rectangle 15"/>
          <p:cNvSpPr/>
          <p:nvPr/>
        </p:nvSpPr>
        <p:spPr>
          <a:xfrm>
            <a:off x="9088921" y="4205157"/>
            <a:ext cx="1041346" cy="628832"/>
          </a:xfrm>
          <a:prstGeom prst="rect">
            <a:avLst/>
          </a:prstGeom>
          <a:noFill/>
          <a:ln w="44450">
            <a:solidFill>
              <a:srgbClr val="C62828"/>
            </a:solidFill>
          </a:ln>
        </p:spPr>
        <p:txBody>
          <a:bodyPr rtlCol="0" anchor="ctr"/>
          <a:lstStyle/>
          <a:p>
            <a:pPr algn="ctr"/>
          </a:p>
        </p:txBody>
      </p:sp>
      <p:sp>
        <p:nvSpPr>
          <p:cNvPr id="17" name="Rectangle 16"/>
          <p:cNvSpPr/>
          <p:nvPr/>
        </p:nvSpPr>
        <p:spPr>
          <a:xfrm>
            <a:off x="9113714" y="3037326"/>
            <a:ext cx="247939" cy="389277"/>
          </a:xfrm>
          <a:prstGeom prst="rect">
            <a:avLst/>
          </a:prstGeom>
          <a:noFill/>
          <a:ln w="44450">
            <a:solidFill>
              <a:srgbClr val="1F5FAD"/>
            </a:solidFill>
          </a:ln>
        </p:spPr>
        <p:txBody>
          <a:bodyPr rtlCol="0" anchor="ctr"/>
          <a:lstStyle/>
          <a:p>
            <a:pPr algn="ctr"/>
          </a:p>
        </p:txBody>
      </p:sp>
      <p:sp>
        <p:nvSpPr>
          <p:cNvPr id="18" name="Rectangle 17"/>
          <p:cNvSpPr/>
          <p:nvPr/>
        </p:nvSpPr>
        <p:spPr>
          <a:xfrm>
            <a:off x="9807945" y="3037326"/>
            <a:ext cx="247939" cy="389277"/>
          </a:xfrm>
          <a:prstGeom prst="rect">
            <a:avLst/>
          </a:prstGeom>
          <a:noFill/>
          <a:ln w="44450">
            <a:solidFill>
              <a:srgbClr val="7B3FA0"/>
            </a:solidFill>
          </a:ln>
        </p:spPr>
        <p:txBody>
          <a:bodyPr rtlCol="0" anchor="ctr"/>
          <a:lstStyle/>
          <a:p>
            <a:pPr algn="ctr"/>
          </a:p>
        </p:txBody>
      </p:sp>
      <p:sp>
        <p:nvSpPr>
          <p:cNvPr id="19" name="Rectangle 18"/>
          <p:cNvSpPr/>
          <p:nvPr/>
        </p:nvSpPr>
        <p:spPr>
          <a:xfrm>
            <a:off x="10254236" y="2977437"/>
            <a:ext cx="768612" cy="628832"/>
          </a:xfrm>
          <a:prstGeom prst="rect">
            <a:avLst/>
          </a:prstGeom>
          <a:noFill/>
          <a:ln w="44450">
            <a:solidFill>
              <a:srgbClr val="007A33"/>
            </a:solidFill>
          </a:ln>
        </p:spPr>
        <p:txBody>
          <a:bodyPr rtlCol="0" anchor="ctr"/>
          <a:lstStyle/>
          <a:p>
            <a:pPr algn="ctr"/>
          </a:p>
        </p:txBody>
      </p:sp>
      <p:sp>
        <p:nvSpPr>
          <p:cNvPr id="20" name="Oval 19"/>
          <p:cNvSpPr/>
          <p:nvPr/>
        </p:nvSpPr>
        <p:spPr>
          <a:xfrm>
            <a:off x="6206137" y="27621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9404558" y="404970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9082236" y="2762100"/>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9776467" y="2762100"/>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Oval 23"/>
          <p:cNvSpPr/>
          <p:nvPr/>
        </p:nvSpPr>
        <p:spPr>
          <a:xfrm>
            <a:off x="10098788" y="2821989"/>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5" name="TextBox 24"/>
          <p:cNvSpPr txBox="1"/>
          <p:nvPr/>
        </p:nvSpPr>
        <p:spPr>
          <a:xfrm>
            <a:off x="6217919" y="513413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26" name="TextBox 25"/>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as an empty box, the range, over a black box, the volume.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short range, low volume; </a:t>
            </a:r>
            <a:r>
              <a:rPr sz="1700" b="1" i="0">
                <a:solidFill>
                  <a:srgbClr val="C62828"/>
                </a:solidFill>
                <a:latin typeface="Arial"/>
              </a:rPr>
              <a:t>(2)</a:t>
            </a:r>
            <a:r>
              <a:rPr sz="1700" b="0" i="0">
                <a:solidFill>
                  <a:srgbClr val="1A1A1A"/>
                </a:solidFill>
                <a:latin typeface="Arial"/>
              </a:rPr>
              <a:t> short, high; </a:t>
            </a:r>
            <a:r>
              <a:rPr sz="1700" b="1" i="0">
                <a:solidFill>
                  <a:srgbClr val="1F5FAD"/>
                </a:solidFill>
                <a:latin typeface="Arial"/>
              </a:rPr>
              <a:t>(3)</a:t>
            </a:r>
            <a:r>
              <a:rPr sz="1700" b="0" i="0">
                <a:solidFill>
                  <a:srgbClr val="1A1A1A"/>
                </a:solidFill>
                <a:latin typeface="Arial"/>
              </a:rPr>
              <a:t> tall, low; </a:t>
            </a:r>
            <a:r>
              <a:rPr sz="1700" b="1" i="0">
                <a:solidFill>
                  <a:srgbClr val="007A33"/>
                </a:solidFill>
                <a:latin typeface="Arial"/>
              </a:rPr>
              <a:t>(4)</a:t>
            </a:r>
            <a:r>
              <a:rPr sz="1700" b="0" i="0">
                <a:solidFill>
                  <a:srgbClr val="1A1A1A"/>
                </a:solidFill>
                <a:latin typeface="Arial"/>
              </a:rPr>
              <a:t>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0596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982712" y="1929384"/>
            <a:ext cx="3312870" cy="282186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982712" y="1929384"/>
            <a:ext cx="3312870"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257032" y="2203703"/>
            <a:ext cx="2764230" cy="236466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6.30</a:t>
            </a:r>
          </a:p>
          <a:p>
            <a:pPr algn="l">
              <a:lnSpc>
                <a:spcPct val="115000"/>
              </a:lnSpc>
              <a:spcBef>
                <a:spcPts val="0"/>
              </a:spcBef>
              <a:spcAft>
                <a:spcPts val="0"/>
              </a:spcAft>
            </a:pPr>
            <a:r>
              <a:rPr sz="1500" b="0" i="0">
                <a:solidFill>
                  <a:srgbClr val="1A1A1A"/>
                </a:solidFill>
                <a:latin typeface="Palatino"/>
              </a:rPr>
              <a:t>Four numbered pairs: an empty box for the bar range over a black box for the volume. 1 short on low, 2 short on high, 3 tall on low, 4 tall on high.</a:t>
            </a:r>
          </a:p>
        </p:txBody>
      </p:sp>
      <p:cxnSp>
        <p:nvCxnSpPr>
          <p:cNvPr id="14" name="Connector 13"/>
          <p:cNvCxnSpPr/>
          <p:nvPr/>
        </p:nvCxnSpPr>
        <p:spPr>
          <a:xfrm>
            <a:off x="9075959" y="2550194"/>
            <a:ext cx="0" cy="1805994"/>
          </a:xfrm>
          <a:prstGeom prst="line">
            <a:avLst/>
          </a:prstGeom>
          <a:ln w="44450">
            <a:solidFill>
              <a:srgbClr val="E09B00"/>
            </a:solidFill>
          </a:ln>
        </p:spPr>
      </p:cxnSp>
      <p:cxnSp>
        <p:nvCxnSpPr>
          <p:cNvPr id="15" name="Connector 14"/>
          <p:cNvCxnSpPr/>
          <p:nvPr/>
        </p:nvCxnSpPr>
        <p:spPr>
          <a:xfrm>
            <a:off x="9705404" y="2550194"/>
            <a:ext cx="0" cy="1805994"/>
          </a:xfrm>
          <a:prstGeom prst="line">
            <a:avLst/>
          </a:prstGeom>
          <a:ln w="44450">
            <a:solidFill>
              <a:srgbClr val="C62828"/>
            </a:solidFill>
          </a:ln>
        </p:spPr>
      </p:cxnSp>
      <p:cxnSp>
        <p:nvCxnSpPr>
          <p:cNvPr id="16" name="Connector 15"/>
          <p:cNvCxnSpPr/>
          <p:nvPr/>
        </p:nvCxnSpPr>
        <p:spPr>
          <a:xfrm>
            <a:off x="10334850" y="1985821"/>
            <a:ext cx="0" cy="2370367"/>
          </a:xfrm>
          <a:prstGeom prst="line">
            <a:avLst/>
          </a:prstGeom>
          <a:ln w="44450">
            <a:solidFill>
              <a:srgbClr val="1F5FAD"/>
            </a:solidFill>
          </a:ln>
        </p:spPr>
      </p:cxnSp>
      <p:cxnSp>
        <p:nvCxnSpPr>
          <p:cNvPr id="17" name="Connector 16"/>
          <p:cNvCxnSpPr/>
          <p:nvPr/>
        </p:nvCxnSpPr>
        <p:spPr>
          <a:xfrm>
            <a:off x="10964295" y="1985821"/>
            <a:ext cx="0" cy="2370367"/>
          </a:xfrm>
          <a:prstGeom prst="line">
            <a:avLst/>
          </a:prstGeom>
          <a:ln w="44450">
            <a:solidFill>
              <a:srgbClr val="007A33"/>
            </a:solidFill>
          </a:ln>
        </p:spPr>
      </p:cxnSp>
      <p:sp>
        <p:nvSpPr>
          <p:cNvPr id="18" name="Oval 17"/>
          <p:cNvSpPr/>
          <p:nvPr/>
        </p:nvSpPr>
        <p:spPr>
          <a:xfrm>
            <a:off x="8920511" y="33259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9549956" y="332596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179402" y="332596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808847" y="332596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7863840" y="496156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