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 Every other idea here gets its own slide when its part comes.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volume-weighted moving average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Arms Index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is regarded as the best indicator of future price. Volume and open interest are extra evidence: they back up, or corroborate, a setup, show weakness, time breakouts.</a:t>
            </a:r>
          </a:p>
          <a:p>
            <a:pPr algn="l">
              <a:lnSpc>
                <a:spcPct val="105000"/>
              </a:lnSpc>
              <a:spcBef>
                <a:spcPts val="0"/>
              </a:spcBef>
              <a:spcAft>
                <a:spcPts val="1100"/>
              </a:spcAft>
            </a:pPr>
            <a:r>
              <a:rPr sz="1800" b="0" i="0">
                <a:solidFill>
                  <a:srgbClr val="1A1A1A"/>
                </a:solidFill>
                <a:latin typeface="Arial"/>
              </a:rPr>
              <a:t>Chart A, ours: every chart today has price bars on top, one volume bar under each. Day 40: PHP 52.40, 2.4 million shares.</a:t>
            </a:r>
          </a:p>
        </p:txBody>
      </p:sp>
      <p:sp>
        <p:nvSpPr>
          <p:cNvPr id="8" name="Rectangle 7"/>
          <p:cNvSpPr/>
          <p:nvPr/>
        </p:nvSpPr>
        <p:spPr>
          <a:xfrm>
            <a:off x="777240" y="451256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Novices misread falling volume in a consolidation as weakness: it times the breakout.</a:t>
            </a:r>
          </a:p>
        </p:txBody>
      </p:sp>
      <p:sp>
        <p:nvSpPr>
          <p:cNvPr id="10" name="TextBox 9"/>
          <p:cNvSpPr txBox="1"/>
          <p:nvPr/>
        </p:nvSpPr>
        <p:spPr>
          <a:xfrm>
            <a:off x="777240" y="572871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Part 2. Volume: defined below. Open interest: Part 4.</a:t>
            </a:r>
          </a:p>
        </p:txBody>
      </p:sp>
      <p:sp>
        <p:nvSpPr>
          <p:cNvPr id="11" name="Rectangle 10"/>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703923" y="1929384"/>
            <a:ext cx="4590288" cy="3511296"/>
          </a:xfrm>
          <a:prstGeom prst="rect">
            <a:avLst/>
          </a:prstGeom>
        </p:spPr>
      </p:pic>
      <p:sp>
        <p:nvSpPr>
          <p:cNvPr id="13" name="TextBox 12"/>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Dow Theory: volume should expand in the direction of the trend. Big on moves with the trend, small on retracements, the moves against it.</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volume rises as price rises, falls on the dips: bullish volume action, the book says.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volume rises as price falls, falls on the bounces: bearish volume action.</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confirm their trend. Numbers on the next slide.</a:t>
            </a:r>
          </a:p>
        </p:txBody>
      </p:sp>
      <p:sp>
        <p:nvSpPr>
          <p:cNvPr id="10" name="TextBox 9"/>
          <p:cNvSpPr txBox="1"/>
          <p:nvPr/>
        </p:nvSpPr>
        <p:spPr>
          <a:xfrm>
            <a:off x="777240" y="546125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is a supporting, or secondary, indicator. Volume doing the opposite: an uptrend may be bearish, a downtrend bullish.</a:t>
            </a:r>
          </a:p>
        </p:txBody>
      </p:sp>
      <p:sp>
        <p:nvSpPr>
          <p:cNvPr id="11" name="Rectangle 10"/>
          <p:cNvSpPr/>
          <p:nvPr/>
        </p:nvSpPr>
        <p:spPr>
          <a:xfrm>
            <a:off x="6766559" y="1810512"/>
            <a:ext cx="4647894" cy="3528901"/>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291157"/>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833957"/>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a:t>
            </a:r>
          </a:p>
          <a:p>
            <a:pPr algn="l">
              <a:lnSpc>
                <a:spcPct val="115000"/>
              </a:lnSpc>
              <a:spcBef>
                <a:spcPts val="0"/>
              </a:spcBef>
              <a:spcAft>
                <a:spcPts val="0"/>
              </a:spcAft>
            </a:pPr>
            <a:r>
              <a:rPr sz="15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p:txBody>
      </p:sp>
      <p:sp>
        <p:nvSpPr>
          <p:cNvPr id="15" name="Rectangle 14"/>
          <p:cNvSpPr/>
          <p:nvPr/>
        </p:nvSpPr>
        <p:spPr>
          <a:xfrm>
            <a:off x="7683669" y="2281537"/>
            <a:ext cx="2178614" cy="684560"/>
          </a:xfrm>
          <a:prstGeom prst="rect">
            <a:avLst/>
          </a:prstGeom>
          <a:noFill/>
          <a:ln w="44450">
            <a:solidFill>
              <a:srgbClr val="E09B00"/>
            </a:solidFill>
          </a:ln>
        </p:spPr>
        <p:txBody>
          <a:bodyPr rtlCol="0" anchor="ctr"/>
          <a:lstStyle/>
          <a:p>
            <a:pPr algn="ctr"/>
          </a:p>
        </p:txBody>
      </p:sp>
      <p:sp>
        <p:nvSpPr>
          <p:cNvPr id="16" name="Rectangle 15"/>
          <p:cNvSpPr/>
          <p:nvPr/>
        </p:nvSpPr>
        <p:spPr>
          <a:xfrm>
            <a:off x="7683669" y="4522816"/>
            <a:ext cx="2209485" cy="638484"/>
          </a:xfrm>
          <a:prstGeom prst="rect">
            <a:avLst/>
          </a:prstGeom>
          <a:noFill/>
          <a:ln w="44450">
            <a:solidFill>
              <a:srgbClr val="C62828"/>
            </a:solidFill>
          </a:ln>
        </p:spPr>
        <p:txBody>
          <a:bodyPr rtlCol="0" anchor="ctr"/>
          <a:lstStyle/>
          <a:p>
            <a:pPr algn="ctr"/>
          </a:p>
        </p:txBody>
      </p:sp>
      <p:sp>
        <p:nvSpPr>
          <p:cNvPr id="17" name="Oval 16"/>
          <p:cNvSpPr/>
          <p:nvPr/>
        </p:nvSpPr>
        <p:spPr>
          <a:xfrm>
            <a:off x="9706835" y="281065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9737706" y="49334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766559" y="5430853"/>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tenet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Uptrend, ours: price climbs PHP 40 to 46 as volume grows from 2 to 4 million shares a day, then dips to 44 on 1 million. Confirmed.</a:t>
            </a:r>
          </a:p>
          <a:p>
            <a:pPr algn="l">
              <a:lnSpc>
                <a:spcPct val="118000"/>
              </a:lnSpc>
              <a:spcBef>
                <a:spcPts val="0"/>
              </a:spcBef>
              <a:spcAft>
                <a:spcPts val="1300"/>
              </a:spcAft>
            </a:pPr>
            <a:r>
              <a:rPr sz="2100" b="0" i="0">
                <a:solidFill>
                  <a:srgbClr val="1A1A1A"/>
                </a:solidFill>
                <a:latin typeface="Arial"/>
              </a:rPr>
              <a:t>Downtrend, ours: price falls PHP 50 to 46 as volume grows from 2 to 4 million a day, then bounces to 48 on 1 million. Confirmed.</a:t>
            </a:r>
          </a:p>
          <a:p>
            <a:pPr algn="l">
              <a:lnSpc>
                <a:spcPct val="118000"/>
              </a:lnSpc>
              <a:spcBef>
                <a:spcPts val="0"/>
              </a:spcBef>
              <a:spcAft>
                <a:spcPts val="1300"/>
              </a:spcAft>
            </a:pPr>
            <a:r>
              <a:rPr sz="2100" b="0" i="0">
                <a:solidFill>
                  <a:srgbClr val="1A1A1A"/>
                </a:solidFill>
                <a:latin typeface="Arial"/>
              </a:rPr>
              <a:t>Same pattern, big with the trend and small against it, but two names. Uptrend: price and volume move the same way, bullish. Downtrend: opposite ways, bearish.</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here is not a warning. It is volume backing a fall.</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Why opposite ways is called bearish: the term Bullish volume and bearish volume, and the slide after it.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states the tenet and its two names. The prices and share counts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29</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Rising volume: more want price to keep going the trend's way, and will buy higher in an uptrend or sell lower in a downtrend.</a:t>
            </a:r>
          </a:p>
          <a:p>
            <a:pPr algn="l">
              <a:lnSpc>
                <a:spcPct val="105000"/>
              </a:lnSpc>
              <a:spcBef>
                <a:spcPts val="0"/>
              </a:spcBef>
              <a:spcAft>
                <a:spcPts val="1100"/>
              </a:spcAft>
            </a:pPr>
            <a:r>
              <a:rPr sz="1800" b="0" i="0">
                <a:solidFill>
                  <a:srgbClr val="1A1A1A"/>
                </a:solidFill>
                <a:latin typeface="Arial"/>
              </a:rPr>
              <a:t>2  Declining volume: losing interest. They would rather buy lower in an uptrend, sell higher in a downtrend, or leave.</a:t>
            </a:r>
          </a:p>
          <a:p>
            <a:pPr algn="l">
              <a:lnSpc>
                <a:spcPct val="105000"/>
              </a:lnSpc>
              <a:spcBef>
                <a:spcPts val="0"/>
              </a:spcBef>
              <a:spcAft>
                <a:spcPts val="1100"/>
              </a:spcAft>
            </a:pPr>
            <a:r>
              <a:rPr sz="1800" b="0" i="0">
                <a:solidFill>
                  <a:srgbClr val="1A1A1A"/>
                </a:solidFill>
                <a:latin typeface="Arial"/>
              </a:rPr>
              <a:t>Chart C: rally 1, PHP 40 to 47, on volume rising 1.1 to 2.9 million. Rally 2, 44.5 to 51, on volume falling 2.4 to 0.9 million.</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Volume measures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in plainer words. The chart is ours, on invented prices; the numbers are read off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Compare price's direction with volume's. Same way: bullish volume. Opposite: bearish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50 to 46 as volume grows 2 to 4 million: opposite, bearish. Price 50 to 46 as volume shrinks 4 to 2 million: same way, bullish.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 The numbers are ours.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falling price on rising volume is bearish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counts shares that changed hands. Every share traded has a buyer and a seller, so volume alone never says buyers outnumber sellers.</a:t>
            </a:r>
          </a:p>
          <a:p>
            <a:pPr algn="l">
              <a:lnSpc>
                <a:spcPct val="118000"/>
              </a:lnSpc>
              <a:spcBef>
                <a:spcPts val="0"/>
              </a:spcBef>
              <a:spcAft>
                <a:spcPts val="1300"/>
              </a:spcAft>
            </a:pPr>
            <a:r>
              <a:rPr sz="2100" b="0" i="0">
                <a:solidFill>
                  <a:srgbClr val="1A1A1A"/>
                </a:solidFill>
                <a:latin typeface="Arial"/>
              </a:rPr>
              <a:t>Principle 1: rising volume is more people taking part in the move. PHP 50 to 46 on 2 to 4 million: more sell lower. The fall has backing: bearish.</a:t>
            </a:r>
          </a:p>
          <a:p>
            <a:pPr algn="l">
              <a:lnSpc>
                <a:spcPct val="118000"/>
              </a:lnSpc>
              <a:spcBef>
                <a:spcPts val="0"/>
              </a:spcBef>
              <a:spcAft>
                <a:spcPts val="1300"/>
              </a:spcAft>
            </a:pPr>
            <a:r>
              <a:rPr sz="2100" b="0" i="0">
                <a:solidFill>
                  <a:srgbClr val="1A1A1A"/>
                </a:solidFill>
                <a:latin typeface="Arial"/>
              </a:rPr>
              <a:t>Principle 2, the other way: price 50 to 46 on 4 to 2 million shares: fewer willing to sell lower. The fall is losing its backing, so bullish.</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Rising volume is not demand. It is more trading in the direction price is already going.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definition and the two principles. Ours: the buyer and seller point, which follows from the definition, and the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declining volume does not imply bearishness, nor rising volume bullishness. PHP 50 to 46 on 2 to 4 million: rising, yet bearish.</a:t>
            </a:r>
          </a:p>
          <a:p>
            <a:pPr algn="l">
              <a:lnSpc>
                <a:spcPct val="105000"/>
              </a:lnSpc>
              <a:spcBef>
                <a:spcPts val="0"/>
              </a:spcBef>
              <a:spcAft>
                <a:spcPts val="1100"/>
              </a:spcAft>
            </a:pPr>
            <a:r>
              <a:rPr sz="1800" b="0" i="0">
                <a:solidFill>
                  <a:srgbClr val="1A1A1A"/>
                </a:solidFill>
                <a:latin typeface="Arial"/>
              </a:rPr>
              <a:t>Figure 6.2, gold: </a:t>
            </a:r>
            <a:r>
              <a:rPr sz="1800" b="1" i="0">
                <a:solidFill>
                  <a:srgbClr val="E09B00"/>
                </a:solidFill>
                <a:latin typeface="Arial"/>
              </a:rPr>
              <a:t>(1)</a:t>
            </a:r>
            <a:r>
              <a:rPr sz="1800" b="0" i="0">
                <a:solidFill>
                  <a:srgbClr val="1A1A1A"/>
                </a:solidFill>
                <a:latin typeface="Arial"/>
              </a:rPr>
              <a:t> about 260 in 2001 to 1,900 in 2011 as volume expands </a:t>
            </a:r>
            <a:r>
              <a:rPr sz="1800" b="1" i="0">
                <a:solidFill>
                  <a:srgbClr val="C62828"/>
                </a:solidFill>
                <a:latin typeface="Arial"/>
              </a:rPr>
              <a:t>(2)</a:t>
            </a:r>
            <a:r>
              <a:rPr sz="1800" b="0" i="0">
                <a:solidFill>
                  <a:srgbClr val="1A1A1A"/>
                </a:solidFill>
                <a:latin typeface="Arial"/>
              </a:rPr>
              <a:t>: bullish. </a:t>
            </a:r>
            <a:r>
              <a:rPr sz="1800" b="1" i="0">
                <a:solidFill>
                  <a:srgbClr val="1F5FAD"/>
                </a:solidFill>
                <a:latin typeface="Arial"/>
              </a:rPr>
              <a:t>(3)</a:t>
            </a:r>
            <a:r>
              <a:rPr sz="1800" b="0" i="0">
                <a:solidFill>
                  <a:srgbClr val="1A1A1A"/>
                </a:solidFill>
                <a:latin typeface="Arial"/>
              </a:rPr>
              <a:t> Then to about 1,200 in 2013 as volume declines: bullish too.</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Read price's direction first, then volume's.</a:t>
            </a:r>
          </a:p>
        </p:txBody>
      </p:sp>
      <p:sp>
        <p:nvSpPr>
          <p:cNvPr id="10" name="TextBox 9"/>
          <p:cNvSpPr txBox="1"/>
          <p:nvPr/>
        </p:nvSpPr>
        <p:spPr>
          <a:xfrm>
            <a:off x="777240" y="543915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calls reading volume alone, falling means bad, a simple mistake many novices make.</a:t>
            </a:r>
          </a:p>
        </p:txBody>
      </p:sp>
      <p:sp>
        <p:nvSpPr>
          <p:cNvPr id="11" name="Rectangle 10"/>
          <p:cNvSpPr/>
          <p:nvPr/>
        </p:nvSpPr>
        <p:spPr>
          <a:xfrm>
            <a:off x="6583679" y="1810512"/>
            <a:ext cx="4830775" cy="302986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79211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33491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6.2</a:t>
            </a:r>
          </a:p>
          <a:p>
            <a:pPr algn="l">
              <a:lnSpc>
                <a:spcPct val="115000"/>
              </a:lnSpc>
              <a:spcBef>
                <a:spcPts val="0"/>
              </a:spcBef>
              <a:spcAft>
                <a:spcPts val="0"/>
              </a:spcAft>
            </a:pPr>
            <a:r>
              <a:rPr sz="15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p:txBody>
      </p:sp>
      <p:cxnSp>
        <p:nvCxnSpPr>
          <p:cNvPr id="15" name="Connector 14"/>
          <p:cNvCxnSpPr/>
          <p:nvPr/>
        </p:nvCxnSpPr>
        <p:spPr>
          <a:xfrm flipV="1">
            <a:off x="9256277" y="2387291"/>
            <a:ext cx="1557037" cy="1552416"/>
          </a:xfrm>
          <a:prstGeom prst="line">
            <a:avLst/>
          </a:prstGeom>
          <a:ln w="44450">
            <a:solidFill>
              <a:srgbClr val="E09B00"/>
            </a:solidFill>
            <a:tailEnd type="triangle" w="med" len="med"/>
          </a:ln>
        </p:spPr>
      </p:cxnSp>
      <p:sp>
        <p:nvSpPr>
          <p:cNvPr id="16" name="Rectangle 15"/>
          <p:cNvSpPr/>
          <p:nvPr/>
        </p:nvSpPr>
        <p:spPr>
          <a:xfrm>
            <a:off x="9233312" y="4070937"/>
            <a:ext cx="1524886" cy="494204"/>
          </a:xfrm>
          <a:prstGeom prst="rect">
            <a:avLst/>
          </a:prstGeom>
          <a:noFill/>
          <a:ln w="44450">
            <a:solidFill>
              <a:srgbClr val="C62828"/>
            </a:solidFill>
          </a:ln>
        </p:spPr>
        <p:txBody>
          <a:bodyPr rtlCol="0" anchor="ctr"/>
          <a:lstStyle/>
          <a:p>
            <a:pPr algn="ctr"/>
          </a:p>
        </p:txBody>
      </p:sp>
      <p:sp>
        <p:nvSpPr>
          <p:cNvPr id="17" name="Oval 16"/>
          <p:cNvSpPr/>
          <p:nvPr/>
        </p:nvSpPr>
        <p:spPr>
          <a:xfrm>
            <a:off x="10588256" y="2074574"/>
            <a:ext cx="486861" cy="603097"/>
          </a:xfrm>
          <a:prstGeom prst="ellipse">
            <a:avLst/>
          </a:prstGeom>
          <a:noFill/>
          <a:ln w="44450">
            <a:solidFill>
              <a:srgbClr val="1F5FAD"/>
            </a:solidFill>
          </a:ln>
        </p:spPr>
        <p:txBody>
          <a:bodyPr rtlCol="0" anchor="ctr"/>
          <a:lstStyle/>
          <a:p>
            <a:pPr algn="ctr"/>
          </a:p>
        </p:txBody>
      </p:sp>
      <p:sp>
        <p:nvSpPr>
          <p:cNvPr id="18" name="Oval 17"/>
          <p:cNvSpPr/>
          <p:nvPr/>
        </p:nvSpPr>
        <p:spPr>
          <a:xfrm>
            <a:off x="9100829" y="378425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602750" y="391548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432808" y="191912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93181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6.2 -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 its prices read off the figure. The peso example is 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Confirming volume is big with the trend, small against it. Not confirming is the reverse.</a:t>
            </a:r>
          </a:p>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Uptrend, ours: PHP 40 to 46 as volume shrinks 4 to 2 million, dip to 44 as it grows to 3. Opposite ways: bearish volume, a potentially weak uptrend.</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Downtrend, ours: PHP 50 to 46 as volume shrinks 4 to 2 million, bounce to 48 as it grows to 3. Same way: bullish volume, a potentially bullish downtrend.</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warning, not a reversal.</a:t>
            </a:r>
          </a:p>
        </p:txBody>
      </p:sp>
      <p:sp>
        <p:nvSpPr>
          <p:cNvPr id="10" name="Rectangle 9"/>
          <p:cNvSpPr/>
          <p:nvPr/>
        </p:nvSpPr>
        <p:spPr>
          <a:xfrm>
            <a:off x="6766559" y="1810512"/>
            <a:ext cx="4647894" cy="35191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885431" y="1929384"/>
            <a:ext cx="4410151" cy="32813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59751" y="2203703"/>
            <a:ext cx="3861511" cy="28241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6.3</a:t>
            </a:r>
          </a:p>
          <a:p>
            <a:pPr algn="l">
              <a:lnSpc>
                <a:spcPct val="115000"/>
              </a:lnSpc>
              <a:spcBef>
                <a:spcPts val="0"/>
              </a:spcBef>
              <a:spcAft>
                <a:spcPts val="0"/>
              </a:spcAft>
            </a:pPr>
            <a:r>
              <a:rPr sz="15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p:txBody>
      </p:sp>
      <p:sp>
        <p:nvSpPr>
          <p:cNvPr id="14" name="Rectangle 13"/>
          <p:cNvSpPr/>
          <p:nvPr/>
        </p:nvSpPr>
        <p:spPr>
          <a:xfrm>
            <a:off x="7718950" y="2529873"/>
            <a:ext cx="2050720" cy="475797"/>
          </a:xfrm>
          <a:prstGeom prst="rect">
            <a:avLst/>
          </a:prstGeom>
          <a:noFill/>
          <a:ln w="44450">
            <a:solidFill>
              <a:srgbClr val="E09B00"/>
            </a:solidFill>
          </a:ln>
        </p:spPr>
        <p:txBody>
          <a:bodyPr rtlCol="0" anchor="ctr"/>
          <a:lstStyle/>
          <a:p>
            <a:pPr algn="ctr"/>
          </a:p>
        </p:txBody>
      </p:sp>
      <p:sp>
        <p:nvSpPr>
          <p:cNvPr id="15" name="Rectangle 14"/>
          <p:cNvSpPr/>
          <p:nvPr/>
        </p:nvSpPr>
        <p:spPr>
          <a:xfrm>
            <a:off x="7718950" y="4734948"/>
            <a:ext cx="2284458" cy="456109"/>
          </a:xfrm>
          <a:prstGeom prst="rect">
            <a:avLst/>
          </a:prstGeom>
          <a:noFill/>
          <a:ln w="44450">
            <a:solidFill>
              <a:srgbClr val="C62828"/>
            </a:solidFill>
          </a:ln>
        </p:spPr>
        <p:txBody>
          <a:bodyPr rtlCol="0" anchor="ctr"/>
          <a:lstStyle/>
          <a:p>
            <a:pPr algn="ctr"/>
          </a:p>
        </p:txBody>
      </p:sp>
      <p:sp>
        <p:nvSpPr>
          <p:cNvPr id="16" name="Oval 15"/>
          <p:cNvSpPr/>
          <p:nvPr/>
        </p:nvSpPr>
        <p:spPr>
          <a:xfrm>
            <a:off x="7563502" y="237442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847960" y="492404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766559" y="5421058"/>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 The prices and share counts are ours: the tenet's numbers with the volume swapped.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questions, asked in order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Bullish or bearish volume? Price and volume only, no trend: same direction bullish, opposite bearish.</a:t>
            </a:r>
          </a:p>
          <a:p>
            <a:pPr algn="l">
              <a:lnSpc>
                <a:spcPct val="118000"/>
              </a:lnSpc>
              <a:spcBef>
                <a:spcPts val="0"/>
              </a:spcBef>
              <a:spcAft>
                <a:spcPts val="1300"/>
              </a:spcAft>
            </a:pPr>
            <a:r>
              <a:rPr sz="2100" b="0" i="0">
                <a:solidFill>
                  <a:srgbClr val="1A1A1A"/>
                </a:solidFill>
                <a:latin typeface="Arial"/>
              </a:rPr>
              <a:t>2  Does it confirm the trend? In an uptrend bullish volume confirms; in a downtrend bearish volume confirms. The other kind does not.</a:t>
            </a:r>
          </a:p>
          <a:p>
            <a:pPr algn="l">
              <a:lnSpc>
                <a:spcPct val="118000"/>
              </a:lnSpc>
              <a:spcBef>
                <a:spcPts val="0"/>
              </a:spcBef>
              <a:spcAft>
                <a:spcPts val="1300"/>
              </a:spcAft>
            </a:pPr>
            <a:r>
              <a:rPr sz="2100" b="0" i="0">
                <a:solidFill>
                  <a:srgbClr val="1A1A1A"/>
                </a:solidFill>
                <a:latin typeface="Arial"/>
              </a:rPr>
              <a:t>Downtrend, PHP 50 to 46, volume 2 to 4 million: bearish, so it confirms.</a:t>
            </a:r>
          </a:p>
          <a:p>
            <a:pPr algn="l">
              <a:lnSpc>
                <a:spcPct val="118000"/>
              </a:lnSpc>
              <a:spcBef>
                <a:spcPts val="0"/>
              </a:spcBef>
              <a:spcAft>
                <a:spcPts val="1300"/>
              </a:spcAft>
            </a:pPr>
            <a:r>
              <a:rPr sz="2100" b="0" i="0">
                <a:solidFill>
                  <a:srgbClr val="1A1A1A"/>
                </a:solidFill>
                <a:latin typeface="Arial"/>
              </a:rPr>
              <a:t>Uptrend dip, PHP 46 to 44, volume 1 to 3 million: bearish, so it does not.</a:t>
            </a:r>
          </a:p>
        </p:txBody>
      </p:sp>
      <p:sp>
        <p:nvSpPr>
          <p:cNvPr id="8" name="Rectangle 7"/>
          <p:cNvSpPr/>
          <p:nvPr/>
        </p:nvSpPr>
        <p:spPr>
          <a:xfrm>
            <a:off x="777240" y="489661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Bearish is not the same as not confirming.</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summary of the book's pp.174-175, which states both for each trend. The prices and share counts are ours.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Leave price out. Volume falling: divergence. Volume rising: confirmation, or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price PHP 40 to 46 as volume shrinks 3 to 1 million: divergence. Volume 3 to 5 million instead: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prices and share counts are ours; the chart is ours, sketches, not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bullish and bearish renamed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or bearish asks about price and volume together. Divergence or confirmation asks about volume alone. Two questions, two answers.</a:t>
            </a:r>
          </a:p>
          <a:p>
            <a:pPr algn="l">
              <a:lnSpc>
                <a:spcPct val="118000"/>
              </a:lnSpc>
              <a:spcBef>
                <a:spcPts val="0"/>
              </a:spcBef>
              <a:spcAft>
                <a:spcPts val="1300"/>
              </a:spcAft>
            </a:pPr>
            <a:r>
              <a:rPr sz="2100" b="0" i="0">
                <a:solidFill>
                  <a:srgbClr val="1A1A1A"/>
                </a:solidFill>
                <a:latin typeface="Arial"/>
              </a:rPr>
              <a:t>Ours: price PHP 40 to 46 on volume 2 to 4 million. Same way: bullish. Volume up: confirmation. Here the two answers line up.</a:t>
            </a:r>
          </a:p>
          <a:p>
            <a:pPr algn="l">
              <a:lnSpc>
                <a:spcPct val="118000"/>
              </a:lnSpc>
              <a:spcBef>
                <a:spcPts val="0"/>
              </a:spcBef>
              <a:spcAft>
                <a:spcPts val="1300"/>
              </a:spcAft>
            </a:pPr>
            <a:r>
              <a:rPr sz="2100" b="0" i="0">
                <a:solidFill>
                  <a:srgbClr val="1A1A1A"/>
                </a:solidFill>
                <a:latin typeface="Arial"/>
              </a:rPr>
              <a:t>Price PHP 50 to 46 on volume 2 to 4 million. Opposite ways: bearish. Volume up: still confirmation. Here they do not.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or bearish needs price. Divergence or confirmation needs only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pairs. The comparison and the numbers are ours.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Divergence, volume falling: on a rise, fewer will buy higher, bearish for an uptrend; on a fall, fewer will sell lower, bullish for a downtrend.</a:t>
            </a:r>
          </a:p>
          <a:p>
            <a:pPr algn="l">
              <a:lnSpc>
                <a:spcPct val="105000"/>
              </a:lnSpc>
              <a:spcBef>
                <a:spcPts val="0"/>
              </a:spcBef>
              <a:spcAft>
                <a:spcPts val="1100"/>
              </a:spcAft>
            </a:pPr>
            <a:r>
              <a:rPr sz="1700" b="0" i="0">
                <a:solidFill>
                  <a:srgbClr val="1A1A1A"/>
                </a:solidFill>
                <a:latin typeface="Arial"/>
              </a:rPr>
              <a:t>Confirmation, volume rising: with a rise, bullish for an uptrend; with a fall, bearish for a downtrend.</a:t>
            </a:r>
          </a:p>
          <a:p>
            <a:pPr algn="l">
              <a:lnSpc>
                <a:spcPct val="105000"/>
              </a:lnSpc>
              <a:spcBef>
                <a:spcPts val="0"/>
              </a:spcBef>
              <a:spcAft>
                <a:spcPts val="1100"/>
              </a:spcAft>
            </a:pPr>
            <a:r>
              <a:rPr sz="1700" b="0" i="0">
                <a:solidFill>
                  <a:srgbClr val="1A1A1A"/>
                </a:solidFill>
                <a:latin typeface="Arial"/>
              </a:rPr>
              <a:t>Chart F: left, PHP 40 to 55, volume 0.9 to 3.4 million: it continues. Right, 40 to 51, volume 2.9 to 0.8: it turns.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are early warnings, not certainties.</a:t>
            </a:r>
          </a:p>
        </p:txBody>
      </p:sp>
      <p:sp>
        <p:nvSpPr>
          <p:cNvPr id="10" name="Rectangle 9"/>
          <p:cNvSpPr/>
          <p:nvPr/>
        </p:nvSpPr>
        <p:spPr>
          <a:xfrm>
            <a:off x="658505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png"/>
          <p:cNvPicPr>
            <a:picLocks noChangeAspect="1"/>
          </p:cNvPicPr>
          <p:nvPr/>
        </p:nvPicPr>
        <p:blipFill>
          <a:blip r:embed="rId2"/>
          <a:stretch>
            <a:fillRect/>
          </a:stretch>
        </p:blipFill>
        <p:spPr>
          <a:xfrm>
            <a:off x="6703923" y="1929384"/>
            <a:ext cx="4590288" cy="3511296"/>
          </a:xfrm>
          <a:prstGeom prst="rect">
            <a:avLst/>
          </a:prstGeom>
        </p:spPr>
      </p:pic>
      <p:sp>
        <p:nvSpPr>
          <p:cNvPr id="12" name="TextBox 11"/>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 the numbers are read off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Confirms the trend, or volume confirmation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confirms the trend (Chapter 2, p.174): over the whole trend, big with it and small against it. It judges the pattern.</a:t>
            </a:r>
          </a:p>
          <a:p>
            <a:pPr algn="l">
              <a:lnSpc>
                <a:spcPct val="118000"/>
              </a:lnSpc>
              <a:spcBef>
                <a:spcPts val="0"/>
              </a:spcBef>
              <a:spcAft>
                <a:spcPts val="1300"/>
              </a:spcAft>
            </a:pPr>
            <a:r>
              <a:rPr sz="2100" b="0" i="0">
                <a:solidFill>
                  <a:srgbClr val="1A1A1A"/>
                </a:solidFill>
                <a:latin typeface="Arial"/>
              </a:rPr>
              <a:t>Volume confirmation (p.175): on one stretch, volume rising. It judges one leg at a time.</a:t>
            </a:r>
          </a:p>
          <a:p>
            <a:pPr algn="l">
              <a:lnSpc>
                <a:spcPct val="118000"/>
              </a:lnSpc>
              <a:spcBef>
                <a:spcPts val="0"/>
              </a:spcBef>
              <a:spcAft>
                <a:spcPts val="1300"/>
              </a:spcAft>
            </a:pPr>
            <a:r>
              <a:rPr sz="2100" b="0" i="0">
                <a:solidFill>
                  <a:srgbClr val="1A1A1A"/>
                </a:solidFill>
                <a:latin typeface="Arial"/>
              </a:rPr>
              <a:t>Ours: PHP 40 to 46 on 2 to 4 million, a dip to 44 on 1 million. The trend is confirmed. The dip alone, volume falling with price, is bullish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One dip can be a bullish divergence inside a confirmed uptrend.</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next slide finds both on the book's own chart.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(the tenet) and p.175 (volume confirmation). The prices and share counts are the tenet's,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on one chart: Figure 6.6</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Over the whole rise, volume expands: the trend is confirmed.</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and </a:t>
            </a:r>
            <a:r>
              <a:rPr sz="2000" b="1" i="0">
                <a:solidFill>
                  <a:srgbClr val="1F5FAD"/>
                </a:solidFill>
                <a:latin typeface="Arial"/>
              </a:rPr>
              <a:t>(3)</a:t>
            </a:r>
            <a:r>
              <a:rPr sz="2000" b="0" i="0">
                <a:solidFill>
                  <a:srgbClr val="1A1A1A"/>
                </a:solidFill>
                <a:latin typeface="Arial"/>
              </a:rPr>
              <a:t> The dips of periods 4 and 6, on falling volume: the book labels each bullish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confirmed uptrend with two bullish divergences inside it.</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Volume expands across the whole uptrend, and periods 4 and 6 are dips on falling volume, labelled bullish divergence by the book.</a:t>
            </a:r>
          </a:p>
        </p:txBody>
      </p:sp>
      <p:cxnSp>
        <p:nvCxnSpPr>
          <p:cNvPr id="14" name="Connector 13"/>
          <p:cNvCxnSpPr/>
          <p:nvPr/>
        </p:nvCxnSpPr>
        <p:spPr>
          <a:xfrm flipV="1">
            <a:off x="7304239" y="4216029"/>
            <a:ext cx="3444773" cy="85872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7148791" y="491930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the book labels the whole trend bullish volume and two of its dips bullish divergence.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from two answers: bullish or bearish, then divergence or confirmation.</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PHP 50 to 46, volume 2 to 4 million: opposite, bearish; volume up, confirmation. Figure 6.4's third column </a:t>
            </a:r>
            <a:r>
              <a:rPr sz="1700" b="1" i="0">
                <a:solidFill>
                  <a:srgbClr val="E09B00"/>
                </a:solidFill>
                <a:latin typeface="Arial"/>
              </a:rPr>
              <a:t>(1)</a:t>
            </a:r>
            <a:r>
              <a:rPr sz="1700" b="0" i="0">
                <a:solidFill>
                  <a:srgbClr val="1A1A1A"/>
                </a:solidFill>
                <a:latin typeface="Arial"/>
              </a:rPr>
              <a:t>: price top, volume below.</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and price declining together: bullish divergence. Rising together: bullish confirmation. Volume declining, price rising: bearish divergence. Volume rising, price declining: bearish confirmation.</a:t>
            </a:r>
          </a:p>
        </p:txBody>
      </p:sp>
      <p:sp>
        <p:nvSpPr>
          <p:cNvPr id="14" name="Rectangle 13"/>
          <p:cNvSpPr/>
          <p:nvPr/>
        </p:nvSpPr>
        <p:spPr>
          <a:xfrm>
            <a:off x="7132319" y="2157984"/>
            <a:ext cx="4282135" cy="2833630"/>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251191" y="2276856"/>
            <a:ext cx="4044391" cy="2595886"/>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251191" y="2276856"/>
            <a:ext cx="404439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525511" y="2551175"/>
            <a:ext cx="3495751" cy="213868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6.4</a:t>
            </a:r>
          </a:p>
          <a:p>
            <a:pPr algn="l">
              <a:lnSpc>
                <a:spcPct val="115000"/>
              </a:lnSpc>
              <a:spcBef>
                <a:spcPts val="0"/>
              </a:spcBef>
              <a:spcAft>
                <a:spcPts val="0"/>
              </a:spcAft>
            </a:pPr>
            <a:r>
              <a:rPr sz="11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p:txBody>
      </p:sp>
      <p:sp>
        <p:nvSpPr>
          <p:cNvPr id="18" name="Rectangle 17"/>
          <p:cNvSpPr/>
          <p:nvPr/>
        </p:nvSpPr>
        <p:spPr>
          <a:xfrm>
            <a:off x="9657604" y="2295027"/>
            <a:ext cx="841233" cy="2206503"/>
          </a:xfrm>
          <a:prstGeom prst="rect">
            <a:avLst/>
          </a:prstGeom>
          <a:noFill/>
          <a:ln w="44450">
            <a:solidFill>
              <a:srgbClr val="E09B00"/>
            </a:solidFill>
          </a:ln>
        </p:spPr>
        <p:txBody>
          <a:bodyPr rtlCol="0" anchor="ctr"/>
          <a:lstStyle/>
          <a:p>
            <a:pPr algn="ctr"/>
          </a:p>
        </p:txBody>
      </p:sp>
      <p:sp>
        <p:nvSpPr>
          <p:cNvPr id="19" name="Oval 18"/>
          <p:cNvSpPr/>
          <p:nvPr/>
        </p:nvSpPr>
        <p:spPr>
          <a:xfrm>
            <a:off x="9502156" y="2139579"/>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TextBox 19"/>
          <p:cNvSpPr txBox="1"/>
          <p:nvPr/>
        </p:nvSpPr>
        <p:spPr>
          <a:xfrm>
            <a:off x="7132319" y="5083054"/>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formal row is its p.178 summary. The ATR on the figure is in no sentence of the text. The numbers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four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Bullish divergence, PHP 50 to 46 as volume falls 3 to 1 million: fewer will sell lower. A potential upside reversal.</a:t>
            </a:r>
          </a:p>
          <a:p>
            <a:pPr algn="l">
              <a:lnSpc>
                <a:spcPct val="118000"/>
              </a:lnSpc>
              <a:spcBef>
                <a:spcPts val="0"/>
              </a:spcBef>
              <a:spcAft>
                <a:spcPts val="1300"/>
              </a:spcAft>
            </a:pPr>
            <a:r>
              <a:rPr sz="2100" b="0" i="0">
                <a:solidFill>
                  <a:srgbClr val="1A1A1A"/>
                </a:solidFill>
                <a:latin typeface="Arial"/>
              </a:rPr>
              <a:t>Bearish divergence, PHP 46 to 50 as volume falls 3 to 1 million: fewer will buy higher. A potential downside reversal.</a:t>
            </a:r>
          </a:p>
          <a:p>
            <a:pPr algn="l">
              <a:lnSpc>
                <a:spcPct val="118000"/>
              </a:lnSpc>
              <a:spcBef>
                <a:spcPts val="0"/>
              </a:spcBef>
              <a:spcAft>
                <a:spcPts val="1300"/>
              </a:spcAft>
            </a:pPr>
            <a:r>
              <a:rPr sz="2100" b="0" i="0">
                <a:solidFill>
                  <a:srgbClr val="1A1A1A"/>
                </a:solidFill>
                <a:latin typeface="Arial"/>
              </a:rPr>
              <a:t>Bullish or bearish confirmation, volume rising with the move: more are taking part. A potential continuation.</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Divergence warns of a turn. Confirmation, of backing.</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divergence always indicates potential weakness, confirmation potential strength.</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pp.175-177: what each name indicates, from its two principles on p.174.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divergence can occur: the book and its figure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book: bullish divergence can only occur in a downtrend, bearish only in an uptrend (p.176).</a:t>
            </a:r>
          </a:p>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Yet on Figure 6.6, price rises from about 42 to about 120, the span on the right: an uptrend.</a:t>
            </a:r>
          </a:p>
          <a:p>
            <a:pPr algn="l">
              <a:lnSpc>
                <a:spcPct val="105000"/>
              </a:lnSpc>
              <a:spcBef>
                <a:spcPts val="0"/>
              </a:spcBef>
              <a:spcAft>
                <a:spcPts val="1100"/>
              </a:spcAft>
            </a:pPr>
            <a:r>
              <a:rPr sz="1800" b="0" i="0">
                <a:solidFill>
                  <a:srgbClr val="1A1A1A"/>
                </a:solidFill>
                <a:latin typeface="Arial"/>
              </a:rPr>
              <a:t>Inside it, the book labels the dips of periods 4 </a:t>
            </a:r>
            <a:r>
              <a:rPr sz="1800" b="1" i="0">
                <a:solidFill>
                  <a:srgbClr val="C62828"/>
                </a:solidFill>
                <a:latin typeface="Arial"/>
              </a:rPr>
              <a:t>(2)</a:t>
            </a:r>
            <a:r>
              <a:rPr sz="1800" b="0" i="0">
                <a:solidFill>
                  <a:srgbClr val="1A1A1A"/>
                </a:solidFill>
                <a:latin typeface="Arial"/>
              </a:rPr>
              <a:t> and 6 </a:t>
            </a:r>
            <a:r>
              <a:rPr sz="1800" b="1" i="0">
                <a:solidFill>
                  <a:srgbClr val="1F5FAD"/>
                </a:solidFill>
                <a:latin typeface="Arial"/>
              </a:rPr>
              <a:t>(3)</a:t>
            </a:r>
            <a:r>
              <a:rPr sz="1800" b="0" i="0">
                <a:solidFill>
                  <a:srgbClr val="1A1A1A"/>
                </a:solidFill>
                <a:latin typeface="Arial"/>
              </a:rPr>
              <a:t>, price and volume falling together, bullish divergence.</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519379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Our reading: the p.178 summary applies to any stretch, so a dip inside an uptrend can be bullish divergence.</a:t>
            </a:r>
          </a:p>
        </p:txBody>
      </p:sp>
      <p:sp>
        <p:nvSpPr>
          <p:cNvPr id="10" name="Rectangle 9"/>
          <p:cNvSpPr/>
          <p:nvPr/>
        </p:nvSpPr>
        <p:spPr>
          <a:xfrm>
            <a:off x="6583679" y="1810512"/>
            <a:ext cx="4830775" cy="352788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29013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83293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rising from about 42 to about 120, split into ten numbered periods. Periods 4 and 6 are dips on falling volume inside that uptrend, labelled bullish divergence by the book.</a:t>
            </a:r>
          </a:p>
        </p:txBody>
      </p:sp>
      <p:cxnSp>
        <p:nvCxnSpPr>
          <p:cNvPr id="14" name="Connector 13"/>
          <p:cNvCxnSpPr/>
          <p:nvPr/>
        </p:nvCxnSpPr>
        <p:spPr>
          <a:xfrm flipV="1">
            <a:off x="10997035" y="2291299"/>
            <a:ext cx="0" cy="1579265"/>
          </a:xfrm>
          <a:prstGeom prst="line">
            <a:avLst/>
          </a:prstGeom>
          <a:ln w="44450">
            <a:solidFill>
              <a:srgbClr val="E09B00"/>
            </a:solidFill>
            <a:tailEnd type="triangle" w="med" len="med"/>
          </a:ln>
        </p:spPr>
      </p:cxnSp>
      <p:sp>
        <p:nvSpPr>
          <p:cNvPr id="15" name="Oval 14"/>
          <p:cNvSpPr/>
          <p:nvPr/>
        </p:nvSpPr>
        <p:spPr>
          <a:xfrm>
            <a:off x="9100114" y="2399873"/>
            <a:ext cx="349070" cy="401396"/>
          </a:xfrm>
          <a:prstGeom prst="ellipse">
            <a:avLst/>
          </a:prstGeom>
          <a:noFill/>
          <a:ln w="44450">
            <a:solidFill>
              <a:srgbClr val="C62828"/>
            </a:solidFill>
          </a:ln>
        </p:spPr>
        <p:txBody>
          <a:bodyPr rtlCol="0" anchor="ctr"/>
          <a:lstStyle/>
          <a:p>
            <a:pPr algn="ctr"/>
          </a:p>
        </p:txBody>
      </p:sp>
      <p:sp>
        <p:nvSpPr>
          <p:cNvPr id="16" name="Oval 15"/>
          <p:cNvSpPr/>
          <p:nvPr/>
        </p:nvSpPr>
        <p:spPr>
          <a:xfrm>
            <a:off x="9504300" y="2570960"/>
            <a:ext cx="307733" cy="552742"/>
          </a:xfrm>
          <a:prstGeom prst="ellipse">
            <a:avLst/>
          </a:prstGeom>
          <a:noFill/>
          <a:ln w="44450">
            <a:solidFill>
              <a:srgbClr val="1F5FAD"/>
            </a:solidFill>
          </a:ln>
        </p:spPr>
        <p:txBody>
          <a:bodyPr rtlCol="0" anchor="ctr"/>
          <a:lstStyle/>
          <a:p>
            <a:pPr algn="ctr"/>
          </a:p>
        </p:txBody>
      </p:sp>
      <p:sp>
        <p:nvSpPr>
          <p:cNvPr id="17" name="Oval 16"/>
          <p:cNvSpPr/>
          <p:nvPr/>
        </p:nvSpPr>
        <p:spPr>
          <a:xfrm>
            <a:off x="10841587" y="387962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944666" y="224442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348852" y="241551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542983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6.6 -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pp.176-177 for where each can occur, and Figure 6.6 (p.178). Our reading is said to be ours.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19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compare two peaks. Ours: price peaks at PHP 58, then higher at 60; an oscillator peaks at 80, then lower at 62.</a:t>
            </a:r>
          </a:p>
          <a:p>
            <a:pPr algn="l">
              <a:lnSpc>
                <a:spcPct val="105000"/>
              </a:lnSpc>
              <a:spcBef>
                <a:spcPts val="0"/>
              </a:spcBef>
              <a:spcAft>
                <a:spcPts val="1100"/>
              </a:spcAft>
            </a:pPr>
            <a:r>
              <a:rPr sz="1700" b="0" i="0">
                <a:solidFill>
                  <a:srgbClr val="1A1A1A"/>
                </a:solidFill>
                <a:latin typeface="Arial"/>
              </a:rPr>
              <a:t>Volume divergence compares no peaks: volume declining, whatever price does. Price's direction still decides bullish or bearish.</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(p.176): one kind only, volume falling.</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only named reverse divergence, left to Chapter 9. Chapter 4: bullish divergence in volume is falling price on decreasing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 its peaks are read off 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20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Isis Pharmaceuticals falls from about 12 to about 9 and curves into a rounding bottom, a bullish pattern from Chapter 4.</a:t>
            </a:r>
          </a:p>
          <a:p>
            <a:pPr algn="l">
              <a:lnSpc>
                <a:spcPct val="105000"/>
              </a:lnSpc>
              <a:spcBef>
                <a:spcPts val="0"/>
              </a:spcBef>
              <a:spcAft>
                <a:spcPts val="1100"/>
              </a:spcAft>
            </a:pPr>
            <a:r>
              <a:rPr sz="1700" b="0" i="0">
                <a:solidFill>
                  <a:srgbClr val="1A1A1A"/>
                </a:solidFill>
                <a:latin typeface="Arial"/>
              </a:rPr>
              <a:t>In two stretches, </a:t>
            </a:r>
            <a:r>
              <a:rPr sz="1700" b="1" i="0">
                <a:solidFill>
                  <a:srgbClr val="C62828"/>
                </a:solidFill>
                <a:latin typeface="Arial"/>
              </a:rPr>
              <a:t>(2)</a:t>
            </a:r>
            <a:r>
              <a:rPr sz="1700" b="0" i="0">
                <a:solidFill>
                  <a:srgbClr val="1A1A1A"/>
                </a:solidFill>
                <a:latin typeface="Arial"/>
              </a:rPr>
              <a:t> and </a:t>
            </a:r>
            <a:r>
              <a:rPr sz="1700" b="1" i="0">
                <a:solidFill>
                  <a:srgbClr val="1F5FAD"/>
                </a:solidFill>
                <a:latin typeface="Arial"/>
              </a:rPr>
              <a:t>(3)</a:t>
            </a:r>
            <a:r>
              <a:rPr sz="1700" b="0" i="0">
                <a:solidFill>
                  <a:srgbClr val="1A1A1A"/>
                </a:solidFill>
                <a:latin typeface="Arial"/>
              </a:rPr>
              <a:t>, volume falls as price falls: volume falling, divergence; with price, bullish. Fewer are willing to sell lower.</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provides additional evidence of a bullish chart formation.</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note: Isis rose past the previous day's close though the Dow Jones Industrial Average fell 219 points, a bullish indication.</a:t>
            </a:r>
          </a:p>
        </p:txBody>
      </p:sp>
      <p:sp>
        <p:nvSpPr>
          <p:cNvPr id="11" name="Rectangle 10"/>
          <p:cNvSpPr/>
          <p:nvPr/>
        </p:nvSpPr>
        <p:spPr>
          <a:xfrm>
            <a:off x="6217919" y="1810512"/>
            <a:ext cx="5196535" cy="32070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29693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121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6.5</a:t>
            </a:r>
          </a:p>
          <a:p>
            <a:pPr algn="l">
              <a:lnSpc>
                <a:spcPct val="115000"/>
              </a:lnSpc>
              <a:spcBef>
                <a:spcPts val="0"/>
              </a:spcBef>
              <a:spcAft>
                <a:spcPts val="0"/>
              </a:spcAft>
            </a:pPr>
            <a:r>
              <a:rPr sz="15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p:txBody>
      </p:sp>
      <p:sp>
        <p:nvSpPr>
          <p:cNvPr id="15" name="Rectangle 14"/>
          <p:cNvSpPr/>
          <p:nvPr/>
        </p:nvSpPr>
        <p:spPr>
          <a:xfrm>
            <a:off x="8816187" y="2642024"/>
            <a:ext cx="2261208" cy="1446066"/>
          </a:xfrm>
          <a:prstGeom prst="rect">
            <a:avLst/>
          </a:prstGeom>
          <a:noFill/>
          <a:ln w="44450">
            <a:solidFill>
              <a:srgbClr val="E09B00"/>
            </a:solidFill>
          </a:ln>
        </p:spPr>
        <p:txBody>
          <a:bodyPr rtlCol="0" anchor="ctr"/>
          <a:lstStyle/>
          <a:p>
            <a:pPr algn="ctr"/>
          </a:p>
        </p:txBody>
      </p:sp>
      <p:sp>
        <p:nvSpPr>
          <p:cNvPr id="16" name="Rectangle 15"/>
          <p:cNvSpPr/>
          <p:nvPr/>
        </p:nvSpPr>
        <p:spPr>
          <a:xfrm>
            <a:off x="8836022" y="4111845"/>
            <a:ext cx="971923" cy="656223"/>
          </a:xfrm>
          <a:prstGeom prst="rect">
            <a:avLst/>
          </a:prstGeom>
          <a:noFill/>
          <a:ln w="44450">
            <a:solidFill>
              <a:srgbClr val="C62828"/>
            </a:solidFill>
          </a:ln>
        </p:spPr>
        <p:txBody>
          <a:bodyPr rtlCol="0" anchor="ctr"/>
          <a:lstStyle/>
          <a:p>
            <a:pPr algn="ctr"/>
          </a:p>
        </p:txBody>
      </p:sp>
      <p:sp>
        <p:nvSpPr>
          <p:cNvPr id="17" name="Rectangle 16"/>
          <p:cNvSpPr/>
          <p:nvPr/>
        </p:nvSpPr>
        <p:spPr>
          <a:xfrm>
            <a:off x="10006297" y="4236558"/>
            <a:ext cx="1056222" cy="558235"/>
          </a:xfrm>
          <a:prstGeom prst="rect">
            <a:avLst/>
          </a:prstGeom>
          <a:noFill/>
          <a:ln w="44450">
            <a:solidFill>
              <a:srgbClr val="1F5FAD"/>
            </a:solidFill>
          </a:ln>
        </p:spPr>
        <p:txBody>
          <a:bodyPr rtlCol="0" anchor="ctr"/>
          <a:lstStyle/>
          <a:p>
            <a:pPr algn="ctr"/>
          </a:p>
        </p:txBody>
      </p:sp>
      <p:sp>
        <p:nvSpPr>
          <p:cNvPr id="18" name="Oval 17"/>
          <p:cNvSpPr/>
          <p:nvPr/>
        </p:nvSpPr>
        <p:spPr>
          <a:xfrm>
            <a:off x="8660739" y="248657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80574" y="461262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907071" y="46393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0903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its prices read off the figure. Its caption says daily; the chart is labelled 10 min. Rounding bottom: Chapter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21 of 29</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1, 3 </a:t>
            </a:r>
            <a:r>
              <a:rPr sz="1700" b="1" i="0">
                <a:solidFill>
                  <a:srgbClr val="E09B00"/>
                </a:solidFill>
                <a:latin typeface="Arial"/>
              </a:rPr>
              <a:t>(1)</a:t>
            </a:r>
            <a:r>
              <a:rPr sz="1700" b="0" i="0">
                <a:solidFill>
                  <a:srgbClr val="1A1A1A"/>
                </a:solidFill>
                <a:latin typeface="Arial"/>
              </a:rPr>
              <a:t>, 7 and 9: price and volume rise, bullish confirmation. 4 </a:t>
            </a:r>
            <a:r>
              <a:rPr sz="1700" b="1" i="0">
                <a:solidFill>
                  <a:srgbClr val="C62828"/>
                </a:solidFill>
                <a:latin typeface="Arial"/>
              </a:rPr>
              <a:t>(2)</a:t>
            </a:r>
            <a:r>
              <a:rPr sz="1700" b="0" i="0">
                <a:solidFill>
                  <a:srgbClr val="1A1A1A"/>
                </a:solidFill>
                <a:latin typeface="Arial"/>
              </a:rPr>
              <a:t> and 6 </a:t>
            </a:r>
            <a:r>
              <a:rPr sz="1700" b="1" i="0">
                <a:solidFill>
                  <a:srgbClr val="1F5FAD"/>
                </a:solidFill>
                <a:latin typeface="Arial"/>
              </a:rPr>
              <a:t>(3)</a:t>
            </a:r>
            <a:r>
              <a:rPr sz="1700" b="0" i="0">
                <a:solidFill>
                  <a:srgbClr val="1A1A1A"/>
                </a:solidFill>
                <a:latin typeface="Arial"/>
              </a:rPr>
              <a:t>: price dips as volume falls, bullish divergence. 5: volume flat, no reading.</a:t>
            </a:r>
          </a:p>
          <a:p>
            <a:pPr algn="l">
              <a:lnSpc>
                <a:spcPct val="105000"/>
              </a:lnSpc>
              <a:spcBef>
                <a:spcPts val="0"/>
              </a:spcBef>
              <a:spcAft>
                <a:spcPts val="1100"/>
              </a:spcAft>
            </a:pPr>
            <a:r>
              <a:rPr sz="1700" b="0" i="0">
                <a:solidFill>
                  <a:srgbClr val="1A1A1A"/>
                </a:solidFill>
                <a:latin typeface="Arial"/>
              </a:rPr>
              <a:t>2 </a:t>
            </a:r>
            <a:r>
              <a:rPr sz="1700" b="1" i="0">
                <a:solidFill>
                  <a:srgbClr val="007A33"/>
                </a:solidFill>
                <a:latin typeface="Arial"/>
              </a:rPr>
              <a:t>(4)</a:t>
            </a:r>
            <a:r>
              <a:rPr sz="1700" b="0" i="0">
                <a:solidFill>
                  <a:srgbClr val="1A1A1A"/>
                </a:solidFill>
                <a:latin typeface="Arial"/>
              </a:rPr>
              <a:t>, 8 and 10: volume falls as price moves sideways, a consolidation (Chapter 4). At volume's minimum, price breaks out.</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a consolidation, volume times the breakout: Part 2.</a:t>
            </a:r>
          </a:p>
        </p:txBody>
      </p:sp>
      <p:sp>
        <p:nvSpPr>
          <p:cNvPr id="10" name="TextBox 9"/>
          <p:cNvSpPr txBox="1"/>
          <p:nvPr/>
        </p:nvSpPr>
        <p:spPr>
          <a:xfrm>
            <a:off x="777240" y="529666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4 and 6 are dips inside this uptrend, yet the book labels them bullish divergence: its p.178 summary applied to a falling stretch.</a:t>
            </a:r>
          </a:p>
        </p:txBody>
      </p:sp>
      <p:sp>
        <p:nvSpPr>
          <p:cNvPr id="11" name="Rectangle 10"/>
          <p:cNvSpPr/>
          <p:nvPr/>
        </p:nvSpPr>
        <p:spPr>
          <a:xfrm>
            <a:off x="6154990" y="1810512"/>
            <a:ext cx="5139513"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73862" y="1929384"/>
            <a:ext cx="4901769" cy="3511296"/>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273862" y="1929384"/>
            <a:ext cx="4901769"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548182" y="2203703"/>
            <a:ext cx="4353129"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6.6</a:t>
            </a:r>
          </a:p>
          <a:p>
            <a:pPr algn="l">
              <a:lnSpc>
                <a:spcPct val="115000"/>
              </a:lnSpc>
              <a:spcBef>
                <a:spcPts val="0"/>
              </a:spcBef>
              <a:spcAft>
                <a:spcPts val="0"/>
              </a:spcAft>
            </a:pPr>
            <a:r>
              <a:rPr sz="15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p:txBody>
      </p:sp>
      <p:sp>
        <p:nvSpPr>
          <p:cNvPr id="15" name="Rectangle 14"/>
          <p:cNvSpPr/>
          <p:nvPr/>
        </p:nvSpPr>
        <p:spPr>
          <a:xfrm>
            <a:off x="8391427" y="2308603"/>
            <a:ext cx="504882" cy="3051316"/>
          </a:xfrm>
          <a:prstGeom prst="rect">
            <a:avLst/>
          </a:prstGeom>
          <a:noFill/>
          <a:ln w="44450">
            <a:solidFill>
              <a:srgbClr val="E09B00"/>
            </a:solidFill>
          </a:ln>
        </p:spPr>
        <p:txBody>
          <a:bodyPr rtlCol="0" anchor="ctr"/>
          <a:lstStyle/>
          <a:p>
            <a:pPr algn="ctr"/>
          </a:p>
        </p:txBody>
      </p:sp>
      <p:sp>
        <p:nvSpPr>
          <p:cNvPr id="16" name="Oval 15"/>
          <p:cNvSpPr/>
          <p:nvPr/>
        </p:nvSpPr>
        <p:spPr>
          <a:xfrm>
            <a:off x="8832586" y="2431499"/>
            <a:ext cx="372534" cy="428378"/>
          </a:xfrm>
          <a:prstGeom prst="ellipse">
            <a:avLst/>
          </a:prstGeom>
          <a:noFill/>
          <a:ln w="44450">
            <a:solidFill>
              <a:srgbClr val="C62828"/>
            </a:solidFill>
          </a:ln>
        </p:spPr>
        <p:txBody>
          <a:bodyPr rtlCol="0" anchor="ctr"/>
          <a:lstStyle/>
          <a:p>
            <a:pPr algn="ctr"/>
          </a:p>
        </p:txBody>
      </p:sp>
      <p:sp>
        <p:nvSpPr>
          <p:cNvPr id="17" name="Oval 16"/>
          <p:cNvSpPr/>
          <p:nvPr/>
        </p:nvSpPr>
        <p:spPr>
          <a:xfrm>
            <a:off x="9263942" y="2614086"/>
            <a:ext cx="328418" cy="589897"/>
          </a:xfrm>
          <a:prstGeom prst="ellipse">
            <a:avLst/>
          </a:prstGeom>
          <a:noFill/>
          <a:ln w="44450">
            <a:solidFill>
              <a:srgbClr val="1F5FAD"/>
            </a:solidFill>
          </a:ln>
        </p:spPr>
        <p:txBody>
          <a:bodyPr rtlCol="0" anchor="ctr"/>
          <a:lstStyle/>
          <a:p>
            <a:pPr algn="ctr"/>
          </a:p>
        </p:txBody>
      </p:sp>
      <p:sp>
        <p:nvSpPr>
          <p:cNvPr id="18" name="Rectangle 17"/>
          <p:cNvSpPr/>
          <p:nvPr/>
        </p:nvSpPr>
        <p:spPr>
          <a:xfrm>
            <a:off x="7347350" y="2982772"/>
            <a:ext cx="1014666" cy="2377147"/>
          </a:xfrm>
          <a:prstGeom prst="rect">
            <a:avLst/>
          </a:prstGeom>
          <a:noFill/>
          <a:ln w="44450">
            <a:solidFill>
              <a:srgbClr val="007A33"/>
            </a:solidFill>
          </a:ln>
        </p:spPr>
        <p:txBody>
          <a:bodyPr rtlCol="0" anchor="ctr"/>
          <a:lstStyle/>
          <a:p>
            <a:pPr algn="ctr"/>
          </a:p>
        </p:txBody>
      </p:sp>
      <p:sp>
        <p:nvSpPr>
          <p:cNvPr id="19" name="Oval 18"/>
          <p:cNvSpPr/>
          <p:nvPr/>
        </p:nvSpPr>
        <p:spPr>
          <a:xfrm>
            <a:off x="8740861" y="520447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677138" y="227605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9108494" y="24586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7191902" y="520447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035040" y="5650991"/>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22 of 29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PHP 40 to 48, volume about 1.2 to 3.3 million: both rise, bullish confirmation.</a:t>
            </a:r>
          </a:p>
          <a:p>
            <a:pPr algn="l">
              <a:lnSpc>
                <a:spcPct val="105000"/>
              </a:lnSpc>
              <a:spcBef>
                <a:spcPts val="0"/>
              </a:spcBef>
              <a:spcAft>
                <a:spcPts val="1100"/>
              </a:spcAft>
            </a:pPr>
            <a:r>
              <a:rPr sz="1700" b="0" i="0">
                <a:solidFill>
                  <a:srgbClr val="1A1A1A"/>
                </a:solidFill>
                <a:latin typeface="Arial"/>
              </a:rPr>
              <a:t>2  Dip to 45.5, volume about 2.7 to 1.4 million: both fall, bullish divergence. Fewer will sell lower: a weak dip, and 4 resumes the trend.</a:t>
            </a:r>
          </a:p>
          <a:p>
            <a:pPr algn="l">
              <a:lnSpc>
                <a:spcPct val="105000"/>
              </a:lnSpc>
              <a:spcBef>
                <a:spcPts val="0"/>
              </a:spcBef>
              <a:spcAft>
                <a:spcPts val="1100"/>
              </a:spcAft>
            </a:pPr>
            <a:r>
              <a:rPr sz="1700" b="0" i="0">
                <a:solidFill>
                  <a:srgbClr val="1A1A1A"/>
                </a:solidFill>
                <a:latin typeface="Arial"/>
              </a:rPr>
              <a:t>3  Sideways, 45.5 to 47.3, volume down to 0.5 million: a consolidation.</a:t>
            </a:r>
          </a:p>
          <a:p>
            <a:pPr algn="l">
              <a:lnSpc>
                <a:spcPct val="105000"/>
              </a:lnSpc>
              <a:spcBef>
                <a:spcPts val="0"/>
              </a:spcBef>
              <a:spcAft>
                <a:spcPts val="1100"/>
              </a:spcAft>
            </a:pPr>
            <a:r>
              <a:rPr sz="1700" b="0" i="0">
                <a:solidFill>
                  <a:srgbClr val="1A1A1A"/>
                </a:solidFill>
                <a:latin typeface="Arial"/>
              </a:rPr>
              <a:t>4  Breakout, 46 to 55, volume about 2.5 to 3 million: bullish confirmation.</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3: no direction, no reading (p.180).</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prices and volumes are ours, read off the chart.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23 of 29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under price. Price-based: price built in. Non-price-based: volume only.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closes PHP 50, 51, 50.5 on 2, 3, 1 million. Bars: 2, 3, 1. Line: start at 0; 51 is higher, add 3: 3; 50.5 is lower, subtract 1: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our gloss of oscillator. The numbers are ours. The chart is ours, on invented prices; its line is the rule taught in Part 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24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a:p>
            <a:pPr algn="l">
              <a:lnSpc>
                <a:spcPct val="118000"/>
              </a:lnSpc>
              <a:spcBef>
                <a:spcPts val="0"/>
              </a:spcBef>
              <a:spcAft>
                <a:spcPts val="1300"/>
              </a:spcAft>
            </a:pPr>
            <a:r>
              <a:rPr sz="2100" b="0" i="0">
                <a:solidFill>
                  <a:srgbClr val="1A1A1A"/>
                </a:solidFill>
                <a:latin typeface="Arial"/>
              </a:rPr>
              <a:t>So plain volume bars count as a non-price-based volume oscillator.</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510438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25 of 29</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1" i="0">
                <a:solidFill>
                  <a:srgbClr val="E09B00"/>
                </a:solidFill>
                <a:latin typeface="Arial"/>
              </a:rPr>
              <a:t>(1)</a:t>
            </a:r>
            <a:r>
              <a:rPr sz="1700" b="0" i="0">
                <a:solidFill>
                  <a:srgbClr val="1A1A1A"/>
                </a:solidFill>
                <a:latin typeface="Arial"/>
              </a:rPr>
              <a:t> Non-price-based, plain volume included: bullish if it moves with price, bearish if against. Divergence if it falls, confirmation if it rises.</a:t>
            </a:r>
          </a:p>
          <a:p>
            <a:pPr algn="l">
              <a:lnSpc>
                <a:spcPct val="105000"/>
              </a:lnSpc>
              <a:spcBef>
                <a:spcPts val="0"/>
              </a:spcBef>
              <a:spcAft>
                <a:spcPts val="1100"/>
              </a:spcAft>
            </a:pPr>
            <a:r>
              <a:rPr sz="1700" b="1" i="0">
                <a:solidFill>
                  <a:srgbClr val="C62828"/>
                </a:solidFill>
                <a:latin typeface="Arial"/>
              </a:rPr>
              <a:t>(2)</a:t>
            </a:r>
            <a:r>
              <a:rPr sz="1700" b="0" i="0">
                <a:solidFill>
                  <a:srgbClr val="1A1A1A"/>
                </a:solidFill>
                <a:latin typeface="Arial"/>
              </a:rPr>
              <a:t> Price-based, such as the OBV: bullish if it rises, bearish if it falls. Divergence if it moves against price, confirmation if with it.</a:t>
            </a:r>
          </a:p>
          <a:p>
            <a:pPr algn="l">
              <a:lnSpc>
                <a:spcPct val="105000"/>
              </a:lnSpc>
              <a:spcBef>
                <a:spcPts val="0"/>
              </a:spcBef>
              <a:spcAft>
                <a:spcPts val="1100"/>
              </a:spcAft>
            </a:pPr>
            <a:r>
              <a:rPr sz="1700" b="0" i="0">
                <a:solidFill>
                  <a:srgbClr val="1A1A1A"/>
                </a:solidFill>
                <a:latin typeface="Arial"/>
              </a:rPr>
              <a:t>Figure 6.7: top half divergence, bottom half confirmation; left </a:t>
            </a:r>
            <a:r>
              <a:rPr sz="1700" b="1" i="0">
                <a:solidFill>
                  <a:srgbClr val="E09B00"/>
                </a:solidFill>
                <a:latin typeface="Arial"/>
              </a:rPr>
              <a:t>(1)</a:t>
            </a:r>
            <a:r>
              <a:rPr sz="1700" b="0" i="0">
                <a:solidFill>
                  <a:srgbClr val="1A1A1A"/>
                </a:solidFill>
                <a:latin typeface="Arial"/>
              </a:rPr>
              <a:t> plain volume, right </a:t>
            </a:r>
            <a:r>
              <a:rPr sz="1700" b="1" i="0">
                <a:solidFill>
                  <a:srgbClr val="C62828"/>
                </a:solidFill>
                <a:latin typeface="Arial"/>
              </a:rPr>
              <a:t>(2)</a:t>
            </a:r>
            <a:r>
              <a:rPr sz="1700" b="0" i="0">
                <a:solidFill>
                  <a:srgbClr val="1A1A1A"/>
                </a:solidFill>
                <a:latin typeface="Arial"/>
              </a:rPr>
              <a:t> price-based. Two arrows flip, </a:t>
            </a:r>
            <a:r>
              <a:rPr sz="1700" b="1" i="0">
                <a:solidFill>
                  <a:srgbClr val="1F5FAD"/>
                </a:solidFill>
                <a:latin typeface="Arial"/>
              </a:rPr>
              <a:t>(3)</a:t>
            </a:r>
            <a:r>
              <a:rPr sz="1700" b="0" i="0">
                <a:solidFill>
                  <a:srgbClr val="1A1A1A"/>
                </a:solidFill>
                <a:latin typeface="Arial"/>
              </a:rPr>
              <a:t> and </a:t>
            </a:r>
            <a:r>
              <a:rPr sz="1700" b="1" i="0">
                <a:solidFill>
                  <a:srgbClr val="007A33"/>
                </a:solidFill>
                <a:latin typeface="Arial"/>
              </a:rPr>
              <a:t>(4)</a:t>
            </a:r>
            <a:r>
              <a:rPr sz="1700" b="0" i="0">
                <a:solidFill>
                  <a:srgbClr val="1A1A1A"/>
                </a:solidFill>
                <a:latin typeface="Arial"/>
              </a:rPr>
              <a:t>.</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3766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First ask which kind you are reading.</a:t>
            </a:r>
          </a:p>
        </p:txBody>
      </p:sp>
      <p:sp>
        <p:nvSpPr>
          <p:cNvPr id="10" name="TextBox 9"/>
          <p:cNvSpPr txBox="1"/>
          <p:nvPr/>
        </p:nvSpPr>
        <p:spPr>
          <a:xfrm>
            <a:off x="777240" y="5731002"/>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Book: only bullish divergence and bearish confirmation differ.</a:t>
            </a:r>
          </a:p>
        </p:txBody>
      </p:sp>
      <p:sp>
        <p:nvSpPr>
          <p:cNvPr id="11" name="Rectangle 10"/>
          <p:cNvSpPr/>
          <p:nvPr/>
        </p:nvSpPr>
        <p:spPr>
          <a:xfrm>
            <a:off x="6766559" y="1810512"/>
            <a:ext cx="4647894" cy="35965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885431" y="1929384"/>
            <a:ext cx="4410151" cy="3358835"/>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885431" y="1929384"/>
            <a:ext cx="441015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7159751" y="2203703"/>
            <a:ext cx="3861511" cy="290163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p:txBody>
      </p:sp>
      <p:sp>
        <p:nvSpPr>
          <p:cNvPr id="15" name="Rectangle 14"/>
          <p:cNvSpPr/>
          <p:nvPr/>
        </p:nvSpPr>
        <p:spPr>
          <a:xfrm>
            <a:off x="6951584" y="2006637"/>
            <a:ext cx="2125692" cy="3234558"/>
          </a:xfrm>
          <a:prstGeom prst="rect">
            <a:avLst/>
          </a:prstGeom>
          <a:noFill/>
          <a:ln w="44450">
            <a:solidFill>
              <a:srgbClr val="E09B00"/>
            </a:solidFill>
          </a:ln>
        </p:spPr>
        <p:txBody>
          <a:bodyPr rtlCol="0" anchor="ctr"/>
          <a:lstStyle/>
          <a:p>
            <a:pPr algn="ctr"/>
          </a:p>
        </p:txBody>
      </p:sp>
      <p:sp>
        <p:nvSpPr>
          <p:cNvPr id="16" name="Rectangle 15"/>
          <p:cNvSpPr/>
          <p:nvPr/>
        </p:nvSpPr>
        <p:spPr>
          <a:xfrm>
            <a:off x="9130198" y="2006637"/>
            <a:ext cx="2112462" cy="3234558"/>
          </a:xfrm>
          <a:prstGeom prst="rect">
            <a:avLst/>
          </a:prstGeom>
          <a:noFill/>
          <a:ln w="44450">
            <a:solidFill>
              <a:srgbClr val="C62828"/>
            </a:solidFill>
          </a:ln>
        </p:spPr>
        <p:txBody>
          <a:bodyPr rtlCol="0" anchor="ctr"/>
          <a:lstStyle/>
          <a:p>
            <a:pPr algn="ctr"/>
          </a:p>
        </p:txBody>
      </p:sp>
      <p:sp>
        <p:nvSpPr>
          <p:cNvPr id="17" name="Oval 16"/>
          <p:cNvSpPr/>
          <p:nvPr/>
        </p:nvSpPr>
        <p:spPr>
          <a:xfrm>
            <a:off x="10413552" y="2836269"/>
            <a:ext cx="771776" cy="470236"/>
          </a:xfrm>
          <a:prstGeom prst="ellipse">
            <a:avLst/>
          </a:prstGeom>
          <a:noFill/>
          <a:ln w="44450">
            <a:solidFill>
              <a:srgbClr val="1F5FAD"/>
            </a:solidFill>
          </a:ln>
        </p:spPr>
        <p:txBody>
          <a:bodyPr rtlCol="0" anchor="ctr"/>
          <a:lstStyle/>
          <a:p>
            <a:pPr algn="ctr"/>
          </a:p>
        </p:txBody>
      </p:sp>
      <p:sp>
        <p:nvSpPr>
          <p:cNvPr id="18" name="Oval 17"/>
          <p:cNvSpPr/>
          <p:nvPr/>
        </p:nvSpPr>
        <p:spPr>
          <a:xfrm>
            <a:off x="10409142" y="4354463"/>
            <a:ext cx="807057" cy="641537"/>
          </a:xfrm>
          <a:prstGeom prst="ellipse">
            <a:avLst/>
          </a:prstGeom>
          <a:noFill/>
          <a:ln w="44450">
            <a:solidFill>
              <a:srgbClr val="007A33"/>
            </a:solidFill>
          </a:ln>
        </p:spPr>
        <p:txBody>
          <a:bodyPr rtlCol="0" anchor="ctr"/>
          <a:lstStyle/>
          <a:p>
            <a:pPr algn="ctr"/>
          </a:p>
        </p:txBody>
      </p:sp>
      <p:sp>
        <p:nvSpPr>
          <p:cNvPr id="19" name="Oval 18"/>
          <p:cNvSpPr/>
          <p:nvPr/>
        </p:nvSpPr>
        <p:spPr>
          <a:xfrm>
            <a:off x="6796136" y="50857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8974750" y="508574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1029881" y="31510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11060752" y="4199015"/>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TextBox 22"/>
          <p:cNvSpPr txBox="1"/>
          <p:nvPr/>
        </p:nvSpPr>
        <p:spPr>
          <a:xfrm>
            <a:off x="6766559" y="549853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4" name="TextBox 2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two rules are our summary of the figure's eight arrows; the book gives no reason the two kinds differ.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names on both kinds,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26 of 29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 rising, PHP 46 to 50: both kinds read alike. Volume 3 to 5 million, OBV 5 to 7: bullish confirmation. Both down: bearish divergence.</a:t>
            </a:r>
          </a:p>
          <a:p>
            <a:pPr algn="l">
              <a:lnSpc>
                <a:spcPct val="118000"/>
              </a:lnSpc>
              <a:spcBef>
                <a:spcPts val="0"/>
              </a:spcBef>
              <a:spcAft>
                <a:spcPts val="1300"/>
              </a:spcAft>
            </a:pPr>
            <a:r>
              <a:rPr sz="2100" b="0" i="0">
                <a:solidFill>
                  <a:srgbClr val="1A1A1A"/>
                </a:solidFill>
                <a:latin typeface="Arial"/>
              </a:rPr>
              <a:t>Price falling, 50 to 46, bullish divergence: volume falls 3 to 1 million, with price; the OBV rises 5 to 7 million, against price.</a:t>
            </a:r>
          </a:p>
          <a:p>
            <a:pPr algn="l">
              <a:lnSpc>
                <a:spcPct val="118000"/>
              </a:lnSpc>
              <a:spcBef>
                <a:spcPts val="0"/>
              </a:spcBef>
              <a:spcAft>
                <a:spcPts val="1300"/>
              </a:spcAft>
            </a:pPr>
            <a:r>
              <a:rPr sz="2100" b="0" i="0">
                <a:solidFill>
                  <a:srgbClr val="1A1A1A"/>
                </a:solidFill>
                <a:latin typeface="Arial"/>
              </a:rPr>
              <a:t>Price falling, 50 to 46, bearish confirmation: volume rises 3 to 5 million, against price; the OBV falls 5 to 3 million, with price.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Price falling: same names, opposite arrows.</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Plain volume: rising is confirmation. A price-based line: moving with price is confirmation.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the four names on both kinds. The prices and the volume and OBV numbers are ours.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same four on Figure 6.7's arrows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27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1" i="0">
                <a:solidFill>
                  <a:srgbClr val="E09B00"/>
                </a:solidFill>
                <a:latin typeface="Arial"/>
              </a:rPr>
              <a:t>(1)</a:t>
            </a:r>
            <a:r>
              <a:rPr sz="1800" b="0" i="0">
                <a:solidFill>
                  <a:srgbClr val="1A1A1A"/>
                </a:solidFill>
                <a:latin typeface="Arial"/>
              </a:rPr>
              <a:t> and </a:t>
            </a:r>
            <a:r>
              <a:rPr sz="1800" b="1" i="0">
                <a:solidFill>
                  <a:srgbClr val="E09B00"/>
                </a:solidFill>
                <a:latin typeface="Arial"/>
              </a:rPr>
              <a:t>(2)</a:t>
            </a:r>
            <a:r>
              <a:rPr sz="1800" b="0" i="0">
                <a:solidFill>
                  <a:srgbClr val="1A1A1A"/>
                </a:solidFill>
                <a:latin typeface="Arial"/>
              </a:rPr>
              <a:t> Bullish confirmation, price rising: the volume arrows match on both kinds.</a:t>
            </a:r>
          </a:p>
          <a:p>
            <a:pPr algn="l">
              <a:lnSpc>
                <a:spcPct val="105000"/>
              </a:lnSpc>
              <a:spcBef>
                <a:spcPts val="0"/>
              </a:spcBef>
              <a:spcAft>
                <a:spcPts val="1100"/>
              </a:spcAft>
            </a:pPr>
            <a:r>
              <a:rPr sz="1800" b="1" i="0">
                <a:solidFill>
                  <a:srgbClr val="C62828"/>
                </a:solidFill>
                <a:latin typeface="Arial"/>
              </a:rPr>
              <a:t>(3)</a:t>
            </a:r>
            <a:r>
              <a:rPr sz="1800" b="0" i="0">
                <a:solidFill>
                  <a:srgbClr val="1A1A1A"/>
                </a:solidFill>
                <a:latin typeface="Arial"/>
              </a:rPr>
              <a:t> and </a:t>
            </a:r>
            <a:r>
              <a:rPr sz="1800" b="1" i="0">
                <a:solidFill>
                  <a:srgbClr val="C62828"/>
                </a:solidFill>
                <a:latin typeface="Arial"/>
              </a:rPr>
              <a:t>(4)</a:t>
            </a:r>
            <a:r>
              <a:rPr sz="1800" b="0" i="0">
                <a:solidFill>
                  <a:srgbClr val="1A1A1A"/>
                </a:solidFill>
                <a:latin typeface="Arial"/>
              </a:rPr>
              <a:t> Bullish divergence: plain volume falls with price; the price-based arrow rises.</a:t>
            </a:r>
          </a:p>
          <a:p>
            <a:pPr algn="l">
              <a:lnSpc>
                <a:spcPct val="105000"/>
              </a:lnSpc>
              <a:spcBef>
                <a:spcPts val="0"/>
              </a:spcBef>
              <a:spcAft>
                <a:spcPts val="1100"/>
              </a:spcAft>
            </a:pPr>
            <a:r>
              <a:rPr sz="1800" b="1" i="0">
                <a:solidFill>
                  <a:srgbClr val="1F5FAD"/>
                </a:solidFill>
                <a:latin typeface="Arial"/>
              </a:rPr>
              <a:t>(5)</a:t>
            </a:r>
            <a:r>
              <a:rPr sz="1800" b="0" i="0">
                <a:solidFill>
                  <a:srgbClr val="1A1A1A"/>
                </a:solidFill>
                <a:latin typeface="Arial"/>
              </a:rPr>
              <a:t> and </a:t>
            </a:r>
            <a:r>
              <a:rPr sz="1800" b="1" i="0">
                <a:solidFill>
                  <a:srgbClr val="1F5FAD"/>
                </a:solidFill>
                <a:latin typeface="Arial"/>
              </a:rPr>
              <a:t>(6)</a:t>
            </a:r>
            <a:r>
              <a:rPr sz="1800" b="0" i="0">
                <a:solidFill>
                  <a:srgbClr val="1A1A1A"/>
                </a:solidFill>
                <a:latin typeface="Arial"/>
              </a:rPr>
              <a:t> Bearish confirmation: plain volume rises; the price-based arrow falls with price.</a:t>
            </a:r>
          </a:p>
        </p:txBody>
      </p:sp>
      <p:sp>
        <p:nvSpPr>
          <p:cNvPr id="8" name="Rectangle 7"/>
          <p:cNvSpPr/>
          <p:nvPr/>
        </p:nvSpPr>
        <p:spPr>
          <a:xfrm>
            <a:off x="777240" y="4389120"/>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19379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the two price-falling cases flip.</a:t>
            </a:r>
          </a:p>
        </p:txBody>
      </p:sp>
      <p:sp>
        <p:nvSpPr>
          <p:cNvPr id="10" name="Rectangle 9"/>
          <p:cNvSpPr/>
          <p:nvPr/>
        </p:nvSpPr>
        <p:spPr>
          <a:xfrm>
            <a:off x="6583679" y="1810512"/>
            <a:ext cx="4830775" cy="37358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34981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30409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6.7</a:t>
            </a:r>
          </a:p>
          <a:p>
            <a:pPr algn="l">
              <a:lnSpc>
                <a:spcPct val="115000"/>
              </a:lnSpc>
              <a:spcBef>
                <a:spcPts val="0"/>
              </a:spcBef>
              <a:spcAft>
                <a:spcPts val="0"/>
              </a:spcAft>
            </a:pPr>
            <a:r>
              <a:rPr sz="1500" b="0" i="0">
                <a:solidFill>
                  <a:srgbClr val="1A1A1A"/>
                </a:solidFill>
                <a:latin typeface="Palatino"/>
              </a:rPr>
              <a:t>Eight pairs of arrows, a price arrow over a volume arrow, in four boxes. With price rising the two kinds of oscillator match; with price falling, in bullish divergence and bearish confirmation, the price-based volume arrow points the other way.</a:t>
            </a:r>
          </a:p>
        </p:txBody>
      </p:sp>
      <p:sp>
        <p:nvSpPr>
          <p:cNvPr id="14" name="Rectangle 13"/>
          <p:cNvSpPr/>
          <p:nvPr/>
        </p:nvSpPr>
        <p:spPr>
          <a:xfrm>
            <a:off x="6748482" y="3748406"/>
            <a:ext cx="987501" cy="1294304"/>
          </a:xfrm>
          <a:prstGeom prst="rect">
            <a:avLst/>
          </a:prstGeom>
          <a:noFill/>
          <a:ln w="44450">
            <a:solidFill>
              <a:srgbClr val="E09B00"/>
            </a:solidFill>
          </a:ln>
        </p:spPr>
        <p:txBody>
          <a:bodyPr rtlCol="0" anchor="ctr"/>
          <a:lstStyle/>
          <a:p>
            <a:pPr algn="ctr"/>
          </a:p>
        </p:txBody>
      </p:sp>
      <p:sp>
        <p:nvSpPr>
          <p:cNvPr id="15" name="Rectangle 14"/>
          <p:cNvSpPr/>
          <p:nvPr/>
        </p:nvSpPr>
        <p:spPr>
          <a:xfrm>
            <a:off x="9067962" y="3748406"/>
            <a:ext cx="964536" cy="1294304"/>
          </a:xfrm>
          <a:prstGeom prst="rect">
            <a:avLst/>
          </a:prstGeom>
          <a:noFill/>
          <a:ln w="44450">
            <a:solidFill>
              <a:srgbClr val="E09B00"/>
            </a:solidFill>
          </a:ln>
        </p:spPr>
        <p:txBody>
          <a:bodyPr rtlCol="0" anchor="ctr"/>
          <a:lstStyle/>
          <a:p>
            <a:pPr algn="ctr"/>
          </a:p>
        </p:txBody>
      </p:sp>
      <p:sp>
        <p:nvSpPr>
          <p:cNvPr id="16" name="Rectangle 15"/>
          <p:cNvSpPr/>
          <p:nvPr/>
        </p:nvSpPr>
        <p:spPr>
          <a:xfrm>
            <a:off x="8080461" y="1999346"/>
            <a:ext cx="877268" cy="1259323"/>
          </a:xfrm>
          <a:prstGeom prst="rect">
            <a:avLst/>
          </a:prstGeom>
          <a:noFill/>
          <a:ln w="44450">
            <a:solidFill>
              <a:srgbClr val="C62828"/>
            </a:solidFill>
          </a:ln>
        </p:spPr>
        <p:txBody>
          <a:bodyPr rtlCol="0" anchor="ctr"/>
          <a:lstStyle/>
          <a:p>
            <a:pPr algn="ctr"/>
          </a:p>
        </p:txBody>
      </p:sp>
      <p:sp>
        <p:nvSpPr>
          <p:cNvPr id="17" name="Rectangle 16"/>
          <p:cNvSpPr/>
          <p:nvPr/>
        </p:nvSpPr>
        <p:spPr>
          <a:xfrm>
            <a:off x="10376976" y="1999346"/>
            <a:ext cx="891048" cy="1259323"/>
          </a:xfrm>
          <a:prstGeom prst="rect">
            <a:avLst/>
          </a:prstGeom>
          <a:noFill/>
          <a:ln w="44450">
            <a:solidFill>
              <a:srgbClr val="C62828"/>
            </a:solidFill>
          </a:ln>
        </p:spPr>
        <p:txBody>
          <a:bodyPr rtlCol="0" anchor="ctr"/>
          <a:lstStyle/>
          <a:p>
            <a:pPr algn="ctr"/>
          </a:p>
        </p:txBody>
      </p:sp>
      <p:sp>
        <p:nvSpPr>
          <p:cNvPr id="18" name="Rectangle 17"/>
          <p:cNvSpPr/>
          <p:nvPr/>
        </p:nvSpPr>
        <p:spPr>
          <a:xfrm>
            <a:off x="8080461" y="3748406"/>
            <a:ext cx="877268" cy="1294304"/>
          </a:xfrm>
          <a:prstGeom prst="rect">
            <a:avLst/>
          </a:prstGeom>
          <a:noFill/>
          <a:ln w="44450">
            <a:solidFill>
              <a:srgbClr val="1F5FAD"/>
            </a:solidFill>
          </a:ln>
        </p:spPr>
        <p:txBody>
          <a:bodyPr rtlCol="0" anchor="ctr"/>
          <a:lstStyle/>
          <a:p>
            <a:pPr algn="ctr"/>
          </a:p>
        </p:txBody>
      </p:sp>
      <p:sp>
        <p:nvSpPr>
          <p:cNvPr id="19" name="Rectangle 18"/>
          <p:cNvSpPr/>
          <p:nvPr/>
        </p:nvSpPr>
        <p:spPr>
          <a:xfrm>
            <a:off x="10376976" y="3748406"/>
            <a:ext cx="891048" cy="1294304"/>
          </a:xfrm>
          <a:prstGeom prst="rect">
            <a:avLst/>
          </a:prstGeom>
          <a:noFill/>
          <a:ln w="44450">
            <a:solidFill>
              <a:srgbClr val="1F5FAD"/>
            </a:solidFill>
          </a:ln>
        </p:spPr>
        <p:txBody>
          <a:bodyPr rtlCol="0" anchor="ctr"/>
          <a:lstStyle/>
          <a:p>
            <a:pPr algn="ctr"/>
          </a:p>
        </p:txBody>
      </p:sp>
      <p:sp>
        <p:nvSpPr>
          <p:cNvPr id="20" name="Oval 19"/>
          <p:cNvSpPr/>
          <p:nvPr/>
        </p:nvSpPr>
        <p:spPr>
          <a:xfrm>
            <a:off x="659303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912514" y="488726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Oval 21"/>
          <p:cNvSpPr/>
          <p:nvPr/>
        </p:nvSpPr>
        <p:spPr>
          <a:xfrm>
            <a:off x="7925013"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3" name="Oval 22"/>
          <p:cNvSpPr/>
          <p:nvPr/>
        </p:nvSpPr>
        <p:spPr>
          <a:xfrm>
            <a:off x="10221528" y="1843898"/>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4" name="Oval 23"/>
          <p:cNvSpPr/>
          <p:nvPr/>
        </p:nvSpPr>
        <p:spPr>
          <a:xfrm>
            <a:off x="8802282"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5" name="Oval 24"/>
          <p:cNvSpPr/>
          <p:nvPr/>
        </p:nvSpPr>
        <p:spPr>
          <a:xfrm>
            <a:off x="11112576" y="359295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6</a:t>
            </a:r>
          </a:p>
        </p:txBody>
      </p:sp>
      <p:sp>
        <p:nvSpPr>
          <p:cNvPr id="26" name="TextBox 25"/>
          <p:cNvSpPr txBox="1"/>
          <p:nvPr/>
        </p:nvSpPr>
        <p:spPr>
          <a:xfrm>
            <a:off x="6583679" y="56378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27" name="TextBox 2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where the two kinds' arrows match and where they differ.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price and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28 of 29</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trust rises from about 129 to 133, October to January.</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Volume and smoothed volume, a 20-day average, non-price-based: falling, against price: bearish divergence.</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Plain volume falling under a rising price: bearish divergence.</a:t>
            </a:r>
          </a:p>
        </p:txBody>
      </p:sp>
      <p:sp>
        <p:nvSpPr>
          <p:cNvPr id="10" name="TextBox 9"/>
          <p:cNvSpPr txBox="1"/>
          <p:nvPr/>
        </p:nvSpPr>
        <p:spPr>
          <a:xfrm>
            <a:off x="777240" y="508406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Smoothed volume: Part 3. The figure's two lower panels come next.</a:t>
            </a:r>
          </a:p>
        </p:txBody>
      </p:sp>
      <p:sp>
        <p:nvSpPr>
          <p:cNvPr id="11" name="Rectangle 10"/>
          <p:cNvSpPr/>
          <p:nvPr/>
        </p:nvSpPr>
        <p:spPr>
          <a:xfrm>
            <a:off x="6583679" y="1810512"/>
            <a:ext cx="4830775" cy="338358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314584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68864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top of Figure 6.8: a daily chart of the Currency Shares Euro Trust rising from about 129 to 133, and under it volume with a smoothed line, labelled bearish divergence.</a:t>
            </a:r>
          </a:p>
        </p:txBody>
      </p:sp>
      <p:cxnSp>
        <p:nvCxnSpPr>
          <p:cNvPr id="15" name="Connector 14"/>
          <p:cNvCxnSpPr/>
          <p:nvPr/>
        </p:nvCxnSpPr>
        <p:spPr>
          <a:xfrm flipV="1">
            <a:off x="8291740" y="2580573"/>
            <a:ext cx="1873957" cy="311438"/>
          </a:xfrm>
          <a:prstGeom prst="line">
            <a:avLst/>
          </a:prstGeom>
          <a:ln w="44450">
            <a:solidFill>
              <a:srgbClr val="E09B00"/>
            </a:solidFill>
            <a:tailEnd type="triangle" w="med" len="med"/>
          </a:ln>
        </p:spPr>
      </p:cxnSp>
      <p:sp>
        <p:nvSpPr>
          <p:cNvPr id="16" name="Rectangle 15"/>
          <p:cNvSpPr/>
          <p:nvPr/>
        </p:nvSpPr>
        <p:spPr>
          <a:xfrm>
            <a:off x="6734703" y="4096868"/>
            <a:ext cx="4528728" cy="962627"/>
          </a:xfrm>
          <a:prstGeom prst="rect">
            <a:avLst/>
          </a:prstGeom>
          <a:noFill/>
          <a:ln w="44450">
            <a:solidFill>
              <a:srgbClr val="C62828"/>
            </a:solidFill>
          </a:ln>
        </p:spPr>
        <p:txBody>
          <a:bodyPr rtlCol="0" anchor="ctr"/>
          <a:lstStyle/>
          <a:p>
            <a:pPr algn="ctr"/>
          </a:p>
        </p:txBody>
      </p:sp>
      <p:sp>
        <p:nvSpPr>
          <p:cNvPr id="17" name="Oval 16"/>
          <p:cNvSpPr/>
          <p:nvPr/>
        </p:nvSpPr>
        <p:spPr>
          <a:xfrm>
            <a:off x="8136292" y="2736563"/>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6579255" y="394142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6583679" y="528553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its prices read off the figure. Shown: its price and volume panels.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 the PVO and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29 of 29</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same months, the same price rising from about 129 to 133.</a:t>
            </a:r>
          </a:p>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The PVO, a detrended volume oscillator the book never explains: non-price-based, falling: bearish divergence too.</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ADL, price-based: rising, with price: bullish confirmation.</a:t>
            </a:r>
          </a:p>
        </p:txBody>
      </p:sp>
      <p:sp>
        <p:nvSpPr>
          <p:cNvPr id="8" name="Rectangle 7"/>
          <p:cNvSpPr/>
          <p:nvPr/>
        </p:nvSpPr>
        <p:spPr>
          <a:xfrm>
            <a:off x="777240" y="5093208"/>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29784"/>
            <a:ext cx="42793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Each kind read by its own rule.</a:t>
            </a:r>
          </a:p>
        </p:txBody>
      </p:sp>
      <p:sp>
        <p:nvSpPr>
          <p:cNvPr id="10" name="TextBox 9"/>
          <p:cNvSpPr txBox="1"/>
          <p:nvPr/>
        </p:nvSpPr>
        <p:spPr>
          <a:xfrm>
            <a:off x="777240" y="574548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rule for which reading to believe.</a:t>
            </a:r>
          </a:p>
        </p:txBody>
      </p:sp>
      <p:sp>
        <p:nvSpPr>
          <p:cNvPr id="11" name="Rectangle 10"/>
          <p:cNvSpPr/>
          <p:nvPr/>
        </p:nvSpPr>
        <p:spPr>
          <a:xfrm>
            <a:off x="5669279" y="1810512"/>
            <a:ext cx="5745175" cy="2662244"/>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788151" y="1929384"/>
            <a:ext cx="5507431" cy="2424500"/>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5788151" y="1929384"/>
            <a:ext cx="55074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062471" y="2203703"/>
            <a:ext cx="4958791" cy="196730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6.8</a:t>
            </a:r>
          </a:p>
          <a:p>
            <a:pPr algn="l">
              <a:lnSpc>
                <a:spcPct val="115000"/>
              </a:lnSpc>
              <a:spcBef>
                <a:spcPts val="0"/>
              </a:spcBef>
              <a:spcAft>
                <a:spcPts val="0"/>
              </a:spcAft>
            </a:pPr>
            <a:r>
              <a:rPr sz="1500" b="0" i="0">
                <a:solidFill>
                  <a:srgbClr val="1A1A1A"/>
                </a:solidFill>
                <a:latin typeface="Palatino"/>
              </a:rPr>
              <a:t>The bottom of Figure 6.8: a detrended volume oscillator, the PVO, labelled bearish divergence, and under it the accumulation distribution line rising, labelled bullish confirmation.</a:t>
            </a:r>
          </a:p>
        </p:txBody>
      </p:sp>
      <p:sp>
        <p:nvSpPr>
          <p:cNvPr id="15" name="Rectangle 14"/>
          <p:cNvSpPr/>
          <p:nvPr/>
        </p:nvSpPr>
        <p:spPr>
          <a:xfrm>
            <a:off x="5826704" y="1987572"/>
            <a:ext cx="5430326" cy="1095874"/>
          </a:xfrm>
          <a:prstGeom prst="rect">
            <a:avLst/>
          </a:prstGeom>
          <a:noFill/>
          <a:ln w="44450">
            <a:solidFill>
              <a:srgbClr val="E09B00"/>
            </a:solidFill>
          </a:ln>
        </p:spPr>
        <p:txBody>
          <a:bodyPr rtlCol="0" anchor="ctr"/>
          <a:lstStyle/>
          <a:p>
            <a:pPr algn="ctr"/>
          </a:p>
        </p:txBody>
      </p:sp>
      <p:sp>
        <p:nvSpPr>
          <p:cNvPr id="16" name="Rectangle 15"/>
          <p:cNvSpPr/>
          <p:nvPr/>
        </p:nvSpPr>
        <p:spPr>
          <a:xfrm>
            <a:off x="5826704" y="3122238"/>
            <a:ext cx="5430326" cy="1212250"/>
          </a:xfrm>
          <a:prstGeom prst="rect">
            <a:avLst/>
          </a:prstGeom>
          <a:noFill/>
          <a:ln w="44450">
            <a:solidFill>
              <a:srgbClr val="C62828"/>
            </a:solidFill>
          </a:ln>
        </p:spPr>
        <p:txBody>
          <a:bodyPr rtlCol="0" anchor="ctr"/>
          <a:lstStyle/>
          <a:p>
            <a:pPr algn="ctr"/>
          </a:p>
        </p:txBody>
      </p:sp>
      <p:sp>
        <p:nvSpPr>
          <p:cNvPr id="17" name="Oval 16"/>
          <p:cNvSpPr/>
          <p:nvPr/>
        </p:nvSpPr>
        <p:spPr>
          <a:xfrm>
            <a:off x="11101582" y="292799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11101582" y="4179040"/>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TextBox 18"/>
          <p:cNvSpPr txBox="1"/>
          <p:nvPr/>
        </p:nvSpPr>
        <p:spPr>
          <a:xfrm>
            <a:off x="5669279" y="4564196"/>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6.8 - Lim, The Handbook of Technical Analysis (Wiley, 2016)</a:t>
            </a:r>
          </a:p>
        </p:txBody>
      </p:sp>
      <p:sp>
        <p:nvSpPr>
          <p:cNvPr id="20" name="TextBox 1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Shown: its two lower panels. PVO and detrending are on the figure and not explained by the book.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Consolidation: price moving sideways in a range, here PHP 48 to 52.</a:t>
            </a:r>
          </a:p>
          <a:p>
            <a:pPr algn="l">
              <a:lnSpc>
                <a:spcPct val="105000"/>
              </a:lnSpc>
              <a:spcBef>
                <a:spcPts val="0"/>
              </a:spcBef>
              <a:spcAft>
                <a:spcPts val="1100"/>
              </a:spcAft>
            </a:pPr>
            <a:r>
              <a:rPr sz="1500" b="0" i="0">
                <a:solidFill>
                  <a:srgbClr val="1A1A1A"/>
                </a:solidFill>
                <a:latin typeface="Arial"/>
              </a:rPr>
              <a:t>The book: as volume falls close to its lowest historical level, a breakout from the range is expected.</a:t>
            </a:r>
          </a:p>
          <a:p>
            <a:pPr algn="l">
              <a:lnSpc>
                <a:spcPct val="105000"/>
              </a:lnSpc>
              <a:spcBef>
                <a:spcPts val="0"/>
              </a:spcBef>
              <a:spcAft>
                <a:spcPts val="1100"/>
              </a:spcAft>
            </a:pPr>
            <a:r>
              <a:rPr sz="1500" b="0" i="0">
                <a:solidFill>
                  <a:srgbClr val="1A1A1A"/>
                </a:solidFill>
                <a:latin typeface="Arial"/>
              </a:rPr>
              <a:t>Ours: an earlier low, 0.45 million, sets the dashed level. Volume falls back to 0.42 at 1, testing it; at 2 price breaks out on 3.6 million.</a:t>
            </a:r>
          </a:p>
        </p:txBody>
      </p:sp>
      <p:sp>
        <p:nvSpPr>
          <p:cNvPr id="8" name="Rectangle 7"/>
          <p:cNvSpPr/>
          <p:nvPr/>
        </p:nvSpPr>
        <p:spPr>
          <a:xfrm>
            <a:off x="777240" y="458114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No divergence reading in a range: price moves sideways.</a:t>
            </a:r>
          </a:p>
        </p:txBody>
      </p:sp>
      <p:sp>
        <p:nvSpPr>
          <p:cNvPr id="10" name="TextBox 9"/>
          <p:cNvSpPr txBox="1"/>
          <p:nvPr/>
        </p:nvSpPr>
        <p:spPr>
          <a:xfrm>
            <a:off x="777240" y="541629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How far back historical reaches, the book does not say.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Consolidation and breakout: Chapters 2 and 4. The chart is ours, on invented prices and volume; the numbers are read off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lowest volume times the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Volume shrinks as each side finishes: most who wanted to buy have bought, most who wanted to sell have sold.</a:t>
            </a:r>
          </a:p>
          <a:p>
            <a:pPr algn="l">
              <a:lnSpc>
                <a:spcPct val="118000"/>
              </a:lnSpc>
              <a:spcBef>
                <a:spcPts val="0"/>
              </a:spcBef>
              <a:spcAft>
                <a:spcPts val="1300"/>
              </a:spcAft>
            </a:pPr>
            <a:r>
              <a:rPr sz="2100" b="0" i="0">
                <a:solidFill>
                  <a:srgbClr val="1A1A1A"/>
                </a:solidFill>
                <a:latin typeface="Arial"/>
              </a:rPr>
              <a:t>2  Stop orders pile up outside the range: buy stops above PHP 52, sell stops below PHP 48 (Chapter 1: they trade once price pushes through their level).</a:t>
            </a:r>
          </a:p>
          <a:p>
            <a:pPr algn="l">
              <a:lnSpc>
                <a:spcPct val="118000"/>
              </a:lnSpc>
              <a:spcBef>
                <a:spcPts val="0"/>
              </a:spcBef>
              <a:spcAft>
                <a:spcPts val="1300"/>
              </a:spcAft>
            </a:pPr>
            <a:r>
              <a:rPr sz="2100" b="0" i="0">
                <a:solidFill>
                  <a:srgbClr val="1A1A1A"/>
                </a:solidFill>
                <a:latin typeface="Arial"/>
              </a:rPr>
              <a:t>3  When price reaches one edge, those stops trigger together and push it out: the catalyst.</a:t>
            </a:r>
          </a:p>
          <a:p>
            <a:pPr algn="l">
              <a:lnSpc>
                <a:spcPct val="118000"/>
              </a:lnSpc>
              <a:spcBef>
                <a:spcPts val="0"/>
              </a:spcBef>
              <a:spcAft>
                <a:spcPts val="1300"/>
              </a:spcAft>
            </a:pPr>
            <a:r>
              <a:rPr sz="2100" b="0" i="0">
                <a:solidFill>
                  <a:srgbClr val="1A1A1A"/>
                </a:solidFill>
                <a:latin typeface="Arial"/>
              </a:rPr>
              <a:t>4  Up or down, the book does not say: let price show the way.</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volume back at an earlier low, expect a breakout.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reasons are the book's. Stop orders: Chapters 1 and 5. The PHP 48 and 52 edges are ours.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one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1  Volume shrinks, to 0.42 million.</a:t>
            </a:r>
          </a:p>
          <a:p>
            <a:pPr algn="l">
              <a:lnSpc>
                <a:spcPct val="105000"/>
              </a:lnSpc>
              <a:spcBef>
                <a:spcPts val="0"/>
              </a:spcBef>
              <a:spcAft>
                <a:spcPts val="1100"/>
              </a:spcAft>
            </a:pPr>
            <a:r>
              <a:rPr sz="2000" b="0" i="0">
                <a:solidFill>
                  <a:srgbClr val="1A1A1A"/>
                </a:solidFill>
                <a:latin typeface="Arial"/>
              </a:rPr>
              <a:t>2  Buy stops wait above PHP 52, sell stops below PHP 48.</a:t>
            </a:r>
          </a:p>
          <a:p>
            <a:pPr algn="l">
              <a:lnSpc>
                <a:spcPct val="105000"/>
              </a:lnSpc>
              <a:spcBef>
                <a:spcPts val="0"/>
              </a:spcBef>
              <a:spcAft>
                <a:spcPts val="1100"/>
              </a:spcAft>
            </a:pPr>
            <a:r>
              <a:rPr sz="2000" b="0" i="0">
                <a:solidFill>
                  <a:srgbClr val="1A1A1A"/>
                </a:solidFill>
                <a:latin typeface="Arial"/>
              </a:rPr>
              <a:t>3  Price reaches the top edge: the buy stops trigger.</a:t>
            </a:r>
          </a:p>
          <a:p>
            <a:pPr algn="l">
              <a:lnSpc>
                <a:spcPct val="105000"/>
              </a:lnSpc>
              <a:spcBef>
                <a:spcPts val="0"/>
              </a:spcBef>
              <a:spcAft>
                <a:spcPts val="1100"/>
              </a:spcAft>
            </a:pPr>
            <a:r>
              <a:rPr sz="2000" b="0" i="0">
                <a:solidFill>
                  <a:srgbClr val="1A1A1A"/>
                </a:solidFill>
                <a:latin typeface="Arial"/>
              </a:rPr>
              <a:t>4  It breaks out up, on 3.6 million.</a:t>
            </a:r>
          </a:p>
        </p:txBody>
      </p:sp>
      <p:sp>
        <p:nvSpPr>
          <p:cNvPr id="8" name="Rectangle 7"/>
          <p:cNvSpPr/>
          <p:nvPr/>
        </p:nvSpPr>
        <p:spPr>
          <a:xfrm>
            <a:off x="777240" y="4745736"/>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82312"/>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quiet range is where the breakout is loaded.</a:t>
            </a:r>
          </a:p>
        </p:txBody>
      </p:sp>
      <p:sp>
        <p:nvSpPr>
          <p:cNvPr id="10" name="Rectangle 9"/>
          <p:cNvSpPr/>
          <p:nvPr/>
        </p:nvSpPr>
        <p:spPr>
          <a:xfrm>
            <a:off x="6402171" y="1810512"/>
            <a:ext cx="482803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ga.png"/>
          <p:cNvPicPr>
            <a:picLocks noChangeAspect="1"/>
          </p:cNvPicPr>
          <p:nvPr/>
        </p:nvPicPr>
        <p:blipFill>
          <a:blip r:embed="rId2"/>
          <a:stretch>
            <a:fillRect/>
          </a:stretch>
        </p:blipFill>
        <p:spPr>
          <a:xfrm>
            <a:off x="6521043" y="1929384"/>
            <a:ext cx="459028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p.180's four reasons, drawn on our invented range, PHP 48 to 52. Every price and volume is ours.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signal, not a trade: in a range, volume falls back to a low it has touched before, testing it. Expect price to leave the range soon, up or down.</a:t>
            </a:r>
          </a:p>
        </p:txBody>
      </p:sp>
      <p:sp>
        <p:nvSpPr>
          <p:cNvPr id="10" name="Rectangle 9"/>
          <p:cNvSpPr/>
          <p:nvPr/>
        </p:nvSpPr>
        <p:spPr>
          <a:xfrm>
            <a:off x="777240" y="3401568"/>
            <a:ext cx="64008" cy="1115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6.9, Apple: in late March, inside the Accumulation box </a:t>
            </a:r>
            <a:r>
              <a:rPr sz="1500" b="1" i="0">
                <a:solidFill>
                  <a:srgbClr val="C62828"/>
                </a:solidFill>
                <a:latin typeface="Arial"/>
              </a:rPr>
              <a:t>(2)</a:t>
            </a:r>
            <a:r>
              <a:rPr sz="1500" b="0" i="0">
                <a:solidFill>
                  <a:srgbClr val="1A1A1A"/>
                </a:solidFill>
                <a:latin typeface="Arial"/>
              </a:rPr>
              <a:t>, a buying range (Chapters 2 and 4), volume falls back to the dashed low volume level </a:t>
            </a:r>
            <a:r>
              <a:rPr sz="1500" b="1" i="0">
                <a:solidFill>
                  <a:srgbClr val="E09B00"/>
                </a:solidFill>
                <a:latin typeface="Arial"/>
              </a:rPr>
              <a:t>(1)</a:t>
            </a:r>
            <a:r>
              <a:rPr sz="1500" b="0" i="0">
                <a:solidFill>
                  <a:srgbClr val="1A1A1A"/>
                </a:solidFill>
                <a:latin typeface="Arial"/>
              </a:rPr>
              <a:t>, at </a:t>
            </a:r>
            <a:r>
              <a:rPr sz="1500" b="1" i="0">
                <a:solidFill>
                  <a:srgbClr val="1F5FAD"/>
                </a:solidFill>
                <a:latin typeface="Arial"/>
              </a:rPr>
              <a:t>(3)</a:t>
            </a:r>
            <a:r>
              <a:rPr sz="1500" b="0" i="0">
                <a:solidFill>
                  <a:srgbClr val="1A1A1A"/>
                </a:solidFill>
                <a:latin typeface="Arial"/>
              </a:rPr>
              <a:t>. In April price breaks out of the top.</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6766559" y="2157984"/>
            <a:ext cx="4647894" cy="331199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307424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61704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6.9</a:t>
            </a:r>
          </a:p>
          <a:p>
            <a:pPr algn="l">
              <a:lnSpc>
                <a:spcPct val="115000"/>
              </a:lnSpc>
              <a:spcBef>
                <a:spcPts val="0"/>
              </a:spcBef>
              <a:spcAft>
                <a:spcPts val="0"/>
              </a:spcAft>
            </a:pPr>
            <a:r>
              <a:rPr sz="15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p:txBody>
      </p:sp>
      <p:cxnSp>
        <p:nvCxnSpPr>
          <p:cNvPr id="18" name="Connector 17"/>
          <p:cNvCxnSpPr/>
          <p:nvPr/>
        </p:nvCxnSpPr>
        <p:spPr>
          <a:xfrm>
            <a:off x="6929533" y="4963750"/>
            <a:ext cx="4321948" cy="0"/>
          </a:xfrm>
          <a:prstGeom prst="line">
            <a:avLst/>
          </a:prstGeom>
          <a:ln w="44450">
            <a:solidFill>
              <a:srgbClr val="E09B00"/>
            </a:solidFill>
          </a:ln>
        </p:spPr>
      </p:cxnSp>
      <p:sp>
        <p:nvSpPr>
          <p:cNvPr id="19" name="Rectangle 18"/>
          <p:cNvSpPr/>
          <p:nvPr/>
        </p:nvSpPr>
        <p:spPr>
          <a:xfrm>
            <a:off x="9496241" y="2937819"/>
            <a:ext cx="1428888" cy="740894"/>
          </a:xfrm>
          <a:prstGeom prst="rect">
            <a:avLst/>
          </a:prstGeom>
          <a:noFill/>
          <a:ln w="44450">
            <a:solidFill>
              <a:srgbClr val="C62828"/>
            </a:solidFill>
          </a:ln>
        </p:spPr>
        <p:txBody>
          <a:bodyPr rtlCol="0" anchor="ctr"/>
          <a:lstStyle/>
          <a:p>
            <a:pPr algn="ctr"/>
          </a:p>
        </p:txBody>
      </p:sp>
      <p:sp>
        <p:nvSpPr>
          <p:cNvPr id="20" name="Oval 19"/>
          <p:cNvSpPr/>
          <p:nvPr/>
        </p:nvSpPr>
        <p:spPr>
          <a:xfrm>
            <a:off x="10431193" y="4524132"/>
            <a:ext cx="529218" cy="562587"/>
          </a:xfrm>
          <a:prstGeom prst="ellipse">
            <a:avLst/>
          </a:prstGeom>
          <a:noFill/>
          <a:ln w="44450">
            <a:solidFill>
              <a:srgbClr val="1F5FAD"/>
            </a:solidFill>
          </a:ln>
        </p:spPr>
        <p:txBody>
          <a:bodyPr rtlCol="0" anchor="ctr"/>
          <a:lstStyle/>
          <a:p>
            <a:pPr algn="ctr"/>
          </a:p>
        </p:txBody>
      </p:sp>
      <p:sp>
        <p:nvSpPr>
          <p:cNvPr id="21" name="Oval 20"/>
          <p:cNvSpPr/>
          <p:nvPr/>
        </p:nvSpPr>
        <p:spPr>
          <a:xfrm>
            <a:off x="6774085" y="480830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2" name="Oval 21"/>
          <p:cNvSpPr/>
          <p:nvPr/>
        </p:nvSpPr>
        <p:spPr>
          <a:xfrm>
            <a:off x="9340793" y="2782371"/>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3" name="Oval 22"/>
          <p:cNvSpPr/>
          <p:nvPr/>
        </p:nvSpPr>
        <p:spPr>
          <a:xfrm>
            <a:off x="10875525" y="4931272"/>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4" name="TextBox 23"/>
          <p:cNvSpPr txBox="1"/>
          <p:nvPr/>
        </p:nvSpPr>
        <p:spPr>
          <a:xfrm>
            <a:off x="6766559" y="556141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6.9 -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 Accumulation: Chapters 2 and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Price turns as volume sits at its minimum. In a trend, volume testing its low says the trend may turn, the book's tendency; price shows which way.</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Ours: volume shrinks to 0.55 million at 1, the PHP 56 peak, and price turns down. That low is the dashed line. At 2, PHP 47, volume falls back to it and price turns up.</a:t>
            </a:r>
          </a:p>
        </p:txBody>
      </p:sp>
      <p:sp>
        <p:nvSpPr>
          <p:cNvPr id="12" name="Rectangle 11"/>
          <p:cNvSpPr/>
          <p:nvPr/>
        </p:nvSpPr>
        <p:spPr>
          <a:xfrm>
            <a:off x="777240" y="45445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 The book does not say how the low is set.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three boxes are consolidations. The low volume threshold </a:t>
            </a:r>
            <a:r>
              <a:rPr sz="1600" b="1" i="0">
                <a:solidFill>
                  <a:srgbClr val="E09B00"/>
                </a:solidFill>
                <a:latin typeface="Arial"/>
              </a:rPr>
              <a:t>(1)</a:t>
            </a:r>
            <a:r>
              <a:rPr sz="1600" b="0" i="0">
                <a:solidFill>
                  <a:srgbClr val="1A1A1A"/>
                </a:solidFill>
                <a:latin typeface="Arial"/>
              </a:rPr>
              <a:t> runs low across the volume panel, near 10 million shares.</a:t>
            </a:r>
          </a:p>
          <a:p>
            <a:pPr algn="l">
              <a:lnSpc>
                <a:spcPct val="105000"/>
              </a:lnSpc>
              <a:spcBef>
                <a:spcPts val="0"/>
              </a:spcBef>
              <a:spcAft>
                <a:spcPts val="1100"/>
              </a:spcAft>
            </a:pPr>
            <a:r>
              <a:rPr sz="1600" b="0" i="0">
                <a:solidFill>
                  <a:srgbClr val="1A1A1A"/>
                </a:solidFill>
                <a:latin typeface="Arial"/>
              </a:rPr>
              <a:t>Dotted arrows: volume falls to it in each box. Then price breaks out: up at 1, from an accumulation; down at 2 and 3, from distributions, ranges where informed holders sell.</a:t>
            </a:r>
          </a:p>
          <a:p>
            <a:pPr algn="l">
              <a:lnSpc>
                <a:spcPct val="105000"/>
              </a:lnSpc>
              <a:spcBef>
                <a:spcPts val="0"/>
              </a:spcBef>
              <a:spcAft>
                <a:spcPts val="1100"/>
              </a:spcAft>
            </a:pPr>
            <a:r>
              <a:rPr sz="1600" b="0" i="0">
                <a:solidFill>
                  <a:srgbClr val="1A1A1A"/>
                </a:solidFill>
                <a:latin typeface="Arial"/>
              </a:rPr>
              <a:t>Volume rises on the breakout bars, </a:t>
            </a:r>
            <a:r>
              <a:rPr sz="1600" b="1" i="0">
                <a:solidFill>
                  <a:srgbClr val="C62828"/>
                </a:solidFill>
                <a:latin typeface="Arial"/>
              </a:rPr>
              <a:t>(2)</a:t>
            </a:r>
            <a:r>
              <a:rPr sz="1600" b="0" i="0">
                <a:solidFill>
                  <a:srgbClr val="1A1A1A"/>
                </a:solidFill>
                <a:latin typeface="Arial"/>
              </a:rPr>
              <a: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under the book's 1, 2 and 3.</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One signal, three times: it said when; price chose the way.</a:t>
            </a:r>
          </a:p>
        </p:txBody>
      </p:sp>
      <p:sp>
        <p:nvSpPr>
          <p:cNvPr id="10" name="Rectangle 9"/>
          <p:cNvSpPr/>
          <p:nvPr/>
        </p:nvSpPr>
        <p:spPr>
          <a:xfrm>
            <a:off x="6217919" y="1810512"/>
            <a:ext cx="5196535" cy="321242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97467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51747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6.10</a:t>
            </a:r>
          </a:p>
          <a:p>
            <a:pPr algn="l">
              <a:lnSpc>
                <a:spcPct val="115000"/>
              </a:lnSpc>
              <a:spcBef>
                <a:spcPts val="0"/>
              </a:spcBef>
              <a:spcAft>
                <a:spcPts val="0"/>
              </a:spcAft>
            </a:pPr>
            <a:r>
              <a:rPr sz="15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p:txBody>
      </p:sp>
      <p:cxnSp>
        <p:nvCxnSpPr>
          <p:cNvPr id="14" name="Connector 13"/>
          <p:cNvCxnSpPr/>
          <p:nvPr/>
        </p:nvCxnSpPr>
        <p:spPr>
          <a:xfrm>
            <a:off x="6366544" y="4630393"/>
            <a:ext cx="4899286" cy="0"/>
          </a:xfrm>
          <a:prstGeom prst="line">
            <a:avLst/>
          </a:prstGeom>
          <a:ln w="44450">
            <a:solidFill>
              <a:srgbClr val="E09B00"/>
            </a:solidFill>
          </a:ln>
        </p:spPr>
      </p:cxnSp>
      <p:sp>
        <p:nvSpPr>
          <p:cNvPr id="15" name="Oval 14"/>
          <p:cNvSpPr/>
          <p:nvPr/>
        </p:nvSpPr>
        <p:spPr>
          <a:xfrm>
            <a:off x="7988069" y="4359697"/>
            <a:ext cx="223145" cy="345062"/>
          </a:xfrm>
          <a:prstGeom prst="ellipse">
            <a:avLst/>
          </a:prstGeom>
          <a:noFill/>
          <a:ln w="44450">
            <a:solidFill>
              <a:srgbClr val="C62828"/>
            </a:solidFill>
          </a:ln>
        </p:spPr>
        <p:txBody>
          <a:bodyPr rtlCol="0" anchor="ctr"/>
          <a:lstStyle/>
          <a:p>
            <a:pPr algn="ctr"/>
          </a:p>
        </p:txBody>
      </p:sp>
      <p:sp>
        <p:nvSpPr>
          <p:cNvPr id="16" name="Oval 15"/>
          <p:cNvSpPr/>
          <p:nvPr/>
        </p:nvSpPr>
        <p:spPr>
          <a:xfrm>
            <a:off x="10075720" y="4395393"/>
            <a:ext cx="223145" cy="309366"/>
          </a:xfrm>
          <a:prstGeom prst="ellipse">
            <a:avLst/>
          </a:prstGeom>
          <a:noFill/>
          <a:ln w="44450">
            <a:solidFill>
              <a:srgbClr val="1F5FAD"/>
            </a:solidFill>
          </a:ln>
        </p:spPr>
        <p:txBody>
          <a:bodyPr rtlCol="0" anchor="ctr"/>
          <a:lstStyle/>
          <a:p>
            <a:pPr algn="ctr"/>
          </a:p>
        </p:txBody>
      </p:sp>
      <p:sp>
        <p:nvSpPr>
          <p:cNvPr id="17" name="Oval 16"/>
          <p:cNvSpPr/>
          <p:nvPr/>
        </p:nvSpPr>
        <p:spPr>
          <a:xfrm>
            <a:off x="10735239" y="4297229"/>
            <a:ext cx="233063" cy="407531"/>
          </a:xfrm>
          <a:prstGeom prst="ellipse">
            <a:avLst/>
          </a:prstGeom>
          <a:noFill/>
          <a:ln w="44450">
            <a:solidFill>
              <a:srgbClr val="007A33"/>
            </a:solidFill>
          </a:ln>
        </p:spPr>
        <p:txBody>
          <a:bodyPr rtlCol="0" anchor="ctr"/>
          <a:lstStyle/>
          <a:p>
            <a:pPr algn="ctr"/>
          </a:p>
        </p:txBody>
      </p:sp>
      <p:sp>
        <p:nvSpPr>
          <p:cNvPr id="18" name="Oval 17"/>
          <p:cNvSpPr/>
          <p:nvPr/>
        </p:nvSpPr>
        <p:spPr>
          <a:xfrm>
            <a:off x="6211096" y="447494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7832621" y="4204249"/>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9920272" y="423994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10579791" y="4141781"/>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5114375"/>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 Accumulation and distribution: Chapters 2 and 4. The 10 million is read by eye off the figure's scale.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30</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moving average: the average of the last few closes, redone at each new bar. Volume-weighted: each close counts by its volume, so heavy days pull the line toward their price.</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Line at PHP 50: price at 52, above it, is potentially bullish; at 48, below it, potentially bearish. Our chart: the gold dot crosses above, the green dot below.</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Moving averages: met in Chapters 4 and 5. The chart is ours; its line is a 10-bar VWMA we computed.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our VWMA line is computed,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three bars close at PHP 50, 52 and 54, on 1, 1 and 2 million shares.</a:t>
            </a:r>
          </a:p>
          <a:p>
            <a:pPr algn="l">
              <a:lnSpc>
                <a:spcPct val="118000"/>
              </a:lnSpc>
              <a:spcBef>
                <a:spcPts val="0"/>
              </a:spcBef>
              <a:spcAft>
                <a:spcPts val="1300"/>
              </a:spcAft>
            </a:pPr>
            <a:r>
              <a:rPr sz="2100" b="0" i="0">
                <a:solidFill>
                  <a:srgbClr val="1A1A1A"/>
                </a:solidFill>
                <a:latin typeface="Arial"/>
              </a:rPr>
              <a:t>Plain average: (50 + 52 + 54) / 3 = PHP 52. Every bar counts the same.</a:t>
            </a:r>
          </a:p>
          <a:p>
            <a:pPr algn="l">
              <a:lnSpc>
                <a:spcPct val="118000"/>
              </a:lnSpc>
              <a:spcBef>
                <a:spcPts val="0"/>
              </a:spcBef>
              <a:spcAft>
                <a:spcPts val="1300"/>
              </a:spcAft>
            </a:pPr>
            <a:r>
              <a:rPr sz="2100" b="0" i="0">
                <a:solidFill>
                  <a:srgbClr val="1A1A1A"/>
                </a:solidFill>
                <a:latin typeface="Arial"/>
              </a:rPr>
              <a:t>Volume-weighted: each close times its volume, added up, divided by the total volume: (50 x 1 + 52 x 1 + 54 x 2) / 4 = 210 / 4 = PHP 52.50.</a:t>
            </a:r>
          </a:p>
          <a:p>
            <a:pPr algn="l">
              <a:lnSpc>
                <a:spcPct val="118000"/>
              </a:lnSpc>
              <a:spcBef>
                <a:spcPts val="0"/>
              </a:spcBef>
              <a:spcAft>
                <a:spcPts val="1300"/>
              </a:spcAft>
            </a:pPr>
            <a:r>
              <a:rPr sz="2100" b="0" i="0">
                <a:solidFill>
                  <a:srgbClr val="1A1A1A"/>
                </a:solidFill>
                <a:latin typeface="Arial"/>
              </a:rPr>
              <a:t>The heavy PHP 54 day pulls the line up toward it. At the next bar, drop the oldest, add the newest, compute again; our charts use 10 bars.</a:t>
            </a:r>
          </a:p>
        </p:txBody>
      </p:sp>
      <p:sp>
        <p:nvSpPr>
          <p:cNvPr id="8" name="Rectangle 7"/>
          <p:cNvSpPr/>
          <p:nvPr/>
        </p:nvSpPr>
        <p:spPr>
          <a:xfrm>
            <a:off x="777240" y="4896612"/>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VWMA: the average price, weighted by how much traded at it.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how our charts compute the line, read from build/charts_chapter06.py, on invented numbers. The book's own calculation is in its Chapter 11.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10-minute chart of the S&amp;P 500 SPDR. Dashed </a:t>
            </a:r>
            <a:r>
              <a:rPr sz="1600" b="1" i="0">
                <a:solidFill>
                  <a:srgbClr val="E09B00"/>
                </a:solidFill>
                <a:latin typeface="Arial"/>
              </a:rPr>
              <a:t>(1)</a:t>
            </a:r>
            <a:r>
              <a:rPr sz="1600" b="0" i="0">
                <a:solidFill>
                  <a:srgbClr val="1A1A1A"/>
                </a:solidFill>
                <a:latin typeface="Arial"/>
              </a:rPr>
              <a:t>: the line labelled VWAP, volume-weighted average price; the book treats VWAP and VWMA as one line here.</a:t>
            </a:r>
          </a:p>
          <a:p>
            <a:pPr algn="l">
              <a:lnSpc>
                <a:spcPct val="105000"/>
              </a:lnSpc>
              <a:spcBef>
                <a:spcPts val="0"/>
              </a:spcBef>
              <a:spcAft>
                <a:spcPts val="1100"/>
              </a:spcAft>
            </a:pPr>
            <a:r>
              <a:rPr sz="1600" b="1" i="0">
                <a:solidFill>
                  <a:srgbClr val="C62828"/>
                </a:solidFill>
                <a:latin typeface="Arial"/>
              </a:rPr>
              <a:t>(2)</a:t>
            </a:r>
            <a:r>
              <a:rPr sz="1600" b="0" i="0">
                <a:solidFill>
                  <a:srgbClr val="1A1A1A"/>
                </a:solidFill>
                <a:latin typeface="Arial"/>
              </a:rPr>
              <a:t> Price rises decisively each time it crosses above the line, and falls after crossing below.</a:t>
            </a:r>
          </a:p>
          <a:p>
            <a:pPr algn="l">
              <a:lnSpc>
                <a:spcPct val="105000"/>
              </a:lnSpc>
              <a:spcBef>
                <a:spcPts val="0"/>
              </a:spcBef>
              <a:spcAft>
                <a:spcPts val="1100"/>
              </a:spcAft>
            </a:pPr>
            <a:r>
              <a:rPr sz="1600" b="1" i="0">
                <a:solidFill>
                  <a:srgbClr val="1F5FAD"/>
                </a:solidFill>
                <a:latin typeface="Arial"/>
              </a:rPr>
              <a:t>(3)</a:t>
            </a:r>
            <a:r>
              <a:rPr sz="1600" b="0" i="0">
                <a:solidFill>
                  <a:srgbClr val="1A1A1A"/>
                </a:solidFill>
                <a:latin typeface="Arial"/>
              </a:rPr>
              <a:t> The four circles: each day's volume peak, its busiest stretch (Part 5). Dashed arrows run up from each: the crossovers came at those peaks.</a:t>
            </a:r>
          </a:p>
        </p:txBody>
      </p:sp>
      <p:sp>
        <p:nvSpPr>
          <p:cNvPr id="8" name="Rectangle 7"/>
          <p:cNvSpPr/>
          <p:nvPr/>
        </p:nvSpPr>
        <p:spPr>
          <a:xfrm>
            <a:off x="777240" y="4709160"/>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Above the line, bullish; below it, bearish.</a:t>
            </a:r>
          </a:p>
        </p:txBody>
      </p:sp>
      <p:sp>
        <p:nvSpPr>
          <p:cNvPr id="10" name="TextBox 9"/>
          <p:cNvSpPr txBox="1"/>
          <p:nvPr/>
        </p:nvSpPr>
        <p:spPr>
          <a:xfrm>
            <a:off x="777240" y="531571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watch each day's busiest stretch: the crossovers came there, and the book gives no rule beyond that. The line also acts as support, a floor, and resistance, a ceiling (Chapter 5).</a:t>
            </a:r>
          </a:p>
        </p:txBody>
      </p:sp>
      <p:sp>
        <p:nvSpPr>
          <p:cNvPr id="11" name="Rectangle 10"/>
          <p:cNvSpPr/>
          <p:nvPr/>
        </p:nvSpPr>
        <p:spPr>
          <a:xfrm>
            <a:off x="6583679" y="1810512"/>
            <a:ext cx="4830775" cy="290191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266417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976871" y="2203703"/>
            <a:ext cx="4044391" cy="220697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6.11</a:t>
            </a:r>
          </a:p>
          <a:p>
            <a:pPr algn="l">
              <a:lnSpc>
                <a:spcPct val="115000"/>
              </a:lnSpc>
              <a:spcBef>
                <a:spcPts val="0"/>
              </a:spcBef>
              <a:spcAft>
                <a:spcPts val="0"/>
              </a:spcAft>
            </a:pPr>
            <a:r>
              <a:rPr sz="13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p:txBody>
      </p:sp>
      <p:cxnSp>
        <p:nvCxnSpPr>
          <p:cNvPr id="15" name="Connector 14"/>
          <p:cNvCxnSpPr/>
          <p:nvPr/>
        </p:nvCxnSpPr>
        <p:spPr>
          <a:xfrm flipH="1">
            <a:off x="8539764" y="2462218"/>
            <a:ext cx="321512" cy="639401"/>
          </a:xfrm>
          <a:prstGeom prst="line">
            <a:avLst/>
          </a:prstGeom>
          <a:ln w="44450">
            <a:solidFill>
              <a:srgbClr val="E09B00"/>
            </a:solidFill>
            <a:tailEnd type="triangle" w="med" len="med"/>
          </a:ln>
        </p:spPr>
      </p:cxnSp>
      <p:sp>
        <p:nvSpPr>
          <p:cNvPr id="16" name="Oval 15"/>
          <p:cNvSpPr/>
          <p:nvPr/>
        </p:nvSpPr>
        <p:spPr>
          <a:xfrm>
            <a:off x="8870462" y="3272126"/>
            <a:ext cx="298547" cy="311708"/>
          </a:xfrm>
          <a:prstGeom prst="ellipse">
            <a:avLst/>
          </a:prstGeom>
          <a:noFill/>
          <a:ln w="44450">
            <a:solidFill>
              <a:srgbClr val="C62828"/>
            </a:solidFill>
          </a:ln>
        </p:spPr>
        <p:txBody>
          <a:bodyPr rtlCol="0" anchor="ctr"/>
          <a:lstStyle/>
          <a:p>
            <a:pPr algn="ctr"/>
          </a:p>
        </p:txBody>
      </p:sp>
      <p:sp>
        <p:nvSpPr>
          <p:cNvPr id="17" name="Rectangle 16"/>
          <p:cNvSpPr/>
          <p:nvPr/>
        </p:nvSpPr>
        <p:spPr>
          <a:xfrm>
            <a:off x="7069994" y="3980795"/>
            <a:ext cx="2985470" cy="346342"/>
          </a:xfrm>
          <a:prstGeom prst="rect">
            <a:avLst/>
          </a:prstGeom>
          <a:noFill/>
          <a:ln w="44450">
            <a:solidFill>
              <a:srgbClr val="1F5FAD"/>
            </a:solidFill>
          </a:ln>
        </p:spPr>
        <p:txBody>
          <a:bodyPr rtlCol="0" anchor="ctr"/>
          <a:lstStyle/>
          <a:p>
            <a:pPr algn="ctr"/>
          </a:p>
        </p:txBody>
      </p:sp>
      <p:sp>
        <p:nvSpPr>
          <p:cNvPr id="18" name="Oval 17"/>
          <p:cNvSpPr/>
          <p:nvPr/>
        </p:nvSpPr>
        <p:spPr>
          <a:xfrm>
            <a:off x="8705828" y="230677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23154" y="347900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6776755" y="399851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583679" y="4803867"/>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6.11 -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 Support and resistance: Chapter 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600" b="0" i="0">
                <a:solidFill>
                  <a:srgbClr val="1A1A1A"/>
                </a:solidFill>
                <a:latin typeface="Arial"/>
              </a:rPr>
              <a:t>Its buy signals come from another method, unnamed; the VWMA only decides whether to take one.</a:t>
            </a:r>
          </a:p>
          <a:p>
            <a:pPr algn="l">
              <a:lnSpc>
                <a:spcPct val="105000"/>
              </a:lnSpc>
              <a:spcBef>
                <a:spcPts val="0"/>
              </a:spcBef>
              <a:spcAft>
                <a:spcPts val="1100"/>
              </a:spcAft>
            </a:pPr>
            <a:r>
              <a:rPr sz="1600" b="0" i="0">
                <a:solidFill>
                  <a:srgbClr val="1A1A1A"/>
                </a:solidFill>
                <a:latin typeface="Arial"/>
              </a:rPr>
              <a:t>Institutions buy only below the line, sell only above. Ours, line at PHP 50: a buy signal at 48, yes; at 52, no.</a:t>
            </a:r>
          </a:p>
          <a:p>
            <a:pPr algn="l">
              <a:lnSpc>
                <a:spcPct val="105000"/>
              </a:lnSpc>
              <a:spcBef>
                <a:spcPts val="0"/>
              </a:spcBef>
              <a:spcAft>
                <a:spcPts val="1100"/>
              </a:spcAft>
            </a:pPr>
            <a:r>
              <a:rPr sz="1600" b="0" i="0">
                <a:solidFill>
                  <a:srgbClr val="1A1A1A"/>
                </a:solidFill>
                <a:latin typeface="Arial"/>
              </a:rPr>
              <a:t>So above the line is bullish for the trend, yet overvalued: not where institutions buy.</a:t>
            </a:r>
          </a:p>
        </p:txBody>
      </p:sp>
      <p:sp>
        <p:nvSpPr>
          <p:cNvPr id="8" name="Rectangle 7"/>
          <p:cNvSpPr/>
          <p:nvPr/>
        </p:nvSpPr>
        <p:spPr>
          <a:xfrm>
            <a:off x="777240" y="5129784"/>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66360"/>
            <a:ext cx="482803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readings of one line, both the book's.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and the PHP 50 example are ours.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from the VWMA to volume itself: how much trades on the day a market turns?</a:t>
            </a:r>
          </a:p>
          <a:p>
            <a:pPr algn="l">
              <a:lnSpc>
                <a:spcPct val="105000"/>
              </a:lnSpc>
              <a:spcBef>
                <a:spcPts val="0"/>
              </a:spcBef>
              <a:spcAft>
                <a:spcPts val="1100"/>
              </a:spcAft>
            </a:pPr>
            <a:r>
              <a:rPr sz="1500" b="0" i="0">
                <a:solidFill>
                  <a:srgbClr val="1A1A1A"/>
                </a:solidFill>
                <a:latin typeface="Arial"/>
              </a:rPr>
              <a:t>The book: tops and bottoms usually come on relatively large or extreme volume, or relatively low or minimal volume.</a:t>
            </a:r>
          </a:p>
          <a:p>
            <a:pPr algn="l">
              <a:lnSpc>
                <a:spcPct val="105000"/>
              </a:lnSpc>
              <a:spcBef>
                <a:spcPts val="0"/>
              </a:spcBef>
              <a:spcAft>
                <a:spcPts val="1100"/>
              </a:spcAft>
            </a:pPr>
            <a:r>
              <a:rPr sz="1500" b="0" i="0">
                <a:solidFill>
                  <a:srgbClr val="1A1A1A"/>
                </a:solidFill>
                <a:latin typeface="Arial"/>
              </a:rPr>
              <a:t>Ours, usual volume 2 million a day. On 9 million: a top is a blow-off or buying climax; a bottom, a sell-off or selling climax.</a:t>
            </a:r>
          </a:p>
          <a:p>
            <a:pPr algn="l">
              <a:lnSpc>
                <a:spcPct val="105000"/>
              </a:lnSpc>
              <a:spcBef>
                <a:spcPts val="0"/>
              </a:spcBef>
              <a:spcAft>
                <a:spcPts val="1100"/>
              </a:spcAft>
            </a:pPr>
            <a:r>
              <a:rPr sz="1500" b="0" i="0">
                <a:solidFill>
                  <a:srgbClr val="1A1A1A"/>
                </a:solidFill>
                <a:latin typeface="Arial"/>
              </a:rPr>
              <a:t>On 0.3 million: a low volume top, or a low volume bottom.</a:t>
            </a:r>
          </a:p>
        </p:txBody>
      </p:sp>
      <p:sp>
        <p:nvSpPr>
          <p:cNvPr id="8" name="Rectangle 7"/>
          <p:cNvSpPr/>
          <p:nvPr/>
        </p:nvSpPr>
        <p:spPr>
          <a:xfrm>
            <a:off x="777240" y="5225796"/>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62372"/>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Four turns, named by place and by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with our invented volumes.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quiet pair matters, and why sell-off</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one peak at PHP 60. On 9 million the rise ends in a frenzy; on 0.3 million it runs out of interest. Watch only spikes and you miss the second.</a:t>
            </a:r>
          </a:p>
          <a:p>
            <a:pPr algn="l">
              <a:lnSpc>
                <a:spcPct val="118000"/>
              </a:lnSpc>
              <a:spcBef>
                <a:spcPts val="0"/>
              </a:spcBef>
              <a:spcAft>
                <a:spcPts val="1300"/>
              </a:spcAft>
            </a:pPr>
            <a:r>
              <a:rPr sz="2100" b="0" i="0">
                <a:solidFill>
                  <a:srgbClr val="1A1A1A"/>
                </a:solidFill>
                <a:latin typeface="Arial"/>
              </a:rPr>
              <a:t>Every trade has a buyer and a seller; the names say who was rushing.</a:t>
            </a:r>
          </a:p>
          <a:p>
            <a:pPr algn="l">
              <a:lnSpc>
                <a:spcPct val="118000"/>
              </a:lnSpc>
              <a:spcBef>
                <a:spcPts val="0"/>
              </a:spcBef>
              <a:spcAft>
                <a:spcPts val="1300"/>
              </a:spcAft>
            </a:pPr>
            <a:r>
              <a:rPr sz="2100" b="0" i="0">
                <a:solidFill>
                  <a:srgbClr val="1A1A1A"/>
                </a:solidFill>
                <a:latin typeface="Arial"/>
              </a:rPr>
              <a:t>Selling climax, Chapter 4: a deep fall ends as the uninformed sell at any price and the informed buy from them.</a:t>
            </a:r>
          </a:p>
          <a:p>
            <a:pPr algn="l">
              <a:lnSpc>
                <a:spcPct val="118000"/>
              </a:lnSpc>
              <a:spcBef>
                <a:spcPts val="0"/>
              </a:spcBef>
              <a:spcAft>
                <a:spcPts val="1300"/>
              </a:spcAft>
            </a:pPr>
            <a:r>
              <a:rPr sz="2100" b="0" i="0">
                <a:solidFill>
                  <a:srgbClr val="1A1A1A"/>
                </a:solidFill>
                <a:latin typeface="Arial"/>
              </a:rPr>
              <a:t>Buying climax, the mirror: a strong rise ends as the uninformed buy at any price and the informed sell to them.</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quiet pair are the low volume reversals: turns on silence.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pp.182-185. Who trades in each climax: Chapter 4, its accumulation and distribution slides.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Overextended volume: far above usual. The upper level is a line only the most extreme spikes reach; a lower one, still high, is reached more often.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6.12, Exxon Mobil: the extreme volume of two selling climaxes </a:t>
            </a:r>
            <a:r>
              <a:rPr sz="1500" b="1" i="0">
                <a:solidFill>
                  <a:srgbClr val="E09B00"/>
                </a:solidFill>
                <a:latin typeface="Arial"/>
              </a:rPr>
              <a:t>(1)</a:t>
            </a:r>
            <a:r>
              <a:rPr sz="1500" b="0" i="0">
                <a:solidFill>
                  <a:srgbClr val="1A1A1A"/>
                </a:solidFill>
                <a:latin typeface="Arial"/>
              </a:rPr>
              <a:t>, under the ellipse, sets the upper level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extreme volume level is the upper overextended volume level, a signal for predicting potential bottoms or tops. A lower overextended volume level forecasts less significant corrections.</a:t>
            </a:r>
          </a:p>
        </p:txBody>
      </p:sp>
      <p:sp>
        <p:nvSpPr>
          <p:cNvPr id="14" name="Rectangle 13"/>
          <p:cNvSpPr/>
          <p:nvPr/>
        </p:nvSpPr>
        <p:spPr>
          <a:xfrm>
            <a:off x="6923059" y="2157984"/>
            <a:ext cx="4334896"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041931" y="2276856"/>
            <a:ext cx="4097152" cy="3163824"/>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7041931" y="2276856"/>
            <a:ext cx="4097152"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316251" y="2551175"/>
            <a:ext cx="3548512" cy="2706624"/>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3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near 120 million shares, and lower level volume overextension, near 70 million.</a:t>
            </a:r>
          </a:p>
        </p:txBody>
      </p:sp>
      <p:sp>
        <p:nvSpPr>
          <p:cNvPr id="18" name="Rectangle 17"/>
          <p:cNvSpPr/>
          <p:nvPr/>
        </p:nvSpPr>
        <p:spPr>
          <a:xfrm>
            <a:off x="8434963" y="4175150"/>
            <a:ext cx="1024288" cy="506211"/>
          </a:xfrm>
          <a:prstGeom prst="rect">
            <a:avLst/>
          </a:prstGeom>
          <a:noFill/>
          <a:ln w="44450">
            <a:solidFill>
              <a:srgbClr val="E09B00"/>
            </a:solidFill>
          </a:ln>
        </p:spPr>
        <p:txBody>
          <a:bodyPr rtlCol="0" anchor="ctr"/>
          <a:lstStyle/>
          <a:p>
            <a:pPr algn="ctr"/>
          </a:p>
        </p:txBody>
      </p:sp>
      <p:cxnSp>
        <p:nvCxnSpPr>
          <p:cNvPr id="19" name="Connector 18"/>
          <p:cNvCxnSpPr/>
          <p:nvPr/>
        </p:nvCxnSpPr>
        <p:spPr>
          <a:xfrm>
            <a:off x="7951499" y="4228935"/>
            <a:ext cx="2896686" cy="0"/>
          </a:xfrm>
          <a:prstGeom prst="line">
            <a:avLst/>
          </a:prstGeom>
          <a:ln w="44450">
            <a:solidFill>
              <a:srgbClr val="C62828"/>
            </a:solidFill>
          </a:ln>
        </p:spPr>
      </p:cxnSp>
      <p:sp>
        <p:nvSpPr>
          <p:cNvPr id="20" name="Oval 19"/>
          <p:cNvSpPr/>
          <p:nvPr/>
        </p:nvSpPr>
        <p:spPr>
          <a:xfrm>
            <a:off x="8791659" y="4304446"/>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10692737" y="4073487"/>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6.12's two levels, read off its scale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1" i="0">
                <a:solidFill>
                  <a:srgbClr val="E09B00"/>
                </a:solidFill>
                <a:latin typeface="Arial"/>
              </a:rPr>
              <a:t>(1)</a:t>
            </a:r>
            <a:r>
              <a:rPr sz="1900" b="0" i="0">
                <a:solidFill>
                  <a:srgbClr val="1A1A1A"/>
                </a:solidFill>
                <a:latin typeface="Arial"/>
              </a:rPr>
              <a:t> Most days trade under 40 million shares.</a:t>
            </a:r>
          </a:p>
          <a:p>
            <a:pPr algn="l">
              <a:lnSpc>
                <a:spcPct val="105000"/>
              </a:lnSpc>
              <a:spcBef>
                <a:spcPts val="0"/>
              </a:spcBef>
              <a:spcAft>
                <a:spcPts val="1100"/>
              </a:spcAft>
            </a:pPr>
            <a:r>
              <a:rPr sz="1900" b="1" i="0">
                <a:solidFill>
                  <a:srgbClr val="C62828"/>
                </a:solidFill>
                <a:latin typeface="Arial"/>
              </a:rPr>
              <a:t>(2)</a:t>
            </a:r>
            <a:r>
              <a:rPr sz="1900" b="0" i="0">
                <a:solidFill>
                  <a:srgbClr val="1A1A1A"/>
                </a:solidFill>
                <a:latin typeface="Arial"/>
              </a:rPr>
              <a:t> The lower line: a little under 70 million.</a:t>
            </a:r>
          </a:p>
          <a:p>
            <a:pPr algn="l">
              <a:lnSpc>
                <a:spcPct val="105000"/>
              </a:lnSpc>
              <a:spcBef>
                <a:spcPts val="0"/>
              </a:spcBef>
              <a:spcAft>
                <a:spcPts val="1100"/>
              </a:spcAft>
            </a:pPr>
            <a:r>
              <a:rPr sz="1900" b="1" i="0">
                <a:solidFill>
                  <a:srgbClr val="1F5FAD"/>
                </a:solidFill>
                <a:latin typeface="Arial"/>
              </a:rPr>
              <a:t>(3)</a:t>
            </a:r>
            <a:r>
              <a:rPr sz="1900" b="0" i="0">
                <a:solidFill>
                  <a:srgbClr val="1A1A1A"/>
                </a:solidFill>
                <a:latin typeface="Arial"/>
              </a:rPr>
              <a:t> The upper line: a little above 120 million.</a:t>
            </a:r>
          </a:p>
          <a:p>
            <a:pPr algn="l">
              <a:lnSpc>
                <a:spcPct val="105000"/>
              </a:lnSpc>
              <a:spcBef>
                <a:spcPts val="0"/>
              </a:spcBef>
              <a:spcAft>
                <a:spcPts val="1100"/>
              </a:spcAft>
            </a:pPr>
            <a:r>
              <a:rPr sz="1900" b="1" i="0">
                <a:solidFill>
                  <a:srgbClr val="007A33"/>
                </a:solidFill>
                <a:latin typeface="Arial"/>
              </a:rPr>
              <a:t>(4)</a:t>
            </a:r>
            <a:r>
              <a:rPr sz="1900" b="0" i="0">
                <a:solidFill>
                  <a:srgbClr val="1A1A1A"/>
                </a:solidFill>
                <a:latin typeface="Arial"/>
              </a:rPr>
              <a:t> and </a:t>
            </a:r>
            <a:r>
              <a:rPr sz="1900" b="1" i="0">
                <a:solidFill>
                  <a:srgbClr val="7B3FA0"/>
                </a:solidFill>
                <a:latin typeface="Arial"/>
              </a:rPr>
              <a:t>(5)</a:t>
            </a:r>
            <a:r>
              <a:rPr sz="1900" b="0" i="0">
                <a:solidFill>
                  <a:srgbClr val="1A1A1A"/>
                </a:solidFill>
                <a:latin typeface="Arial"/>
              </a:rPr>
              <a:t> The two spikes that reach it sit under bottoms.</a:t>
            </a:r>
          </a:p>
        </p:txBody>
      </p:sp>
      <p:sp>
        <p:nvSpPr>
          <p:cNvPr id="8" name="Rectangle 7"/>
          <p:cNvSpPr/>
          <p:nvPr/>
        </p:nvSpPr>
        <p:spPr>
          <a:xfrm>
            <a:off x="777240" y="4953762"/>
            <a:ext cx="82296" cy="45110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90338"/>
            <a:ext cx="5193792" cy="451103"/>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lines are far above a usual day.</a:t>
            </a:r>
          </a:p>
        </p:txBody>
      </p:sp>
      <p:sp>
        <p:nvSpPr>
          <p:cNvPr id="10" name="Rectangle 9"/>
          <p:cNvSpPr/>
          <p:nvPr/>
        </p:nvSpPr>
        <p:spPr>
          <a:xfrm>
            <a:off x="6606631" y="1810512"/>
            <a:ext cx="4784872"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25503" y="1929384"/>
            <a:ext cx="4547128"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25503" y="1929384"/>
            <a:ext cx="4547128"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9823" y="2203703"/>
            <a:ext cx="3998488"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6.12</a:t>
            </a:r>
          </a:p>
          <a:p>
            <a:pPr algn="l">
              <a:lnSpc>
                <a:spcPct val="115000"/>
              </a:lnSpc>
              <a:spcBef>
                <a:spcPts val="0"/>
              </a:spcBef>
              <a:spcAft>
                <a:spcPts val="0"/>
              </a:spcAft>
            </a:pPr>
            <a:r>
              <a:rPr sz="1500" b="0" i="0">
                <a:solidFill>
                  <a:srgbClr val="1A1A1A"/>
                </a:solidFill>
                <a:latin typeface="Palatino"/>
              </a:rPr>
              <a:t>The daily chart of Exxon Mobil from 2006 to 2013. Most volume bars sit under 40 million shares; a lower overextension line runs near 70 million and an upper one near 120 million, and the two spikes that reach the upper line sit under the market bottom in the ellipse.</a:t>
            </a:r>
          </a:p>
        </p:txBody>
      </p:sp>
      <p:sp>
        <p:nvSpPr>
          <p:cNvPr id="14" name="Rectangle 13"/>
          <p:cNvSpPr/>
          <p:nvPr/>
        </p:nvSpPr>
        <p:spPr>
          <a:xfrm>
            <a:off x="6757333" y="4970166"/>
            <a:ext cx="4219735" cy="375708"/>
          </a:xfrm>
          <a:prstGeom prst="rect">
            <a:avLst/>
          </a:prstGeom>
          <a:noFill/>
          <a:ln w="44450">
            <a:solidFill>
              <a:srgbClr val="E09B00"/>
            </a:solidFill>
          </a:ln>
        </p:spPr>
        <p:txBody>
          <a:bodyPr rtlCol="0" anchor="ctr"/>
          <a:lstStyle/>
          <a:p>
            <a:pPr algn="ctr"/>
          </a:p>
        </p:txBody>
      </p:sp>
      <p:cxnSp>
        <p:nvCxnSpPr>
          <p:cNvPr id="15" name="Connector 14"/>
          <p:cNvCxnSpPr/>
          <p:nvPr/>
        </p:nvCxnSpPr>
        <p:spPr>
          <a:xfrm>
            <a:off x="6911935" y="4661172"/>
            <a:ext cx="4065133" cy="0"/>
          </a:xfrm>
          <a:prstGeom prst="line">
            <a:avLst/>
          </a:prstGeom>
          <a:ln w="44450">
            <a:solidFill>
              <a:srgbClr val="C62828"/>
            </a:solidFill>
          </a:ln>
        </p:spPr>
      </p:cxnSp>
      <p:cxnSp>
        <p:nvCxnSpPr>
          <p:cNvPr id="16" name="Connector 15"/>
          <p:cNvCxnSpPr/>
          <p:nvPr/>
        </p:nvCxnSpPr>
        <p:spPr>
          <a:xfrm>
            <a:off x="7734965" y="4095853"/>
            <a:ext cx="3242103" cy="0"/>
          </a:xfrm>
          <a:prstGeom prst="line">
            <a:avLst/>
          </a:prstGeom>
          <a:ln w="44450">
            <a:solidFill>
              <a:srgbClr val="1F5FAD"/>
            </a:solidFill>
          </a:ln>
        </p:spPr>
      </p:cxnSp>
      <p:sp>
        <p:nvSpPr>
          <p:cNvPr id="17" name="Oval 16"/>
          <p:cNvSpPr/>
          <p:nvPr/>
        </p:nvSpPr>
        <p:spPr>
          <a:xfrm>
            <a:off x="8244244" y="3892198"/>
            <a:ext cx="259186" cy="365174"/>
          </a:xfrm>
          <a:prstGeom prst="ellipse">
            <a:avLst/>
          </a:prstGeom>
          <a:noFill/>
          <a:ln w="44450">
            <a:solidFill>
              <a:srgbClr val="007A33"/>
            </a:solidFill>
          </a:ln>
        </p:spPr>
        <p:txBody>
          <a:bodyPr rtlCol="0" anchor="ctr"/>
          <a:lstStyle/>
          <a:p>
            <a:pPr algn="ctr"/>
          </a:p>
        </p:txBody>
      </p:sp>
      <p:sp>
        <p:nvSpPr>
          <p:cNvPr id="18" name="Oval 17"/>
          <p:cNvSpPr/>
          <p:nvPr/>
        </p:nvSpPr>
        <p:spPr>
          <a:xfrm>
            <a:off x="9180952" y="4176613"/>
            <a:ext cx="204620" cy="351129"/>
          </a:xfrm>
          <a:prstGeom prst="ellipse">
            <a:avLst/>
          </a:prstGeom>
          <a:noFill/>
          <a:ln w="44450">
            <a:solidFill>
              <a:srgbClr val="7B3FA0"/>
            </a:solidFill>
          </a:ln>
        </p:spPr>
        <p:txBody>
          <a:bodyPr rtlCol="0" anchor="ctr"/>
          <a:lstStyle/>
          <a:p>
            <a:pPr algn="ctr"/>
          </a:p>
        </p:txBody>
      </p:sp>
      <p:sp>
        <p:nvSpPr>
          <p:cNvPr id="19" name="Oval 18"/>
          <p:cNvSpPr/>
          <p:nvPr/>
        </p:nvSpPr>
        <p:spPr>
          <a:xfrm>
            <a:off x="6601885" y="4814718"/>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0" name="Oval 19"/>
          <p:cNvSpPr/>
          <p:nvPr/>
        </p:nvSpPr>
        <p:spPr>
          <a:xfrm>
            <a:off x="10480585" y="4505724"/>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1" name="Oval 20"/>
          <p:cNvSpPr/>
          <p:nvPr/>
        </p:nvSpPr>
        <p:spPr>
          <a:xfrm>
            <a:off x="10821620" y="3940405"/>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2" name="Oval 21"/>
          <p:cNvSpPr/>
          <p:nvPr/>
        </p:nvSpPr>
        <p:spPr>
          <a:xfrm>
            <a:off x="8088796" y="4231843"/>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3" name="Oval 22"/>
          <p:cNvSpPr/>
          <p:nvPr/>
        </p:nvSpPr>
        <p:spPr>
          <a:xfrm>
            <a:off x="9230125" y="4372295"/>
            <a:ext cx="310896" cy="310896"/>
          </a:xfrm>
          <a:prstGeom prst="ellipse">
            <a:avLst/>
          </a:prstGeom>
          <a:solidFill>
            <a:srgbClr val="7B3FA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5</a:t>
            </a:r>
          </a:p>
        </p:txBody>
      </p:sp>
      <p:sp>
        <p:nvSpPr>
          <p:cNvPr id="24" name="TextBox 23"/>
          <p:cNvSpPr txBox="1"/>
          <p:nvPr/>
        </p:nvSpPr>
        <p:spPr>
          <a:xfrm>
            <a:off x="6583679" y="5650991"/>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6.12 - Lim, The Handbook of Technical Analysis (Wiley, 2016)</a:t>
            </a:r>
          </a:p>
        </p:txBody>
      </p:sp>
      <p:sp>
        <p:nvSpPr>
          <p:cNvPr id="25" name="TextBox 2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its scale read by eye.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tell you</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Both are high volume: lower means less extreme, not low volume.</a:t>
            </a:r>
          </a:p>
          <a:p>
            <a:pPr algn="l">
              <a:lnSpc>
                <a:spcPct val="118000"/>
              </a:lnSpc>
              <a:spcBef>
                <a:spcPts val="0"/>
              </a:spcBef>
              <a:spcAft>
                <a:spcPts val="1300"/>
              </a:spcAft>
            </a:pPr>
            <a:r>
              <a:rPr sz="2100" b="0" i="0">
                <a:solidFill>
                  <a:srgbClr val="1A1A1A"/>
                </a:solidFill>
                <a:latin typeface="Arial"/>
              </a:rPr>
              <a:t>Upper: potential tops or bottoms, a warning and not a promise. Lower: less significant corrections, smaller moves against the trend.</a:t>
            </a:r>
          </a:p>
          <a:p>
            <a:pPr algn="l">
              <a:lnSpc>
                <a:spcPct val="118000"/>
              </a:lnSpc>
              <a:spcBef>
                <a:spcPts val="0"/>
              </a:spcBef>
              <a:spcAft>
                <a:spcPts val="1300"/>
              </a:spcAft>
            </a:pPr>
            <a:r>
              <a:rPr sz="2100" b="0" i="0">
                <a:solidFill>
                  <a:srgbClr val="1A1A1A"/>
                </a:solidFill>
                <a:latin typeface="Arial"/>
              </a:rPr>
              <a:t>Exxon's chart shows only bottoms; the book says the same level signals tops too.</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Above the line: a potential turn. Which way: price, afterwards.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Correction: Chapter 5. Not a promise: the book's word potential, said plainly.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blow-off, or buying climax: a market top on extreme volume, the mirror of Exxon's selling climaxes.</a:t>
            </a:r>
          </a:p>
          <a:p>
            <a:pPr algn="l">
              <a:lnSpc>
                <a:spcPct val="105000"/>
              </a:lnSpc>
              <a:spcBef>
                <a:spcPts val="0"/>
              </a:spcBef>
              <a:spcAft>
                <a:spcPts val="1100"/>
              </a:spcAft>
            </a:pPr>
            <a:r>
              <a:rPr sz="1600" b="0" i="0">
                <a:solidFill>
                  <a:srgbClr val="1A1A1A"/>
                </a:solidFill>
                <a:latin typeface="Arial"/>
              </a:rPr>
              <a:t>Follow each arrow from BLOW-OFF to its circled volume spike, </a:t>
            </a:r>
            <a:r>
              <a:rPr sz="1600" b="1" i="0">
                <a:solidFill>
                  <a:srgbClr val="E09B00"/>
                </a:solidFill>
                <a:latin typeface="Arial"/>
              </a:rPr>
              <a:t>(1)</a:t>
            </a:r>
            <a:r>
              <a:rPr sz="1600" b="0" i="0">
                <a:solidFill>
                  <a:srgbClr val="1A1A1A"/>
                </a:solidFill>
                <a:latin typeface="Arial"/>
              </a:rPr>
              <a:t> and </a:t>
            </a:r>
            <a:r>
              <a:rPr sz="1600" b="1" i="0">
                <a:solidFill>
                  <a:srgbClr val="C62828"/>
                </a:solidFill>
                <a:latin typeface="Arial"/>
              </a:rPr>
              <a:t>(2)</a:t>
            </a:r>
            <a:r>
              <a:rPr sz="1600" b="0" i="0">
                <a:solidFill>
                  <a:srgbClr val="1A1A1A"/>
                </a:solidFill>
                <a:latin typeface="Arial"/>
              </a:rPr>
              <a:t>, then up to the top above it, </a:t>
            </a:r>
            <a:r>
              <a:rPr sz="1600" b="1" i="0">
                <a:solidFill>
                  <a:srgbClr val="1F5FAD"/>
                </a:solidFill>
                <a:latin typeface="Arial"/>
              </a:rPr>
              <a:t>(3)</a:t>
            </a:r>
            <a:r>
              <a:rPr sz="1600" b="0" i="0">
                <a:solidFill>
                  <a:srgbClr val="1A1A1A"/>
                </a:solidFill>
                <a:latin typeface="Arial"/>
              </a:rPr>
              <a:t> and </a:t>
            </a:r>
            <a:r>
              <a:rPr sz="1600" b="1" i="0">
                <a:solidFill>
                  <a:srgbClr val="007A33"/>
                </a:solidFill>
                <a:latin typeface="Arial"/>
              </a:rPr>
              <a:t>(4)</a:t>
            </a:r>
            <a:r>
              <a:rPr sz="1600" b="0" i="0">
                <a:solidFill>
                  <a:srgbClr val="1A1A1A"/>
                </a:solidFill>
                <a:latin typeface="Arial"/>
              </a:rPr>
              <a:t>. Price falls after each.</a:t>
            </a:r>
          </a:p>
          <a:p>
            <a:pPr algn="l">
              <a:lnSpc>
                <a:spcPct val="105000"/>
              </a:lnSpc>
              <a:spcBef>
                <a:spcPts val="0"/>
              </a:spcBef>
              <a:spcAft>
                <a:spcPts val="1100"/>
              </a:spcAft>
            </a:pPr>
            <a:r>
              <a:rPr sz="1600" b="0" i="0">
                <a:solidFill>
                  <a:srgbClr val="1A1A1A"/>
                </a:solidFill>
                <a:latin typeface="Arial"/>
              </a:rPr>
              <a:t>Relatively high, the book says: the first spike tops 200 thousand shares, the second only about 100 thousand, yet each towers over its neighbours.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Compare a spike with its own neighbours, not with the biggest bar.</a:t>
            </a:r>
          </a:p>
        </p:txBody>
      </p:sp>
      <p:sp>
        <p:nvSpPr>
          <p:cNvPr id="10" name="Rectangle 9"/>
          <p:cNvSpPr/>
          <p:nvPr/>
        </p:nvSpPr>
        <p:spPr>
          <a:xfrm>
            <a:off x="6217919" y="1810512"/>
            <a:ext cx="5196535" cy="2804406"/>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336791" y="1929384"/>
            <a:ext cx="4958791" cy="2566662"/>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11111" y="2203703"/>
            <a:ext cx="4410151" cy="2109462"/>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6.13</a:t>
            </a:r>
          </a:p>
          <a:p>
            <a:pPr algn="l">
              <a:lnSpc>
                <a:spcPct val="115000"/>
              </a:lnSpc>
              <a:spcBef>
                <a:spcPts val="0"/>
              </a:spcBef>
              <a:spcAft>
                <a:spcPts val="0"/>
              </a:spcAft>
            </a:pPr>
            <a:r>
              <a:rPr sz="1500" b="0" i="0">
                <a:solidFill>
                  <a:srgbClr val="1A1A1A"/>
                </a:solidFill>
                <a:latin typeface="Palatino"/>
              </a:rPr>
              <a:t>The daily chart of the E-TRACS UBS Bloomberg CMCI Food ETN with two circled volume spikes labelled blow-off, each under a market top: the first above 200 thousand shares, the second about 100 thousand.</a:t>
            </a:r>
          </a:p>
        </p:txBody>
      </p:sp>
      <p:sp>
        <p:nvSpPr>
          <p:cNvPr id="14" name="Oval 13"/>
          <p:cNvSpPr/>
          <p:nvPr/>
        </p:nvSpPr>
        <p:spPr>
          <a:xfrm>
            <a:off x="7239291" y="3636214"/>
            <a:ext cx="163640" cy="415799"/>
          </a:xfrm>
          <a:prstGeom prst="ellipse">
            <a:avLst/>
          </a:prstGeom>
          <a:noFill/>
          <a:ln w="44450">
            <a:solidFill>
              <a:srgbClr val="E09B00"/>
            </a:solidFill>
          </a:ln>
        </p:spPr>
        <p:txBody>
          <a:bodyPr rtlCol="0" anchor="ctr"/>
          <a:lstStyle/>
          <a:p>
            <a:pPr algn="ctr"/>
          </a:p>
        </p:txBody>
      </p:sp>
      <p:sp>
        <p:nvSpPr>
          <p:cNvPr id="15" name="Oval 14"/>
          <p:cNvSpPr/>
          <p:nvPr/>
        </p:nvSpPr>
        <p:spPr>
          <a:xfrm>
            <a:off x="9971585" y="4023780"/>
            <a:ext cx="158681" cy="336232"/>
          </a:xfrm>
          <a:prstGeom prst="ellipse">
            <a:avLst/>
          </a:prstGeom>
          <a:noFill/>
          <a:ln w="44450">
            <a:solidFill>
              <a:srgbClr val="C62828"/>
            </a:solidFill>
          </a:ln>
        </p:spPr>
        <p:txBody>
          <a:bodyPr rtlCol="0" anchor="ctr"/>
          <a:lstStyle/>
          <a:p>
            <a:pPr algn="ctr"/>
          </a:p>
        </p:txBody>
      </p:sp>
      <p:sp>
        <p:nvSpPr>
          <p:cNvPr id="16" name="Oval 15"/>
          <p:cNvSpPr/>
          <p:nvPr/>
        </p:nvSpPr>
        <p:spPr>
          <a:xfrm>
            <a:off x="7179786" y="2766115"/>
            <a:ext cx="287609" cy="433765"/>
          </a:xfrm>
          <a:prstGeom prst="ellipse">
            <a:avLst/>
          </a:prstGeom>
          <a:noFill/>
          <a:ln w="44450">
            <a:solidFill>
              <a:srgbClr val="1F5FAD"/>
            </a:solidFill>
          </a:ln>
        </p:spPr>
        <p:txBody>
          <a:bodyPr rtlCol="0" anchor="ctr"/>
          <a:lstStyle/>
          <a:p>
            <a:pPr algn="ctr"/>
          </a:p>
        </p:txBody>
      </p:sp>
      <p:sp>
        <p:nvSpPr>
          <p:cNvPr id="17" name="Oval 16"/>
          <p:cNvSpPr/>
          <p:nvPr/>
        </p:nvSpPr>
        <p:spPr>
          <a:xfrm>
            <a:off x="9921997" y="2147550"/>
            <a:ext cx="267774" cy="369599"/>
          </a:xfrm>
          <a:prstGeom prst="ellipse">
            <a:avLst/>
          </a:prstGeom>
          <a:noFill/>
          <a:ln w="44450">
            <a:solidFill>
              <a:srgbClr val="007A33"/>
            </a:solidFill>
          </a:ln>
        </p:spPr>
        <p:txBody>
          <a:bodyPr rtlCol="0" anchor="ctr"/>
          <a:lstStyle/>
          <a:p>
            <a:pPr algn="ctr"/>
          </a:p>
        </p:txBody>
      </p:sp>
      <p:sp>
        <p:nvSpPr>
          <p:cNvPr id="18" name="Oval 17"/>
          <p:cNvSpPr/>
          <p:nvPr/>
        </p:nvSpPr>
        <p:spPr>
          <a:xfrm>
            <a:off x="6776398" y="382726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10098788" y="398126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7024338" y="2610667"/>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Oval 20"/>
          <p:cNvSpPr/>
          <p:nvPr/>
        </p:nvSpPr>
        <p:spPr>
          <a:xfrm>
            <a:off x="9766549" y="1992102"/>
            <a:ext cx="310896" cy="310896"/>
          </a:xfrm>
          <a:prstGeom prst="ellipse">
            <a:avLst/>
          </a:prstGeom>
          <a:solidFill>
            <a:srgbClr val="007A33"/>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4</a:t>
            </a:r>
          </a:p>
        </p:txBody>
      </p:sp>
      <p:sp>
        <p:nvSpPr>
          <p:cNvPr id="22" name="TextBox 21"/>
          <p:cNvSpPr txBox="1"/>
          <p:nvPr/>
        </p:nvSpPr>
        <p:spPr>
          <a:xfrm>
            <a:off x="6217919" y="4706358"/>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 The volumes are read by eye off the figure's scale.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By visual inspection, the book says: by eye, no formula. Find the spikes under the most significant tops and bottoms; draw the line just below them.</a:t>
            </a:r>
          </a:p>
          <a:p>
            <a:pPr algn="l">
              <a:lnSpc>
                <a:spcPct val="105000"/>
              </a:lnSpc>
              <a:spcBef>
                <a:spcPts val="0"/>
              </a:spcBef>
              <a:spcAft>
                <a:spcPts val="1100"/>
              </a:spcAft>
            </a:pPr>
            <a:r>
              <a:rPr sz="1500" b="0" i="0">
                <a:solidFill>
                  <a:srgbClr val="1A1A1A"/>
                </a:solidFill>
                <a:latin typeface="Arial"/>
              </a:rPr>
              <a:t>Set lower, more spikes cross it: more frequent signals, at less significant tops and bottoms.</a:t>
            </a:r>
          </a:p>
          <a:p>
            <a:pPr algn="l">
              <a:lnSpc>
                <a:spcPct val="105000"/>
              </a:lnSpc>
              <a:spcBef>
                <a:spcPts val="0"/>
              </a:spcBef>
              <a:spcAft>
                <a:spcPts val="1100"/>
              </a:spcAft>
            </a:pPr>
            <a:r>
              <a:rPr sz="1500" b="0" i="0">
                <a:solidFill>
                  <a:srgbClr val="1A1A1A"/>
                </a:solidFill>
                <a:latin typeface="Arial"/>
              </a:rPr>
              <a:t>Figure 6.14, gold: the circled spikes </a:t>
            </a:r>
            <a:r>
              <a:rPr sz="1500" b="1" i="0">
                <a:solidFill>
                  <a:srgbClr val="C62828"/>
                </a:solidFill>
                <a:latin typeface="Arial"/>
              </a:rPr>
              <a:t>(2)</a:t>
            </a:r>
            <a:r>
              <a:rPr sz="1500" b="0" i="0">
                <a:solidFill>
                  <a:srgbClr val="1A1A1A"/>
                </a:solidFill>
                <a:latin typeface="Arial"/>
              </a:rPr>
              <a:t> cross the dashed level </a:t>
            </a:r>
            <a:r>
              <a:rPr sz="1500" b="1" i="0">
                <a:solidFill>
                  <a:srgbClr val="E09B00"/>
                </a:solidFill>
                <a:latin typeface="Arial"/>
              </a:rPr>
              <a:t>(1)</a:t>
            </a:r>
            <a:r>
              <a:rPr sz="1500" b="0" i="0">
                <a:solidFill>
                  <a:srgbClr val="1A1A1A"/>
                </a:solidFill>
                <a:latin typeface="Arial"/>
              </a:rPr>
              <a:t>. At the far right price breaks a significant support </a:t>
            </a:r>
            <a:r>
              <a:rPr sz="1500" b="1" i="0">
                <a:solidFill>
                  <a:srgbClr val="1F5FAD"/>
                </a:solidFill>
                <a:latin typeface="Arial"/>
              </a:rPr>
              <a:t>(3)</a:t>
            </a:r>
            <a:r>
              <a:rPr sz="1500" b="0" i="0">
                <a:solidFill>
                  <a:srgbClr val="1A1A1A"/>
                </a:solidFill>
                <a:latin typeface="Arial"/>
              </a:rPr>
              <a:t>, a level where falls had stopped, on extreme volume.</a:t>
            </a:r>
          </a:p>
        </p:txBody>
      </p:sp>
      <p:sp>
        <p:nvSpPr>
          <p:cNvPr id="8" name="Rectangle 7"/>
          <p:cNvSpPr/>
          <p:nvPr/>
        </p:nvSpPr>
        <p:spPr>
          <a:xfrm>
            <a:off x="777240" y="4821174"/>
            <a:ext cx="82296" cy="3901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57750"/>
            <a:ext cx="4828032" cy="39014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Higher level, fewer and bigger turns.</a:t>
            </a:r>
          </a:p>
        </p:txBody>
      </p:sp>
      <p:sp>
        <p:nvSpPr>
          <p:cNvPr id="10" name="TextBox 9"/>
          <p:cNvSpPr txBox="1"/>
          <p:nvPr/>
        </p:nvSpPr>
        <p:spPr>
          <a:xfrm>
            <a:off x="777240" y="541248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second, computed line: next slide.</a:t>
            </a:r>
          </a:p>
        </p:txBody>
      </p:sp>
      <p:sp>
        <p:nvSpPr>
          <p:cNvPr id="11" name="Rectangle 10"/>
          <p:cNvSpPr/>
          <p:nvPr/>
        </p:nvSpPr>
        <p:spPr>
          <a:xfrm>
            <a:off x="6217919" y="1810512"/>
            <a:ext cx="5196535" cy="3250375"/>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36791" y="1929384"/>
            <a:ext cx="4958791" cy="3012631"/>
          </a:xfrm>
          <a:prstGeom prst="rect">
            <a:avLst/>
          </a:prstGeom>
          <a:solidFill>
            <a:srgbClr val="FFFFFF"/>
          </a:solidFill>
          <a:ln w="12700">
            <a:solidFill>
              <a:srgbClr val="D7E0D9"/>
            </a:solidFill>
          </a:ln>
          <a:effectLst/>
        </p:spPr>
        <p:txBody>
          <a:bodyPr rtlCol="0" anchor="ctr"/>
          <a:lstStyle/>
          <a:p>
            <a:pPr algn="ctr"/>
          </a:p>
        </p:txBody>
      </p:sp>
      <p:sp>
        <p:nvSpPr>
          <p:cNvPr id="13" name="Rectangle 12"/>
          <p:cNvSpPr/>
          <p:nvPr/>
        </p:nvSpPr>
        <p:spPr>
          <a:xfrm>
            <a:off x="6336791" y="1929384"/>
            <a:ext cx="4958791" cy="50800"/>
          </a:xfrm>
          <a:prstGeom prst="rect">
            <a:avLst/>
          </a:prstGeom>
          <a:solidFill>
            <a:srgbClr val="F2A900"/>
          </a:solidFill>
          <a:ln>
            <a:noFill/>
          </a:ln>
          <a:effectLst/>
        </p:spPr>
        <p:txBody>
          <a:bodyPr rtlCol="0" anchor="ctr"/>
          <a:lstStyle/>
          <a:p>
            <a:pPr algn="ctr"/>
          </a:p>
        </p:txBody>
      </p:sp>
      <p:sp>
        <p:nvSpPr>
          <p:cNvPr id="14" name="TextBox 13"/>
          <p:cNvSpPr txBox="1"/>
          <p:nvPr/>
        </p:nvSpPr>
        <p:spPr>
          <a:xfrm>
            <a:off x="6611111" y="2203703"/>
            <a:ext cx="4410151" cy="2555431"/>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a dashed volume overextension line across the volume panel with circled spikes above it, a stepped computed line under it, and a dashed support line on the price that is broken at the right on extreme volume, labelled above the rolling 100-day 2-sigma level.</a:t>
            </a:r>
          </a:p>
        </p:txBody>
      </p:sp>
      <p:cxnSp>
        <p:nvCxnSpPr>
          <p:cNvPr id="15" name="Connector 14"/>
          <p:cNvCxnSpPr/>
          <p:nvPr/>
        </p:nvCxnSpPr>
        <p:spPr>
          <a:xfrm>
            <a:off x="6366544" y="4396728"/>
            <a:ext cx="4899286" cy="0"/>
          </a:xfrm>
          <a:prstGeom prst="line">
            <a:avLst/>
          </a:prstGeom>
          <a:ln w="44450">
            <a:solidFill>
              <a:srgbClr val="E09B00"/>
            </a:solidFill>
          </a:ln>
        </p:spPr>
      </p:cxnSp>
      <p:sp>
        <p:nvSpPr>
          <p:cNvPr id="16" name="Oval 15"/>
          <p:cNvSpPr/>
          <p:nvPr/>
        </p:nvSpPr>
        <p:spPr>
          <a:xfrm>
            <a:off x="8801311" y="4149693"/>
            <a:ext cx="401662" cy="382604"/>
          </a:xfrm>
          <a:prstGeom prst="ellipse">
            <a:avLst/>
          </a:prstGeom>
          <a:noFill/>
          <a:ln w="44450">
            <a:solidFill>
              <a:srgbClr val="C62828"/>
            </a:solidFill>
          </a:ln>
        </p:spPr>
        <p:txBody>
          <a:bodyPr rtlCol="0" anchor="ctr"/>
          <a:lstStyle/>
          <a:p>
            <a:pPr algn="ctr"/>
          </a:p>
        </p:txBody>
      </p:sp>
      <p:sp>
        <p:nvSpPr>
          <p:cNvPr id="17" name="Oval 16"/>
          <p:cNvSpPr/>
          <p:nvPr/>
        </p:nvSpPr>
        <p:spPr>
          <a:xfrm>
            <a:off x="10809621" y="2549986"/>
            <a:ext cx="426456" cy="370553"/>
          </a:xfrm>
          <a:prstGeom prst="ellipse">
            <a:avLst/>
          </a:prstGeom>
          <a:noFill/>
          <a:ln w="44450">
            <a:solidFill>
              <a:srgbClr val="1F5FAD"/>
            </a:solidFill>
          </a:ln>
        </p:spPr>
        <p:txBody>
          <a:bodyPr rtlCol="0" anchor="ctr"/>
          <a:lstStyle/>
          <a:p>
            <a:pPr algn="ctr"/>
          </a:p>
        </p:txBody>
      </p:sp>
      <p:sp>
        <p:nvSpPr>
          <p:cNvPr id="18" name="Oval 17"/>
          <p:cNvSpPr/>
          <p:nvPr/>
        </p:nvSpPr>
        <p:spPr>
          <a:xfrm>
            <a:off x="6211096" y="424128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9" name="Oval 18"/>
          <p:cNvSpPr/>
          <p:nvPr/>
        </p:nvSpPr>
        <p:spPr>
          <a:xfrm>
            <a:off x="8645863" y="399424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0" name="Oval 19"/>
          <p:cNvSpPr/>
          <p:nvPr/>
        </p:nvSpPr>
        <p:spPr>
          <a:xfrm>
            <a:off x="10654173" y="2394538"/>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1" name="TextBox 20"/>
          <p:cNvSpPr txBox="1"/>
          <p:nvPr/>
        </p:nvSpPr>
        <p:spPr>
          <a:xfrm>
            <a:off x="6217919" y="5152327"/>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22" name="TextBox 2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Support: Chapter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figure's second line: a rolling 2-sigma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18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Rolling 100-day 2-sigma level = 100-day average volume + 2 x sigma. Sigma, the standard deviation: how far volume typically strays from its average.</a:t>
            </a:r>
          </a:p>
          <a:p>
            <a:pPr algn="l">
              <a:lnSpc>
                <a:spcPct val="118000"/>
              </a:lnSpc>
              <a:spcBef>
                <a:spcPts val="0"/>
              </a:spcBef>
              <a:spcAft>
                <a:spcPts val="1300"/>
              </a:spcAft>
            </a:pPr>
            <a:r>
              <a:rPr sz="2100" b="0" i="0">
                <a:solidFill>
                  <a:srgbClr val="1A1A1A"/>
                </a:solidFill>
                <a:latin typeface="Arial"/>
              </a:rPr>
              <a:t>Ours: average 20 million, sigma 10 million: 20 + 2 x 10 = 40 million. A 35 million day stays under; 55 million crosses.</a:t>
            </a:r>
          </a:p>
          <a:p>
            <a:pPr algn="l">
              <a:lnSpc>
                <a:spcPct val="118000"/>
              </a:lnSpc>
              <a:spcBef>
                <a:spcPts val="0"/>
              </a:spcBef>
              <a:spcAft>
                <a:spcPts val="1300"/>
              </a:spcAft>
            </a:pPr>
            <a:r>
              <a:rPr sz="2100" b="0" i="0">
                <a:solidFill>
                  <a:srgbClr val="1A1A1A"/>
                </a:solidFill>
                <a:latin typeface="Arial"/>
              </a:rPr>
              <a:t>Rolling: redone daily over the latest 100 days, so the level moves as old days leave the window.</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By eye or by formula: only volume above the line counts.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100-day 2-sigma level. Ours: the arithmetic and the 20 and 10 million.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rolling line on Figure 6.14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19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On Figure 6.14, the solid line under the dashed level is the rolling level.</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August 2011 spikes enter its window: the line steps up.</a:t>
            </a:r>
          </a:p>
          <a:p>
            <a:pPr algn="l">
              <a:lnSpc>
                <a:spcPct val="105000"/>
              </a:lnSpc>
              <a:spcBef>
                <a:spcPts val="0"/>
              </a:spcBef>
              <a:spcAft>
                <a:spcPts val="1100"/>
              </a:spcAft>
            </a:pPr>
            <a:r>
              <a:rPr sz="2000" b="1" i="0">
                <a:solidFill>
                  <a:srgbClr val="1F5FAD"/>
                </a:solidFill>
                <a:latin typeface="Arial"/>
              </a:rPr>
              <a:t>(3)</a:t>
            </a:r>
            <a:r>
              <a:rPr sz="2000" b="0" i="0">
                <a:solidFill>
                  <a:srgbClr val="1A1A1A"/>
                </a:solidFill>
                <a:latin typeface="Arial"/>
              </a:rPr>
              <a:t> Some 100 days later they leave, and it drops back.</a:t>
            </a:r>
          </a:p>
        </p:txBody>
      </p:sp>
      <p:sp>
        <p:nvSpPr>
          <p:cNvPr id="8" name="Rectangle 7"/>
          <p:cNvSpPr/>
          <p:nvPr/>
        </p:nvSpPr>
        <p:spPr>
          <a:xfrm>
            <a:off x="777240" y="4581144"/>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519379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level follows volume's recent past: what counts as extreme changes over time.</a:t>
            </a:r>
          </a:p>
        </p:txBody>
      </p:sp>
      <p:sp>
        <p:nvSpPr>
          <p:cNvPr id="10" name="Rectangle 9"/>
          <p:cNvSpPr/>
          <p:nvPr/>
        </p:nvSpPr>
        <p:spPr>
          <a:xfrm>
            <a:off x="6583679" y="1810512"/>
            <a:ext cx="4830775" cy="3028163"/>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79041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33321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6.14</a:t>
            </a:r>
          </a:p>
          <a:p>
            <a:pPr algn="l">
              <a:lnSpc>
                <a:spcPct val="115000"/>
              </a:lnSpc>
              <a:spcBef>
                <a:spcPts val="0"/>
              </a:spcBef>
              <a:spcAft>
                <a:spcPts val="0"/>
              </a:spcAft>
            </a:pPr>
            <a:r>
              <a:rPr sz="1500" b="0" i="0">
                <a:solidFill>
                  <a:srgbClr val="1A1A1A"/>
                </a:solidFill>
                <a:latin typeface="Palatino"/>
              </a:rPr>
              <a:t>The daily SPDR Gold Trust with its volume panel: the solid rolling 100-day 2-sigma line steps up after the August 2011 volume spikes and drops back some 100 days later.</a:t>
            </a:r>
          </a:p>
        </p:txBody>
      </p:sp>
      <p:cxnSp>
        <p:nvCxnSpPr>
          <p:cNvPr id="14" name="Connector 13"/>
          <p:cNvCxnSpPr/>
          <p:nvPr/>
        </p:nvCxnSpPr>
        <p:spPr>
          <a:xfrm flipV="1">
            <a:off x="7938077" y="4410067"/>
            <a:ext cx="197500" cy="239976"/>
          </a:xfrm>
          <a:prstGeom prst="line">
            <a:avLst/>
          </a:prstGeom>
          <a:ln w="44450">
            <a:solidFill>
              <a:srgbClr val="E09B00"/>
            </a:solidFill>
            <a:tailEnd type="triangle" w="med" len="med"/>
          </a:ln>
        </p:spPr>
      </p:cxnSp>
      <p:cxnSp>
        <p:nvCxnSpPr>
          <p:cNvPr id="15" name="Connector 14"/>
          <p:cNvCxnSpPr/>
          <p:nvPr/>
        </p:nvCxnSpPr>
        <p:spPr>
          <a:xfrm flipV="1">
            <a:off x="8953137" y="4306821"/>
            <a:ext cx="146977" cy="354383"/>
          </a:xfrm>
          <a:prstGeom prst="line">
            <a:avLst/>
          </a:prstGeom>
          <a:ln w="44450">
            <a:solidFill>
              <a:srgbClr val="C62828"/>
            </a:solidFill>
            <a:tailEnd type="triangle" w="med" len="med"/>
          </a:ln>
        </p:spPr>
      </p:cxnSp>
      <p:cxnSp>
        <p:nvCxnSpPr>
          <p:cNvPr id="16" name="Connector 15"/>
          <p:cNvCxnSpPr/>
          <p:nvPr/>
        </p:nvCxnSpPr>
        <p:spPr>
          <a:xfrm flipH="1" flipV="1">
            <a:off x="9651277" y="4340306"/>
            <a:ext cx="151570" cy="320898"/>
          </a:xfrm>
          <a:prstGeom prst="line">
            <a:avLst/>
          </a:prstGeom>
          <a:ln w="44450">
            <a:solidFill>
              <a:srgbClr val="1F5FAD"/>
            </a:solidFill>
            <a:tailEnd type="triangle" w="med" len="med"/>
          </a:ln>
        </p:spPr>
      </p:cxnSp>
      <p:sp>
        <p:nvSpPr>
          <p:cNvPr id="17" name="Oval 16"/>
          <p:cNvSpPr/>
          <p:nvPr/>
        </p:nvSpPr>
        <p:spPr>
          <a:xfrm>
            <a:off x="7782629" y="4494595"/>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8" name="Oval 17"/>
          <p:cNvSpPr/>
          <p:nvPr/>
        </p:nvSpPr>
        <p:spPr>
          <a:xfrm>
            <a:off x="8797689" y="4505756"/>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9" name="Oval 18"/>
          <p:cNvSpPr/>
          <p:nvPr/>
        </p:nvSpPr>
        <p:spPr>
          <a:xfrm>
            <a:off x="9647399" y="4505756"/>
            <a:ext cx="310896" cy="310896"/>
          </a:xfrm>
          <a:prstGeom prst="ellipse">
            <a:avLst/>
          </a:prstGeom>
          <a:solidFill>
            <a:srgbClr val="1F5FAD"/>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3</a:t>
            </a:r>
          </a:p>
        </p:txBody>
      </p:sp>
      <p:sp>
        <p:nvSpPr>
          <p:cNvPr id="20" name="TextBox 19"/>
          <p:cNvSpPr txBox="1"/>
          <p:nvPr/>
        </p:nvSpPr>
        <p:spPr>
          <a:xfrm>
            <a:off x="6583679" y="4930115"/>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6.14 - Lim, The Handbook of Technical Analysis (Wiley, 2016)</a:t>
            </a:r>
          </a:p>
        </p:txBody>
      </p:sp>
      <p:sp>
        <p:nvSpPr>
          <p:cNvPr id="21" name="TextBox 2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names the rolling line. Ours: why it steps, read by eye off Figure 6.14.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Ours: ordinary bars trade 0.9 to 1.5 million shares. Upper level 4.0 million, lower 2.2, both by eye.</a:t>
            </a:r>
          </a:p>
          <a:p>
            <a:pPr algn="l">
              <a:lnSpc>
                <a:spcPct val="105000"/>
              </a:lnSpc>
              <a:spcBef>
                <a:spcPts val="0"/>
              </a:spcBef>
              <a:spcAft>
                <a:spcPts val="1100"/>
              </a:spcAft>
            </a:pPr>
            <a:r>
              <a:rPr sz="1500" b="0" i="0">
                <a:solidFill>
                  <a:srgbClr val="1A1A1A"/>
                </a:solidFill>
                <a:latin typeface="Arial"/>
              </a:rPr>
              <a:t>Upper: only the spikes of 4.6 million cross it, at 1, the top at PHP 60, and at 2, the bottom at PHP 42. Two signals, both major turns.</a:t>
            </a:r>
          </a:p>
          <a:p>
            <a:pPr algn="l">
              <a:lnSpc>
                <a:spcPct val="105000"/>
              </a:lnSpc>
              <a:spcBef>
                <a:spcPts val="0"/>
              </a:spcBef>
              <a:spcAft>
                <a:spcPts val="1100"/>
              </a:spcAft>
            </a:pPr>
            <a:r>
              <a:rPr sz="1500" b="0" i="0">
                <a:solidFill>
                  <a:srgbClr val="1A1A1A"/>
                </a:solidFill>
                <a:latin typeface="Arial"/>
              </a:rPr>
              <a:t>Lower: those two, plus spikes of 2.6 million at a, b and c, smaller corrections. Five signals.</a:t>
            </a:r>
          </a:p>
        </p:txBody>
      </p:sp>
      <p:sp>
        <p:nvSpPr>
          <p:cNvPr id="8" name="Rectangle 7"/>
          <p:cNvSpPr/>
          <p:nvPr/>
        </p:nvSpPr>
        <p:spPr>
          <a:xfrm>
            <a:off x="777240" y="434111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77690"/>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Where the line goes decides which turns it signals.</a:t>
            </a:r>
          </a:p>
        </p:txBody>
      </p:sp>
      <p:sp>
        <p:nvSpPr>
          <p:cNvPr id="10" name="TextBox 9"/>
          <p:cNvSpPr txBox="1"/>
          <p:nvPr/>
        </p:nvSpPr>
        <p:spPr>
          <a:xfrm>
            <a:off x="777240" y="5176265"/>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Only the major turns: the upper line. The corrections too: the lower, which flags smaller moves.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every price and every volume are ours.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21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Volatility: how widely price swings. The bottom panel, a Bollinger Bandwidth oscillator, is the book's gauge of it here; the chapter does not say how it is calculated.</a:t>
            </a:r>
          </a:p>
          <a:p>
            <a:pPr algn="l">
              <a:lnSpc>
                <a:spcPct val="105000"/>
              </a:lnSpc>
              <a:spcBef>
                <a:spcPts val="0"/>
              </a:spcBef>
              <a:spcAft>
                <a:spcPts val="1100"/>
              </a:spcAft>
            </a:pPr>
            <a:r>
              <a:rPr sz="1600" b="0" i="0">
                <a:solidFill>
                  <a:srgbClr val="1A1A1A"/>
                </a:solidFill>
                <a:latin typeface="Arial"/>
              </a:rPr>
              <a:t>Thin upright lines join circled volatility spikes </a:t>
            </a:r>
            <a:r>
              <a:rPr sz="1600" b="1" i="0">
                <a:solidFill>
                  <a:srgbClr val="E09B00"/>
                </a:solidFill>
                <a:latin typeface="Arial"/>
              </a:rPr>
              <a:t>(1)</a:t>
            </a:r>
            <a:r>
              <a:rPr sz="1600" b="0" i="0">
                <a:solidFill>
                  <a:srgbClr val="1A1A1A"/>
                </a:solidFill>
                <a:latin typeface="Arial"/>
              </a:rPr>
              <a:t> to volume crossing the overextension lines </a:t>
            </a:r>
            <a:r>
              <a:rPr sz="1600" b="1" i="0">
                <a:solidFill>
                  <a:srgbClr val="C62828"/>
                </a:solidFill>
                <a:latin typeface="Arial"/>
              </a:rPr>
              <a:t>(2)</a:t>
            </a:r>
            <a:r>
              <a:rPr sz="1600" b="0" i="0">
                <a:solidFill>
                  <a:srgbClr val="1A1A1A"/>
                </a:solidFill>
                <a:latin typeface="Arial"/>
              </a:rPr>
              <a:t>, and up to turns in price.</a:t>
            </a:r>
          </a:p>
          <a:p>
            <a:pPr algn="l">
              <a:lnSpc>
                <a:spcPct val="105000"/>
              </a:lnSpc>
              <a:spcBef>
                <a:spcPts val="0"/>
              </a:spcBef>
              <a:spcAft>
                <a:spcPts val="1100"/>
              </a:spcAft>
            </a:pPr>
            <a:r>
              <a:rPr sz="1600" b="0" i="0">
                <a:solidFill>
                  <a:srgbClr val="1A1A1A"/>
                </a:solidFill>
                <a:latin typeface="Arial"/>
              </a:rPr>
              <a:t>At the book's 1 and 2, lows after sharp falls, volume and volatility spike together.</a:t>
            </a:r>
          </a:p>
        </p:txBody>
      </p:sp>
      <p:sp>
        <p:nvSpPr>
          <p:cNvPr id="8" name="Rectangle 7"/>
          <p:cNvSpPr/>
          <p:nvPr/>
        </p:nvSpPr>
        <p:spPr>
          <a:xfrm>
            <a:off x="777240" y="4965192"/>
            <a:ext cx="82296" cy="405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40538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Two different measures flag the same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two lows after sharp falls, at 1 and 2.</a:t>
            </a:r>
          </a:p>
        </p:txBody>
      </p:sp>
      <p:sp>
        <p:nvSpPr>
          <p:cNvPr id="14" name="Rectangle 13"/>
          <p:cNvSpPr/>
          <p:nvPr/>
        </p:nvSpPr>
        <p:spPr>
          <a:xfrm>
            <a:off x="7823251" y="4132779"/>
            <a:ext cx="2392969" cy="254439"/>
          </a:xfrm>
          <a:prstGeom prst="rect">
            <a:avLst/>
          </a:prstGeom>
          <a:noFill/>
          <a:ln w="44450">
            <a:solidFill>
              <a:srgbClr val="E09B00"/>
            </a:solidFill>
          </a:ln>
        </p:spPr>
        <p:txBody>
          <a:bodyPr rtlCol="0" anchor="ctr"/>
          <a:lstStyle/>
          <a:p>
            <a:pPr algn="ctr"/>
          </a:p>
        </p:txBody>
      </p:sp>
      <p:sp>
        <p:nvSpPr>
          <p:cNvPr id="15" name="Rectangle 14"/>
          <p:cNvSpPr/>
          <p:nvPr/>
        </p:nvSpPr>
        <p:spPr>
          <a:xfrm>
            <a:off x="8815346" y="3267160"/>
            <a:ext cx="1860177" cy="372478"/>
          </a:xfrm>
          <a:prstGeom prst="rect">
            <a:avLst/>
          </a:prstGeom>
          <a:noFill/>
          <a:ln w="44450">
            <a:solidFill>
              <a:srgbClr val="C62828"/>
            </a:solidFill>
          </a:ln>
        </p:spPr>
        <p:txBody>
          <a:bodyPr rtlCol="0" anchor="ctr"/>
          <a:lstStyle/>
          <a:p>
            <a:pPr algn="ctr"/>
          </a:p>
        </p:txBody>
      </p:sp>
      <p:sp>
        <p:nvSpPr>
          <p:cNvPr id="16" name="Oval 15"/>
          <p:cNvSpPr/>
          <p:nvPr/>
        </p:nvSpPr>
        <p:spPr>
          <a:xfrm>
            <a:off x="7511640" y="3977331"/>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8843619" y="311171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The figure's caption calls 1 and 2 selling climaxes.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Figure 6.15's two volatility 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22 of 30</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1" i="0">
                <a:solidFill>
                  <a:srgbClr val="E09B00"/>
                </a:solidFill>
                <a:latin typeface="Arial"/>
              </a:rPr>
              <a:t>(1)</a:t>
            </a:r>
            <a:r>
              <a:rPr sz="2000" b="0" i="0">
                <a:solidFill>
                  <a:srgbClr val="1A1A1A"/>
                </a:solidFill>
                <a:latin typeface="Arial"/>
              </a:rPr>
              <a:t> The dashed line, near 15: below it is noise, which many practitioners filter out. All four circled spikes clear it.</a:t>
            </a:r>
          </a:p>
          <a:p>
            <a:pPr algn="l">
              <a:lnSpc>
                <a:spcPct val="105000"/>
              </a:lnSpc>
              <a:spcBef>
                <a:spcPts val="0"/>
              </a:spcBef>
              <a:spcAft>
                <a:spcPts val="1100"/>
              </a:spcAft>
            </a:pPr>
            <a:r>
              <a:rPr sz="2000" b="1" i="0">
                <a:solidFill>
                  <a:srgbClr val="C62828"/>
                </a:solidFill>
                <a:latin typeface="Arial"/>
              </a:rPr>
              <a:t>(2)</a:t>
            </a:r>
            <a:r>
              <a:rPr sz="2000" b="0" i="0">
                <a:solidFill>
                  <a:srgbClr val="1A1A1A"/>
                </a:solidFill>
                <a:latin typeface="Arial"/>
              </a:rPr>
              <a:t> The historical volatility level, near 40: only the spikes under the book's two lows reach it.</a:t>
            </a:r>
          </a:p>
        </p:txBody>
      </p:sp>
      <p:sp>
        <p:nvSpPr>
          <p:cNvPr id="8" name="Rectangle 7"/>
          <p:cNvSpPr/>
          <p:nvPr/>
        </p:nvSpPr>
        <p:spPr>
          <a:xfrm>
            <a:off x="777240" y="441655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51937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 low line for noise, a high one for the major turns.</a:t>
            </a:r>
          </a:p>
        </p:txBody>
      </p:sp>
      <p:sp>
        <p:nvSpPr>
          <p:cNvPr id="10" name="Rectangle 9"/>
          <p:cNvSpPr/>
          <p:nvPr/>
        </p:nvSpPr>
        <p:spPr>
          <a:xfrm>
            <a:off x="6583679" y="1810512"/>
            <a:ext cx="4830775" cy="2860834"/>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702551" y="1929384"/>
            <a:ext cx="4593031" cy="2623090"/>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02551" y="1929384"/>
            <a:ext cx="4593031"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76871" y="2203703"/>
            <a:ext cx="4044391" cy="216589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6.15</a:t>
            </a:r>
          </a:p>
          <a:p>
            <a:pPr algn="l">
              <a:lnSpc>
                <a:spcPct val="115000"/>
              </a:lnSpc>
              <a:spcBef>
                <a:spcPts val="0"/>
              </a:spcBef>
              <a:spcAft>
                <a:spcPts val="0"/>
              </a:spcAft>
            </a:pPr>
            <a:r>
              <a:rPr sz="1300" b="0" i="0">
                <a:solidFill>
                  <a:srgbClr val="1A1A1A"/>
                </a:solidFill>
                <a:latin typeface="Palatino"/>
              </a:rPr>
              <a:t>The continuous daily chart of silver, its volume with two overextension lines, and under it a bandwidth oscillator labelled volatility: a dashed noise line near 15 that four circled spikes clear, and a historical volatility level near 40 that only the two spikes under the book's lows 1 and 2 reach.</a:t>
            </a:r>
          </a:p>
        </p:txBody>
      </p:sp>
      <p:cxnSp>
        <p:nvCxnSpPr>
          <p:cNvPr id="14" name="Connector 13"/>
          <p:cNvCxnSpPr/>
          <p:nvPr/>
        </p:nvCxnSpPr>
        <p:spPr>
          <a:xfrm>
            <a:off x="6730110" y="4282295"/>
            <a:ext cx="3936227" cy="0"/>
          </a:xfrm>
          <a:prstGeom prst="line">
            <a:avLst/>
          </a:prstGeom>
          <a:ln w="44450">
            <a:solidFill>
              <a:srgbClr val="E09B00"/>
            </a:solidFill>
          </a:ln>
        </p:spPr>
      </p:cxnSp>
      <p:cxnSp>
        <p:nvCxnSpPr>
          <p:cNvPr id="15" name="Connector 14"/>
          <p:cNvCxnSpPr/>
          <p:nvPr/>
        </p:nvCxnSpPr>
        <p:spPr>
          <a:xfrm>
            <a:off x="9343544" y="3938671"/>
            <a:ext cx="1322793" cy="0"/>
          </a:xfrm>
          <a:prstGeom prst="line">
            <a:avLst/>
          </a:prstGeom>
          <a:ln w="44450">
            <a:solidFill>
              <a:srgbClr val="C62828"/>
            </a:solidFill>
          </a:ln>
        </p:spPr>
      </p:cxnSp>
      <p:sp>
        <p:nvSpPr>
          <p:cNvPr id="16" name="Oval 15"/>
          <p:cNvSpPr/>
          <p:nvPr/>
        </p:nvSpPr>
        <p:spPr>
          <a:xfrm>
            <a:off x="6574662" y="4126847"/>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188096" y="3783223"/>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6583679" y="4762786"/>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6.15 -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its two volatility lines read by eye.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volatility spike adds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23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second, separate measure, price's swings, agreeing with volume at the same turns: evidence that corroborates, the chapter's first idea.</a:t>
            </a:r>
          </a:p>
          <a:p>
            <a:pPr algn="l">
              <a:lnSpc>
                <a:spcPct val="118000"/>
              </a:lnSpc>
              <a:spcBef>
                <a:spcPts val="0"/>
              </a:spcBef>
              <a:spcAft>
                <a:spcPts val="1300"/>
              </a:spcAft>
            </a:pPr>
            <a:r>
              <a:rPr sz="2100" b="0" i="0">
                <a:solidFill>
                  <a:srgbClr val="1A1A1A"/>
                </a:solidFill>
                <a:latin typeface="Arial"/>
              </a:rPr>
              <a:t>A spike above the noise line is a real one; a spike at the historical level marks a major turn, as on the volume panel's upper line.</a:t>
            </a:r>
          </a:p>
          <a:p>
            <a:pPr algn="l">
              <a:lnSpc>
                <a:spcPct val="118000"/>
              </a:lnSpc>
              <a:spcBef>
                <a:spcPts val="0"/>
              </a:spcBef>
              <a:spcAft>
                <a:spcPts val="1300"/>
              </a:spcAft>
            </a:pPr>
            <a:r>
              <a:rPr sz="2100" b="0" i="0">
                <a:solidFill>
                  <a:srgbClr val="1A1A1A"/>
                </a:solidFill>
                <a:latin typeface="Arial"/>
              </a:rPr>
              <a:t>Both crossing together is stronger evidence; the book gives no weighting.</a:t>
            </a:r>
          </a:p>
        </p:txBody>
      </p:sp>
      <p:sp>
        <p:nvSpPr>
          <p:cNvPr id="8" name="Rectangle 7"/>
          <p:cNvSpPr/>
          <p:nvPr/>
        </p:nvSpPr>
        <p:spPr>
          <a:xfrm>
            <a:off x="777240" y="439902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 on volume: a low line for noise, a high one for the major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Evidence that corroborates: the chapter's first slide, p.173.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24 of 30</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top, or a bottom, made on very little volume. Ours: usual volume 2 million a day; a peak, or a trough, on 0.3 million.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39496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Figure 6.16, Apple: seven circles where volume dips to a lower threshold </a:t>
            </a:r>
            <a:r>
              <a:rPr sz="1500" b="1" i="0">
                <a:solidFill>
                  <a:srgbClr val="E09B00"/>
                </a:solidFill>
                <a:latin typeface="Arial"/>
              </a:rPr>
              <a:t>(1)</a:t>
            </a:r>
            <a:r>
              <a:rPr sz="1500" b="0" i="0">
                <a:solidFill>
                  <a:srgbClr val="1A1A1A"/>
                </a:solidFill>
                <a:latin typeface="Arial"/>
              </a:rPr>
              <a:t>, set by a rule the book does not give. Each time line runs up to a turn </a:t>
            </a:r>
            <a:r>
              <a:rPr sz="1500" b="1" i="0">
                <a:solidFill>
                  <a:srgbClr val="C62828"/>
                </a:solidFill>
                <a:latin typeface="Arial"/>
              </a:rPr>
              <a:t>(2)</a:t>
            </a:r>
            <a:r>
              <a:rPr sz="1500" b="0" i="0">
                <a:solidFill>
                  <a:srgbClr val="1A1A1A"/>
                </a:solidFill>
                <a:latin typeface="Arial"/>
              </a:rPr>
              <a:t>.</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39496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2912183"/>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885431" y="2276856"/>
            <a:ext cx="4410151" cy="2674439"/>
          </a:xfrm>
          <a:prstGeom prst="rect">
            <a:avLst/>
          </a:prstGeom>
          <a:solidFill>
            <a:srgbClr val="FFFFFF"/>
          </a:solidFill>
          <a:ln w="12700">
            <a:solidFill>
              <a:srgbClr val="D7E0D9"/>
            </a:solidFill>
          </a:ln>
          <a:effectLst/>
        </p:spPr>
        <p:txBody>
          <a:bodyPr rtlCol="0" anchor="ctr"/>
          <a:lstStyle/>
          <a:p>
            <a:pPr algn="ctr"/>
          </a:p>
        </p:txBody>
      </p:sp>
      <p:sp>
        <p:nvSpPr>
          <p:cNvPr id="16" name="Rectangle 15"/>
          <p:cNvSpPr/>
          <p:nvPr/>
        </p:nvSpPr>
        <p:spPr>
          <a:xfrm>
            <a:off x="6885431" y="2276856"/>
            <a:ext cx="4410151" cy="50800"/>
          </a:xfrm>
          <a:prstGeom prst="rect">
            <a:avLst/>
          </a:prstGeom>
          <a:solidFill>
            <a:srgbClr val="F2A900"/>
          </a:solidFill>
          <a:ln>
            <a:noFill/>
          </a:ln>
          <a:effectLst/>
        </p:spPr>
        <p:txBody>
          <a:bodyPr rtlCol="0" anchor="ctr"/>
          <a:lstStyle/>
          <a:p>
            <a:pPr algn="ctr"/>
          </a:p>
        </p:txBody>
      </p:sp>
      <p:sp>
        <p:nvSpPr>
          <p:cNvPr id="17" name="TextBox 16"/>
          <p:cNvSpPr txBox="1"/>
          <p:nvPr/>
        </p:nvSpPr>
        <p:spPr>
          <a:xfrm>
            <a:off x="7159751" y="2551175"/>
            <a:ext cx="3861511" cy="2217239"/>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6.16</a:t>
            </a:r>
          </a:p>
          <a:p>
            <a:pPr algn="l">
              <a:lnSpc>
                <a:spcPct val="115000"/>
              </a:lnSpc>
              <a:spcBef>
                <a:spcPts val="0"/>
              </a:spcBef>
              <a:spcAft>
                <a:spcPts val="0"/>
              </a:spcAft>
            </a:pPr>
            <a:r>
              <a:rPr sz="15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p:txBody>
      </p:sp>
      <p:cxnSp>
        <p:nvCxnSpPr>
          <p:cNvPr id="18" name="Connector 17"/>
          <p:cNvCxnSpPr/>
          <p:nvPr/>
        </p:nvCxnSpPr>
        <p:spPr>
          <a:xfrm>
            <a:off x="7048607" y="4713270"/>
            <a:ext cx="3960316" cy="0"/>
          </a:xfrm>
          <a:prstGeom prst="line">
            <a:avLst/>
          </a:prstGeom>
          <a:ln w="44450">
            <a:solidFill>
              <a:srgbClr val="E09B00"/>
            </a:solidFill>
          </a:ln>
        </p:spPr>
      </p:cxnSp>
      <p:cxnSp>
        <p:nvCxnSpPr>
          <p:cNvPr id="19" name="Connector 18"/>
          <p:cNvCxnSpPr/>
          <p:nvPr/>
        </p:nvCxnSpPr>
        <p:spPr>
          <a:xfrm flipV="1">
            <a:off x="8406934" y="2707440"/>
            <a:ext cx="0" cy="1874782"/>
          </a:xfrm>
          <a:prstGeom prst="line">
            <a:avLst/>
          </a:prstGeom>
          <a:ln w="44450">
            <a:solidFill>
              <a:srgbClr val="C62828"/>
            </a:solidFill>
            <a:tailEnd type="triangle" w="med" len="med"/>
          </a:ln>
        </p:spPr>
      </p:cxnSp>
      <p:sp>
        <p:nvSpPr>
          <p:cNvPr id="20" name="Oval 19"/>
          <p:cNvSpPr/>
          <p:nvPr/>
        </p:nvSpPr>
        <p:spPr>
          <a:xfrm>
            <a:off x="6893159" y="4557822"/>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21" name="Oval 20"/>
          <p:cNvSpPr/>
          <p:nvPr/>
        </p:nvSpPr>
        <p:spPr>
          <a:xfrm>
            <a:off x="8097130" y="2656295"/>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22" name="TextBox 21"/>
          <p:cNvSpPr txBox="1"/>
          <p:nvPr/>
        </p:nvSpPr>
        <p:spPr>
          <a:xfrm>
            <a:off x="6766559" y="5161607"/>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23" name="TextBox 2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 The 2 and 0.3 million are ours.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low volume turn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25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it means: when volume falls to its threshold, expect a turn, the book's tendency.</a:t>
            </a:r>
          </a:p>
          <a:p>
            <a:pPr algn="l">
              <a:lnSpc>
                <a:spcPct val="118000"/>
              </a:lnSpc>
              <a:spcBef>
                <a:spcPts val="0"/>
              </a:spcBef>
              <a:spcAft>
                <a:spcPts val="1300"/>
              </a:spcAft>
            </a:pPr>
            <a:r>
              <a:rPr sz="2100" b="0" i="0">
                <a:solidFill>
                  <a:srgbClr val="1A1A1A"/>
                </a:solidFill>
                <a:latin typeface="Arial"/>
              </a:rPr>
              <a:t>Why, by the book's reason for breakouts: those who wanted to trade have traded, so the move runs out of participants. The book gives that reason for breakouts, not for turns.</a:t>
            </a:r>
          </a:p>
          <a:p>
            <a:pPr algn="l">
              <a:lnSpc>
                <a:spcPct val="118000"/>
              </a:lnSpc>
              <a:spcBef>
                <a:spcPts val="0"/>
              </a:spcBef>
              <a:spcAft>
                <a:spcPts val="1300"/>
              </a:spcAft>
            </a:pPr>
            <a:r>
              <a:rPr sz="2100" b="0" i="0">
                <a:solidFill>
                  <a:srgbClr val="1A1A1A"/>
                </a:solidFill>
                <a:latin typeface="Arial"/>
              </a:rPr>
              <a:t>Top or bottom: the touch does not say. Wait for price to show which it was.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going quiet says a turn may come; price says which.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 and 185. The reason is the book's for breakouts, p.180; it gives none for these turns.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26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Back to the spikes, with one caution.</a:t>
            </a:r>
          </a:p>
          <a:p>
            <a:pPr algn="l">
              <a:lnSpc>
                <a:spcPct val="105000"/>
              </a:lnSpc>
              <a:spcBef>
                <a:spcPts val="0"/>
              </a:spcBef>
              <a:spcAft>
                <a:spcPts val="1100"/>
              </a:spcAft>
            </a:pPr>
            <a:r>
              <a:rPr sz="1500" b="0" i="0">
                <a:solidFill>
                  <a:srgbClr val="1A1A1A"/>
                </a:solidFill>
                <a:latin typeface="Arial"/>
              </a:rPr>
              <a:t>Overextended volume can signal a top or a bottom: extreme buying and selling both generate volume.</a:t>
            </a:r>
          </a:p>
          <a:p>
            <a:pPr algn="l">
              <a:lnSpc>
                <a:spcPct val="105000"/>
              </a:lnSpc>
              <a:spcBef>
                <a:spcPts val="0"/>
              </a:spcBef>
              <a:spcAft>
                <a:spcPts val="1100"/>
              </a:spcAft>
            </a:pPr>
            <a:r>
              <a:rPr sz="1500" b="0" i="0">
                <a:solidFill>
                  <a:srgbClr val="1A1A1A"/>
                </a:solidFill>
                <a:latin typeface="Arial"/>
              </a:rPr>
              <a:t>Overbought: an extreme tied to a top; oversold, to a bottom: the book's usage. Plain words, ours: risen too far, fallen too far.</a:t>
            </a:r>
          </a:p>
          <a:p>
            <a:pPr algn="l">
              <a:lnSpc>
                <a:spcPct val="105000"/>
              </a:lnSpc>
              <a:spcBef>
                <a:spcPts val="0"/>
              </a:spcBef>
              <a:spcAft>
                <a:spcPts val="1100"/>
              </a:spcAft>
            </a:pPr>
            <a:r>
              <a:rPr sz="1500" b="0" i="0">
                <a:solidFill>
                  <a:srgbClr val="1A1A1A"/>
                </a:solidFill>
                <a:latin typeface="Arial"/>
              </a:rPr>
              <a:t>Our chart: the same 9 million spike twice. Price rose into it, then fell: a top. Or fell, then rose: a bottom.</a:t>
            </a:r>
          </a:p>
        </p:txBody>
      </p:sp>
      <p:sp>
        <p:nvSpPr>
          <p:cNvPr id="8" name="Rectangle 7"/>
          <p:cNvSpPr/>
          <p:nvPr/>
        </p:nvSpPr>
        <p:spPr>
          <a:xfrm>
            <a:off x="777240" y="4985766"/>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22342"/>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Overextension: pinpointed now. Overbought or oversold: only in retrospect.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with our invented volumes. Overbought and oversold are used and not defined in this chapter.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caution teaches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27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point: a volume spike tells you something is happening, not what. Volume alone cannot call a market overbought or oversold.</a:t>
            </a:r>
          </a:p>
          <a:p>
            <a:pPr algn="l">
              <a:lnSpc>
                <a:spcPct val="118000"/>
              </a:lnSpc>
              <a:spcBef>
                <a:spcPts val="0"/>
              </a:spcBef>
              <a:spcAft>
                <a:spcPts val="1300"/>
              </a:spcAft>
            </a:pPr>
            <a:r>
              <a:rPr sz="2100" b="0" i="0">
                <a:solidFill>
                  <a:srgbClr val="1A1A1A"/>
                </a:solidFill>
                <a:latin typeface="Arial"/>
              </a:rPr>
              <a:t>So do not trade the spike alone: name the overextension now, and wait for price to show which way it turned.</a:t>
            </a:r>
          </a:p>
          <a:p>
            <a:pPr algn="l">
              <a:lnSpc>
                <a:spcPct val="118000"/>
              </a:lnSpc>
              <a:spcBef>
                <a:spcPts val="0"/>
              </a:spcBef>
              <a:spcAft>
                <a:spcPts val="1300"/>
              </a:spcAft>
            </a:pPr>
            <a:r>
              <a:rPr sz="2100" b="0" i="0">
                <a:solidFill>
                  <a:srgbClr val="1A1A1A"/>
                </a:solidFill>
                <a:latin typeface="Arial"/>
              </a:rPr>
              <a:t>It returns to the spikes because the book puts the caution here, p.186.</a:t>
            </a:r>
          </a:p>
          <a:p>
            <a:pPr algn="l">
              <a:lnSpc>
                <a:spcPct val="118000"/>
              </a:lnSpc>
              <a:spcBef>
                <a:spcPts val="0"/>
              </a:spcBef>
              <a:spcAft>
                <a:spcPts val="1300"/>
              </a:spcAft>
            </a:pPr>
            <a:r>
              <a:rPr sz="2100" b="0" i="0">
                <a:solidFill>
                  <a:srgbClr val="1A1A1A"/>
                </a:solidFill>
                <a:latin typeface="Arial"/>
              </a:rPr>
              <a:t>The book is silent on two things: whether the quiet turns carry it too, and what overbought and oversold mean.</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says a turn is likely; price says which kind it was.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Where the caution sits is the book's order. That it is silent on the quiet turns is a reading of p.186, which names overextensions only.</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28 of 30</a:t>
            </a:r>
          </a:p>
        </p:txBody>
      </p:sp>
      <p:sp>
        <p:nvSpPr>
          <p:cNvPr id="7" name="TextBox 6"/>
          <p:cNvSpPr txBox="1"/>
          <p:nvPr/>
        </p:nvSpPr>
        <p:spPr>
          <a:xfrm>
            <a:off x="777240" y="1965960"/>
            <a:ext cx="42062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Timeframe: the time one bar covers. A monthly bar adds up every day of the month.</a:t>
            </a:r>
          </a:p>
          <a:p>
            <a:pPr algn="l">
              <a:lnSpc>
                <a:spcPct val="105000"/>
              </a:lnSpc>
              <a:spcBef>
                <a:spcPts val="0"/>
              </a:spcBef>
              <a:spcAft>
                <a:spcPts val="1100"/>
              </a:spcAft>
            </a:pPr>
            <a:r>
              <a:rPr sz="1700" b="0" i="0">
                <a:solidFill>
                  <a:srgbClr val="1A1A1A"/>
                </a:solidFill>
                <a:latin typeface="Arial"/>
              </a:rPr>
              <a:t>Figure 6.17, gold: daily and weekly volume peak in 2013 </a:t>
            </a:r>
            <a:r>
              <a:rPr sz="1700" b="1" i="0">
                <a:solidFill>
                  <a:srgbClr val="E09B00"/>
                </a:solidFill>
                <a:latin typeface="Arial"/>
              </a:rPr>
              <a:t>(1)</a:t>
            </a:r>
            <a:r>
              <a:rPr sz="1700" b="0" i="0">
                <a:solidFill>
                  <a:srgbClr val="1A1A1A"/>
                </a:solidFill>
                <a:latin typeface="Arial"/>
              </a:rPr>
              <a:t>; monthly, quarterly and yearly peak in 2011 </a:t>
            </a:r>
            <a:r>
              <a:rPr sz="1700" b="1" i="0">
                <a:solidFill>
                  <a:srgbClr val="C62828"/>
                </a:solidFill>
                <a:latin typeface="Arial"/>
              </a:rPr>
              <a:t>(2)</a:t>
            </a:r>
            <a:r>
              <a:rPr sz="1700" b="0" i="0">
                <a:solidFill>
                  <a:srgbClr val="1A1A1A"/>
                </a:solidFill>
                <a:latin typeface="Arial"/>
              </a:rPr>
              <a:t>.</a:t>
            </a:r>
          </a:p>
        </p:txBody>
      </p:sp>
      <p:sp>
        <p:nvSpPr>
          <p:cNvPr id="8" name="Rectangle 7"/>
          <p:cNvSpPr/>
          <p:nvPr/>
        </p:nvSpPr>
        <p:spPr>
          <a:xfrm>
            <a:off x="777240" y="4128516"/>
            <a:ext cx="82296" cy="12435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3913632" cy="124358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Lower timeframes are more sensitive: one day's burst shows. Higher ones show the overall trend of volume.</a:t>
            </a:r>
          </a:p>
        </p:txBody>
      </p:sp>
      <p:sp>
        <p:nvSpPr>
          <p:cNvPr id="10" name="Rectangle 9"/>
          <p:cNvSpPr/>
          <p:nvPr/>
        </p:nvSpPr>
        <p:spPr>
          <a:xfrm>
            <a:off x="5875477" y="1810512"/>
            <a:ext cx="4967020"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994349" y="1929384"/>
            <a:ext cx="4729276" cy="3511296"/>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994349" y="1929384"/>
            <a:ext cx="4729276"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8669" y="2203703"/>
            <a:ext cx="4180636" cy="3054096"/>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FIGURE 6.17</a:t>
            </a:r>
          </a:p>
          <a:p>
            <a:pPr algn="l">
              <a:lnSpc>
                <a:spcPct val="115000"/>
              </a:lnSpc>
              <a:spcBef>
                <a:spcPts val="0"/>
              </a:spcBef>
              <a:spcAft>
                <a:spcPts val="0"/>
              </a:spcAft>
            </a:pPr>
            <a:r>
              <a:rPr sz="15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p:txBody>
      </p:sp>
      <p:sp>
        <p:nvSpPr>
          <p:cNvPr id="14" name="Rectangle 13"/>
          <p:cNvSpPr/>
          <p:nvPr/>
        </p:nvSpPr>
        <p:spPr>
          <a:xfrm>
            <a:off x="10137195" y="1943429"/>
            <a:ext cx="321590" cy="937516"/>
          </a:xfrm>
          <a:prstGeom prst="rect">
            <a:avLst/>
          </a:prstGeom>
          <a:noFill/>
          <a:ln w="44450">
            <a:solidFill>
              <a:srgbClr val="E09B00"/>
            </a:solidFill>
          </a:ln>
        </p:spPr>
        <p:txBody>
          <a:bodyPr rtlCol="0" anchor="ctr"/>
          <a:lstStyle/>
          <a:p>
            <a:pPr algn="ctr"/>
          </a:p>
        </p:txBody>
      </p:sp>
      <p:sp>
        <p:nvSpPr>
          <p:cNvPr id="15" name="Rectangle 14"/>
          <p:cNvSpPr/>
          <p:nvPr/>
        </p:nvSpPr>
        <p:spPr>
          <a:xfrm>
            <a:off x="9574411" y="3354970"/>
            <a:ext cx="255380" cy="2043574"/>
          </a:xfrm>
          <a:prstGeom prst="rect">
            <a:avLst/>
          </a:prstGeom>
          <a:noFill/>
          <a:ln w="44450">
            <a:solidFill>
              <a:srgbClr val="C62828"/>
            </a:solidFill>
          </a:ln>
        </p:spPr>
        <p:txBody>
          <a:bodyPr rtlCol="0" anchor="ctr"/>
          <a:lstStyle/>
          <a:p>
            <a:pPr algn="ctr"/>
          </a:p>
        </p:txBody>
      </p:sp>
      <p:sp>
        <p:nvSpPr>
          <p:cNvPr id="16" name="Oval 15"/>
          <p:cNvSpPr/>
          <p:nvPr/>
        </p:nvSpPr>
        <p:spPr>
          <a:xfrm>
            <a:off x="9480444" y="1949500"/>
            <a:ext cx="310896" cy="310896"/>
          </a:xfrm>
          <a:prstGeom prst="ellipse">
            <a:avLst/>
          </a:prstGeom>
          <a:solidFill>
            <a:srgbClr val="E09B00"/>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1</a:t>
            </a:r>
          </a:p>
        </p:txBody>
      </p:sp>
      <p:sp>
        <p:nvSpPr>
          <p:cNvPr id="17" name="Oval 16"/>
          <p:cNvSpPr/>
          <p:nvPr/>
        </p:nvSpPr>
        <p:spPr>
          <a:xfrm>
            <a:off x="9418963" y="3199522"/>
            <a:ext cx="310896" cy="310896"/>
          </a:xfrm>
          <a:prstGeom prst="ellipse">
            <a:avLst/>
          </a:prstGeom>
          <a:solidFill>
            <a:srgbClr val="C62828"/>
          </a:solidFill>
          <a:ln w="12700">
            <a:solidFill>
              <a:srgbClr val="FFFFFF"/>
            </a:solidFill>
          </a:ln>
          <a:effectLst/>
        </p:spPr>
        <p:txBody>
          <a:bodyPr rtlCol="0" anchor="ctr" wrap="none" lIns="0" rIns="0" tIns="0" bIns="0"/>
          <a:lstStyle/>
          <a:p>
            <a:pPr algn="ctr">
              <a:lnSpc>
                <a:spcPct val="100000"/>
              </a:lnSpc>
              <a:spcBef>
                <a:spcPts val="0"/>
              </a:spcBef>
              <a:spcAft>
                <a:spcPts val="0"/>
              </a:spcAft>
            </a:pPr>
            <a:r>
              <a:rPr sz="1300" b="1" i="0">
                <a:solidFill>
                  <a:srgbClr val="FFFFFF"/>
                </a:solidFill>
                <a:latin typeface="Arial"/>
              </a:rPr>
              <a:t>2</a:t>
            </a:r>
          </a:p>
        </p:txBody>
      </p:sp>
      <p:sp>
        <p:nvSpPr>
          <p:cNvPr id="18" name="TextBox 17"/>
          <p:cNvSpPr txBox="1"/>
          <p:nvPr/>
        </p:nvSpPr>
        <p:spPr>
          <a:xfrm>
            <a:off x="5303519" y="5650991"/>
            <a:ext cx="61109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6.17 - Lim, The Handbook of Technical Analysis (Wiley, 2016)</a:t>
            </a:r>
          </a:p>
        </p:txBody>
      </p:sp>
      <p:sp>
        <p:nvSpPr>
          <p:cNvPr id="19" name="TextBox 1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peaks differ: the arithmetic</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29 of 30</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record 2013 day of 10 million, in a month of 19 quiet days of 3 million: 10 + 57 = 67 million for the month.</a:t>
            </a:r>
          </a:p>
          <a:p>
            <a:pPr algn="l">
              <a:lnSpc>
                <a:spcPct val="118000"/>
              </a:lnSpc>
              <a:spcBef>
                <a:spcPts val="0"/>
              </a:spcBef>
              <a:spcAft>
                <a:spcPts val="1300"/>
              </a:spcAft>
            </a:pPr>
            <a:r>
              <a:rPr sz="2100" b="0" i="0">
                <a:solidFill>
                  <a:srgbClr val="1A1A1A"/>
                </a:solidFill>
                <a:latin typeface="Arial"/>
              </a:rPr>
              <a:t>A 2011 month with no record day, 20 days of 6 million: 20 x 6 = 120 million, the monthly peak.</a:t>
            </a:r>
          </a:p>
          <a:p>
            <a:pPr algn="l">
              <a:lnSpc>
                <a:spcPct val="118000"/>
              </a:lnSpc>
              <a:spcBef>
                <a:spcPts val="0"/>
              </a:spcBef>
              <a:spcAft>
                <a:spcPts val="1300"/>
              </a:spcAft>
            </a:pPr>
            <a:r>
              <a:rPr sz="2100" b="0" i="0">
                <a:solidFill>
                  <a:srgbClr val="1A1A1A"/>
                </a:solidFill>
                <a:latin typeface="Arial"/>
              </a:rPr>
              <a:t>So the record day tops the daily bars, and the steady month tops the monthly ones.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Daily to spot a single burst; monthly or higher to see the trend in volume.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p.186's point, worked. The 10, 3 and 6 million are ours, to show the arithmetic.</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30 of 30</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Daily: the tallest bar is one spike of 6.0 million shares, late in the record, at 1.</a:t>
            </a:r>
          </a:p>
          <a:p>
            <a:pPr algn="l">
              <a:lnSpc>
                <a:spcPct val="105000"/>
              </a:lnSpc>
              <a:spcBef>
                <a:spcPts val="0"/>
              </a:spcBef>
              <a:spcAft>
                <a:spcPts val="1100"/>
              </a:spcAft>
            </a:pPr>
            <a:r>
              <a:rPr sz="1700" b="0" i="0">
                <a:solidFill>
                  <a:srgbClr val="1A1A1A"/>
                </a:solidFill>
                <a:latin typeface="Arial"/>
              </a:rPr>
              <a:t>Monthly, the same days added twenty at a time: the spike's month comes to only 24.4 million, one big day and nineteen of about 1 million.</a:t>
            </a:r>
          </a:p>
          <a:p>
            <a:pPr algn="l">
              <a:lnSpc>
                <a:spcPct val="105000"/>
              </a:lnSpc>
              <a:spcBef>
                <a:spcPts val="0"/>
              </a:spcBef>
              <a:spcAft>
                <a:spcPts val="1100"/>
              </a:spcAft>
            </a:pPr>
            <a:r>
              <a:rPr sz="1700" b="0" i="0">
                <a:solidFill>
                  <a:srgbClr val="1A1A1A"/>
                </a:solidFill>
                <a:latin typeface="Arial"/>
              </a:rPr>
              <a:t>The busiest month, 2, comes earlier: no day above 3.5 million, but twenty of them add to 55.7 million.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 and the sums are read from it.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 range, as in Chapter 5: a bar's high minus its low. High PHP 52.00, low PHP 51.20: range PHP 0.80. The book also says spread, not Chapter 3's bid-ask spread.</a:t>
            </a:r>
          </a:p>
          <a:p>
            <a:pPr algn="l">
              <a:lnSpc>
                <a:spcPct val="105000"/>
              </a:lnSpc>
              <a:spcBef>
                <a:spcPts val="0"/>
              </a:spcBef>
              <a:spcAft>
                <a:spcPts val="1100"/>
              </a:spcAft>
            </a:pPr>
            <a:r>
              <a:rPr sz="1700" b="0" i="0">
                <a:solidFill>
                  <a:srgbClr val="1A1A1A"/>
                </a:solidFill>
                <a:latin typeface="Arial"/>
              </a:rPr>
              <a:t>Set range against volume: four cases. Figure 6.30 draws each, 1 to 4, as an empty box, the range, over a black box, the volume.</a:t>
            </a:r>
          </a:p>
          <a:p>
            <a:pPr algn="l">
              <a:lnSpc>
                <a:spcPct val="105000"/>
              </a:lnSpc>
              <a:spcBef>
                <a:spcPts val="0"/>
              </a:spcBef>
              <a:spcAft>
                <a:spcPts val="1100"/>
              </a:spcAft>
            </a:pPr>
            <a:r>
              <a:rPr sz="1700" b="0" i="0">
                <a:solidFill>
                  <a:srgbClr val="1A1A1A"/>
                </a:solidFill>
                <a:latin typeface="Arial"/>
              </a:rPr>
              <a:t>1 short range, low volume; 2 short, high; 3 tall, low; 4 tall, high. The book uses them to forecast breakouts and reversals.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64739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Chapter 5's squat bar, a small range on large volume, is case 2.</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an empty box for the bar range over a black box for the volume. 1 short on low, 2 short on high, 3 tall on low, 4 tall on high.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Chapter 5, characteristic 15. The pesos are ours. Spread is the book's word for bar range here.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22</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name for each of four kinds of bar: narrow or wide range, on low or high volume, each judged against the trend's usual bars.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Usual bar: PHP 1.00 on 2 million shares. PHP 0.20 on 5 million: narrow, high, a High Volume Reversal Bar.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Naming a bar,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the usual bar. Ours: about PHP 1.00 high to low, on 2 million shares.</a:t>
            </a:r>
          </a:p>
          <a:p>
            <a:pPr algn="l">
              <a:lnSpc>
                <a:spcPct val="118000"/>
              </a:lnSpc>
              <a:spcBef>
                <a:spcPts val="0"/>
              </a:spcBef>
              <a:spcAft>
                <a:spcPts val="1300"/>
              </a:spcAft>
            </a:pPr>
            <a:r>
              <a:rPr sz="2100" b="0" i="0">
                <a:solidFill>
                  <a:srgbClr val="1A1A1A"/>
                </a:solidFill>
                <a:latin typeface="Arial"/>
              </a:rPr>
              <a:t>Step 2, compare. PHP 0.20 on 1 million: narrow, low, Low Volume Rest Bar. PHP 0.20 on 5 million: narrow, high, High Volume Reversal Bar.</a:t>
            </a:r>
          </a:p>
          <a:p>
            <a:pPr algn="l">
              <a:lnSpc>
                <a:spcPct val="118000"/>
              </a:lnSpc>
              <a:spcBef>
                <a:spcPts val="0"/>
              </a:spcBef>
              <a:spcAft>
                <a:spcPts val="1300"/>
              </a:spcAft>
            </a:pPr>
            <a:r>
              <a:rPr sz="2100" b="0" i="0">
                <a:solidFill>
                  <a:srgbClr val="1A1A1A"/>
                </a:solidFill>
                <a:latin typeface="Arial"/>
              </a:rPr>
              <a:t>PHP 2.50 on 1 million: wide, low, Low Volume Reversal Bar. PHP 2.50 on 5 million: wide, high, High Volume Continuation Bar.</a:t>
            </a:r>
          </a:p>
          <a:p>
            <a:pPr algn="l">
              <a:lnSpc>
                <a:spcPct val="118000"/>
              </a:lnSpc>
              <a:spcBef>
                <a:spcPts val="0"/>
              </a:spcBef>
              <a:spcAft>
                <a:spcPts val="1300"/>
              </a:spcAft>
            </a:pPr>
            <a:r>
              <a:rPr sz="2100" b="0" i="0">
                <a:solidFill>
                  <a:srgbClr val="1A1A1A"/>
                </a:solidFill>
                <a:latin typeface="Arial"/>
              </a:rPr>
              <a:t>The book gives no number for narrow, wide, low or high; ours are for the example. Judge each bar against those around it.</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Range against usual, volume against usual: four names.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Ours: every number, and the comparison with the usual bar, which the book does not put a number on.</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High Volume Reversal Bar, narrow on high volume, chart left: a strong potential for reversal. Bearish in an uptrend; the converse, bullish, in a downtrend.</a:t>
            </a:r>
          </a:p>
          <a:p>
            <a:pPr algn="l">
              <a:lnSpc>
                <a:spcPct val="105000"/>
              </a:lnSpc>
              <a:spcBef>
                <a:spcPts val="0"/>
              </a:spcBef>
              <a:spcAft>
                <a:spcPts val="1100"/>
              </a:spcAft>
            </a:pPr>
            <a:r>
              <a:rPr sz="1900" b="0" i="0">
                <a:solidFill>
                  <a:srgbClr val="1A1A1A"/>
                </a:solidFill>
                <a:latin typeface="Arial"/>
              </a:rPr>
              <a:t>Low Volume Reversal Bar, wide on low volume, right: a potential for reversal. The longer the bar, the more bearish in an uptrend, bullish in a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Too little movement for the volume, or too little volume for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are the book's; the gold line is our summary. The chart is ours: sketches, not prices.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reversal bars warn,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the usual bar moves PHP 1.00 on 2 million shares. Today 5 million trade, 2.5 times usual, and price moves only PHP 0.20.</a:t>
            </a:r>
          </a:p>
          <a:p>
            <a:pPr algn="l">
              <a:lnSpc>
                <a:spcPct val="118000"/>
              </a:lnSpc>
              <a:spcBef>
                <a:spcPts val="0"/>
              </a:spcBef>
              <a:spcAft>
                <a:spcPts val="1300"/>
              </a:spcAft>
            </a:pPr>
            <a:r>
              <a:rPr sz="2100" b="0" i="0">
                <a:solidFill>
                  <a:srgbClr val="1A1A1A"/>
                </a:solidFill>
                <a:latin typeface="Arial"/>
              </a:rPr>
              <a:t>The book: were that volume buying, the range would be much wider. So sellers are attempting to take control. In a downtrend, the converse.</a:t>
            </a:r>
          </a:p>
          <a:p>
            <a:pPr algn="l">
              <a:lnSpc>
                <a:spcPct val="118000"/>
              </a:lnSpc>
              <a:spcBef>
                <a:spcPts val="0"/>
              </a:spcBef>
              <a:spcAft>
                <a:spcPts val="1300"/>
              </a:spcAft>
            </a:pPr>
            <a:r>
              <a:rPr sz="2100" b="0" i="0">
                <a:solidFill>
                  <a:srgbClr val="1A1A1A"/>
                </a:solidFill>
                <a:latin typeface="Arial"/>
              </a:rPr>
              <a:t>Ours: price jumps PHP 3.00 on 0.7 million shares, a third of usual. The book: a large move on little participation, its word for volume: a lack of interest.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warning of a potential turn, not a certainty: the book gives no entry rule.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both reasons are the book's, and the converse is its word for the downtrend case. Ours: every number.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narrow on low volume: a lack of participation. In a strong, rapid trend, chart left, a potential reversal; in a weak to average one, middle, a point of rest.</a:t>
            </a:r>
          </a:p>
          <a:p>
            <a:pPr algn="l">
              <a:lnSpc>
                <a:spcPct val="105000"/>
              </a:lnSpc>
              <a:spcBef>
                <a:spcPts val="0"/>
              </a:spcBef>
              <a:spcAft>
                <a:spcPts val="1100"/>
              </a:spcAft>
            </a:pPr>
            <a:r>
              <a:rPr sz="1700" b="0" i="0">
                <a:solidFill>
                  <a:srgbClr val="1A1A1A"/>
                </a:solidFill>
                <a:latin typeface="Arial"/>
              </a:rPr>
              <a:t>High Volume Continuation Bar, wide on high volume, right: backed by very large participation. Bullish in an uptrend, bearish in a downtrend.</a:t>
            </a:r>
          </a:p>
        </p:txBody>
      </p:sp>
      <p:sp>
        <p:nvSpPr>
          <p:cNvPr id="8" name="Rectangle 7"/>
          <p:cNvSpPr/>
          <p:nvPr/>
        </p:nvSpPr>
        <p:spPr>
          <a:xfrm>
            <a:off x="777240" y="467258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0916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 reads by the trend's speed; the continuation bar, by its direction.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j.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bar's two readings,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rise of PHP 1.60 a bar stalls on a PHP 0.30 bar with a quarter of the usual volume. That fast, then that quiet: a potential reversal.</a:t>
            </a:r>
          </a:p>
          <a:p>
            <a:pPr algn="l">
              <a:lnSpc>
                <a:spcPct val="118000"/>
              </a:lnSpc>
              <a:spcBef>
                <a:spcPts val="0"/>
              </a:spcBef>
              <a:spcAft>
                <a:spcPts val="1300"/>
              </a:spcAft>
            </a:pPr>
            <a:r>
              <a:rPr sz="2100" b="0" i="0">
                <a:solidFill>
                  <a:srgbClr val="1A1A1A"/>
                </a:solidFill>
                <a:latin typeface="Arial"/>
              </a:rPr>
              <a:t>The same quiet bar in a rise of PHP 0.45 a bar: a point of rest, a pause before the rise goes on. The book gives no speed for strong and rapid.</a:t>
            </a:r>
          </a:p>
          <a:p>
            <a:pPr algn="l">
              <a:lnSpc>
                <a:spcPct val="118000"/>
              </a:lnSpc>
              <a:spcBef>
                <a:spcPts val="0"/>
              </a:spcBef>
              <a:spcAft>
                <a:spcPts val="1300"/>
              </a:spcAft>
            </a:pPr>
            <a:r>
              <a:rPr sz="2100" b="0" i="0">
                <a:solidFill>
                  <a:srgbClr val="1A1A1A"/>
                </a:solidFill>
                <a:latin typeface="Arial"/>
              </a:rPr>
              <a:t>Chapter 5 called both low volume bars only trend inhibiting, holding the trend back. Here each can also mark a reversal.</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rest bar with the trend's speed.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Chapter 5, characteristic 15. Ours: every number, and a pause as the plain reading of point of rest. The book gives no reason speed matters.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At 1 and 2: a narrow range candle on one of the tallest volume bars, about 11 to 13 million shares against 5 million most days.</a:t>
            </a:r>
          </a:p>
          <a:p>
            <a:pPr algn="l">
              <a:lnSpc>
                <a:spcPct val="105000"/>
              </a:lnSpc>
              <a:spcBef>
                <a:spcPts val="0"/>
              </a:spcBef>
              <a:spcAft>
                <a:spcPts val="1100"/>
              </a:spcAft>
            </a:pPr>
            <a:r>
              <a:rPr sz="1700" b="0" i="0">
                <a:solidFill>
                  <a:srgbClr val="1A1A1A"/>
                </a:solidFill>
                <a:latin typeface="Arial"/>
              </a:rPr>
              <a:t>Point 1, late October, at a low: price then rises. Point 2, at the year end, ends a dip from about 22.6 to 22.35: price turns back up to 22.72.</a:t>
            </a:r>
          </a:p>
          <a:p>
            <a:pPr algn="l">
              <a:lnSpc>
                <a:spcPct val="105000"/>
              </a:lnSpc>
              <a:spcBef>
                <a:spcPts val="0"/>
              </a:spcBef>
              <a:spcAft>
                <a:spcPts val="1100"/>
              </a:spcAft>
            </a:pPr>
            <a:r>
              <a:rPr sz="1700" b="0" i="0">
                <a:solidFill>
                  <a:srgbClr val="1A1A1A"/>
                </a:solidFill>
                <a:latin typeface="Arial"/>
              </a:rPr>
              <a:t>August: volume falls into a triangle's apex, where its lines meet: Part 2's low volume breakout signal. Then a volume surge.</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Narrow bar, heavy volume, then a turn.</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dollar fund: narrow range candlesticks on high volume circled at 1, at a low, and 2, at a dip near the highs, lined to tall volume bars; a triangle at the left.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the PowerShares DB U.S. Dollar Bullish Fund. Ours: volumes read by eye. The curved lines are Bollinger Bands, not discussed.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The dollar fund in 2010: a narrow range candlestick on high volume, circled at a low around the start of November.</a:t>
            </a:r>
          </a:p>
          <a:p>
            <a:pPr algn="l">
              <a:lnSpc>
                <a:spcPct val="105000"/>
              </a:lnSpc>
              <a:spcBef>
                <a:spcPts val="0"/>
              </a:spcBef>
              <a:spcAft>
                <a:spcPts val="1100"/>
              </a:spcAft>
            </a:pPr>
            <a:r>
              <a:rPr sz="1900" b="0" i="0">
                <a:solidFill>
                  <a:srgbClr val="1A1A1A"/>
                </a:solidFill>
                <a:latin typeface="Arial"/>
              </a:rPr>
              <a:t>The volume bars under the circle are among the chart's tallest. Price then rebounds, from about 22.0 to about 23.5 within the month.</a:t>
            </a:r>
          </a:p>
        </p:txBody>
      </p:sp>
      <p:sp>
        <p:nvSpPr>
          <p:cNvPr id="8" name="Rectangle 7"/>
          <p:cNvSpPr/>
          <p:nvPr/>
        </p:nvSpPr>
        <p:spPr>
          <a:xfrm>
            <a:off x="777240" y="4624578"/>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61154"/>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converse case: in a decline, a high volume reversal bar is bullish.</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 the PowerShares DB U.S. Dollar Bullish Fund. Ours: the prices and volumes, read by eye.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22</a:t>
            </a:r>
          </a:p>
        </p:txBody>
      </p:sp>
      <p:sp>
        <p:nvSpPr>
          <p:cNvPr id="7" name="TextBox 6"/>
          <p:cNvSpPr txBox="1"/>
          <p:nvPr/>
        </p:nvSpPr>
        <p:spPr>
          <a:xfrm>
            <a:off x="777240" y="1965960"/>
            <a:ext cx="58521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2011: a larger downtrend, about 23.4 in January to 21.0 in May. A short rally ends at a circled high volume reversal bar, May 23.</a:t>
            </a:r>
          </a:p>
          <a:p>
            <a:pPr algn="l">
              <a:lnSpc>
                <a:spcPct val="105000"/>
              </a:lnSpc>
              <a:spcBef>
                <a:spcPts val="0"/>
              </a:spcBef>
              <a:spcAft>
                <a:spcPts val="1100"/>
              </a:spcAft>
            </a:pPr>
            <a:r>
              <a:rPr sz="1700" b="0" i="0">
                <a:solidFill>
                  <a:srgbClr val="1A1A1A"/>
                </a:solidFill>
                <a:latin typeface="Arial"/>
              </a:rPr>
              <a:t>Before it, bearish divergence: price rising while volume fell, and the MACD too.</a:t>
            </a:r>
          </a:p>
          <a:p>
            <a:pPr algn="l">
              <a:lnSpc>
                <a:spcPct val="105000"/>
              </a:lnSpc>
              <a:spcBef>
                <a:spcPts val="0"/>
              </a:spcBef>
              <a:spcAft>
                <a:spcPts val="1100"/>
              </a:spcAft>
            </a:pPr>
            <a:r>
              <a:rPr sz="1700" b="0" i="0">
                <a:solidFill>
                  <a:srgbClr val="1A1A1A"/>
                </a:solidFill>
                <a:latin typeface="Arial"/>
              </a:rPr>
              <a:t>Bearish, the larger trend's way: potentially more reliable, the book says. Prices then fell.</a:t>
            </a:r>
          </a:p>
          <a:p>
            <a:pPr algn="l">
              <a:lnSpc>
                <a:spcPct val="105000"/>
              </a:lnSpc>
              <a:spcBef>
                <a:spcPts val="0"/>
              </a:spcBef>
              <a:spcAft>
                <a:spcPts val="1100"/>
              </a:spcAft>
            </a:pPr>
            <a:r>
              <a:rPr sz="1700" b="0" i="0">
                <a:solidFill>
                  <a:srgbClr val="1A1A1A"/>
                </a:solidFill>
                <a:latin typeface="Arial"/>
              </a:rPr>
              <a:t>X, early May: a high volume continuation bar.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55595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Agreeing with the larger trend: more reliable.</a:t>
            </a:r>
          </a:p>
        </p:txBody>
      </p:sp>
      <p:sp>
        <p:nvSpPr>
          <p:cNvPr id="10" name="Rectangle 9"/>
          <p:cNvSpPr/>
          <p:nvPr/>
        </p:nvSpPr>
        <p:spPr>
          <a:xfrm>
            <a:off x="6949440" y="1810512"/>
            <a:ext cx="44650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949440" y="1810512"/>
            <a:ext cx="44650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360919" y="2267712"/>
            <a:ext cx="36420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dollar fund in a long decline: a circled high volume reversal bar at a short rally's top in late May, falling lines over volume and the MACD before it, and a continuation bar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dollar fund. Ours: prices read by eye. The MACD: met in Chapter 4, not taught. The RSI panel and the two moving averages are not discussed.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larger trend matters,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Larger, or predominant, trend, our reading as the book gives none: the whole move. Ours: PHP 60 to 45 in six months, then a rally to 48.</a:t>
            </a:r>
          </a:p>
          <a:p>
            <a:pPr algn="l">
              <a:lnSpc>
                <a:spcPct val="118000"/>
              </a:lnSpc>
              <a:spcBef>
                <a:spcPts val="0"/>
              </a:spcBef>
              <a:spcAft>
                <a:spcPts val="1300"/>
              </a:spcAft>
            </a:pPr>
            <a:r>
              <a:rPr sz="2100" b="0" i="0">
                <a:solidFill>
                  <a:srgbClr val="1A1A1A"/>
                </a:solidFill>
                <a:latin typeface="Arial"/>
              </a:rPr>
              <a:t>A high volume reversal bar at PHP 48 is bearish, with the six-month fall: potentially more reliable. The book says the same of continuation bars.</a:t>
            </a:r>
          </a:p>
          <a:p>
            <a:pPr algn="l">
              <a:lnSpc>
                <a:spcPct val="118000"/>
              </a:lnSpc>
              <a:spcBef>
                <a:spcPts val="0"/>
              </a:spcBef>
              <a:spcAft>
                <a:spcPts val="1300"/>
              </a:spcAft>
            </a:pPr>
            <a:r>
              <a:rPr sz="2100" b="0" i="0">
                <a:solidFill>
                  <a:srgbClr val="1A1A1A"/>
                </a:solidFill>
                <a:latin typeface="Arial"/>
              </a:rPr>
              <a:t>Figure 6.33's X, by eye, as the book does not say: rising against the larger downtrend, the less reliable kind. Its rally lasted about two and a half weeks.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Ask which way the larger trend runs. The book gives no further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Ours: every number, the reading of larger trend as the whole move, and the reading of X. The book does not define the larger trend.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22</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dollar fund, end of October 2011: a high volume reversal bar, circled.</a:t>
            </a:r>
          </a:p>
          <a:p>
            <a:pPr algn="l">
              <a:lnSpc>
                <a:spcPct val="105000"/>
              </a:lnSpc>
              <a:spcBef>
                <a:spcPts val="0"/>
              </a:spcBef>
              <a:spcAft>
                <a:spcPts val="1100"/>
              </a:spcAft>
            </a:pPr>
            <a:r>
              <a:rPr sz="1700" b="0" i="0">
                <a:solidFill>
                  <a:srgbClr val="1A1A1A"/>
                </a:solidFill>
                <a:latin typeface="Arial"/>
              </a:rPr>
              <a:t>Its volume reaches the line across the volume panel, about 13 million: the book's historically overextended volume level, Part 2's upper level.</a:t>
            </a:r>
          </a:p>
          <a:p>
            <a:pPr algn="l">
              <a:lnSpc>
                <a:spcPct val="105000"/>
              </a:lnSpc>
              <a:spcBef>
                <a:spcPts val="0"/>
              </a:spcBef>
              <a:spcAft>
                <a:spcPts val="1100"/>
              </a:spcAft>
            </a:pPr>
            <a:r>
              <a:rPr sz="1700" b="0" i="0">
                <a:solidFill>
                  <a:srgbClr val="1A1A1A"/>
                </a:solidFill>
                <a:latin typeface="Arial"/>
              </a:rPr>
              <a:t>Historically is not defined; the line runs level with the September peaks, the oval. Price had fallen into the bar, and rose after it.</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signals agree: the reversal bar, and Part 2's overextended volume.</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 the dollar fund. Ours: volume and direction read by eye. The book does not say which way price went.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constant volume chart starts a new bar each time a set volume has traded, so every volume bar is the same height.</a:t>
            </a:r>
          </a:p>
          <a:p>
            <a:pPr algn="l">
              <a:lnSpc>
                <a:spcPct val="105000"/>
              </a:lnSpc>
              <a:spcBef>
                <a:spcPts val="0"/>
              </a:spcBef>
              <a:spcAft>
                <a:spcPts val="1100"/>
              </a:spcAft>
            </a:pPr>
            <a:r>
              <a:rPr sz="1700" b="0" i="0">
                <a:solidFill>
                  <a:srgbClr val="1A1A1A"/>
                </a:solidFill>
                <a:latin typeface="Arial"/>
              </a:rPr>
              <a:t>So the book finds reversal bars from the bar range alone and its height against the rest of the bars.</a:t>
            </a:r>
          </a:p>
          <a:p>
            <a:pPr algn="l">
              <a:lnSpc>
                <a:spcPct val="105000"/>
              </a:lnSpc>
              <a:spcBef>
                <a:spcPts val="0"/>
              </a:spcBef>
              <a:spcAft>
                <a:spcPts val="1100"/>
              </a:spcAft>
            </a:pPr>
            <a:r>
              <a:rPr sz="1700" b="0" i="0">
                <a:solidFill>
                  <a:srgbClr val="1A1A1A"/>
                </a:solidFill>
                <a:latin typeface="Arial"/>
              </a:rPr>
              <a:t>Figure 6.35: a narrow bar, sellers taking control; a very tall bar, a lack of interest in the rise. Both bearish.</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Especially useful for reversal bars on high or low volume.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chart, all volume bars equal. Left: a rise topped by a narrow bar on relatively high volume. Right: by a very tall bar on relatively low volume. Both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 volume when every bar's volume is fixed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every bar holds 100,000 shares, and a usual bar spans PHP 1.00. That is 100,000 shares for each peso of range.</a:t>
            </a:r>
          </a:p>
          <a:p>
            <a:pPr algn="l">
              <a:lnSpc>
                <a:spcPct val="118000"/>
              </a:lnSpc>
              <a:spcBef>
                <a:spcPts val="0"/>
              </a:spcBef>
              <a:spcAft>
                <a:spcPts val="1300"/>
              </a:spcAft>
            </a:pPr>
            <a:r>
              <a:rPr sz="2100" b="0" i="0">
                <a:solidFill>
                  <a:srgbClr val="1A1A1A"/>
                </a:solidFill>
                <a:latin typeface="Arial"/>
              </a:rPr>
              <a:t>A PHP 0.20 bar: 100,000 shares moved price only 20 centavos, 500,000 shares a peso, five times usual. Figure 6.35's label: relatively high volume.</a:t>
            </a:r>
          </a:p>
          <a:p>
            <a:pPr algn="l">
              <a:lnSpc>
                <a:spcPct val="118000"/>
              </a:lnSpc>
              <a:spcBef>
                <a:spcPts val="0"/>
              </a:spcBef>
              <a:spcAft>
                <a:spcPts val="1300"/>
              </a:spcAft>
            </a:pPr>
            <a:r>
              <a:rPr sz="2100" b="0" i="0">
                <a:solidFill>
                  <a:srgbClr val="1A1A1A"/>
                </a:solidFill>
                <a:latin typeface="Arial"/>
              </a:rPr>
              <a:t>A PHP 4.00 bar: 100,000 shares moved price 4 pesos, 25,000 a peso, a quarter of usual. Its label: relatively low volume.</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is fixed, so the range alone says whether it was a lot or a little for the move.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whose labels say relatively high and relatively low volume. Ours: every number, and the per-peso reading.</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15 of 22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leading price, our reading: volume rises first, price moves after. Most agree price cannot move significantly without volume.</a:t>
            </a:r>
          </a:p>
          <a:p>
            <a:pPr algn="l">
              <a:lnSpc>
                <a:spcPct val="105000"/>
              </a:lnSpc>
              <a:spcBef>
                <a:spcPts val="0"/>
              </a:spcBef>
              <a:spcAft>
                <a:spcPts val="1100"/>
              </a:spcAft>
            </a:pPr>
            <a:r>
              <a:rPr sz="1700" b="0" i="0">
                <a:solidFill>
                  <a:srgbClr val="1A1A1A"/>
                </a:solidFill>
                <a:latin typeface="Arial"/>
              </a:rPr>
              <a:t>Price leading volume: price breaks first. Signals need little volume to appear. Chart, 1: a small trendline breakout on ordinary volume.</a:t>
            </a:r>
          </a:p>
          <a:p>
            <a:pPr algn="l">
              <a:lnSpc>
                <a:spcPct val="105000"/>
              </a:lnSpc>
              <a:spcBef>
                <a:spcPts val="0"/>
              </a:spcBef>
              <a:spcAft>
                <a:spcPts val="1100"/>
              </a:spcAft>
            </a:pPr>
            <a:r>
              <a:rPr sz="1700" b="0" i="0">
                <a:solidFill>
                  <a:srgbClr val="1A1A1A"/>
                </a:solidFill>
                <a:latin typeface="Arial"/>
              </a:rPr>
              <a:t>As the break becomes obvious it invites tremendous volume. Chart, 2: volume more than doubles.</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moved first: price led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Ours: the reading of leading, and the chart, on invented prices. Breakout of a trendline: Chapter 5's use of the word.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price leading volume means for a signal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16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volume runs about 1.3 million a day. Price closes PHP 0.80 above a falling trendline that held for two months, on 1.3 million: an ordinary day.</a:t>
            </a:r>
          </a:p>
          <a:p>
            <a:pPr algn="l">
              <a:lnSpc>
                <a:spcPct val="118000"/>
              </a:lnSpc>
              <a:spcBef>
                <a:spcPts val="0"/>
              </a:spcBef>
              <a:spcAft>
                <a:spcPts val="1300"/>
              </a:spcAft>
            </a:pPr>
            <a:r>
              <a:rPr sz="2100" b="0" i="0">
                <a:solidFill>
                  <a:srgbClr val="1A1A1A"/>
                </a:solidFill>
                <a:latin typeface="Arial"/>
              </a:rPr>
              <a:t>By volume alone, nothing happened. But the break is on every chart, and days later 3 million trade as the move becomes obvious.</a:t>
            </a:r>
          </a:p>
          <a:p>
            <a:pPr algn="l">
              <a:lnSpc>
                <a:spcPct val="118000"/>
              </a:lnSpc>
              <a:spcBef>
                <a:spcPts val="0"/>
              </a:spcBef>
              <a:spcAft>
                <a:spcPts val="1300"/>
              </a:spcAft>
            </a:pPr>
            <a:r>
              <a:rPr sz="2100" b="0" i="0">
                <a:solidFill>
                  <a:srgbClr val="1A1A1A"/>
                </a:solidFill>
                <a:latin typeface="Arial"/>
              </a:rPr>
              <a:t>So light volume on the break does not cancel the signal: watch whether volume arrives in the days after. The book gives no rule for how long to wait.</a:t>
            </a:r>
          </a:p>
          <a:p>
            <a:pPr algn="l">
              <a:lnSpc>
                <a:spcPct val="118000"/>
              </a:lnSpc>
              <a:spcBef>
                <a:spcPts val="0"/>
              </a:spcBef>
              <a:spcAft>
                <a:spcPts val="1300"/>
              </a:spcAft>
            </a:pPr>
            <a:r>
              <a:rPr sz="2100" b="0" i="0">
                <a:solidFill>
                  <a:srgbClr val="1A1A1A"/>
                </a:solidFill>
                <a:latin typeface="Arial"/>
              </a:rPr>
              <a:t>Why more often now, the book says: the widespread use of technical analysis.</a:t>
            </a:r>
          </a:p>
        </p:txBody>
      </p:sp>
      <p:sp>
        <p:nvSpPr>
          <p:cNvPr id="8" name="Rectangle 7"/>
          <p:cNvSpPr/>
          <p:nvPr/>
        </p:nvSpPr>
        <p:spPr>
          <a:xfrm>
            <a:off x="777240" y="5211318"/>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4"/>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significant move without volume, but volume can follow the signal.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one paragraph. Ours: the numbers. The book gives no test for when a light volume signal will draw volume in.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17 of 22</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Intraday: within one day. Volume swells and fades daily,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GMT, Greenwich Mean Time: 1:30 to 2:30 p.m. GMT is 9:30 to 10:30 p.m. in Manila. Our chart: reversals at 1 and 3, a continuation at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Using the cycle: when to watch, not which 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18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the cycle lets us anticipate price action. At the peak hour price will reverse or continue, very rarely stay put.</a:t>
            </a:r>
          </a:p>
          <a:p>
            <a:pPr algn="l">
              <a:lnSpc>
                <a:spcPct val="118000"/>
              </a:lnSpc>
              <a:spcBef>
                <a:spcPts val="0"/>
              </a:spcBef>
              <a:spcAft>
                <a:spcPts val="1300"/>
              </a:spcAft>
            </a:pPr>
            <a:r>
              <a:rPr sz="2100" b="0" i="0">
                <a:solidFill>
                  <a:srgbClr val="1A1A1A"/>
                </a:solidFill>
                <a:latin typeface="Arial"/>
              </a:rPr>
              <a:t>It does not say which way, so many use a straddle, Chapter 5's bidirectional entry: one order each way.</a:t>
            </a:r>
          </a:p>
          <a:p>
            <a:pPr algn="l">
              <a:lnSpc>
                <a:spcPct val="118000"/>
              </a:lnSpc>
              <a:spcBef>
                <a:spcPts val="0"/>
              </a:spcBef>
              <a:spcAft>
                <a:spcPts val="1300"/>
              </a:spcAft>
            </a:pPr>
            <a:r>
              <a:rPr sz="2100" b="0" i="0">
                <a:solidFill>
                  <a:srgbClr val="1A1A1A"/>
                </a:solidFill>
                <a:latin typeface="Arial"/>
              </a:rPr>
              <a:t>Ours: EURUSD at 1.3000 before 1:30 p.m. GMT. A buy stop at 1.3020 buys only if price rises to it; a sell stop at 1.2980 sells only if price falls to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no reason for the hour, no distance for the orders, and nothing on the order not filled.</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Ours: the EURUSD prices, the timing and the order levels. EURUSD: the euro priced in US dollars. Bidirectional entry: a Chapter 5 term.</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19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30-minute EURUSD: almost every reversal comes at a peak in tick volume, Part 4's count of trades: the daily spikes in the bottom panel.</a:t>
            </a:r>
          </a:p>
          <a:p>
            <a:pPr algn="l">
              <a:lnSpc>
                <a:spcPct val="105000"/>
              </a:lnSpc>
              <a:spcBef>
                <a:spcPts val="0"/>
              </a:spcBef>
              <a:spcAft>
                <a:spcPts val="1100"/>
              </a:spcAft>
            </a:pPr>
            <a:r>
              <a:rPr sz="1800" b="0" i="0">
                <a:solidFill>
                  <a:srgbClr val="1A1A1A"/>
                </a:solidFill>
                <a:latin typeface="Arial"/>
              </a:rPr>
              <a:t>Follow the solid line down from Market bottom: it lands on one of the tallest spikes.</a:t>
            </a:r>
          </a:p>
          <a:p>
            <a:pPr algn="l">
              <a:lnSpc>
                <a:spcPct val="105000"/>
              </a:lnSpc>
              <a:spcBef>
                <a:spcPts val="0"/>
              </a:spcBef>
              <a:spcAft>
                <a:spcPts val="1100"/>
              </a:spcAft>
            </a:pPr>
            <a:r>
              <a:rPr sz="1800" b="0" i="0">
                <a:solidFill>
                  <a:srgbClr val="1A1A1A"/>
                </a:solidFill>
                <a:latin typeface="Arial"/>
              </a:rPr>
              <a:t>Especially useful when price retests a support or resistance level: comes back to one it turned at before.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51937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Many straddle the peak: catch price either way.</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weeks, with support and resistance lines, a triangle and a channel, over daily volume cycles; price turns at the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Retest: our plain reading; the book does not define it. The figure's labels and dotted lines are not explained in the text.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20 of 22</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at 1, 4 and 5 price rebounds off a rising trendline, each time at a tick volume peak.</a:t>
            </a:r>
          </a:p>
          <a:p>
            <a:pPr algn="l">
              <a:lnSpc>
                <a:spcPct val="105000"/>
              </a:lnSpc>
              <a:spcBef>
                <a:spcPts val="0"/>
              </a:spcBef>
              <a:spcAft>
                <a:spcPts val="1100"/>
              </a:spcAft>
            </a:pPr>
            <a:r>
              <a:rPr sz="1700" b="0" i="0">
                <a:solidFill>
                  <a:srgbClr val="1A1A1A"/>
                </a:solidFill>
                <a:latin typeface="Arial"/>
              </a:rPr>
              <a:t>A cycle-tuned stochastic, bottom panel, read oversold there: its line on the lower line, the grey boxes. The book never defines oversold.</a:t>
            </a:r>
          </a:p>
          <a:p>
            <a:pPr algn="l">
              <a:lnSpc>
                <a:spcPct val="105000"/>
              </a:lnSpc>
              <a:spcBef>
                <a:spcPts val="0"/>
              </a:spcBef>
              <a:spcAft>
                <a:spcPts val="1100"/>
              </a:spcAft>
            </a:pPr>
            <a:r>
              <a:rPr sz="1700" b="0" i="0">
                <a:solidFill>
                  <a:srgbClr val="1A1A1A"/>
                </a:solidFill>
                <a:latin typeface="Arial"/>
              </a:rPr>
              <a:t>At 2 and 3 the trendline failed: at circles Y and X the stochastic was still mid-panel, not clearly oversold.</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peak and oscillator both: the line held.</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Hourly EURUSD with rising trendlines and retests 1 to 5, daily volume cycles below, and a stochastic panel: oversold under 1, 4 and 5, not at X and 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Oversold and the cycle-tuned stochastic are named, not taught: oscillators are the book's Chapter 8. The pip label is not in the text.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21 of 22</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3: point and figure, Renko and three line break charts are not plotted linearly in time: equal steps along the axis are not equal times.</a:t>
            </a:r>
          </a:p>
          <a:p>
            <a:pPr algn="l">
              <a:lnSpc>
                <a:spcPct val="105000"/>
              </a:lnSpc>
              <a:spcBef>
                <a:spcPts val="0"/>
              </a:spcBef>
              <a:spcAft>
                <a:spcPts val="1100"/>
              </a:spcAft>
            </a:pPr>
            <a:r>
              <a:rPr sz="1900" b="0" i="0">
                <a:solidFill>
                  <a:srgbClr val="1A1A1A"/>
                </a:solidFill>
                <a:latin typeface="Arial"/>
              </a:rPr>
              <a:t>Equivolume: each bar covers the same time, but is wider on heavier volume, so its time axis is non-linear too.</a:t>
            </a:r>
          </a:p>
          <a:p>
            <a:pPr algn="l">
              <a:lnSpc>
                <a:spcPct val="105000"/>
              </a:lnSpc>
              <a:spcBef>
                <a:spcPts val="0"/>
              </a:spcBef>
              <a:spcAft>
                <a:spcPts val="1100"/>
              </a:spcAft>
            </a:pPr>
            <a:r>
              <a:rPr sz="1900" b="0" i="0">
                <a:solidFill>
                  <a:srgbClr val="1A1A1A"/>
                </a:solidFill>
                <a:latin typeface="Arial"/>
              </a:rPr>
              <a:t>That changes the angle of trendlines, channels and chart patterns. Figure 6.38: same Apple prices, same line.</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647395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Circled, late May: price stays above the line on top, and cuts through it below.</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Apple, daily: a standard chart over an equivolume chart of the same months, the same trendline on both, circles where each is broken.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trendline moves, with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22 of 22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lows of PHP 100 and PHP 110, ten ordinary days apart, each day one step wide on both charts. The line rises PHP 1.00 a step.</a:t>
            </a:r>
          </a:p>
          <a:p>
            <a:pPr algn="l">
              <a:lnSpc>
                <a:spcPct val="118000"/>
              </a:lnSpc>
              <a:spcBef>
                <a:spcPts val="0"/>
              </a:spcBef>
              <a:spcAft>
                <a:spcPts val="1300"/>
              </a:spcAft>
            </a:pPr>
            <a:r>
              <a:rPr sz="2100" b="0" i="0">
                <a:solidFill>
                  <a:srgbClr val="1A1A1A"/>
                </a:solidFill>
                <a:latin typeface="Arial"/>
              </a:rPr>
              <a:t>Then five heavy days: one step each on the daily chart, two each on the equivolume chart. Five days on, the daily line is at PHP 115, the equivolume line at PHP 120.</a:t>
            </a:r>
          </a:p>
          <a:p>
            <a:pPr algn="l">
              <a:lnSpc>
                <a:spcPct val="118000"/>
              </a:lnSpc>
              <a:spcBef>
                <a:spcPts val="0"/>
              </a:spcBef>
              <a:spcAft>
                <a:spcPts val="1300"/>
              </a:spcAft>
            </a:pPr>
            <a:r>
              <a:rPr sz="2100" b="0" i="0">
                <a:solidFill>
                  <a:srgbClr val="1A1A1A"/>
                </a:solidFill>
                <a:latin typeface="Arial"/>
              </a:rPr>
              <a:t>A low of PHP 117 that day holds above the daily line and cuts the equivolume one. Equal widths would move nothing: unequal widths move the cut.</a:t>
            </a:r>
          </a:p>
        </p:txBody>
      </p:sp>
      <p:sp>
        <p:nvSpPr>
          <p:cNvPr id="8" name="Rectangle 7"/>
          <p:cNvSpPr/>
          <p:nvPr/>
        </p:nvSpPr>
        <p:spPr>
          <a:xfrm>
            <a:off x="777240" y="502843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6501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shows the discrepancy and does not say which break to trust.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Ours: every number. The book says the angle is affected and shows the result; it does not work the arithmetic.</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An oscillator (Part 1): an indicator in its own panel under price. Section 6.2 names eight built from volume.</a:t>
            </a:r>
          </a:p>
          <a:p>
            <a:pPr algn="l">
              <a:lnSpc>
                <a:spcPct val="118000"/>
              </a:lnSpc>
              <a:spcBef>
                <a:spcPts val="0"/>
              </a:spcBef>
              <a:spcAft>
                <a:spcPts val="1300"/>
              </a:spcAft>
            </a:pPr>
            <a:r>
              <a:rPr sz="2100" b="0" i="0">
                <a:solidFill>
                  <a:srgbClr val="1A1A1A"/>
                </a:solidFill>
                <a:latin typeface="Arial"/>
              </a:rPr>
              <a:t>Price-based: the OBV, the ADL, the Chaikin Money Flow and Oscillator, the Herrick Payoff Index, the Demand Index (never explained).</a:t>
            </a:r>
          </a:p>
          <a:p>
            <a:pPr algn="l">
              <a:lnSpc>
                <a:spcPct val="118000"/>
              </a:lnSpc>
              <a:spcBef>
                <a:spcPts val="0"/>
              </a:spcBef>
              <a:spcAft>
                <a:spcPts val="1300"/>
              </a:spcAft>
            </a:pPr>
            <a:r>
              <a:rPr sz="2100" b="0" i="0">
                <a:solidFill>
                  <a:srgbClr val="1A1A1A"/>
                </a:solidFill>
                <a:latin typeface="Arial"/>
              </a:rPr>
              <a:t>Non-price-based: the NYSE Up/Down Volume Line. The eighth, the VWMA (Part 2), is on neither of Part 1's lists.</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Plain volume diverges by falling; price-based, against price.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p.179 sorts the price-based ones and p.206 the NYSE line; the VWMA is on neither list.</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Eight ways to read an oscillator; three used here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24</a:t>
            </a:r>
          </a:p>
        </p:txBody>
      </p:sp>
      <p:sp>
        <p:nvSpPr>
          <p:cNvPr id="7" name="TextBox 6"/>
          <p:cNvSpPr txBox="1"/>
          <p:nvPr/>
        </p:nvSpPr>
        <p:spPr>
          <a:xfrm>
            <a:off x="777240" y="1965960"/>
            <a:ext cx="6858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Eight methods, taught in Chapter 8, listed below. Part 6 uses only three:</a:t>
            </a:r>
          </a:p>
          <a:p>
            <a:pPr algn="l">
              <a:lnSpc>
                <a:spcPct val="105000"/>
              </a:lnSpc>
              <a:spcBef>
                <a:spcPts val="0"/>
              </a:spcBef>
              <a:spcAft>
                <a:spcPts val="1100"/>
              </a:spcAft>
            </a:pPr>
            <a:r>
              <a:rPr sz="1700" b="0" i="0">
                <a:solidFill>
                  <a:srgbClr val="1A1A1A"/>
                </a:solidFill>
                <a:latin typeface="Arial"/>
              </a:rPr>
              <a:t>A  Price, a higher peak; oscillator, a lower one. Against price: divergence. Falling: bearish. Price then falls (method 4).</a:t>
            </a:r>
          </a:p>
          <a:p>
            <a:pPr algn="l">
              <a:lnSpc>
                <a:spcPct val="105000"/>
              </a:lnSpc>
              <a:spcBef>
                <a:spcPts val="0"/>
              </a:spcBef>
              <a:spcAft>
                <a:spcPts val="1100"/>
              </a:spcAft>
            </a:pPr>
            <a:r>
              <a:rPr sz="1700" b="0" i="0">
                <a:solidFill>
                  <a:srgbClr val="1A1A1A"/>
                </a:solidFill>
                <a:latin typeface="Arial"/>
              </a:rPr>
              <a:t>B  A rising line under the oscillator; falling through it is a sell signal (Figure 6.43). No method is named.</a:t>
            </a:r>
          </a:p>
          <a:p>
            <a:pPr algn="l">
              <a:lnSpc>
                <a:spcPct val="105000"/>
              </a:lnSpc>
              <a:spcBef>
                <a:spcPts val="0"/>
              </a:spcBef>
              <a:spcAft>
                <a:spcPts val="1100"/>
              </a:spcAft>
            </a:pPr>
            <a:r>
              <a:rPr sz="1700" b="0" i="0">
                <a:solidFill>
                  <a:srgbClr val="1A1A1A"/>
                </a:solidFill>
                <a:latin typeface="Arial"/>
              </a:rPr>
              <a:t>C  An oversold level (method 1): a potential bottom, the book says (p.206). It never says how it is set.</a:t>
            </a:r>
          </a:p>
        </p:txBody>
      </p:sp>
      <p:sp>
        <p:nvSpPr>
          <p:cNvPr id="8" name="TextBox 7"/>
          <p:cNvSpPr txBox="1"/>
          <p:nvPr/>
        </p:nvSpPr>
        <p:spPr>
          <a:xfrm>
            <a:off x="777240" y="5001768"/>
            <a:ext cx="6858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eight: 1 OBOS (overbought and oversold) overextended levels, 2 equilibrium and zero line crossovers, 3 signal line crossovers, 4 price-oscillator divergence, 5 to 7 geometric, numeric and horizontal pattern analysis, 8 oscillator on oscillator.</a:t>
            </a:r>
          </a:p>
        </p:txBody>
      </p:sp>
      <p:sp>
        <p:nvSpPr>
          <p:cNvPr id="9" name="Rectangle 8"/>
          <p:cNvSpPr/>
          <p:nvPr/>
        </p:nvSpPr>
        <p:spPr>
          <a:xfrm>
            <a:off x="7956651" y="1810512"/>
            <a:ext cx="345643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fa.png"/>
          <p:cNvPicPr>
            <a:picLocks noChangeAspect="1"/>
          </p:cNvPicPr>
          <p:nvPr/>
        </p:nvPicPr>
        <p:blipFill>
          <a:blip r:embed="rId2"/>
          <a:stretch>
            <a:fillRect/>
          </a:stretch>
        </p:blipFill>
        <p:spPr>
          <a:xfrm>
            <a:off x="8075523" y="1929384"/>
            <a:ext cx="3218688" cy="3511296"/>
          </a:xfrm>
          <a:prstGeom prst="rect">
            <a:avLst/>
          </a:prstGeom>
        </p:spPr>
      </p:pic>
      <p:sp>
        <p:nvSpPr>
          <p:cNvPr id="11" name="TextBox 10"/>
          <p:cNvSpPr txBox="1"/>
          <p:nvPr/>
        </p:nvSpPr>
        <p:spPr>
          <a:xfrm>
            <a:off x="7955279" y="5650991"/>
            <a:ext cx="34591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FA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lists the eight methods and sends them to Chapter 8; p.206 reads the oversold level. The chart is ours, invented.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 close above the day before's adds the day's volume; below, subtracts it; the same, nothing.</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day 2 closes up, add 2.0 million: OBV 2.0. Day 3 down, take 1.5: 0.5. Day 4 unchanged: 0.5. Day 5 up, add 3.0: 3.5. Day 6 down, take 1.0: 2.5.</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OBV's number says, and which kind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sets no start; we start at 0 on day 1, with no day before it. Up days: 2.0 + 3.0 = 5.0 million; down days: 1.5 + 1.0 = 2.5. OBV: 2.5.</a:t>
            </a:r>
          </a:p>
          <a:p>
            <a:pPr algn="l">
              <a:lnSpc>
                <a:spcPct val="118000"/>
              </a:lnSpc>
              <a:spcBef>
                <a:spcPts val="0"/>
              </a:spcBef>
              <a:spcAft>
                <a:spcPts val="1300"/>
              </a:spcAft>
            </a:pPr>
            <a:r>
              <a:rPr sz="2100" b="0" i="0">
                <a:solidFill>
                  <a:srgbClr val="1A1A1A"/>
                </a:solidFill>
                <a:latin typeface="Arial"/>
              </a:rPr>
              <a:t>Rising OBV: more volume on up closes than down closes. Falling: the reverse.</a:t>
            </a:r>
          </a:p>
          <a:p>
            <a:pPr algn="l">
              <a:lnSpc>
                <a:spcPct val="118000"/>
              </a:lnSpc>
              <a:spcBef>
                <a:spcPts val="0"/>
              </a:spcBef>
              <a:spcAft>
                <a:spcPts val="1300"/>
              </a:spcAft>
            </a:pPr>
            <a:r>
              <a:rPr sz="2100" b="0" i="0">
                <a:solidFill>
                  <a:srgbClr val="1A1A1A"/>
                </a:solidFill>
                <a:latin typeface="Arial"/>
              </a:rPr>
              <a:t>Price-based, as the close sets the sign. Part 1's two questions: rising (bullish) or falling (bearish)? With price (confirmation) or against it (divergence)?</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it by rises and falls against price, not by level: next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and no starting value. The arithmetic is ours, on the last slide's six days. The reading rule is Part 1's, Figure 6.7.</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disadvantage: the start date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Its level, the book's absolute value, depends on the start date. Start our six days on day 3: day 6 reads 2.0, not 2.5.</a:t>
            </a:r>
          </a:p>
          <a:p>
            <a:pPr algn="l">
              <a:lnSpc>
                <a:spcPct val="105000"/>
              </a:lnSpc>
              <a:spcBef>
                <a:spcPts val="0"/>
              </a:spcBef>
              <a:spcAft>
                <a:spcPts val="1100"/>
              </a:spcAft>
            </a:pPr>
            <a:r>
              <a:rPr sz="1800" b="0" i="0">
                <a:solidFill>
                  <a:srgbClr val="1A1A1A"/>
                </a:solidFill>
                <a:latin typeface="Arial"/>
              </a:rPr>
              <a:t>Its changes, the relative value, do not. Day 3 to day 6, both lines rise 2.0: 0.5 to 2.5, 0 to 2.0.</a:t>
            </a:r>
          </a:p>
          <a:p>
            <a:pPr algn="l">
              <a:lnSpc>
                <a:spcPct val="105000"/>
              </a:lnSpc>
              <a:spcBef>
                <a:spcPts val="0"/>
              </a:spcBef>
              <a:spcAft>
                <a:spcPts val="1100"/>
              </a:spcAft>
            </a:pPr>
            <a:r>
              <a:rPr sz="1800" b="0" i="0">
                <a:solidFill>
                  <a:srgbClr val="1A1A1A"/>
                </a:solidFill>
                <a:latin typeface="Arial"/>
              </a:rPr>
              <a:t>The book: so all eight methods may still be used. Divergence reads rises and falls.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OBV reading of 2.5 means nothing alone; a rise or a fall does.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and its consequence are the book's. The chart is ours: the OBV's six days, started twice.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OBV's weakness: only the close counts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is added or subtracted regardless of the bar's own behavior.</a:t>
            </a:r>
          </a:p>
          <a:p>
            <a:pPr algn="l">
              <a:lnSpc>
                <a:spcPct val="105000"/>
              </a:lnSpc>
              <a:spcBef>
                <a:spcPts val="0"/>
              </a:spcBef>
              <a:spcAft>
                <a:spcPts val="1100"/>
              </a:spcAft>
            </a:pPr>
            <a:r>
              <a:rPr sz="1700" b="0" i="0">
                <a:solidFill>
                  <a:srgbClr val="1A1A1A"/>
                </a:solidFill>
                <a:latin typeface="Arial"/>
              </a:rPr>
              <a:t>Ours: bar 1 has a high of 51.00 and closes 50.80. Bar 2 rallies to a new high of 54.00, far above, and closes 50.70, just under 50.80.</a:t>
            </a:r>
          </a:p>
          <a:p>
            <a:pPr algn="l">
              <a:lnSpc>
                <a:spcPct val="105000"/>
              </a:lnSpc>
              <a:spcBef>
                <a:spcPts val="0"/>
              </a:spcBef>
              <a:spcAft>
                <a:spcPts val="1100"/>
              </a:spcAft>
            </a:pPr>
            <a:r>
              <a:rPr sz="1700" b="0" i="0">
                <a:solidFill>
                  <a:srgbClr val="1A1A1A"/>
                </a:solidFill>
                <a:latin typeface="Arial"/>
              </a:rPr>
              <a:t>Bar 2 closed lower, so all its 3.0 million is subtracted.</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 redress it, that is, to put it right, many prefer the ADL or the two Chaikin indicators: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weakness and its example are the book's. The two bars and their numbers are ours.</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a lower low, August to October 2011: the falling line.</a:t>
            </a:r>
          </a:p>
          <a:p>
            <a:pPr algn="l">
              <a:lnSpc>
                <a:spcPct val="105000"/>
              </a:lnSpc>
              <a:spcBef>
                <a:spcPts val="0"/>
              </a:spcBef>
              <a:spcAft>
                <a:spcPts val="1100"/>
              </a:spcAft>
            </a:pPr>
            <a:r>
              <a:rPr sz="1700" b="0" i="0">
                <a:solidFill>
                  <a:srgbClr val="1A1A1A"/>
                </a:solidFill>
                <a:latin typeface="Arial"/>
              </a:rPr>
              <a:t>OBV: a higher low, same weeks: the rising line.</a:t>
            </a:r>
          </a:p>
          <a:p>
            <a:pPr algn="l">
              <a:lnSpc>
                <a:spcPct val="105000"/>
              </a:lnSpc>
              <a:spcBef>
                <a:spcPts val="0"/>
              </a:spcBef>
              <a:spcAft>
                <a:spcPts val="1100"/>
              </a:spcAft>
            </a:pPr>
            <a:r>
              <a:rPr sz="1700" b="0" i="0">
                <a:solidFill>
                  <a:srgbClr val="1A1A1A"/>
                </a:solidFill>
                <a:latin typeface="Arial"/>
              </a:rPr>
              <a:t>Price-based rule: rising, so bullish; against price, so divergence.</a:t>
            </a:r>
          </a:p>
          <a:p>
            <a:pPr algn="l">
              <a:lnSpc>
                <a:spcPct val="105000"/>
              </a:lnSpc>
              <a:spcBef>
                <a:spcPts val="0"/>
              </a:spcBef>
              <a:spcAft>
                <a:spcPts val="1100"/>
              </a:spcAft>
            </a:pPr>
            <a:r>
              <a:rPr sz="1700" b="0" i="0">
                <a:solidFill>
                  <a:srgbClr val="1A1A1A"/>
                </a:solidFill>
                <a:latin typeface="Arial"/>
              </a:rPr>
              <a:t>Then, the book: prices rebound strongly, here about 22 to 34 dollars.</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plain volume, bullish divergence is instead volume falling as price falls.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 The dollar levels are read off the figure, roughly.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First arrow, March to April 2011: equal peaks near 4.5; the OBV falls.</a:t>
            </a:r>
          </a:p>
          <a:p>
            <a:pPr algn="l">
              <a:lnSpc>
                <a:spcPct val="105000"/>
              </a:lnSpc>
              <a:spcBef>
                <a:spcPts val="0"/>
              </a:spcBef>
              <a:spcAft>
                <a:spcPts val="1100"/>
              </a:spcAft>
            </a:pPr>
            <a:r>
              <a:rPr sz="1700" b="0" i="0">
                <a:solidFill>
                  <a:srgbClr val="1A1A1A"/>
                </a:solidFill>
                <a:latin typeface="Arial"/>
              </a:rPr>
              <a:t>Second, June to August: price rises from about 4.1 to 4.5; the OBV falls.</a:t>
            </a:r>
          </a:p>
          <a:p>
            <a:pPr algn="l">
              <a:lnSpc>
                <a:spcPct val="105000"/>
              </a:lnSpc>
              <a:spcBef>
                <a:spcPts val="0"/>
              </a:spcBef>
              <a:spcAft>
                <a:spcPts val="1100"/>
              </a:spcAft>
            </a:pPr>
            <a:r>
              <a:rPr sz="1700" b="0" i="0">
                <a:solidFill>
                  <a:srgbClr val="1A1A1A"/>
                </a:solidFill>
                <a:latin typeface="Arial"/>
              </a:rPr>
              <a:t>The book calls both bearish divergence: the OBV falls while price holds or rises.</a:t>
            </a:r>
          </a:p>
          <a:p>
            <a:pPr algn="l">
              <a:lnSpc>
                <a:spcPct val="105000"/>
              </a:lnSpc>
              <a:spcBef>
                <a:spcPts val="0"/>
              </a:spcBef>
              <a:spcAft>
                <a:spcPts val="1100"/>
              </a:spcAft>
            </a:pPr>
            <a:r>
              <a:rPr sz="1700" b="0" i="0">
                <a:solidFill>
                  <a:srgbClr val="1A1A1A"/>
                </a:solidFill>
                <a:latin typeface="Arial"/>
              </a:rPr>
              <a:t>Prices then fell strongly, the book says: here to about 3.0 by October.</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Bearish divergence: price flat or up, the price-based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holding level and then rising to a peak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 The price levels are read off the figure, roughly.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24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Like the OBV, a running total, but each bar adds a share of its volume set by where it closes in its range.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bar PHP 48 to 52, 2 million shares. Close 52: add 2.0. At 50: add 0. At 49: take 1.0.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 H, L: close, high, low. 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are Chapter 1's OHLC. The bars and their volume are ours.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worked,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Each bar: low L = 48, high H = 52, range H - L = 4, volume 2.0 million. C - L: the close's height above the low. H - C: its depth below the high.</a:t>
            </a:r>
          </a:p>
          <a:p>
            <a:pPr algn="l">
              <a:lnSpc>
                <a:spcPct val="118000"/>
              </a:lnSpc>
              <a:spcBef>
                <a:spcPts val="0"/>
              </a:spcBef>
              <a:spcAft>
                <a:spcPts val="1300"/>
              </a:spcAft>
            </a:pPr>
            <a:r>
              <a:rPr sz="2100" b="0" i="0">
                <a:solidFill>
                  <a:srgbClr val="1A1A1A"/>
                </a:solidFill>
                <a:latin typeface="Arial"/>
              </a:rPr>
              <a:t>Close 52: (4 - 0) / 4 = 1, add 2.0.   Close 50: (2 - 2) / 4 = 0, add nothing.   Close 49: (1 - 3) / 4 = -0.5, take 1.0.</a:t>
            </a:r>
          </a:p>
          <a:p>
            <a:pPr algn="l">
              <a:lnSpc>
                <a:spcPct val="118000"/>
              </a:lnSpc>
              <a:spcBef>
                <a:spcPts val="0"/>
              </a:spcBef>
              <a:spcAft>
                <a:spcPts val="1300"/>
              </a:spcAft>
            </a:pPr>
            <a:r>
              <a:rPr sz="2100" b="0" i="0">
                <a:solidFill>
                  <a:srgbClr val="1A1A1A"/>
                </a:solidFill>
                <a:latin typeface="Arial"/>
              </a:rPr>
              <a:t>The running total, bar by bar: 2.0, then 2.0 + 0 = 2.0, then 2.0 - 1.0 = 1.0. That total is the ADL.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factor scores where the close sits: -1 at the low, 0 at the midpoint, +1 at the high.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factor. The bars, volumes and arithmetic are ours, the last slide's.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Midpoint, nothing added: if C - L = H - C, then C = (H + L) / 2. For 48 and 52, 50.</a:t>
            </a:r>
          </a:p>
          <a:p>
            <a:pPr algn="l">
              <a:lnSpc>
                <a:spcPct val="105000"/>
              </a:lnSpc>
              <a:spcBef>
                <a:spcPts val="0"/>
              </a:spcBef>
              <a:spcAft>
                <a:spcPts val="1100"/>
              </a:spcAft>
            </a:pPr>
            <a:r>
              <a:rPr sz="1800" b="0" i="0">
                <a:solidFill>
                  <a:srgbClr val="1A1A1A"/>
                </a:solidFill>
                <a:latin typeface="Arial"/>
              </a:rPr>
              <a:t>Further above it, more is added; below it, more subtracted.</a:t>
            </a:r>
          </a:p>
          <a:p>
            <a:pPr algn="l">
              <a:lnSpc>
                <a:spcPct val="105000"/>
              </a:lnSpc>
              <a:spcBef>
                <a:spcPts val="0"/>
              </a:spcBef>
              <a:spcAft>
                <a:spcPts val="1100"/>
              </a:spcAft>
            </a:pPr>
            <a:r>
              <a:rPr sz="1800" b="0" i="0">
                <a:solidFill>
                  <a:srgbClr val="1A1A1A"/>
                </a:solidFill>
                <a:latin typeface="Arial"/>
              </a:rPr>
              <a:t>At most the day's volume: at the high, C = H, the factor is (H - L) / (H - L) = 1, however wide the bar.</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and the maximum are the book's. The chart is ours: the factor against where the close sits.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bar, two answers: the OBV against the ADL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yesterday closed 50.00. Today runs from 46.00 to 51.00 on 2.0 million shares and closes at 49.75.</a:t>
            </a:r>
          </a:p>
          <a:p>
            <a:pPr algn="l">
              <a:lnSpc>
                <a:spcPct val="118000"/>
              </a:lnSpc>
              <a:spcBef>
                <a:spcPts val="0"/>
              </a:spcBef>
              <a:spcAft>
                <a:spcPts val="1300"/>
              </a:spcAft>
            </a:pPr>
            <a:r>
              <a:rPr sz="2100" b="0" i="0">
                <a:solidFill>
                  <a:srgbClr val="1A1A1A"/>
                </a:solidFill>
                <a:latin typeface="Arial"/>
              </a:rPr>
              <a:t>OBV: 49.75 is below 50.00, so subtract all 2.0 million.</a:t>
            </a:r>
          </a:p>
          <a:p>
            <a:pPr algn="l">
              <a:lnSpc>
                <a:spcPct val="118000"/>
              </a:lnSpc>
              <a:spcBef>
                <a:spcPts val="0"/>
              </a:spcBef>
              <a:spcAft>
                <a:spcPts val="1300"/>
              </a:spcAft>
            </a:pPr>
            <a:r>
              <a:rPr sz="2100" b="0" i="0">
                <a:solidFill>
                  <a:srgbClr val="1A1A1A"/>
                </a:solidFill>
                <a:latin typeface="Arial"/>
              </a:rPr>
              <a:t>ADL: C - L = 3.75, H - C = 1.25, range 5. Factor (3.75 - 1.25) / 5 = 0.5: add 1.0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OBV sees only yesterday's close; the ADL sees where today closed in today's bar.</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invented bar, read by the book's two rules from pp.203 and 205.</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Hourly EURUSD, June 2011: price makes new highs.</a:t>
            </a:r>
          </a:p>
          <a:p>
            <a:pPr algn="l">
              <a:lnSpc>
                <a:spcPct val="105000"/>
              </a:lnSpc>
              <a:spcBef>
                <a:spcPts val="0"/>
              </a:spcBef>
              <a:spcAft>
                <a:spcPts val="1100"/>
              </a:spcAft>
            </a:pPr>
            <a:r>
              <a:rPr sz="1700" b="0" i="0">
                <a:solidFill>
                  <a:srgbClr val="1A1A1A"/>
                </a:solidFill>
                <a:latin typeface="Arial"/>
              </a:rPr>
              <a:t>ADL, price-based: rising with price, so bullish confirmation.</a:t>
            </a:r>
          </a:p>
          <a:p>
            <a:pPr algn="l">
              <a:lnSpc>
                <a:spcPct val="105000"/>
              </a:lnSpc>
              <a:spcBef>
                <a:spcPts val="0"/>
              </a:spcBef>
              <a:spcAft>
                <a:spcPts val="1100"/>
              </a:spcAft>
            </a:pPr>
            <a:r>
              <a:rPr sz="1700" b="0" i="0">
                <a:solidFill>
                  <a:srgbClr val="1A1A1A"/>
                </a:solidFill>
                <a:latin typeface="Arial"/>
              </a:rPr>
              <a:t>Volume, plain: falling as price rises, so bearish divergence: an underlying weakness, the book says.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disagree: wait for price to confirm a reversal, as in Figure 6.44, where price breaks its own trendline.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 Price confirmation as Figure 6.44, p.206, labels it.</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Both rising, or both falling: price trends in a decisive manner. Right ellipse.</a:t>
            </a:r>
          </a:p>
          <a:p>
            <a:pPr algn="l">
              <a:lnSpc>
                <a:spcPct val="105000"/>
              </a:lnSpc>
              <a:spcBef>
                <a:spcPts val="0"/>
              </a:spcBef>
              <a:spcAft>
                <a:spcPts val="1100"/>
              </a:spcAft>
            </a:pPr>
            <a:r>
              <a:rPr sz="1700" b="0" i="0">
                <a:solidFill>
                  <a:srgbClr val="1A1A1A"/>
                </a:solidFill>
                <a:latin typeface="Arial"/>
              </a:rPr>
              <a:t>Opposite directions: price tends to range or consolidate, going sideways. Left ellipse.</a:t>
            </a:r>
          </a:p>
          <a:p>
            <a:pPr algn="l">
              <a:lnSpc>
                <a:spcPct val="105000"/>
              </a:lnSpc>
              <a:spcBef>
                <a:spcPts val="0"/>
              </a:spcBef>
              <a:spcAft>
                <a:spcPts val="1100"/>
              </a:spcAft>
            </a:pPr>
            <a:r>
              <a:rPr sz="1700" b="0" i="0">
                <a:solidFill>
                  <a:srgbClr val="1A1A1A"/>
                </a:solidFill>
                <a:latin typeface="Arial"/>
              </a:rPr>
              <a:t>Regime: whether the market trends or ranges. Trend-following trades with a trend; range-bound, inside a range.</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it may help choose. Together, trend-following; apart, range-bound.</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 Regime is the book's word, not defined; the reading of it is ours.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15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add the ADL's signed volumes S over the last N bars, and divide by those bars' total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the ADL's three bars, N = 3: S of 2.0, 0 and -1.0 million make 1.0; volumes of 2.0 each make 6.0. CMF = 1.0 / 6.0 = 0.17.</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the multiplying factor times volume. N-period CMF: the sum of S over the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lengths. The bars and volumes are 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CMF's number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16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ADL's factor runs from -1 to +1, so no S is bigger than its bar's volume. So the CMF also runs from -1 to +1.</a:t>
            </a:r>
          </a:p>
          <a:p>
            <a:pPr algn="l">
              <a:lnSpc>
                <a:spcPct val="118000"/>
              </a:lnSpc>
              <a:spcBef>
                <a:spcPts val="0"/>
              </a:spcBef>
              <a:spcAft>
                <a:spcPts val="1300"/>
              </a:spcAft>
            </a:pPr>
            <a:r>
              <a:rPr sz="2100" b="0" i="0">
                <a:solidFill>
                  <a:srgbClr val="1A1A1A"/>
                </a:solidFill>
                <a:latin typeface="Arial"/>
              </a:rPr>
              <a:t>+1: every bar closed at its high. -1: every bar closed at its low. 0: on balance, the closes sat at their midpoints.</a:t>
            </a:r>
          </a:p>
          <a:p>
            <a:pPr algn="l">
              <a:lnSpc>
                <a:spcPct val="118000"/>
              </a:lnSpc>
              <a:spcBef>
                <a:spcPts val="0"/>
              </a:spcBef>
              <a:spcAft>
                <a:spcPts val="1300"/>
              </a:spcAft>
            </a:pPr>
            <a:r>
              <a:rPr sz="2100" b="0" i="0">
                <a:solidFill>
                  <a:srgbClr val="1A1A1A"/>
                </a:solidFill>
                <a:latin typeface="Arial"/>
              </a:rPr>
              <a:t>Our 0.17: of 6.0 million traded, a net 1.0 million counts as added. Above 0, on balance the volume came with closes above their midpoints.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That reading is our arithmetic. The book reads the CMF only by a line and an oversold level, Figure 6.43.</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arithmetic on the book's p.206 definition and the ADL's factor, p.205. The book gives no reading of the CMF's value.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oscillator,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17 of 24</a:t>
            </a:r>
          </a:p>
        </p:txBody>
      </p:sp>
      <p:sp>
        <p:nvSpPr>
          <p:cNvPr id="7" name="TextBox 6"/>
          <p:cNvSpPr txBox="1"/>
          <p:nvPr/>
        </p:nvSpPr>
        <p:spPr>
          <a:xfrm>
            <a:off x="777240" y="1965960"/>
            <a:ext cx="60350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Each bar's CMF, over its last N bars.</a:t>
            </a:r>
          </a:p>
          <a:p>
            <a:pPr algn="l">
              <a:lnSpc>
                <a:spcPct val="105000"/>
              </a:lnSpc>
              <a:spcBef>
                <a:spcPts val="0"/>
              </a:spcBef>
              <a:spcAft>
                <a:spcPts val="1100"/>
              </a:spcAft>
            </a:pPr>
            <a:r>
              <a:rPr sz="1800" b="0" i="0">
                <a:solidFill>
                  <a:srgbClr val="1A1A1A"/>
                </a:solidFill>
                <a:latin typeface="Arial"/>
              </a:rPr>
              <a:t>2  A running total of the CMF, as for the ADL: black.</a:t>
            </a:r>
          </a:p>
          <a:p>
            <a:pPr algn="l">
              <a:lnSpc>
                <a:spcPct val="105000"/>
              </a:lnSpc>
              <a:spcBef>
                <a:spcPts val="0"/>
              </a:spcBef>
              <a:spcAft>
                <a:spcPts val="1100"/>
              </a:spcAft>
            </a:pPr>
            <a:r>
              <a:rPr sz="1800" b="0" i="0">
                <a:solidFill>
                  <a:srgbClr val="1A1A1A"/>
                </a:solidFill>
                <a:latin typeface="Arial"/>
              </a:rPr>
              <a:t>3  Two EMAs of that total, here over 3 and 10 bars: gold and green.</a:t>
            </a:r>
          </a:p>
          <a:p>
            <a:pPr algn="l">
              <a:lnSpc>
                <a:spcPct val="105000"/>
              </a:lnSpc>
              <a:spcBef>
                <a:spcPts val="0"/>
              </a:spcBef>
              <a:spcAft>
                <a:spcPts val="1100"/>
              </a:spcAft>
            </a:pPr>
            <a:r>
              <a:rPr sz="1800" b="0" i="0">
                <a:solidFill>
                  <a:srgbClr val="1A1A1A"/>
                </a:solidFill>
                <a:latin typeface="Arial"/>
              </a:rPr>
              <a:t>4  Oscillator = shorter EMA - longer EMA, bottom panel. At the dashed lines: 1.0 - 0.5 = +0.5; 0.6 - 0.8 = -0.2.</a:t>
            </a:r>
          </a:p>
        </p:txBody>
      </p:sp>
      <p:sp>
        <p:nvSpPr>
          <p:cNvPr id="8" name="Rectangle 7"/>
          <p:cNvSpPr/>
          <p:nvPr/>
        </p:nvSpPr>
        <p:spPr>
          <a:xfrm>
            <a:off x="777240" y="484174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8324"/>
            <a:ext cx="57424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oscillator is the gap between the two averages.</a:t>
            </a:r>
          </a:p>
        </p:txBody>
      </p:sp>
      <p:sp>
        <p:nvSpPr>
          <p:cNvPr id="10" name="Rectangle 9"/>
          <p:cNvSpPr/>
          <p:nvPr/>
        </p:nvSpPr>
        <p:spPr>
          <a:xfrm>
            <a:off x="7133691" y="1810512"/>
            <a:ext cx="42793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fd.png"/>
          <p:cNvPicPr>
            <a:picLocks noChangeAspect="1"/>
          </p:cNvPicPr>
          <p:nvPr/>
        </p:nvPicPr>
        <p:blipFill>
          <a:blip r:embed="rId2"/>
          <a:stretch>
            <a:fillRect/>
          </a:stretch>
        </p:blipFill>
        <p:spPr>
          <a:xfrm>
            <a:off x="7252563" y="1929384"/>
            <a:ext cx="4041648" cy="3511296"/>
          </a:xfrm>
          <a:prstGeom prst="rect">
            <a:avLst/>
          </a:prstGeom>
        </p:spPr>
      </p:pic>
      <p:sp>
        <p:nvSpPr>
          <p:cNvPr id="12" name="TextBox 11"/>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FD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lengths, no reading of the sign and no EMA formula. The chart is ours: invented CMF values, our EMAs.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EMA, and what the oscillator's sign says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18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EMA, exponential moving average: a moving average of the last few values, like Part 3's smoothed volume. This chapter never says how it weights them.</a:t>
            </a:r>
          </a:p>
          <a:p>
            <a:pPr algn="l">
              <a:lnSpc>
                <a:spcPct val="118000"/>
              </a:lnSpc>
              <a:spcBef>
                <a:spcPts val="0"/>
              </a:spcBef>
              <a:spcAft>
                <a:spcPts val="1300"/>
              </a:spcAft>
            </a:pPr>
            <a:r>
              <a:rPr sz="2100" b="0" i="0">
                <a:solidFill>
                  <a:srgbClr val="1A1A1A"/>
                </a:solidFill>
                <a:latin typeface="Arial"/>
              </a:rPr>
              <a:t>A 3-bar EMA follows the running total closely; a 10-bar one follows it slowly.</a:t>
            </a:r>
          </a:p>
          <a:p>
            <a:pPr algn="l">
              <a:lnSpc>
                <a:spcPct val="118000"/>
              </a:lnSpc>
              <a:spcBef>
                <a:spcPts val="0"/>
              </a:spcBef>
              <a:spcAft>
                <a:spcPts val="1300"/>
              </a:spcAft>
            </a:pPr>
            <a:r>
              <a:rPr sz="2100" b="0" i="0">
                <a:solidFill>
                  <a:srgbClr val="1A1A1A"/>
                </a:solidFill>
                <a:latin typeface="Arial"/>
              </a:rPr>
              <a:t>Above 0, the recent average is above the longer one: the total has been rising lately. Below 0, falling. Ours: the book gives no reading of the sign.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Figure 6.43, next: CMF(20) is N = 20; ChiOsc(3,10) is EMAs of 3 and 10 bars.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steps, no EMA formula and no reading of the sign. The reading of the sign is our arithmetic.</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19 of 24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indicator falls through the rising line under its lows: the sell signal.</a:t>
            </a:r>
          </a:p>
          <a:p>
            <a:pPr algn="l">
              <a:lnSpc>
                <a:spcPct val="105000"/>
              </a:lnSpc>
              <a:spcBef>
                <a:spcPts val="0"/>
              </a:spcBef>
              <a:spcAft>
                <a:spcPts val="1100"/>
              </a:spcAft>
            </a:pPr>
            <a:r>
              <a:rPr sz="1700" b="0" i="0">
                <a:solidFill>
                  <a:srgbClr val="1A1A1A"/>
                </a:solidFill>
                <a:latin typeface="Arial"/>
              </a:rPr>
              <a:t>The oscillator falls through first, the CMF later. The dashed arrows run up to the price top near 4.5, early August.</a:t>
            </a:r>
          </a:p>
          <a:p>
            <a:pPr algn="l">
              <a:lnSpc>
                <a:spcPct val="105000"/>
              </a:lnSpc>
              <a:spcBef>
                <a:spcPts val="0"/>
              </a:spcBef>
              <a:spcAft>
                <a:spcPts val="1100"/>
              </a:spcAft>
            </a:pPr>
            <a:r>
              <a:rPr sz="1700" b="0" i="0">
                <a:solidFill>
                  <a:srgbClr val="1A1A1A"/>
                </a:solidFill>
                <a:latin typeface="Arial"/>
              </a:rPr>
              <a:t>Copper then fell to about 3.0 by October, where both touched the line labelled oversold: a potential bottom, the book says.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Chaikin oscillator gives the earlier sell, or bearish,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text gives no settings. Oversold is not defined in this chapter.</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20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traded in NYSE stocks that rose that day, divided by volume in those that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600 million shares in rising stocks, 400 million in falling: 600 / 400 = 1.5. Read like plain volume: falling is divergence, rising confirmation.</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f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Advancing and declining volume: our reading of the names, as for the TRIN in Part 4. The numbers are ours.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NYSE Up/Down Volume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21 of 24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the indicator falls through its rising trendline in mid 2011: an early bearish signal.</a:t>
            </a:r>
          </a:p>
          <a:p>
            <a:pPr algn="l">
              <a:lnSpc>
                <a:spcPct val="105000"/>
              </a:lnSpc>
              <a:spcBef>
                <a:spcPts val="0"/>
              </a:spcBef>
              <a:spcAft>
                <a:spcPts val="1100"/>
              </a:spcAft>
            </a:pPr>
            <a:r>
              <a:rPr sz="1700" b="0" i="0">
                <a:solidFill>
                  <a:srgbClr val="1A1A1A"/>
                </a:solidFill>
                <a:latin typeface="Arial"/>
              </a:rPr>
              <a:t>Bottom: the NYSE Composite, an index of NYSE share prices, breaks its own line later: price confirmation.</a:t>
            </a:r>
          </a:p>
          <a:p>
            <a:pPr algn="l">
              <a:lnSpc>
                <a:spcPct val="105000"/>
              </a:lnSpc>
              <a:spcBef>
                <a:spcPts val="0"/>
              </a:spcBef>
              <a:spcAft>
                <a:spcPts val="1100"/>
              </a:spcAft>
            </a:pPr>
            <a:r>
              <a:rPr sz="1700" b="0" i="0">
                <a:solidFill>
                  <a:srgbClr val="1A1A1A"/>
                </a:solidFill>
                <a:latin typeface="Arial"/>
              </a:rPr>
              <a:t>The book says ratio; the figure's line is cumulative and runs below zero. It does not explain.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volume line warned first; price confirmed later.</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Uses price and open interest, so futures and options only. Price-based: rising bullish, falling bearish; against price, divergence.</a:t>
            </a:r>
          </a:p>
        </p:txBody>
      </p:sp>
      <p:sp>
        <p:nvSpPr>
          <p:cNvPr id="9" name="Rectangle 8"/>
          <p:cNvSpPr/>
          <p:nvPr/>
        </p:nvSpPr>
        <p:spPr>
          <a:xfrm>
            <a:off x="777240" y="3417061"/>
            <a:ext cx="64008" cy="533527"/>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643255"/>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Gold futures: yes. A PSE share, with no open interest: no. The book gives no formula.</a:t>
            </a:r>
          </a:p>
        </p:txBody>
      </p:sp>
      <p:sp>
        <p:nvSpPr>
          <p:cNvPr id="11" name="Rectangle 10"/>
          <p:cNvSpPr/>
          <p:nvPr/>
        </p:nvSpPr>
        <p:spPr>
          <a:xfrm>
            <a:off x="777240" y="4298061"/>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252341"/>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As with all volume oscillators, bearish signals: money flowing out; bullish: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22 of 24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23 of 24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all open positions, listed by who holds them: three groups.</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open interest returns to its 92,000 peak as price tops: a test of a historical level.</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The chart is ours, on invented prices and open interest.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traders read in the COT report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24 of 24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Commercials: hedgers, holding non-cash positions, a phrase the book never explains.</a:t>
            </a:r>
          </a:p>
          <a:p>
            <a:pPr algn="l">
              <a:lnSpc>
                <a:spcPct val="118000"/>
              </a:lnSpc>
              <a:spcBef>
                <a:spcPts val="0"/>
              </a:spcBef>
              <a:spcAft>
                <a:spcPts val="1300"/>
              </a:spcAft>
            </a:pPr>
            <a:r>
              <a:rPr sz="2100" b="0" i="0">
                <a:solidFill>
                  <a:srgbClr val="1A1A1A"/>
                </a:solidFill>
                <a:latin typeface="Arial"/>
              </a:rPr>
              <a:t>The book: traders use it to identify potential tops and bottoms, by two things.</a:t>
            </a:r>
          </a:p>
          <a:p>
            <a:pPr algn="l">
              <a:lnSpc>
                <a:spcPct val="118000"/>
              </a:lnSpc>
              <a:spcBef>
                <a:spcPts val="0"/>
              </a:spcBef>
              <a:spcAft>
                <a:spcPts val="1300"/>
              </a:spcAft>
            </a:pPr>
            <a:r>
              <a:rPr sz="2100" b="0" i="0">
                <a:solidFill>
                  <a:srgbClr val="1A1A1A"/>
                </a:solidFill>
                <a:latin typeface="Arial"/>
              </a:rPr>
              <a:t>1  Changes in net commercial or non-commercial positions. Net: never defined.</a:t>
            </a:r>
          </a:p>
          <a:p>
            <a:pPr algn="l">
              <a:lnSpc>
                <a:spcPct val="118000"/>
              </a:lnSpc>
              <a:spcBef>
                <a:spcPts val="0"/>
              </a:spcBef>
              <a:spcAft>
                <a:spcPts val="1300"/>
              </a:spcAft>
            </a:pPr>
            <a:r>
              <a:rPr sz="2100" b="0" i="0">
                <a:solidFill>
                  <a:srgbClr val="1A1A1A"/>
                </a:solidFill>
                <a:latin typeface="Arial"/>
              </a:rPr>
              <a:t>2  Open interest testing a significant or historical level: back at an old level.</a:t>
            </a:r>
          </a:p>
        </p:txBody>
      </p:sp>
      <p:sp>
        <p:nvSpPr>
          <p:cNvPr id="8" name="Rectangle 7"/>
          <p:cNvSpPr/>
          <p:nvPr/>
        </p:nvSpPr>
        <p:spPr>
          <a:xfrm>
            <a:off x="777240" y="4896612"/>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8"/>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Ours: treat either as a warning, and wait for price to confirm (Figure 6.41).</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 does not define net or non-cash positions and gives no worked figures. The what-to-do line is ours, from p.205.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volume with price is bullish volume; against price, bearish.</a:t>
            </a:r>
          </a:p>
          <a:p>
            <a:pPr algn="l">
              <a:lnSpc>
                <a:spcPct val="118000"/>
              </a:lnSpc>
              <a:spcBef>
                <a:spcPts val="0"/>
              </a:spcBef>
              <a:spcAft>
                <a:spcPts val="1300"/>
              </a:spcAft>
            </a:pPr>
            <a:r>
              <a:rPr sz="2100" b="0" i="0">
                <a:solidFill>
                  <a:srgbClr val="1A1A1A"/>
                </a:solidFill>
                <a:latin typeface="Arial"/>
              </a:rPr>
              <a:t>Part 1: falling volume is divergence, rising confirmation, whatever price does.</a:t>
            </a:r>
          </a:p>
          <a:p>
            <a:pPr algn="l">
              <a:lnSpc>
                <a:spcPct val="118000"/>
              </a:lnSpc>
              <a:spcBef>
                <a:spcPts val="0"/>
              </a:spcBef>
              <a:spcAft>
                <a:spcPts val="1300"/>
              </a:spcAft>
            </a:pPr>
            <a:r>
              <a:rPr sz="2100" b="0" i="0">
                <a:solidFill>
                  <a:srgbClr val="1A1A1A"/>
                </a:solidFill>
                <a:latin typeface="Arial"/>
              </a:rPr>
              <a:t>Parts 2, 5: minimum volume, extreme volume and reversal bars time the turns.</a:t>
            </a:r>
          </a:p>
          <a:p>
            <a:pPr algn="l">
              <a:lnSpc>
                <a:spcPct val="118000"/>
              </a:lnSpc>
              <a:spcBef>
                <a:spcPts val="0"/>
              </a:spcBef>
              <a:spcAft>
                <a:spcPts val="1300"/>
              </a:spcAft>
            </a:pPr>
            <a:r>
              <a:rPr sz="2100" b="0" i="0">
                <a:solidFill>
                  <a:srgbClr val="1A1A1A"/>
                </a:solidFill>
                <a:latin typeface="Arial"/>
              </a:rPr>
              <a:t>Parts 3, 4: filters pick out key volume; open interest reads like volume.</a:t>
            </a:r>
          </a:p>
          <a:p>
            <a:pPr algn="l">
              <a:lnSpc>
                <a:spcPct val="118000"/>
              </a:lnSpc>
              <a:spcBef>
                <a:spcPts val="0"/>
              </a:spcBef>
              <a:spcAft>
                <a:spcPts val="1300"/>
              </a:spcAft>
            </a:pPr>
            <a:r>
              <a:rPr sz="2100" b="0" i="0">
                <a:solidFill>
                  <a:srgbClr val="1A1A1A"/>
                </a:solidFill>
                <a:latin typeface="Arial"/>
              </a:rPr>
              <a:t>Part 6: price-based oscillators diverge by moving against price.</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price-based and non-price-based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 each with the part that teaches it.</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and tick volume: what is the difference?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which is more useful? Volume cycles: use,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shortened to fit six lines. Its full wording, with where each is answered, is on the next two slides.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1 to 4</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What is the difference between volume and tick volume? Part 4.</a:t>
            </a:r>
          </a:p>
          <a:p>
            <a:pPr algn="l">
              <a:lnSpc>
                <a:spcPct val="118000"/>
              </a:lnSpc>
              <a:spcBef>
                <a:spcPts val="0"/>
              </a:spcBef>
              <a:spcAft>
                <a:spcPts val="1300"/>
              </a:spcAft>
            </a:pPr>
            <a:r>
              <a:rPr sz="2100" b="0" i="0">
                <a:solidFill>
                  <a:srgbClr val="1A1A1A"/>
                </a:solidFill>
                <a:latin typeface="Arial"/>
              </a:rPr>
              <a:t>2  Describe bearish and bullish volume. Part 1.</a:t>
            </a:r>
          </a:p>
          <a:p>
            <a:pPr algn="l">
              <a:lnSpc>
                <a:spcPct val="118000"/>
              </a:lnSpc>
              <a:spcBef>
                <a:spcPts val="0"/>
              </a:spcBef>
              <a:spcAft>
                <a:spcPts val="1300"/>
              </a:spcAft>
            </a:pPr>
            <a:r>
              <a:rPr sz="2100" b="0" i="0">
                <a:solidFill>
                  <a:srgbClr val="1A1A1A"/>
                </a:solidFill>
                <a:latin typeface="Arial"/>
              </a:rPr>
              <a:t>3  How is volume divergence distinct from standard oscillator divergence? Part 1.</a:t>
            </a:r>
          </a:p>
          <a:p>
            <a:pPr algn="l">
              <a:lnSpc>
                <a:spcPct val="118000"/>
              </a:lnSpc>
              <a:spcBef>
                <a:spcPts val="0"/>
              </a:spcBef>
              <a:spcAft>
                <a:spcPts val="1300"/>
              </a:spcAft>
            </a:pPr>
            <a:r>
              <a:rPr sz="2100" b="0" i="0">
                <a:solidFill>
                  <a:srgbClr val="1A1A1A"/>
                </a:solidFill>
                <a:latin typeface="Arial"/>
              </a:rPr>
              <a:t>4  How would you use volume as a timing indicator? Part 2.</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in full: 5 to 8</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  Describe the various modes of volume filtering. Part 3.</a:t>
            </a:r>
          </a:p>
          <a:p>
            <a:pPr algn="l">
              <a:lnSpc>
                <a:spcPct val="118000"/>
              </a:lnSpc>
              <a:spcBef>
                <a:spcPts val="0"/>
              </a:spcBef>
              <a:spcAft>
                <a:spcPts val="1300"/>
              </a:spcAft>
            </a:pPr>
            <a:r>
              <a:rPr sz="2100" b="0" i="0">
                <a:solidFill>
                  <a:srgbClr val="1A1A1A"/>
                </a:solidFill>
                <a:latin typeface="Arial"/>
              </a:rPr>
              <a:t>6  Describe the relationship between volume, open interest, and price. Part 4.</a:t>
            </a:r>
          </a:p>
          <a:p>
            <a:pPr algn="l">
              <a:lnSpc>
                <a:spcPct val="118000"/>
              </a:lnSpc>
              <a:spcBef>
                <a:spcPts val="0"/>
              </a:spcBef>
              <a:spcAft>
                <a:spcPts val="1300"/>
              </a:spcAft>
            </a:pPr>
            <a:r>
              <a:rPr sz="2100" b="0" i="0">
                <a:solidFill>
                  <a:srgbClr val="1A1A1A"/>
                </a:solidFill>
                <a:latin typeface="Arial"/>
              </a:rPr>
              <a:t>7  Which is more useful, absolute or relative volume? Part 4.</a:t>
            </a:r>
          </a:p>
          <a:p>
            <a:pPr algn="l">
              <a:lnSpc>
                <a:spcPct val="118000"/>
              </a:lnSpc>
              <a:spcBef>
                <a:spcPts val="0"/>
              </a:spcBef>
              <a:spcAft>
                <a:spcPts val="1300"/>
              </a:spcAft>
            </a:pPr>
            <a:r>
              <a:rPr sz="2100" b="0" i="0">
                <a:solidFill>
                  <a:srgbClr val="1A1A1A"/>
                </a:solidFill>
                <a:latin typeface="Arial"/>
              </a:rPr>
              <a:t>8  How are volume cycles useful and where would you normally find them? Part 5.</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part after each question is where its answer is taught.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the questions word for word. Where each is answered is this course's own map onto the parts of this deck.</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here and teaches later, or never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Not explained in the book's chapter: overbought, oversold, the MACD, the EMA, the tick, the cycle-tuned stochastic, the Bollinger Band and Bandwidth (Part 3 gives the Band a one-line meaning).</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oscillator analysis, Chapter 8 (p.203); the classification of divergence, Chapter 9 (p.176); the VWMA's calculation, Chapter 11 (p.181).</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a slide uses one of these, it says so on the slide.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chapter numbers and pages are the book's.</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book says two different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Above the VWMA (Part 2): the text calls price potentially bullish, then a paragraph later overvalued.</a:t>
            </a:r>
          </a:p>
          <a:p>
            <a:pPr algn="l">
              <a:lnSpc>
                <a:spcPct val="118000"/>
              </a:lnSpc>
              <a:spcBef>
                <a:spcPts val="0"/>
              </a:spcBef>
              <a:spcAft>
                <a:spcPts val="1300"/>
              </a:spcAft>
            </a:pPr>
            <a:r>
              <a:rPr sz="2100" b="0" i="0">
                <a:solidFill>
                  <a:srgbClr val="1A1A1A"/>
                </a:solidFill>
                <a:latin typeface="Arial"/>
              </a:rPr>
              <a:t>A bullish TRIN (Part 4): overbought in the text, oversold in Figure 6.25.</a:t>
            </a:r>
          </a:p>
          <a:p>
            <a:pPr algn="l">
              <a:lnSpc>
                <a:spcPct val="118000"/>
              </a:lnSpc>
              <a:spcBef>
                <a:spcPts val="0"/>
              </a:spcBef>
              <a:spcAft>
                <a:spcPts val="1300"/>
              </a:spcAft>
            </a:pPr>
            <a:r>
              <a:rPr sz="2100" b="0" i="0">
                <a:solidFill>
                  <a:srgbClr val="1A1A1A"/>
                </a:solidFill>
                <a:latin typeface="Arial"/>
              </a:rPr>
              <a:t>NYSE Up/Down Volume (Part 6): a ratio in the text; Figure 6.44's line runs below zero, which a ratio cannot.</a:t>
            </a:r>
          </a:p>
          <a:p>
            <a:pPr algn="l">
              <a:lnSpc>
                <a:spcPct val="118000"/>
              </a:lnSpc>
              <a:spcBef>
                <a:spcPts val="0"/>
              </a:spcBef>
              <a:spcAft>
                <a:spcPts val="1300"/>
              </a:spcAft>
            </a:pPr>
            <a:r>
              <a:rPr sz="2100" b="0" i="0">
                <a:solidFill>
                  <a:srgbClr val="1A1A1A"/>
                </a:solidFill>
                <a:latin typeface="Arial"/>
              </a:rPr>
              <a:t>Bullish divergence (Part 1): downtrends only, says the text; Figure 6.6 shows it in dips inside an uptrend.</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If asked, give both readings.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Each is also named on its own slide.</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figure captions that disagree with their chart or text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Figure 6.6 (Part 1): captioned daily; the chart itself is labelled weekly.</a:t>
            </a:r>
          </a:p>
          <a:p>
            <a:pPr algn="l">
              <a:lnSpc>
                <a:spcPct val="118000"/>
              </a:lnSpc>
              <a:spcBef>
                <a:spcPts val="0"/>
              </a:spcBef>
              <a:spcAft>
                <a:spcPts val="1300"/>
              </a:spcAft>
            </a:pPr>
            <a:r>
              <a:rPr sz="2100" b="0" i="0">
                <a:solidFill>
                  <a:srgbClr val="1A1A1A"/>
                </a:solidFill>
                <a:latin typeface="Arial"/>
              </a:rPr>
              <a:t>Figure 6.11 (Part 2): captioned a VWMA on a daily chart; it is a VWAP on 10-minute bars.</a:t>
            </a:r>
          </a:p>
          <a:p>
            <a:pPr algn="l">
              <a:lnSpc>
                <a:spcPct val="118000"/>
              </a:lnSpc>
              <a:spcBef>
                <a:spcPts val="0"/>
              </a:spcBef>
              <a:spcAft>
                <a:spcPts val="1300"/>
              </a:spcAft>
            </a:pPr>
            <a:r>
              <a:rPr sz="2100" b="0" i="0">
                <a:solidFill>
                  <a:srgbClr val="1A1A1A"/>
                </a:solidFill>
                <a:latin typeface="Arial"/>
              </a:rPr>
              <a:t>Figure 6.23 (Part 3): captioned silver; the text calls it USDJPY, then silver.</a:t>
            </a:r>
          </a:p>
          <a:p>
            <a:pPr algn="l">
              <a:lnSpc>
                <a:spcPct val="118000"/>
              </a:lnSpc>
              <a:spcBef>
                <a:spcPts val="0"/>
              </a:spcBef>
              <a:spcAft>
                <a:spcPts val="1300"/>
              </a:spcAft>
            </a:pPr>
            <a:r>
              <a:rPr sz="2100" b="0" i="0">
                <a:solidFill>
                  <a:srgbClr val="1A1A1A"/>
                </a:solidFill>
                <a:latin typeface="Arial"/>
              </a:rPr>
              <a:t>Figures 6.25 and 6.26 (Part 4): captioned daily; both charts are intraday.</a:t>
            </a:r>
          </a:p>
        </p:txBody>
      </p:sp>
      <p:sp>
        <p:nvSpPr>
          <p:cNvPr id="8" name="Rectangle 7"/>
          <p:cNvSpPr/>
          <p:nvPr/>
        </p:nvSpPr>
        <p:spPr>
          <a:xfrm>
            <a:off x="777240" y="4581905"/>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8481"/>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check rests on any of these. Read the chart, and name both.</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from the book's figures and their captions. Each is also named on its own slide.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