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lookback is how many bars the average covers. Short: hugs the bars closely, many signals, mostly false.</a:t>
            </a:r>
          </a:p>
          <a:p>
            <a:pPr algn="l">
              <a:lnSpc>
                <a:spcPct val="105000"/>
              </a:lnSpc>
              <a:spcBef>
                <a:spcPts val="0"/>
              </a:spcBef>
              <a:spcAft>
                <a:spcPts val="1100"/>
              </a:spcAft>
            </a:pPr>
            <a:r>
              <a:rPr sz="1600" b="0" i="0">
                <a:solidFill>
                  <a:srgbClr val="1A1A1A"/>
                </a:solidFill>
                <a:latin typeface="Arial"/>
              </a:rPr>
              <a:t>Long: slow and flat, few signals, and some turns missed. The right length sits in between.</a:t>
            </a:r>
          </a:p>
          <a:p>
            <a:pPr algn="l">
              <a:lnSpc>
                <a:spcPct val="105000"/>
              </a:lnSpc>
              <a:spcBef>
                <a:spcPts val="0"/>
              </a:spcBef>
              <a:spcAft>
                <a:spcPts val="1100"/>
              </a:spcAft>
            </a:pPr>
            <a:r>
              <a:rPr sz="1600" b="0" i="0">
                <a:solidFill>
                  <a:srgbClr val="1A1A1A"/>
                </a:solidFill>
                <a:latin typeface="Arial"/>
              </a:rPr>
              <a:t>Some set it to the dominant trading cycle period, or half of it; a simple backtest may be needed instead.</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book gives no number for the length.</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Backtest: run a method on past prices. Cycle period: how long a swing takes. Both Chapter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 Backtest: Chapter 5's gloss. Cycle period: a Chapter 5 term.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11</a:t>
            </a:r>
          </a:p>
        </p:txBody>
      </p:sp>
      <p:sp>
        <p:nvSpPr>
          <p:cNvPr id="8" name="Rectangle 7"/>
          <p:cNvSpPr/>
          <p:nvPr/>
        </p:nvSpPr>
        <p:spPr>
          <a:xfrm>
            <a:off x="777240" y="2258568"/>
            <a:ext cx="64008" cy="68884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7985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A rolling line: Upper = average + k x standard deviation, recomputed each bar from its last N bars.</a:t>
            </a:r>
          </a:p>
        </p:txBody>
      </p:sp>
      <p:sp>
        <p:nvSpPr>
          <p:cNvPr id="10" name="Rectangle 9"/>
          <p:cNvSpPr/>
          <p:nvPr/>
        </p:nvSpPr>
        <p:spPr>
          <a:xfrm>
            <a:off x="777240" y="320344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5772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Worked, ours, N=5: volumes 8, 10, 12, 9, 11 million. Average 10, standard deviation 1.41. Upper = 10 + 3x1.41 = 14.2 million: 15 crosses, 12 does not.</a:t>
            </a:r>
          </a:p>
        </p:txBody>
      </p:sp>
      <p:sp>
        <p:nvSpPr>
          <p:cNvPr id="12" name="Rectangle 11"/>
          <p:cNvSpPr/>
          <p:nvPr/>
        </p:nvSpPr>
        <p:spPr>
          <a:xfrm>
            <a:off x="777240" y="4392167"/>
            <a:ext cx="64008" cy="117652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346448"/>
            <a:ext cx="5760720" cy="12862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A 2- or 3-sigma filter, also a volatility filter, keeps only the most significant surges: a Bollinger Band on volume, upper band only. The book does not say N or N-1, or whether the bar is in its own window.</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Standard deviation, Chapter 5: how far values typically spread from their average. Bollinger Bands: named in Chapter 1, unexplained. Chart: ours, computed.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filter signals the most significant volume surges.</a:t>
            </a:r>
          </a:p>
          <a:p>
            <a:pPr algn="l">
              <a:lnSpc>
                <a:spcPct val="105000"/>
              </a:lnSpc>
              <a:spcBef>
                <a:spcPts val="0"/>
              </a:spcBef>
              <a:spcAft>
                <a:spcPts val="1100"/>
              </a:spcAft>
            </a:pPr>
            <a:r>
              <a:rPr sz="1800" b="0" i="0">
                <a:solidFill>
                  <a:srgbClr val="1A1A1A"/>
                </a:solidFill>
                <a:latin typeface="Arial"/>
              </a:rPr>
              <a:t>These tend to result in the most significant tops and bottoms in the market.</a:t>
            </a:r>
          </a:p>
          <a:p>
            <a:pPr algn="l">
              <a:lnSpc>
                <a:spcPct val="105000"/>
              </a:lnSpc>
              <a:spcBef>
                <a:spcPts val="0"/>
              </a:spcBef>
              <a:spcAft>
                <a:spcPts val="1100"/>
              </a:spcAft>
            </a:pPr>
            <a:r>
              <a:rPr sz="1800" b="0" i="0">
                <a:solidFill>
                  <a:srgbClr val="1A1A1A"/>
                </a:solidFill>
                <a:latin typeface="Arial"/>
              </a:rPr>
              <a:t>A standard deviation oscillator may also be used. It is less useful: it gives no overlay on which to see volume cross the threshold.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prefers the band: volume can be seen crossing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the peaks and troughs that came with heavy volume are used to draw lines.</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three turns on volume above the threshold, 1, 2 and 3. A line joins 1 and 2; its parallel through 3 makes a channel.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a peak or a trough. The chart is ours, on invented prices.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Tick volume, with a threshold drawn by visual inspection: only the most significant peaks reach it.</a:t>
            </a:r>
          </a:p>
          <a:p>
            <a:pPr algn="l">
              <a:lnSpc>
                <a:spcPct val="105000"/>
              </a:lnSpc>
              <a:spcBef>
                <a:spcPts val="0"/>
              </a:spcBef>
              <a:spcAft>
                <a:spcPts val="1100"/>
              </a:spcAft>
            </a:pPr>
            <a:r>
              <a:rPr sz="1800" b="0" i="0">
                <a:solidFill>
                  <a:srgbClr val="1A1A1A"/>
                </a:solidFill>
                <a:latin typeface="Arial"/>
              </a:rPr>
              <a:t>Points 1, 2 and 3 came with overextended tick volume. A trendline joins 1 and 2; a parallel from 3.</a:t>
            </a:r>
          </a:p>
          <a:p>
            <a:pPr algn="l">
              <a:lnSpc>
                <a:spcPct val="105000"/>
              </a:lnSpc>
              <a:spcBef>
                <a:spcPts val="0"/>
              </a:spcBef>
              <a:spcAft>
                <a:spcPts val="1100"/>
              </a:spcAft>
            </a:pPr>
            <a:r>
              <a:rPr sz="1800" b="0" i="0">
                <a:solidFill>
                  <a:srgbClr val="1A1A1A"/>
                </a:solidFill>
                <a:latin typeface="Arial"/>
              </a:rPr>
              <a:t>At X price reacts to the channel, a short-term buy, before falling through it.</a:t>
            </a:r>
          </a:p>
        </p:txBody>
      </p:sp>
      <p:sp>
        <p:nvSpPr>
          <p:cNvPr id="8" name="Rectangle 7"/>
          <p:cNvSpPr/>
          <p:nvPr/>
        </p:nvSpPr>
        <p:spPr>
          <a:xfrm>
            <a:off x="777240" y="4965192"/>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heavily traded points are used.</a:t>
            </a:r>
          </a:p>
        </p:txBody>
      </p:sp>
      <p:sp>
        <p:nvSpPr>
          <p:cNvPr id="10" name="TextBox 9"/>
          <p:cNvSpPr txBox="1"/>
          <p:nvPr/>
        </p:nvSpPr>
        <p:spPr>
          <a:xfrm>
            <a:off x="777240" y="560222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Tick volume, a count of trades: defined in Part 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 The text names no market for 6.22 and calls 6.23 USDJPY; both captions and charts say Silver.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 from 1 and 2, parallel from 3: a large bearish candlestick breaches it.</a:t>
            </a:r>
          </a:p>
          <a:p>
            <a:pPr algn="l">
              <a:lnSpc>
                <a:spcPct val="105000"/>
              </a:lnSpc>
              <a:spcBef>
                <a:spcPts val="0"/>
              </a:spcBef>
              <a:spcAft>
                <a:spcPts val="1100"/>
              </a:spcAft>
            </a:pPr>
            <a:r>
              <a:rPr sz="1800" b="0" i="0">
                <a:solidFill>
                  <a:srgbClr val="1A1A1A"/>
                </a:solidFill>
                <a:latin typeface="Arial"/>
              </a:rPr>
              <a:t>A parallel from 4, taken back in time, meets the trough at X: in retrospect a valid rising channel.</a:t>
            </a:r>
          </a:p>
          <a:p>
            <a:pPr algn="l">
              <a:lnSpc>
                <a:spcPct val="105000"/>
              </a:lnSpc>
              <a:spcBef>
                <a:spcPts val="0"/>
              </a:spcBef>
              <a:spcAft>
                <a:spcPts val="1100"/>
              </a:spcAft>
            </a:pPr>
            <a:r>
              <a:rPr sz="1800" b="0" i="0">
                <a:solidFill>
                  <a:srgbClr val="1A1A1A"/>
                </a:solidFill>
                <a:latin typeface="Arial"/>
              </a:rPr>
              <a:t>Parallels from 5 and 6 contain price too: resistance at the top, support at the bottom.</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near perfect angular symmetry.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a Chapter 5 term.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Absolute volume is not as important as relative volume: the change in volume tells the most.</a:t>
            </a:r>
          </a:p>
          <a:p>
            <a:pPr algn="l">
              <a:lnSpc>
                <a:spcPct val="105000"/>
              </a:lnSpc>
              <a:spcBef>
                <a:spcPts val="0"/>
              </a:spcBef>
              <a:spcAft>
                <a:spcPts val="1100"/>
              </a:spcAft>
            </a:pPr>
            <a:r>
              <a:rPr sz="1700" b="0" i="0">
                <a:solidFill>
                  <a:srgbClr val="1A1A1A"/>
                </a:solidFill>
                <a:latin typeface="Arial"/>
              </a:rPr>
              <a:t>Rising and declining volume show interest at various prices, and whether a trend is bullish or bearish.</a:t>
            </a:r>
          </a:p>
          <a:p>
            <a:pPr algn="l">
              <a:lnSpc>
                <a:spcPct val="105000"/>
              </a:lnSpc>
              <a:spcBef>
                <a:spcPts val="0"/>
              </a:spcBef>
              <a:spcAft>
                <a:spcPts val="1100"/>
              </a:spcAft>
            </a:pPr>
            <a:r>
              <a:rPr sz="1700" b="0" i="0">
                <a:solidFill>
                  <a:srgbClr val="1A1A1A"/>
                </a:solidFill>
                <a:latin typeface="Arial"/>
              </a:rPr>
              <a:t>Volume overextensions, historical peaks and troughs, give a reference for future tops and bottoms.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The chart is ours, on invented prices: a trend that persists on flat volume.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18</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Holding on to a losing position rather than selling it at a loss, hoping it comes back.</a:t>
            </a:r>
          </a:p>
        </p:txBody>
      </p:sp>
      <p:sp>
        <p:nvSpPr>
          <p:cNvPr id="10" name="Rectangle 9"/>
          <p:cNvSpPr/>
          <p:nvPr/>
        </p:nvSpPr>
        <p:spPr>
          <a:xfrm>
            <a:off x="777240" y="326440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Bought at PHP 50, now PHP 38: you hold, waiting for PHP 50. You do not sell, so you add no volume.</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Loss aversion: holding on in a falling market adds nothing to its trading.</a:t>
            </a:r>
          </a:p>
          <a:p>
            <a:pPr algn="l">
              <a:lnSpc>
                <a:spcPct val="105000"/>
              </a:lnSpc>
              <a:spcBef>
                <a:spcPts val="0"/>
              </a:spcBef>
              <a:spcAft>
                <a:spcPts val="1100"/>
              </a:spcAft>
            </a:pPr>
            <a:r>
              <a:rPr sz="1800" b="0" i="0">
                <a:solidFill>
                  <a:srgbClr val="1A1A1A"/>
                </a:solidFill>
                <a:latin typeface="Arial"/>
              </a:rPr>
              <a:t>In a rising market, investors and traders can use house money, their profit, to fund new positions.</a:t>
            </a:r>
          </a:p>
          <a:p>
            <a:pPr algn="l">
              <a:lnSpc>
                <a:spcPct val="105000"/>
              </a:lnSpc>
              <a:spcBef>
                <a:spcPts val="0"/>
              </a:spcBef>
              <a:spcAft>
                <a:spcPts val="1100"/>
              </a:spcAft>
            </a:pPr>
            <a:r>
              <a:rPr sz="1800" b="0" i="0">
                <a:solidFill>
                  <a:srgbClr val="1A1A1A"/>
                </a:solidFill>
                <a:latin typeface="Arial"/>
              </a:rPr>
              <a:t>More investment funds market their services in a bull market, drawing in more investors.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a bull market tends to trade more than a bear market.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is ours, on invented prices.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Finding potential price rejection levels at significant or historical prices.</a:t>
            </a:r>
          </a:p>
          <a:p>
            <a:pPr algn="l">
              <a:lnSpc>
                <a:spcPct val="105000"/>
              </a:lnSpc>
              <a:spcBef>
                <a:spcPts val="0"/>
              </a:spcBef>
              <a:spcAft>
                <a:spcPts val="1100"/>
              </a:spcAft>
            </a:pPr>
            <a:r>
              <a:rPr sz="1700" b="0" i="0">
                <a:solidFill>
                  <a:srgbClr val="1A1A1A"/>
                </a:solidFill>
                <a:latin typeface="Arial"/>
              </a:rPr>
              <a:t>Comparing participation across stocks, sectors, industries or commodities, in search of greater liquidity.</a:t>
            </a:r>
          </a:p>
          <a:p>
            <a:pPr algn="l">
              <a:lnSpc>
                <a:spcPct val="105000"/>
              </a:lnSpc>
              <a:spcBef>
                <a:spcPts val="0"/>
              </a:spcBef>
              <a:spcAft>
                <a:spcPts val="1100"/>
              </a:spcAft>
            </a:pPr>
            <a:r>
              <a:rPr sz="1700" b="0" i="0">
                <a:solidFill>
                  <a:srgbClr val="1A1A1A"/>
                </a:solidFill>
                <a:latin typeface="Arial"/>
              </a:rPr>
              <a:t>Total turnover against the shares outstanding: the absolute level of participation in a stock.</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volume reads a trend. Absolute volume compares markets.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Price rejection: a Chapter 3 term. Liquidity: the book's word, not defined here.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So the volume traders read may not be totally indicative of true volume action in the classical sense.</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read as participation assumes the trades are people taking part in the move.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1: program trading is machines trading in ways humans cannot replicate. The book gives no remedy for the distortion.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book explains none of them here.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futures or options contracts are still open: each a long and a short, not yet closed.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Day 1: A buys 1 from B, both new: 1. Day 2: C buys 2 from D: 3. Day 3: A sells to E: still 3. Day 4: D buys 2 back from C: 1.</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Open interest shows interest in a rise or a fall; its divergence reads as for non-price-based volume.</a:t>
            </a:r>
          </a:p>
          <a:p>
            <a:pPr algn="l">
              <a:lnSpc>
                <a:spcPct val="105000"/>
              </a:lnSpc>
              <a:spcBef>
                <a:spcPts val="0"/>
              </a:spcBef>
              <a:spcAft>
                <a:spcPts val="1100"/>
              </a:spcAft>
            </a:pPr>
            <a:r>
              <a:rPr sz="1800" b="0" i="0">
                <a:solidFill>
                  <a:srgbClr val="1A1A1A"/>
                </a:solidFill>
                <a:latin typeface="Arial"/>
              </a:rPr>
              <a:t>All rising: bullish, buying. Price up, both down: bearish, shorts covering, longs leaving.</a:t>
            </a:r>
          </a:p>
          <a:p>
            <a:pPr algn="l">
              <a:lnSpc>
                <a:spcPct val="105000"/>
              </a:lnSpc>
              <a:spcBef>
                <a:spcPts val="0"/>
              </a:spcBef>
              <a:spcAft>
                <a:spcPts val="1100"/>
              </a:spcAft>
            </a:pPr>
            <a:r>
              <a:rPr sz="1800" b="0" i="0">
                <a:solidFill>
                  <a:srgbClr val="1A1A1A"/>
                </a:solidFill>
                <a:latin typeface="Arial"/>
              </a:rPr>
              <a:t>Price down, both up: bearish, short selling. All falling: bullish, selling drying up.</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price, bullish; against it, bearish.</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18</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open interest and volume all rising: look for buy signals.</a:t>
            </a:r>
          </a:p>
          <a:p>
            <a:pPr algn="l">
              <a:lnSpc>
                <a:spcPct val="105000"/>
              </a:lnSpc>
              <a:spcBef>
                <a:spcPts val="0"/>
              </a:spcBef>
              <a:spcAft>
                <a:spcPts val="1100"/>
              </a:spcAft>
            </a:pPr>
            <a:r>
              <a:rPr sz="1800" b="0" i="0">
                <a:solidFill>
                  <a:srgbClr val="1A1A1A"/>
                </a:solidFill>
                <a:latin typeface="Arial"/>
              </a:rPr>
              <a:t>Rising price on declining open interest and volume: look to exit, liquidating longs.</a:t>
            </a:r>
          </a:p>
          <a:p>
            <a:pPr algn="l">
              <a:lnSpc>
                <a:spcPct val="105000"/>
              </a:lnSpc>
              <a:spcBef>
                <a:spcPts val="0"/>
              </a:spcBef>
              <a:spcAft>
                <a:spcPts val="1100"/>
              </a:spcAft>
            </a:pPr>
            <a:r>
              <a:rPr sz="1800" b="0" i="0">
                <a:solidFill>
                  <a:srgbClr val="1A1A1A"/>
                </a:solidFill>
                <a:latin typeface="Arial"/>
              </a:rPr>
              <a:t>Declining market, open interest and volume rising: look to go short. When both start to decline together: rapidly cover all shorts.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4739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6.24: volume confirms silver's rise at 1, but open interest diverges at 2. Many longs are liquidating; silver then retraced significantly.</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Go long, liquidate, go short and cover are Chapter 1 terms.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level of open interest may indicate the nature of a potential reversal or breakout.</a:t>
            </a:r>
          </a:p>
          <a:p>
            <a:pPr algn="l">
              <a:lnSpc>
                <a:spcPct val="105000"/>
              </a:lnSpc>
              <a:spcBef>
                <a:spcPts val="0"/>
              </a:spcBef>
              <a:spcAft>
                <a:spcPts val="1100"/>
              </a:spcAft>
            </a:pPr>
            <a:r>
              <a:rPr sz="2000" b="0" i="0">
                <a:solidFill>
                  <a:srgbClr val="1A1A1A"/>
                </a:solidFill>
                <a:latin typeface="Arial"/>
              </a:rPr>
              <a:t>If open interest is very high, the reversal that follows may be significantly more rapid.</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reason: a large number of open contracts liquidating and covering at once.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of shares. Met in Chapter 1's caption; Chapter 3's tick chart counts the same.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to 1.2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stocks rose over how many fell, divided by the volume in risers over the volume in fallers.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and 1,000 declines: 1.5. Up volume 600 million, down volume 800 million: 0.75. TRIN = 1.5 divided by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18</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Short term: a rising, not overbought tick with a falling, not oversold TRIN: bullish; the converse bearish.</a:t>
            </a:r>
          </a:p>
          <a:p>
            <a:pPr algn="l">
              <a:lnSpc>
                <a:spcPct val="105000"/>
              </a:lnSpc>
              <a:spcBef>
                <a:spcPts val="0"/>
              </a:spcBef>
              <a:spcAft>
                <a:spcPts val="1100"/>
              </a:spcAft>
            </a:pPr>
            <a:r>
              <a:rPr sz="1700" b="0" i="0">
                <a:solidFill>
                  <a:srgbClr val="1A1A1A"/>
                </a:solidFill>
                <a:latin typeface="Arial"/>
              </a:rPr>
              <a:t>Longer term: tick oversold, above its weekly two-sigma level, with TRIN overbought, near or above 3.0 daily: bullish.</a:t>
            </a:r>
          </a:p>
          <a:p>
            <a:pPr algn="l">
              <a:lnSpc>
                <a:spcPct val="105000"/>
              </a:lnSpc>
              <a:spcBef>
                <a:spcPts val="0"/>
              </a:spcBef>
              <a:spcAft>
                <a:spcPts val="1100"/>
              </a:spcAft>
            </a:pPr>
            <a:r>
              <a:rPr sz="1700" b="0" i="0">
                <a:solidFill>
                  <a:srgbClr val="1A1A1A"/>
                </a:solidFill>
                <a:latin typeface="Arial"/>
              </a:rPr>
              <a:t>Figure 6.25, 1-minute: tick and TRIN both oversold. Short-term bullish; the index rose.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2910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text: a bullish TRIN is overbought. The figure: oversold.</a:t>
            </a:r>
          </a:p>
        </p:txBody>
      </p:sp>
      <p:sp>
        <p:nvSpPr>
          <p:cNvPr id="10" name="TextBox 9"/>
          <p:cNvSpPr txBox="1"/>
          <p:nvPr/>
        </p:nvSpPr>
        <p:spPr>
          <a:xfrm>
            <a:off x="777240" y="546125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these rules no reasons, does not say how to read one value such as 2.0, and never says what this tick measures. No check rests on them.</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caption says daily; the chart and the text say 1-minute. The book never says what its tick measures.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short-term downtrend in the S&amp;P 500 with a bearish rising TRIN.</a:t>
            </a:r>
          </a:p>
          <a:p>
            <a:pPr algn="l">
              <a:lnSpc>
                <a:spcPct val="105000"/>
              </a:lnSpc>
              <a:spcBef>
                <a:spcPts val="0"/>
              </a:spcBef>
              <a:spcAft>
                <a:spcPts val="1100"/>
              </a:spcAft>
            </a:pPr>
            <a:r>
              <a:rPr sz="2000" b="0" i="0">
                <a:solidFill>
                  <a:srgbClr val="1A1A1A"/>
                </a:solidFill>
                <a:latin typeface="Arial"/>
              </a:rPr>
              <a:t>The tick is largely absent of activity between 1:45 p.m. and 2:45 p.m.</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Together, a short-term bearish signal.</a:t>
            </a:r>
          </a:p>
        </p:txBody>
      </p:sp>
      <p:sp>
        <p:nvSpPr>
          <p:cNvPr id="10" name="TextBox 9"/>
          <p:cNvSpPr txBox="1"/>
          <p:nvPr/>
        </p:nvSpPr>
        <p:spPr>
          <a:xfrm>
            <a:off x="777240" y="476402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other tick labels, such as balanced tick action, are not explained by the book.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18</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different split from the tick and the TRIN: not a breadth count, but one share count sliced two ways. By time: the usual bars, one a period. By price: sideways bars, one per price level.</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 chart, 100 days: 68 million shares at PHP 48 to 50, 12 million at PHP 54 to 56. The longest sideways bar: PHP 48 to 50.</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large volume turnover around the $17 price level in the iShares Silver Trust.</a:t>
            </a:r>
          </a:p>
          <a:p>
            <a:pPr algn="l">
              <a:lnSpc>
                <a:spcPct val="105000"/>
              </a:lnSpc>
              <a:spcBef>
                <a:spcPts val="0"/>
              </a:spcBef>
              <a:spcAft>
                <a:spcPts val="1100"/>
              </a:spcAft>
            </a:pPr>
            <a:r>
              <a:rPr sz="2000" b="0" i="0">
                <a:solidFill>
                  <a:srgbClr val="1A1A1A"/>
                </a:solidFill>
                <a:latin typeface="Arial"/>
              </a:rPr>
              <a:t>So $17 represents a significant support.</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is not obvious from conventional volume bar action.</a:t>
            </a:r>
          </a:p>
        </p:txBody>
      </p:sp>
      <p:sp>
        <p:nvSpPr>
          <p:cNvPr id="10" name="TextBox 9"/>
          <p:cNvSpPr txBox="1"/>
          <p:nvPr/>
        </p:nvSpPr>
        <p:spPr>
          <a:xfrm>
            <a:off x="777240" y="508406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it is not Part 1's price-based oscillators. The figure's top panel is an oscillator the book does not discuss.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lot of volume turnover between $77 and $86 on the daily chart of 3M.</a:t>
            </a:r>
          </a:p>
          <a:p>
            <a:pPr algn="l">
              <a:lnSpc>
                <a:spcPct val="105000"/>
              </a:lnSpc>
              <a:spcBef>
                <a:spcPts val="0"/>
              </a:spcBef>
              <a:spcAft>
                <a:spcPts val="1100"/>
              </a:spcAft>
            </a:pPr>
            <a:r>
              <a:rPr sz="1900" b="0" i="0">
                <a:solidFill>
                  <a:srgbClr val="1A1A1A"/>
                </a:solidFill>
                <a:latin typeface="Arial"/>
              </a:rPr>
              <a:t>This is the most traded range, with some resistance at the $90 to $92 level.</a:t>
            </a:r>
          </a:p>
        </p:txBody>
      </p:sp>
      <p:sp>
        <p:nvSpPr>
          <p:cNvPr id="8" name="Rectangle 7"/>
          <p:cNvSpPr/>
          <p:nvPr/>
        </p:nvSpPr>
        <p:spPr>
          <a:xfrm>
            <a:off x="777240" y="3712463"/>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749039"/>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These price ranges are potential future support and resistance levels.</a:t>
            </a:r>
          </a:p>
        </p:txBody>
      </p:sp>
      <p:sp>
        <p:nvSpPr>
          <p:cNvPr id="10" name="TextBox 9"/>
          <p:cNvSpPr txBox="1"/>
          <p:nvPr/>
        </p:nvSpPr>
        <p:spPr>
          <a:xfrm>
            <a:off x="777240" y="4974336"/>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also marks bearish confirmation, price falling on rising volume, and bearish divergence, price rising on falling volume: Part 1's names.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Locate the largest volume by price range.</a:t>
            </a:r>
          </a:p>
          <a:p>
            <a:pPr algn="l">
              <a:lnSpc>
                <a:spcPct val="105000"/>
              </a:lnSpc>
              <a:spcBef>
                <a:spcPts val="0"/>
              </a:spcBef>
              <a:spcAft>
                <a:spcPts val="1100"/>
              </a:spcAft>
            </a:pPr>
            <a:r>
              <a:rPr sz="1700" b="0" i="0">
                <a:solidFill>
                  <a:srgbClr val="1A1A1A"/>
                </a:solidFill>
                <a:latin typeface="Arial"/>
              </a:rPr>
              <a:t>2  Locate the largest volume by time intervals.</a:t>
            </a:r>
          </a:p>
          <a:p>
            <a:pPr algn="l">
              <a:lnSpc>
                <a:spcPct val="105000"/>
              </a:lnSpc>
              <a:spcBef>
                <a:spcPts val="0"/>
              </a:spcBef>
              <a:spcAft>
                <a:spcPts val="1100"/>
              </a:spcAft>
            </a:pPr>
            <a:r>
              <a:rPr sz="1700" b="0" i="0">
                <a:solidFill>
                  <a:srgbClr val="1A1A1A"/>
                </a:solidFill>
                <a:latin typeface="Arial"/>
              </a:rPr>
              <a:t>3  Find where the two intersect.</a:t>
            </a:r>
          </a:p>
          <a:p>
            <a:pPr algn="l">
              <a:lnSpc>
                <a:spcPct val="105000"/>
              </a:lnSpc>
              <a:spcBef>
                <a:spcPts val="0"/>
              </a:spcBef>
              <a:spcAft>
                <a:spcPts val="1100"/>
              </a:spcAft>
            </a:pPr>
            <a:r>
              <a:rPr sz="1700" b="0" i="0">
                <a:solidFill>
                  <a:srgbClr val="1A1A1A"/>
                </a:solidFill>
                <a:latin typeface="Arial"/>
              </a:rPr>
              <a:t>4  The closest peak above the intersection: resistance. The closest trough below: support.</a:t>
            </a:r>
          </a:p>
        </p:txBody>
      </p:sp>
      <p:sp>
        <p:nvSpPr>
          <p:cNvPr id="8" name="Rectangle 7"/>
          <p:cNvSpPr/>
          <p:nvPr/>
        </p:nvSpPr>
        <p:spPr>
          <a:xfrm>
            <a:off x="777240" y="418566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 in the formation.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The $74 to $80 range has the most significant volume by price.</a:t>
            </a:r>
          </a:p>
          <a:p>
            <a:pPr algn="l">
              <a:lnSpc>
                <a:spcPct val="105000"/>
              </a:lnSpc>
              <a:spcBef>
                <a:spcPts val="0"/>
              </a:spcBef>
              <a:spcAft>
                <a:spcPts val="1100"/>
              </a:spcAft>
            </a:pPr>
            <a:r>
              <a:rPr sz="1900" b="0" i="0">
                <a:solidFill>
                  <a:srgbClr val="1A1A1A"/>
                </a:solidFill>
                <a:latin typeface="Arial"/>
              </a:rPr>
              <a:t>2 and 3  The largest volume by time intervals cross it in two white boxes.</a:t>
            </a:r>
          </a:p>
          <a:p>
            <a:pPr algn="l">
              <a:lnSpc>
                <a:spcPct val="105000"/>
              </a:lnSpc>
              <a:spcBef>
                <a:spcPts val="0"/>
              </a:spcBef>
              <a:spcAft>
                <a:spcPts val="1100"/>
              </a:spcAft>
            </a:pPr>
            <a:r>
              <a:rPr sz="1900" b="0" i="0">
                <a:solidFill>
                  <a:srgbClr val="1A1A1A"/>
                </a:solidFill>
                <a:latin typeface="Arial"/>
              </a:rPr>
              <a:t>4  The closest peak above is resistance, the closest trough below is support.</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levels act as effective barriers to price on the daily chart of 3M.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