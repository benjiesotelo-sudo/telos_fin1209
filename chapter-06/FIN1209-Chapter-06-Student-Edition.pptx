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the interest at each price, and whether a trend is bullish or bearish: Part 1's confirmation and divergence.</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near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and the book gives no rule for one.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at significant or historical prices.</a:t>
            </a:r>
          </a:p>
          <a:p>
            <a:pPr algn="l">
              <a:lnSpc>
                <a:spcPct val="105000"/>
              </a:lnSpc>
              <a:spcBef>
                <a:spcPts val="0"/>
              </a:spcBef>
              <a:spcAft>
                <a:spcPts val="1100"/>
              </a:spcAft>
            </a:pPr>
            <a:r>
              <a:rPr sz="1700" b="0" i="0">
                <a:solidFill>
                  <a:srgbClr val="1A1A1A"/>
                </a:solidFill>
                <a:latin typeface="Arial"/>
              </a:rPr>
              <a:t>2  Comparing participation in stocks, sectors, industries or commodities, seeking liquidity.</a:t>
            </a:r>
          </a:p>
          <a:p>
            <a:pPr algn="l">
              <a:lnSpc>
                <a:spcPct val="105000"/>
              </a:lnSpc>
              <a:spcBef>
                <a:spcPts val="0"/>
              </a:spcBef>
              <a:spcAft>
                <a:spcPts val="1100"/>
              </a:spcAft>
            </a:pPr>
            <a:r>
              <a:rPr sz="1700" b="0" i="0">
                <a:solidFill>
                  <a:srgbClr val="1A1A1A"/>
                </a:solidFill>
                <a:latin typeface="Arial"/>
              </a:rPr>
              <a:t>3  Turnover: shares traded / shares outstanding. A: 5m / 2,000m = 0.25%. B: 1m / 40m = 2.5%.</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Shares outstanding: all the company's shares. The book gives no method for 1, and no definition of liquidity.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That meaning is Part 1's: volume is traders' interest in a rise or fall. Chapter 1: program trading is machines trading in ways humans cannot replicate.</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volume read may not be totally indicative of true volume action. The book gives no remedy.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25</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1826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18262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from A to B: volume peaks higher at 1, bullish confirmation. Open interest peaks lower at 2 than at A, bearish divergence: many longs liquidating.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traded;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is not 900 of anything.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Advances, stocks that rose, over declines, stocks that fell; divided by up volume over down volume, the shares each side traded.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or that it is tick volume. On Figure 6.25 it is the $TICK panel.</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 The converse is bearish: look for a short.</a:t>
            </a:r>
          </a:p>
          <a:p>
            <a:pPr algn="l">
              <a:lnSpc>
                <a:spcPct val="105000"/>
              </a:lnSpc>
              <a:spcBef>
                <a:spcPts val="0"/>
              </a:spcBef>
              <a:spcAft>
                <a:spcPts val="1100"/>
              </a:spcAft>
            </a:pPr>
            <a:r>
              <a:rPr sz="1700" b="0" i="0">
                <a:solidFill>
                  <a:srgbClr val="1A1A1A"/>
                </a:solidFill>
                <a:latin typeface="Arial"/>
              </a:rPr>
              <a:t>Figure 6.25, the S&amp;P 500: in the box, tick falls to about -1,000, TRIN rises to about 2.2, both labelled oversold. Short-term bullish; the index then rose.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Overbought, oversold: Part 2's words, never defined by the book.</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Longer term: tick oversold, above its weekly two-sigma level, with TRIN overbought, near or above 3.0 daily: bullish, look for a long entry.</a:t>
            </a:r>
          </a:p>
          <a:p>
            <a:pPr algn="l">
              <a:lnSpc>
                <a:spcPct val="118000"/>
              </a:lnSpc>
              <a:spcBef>
                <a:spcPts val="0"/>
              </a:spcBef>
              <a:spcAft>
                <a:spcPts val="1300"/>
              </a:spcAft>
            </a:pPr>
            <a:r>
              <a:rPr sz="2100" b="0" i="0">
                <a:solidFill>
                  <a:srgbClr val="1A1A1A"/>
                </a:solidFill>
                <a:latin typeface="Arial"/>
              </a:rPr>
              <a:t>Two sigma: Part 3's sigma line, k = 2. Ours: weekly tick mean 200, sigma 300, line 200 + 2 x 300 = 800; above it, oversold. A daily TRIN of 3.2: overbought.</a:t>
            </a:r>
          </a:p>
          <a:p>
            <a:pPr algn="l">
              <a:lnSpc>
                <a:spcPct val="118000"/>
              </a:lnSpc>
              <a:spcBef>
                <a:spcPts val="0"/>
              </a:spcBef>
              <a:spcAft>
                <a:spcPts val="1300"/>
              </a:spcAft>
            </a:pPr>
            <a:r>
              <a:rPr sz="2100" b="0" i="0">
                <a:solidFill>
                  <a:srgbClr val="1A1A1A"/>
                </a:solidFill>
                <a:latin typeface="Arial"/>
              </a:rPr>
              <a:t>The converse is bearish. Gaps: no reasons for either rule; Figure 6.25's oversold tick sits at its low, not above two sigma.</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text calls a bullish TRIN overbought; Figure 6.25 calls it oversold. Both mean bullish.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800" b="0" i="0">
                <a:solidFill>
                  <a:srgbClr val="1A1A1A"/>
                </a:solidFill>
                <a:latin typeface="Arial"/>
              </a:rPr>
              <a:t>From 1:45 to 2:45 p.m. the tick is largely absent of activity. The figure: absent of uptick action, a word the book does not define.</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a quiet tick is bearish.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25</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split by when and by what price. Using both: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the iShares Silver Trust: the sideways bars are longest around $17, a large volume turnover.</a:t>
            </a:r>
          </a:p>
          <a:p>
            <a:pPr algn="l">
              <a:lnSpc>
                <a:spcPct val="105000"/>
              </a:lnSpc>
              <a:spcBef>
                <a:spcPts val="0"/>
              </a:spcBef>
              <a:spcAft>
                <a:spcPts val="1100"/>
              </a:spcAft>
            </a:pPr>
            <a:r>
              <a:rPr sz="1700" b="0" i="0">
                <a:solidFill>
                  <a:srgbClr val="1A1A1A"/>
                </a:solidFill>
                <a:latin typeface="Arial"/>
              </a:rPr>
              <a:t>So $17 represents a significant support: a floor where a fall may stop. The figure: significant capital commitment.</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cannot show this: they say when shares traded, not at what price.</a:t>
            </a:r>
          </a:p>
        </p:txBody>
      </p:sp>
      <p:sp>
        <p:nvSpPr>
          <p:cNvPr id="10" name="TextBox 9"/>
          <p:cNvSpPr txBox="1"/>
          <p:nvPr/>
        </p:nvSpPr>
        <p:spPr>
          <a:xfrm>
            <a:off x="777240" y="52989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not Part 1's price-based oscillators. The book does not discuss the top panel.</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6.28, 3M: the longest sideways bars, bracketed, run from $77 to $86. More shares traded there than at any other price: the most traded range.</a:t>
            </a:r>
          </a:p>
          <a:p>
            <a:pPr algn="l">
              <a:lnSpc>
                <a:spcPct val="105000"/>
              </a:lnSpc>
              <a:spcBef>
                <a:spcPts val="0"/>
              </a:spcBef>
              <a:spcAft>
                <a:spcPts val="1100"/>
              </a:spcAft>
            </a:pPr>
            <a:r>
              <a:rPr sz="1700" b="0" i="0">
                <a:solidFill>
                  <a:srgbClr val="1A1A1A"/>
                </a:solidFill>
                <a:latin typeface="Arial"/>
              </a:rPr>
              <a:t>Some resistance comes in at $90 to $92, says the book. It does not say how that level was found.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These price ranges are potential future support and resistance levels.</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marked: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Locate the largest volume by price range: ours, PHP 48 to 50, 68 million.</a:t>
            </a:r>
          </a:p>
          <a:p>
            <a:pPr algn="l">
              <a:lnSpc>
                <a:spcPct val="105000"/>
              </a:lnSpc>
              <a:spcBef>
                <a:spcPts val="0"/>
              </a:spcBef>
              <a:spcAft>
                <a:spcPts val="1100"/>
              </a:spcAft>
            </a:pPr>
            <a:r>
              <a:rPr sz="1600" b="0" i="0">
                <a:solidFill>
                  <a:srgbClr val="1A1A1A"/>
                </a:solidFill>
                <a:latin typeface="Arial"/>
              </a:rPr>
              <a:t>2  Locate the largest volume by time intervals: ours, bursts of 3.4 to 4.1 million a day.</a:t>
            </a:r>
          </a:p>
          <a:p>
            <a:pPr algn="l">
              <a:lnSpc>
                <a:spcPct val="105000"/>
              </a:lnSpc>
              <a:spcBef>
                <a:spcPts val="0"/>
              </a:spcBef>
              <a:spcAft>
                <a:spcPts val="1100"/>
              </a:spcAft>
            </a:pPr>
            <a:r>
              <a:rPr sz="1600" b="0" i="0">
                <a:solidFill>
                  <a:srgbClr val="1A1A1A"/>
                </a:solidFill>
                <a:latin typeface="Arial"/>
              </a:rPr>
              <a:t>3  Find where the two intersect: the two boxes.</a:t>
            </a:r>
          </a:p>
          <a:p>
            <a:pPr algn="l">
              <a:lnSpc>
                <a:spcPct val="105000"/>
              </a:lnSpc>
              <a:spcBef>
                <a:spcPts val="0"/>
              </a:spcBef>
              <a:spcAft>
                <a:spcPts val="1100"/>
              </a:spcAft>
            </a:pPr>
            <a:r>
              <a:rPr sz="1600" b="0" i="0">
                <a:solidFill>
                  <a:srgbClr val="1A1A1A"/>
                </a:solidFill>
                <a:latin typeface="Arial"/>
              </a:rPr>
              <a:t>4  The closest peak above the intersection is resistance, PHP 50.80; the closest trough below, support, PHP 47.50.</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Potentially the most significant and reliable support and resistance.</a:t>
            </a:r>
          </a:p>
        </p:txBody>
      </p:sp>
      <p:sp>
        <p:nvSpPr>
          <p:cNvPr id="10" name="TextBox 9"/>
          <p:cNvSpPr txBox="1"/>
          <p:nvPr/>
        </p:nvSpPr>
        <p:spPr>
          <a:xfrm>
            <a:off x="777240" y="573938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is given, and no size for largest: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range of most significant volume by price, the dark sideways bars.</a:t>
            </a:r>
          </a:p>
          <a:p>
            <a:pPr algn="l">
              <a:lnSpc>
                <a:spcPct val="105000"/>
              </a:lnSpc>
              <a:spcBef>
                <a:spcPts val="0"/>
              </a:spcBef>
              <a:spcAft>
                <a:spcPts val="1100"/>
              </a:spcAft>
            </a:pPr>
            <a:r>
              <a:rPr sz="1700" b="0" i="0">
                <a:solidFill>
                  <a:srgbClr val="1A1A1A"/>
                </a:solidFill>
                <a:latin typeface="Arial"/>
              </a:rPr>
              <a:t>2 and 3  The largest volume by time, the dark columns,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