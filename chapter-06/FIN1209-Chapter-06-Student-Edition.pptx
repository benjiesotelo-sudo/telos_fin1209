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6</a:t>
            </a:r>
          </a:p>
          <a:p>
            <a:pPr algn="l">
              <a:lnSpc>
                <a:spcPct val="105000"/>
              </a:lnSpc>
              <a:spcBef>
                <a:spcPts val="1000"/>
              </a:spcBef>
              <a:spcAft>
                <a:spcPts val="0"/>
              </a:spcAft>
            </a:pPr>
            <a:r>
              <a:rPr sz="4400" b="0" i="0">
                <a:solidFill>
                  <a:srgbClr val="FFFFFF"/>
                </a:solidFill>
                <a:latin typeface="Palatino"/>
              </a:rPr>
              <a:t>Volume and Open Interest</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volume action and its implications for market action.</a:t>
            </a:r>
          </a:p>
          <a:p>
            <a:pPr algn="l">
              <a:lnSpc>
                <a:spcPct val="118000"/>
              </a:lnSpc>
              <a:spcBef>
                <a:spcPts val="0"/>
              </a:spcBef>
              <a:spcAft>
                <a:spcPts val="1300"/>
              </a:spcAft>
            </a:pPr>
            <a:r>
              <a:rPr sz="2100" b="0" i="0">
                <a:solidFill>
                  <a:srgbClr val="1A1A1A"/>
                </a:solidFill>
                <a:latin typeface="Arial"/>
              </a:rPr>
              <a:t>Recognize early trend weakness via volume and open interest divergence.</a:t>
            </a:r>
          </a:p>
          <a:p>
            <a:pPr algn="l">
              <a:lnSpc>
                <a:spcPct val="118000"/>
              </a:lnSpc>
              <a:spcBef>
                <a:spcPts val="0"/>
              </a:spcBef>
              <a:spcAft>
                <a:spcPts val="1300"/>
              </a:spcAft>
            </a:pPr>
            <a:r>
              <a:rPr sz="2100" b="0" i="0">
                <a:solidFill>
                  <a:srgbClr val="1A1A1A"/>
                </a:solidFill>
                <a:latin typeface="Arial"/>
              </a:rPr>
              <a:t>Identify bullish and bearish signals on volume and open interest indicators.</a:t>
            </a:r>
          </a:p>
          <a:p>
            <a:pPr algn="l">
              <a:lnSpc>
                <a:spcPct val="118000"/>
              </a:lnSpc>
              <a:spcBef>
                <a:spcPts val="0"/>
              </a:spcBef>
              <a:spcAft>
                <a:spcPts val="1300"/>
              </a:spcAft>
            </a:pPr>
            <a:r>
              <a:rPr sz="2100" b="0" i="0">
                <a:solidFill>
                  <a:srgbClr val="1A1A1A"/>
                </a:solidFill>
                <a:latin typeface="Arial"/>
              </a:rPr>
              <a:t>Forecast potential reversals and corrections via volume cycles.</a:t>
            </a:r>
          </a:p>
          <a:p>
            <a:pPr algn="l">
              <a:lnSpc>
                <a:spcPct val="118000"/>
              </a:lnSpc>
              <a:spcBef>
                <a:spcPts val="0"/>
              </a:spcBef>
              <a:spcAft>
                <a:spcPts val="1300"/>
              </a:spcAft>
            </a:pPr>
            <a:r>
              <a:rPr sz="2100" b="0" i="0">
                <a:solidFill>
                  <a:srgbClr val="1A1A1A"/>
                </a:solidFill>
                <a:latin typeface="Arial"/>
              </a:rPr>
              <a:t>Set up effective volume filtering, for better timed entries and exits.</a:t>
            </a:r>
          </a:p>
          <a:p>
            <a:pPr algn="l">
              <a:lnSpc>
                <a:spcPct val="118000"/>
              </a:lnSpc>
              <a:spcBef>
                <a:spcPts val="0"/>
              </a:spcBef>
              <a:spcAft>
                <a:spcPts val="1300"/>
              </a:spcAft>
            </a:pPr>
            <a:r>
              <a:rPr sz="2100" b="0" i="0">
                <a:solidFill>
                  <a:srgbClr val="1A1A1A"/>
                </a:solidFill>
                <a:latin typeface="Arial"/>
              </a:rPr>
              <a:t>Read volume across successive contract months in futures markets.</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last is not taught in this chapter's text; Chapter 3 read volume across contract months. Every other idea here gets its own slide when its part comes.</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p.173: its six learning objectives, nearly word for word.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this chapter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Opening</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Confirmation and divergence.  Part 2  Timing, the volume-weighted moving average (VWMA), climaxes.</a:t>
            </a:r>
          </a:p>
          <a:p>
            <a:pPr algn="l">
              <a:lnSpc>
                <a:spcPct val="118000"/>
              </a:lnSpc>
              <a:spcBef>
                <a:spcPts val="0"/>
              </a:spcBef>
              <a:spcAft>
                <a:spcPts val="1300"/>
              </a:spcAft>
            </a:pPr>
            <a:r>
              <a:rPr sz="2100" b="0" i="0">
                <a:solidFill>
                  <a:srgbClr val="1A1A1A"/>
                </a:solidFill>
                <a:latin typeface="Arial"/>
              </a:rPr>
              <a:t>Part 3  Price barriers and filtering.  Part 4  Open interest, tick volume, the Arms Index (TRIN).</a:t>
            </a:r>
          </a:p>
          <a:p>
            <a:pPr algn="l">
              <a:lnSpc>
                <a:spcPct val="118000"/>
              </a:lnSpc>
              <a:spcBef>
                <a:spcPts val="0"/>
              </a:spcBef>
              <a:spcAft>
                <a:spcPts val="1300"/>
              </a:spcAft>
            </a:pPr>
            <a:r>
              <a:rPr sz="2100" b="0" i="0">
                <a:solidFill>
                  <a:srgbClr val="1A1A1A"/>
                </a:solidFill>
                <a:latin typeface="Arial"/>
              </a:rPr>
              <a:t>Part 5  Bar range and volume cycles.  Part 6  The volume oscillators, section 6.2.</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Parts 1 to 5 are the book's section 6.1, in its order.</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Bottom right of every teaching slide: the book page it comes from, and whose the numbers are. Lettered charts are ours, invented, drawn where the book gives only words, a sketch or a dense chart. Peso amounts are our examples.</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The parts are the book's own sub-sections, pp.173 to 208, grouped in its order.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Price first: volume and open interest as evidence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Price is regarded as the best indicator of future price. Volume and open interest are extra evidence: they back up, or corroborate, a setup, show weakness, time breakouts.</a:t>
            </a:r>
          </a:p>
          <a:p>
            <a:pPr algn="l">
              <a:lnSpc>
                <a:spcPct val="105000"/>
              </a:lnSpc>
              <a:spcBef>
                <a:spcPts val="0"/>
              </a:spcBef>
              <a:spcAft>
                <a:spcPts val="1100"/>
              </a:spcAft>
            </a:pPr>
            <a:r>
              <a:rPr sz="1800" b="0" i="0">
                <a:solidFill>
                  <a:srgbClr val="1A1A1A"/>
                </a:solidFill>
                <a:latin typeface="Arial"/>
              </a:rPr>
              <a:t>Chart A, ours: every chart today has price bars on top, one volume bar under each. Day 40: PHP 52.40, 2.4 million shares.</a:t>
            </a:r>
          </a:p>
        </p:txBody>
      </p:sp>
      <p:sp>
        <p:nvSpPr>
          <p:cNvPr id="8" name="Rectangle 7"/>
          <p:cNvSpPr/>
          <p:nvPr/>
        </p:nvSpPr>
        <p:spPr>
          <a:xfrm>
            <a:off x="777240" y="4512564"/>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49140"/>
            <a:ext cx="519379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Novices misread falling volume in a consolidation as weakness: it times the breakout.</a:t>
            </a:r>
          </a:p>
        </p:txBody>
      </p:sp>
      <p:sp>
        <p:nvSpPr>
          <p:cNvPr id="10" name="TextBox 9"/>
          <p:cNvSpPr txBox="1"/>
          <p:nvPr/>
        </p:nvSpPr>
        <p:spPr>
          <a:xfrm>
            <a:off x="777240" y="5728716"/>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Why: Part 2. Volume: defined below. Open interest: Part 4.</a:t>
            </a:r>
          </a:p>
        </p:txBody>
      </p:sp>
      <p:sp>
        <p:nvSpPr>
          <p:cNvPr id="11" name="Rectangle 10"/>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png"/>
          <p:cNvPicPr>
            <a:picLocks noChangeAspect="1"/>
          </p:cNvPicPr>
          <p:nvPr/>
        </p:nvPicPr>
        <p:blipFill>
          <a:blip r:embed="rId2"/>
          <a:stretch>
            <a:fillRect/>
          </a:stretch>
        </p:blipFill>
        <p:spPr>
          <a:xfrm>
            <a:off x="6703923" y="1929384"/>
            <a:ext cx="4590288" cy="3511296"/>
          </a:xfrm>
          <a:prstGeom prst="rect">
            <a:avLst/>
          </a:prstGeom>
        </p:spPr>
      </p:pic>
      <p:sp>
        <p:nvSpPr>
          <p:cNvPr id="13" name="TextBox 12"/>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p.173, the chapter's opening paragraph. The chart is ours, on invented prices, to show how the book's figures draw volume.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2's tenet: volume confirms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 of 29</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2, Dow Theory: volume should expand in the direction of the trend. Big on moves with the trend, small on retracements, the moves against it.</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Uptrend: volume rises as price rises, falls on the dips: bullish volume action, the book says.</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Downtrend: volume rises as price falls, falls on the bounces: bearish volume action.</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3766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Both confirm their trend. Numbers on the next slide.</a:t>
            </a:r>
          </a:p>
        </p:txBody>
      </p:sp>
      <p:sp>
        <p:nvSpPr>
          <p:cNvPr id="10" name="TextBox 9"/>
          <p:cNvSpPr txBox="1"/>
          <p:nvPr/>
        </p:nvSpPr>
        <p:spPr>
          <a:xfrm>
            <a:off x="777240" y="5461254"/>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Volume is a supporting, or secondary, indicator. Volume doing the opposite: an uptrend may be bearish, a downtrend bullish.</a:t>
            </a:r>
          </a:p>
        </p:txBody>
      </p:sp>
      <p:sp>
        <p:nvSpPr>
          <p:cNvPr id="11" name="Rectangle 10"/>
          <p:cNvSpPr/>
          <p:nvPr/>
        </p:nvSpPr>
        <p:spPr>
          <a:xfrm>
            <a:off x="6766559" y="1810512"/>
            <a:ext cx="4647894" cy="3528901"/>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85431" y="1929384"/>
            <a:ext cx="4410151" cy="3291157"/>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885431" y="1929384"/>
            <a:ext cx="441015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7159751" y="2203703"/>
            <a:ext cx="3861511" cy="283395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a:t>
            </a:r>
          </a:p>
          <a:p>
            <a:pPr algn="l">
              <a:lnSpc>
                <a:spcPct val="115000"/>
              </a:lnSpc>
              <a:spcBef>
                <a:spcPts val="0"/>
              </a:spcBef>
              <a:spcAft>
                <a:spcPts val="0"/>
              </a:spcAft>
            </a:pPr>
            <a:r>
              <a:rPr sz="1500" b="0" i="0">
                <a:solidFill>
                  <a:srgbClr val="1A1A1A"/>
                </a:solidFill>
                <a:latin typeface="Palatino"/>
              </a:rPr>
              <a:t>Two sketches of volume confirming a trend. Top: a rising price with volume bars that grow on the rise and shrink in the downside retracement, labelled bullish volume action in an uptrend. Bottom: a falling price with volume that grows on the fall and shrinks in the upside retracement, labelled bearish volume action in a downtrend.</a:t>
            </a:r>
          </a:p>
        </p:txBody>
      </p:sp>
      <p:sp>
        <p:nvSpPr>
          <p:cNvPr id="15" name="Rectangle 14"/>
          <p:cNvSpPr/>
          <p:nvPr/>
        </p:nvSpPr>
        <p:spPr>
          <a:xfrm>
            <a:off x="7683669" y="2281537"/>
            <a:ext cx="2178614" cy="684560"/>
          </a:xfrm>
          <a:prstGeom prst="rect">
            <a:avLst/>
          </a:prstGeom>
          <a:noFill/>
          <a:ln w="44450">
            <a:solidFill>
              <a:srgbClr val="E09B00"/>
            </a:solidFill>
          </a:ln>
        </p:spPr>
        <p:txBody>
          <a:bodyPr rtlCol="0" anchor="ctr"/>
          <a:lstStyle/>
          <a:p>
            <a:pPr algn="ctr"/>
          </a:p>
        </p:txBody>
      </p:sp>
      <p:sp>
        <p:nvSpPr>
          <p:cNvPr id="16" name="Rectangle 15"/>
          <p:cNvSpPr/>
          <p:nvPr/>
        </p:nvSpPr>
        <p:spPr>
          <a:xfrm>
            <a:off x="7683669" y="4522816"/>
            <a:ext cx="2209485" cy="638484"/>
          </a:xfrm>
          <a:prstGeom prst="rect">
            <a:avLst/>
          </a:prstGeom>
          <a:noFill/>
          <a:ln w="44450">
            <a:solidFill>
              <a:srgbClr val="C62828"/>
            </a:solidFill>
          </a:ln>
        </p:spPr>
        <p:txBody>
          <a:bodyPr rtlCol="0" anchor="ctr"/>
          <a:lstStyle/>
          <a:p>
            <a:pPr algn="ctr"/>
          </a:p>
        </p:txBody>
      </p:sp>
      <p:sp>
        <p:nvSpPr>
          <p:cNvPr id="17" name="Oval 16"/>
          <p:cNvSpPr/>
          <p:nvPr/>
        </p:nvSpPr>
        <p:spPr>
          <a:xfrm>
            <a:off x="9706835" y="281065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9737706" y="493344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TextBox 18"/>
          <p:cNvSpPr txBox="1"/>
          <p:nvPr/>
        </p:nvSpPr>
        <p:spPr>
          <a:xfrm>
            <a:off x="6766559" y="5430853"/>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6.1 - Lim, The Handbook of Technical Analysis (Wiley, 2016)</a:t>
            </a:r>
          </a:p>
        </p:txBody>
      </p:sp>
      <p:sp>
        <p:nvSpPr>
          <p:cNvPr id="20" name="TextBox 1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pp.173-174 and Figure 6.1. The tenet was a Chapter 2 term, Volume must confirm the trend.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tenet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3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Uptrend, ours: price climbs PHP 40 to 46 as volume grows from 2 to 4 million shares a day, then dips to 44 on 1 million. Confirmed.</a:t>
            </a:r>
          </a:p>
          <a:p>
            <a:pPr algn="l">
              <a:lnSpc>
                <a:spcPct val="118000"/>
              </a:lnSpc>
              <a:spcBef>
                <a:spcPts val="0"/>
              </a:spcBef>
              <a:spcAft>
                <a:spcPts val="1300"/>
              </a:spcAft>
            </a:pPr>
            <a:r>
              <a:rPr sz="2100" b="0" i="0">
                <a:solidFill>
                  <a:srgbClr val="1A1A1A"/>
                </a:solidFill>
                <a:latin typeface="Arial"/>
              </a:rPr>
              <a:t>Downtrend, ours: price falls PHP 50 to 46 as volume grows from 2 to 4 million a day, then bounces to 48 on 1 million. Confirmed.</a:t>
            </a:r>
          </a:p>
          <a:p>
            <a:pPr algn="l">
              <a:lnSpc>
                <a:spcPct val="118000"/>
              </a:lnSpc>
              <a:spcBef>
                <a:spcPts val="0"/>
              </a:spcBef>
              <a:spcAft>
                <a:spcPts val="1300"/>
              </a:spcAft>
            </a:pPr>
            <a:r>
              <a:rPr sz="2100" b="0" i="0">
                <a:solidFill>
                  <a:srgbClr val="1A1A1A"/>
                </a:solidFill>
                <a:latin typeface="Arial"/>
              </a:rPr>
              <a:t>Same pattern, big with the trend and small against it, but two names. Uptrend: price and volume move the same way, bullish. Downtrend: opposite ways, bearish.</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Bearish here is not a warning. It is volume backing a fall.</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Why opposite ways is called bearish: the term Bullish volume and bearish volume, and the slide after it.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pp.173-174 states the tenet and its two names. The prices and share counts are 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4 of 29</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How much was traded in one period: the bar under each price bar. Used since Chapter 1, first defined here.</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Five trades in one day: 0.1, 0.6, 0.3, 1.2 and 0.2 million shares. That day's volume is 2.4 million shares.</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Volume is an indication of market participation. It is the total number of shares or contracts traded over a specific time interval.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b.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B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p.174 gives the definition. The trades and the share counts in the example and on the chart are 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principles: rising and declining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5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1  Rising volume: more want price to keep going the trend's way, and will buy higher in an uptrend or sell lower in a downtrend.</a:t>
            </a:r>
          </a:p>
          <a:p>
            <a:pPr algn="l">
              <a:lnSpc>
                <a:spcPct val="105000"/>
              </a:lnSpc>
              <a:spcBef>
                <a:spcPts val="0"/>
              </a:spcBef>
              <a:spcAft>
                <a:spcPts val="1100"/>
              </a:spcAft>
            </a:pPr>
            <a:r>
              <a:rPr sz="1800" b="0" i="0">
                <a:solidFill>
                  <a:srgbClr val="1A1A1A"/>
                </a:solidFill>
                <a:latin typeface="Arial"/>
              </a:rPr>
              <a:t>2  Declining volume: losing interest. They would rather buy lower in an uptrend, sell higher in a downtrend, or leave.</a:t>
            </a:r>
          </a:p>
          <a:p>
            <a:pPr algn="l">
              <a:lnSpc>
                <a:spcPct val="105000"/>
              </a:lnSpc>
              <a:spcBef>
                <a:spcPts val="0"/>
              </a:spcBef>
              <a:spcAft>
                <a:spcPts val="1100"/>
              </a:spcAft>
            </a:pPr>
            <a:r>
              <a:rPr sz="1800" b="0" i="0">
                <a:solidFill>
                  <a:srgbClr val="1A1A1A"/>
                </a:solidFill>
                <a:latin typeface="Arial"/>
              </a:rPr>
              <a:t>Chart C: rally 1, PHP 40 to 47, on volume rising 1.1 to 2.9 million. Rally 2, 44.5 to 51, on volume falling 2.4 to 0.9 million.</a:t>
            </a:r>
          </a:p>
        </p:txBody>
      </p:sp>
      <p:sp>
        <p:nvSpPr>
          <p:cNvPr id="8" name="Rectangle 7"/>
          <p:cNvSpPr/>
          <p:nvPr/>
        </p:nvSpPr>
        <p:spPr>
          <a:xfrm>
            <a:off x="777240" y="5253228"/>
            <a:ext cx="82296" cy="4358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89804"/>
            <a:ext cx="4828032" cy="43586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Volume measures participation.</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c.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C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p.174: its two basic principles, in plainer words. The chart is ours, on invented prices; the numbers are read off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Bullish volume and bearish 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6 of 29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Compare price's direction with volume's. Same way: bullish volume. Opposite: bearish volume.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price PHP 50 to 46 as volume grows 2 to 4 million: opposite, bearish. Price 50 to 46 as volume shrinks 4 to 2 million: same way, bullish.</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Both rising and declining volume are regarded as bullish volume if volume and price rise and decline together, and as bearish volume if they move in opposite directions.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d.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D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pp.174-175 states it for an uptrend, then a downtrend. Joined into one line here: our summary of its four sentences. The numbers are ours.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falling price on rising volume is bearish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7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Volume counts shares that changed hands. Every share traded has a buyer and a seller, so volume alone never says buyers outnumber sellers.</a:t>
            </a:r>
          </a:p>
          <a:p>
            <a:pPr algn="l">
              <a:lnSpc>
                <a:spcPct val="118000"/>
              </a:lnSpc>
              <a:spcBef>
                <a:spcPts val="0"/>
              </a:spcBef>
              <a:spcAft>
                <a:spcPts val="1300"/>
              </a:spcAft>
            </a:pPr>
            <a:r>
              <a:rPr sz="2100" b="0" i="0">
                <a:solidFill>
                  <a:srgbClr val="1A1A1A"/>
                </a:solidFill>
                <a:latin typeface="Arial"/>
              </a:rPr>
              <a:t>Principle 1: rising volume is more people taking part in the move. PHP 50 to 46 on 2 to 4 million: more sell lower. The fall has backing: bearish.</a:t>
            </a:r>
          </a:p>
          <a:p>
            <a:pPr algn="l">
              <a:lnSpc>
                <a:spcPct val="118000"/>
              </a:lnSpc>
              <a:spcBef>
                <a:spcPts val="0"/>
              </a:spcBef>
              <a:spcAft>
                <a:spcPts val="1300"/>
              </a:spcAft>
            </a:pPr>
            <a:r>
              <a:rPr sz="2100" b="0" i="0">
                <a:solidFill>
                  <a:srgbClr val="1A1A1A"/>
                </a:solidFill>
                <a:latin typeface="Arial"/>
              </a:rPr>
              <a:t>Principle 2, the other way: price 50 to 46 on 4 to 2 million shares: fewer willing to sell lower. The fall is losing its backing, so bullish.</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Rising volume is not demand. It is more trading in the direction price is already going.</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p.174: the definition and the two principles. Ours: the buyer and seller point, which follows from the definition, and the numbers.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Rising volume is not always bullish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8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book: declining volume does not imply bearishness, nor rising volume bullishness. PHP 50 to 46 on 2 to 4 million: rising, yet bearish.</a:t>
            </a:r>
          </a:p>
          <a:p>
            <a:pPr algn="l">
              <a:lnSpc>
                <a:spcPct val="105000"/>
              </a:lnSpc>
              <a:spcBef>
                <a:spcPts val="0"/>
              </a:spcBef>
              <a:spcAft>
                <a:spcPts val="1100"/>
              </a:spcAft>
            </a:pPr>
            <a:r>
              <a:rPr sz="1800" b="0" i="0">
                <a:solidFill>
                  <a:srgbClr val="1A1A1A"/>
                </a:solidFill>
                <a:latin typeface="Arial"/>
              </a:rPr>
              <a:t>Figure 6.2, gold: </a:t>
            </a:r>
            <a:r>
              <a:rPr sz="1800" b="1" i="0">
                <a:solidFill>
                  <a:srgbClr val="E09B00"/>
                </a:solidFill>
                <a:latin typeface="Arial"/>
              </a:rPr>
              <a:t>(1)</a:t>
            </a:r>
            <a:r>
              <a:rPr sz="1800" b="0" i="0">
                <a:solidFill>
                  <a:srgbClr val="1A1A1A"/>
                </a:solidFill>
                <a:latin typeface="Arial"/>
              </a:rPr>
              <a:t> about 260 in 2001 to 1,900 in 2011 as volume expands </a:t>
            </a:r>
            <a:r>
              <a:rPr sz="1800" b="1" i="0">
                <a:solidFill>
                  <a:srgbClr val="C62828"/>
                </a:solidFill>
                <a:latin typeface="Arial"/>
              </a:rPr>
              <a:t>(2)</a:t>
            </a:r>
            <a:r>
              <a:rPr sz="1800" b="0" i="0">
                <a:solidFill>
                  <a:srgbClr val="1A1A1A"/>
                </a:solidFill>
                <a:latin typeface="Arial"/>
              </a:rPr>
              <a:t>: bullish. </a:t>
            </a:r>
            <a:r>
              <a:rPr sz="1800" b="1" i="0">
                <a:solidFill>
                  <a:srgbClr val="1F5FAD"/>
                </a:solidFill>
                <a:latin typeface="Arial"/>
              </a:rPr>
              <a:t>(3)</a:t>
            </a:r>
            <a:r>
              <a:rPr sz="1800" b="0" i="0">
                <a:solidFill>
                  <a:srgbClr val="1A1A1A"/>
                </a:solidFill>
                <a:latin typeface="Arial"/>
              </a:rPr>
              <a:t> Then to about 1,200 in 2013 as volume declines: bullish too.</a:t>
            </a:r>
          </a:p>
        </p:txBody>
      </p:sp>
      <p:sp>
        <p:nvSpPr>
          <p:cNvPr id="8" name="Rectangle 7"/>
          <p:cNvSpPr/>
          <p:nvPr/>
        </p:nvSpPr>
        <p:spPr>
          <a:xfrm>
            <a:off x="777240" y="4512564"/>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49140"/>
            <a:ext cx="519379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Read price's direction first, then volume's.</a:t>
            </a:r>
          </a:p>
        </p:txBody>
      </p:sp>
      <p:sp>
        <p:nvSpPr>
          <p:cNvPr id="10" name="TextBox 9"/>
          <p:cNvSpPr txBox="1"/>
          <p:nvPr/>
        </p:nvSpPr>
        <p:spPr>
          <a:xfrm>
            <a:off x="777240" y="5439156"/>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calls reading volume alone, falling means bad, a simple mistake many novices make.</a:t>
            </a:r>
          </a:p>
        </p:txBody>
      </p:sp>
      <p:sp>
        <p:nvSpPr>
          <p:cNvPr id="11" name="Rectangle 10"/>
          <p:cNvSpPr/>
          <p:nvPr/>
        </p:nvSpPr>
        <p:spPr>
          <a:xfrm>
            <a:off x="6583679" y="1810512"/>
            <a:ext cx="4830775" cy="3029860"/>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2792116"/>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976871" y="2203703"/>
            <a:ext cx="4044391" cy="233491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a:t>
            </a:r>
          </a:p>
          <a:p>
            <a:pPr algn="l">
              <a:lnSpc>
                <a:spcPct val="115000"/>
              </a:lnSpc>
              <a:spcBef>
                <a:spcPts val="0"/>
              </a:spcBef>
              <a:spcAft>
                <a:spcPts val="0"/>
              </a:spcAft>
            </a:pPr>
            <a:r>
              <a:rPr sz="1500" b="0" i="0">
                <a:solidFill>
                  <a:srgbClr val="1A1A1A"/>
                </a:solidFill>
                <a:latin typeface="Palatino"/>
              </a:rPr>
              <a:t>The continuous daily chart of gold from 1989 to 2013: a primary bull trend from 2001, its volume expanding in the direction of the trend, and volume declining in the retracement at the end, labelled bullish.</a:t>
            </a:r>
          </a:p>
        </p:txBody>
      </p:sp>
      <p:cxnSp>
        <p:nvCxnSpPr>
          <p:cNvPr id="15" name="Connector 14"/>
          <p:cNvCxnSpPr/>
          <p:nvPr/>
        </p:nvCxnSpPr>
        <p:spPr>
          <a:xfrm flipV="1">
            <a:off x="9256277" y="2387291"/>
            <a:ext cx="1557037" cy="1552416"/>
          </a:xfrm>
          <a:prstGeom prst="line">
            <a:avLst/>
          </a:prstGeom>
          <a:ln w="44450">
            <a:solidFill>
              <a:srgbClr val="E09B00"/>
            </a:solidFill>
            <a:tailEnd type="triangle" w="med" len="med"/>
          </a:ln>
        </p:spPr>
      </p:cxnSp>
      <p:sp>
        <p:nvSpPr>
          <p:cNvPr id="16" name="Rectangle 15"/>
          <p:cNvSpPr/>
          <p:nvPr/>
        </p:nvSpPr>
        <p:spPr>
          <a:xfrm>
            <a:off x="9233312" y="4070937"/>
            <a:ext cx="1524886" cy="494204"/>
          </a:xfrm>
          <a:prstGeom prst="rect">
            <a:avLst/>
          </a:prstGeom>
          <a:noFill/>
          <a:ln w="44450">
            <a:solidFill>
              <a:srgbClr val="C62828"/>
            </a:solidFill>
          </a:ln>
        </p:spPr>
        <p:txBody>
          <a:bodyPr rtlCol="0" anchor="ctr"/>
          <a:lstStyle/>
          <a:p>
            <a:pPr algn="ctr"/>
          </a:p>
        </p:txBody>
      </p:sp>
      <p:sp>
        <p:nvSpPr>
          <p:cNvPr id="17" name="Oval 16"/>
          <p:cNvSpPr/>
          <p:nvPr/>
        </p:nvSpPr>
        <p:spPr>
          <a:xfrm>
            <a:off x="10588256" y="2074574"/>
            <a:ext cx="486861" cy="603097"/>
          </a:xfrm>
          <a:prstGeom prst="ellipse">
            <a:avLst/>
          </a:prstGeom>
          <a:noFill/>
          <a:ln w="44450">
            <a:solidFill>
              <a:srgbClr val="1F5FAD"/>
            </a:solidFill>
          </a:ln>
        </p:spPr>
        <p:txBody>
          <a:bodyPr rtlCol="0" anchor="ctr"/>
          <a:lstStyle/>
          <a:p>
            <a:pPr algn="ctr"/>
          </a:p>
        </p:txBody>
      </p:sp>
      <p:sp>
        <p:nvSpPr>
          <p:cNvPr id="18" name="Oval 17"/>
          <p:cNvSpPr/>
          <p:nvPr/>
        </p:nvSpPr>
        <p:spPr>
          <a:xfrm>
            <a:off x="9100829" y="378425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602750" y="391548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10432808" y="1919126"/>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6583679" y="493181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6.2 -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and Figure 6.2, its prices read off the figure. The peso example is 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that does not confirm the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9 of 29</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Confirming volume is big with the trend, small against it. Not confirming is the reverse.</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Uptrend, ours: PHP 40 to 46 as volume shrinks 4 to 2 million, dip to 44 as it grows to 3. Opposite ways: bearish volume, a potentially weak uptrend.</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Downtrend, ours: PHP 50 to 46 as volume shrinks 4 to 2 million, bounce to 48 as it grows to 3. Same way: bullish volume, a potentially bullish downtrend.</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537667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warning, not a reversal.</a:t>
            </a:r>
          </a:p>
        </p:txBody>
      </p:sp>
      <p:sp>
        <p:nvSpPr>
          <p:cNvPr id="10" name="Rectangle 9"/>
          <p:cNvSpPr/>
          <p:nvPr/>
        </p:nvSpPr>
        <p:spPr>
          <a:xfrm>
            <a:off x="6766559" y="1810512"/>
            <a:ext cx="4647894" cy="3519106"/>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885431" y="1929384"/>
            <a:ext cx="4410151" cy="3281362"/>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85431" y="1929384"/>
            <a:ext cx="441015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59751" y="2203703"/>
            <a:ext cx="3861511" cy="282416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a:t>
            </a:r>
          </a:p>
          <a:p>
            <a:pPr algn="l">
              <a:lnSpc>
                <a:spcPct val="115000"/>
              </a:lnSpc>
              <a:spcBef>
                <a:spcPts val="0"/>
              </a:spcBef>
              <a:spcAft>
                <a:spcPts val="0"/>
              </a:spcAft>
            </a:pPr>
            <a:r>
              <a:rPr sz="1500" b="0" i="0">
                <a:solidFill>
                  <a:srgbClr val="1A1A1A"/>
                </a:solidFill>
                <a:latin typeface="Palatino"/>
              </a:rPr>
              <a:t>Two sketches of volume not confirming a trend. Top: a rising price whose volume shrinks on the rise and grows in the retracement, labelled bearish volume action in an uptrend. Bottom: a falling price whose volume shrinks on the fall and grows in the upside retracement, labelled bullish volume action in a downtrend.</a:t>
            </a:r>
          </a:p>
        </p:txBody>
      </p:sp>
      <p:sp>
        <p:nvSpPr>
          <p:cNvPr id="14" name="Rectangle 13"/>
          <p:cNvSpPr/>
          <p:nvPr/>
        </p:nvSpPr>
        <p:spPr>
          <a:xfrm>
            <a:off x="7718950" y="2529873"/>
            <a:ext cx="2050720" cy="475797"/>
          </a:xfrm>
          <a:prstGeom prst="rect">
            <a:avLst/>
          </a:prstGeom>
          <a:noFill/>
          <a:ln w="44450">
            <a:solidFill>
              <a:srgbClr val="E09B00"/>
            </a:solidFill>
          </a:ln>
        </p:spPr>
        <p:txBody>
          <a:bodyPr rtlCol="0" anchor="ctr"/>
          <a:lstStyle/>
          <a:p>
            <a:pPr algn="ctr"/>
          </a:p>
        </p:txBody>
      </p:sp>
      <p:sp>
        <p:nvSpPr>
          <p:cNvPr id="15" name="Rectangle 14"/>
          <p:cNvSpPr/>
          <p:nvPr/>
        </p:nvSpPr>
        <p:spPr>
          <a:xfrm>
            <a:off x="7718950" y="4734948"/>
            <a:ext cx="2284458" cy="456109"/>
          </a:xfrm>
          <a:prstGeom prst="rect">
            <a:avLst/>
          </a:prstGeom>
          <a:noFill/>
          <a:ln w="44450">
            <a:solidFill>
              <a:srgbClr val="C62828"/>
            </a:solidFill>
          </a:ln>
        </p:spPr>
        <p:txBody>
          <a:bodyPr rtlCol="0" anchor="ctr"/>
          <a:lstStyle/>
          <a:p>
            <a:pPr algn="ctr"/>
          </a:p>
        </p:txBody>
      </p:sp>
      <p:sp>
        <p:nvSpPr>
          <p:cNvPr id="16" name="Oval 15"/>
          <p:cNvSpPr/>
          <p:nvPr/>
        </p:nvSpPr>
        <p:spPr>
          <a:xfrm>
            <a:off x="7563502" y="237442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9847960" y="492404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766559" y="5421058"/>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and Figure 6.3. The prices and share counts are ours: the tenet's numbers with the volume swapped.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questions, asked in order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10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Bullish or bearish volume? Price and volume only, no trend: same direction bullish, opposite bearish.</a:t>
            </a:r>
          </a:p>
          <a:p>
            <a:pPr algn="l">
              <a:lnSpc>
                <a:spcPct val="118000"/>
              </a:lnSpc>
              <a:spcBef>
                <a:spcPts val="0"/>
              </a:spcBef>
              <a:spcAft>
                <a:spcPts val="1300"/>
              </a:spcAft>
            </a:pPr>
            <a:r>
              <a:rPr sz="2100" b="0" i="0">
                <a:solidFill>
                  <a:srgbClr val="1A1A1A"/>
                </a:solidFill>
                <a:latin typeface="Arial"/>
              </a:rPr>
              <a:t>2  Does it confirm the trend? In an uptrend bullish volume confirms; in a downtrend bearish volume confirms. The other kind does not.</a:t>
            </a:r>
          </a:p>
          <a:p>
            <a:pPr algn="l">
              <a:lnSpc>
                <a:spcPct val="118000"/>
              </a:lnSpc>
              <a:spcBef>
                <a:spcPts val="0"/>
              </a:spcBef>
              <a:spcAft>
                <a:spcPts val="1300"/>
              </a:spcAft>
            </a:pPr>
            <a:r>
              <a:rPr sz="2100" b="0" i="0">
                <a:solidFill>
                  <a:srgbClr val="1A1A1A"/>
                </a:solidFill>
                <a:latin typeface="Arial"/>
              </a:rPr>
              <a:t>Downtrend, PHP 50 to 46, volume 2 to 4 million: bearish, so it confirms.</a:t>
            </a:r>
          </a:p>
          <a:p>
            <a:pPr algn="l">
              <a:lnSpc>
                <a:spcPct val="118000"/>
              </a:lnSpc>
              <a:spcBef>
                <a:spcPts val="0"/>
              </a:spcBef>
              <a:spcAft>
                <a:spcPts val="1300"/>
              </a:spcAft>
            </a:pPr>
            <a:r>
              <a:rPr sz="2100" b="0" i="0">
                <a:solidFill>
                  <a:srgbClr val="1A1A1A"/>
                </a:solidFill>
                <a:latin typeface="Arial"/>
              </a:rPr>
              <a:t>Uptrend dip, PHP 46 to 44, volume 1 to 3 million: bearish, so it does not.</a:t>
            </a:r>
          </a:p>
        </p:txBody>
      </p:sp>
      <p:sp>
        <p:nvSpPr>
          <p:cNvPr id="8" name="Rectangle 7"/>
          <p:cNvSpPr/>
          <p:nvPr/>
        </p:nvSpPr>
        <p:spPr>
          <a:xfrm>
            <a:off x="777240" y="489661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3318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Bearish is not the same as not confirming.</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 summary of the book's pp.174-175, which states both for each trend. The prices and share counts are ours.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divergence and volume confirmation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11 of 29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Leave price out. Volume falling: divergence. Volume rising: confirmation, or convergence.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price PHP 40 to 46 as volume shrinks 3 to 1 million: divergence. Volume 3 to 5 million instead: confirmation.</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Volume divergence occurs whenever volume declines, irrespective of the direction of price. Volume convergence or confirmation occurs whenever volume rises, irrespective of the direction of price.</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e.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E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defines both. The prices and share counts are ours; the chart is ours, sketches, not prices.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Not bullish and bearish renamed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12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Bullish or bearish asks about price and volume together. Divergence or confirmation asks about volume alone. Two questions, two answers.</a:t>
            </a:r>
          </a:p>
          <a:p>
            <a:pPr algn="l">
              <a:lnSpc>
                <a:spcPct val="118000"/>
              </a:lnSpc>
              <a:spcBef>
                <a:spcPts val="0"/>
              </a:spcBef>
              <a:spcAft>
                <a:spcPts val="1300"/>
              </a:spcAft>
            </a:pPr>
            <a:r>
              <a:rPr sz="2100" b="0" i="0">
                <a:solidFill>
                  <a:srgbClr val="1A1A1A"/>
                </a:solidFill>
                <a:latin typeface="Arial"/>
              </a:rPr>
              <a:t>Ours: price PHP 40 to 46 on volume 2 to 4 million. Same way: bullish. Volume up: confirmation. Here the two answers line up.</a:t>
            </a:r>
          </a:p>
          <a:p>
            <a:pPr algn="l">
              <a:lnSpc>
                <a:spcPct val="118000"/>
              </a:lnSpc>
              <a:spcBef>
                <a:spcPts val="0"/>
              </a:spcBef>
              <a:spcAft>
                <a:spcPts val="1300"/>
              </a:spcAft>
            </a:pPr>
            <a:r>
              <a:rPr sz="2100" b="0" i="0">
                <a:solidFill>
                  <a:srgbClr val="1A1A1A"/>
                </a:solidFill>
                <a:latin typeface="Arial"/>
              </a:rPr>
              <a:t>Price PHP 50 to 46 on volume 2 to 4 million. Opposite ways: bearish. Volume up: still confirmation. Here they do not.</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Bullish or bearish needs price. Divergence or confirmation needs only volume.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p.175 defines both pairs. The comparison and the numbers are ours.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divergence and confirmation say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13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Divergence, volume falling: on a rise, fewer will buy higher, bearish for an uptrend; on a fall, fewer will sell lower, bullish for a downtrend.</a:t>
            </a:r>
          </a:p>
          <a:p>
            <a:pPr algn="l">
              <a:lnSpc>
                <a:spcPct val="105000"/>
              </a:lnSpc>
              <a:spcBef>
                <a:spcPts val="0"/>
              </a:spcBef>
              <a:spcAft>
                <a:spcPts val="1100"/>
              </a:spcAft>
            </a:pPr>
            <a:r>
              <a:rPr sz="1700" b="0" i="0">
                <a:solidFill>
                  <a:srgbClr val="1A1A1A"/>
                </a:solidFill>
                <a:latin typeface="Arial"/>
              </a:rPr>
              <a:t>Confirmation, volume rising: with a rise, bullish for an uptrend; with a fall, bearish for a downtrend.</a:t>
            </a:r>
          </a:p>
          <a:p>
            <a:pPr algn="l">
              <a:lnSpc>
                <a:spcPct val="105000"/>
              </a:lnSpc>
              <a:spcBef>
                <a:spcPts val="0"/>
              </a:spcBef>
              <a:spcAft>
                <a:spcPts val="1100"/>
              </a:spcAft>
            </a:pPr>
            <a:r>
              <a:rPr sz="1700" b="0" i="0">
                <a:solidFill>
                  <a:srgbClr val="1A1A1A"/>
                </a:solidFill>
                <a:latin typeface="Arial"/>
              </a:rPr>
              <a:t>Chart F: left, PHP 40 to 55, volume 0.9 to 3.4 million: it continues. Right, 40 to 51, volume 2.9 to 0.8: it turns.</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519379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Both are early warnings, not certainties.</a:t>
            </a:r>
          </a:p>
        </p:txBody>
      </p:sp>
      <p:sp>
        <p:nvSpPr>
          <p:cNvPr id="10" name="Rectangle 9"/>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f.png"/>
          <p:cNvPicPr>
            <a:picLocks noChangeAspect="1"/>
          </p:cNvPicPr>
          <p:nvPr/>
        </p:nvPicPr>
        <p:blipFill>
          <a:blip r:embed="rId2"/>
          <a:stretch>
            <a:fillRect/>
          </a:stretch>
        </p:blipFill>
        <p:spPr>
          <a:xfrm>
            <a:off x="6703923" y="1929384"/>
            <a:ext cx="4590288" cy="3511296"/>
          </a:xfrm>
          <a:prstGeom prst="rect">
            <a:avLst/>
          </a:prstGeom>
        </p:spPr>
      </p:pic>
      <p:sp>
        <p:nvSpPr>
          <p:cNvPr id="12" name="TextBox 11"/>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pp.175-176. The chart is ours, on invented prices; the numbers are read off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Confirms the trend, or volume confirmation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14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Volume confirms the trend (Chapter 2, p.174): over the whole trend, big with it and small against it. It judges the pattern.</a:t>
            </a:r>
          </a:p>
          <a:p>
            <a:pPr algn="l">
              <a:lnSpc>
                <a:spcPct val="118000"/>
              </a:lnSpc>
              <a:spcBef>
                <a:spcPts val="0"/>
              </a:spcBef>
              <a:spcAft>
                <a:spcPts val="1300"/>
              </a:spcAft>
            </a:pPr>
            <a:r>
              <a:rPr sz="2100" b="0" i="0">
                <a:solidFill>
                  <a:srgbClr val="1A1A1A"/>
                </a:solidFill>
                <a:latin typeface="Arial"/>
              </a:rPr>
              <a:t>Volume confirmation (p.175): on one stretch, volume rising. It judges one leg at a time.</a:t>
            </a:r>
          </a:p>
          <a:p>
            <a:pPr algn="l">
              <a:lnSpc>
                <a:spcPct val="118000"/>
              </a:lnSpc>
              <a:spcBef>
                <a:spcPts val="0"/>
              </a:spcBef>
              <a:spcAft>
                <a:spcPts val="1300"/>
              </a:spcAft>
            </a:pPr>
            <a:r>
              <a:rPr sz="2100" b="0" i="0">
                <a:solidFill>
                  <a:srgbClr val="1A1A1A"/>
                </a:solidFill>
                <a:latin typeface="Arial"/>
              </a:rPr>
              <a:t>Ours: PHP 40 to 46 on 2 to 4 million, a dip to 44 on 1 million. The trend is confirmed. The dip alone, volume falling with price, is bullish divergence.</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dip can be a bullish divergence inside a confirmed uptrend.</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next slide finds both on the book's own chart.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p.174 (the tenet) and p.175 (volume confirmation). The prices and share counts are the tenet's, ours.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Both on one chart: Figure 6.6</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15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Over the whole rise, volume expands: the trend is confirmed.</a:t>
            </a:r>
          </a:p>
          <a:p>
            <a:pPr algn="l">
              <a:lnSpc>
                <a:spcPct val="105000"/>
              </a:lnSpc>
              <a:spcBef>
                <a:spcPts val="0"/>
              </a:spcBef>
              <a:spcAft>
                <a:spcPts val="1100"/>
              </a:spcAft>
            </a:pPr>
            <a:r>
              <a:rPr sz="2000" b="1" i="0">
                <a:solidFill>
                  <a:srgbClr val="C62828"/>
                </a:solidFill>
                <a:latin typeface="Arial"/>
              </a:rPr>
              <a:t>(2)</a:t>
            </a:r>
            <a:r>
              <a:rPr sz="2000" b="0" i="0">
                <a:solidFill>
                  <a:srgbClr val="1A1A1A"/>
                </a:solidFill>
                <a:latin typeface="Arial"/>
              </a:rPr>
              <a:t> and </a:t>
            </a:r>
            <a:r>
              <a:rPr sz="2000" b="1" i="0">
                <a:solidFill>
                  <a:srgbClr val="1F5FAD"/>
                </a:solidFill>
                <a:latin typeface="Arial"/>
              </a:rPr>
              <a:t>(3)</a:t>
            </a:r>
            <a:r>
              <a:rPr sz="2000" b="0" i="0">
                <a:solidFill>
                  <a:srgbClr val="1A1A1A"/>
                </a:solidFill>
                <a:latin typeface="Arial"/>
              </a:rPr>
              <a:t> The dips of periods 4 and 6, on falling volume: the book labels each bullish divergence.</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51937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A confirmed uptrend with two bullish divergences inside it.</a:t>
            </a:r>
          </a:p>
        </p:txBody>
      </p:sp>
      <p:sp>
        <p:nvSpPr>
          <p:cNvPr id="10" name="Rectangle 9"/>
          <p:cNvSpPr/>
          <p:nvPr/>
        </p:nvSpPr>
        <p:spPr>
          <a:xfrm>
            <a:off x="6583679" y="1810512"/>
            <a:ext cx="4830775" cy="352788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329013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83293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6.6</a:t>
            </a:r>
          </a:p>
          <a:p>
            <a:pPr algn="l">
              <a:lnSpc>
                <a:spcPct val="115000"/>
              </a:lnSpc>
              <a:spcBef>
                <a:spcPts val="0"/>
              </a:spcBef>
              <a:spcAft>
                <a:spcPts val="0"/>
              </a:spcAft>
            </a:pPr>
            <a:r>
              <a:rPr sz="1500" b="0" i="0">
                <a:solidFill>
                  <a:srgbClr val="1A1A1A"/>
                </a:solidFill>
                <a:latin typeface="Palatino"/>
              </a:rPr>
              <a:t>The SPDR Gold Trust over about four years, split by dashed lines into ten numbered periods. Volume expands across the whole uptrend, and periods 4 and 6 are dips on falling volume, labelled bullish divergence by the book.</a:t>
            </a:r>
          </a:p>
        </p:txBody>
      </p:sp>
      <p:cxnSp>
        <p:nvCxnSpPr>
          <p:cNvPr id="14" name="Connector 13"/>
          <p:cNvCxnSpPr/>
          <p:nvPr/>
        </p:nvCxnSpPr>
        <p:spPr>
          <a:xfrm flipV="1">
            <a:off x="7304239" y="4216029"/>
            <a:ext cx="3444773" cy="858725"/>
          </a:xfrm>
          <a:prstGeom prst="line">
            <a:avLst/>
          </a:prstGeom>
          <a:ln w="44450">
            <a:solidFill>
              <a:srgbClr val="E09B00"/>
            </a:solidFill>
            <a:tailEnd type="triangle" w="med" len="med"/>
          </a:ln>
        </p:spPr>
      </p:cxnSp>
      <p:sp>
        <p:nvSpPr>
          <p:cNvPr id="15" name="Oval 14"/>
          <p:cNvSpPr/>
          <p:nvPr/>
        </p:nvSpPr>
        <p:spPr>
          <a:xfrm>
            <a:off x="9100114" y="2399873"/>
            <a:ext cx="349070" cy="401396"/>
          </a:xfrm>
          <a:prstGeom prst="ellipse">
            <a:avLst/>
          </a:prstGeom>
          <a:noFill/>
          <a:ln w="44450">
            <a:solidFill>
              <a:srgbClr val="C62828"/>
            </a:solidFill>
          </a:ln>
        </p:spPr>
        <p:txBody>
          <a:bodyPr rtlCol="0" anchor="ctr"/>
          <a:lstStyle/>
          <a:p>
            <a:pPr algn="ctr"/>
          </a:p>
        </p:txBody>
      </p:sp>
      <p:sp>
        <p:nvSpPr>
          <p:cNvPr id="16" name="Oval 15"/>
          <p:cNvSpPr/>
          <p:nvPr/>
        </p:nvSpPr>
        <p:spPr>
          <a:xfrm>
            <a:off x="9504300" y="2570960"/>
            <a:ext cx="307733" cy="552742"/>
          </a:xfrm>
          <a:prstGeom prst="ellipse">
            <a:avLst/>
          </a:prstGeom>
          <a:noFill/>
          <a:ln w="44450">
            <a:solidFill>
              <a:srgbClr val="1F5FAD"/>
            </a:solidFill>
          </a:ln>
        </p:spPr>
        <p:txBody>
          <a:bodyPr rtlCol="0" anchor="ctr"/>
          <a:lstStyle/>
          <a:p>
            <a:pPr algn="ctr"/>
          </a:p>
        </p:txBody>
      </p:sp>
      <p:sp>
        <p:nvSpPr>
          <p:cNvPr id="17" name="Oval 16"/>
          <p:cNvSpPr/>
          <p:nvPr/>
        </p:nvSpPr>
        <p:spPr>
          <a:xfrm>
            <a:off x="7148791" y="4919306"/>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8944666" y="224442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348852" y="241551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583679" y="542983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6.6 -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p.178 and Figure 6.6: the book labels the whole trend bullish volume and two of its dips bullish divergence.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Bullish and bearish divergence and confirmation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16 of 29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One name from two answers: bullish or bearish, then divergence or confirmation.</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PHP 50 to 46, volume 2 to 4 million: opposite, bearish; volume up, confirmation. Figure 6.4's third column </a:t>
            </a:r>
            <a:r>
              <a:rPr sz="1700" b="1" i="0">
                <a:solidFill>
                  <a:srgbClr val="E09B00"/>
                </a:solidFill>
                <a:latin typeface="Arial"/>
              </a:rPr>
              <a:t>(1)</a:t>
            </a:r>
            <a:r>
              <a:rPr sz="1700" b="0" i="0">
                <a:solidFill>
                  <a:srgbClr val="1A1A1A"/>
                </a:solidFill>
                <a:latin typeface="Arial"/>
              </a:rPr>
              <a:t>: price top, volume below.</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Volume and price declining together: bullish divergence. Rising together: bullish confirmation. Volume declining, price rising: bearish divergence. Volume rising, price declining: bearish confirmation.</a:t>
            </a:r>
          </a:p>
        </p:txBody>
      </p:sp>
      <p:sp>
        <p:nvSpPr>
          <p:cNvPr id="14" name="Rectangle 13"/>
          <p:cNvSpPr/>
          <p:nvPr/>
        </p:nvSpPr>
        <p:spPr>
          <a:xfrm>
            <a:off x="7132319" y="2157984"/>
            <a:ext cx="4282135" cy="2833630"/>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251191" y="2276856"/>
            <a:ext cx="4044391" cy="2595886"/>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7251191" y="2276856"/>
            <a:ext cx="404439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7525511" y="2551175"/>
            <a:ext cx="3495751" cy="213868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a:t>
            </a:r>
          </a:p>
          <a:p>
            <a:pPr algn="l">
              <a:lnSpc>
                <a:spcPct val="115000"/>
              </a:lnSpc>
              <a:spcBef>
                <a:spcPts val="0"/>
              </a:spcBef>
              <a:spcAft>
                <a:spcPts val="0"/>
              </a:spcAft>
            </a:pPr>
            <a:r>
              <a:rPr sz="1100" b="0" i="0">
                <a:solidFill>
                  <a:srgbClr val="1A1A1A"/>
                </a:solidFill>
                <a:latin typeface="Palatino"/>
              </a:rPr>
              <a:t>Four columns, each a price path over a supporting series. Bearish divergence: price rising, the supporting series falling. Bullish confirmation: both rising. Bearish confirmation: price falling, the supporting series rising. Bullish divergence: both falling. The supporting series is listed as volume bars, a volume moving average, open interest, and the ATR in brackets.</a:t>
            </a:r>
          </a:p>
        </p:txBody>
      </p:sp>
      <p:sp>
        <p:nvSpPr>
          <p:cNvPr id="18" name="Rectangle 17"/>
          <p:cNvSpPr/>
          <p:nvPr/>
        </p:nvSpPr>
        <p:spPr>
          <a:xfrm>
            <a:off x="9657604" y="2295027"/>
            <a:ext cx="841233" cy="2206503"/>
          </a:xfrm>
          <a:prstGeom prst="rect">
            <a:avLst/>
          </a:prstGeom>
          <a:noFill/>
          <a:ln w="44450">
            <a:solidFill>
              <a:srgbClr val="E09B00"/>
            </a:solidFill>
          </a:ln>
        </p:spPr>
        <p:txBody>
          <a:bodyPr rtlCol="0" anchor="ctr"/>
          <a:lstStyle/>
          <a:p>
            <a:pPr algn="ctr"/>
          </a:p>
        </p:txBody>
      </p:sp>
      <p:sp>
        <p:nvSpPr>
          <p:cNvPr id="19" name="Oval 18"/>
          <p:cNvSpPr/>
          <p:nvPr/>
        </p:nvSpPr>
        <p:spPr>
          <a:xfrm>
            <a:off x="9502156" y="213957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TextBox 19"/>
          <p:cNvSpPr txBox="1"/>
          <p:nvPr/>
        </p:nvSpPr>
        <p:spPr>
          <a:xfrm>
            <a:off x="7132319" y="5083054"/>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6.4 -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pp.176-178 and Figure 6.4. The formal row is its p.178 summary. The ATR on the figure is in no sentence of the text. The numbers are ours.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each of the four tells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17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Bullish divergence, PHP 50 to 46 as volume falls 3 to 1 million: fewer will sell lower. A potential upside reversal.</a:t>
            </a:r>
          </a:p>
          <a:p>
            <a:pPr algn="l">
              <a:lnSpc>
                <a:spcPct val="118000"/>
              </a:lnSpc>
              <a:spcBef>
                <a:spcPts val="0"/>
              </a:spcBef>
              <a:spcAft>
                <a:spcPts val="1300"/>
              </a:spcAft>
            </a:pPr>
            <a:r>
              <a:rPr sz="2100" b="0" i="0">
                <a:solidFill>
                  <a:srgbClr val="1A1A1A"/>
                </a:solidFill>
                <a:latin typeface="Arial"/>
              </a:rPr>
              <a:t>Bearish divergence, PHP 46 to 50 as volume falls 3 to 1 million: fewer will buy higher. A potential downside reversal.</a:t>
            </a:r>
          </a:p>
          <a:p>
            <a:pPr algn="l">
              <a:lnSpc>
                <a:spcPct val="118000"/>
              </a:lnSpc>
              <a:spcBef>
                <a:spcPts val="0"/>
              </a:spcBef>
              <a:spcAft>
                <a:spcPts val="1300"/>
              </a:spcAft>
            </a:pPr>
            <a:r>
              <a:rPr sz="2100" b="0" i="0">
                <a:solidFill>
                  <a:srgbClr val="1A1A1A"/>
                </a:solidFill>
                <a:latin typeface="Arial"/>
              </a:rPr>
              <a:t>Bullish or bearish confirmation, volume rising with the move: more are taking part. A potential continuation.</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Divergence warns of a turn. Confirmation, of backing.</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divergence always indicates potential weakness, confirmation potential strength.</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pp.175-177: what each name indicates, from its two principles on p.174.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divergence can occur: the book and its figure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18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book: bullish divergence can only occur in a downtrend, bearish only in an uptrend (p.176).</a:t>
            </a:r>
          </a:p>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Yet on Figure 6.6, price rises from about 42 to about 120, the span on the right: an uptrend.</a:t>
            </a:r>
          </a:p>
          <a:p>
            <a:pPr algn="l">
              <a:lnSpc>
                <a:spcPct val="105000"/>
              </a:lnSpc>
              <a:spcBef>
                <a:spcPts val="0"/>
              </a:spcBef>
              <a:spcAft>
                <a:spcPts val="1100"/>
              </a:spcAft>
            </a:pPr>
            <a:r>
              <a:rPr sz="1800" b="0" i="0">
                <a:solidFill>
                  <a:srgbClr val="1A1A1A"/>
                </a:solidFill>
                <a:latin typeface="Arial"/>
              </a:rPr>
              <a:t>Inside it, the book labels the dips of periods 4 </a:t>
            </a:r>
            <a:r>
              <a:rPr sz="1800" b="1" i="0">
                <a:solidFill>
                  <a:srgbClr val="C62828"/>
                </a:solidFill>
                <a:latin typeface="Arial"/>
              </a:rPr>
              <a:t>(2)</a:t>
            </a:r>
            <a:r>
              <a:rPr sz="1800" b="0" i="0">
                <a:solidFill>
                  <a:srgbClr val="1A1A1A"/>
                </a:solidFill>
                <a:latin typeface="Arial"/>
              </a:rPr>
              <a:t> and 6 </a:t>
            </a:r>
            <a:r>
              <a:rPr sz="1800" b="1" i="0">
                <a:solidFill>
                  <a:srgbClr val="1F5FAD"/>
                </a:solidFill>
                <a:latin typeface="Arial"/>
              </a:rPr>
              <a:t>(3)</a:t>
            </a:r>
            <a:r>
              <a:rPr sz="1800" b="0" i="0">
                <a:solidFill>
                  <a:srgbClr val="1A1A1A"/>
                </a:solidFill>
                <a:latin typeface="Arial"/>
              </a:rPr>
              <a:t>, price and volume falling together, bullish divergence.</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519379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Our reading: the p.178 summary applies to any stretch, so a dip inside an uptrend can be bullish divergence.</a:t>
            </a:r>
          </a:p>
        </p:txBody>
      </p:sp>
      <p:sp>
        <p:nvSpPr>
          <p:cNvPr id="10" name="Rectangle 9"/>
          <p:cNvSpPr/>
          <p:nvPr/>
        </p:nvSpPr>
        <p:spPr>
          <a:xfrm>
            <a:off x="6583679" y="1810512"/>
            <a:ext cx="4830775" cy="352788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329013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83293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6.6</a:t>
            </a:r>
          </a:p>
          <a:p>
            <a:pPr algn="l">
              <a:lnSpc>
                <a:spcPct val="115000"/>
              </a:lnSpc>
              <a:spcBef>
                <a:spcPts val="0"/>
              </a:spcBef>
              <a:spcAft>
                <a:spcPts val="0"/>
              </a:spcAft>
            </a:pPr>
            <a:r>
              <a:rPr sz="1500" b="0" i="0">
                <a:solidFill>
                  <a:srgbClr val="1A1A1A"/>
                </a:solidFill>
                <a:latin typeface="Palatino"/>
              </a:rPr>
              <a:t>The SPDR Gold Trust over about four years, rising from about 42 to about 120, split into ten numbered periods. Periods 4 and 6 are dips on falling volume inside that uptrend, labelled bullish divergence by the book.</a:t>
            </a:r>
          </a:p>
        </p:txBody>
      </p:sp>
      <p:cxnSp>
        <p:nvCxnSpPr>
          <p:cNvPr id="14" name="Connector 13"/>
          <p:cNvCxnSpPr/>
          <p:nvPr/>
        </p:nvCxnSpPr>
        <p:spPr>
          <a:xfrm flipV="1">
            <a:off x="10997035" y="2291299"/>
            <a:ext cx="0" cy="1579265"/>
          </a:xfrm>
          <a:prstGeom prst="line">
            <a:avLst/>
          </a:prstGeom>
          <a:ln w="44450">
            <a:solidFill>
              <a:srgbClr val="E09B00"/>
            </a:solidFill>
            <a:tailEnd type="triangle" w="med" len="med"/>
          </a:ln>
        </p:spPr>
      </p:cxnSp>
      <p:sp>
        <p:nvSpPr>
          <p:cNvPr id="15" name="Oval 14"/>
          <p:cNvSpPr/>
          <p:nvPr/>
        </p:nvSpPr>
        <p:spPr>
          <a:xfrm>
            <a:off x="9100114" y="2399873"/>
            <a:ext cx="349070" cy="401396"/>
          </a:xfrm>
          <a:prstGeom prst="ellipse">
            <a:avLst/>
          </a:prstGeom>
          <a:noFill/>
          <a:ln w="44450">
            <a:solidFill>
              <a:srgbClr val="C62828"/>
            </a:solidFill>
          </a:ln>
        </p:spPr>
        <p:txBody>
          <a:bodyPr rtlCol="0" anchor="ctr"/>
          <a:lstStyle/>
          <a:p>
            <a:pPr algn="ctr"/>
          </a:p>
        </p:txBody>
      </p:sp>
      <p:sp>
        <p:nvSpPr>
          <p:cNvPr id="16" name="Oval 15"/>
          <p:cNvSpPr/>
          <p:nvPr/>
        </p:nvSpPr>
        <p:spPr>
          <a:xfrm>
            <a:off x="9504300" y="2570960"/>
            <a:ext cx="307733" cy="552742"/>
          </a:xfrm>
          <a:prstGeom prst="ellipse">
            <a:avLst/>
          </a:prstGeom>
          <a:noFill/>
          <a:ln w="44450">
            <a:solidFill>
              <a:srgbClr val="1F5FAD"/>
            </a:solidFill>
          </a:ln>
        </p:spPr>
        <p:txBody>
          <a:bodyPr rtlCol="0" anchor="ctr"/>
          <a:lstStyle/>
          <a:p>
            <a:pPr algn="ctr"/>
          </a:p>
        </p:txBody>
      </p:sp>
      <p:sp>
        <p:nvSpPr>
          <p:cNvPr id="17" name="Oval 16"/>
          <p:cNvSpPr/>
          <p:nvPr/>
        </p:nvSpPr>
        <p:spPr>
          <a:xfrm>
            <a:off x="10841587" y="387962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8944666" y="224442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348852" y="241551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583679" y="5429832"/>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6.6 -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pp.176-177 for where each can occur, and Figure 6.6 (p.178). Our reading is said to be ours.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Not the divergence Chapters 4 and 5 drew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19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Chapters 4 and 5, standard divergence: compare two peaks. Ours: price peaks at PHP 58, then higher at 60; an oscillator peaks at 80, then lower at 62.</a:t>
            </a:r>
          </a:p>
          <a:p>
            <a:pPr algn="l">
              <a:lnSpc>
                <a:spcPct val="105000"/>
              </a:lnSpc>
              <a:spcBef>
                <a:spcPts val="0"/>
              </a:spcBef>
              <a:spcAft>
                <a:spcPts val="1100"/>
              </a:spcAft>
            </a:pPr>
            <a:r>
              <a:rPr sz="1700" b="0" i="0">
                <a:solidFill>
                  <a:srgbClr val="1A1A1A"/>
                </a:solidFill>
                <a:latin typeface="Arial"/>
              </a:rPr>
              <a:t>Volume divergence compares no peaks: volume declining, whatever price does. Price's direction still decides bullish or bearish.</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Volume has no reverse divergence (p.176): one kind only, volume falling.</a:t>
            </a:r>
          </a:p>
        </p:txBody>
      </p:sp>
      <p:sp>
        <p:nvSpPr>
          <p:cNvPr id="10" name="TextBox 9"/>
          <p:cNvSpPr txBox="1"/>
          <p:nvPr/>
        </p:nvSpPr>
        <p:spPr>
          <a:xfrm>
            <a:off x="777240" y="529666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5 only named reverse divergence, left to Chapter 9. Chapter 4: bullish divergence in volume is falling price on decreasing volume.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g.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A recall of this course's Chapters 4 and 5, against the book's p.176. The chart is ours, on invented prices; its peaks are read off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Bullish volume divergence: Isis Pharmaceuticals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20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Isis Pharmaceuticals falls from about 12 to about 9 and curves into a rounding bottom, a bullish pattern from Chapter 4.</a:t>
            </a:r>
          </a:p>
          <a:p>
            <a:pPr algn="l">
              <a:lnSpc>
                <a:spcPct val="105000"/>
              </a:lnSpc>
              <a:spcBef>
                <a:spcPts val="0"/>
              </a:spcBef>
              <a:spcAft>
                <a:spcPts val="1100"/>
              </a:spcAft>
            </a:pPr>
            <a:r>
              <a:rPr sz="1700" b="0" i="0">
                <a:solidFill>
                  <a:srgbClr val="1A1A1A"/>
                </a:solidFill>
                <a:latin typeface="Arial"/>
              </a:rPr>
              <a:t>In two stretches, </a:t>
            </a:r>
            <a:r>
              <a:rPr sz="1700" b="1" i="0">
                <a:solidFill>
                  <a:srgbClr val="C62828"/>
                </a:solidFill>
                <a:latin typeface="Arial"/>
              </a:rPr>
              <a:t>(2)</a:t>
            </a:r>
            <a:r>
              <a:rPr sz="1700" b="0" i="0">
                <a:solidFill>
                  <a:srgbClr val="1A1A1A"/>
                </a:solidFill>
                <a:latin typeface="Arial"/>
              </a:rPr>
              <a:t> and </a:t>
            </a:r>
            <a:r>
              <a:rPr sz="1700" b="1" i="0">
                <a:solidFill>
                  <a:srgbClr val="1F5FAD"/>
                </a:solidFill>
                <a:latin typeface="Arial"/>
              </a:rPr>
              <a:t>(3)</a:t>
            </a:r>
            <a:r>
              <a:rPr sz="1700" b="0" i="0">
                <a:solidFill>
                  <a:srgbClr val="1A1A1A"/>
                </a:solidFill>
                <a:latin typeface="Arial"/>
              </a:rPr>
              <a:t>, volume falls as price falls: volume falling, divergence; with price, bullish. Fewer are willing to sell lower.</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Divergence provides additional evidence of a bullish chart formation.</a:t>
            </a:r>
          </a:p>
        </p:txBody>
      </p:sp>
      <p:sp>
        <p:nvSpPr>
          <p:cNvPr id="10" name="TextBox 9"/>
          <p:cNvSpPr txBox="1"/>
          <p:nvPr/>
        </p:nvSpPr>
        <p:spPr>
          <a:xfrm>
            <a:off x="777240" y="5296662"/>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chart's note: Isis rose past the previous day's close though the Dow Jones Industrial Average fell 219 points, a bullish indication.</a:t>
            </a:r>
          </a:p>
        </p:txBody>
      </p:sp>
      <p:sp>
        <p:nvSpPr>
          <p:cNvPr id="11" name="Rectangle 10"/>
          <p:cNvSpPr/>
          <p:nvPr/>
        </p:nvSpPr>
        <p:spPr>
          <a:xfrm>
            <a:off x="6217919" y="1810512"/>
            <a:ext cx="5196535" cy="320707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2969335"/>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611111" y="2203703"/>
            <a:ext cx="4410151" cy="251213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6.5</a:t>
            </a:r>
          </a:p>
          <a:p>
            <a:pPr algn="l">
              <a:lnSpc>
                <a:spcPct val="115000"/>
              </a:lnSpc>
              <a:spcBef>
                <a:spcPts val="0"/>
              </a:spcBef>
              <a:spcAft>
                <a:spcPts val="0"/>
              </a:spcAft>
            </a:pPr>
            <a:r>
              <a:rPr sz="1500" b="0" i="0">
                <a:solidFill>
                  <a:srgbClr val="1A1A1A"/>
                </a:solidFill>
                <a:latin typeface="Palatino"/>
              </a:rPr>
              <a:t>An intraday chart of Isis Pharmaceuticals: price falls steeply and curves into a larger rounding bottom pattern, and the volume panel under it carries two dashed lines falling to the right, each labelled bullish volume divergence.</a:t>
            </a:r>
          </a:p>
        </p:txBody>
      </p:sp>
      <p:sp>
        <p:nvSpPr>
          <p:cNvPr id="15" name="Rectangle 14"/>
          <p:cNvSpPr/>
          <p:nvPr/>
        </p:nvSpPr>
        <p:spPr>
          <a:xfrm>
            <a:off x="8816187" y="2642024"/>
            <a:ext cx="2261208" cy="1446066"/>
          </a:xfrm>
          <a:prstGeom prst="rect">
            <a:avLst/>
          </a:prstGeom>
          <a:noFill/>
          <a:ln w="44450">
            <a:solidFill>
              <a:srgbClr val="E09B00"/>
            </a:solidFill>
          </a:ln>
        </p:spPr>
        <p:txBody>
          <a:bodyPr rtlCol="0" anchor="ctr"/>
          <a:lstStyle/>
          <a:p>
            <a:pPr algn="ctr"/>
          </a:p>
        </p:txBody>
      </p:sp>
      <p:sp>
        <p:nvSpPr>
          <p:cNvPr id="16" name="Rectangle 15"/>
          <p:cNvSpPr/>
          <p:nvPr/>
        </p:nvSpPr>
        <p:spPr>
          <a:xfrm>
            <a:off x="8836022" y="4111845"/>
            <a:ext cx="971923" cy="656223"/>
          </a:xfrm>
          <a:prstGeom prst="rect">
            <a:avLst/>
          </a:prstGeom>
          <a:noFill/>
          <a:ln w="44450">
            <a:solidFill>
              <a:srgbClr val="C62828"/>
            </a:solidFill>
          </a:ln>
        </p:spPr>
        <p:txBody>
          <a:bodyPr rtlCol="0" anchor="ctr"/>
          <a:lstStyle/>
          <a:p>
            <a:pPr algn="ctr"/>
          </a:p>
        </p:txBody>
      </p:sp>
      <p:sp>
        <p:nvSpPr>
          <p:cNvPr id="17" name="Rectangle 16"/>
          <p:cNvSpPr/>
          <p:nvPr/>
        </p:nvSpPr>
        <p:spPr>
          <a:xfrm>
            <a:off x="10006297" y="4236558"/>
            <a:ext cx="1056222" cy="558235"/>
          </a:xfrm>
          <a:prstGeom prst="rect">
            <a:avLst/>
          </a:prstGeom>
          <a:noFill/>
          <a:ln w="44450">
            <a:solidFill>
              <a:srgbClr val="1F5FAD"/>
            </a:solidFill>
          </a:ln>
        </p:spPr>
        <p:txBody>
          <a:bodyPr rtlCol="0" anchor="ctr"/>
          <a:lstStyle/>
          <a:p>
            <a:pPr algn="ctr"/>
          </a:p>
        </p:txBody>
      </p:sp>
      <p:sp>
        <p:nvSpPr>
          <p:cNvPr id="18" name="Oval 17"/>
          <p:cNvSpPr/>
          <p:nvPr/>
        </p:nvSpPr>
        <p:spPr>
          <a:xfrm>
            <a:off x="8660739" y="2486576"/>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680574" y="461262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10907071" y="463934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6217919" y="510903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6.5 -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p.177 and Figure 6.5, its prices read off the figure. Its caption says daily; the chart is labelled 10 min. Rounding bottom: Chapter 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Ten periods of bullish volume: gold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21 of 29</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1, 3 </a:t>
            </a:r>
            <a:r>
              <a:rPr sz="1700" b="1" i="0">
                <a:solidFill>
                  <a:srgbClr val="E09B00"/>
                </a:solidFill>
                <a:latin typeface="Arial"/>
              </a:rPr>
              <a:t>(1)</a:t>
            </a:r>
            <a:r>
              <a:rPr sz="1700" b="0" i="0">
                <a:solidFill>
                  <a:srgbClr val="1A1A1A"/>
                </a:solidFill>
                <a:latin typeface="Arial"/>
              </a:rPr>
              <a:t>, 7 and 9: price and volume rise, bullish confirmation. 4 </a:t>
            </a:r>
            <a:r>
              <a:rPr sz="1700" b="1" i="0">
                <a:solidFill>
                  <a:srgbClr val="C62828"/>
                </a:solidFill>
                <a:latin typeface="Arial"/>
              </a:rPr>
              <a:t>(2)</a:t>
            </a:r>
            <a:r>
              <a:rPr sz="1700" b="0" i="0">
                <a:solidFill>
                  <a:srgbClr val="1A1A1A"/>
                </a:solidFill>
                <a:latin typeface="Arial"/>
              </a:rPr>
              <a:t> and 6 </a:t>
            </a:r>
            <a:r>
              <a:rPr sz="1700" b="1" i="0">
                <a:solidFill>
                  <a:srgbClr val="1F5FAD"/>
                </a:solidFill>
                <a:latin typeface="Arial"/>
              </a:rPr>
              <a:t>(3)</a:t>
            </a:r>
            <a:r>
              <a:rPr sz="1700" b="0" i="0">
                <a:solidFill>
                  <a:srgbClr val="1A1A1A"/>
                </a:solidFill>
                <a:latin typeface="Arial"/>
              </a:rPr>
              <a:t>: price dips as volume falls, bullish divergence. 5: volume flat, no reading.</a:t>
            </a:r>
          </a:p>
          <a:p>
            <a:pPr algn="l">
              <a:lnSpc>
                <a:spcPct val="105000"/>
              </a:lnSpc>
              <a:spcBef>
                <a:spcPts val="0"/>
              </a:spcBef>
              <a:spcAft>
                <a:spcPts val="1100"/>
              </a:spcAft>
            </a:pPr>
            <a:r>
              <a:rPr sz="1700" b="0" i="0">
                <a:solidFill>
                  <a:srgbClr val="1A1A1A"/>
                </a:solidFill>
                <a:latin typeface="Arial"/>
              </a:rPr>
              <a:t>2 </a:t>
            </a:r>
            <a:r>
              <a:rPr sz="1700" b="1" i="0">
                <a:solidFill>
                  <a:srgbClr val="007A33"/>
                </a:solidFill>
                <a:latin typeface="Arial"/>
              </a:rPr>
              <a:t>(4)</a:t>
            </a:r>
            <a:r>
              <a:rPr sz="1700" b="0" i="0">
                <a:solidFill>
                  <a:srgbClr val="1A1A1A"/>
                </a:solidFill>
                <a:latin typeface="Arial"/>
              </a:rPr>
              <a:t>, 8 and 10: volume falls as price moves sideways, a consolidation (Chapter 4). At volume's minimum, price breaks out.</a:t>
            </a:r>
          </a:p>
        </p:txBody>
      </p:sp>
      <p:sp>
        <p:nvSpPr>
          <p:cNvPr id="8" name="Rectangle 7"/>
          <p:cNvSpPr/>
          <p:nvPr/>
        </p:nvSpPr>
        <p:spPr>
          <a:xfrm>
            <a:off x="777240" y="4400550"/>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In a consolidation, volume times the breakout: Part 2.</a:t>
            </a:r>
          </a:p>
        </p:txBody>
      </p:sp>
      <p:sp>
        <p:nvSpPr>
          <p:cNvPr id="10" name="TextBox 9"/>
          <p:cNvSpPr txBox="1"/>
          <p:nvPr/>
        </p:nvSpPr>
        <p:spPr>
          <a:xfrm>
            <a:off x="777240" y="5296662"/>
            <a:ext cx="49377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4 and 6 are dips inside this uptrend, yet the book labels them bullish divergence: its p.178 summary applied to a falling stretch.</a:t>
            </a:r>
          </a:p>
        </p:txBody>
      </p:sp>
      <p:sp>
        <p:nvSpPr>
          <p:cNvPr id="11" name="Rectangle 10"/>
          <p:cNvSpPr/>
          <p:nvPr/>
        </p:nvSpPr>
        <p:spPr>
          <a:xfrm>
            <a:off x="6154990" y="1810512"/>
            <a:ext cx="5139513"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273862" y="1929384"/>
            <a:ext cx="4901769" cy="3511296"/>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273862" y="1929384"/>
            <a:ext cx="4901769"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548182" y="2203703"/>
            <a:ext cx="4353129"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6.6</a:t>
            </a:r>
          </a:p>
          <a:p>
            <a:pPr algn="l">
              <a:lnSpc>
                <a:spcPct val="115000"/>
              </a:lnSpc>
              <a:spcBef>
                <a:spcPts val="0"/>
              </a:spcBef>
              <a:spcAft>
                <a:spcPts val="0"/>
              </a:spcAft>
            </a:pPr>
            <a:r>
              <a:rPr sz="1500" b="0" i="0">
                <a:solidFill>
                  <a:srgbClr val="1A1A1A"/>
                </a:solidFill>
                <a:latin typeface="Palatino"/>
              </a:rPr>
              <a:t>The SPDR Gold Trust over about four years, split by dashed lines into ten numbered periods, with arrows on the volume panel showing volume rising or falling in each, under the label volume expanding in the direction of the existing trend.</a:t>
            </a:r>
          </a:p>
        </p:txBody>
      </p:sp>
      <p:sp>
        <p:nvSpPr>
          <p:cNvPr id="15" name="Rectangle 14"/>
          <p:cNvSpPr/>
          <p:nvPr/>
        </p:nvSpPr>
        <p:spPr>
          <a:xfrm>
            <a:off x="8391427" y="2308603"/>
            <a:ext cx="504882" cy="3051316"/>
          </a:xfrm>
          <a:prstGeom prst="rect">
            <a:avLst/>
          </a:prstGeom>
          <a:noFill/>
          <a:ln w="44450">
            <a:solidFill>
              <a:srgbClr val="E09B00"/>
            </a:solidFill>
          </a:ln>
        </p:spPr>
        <p:txBody>
          <a:bodyPr rtlCol="0" anchor="ctr"/>
          <a:lstStyle/>
          <a:p>
            <a:pPr algn="ctr"/>
          </a:p>
        </p:txBody>
      </p:sp>
      <p:sp>
        <p:nvSpPr>
          <p:cNvPr id="16" name="Oval 15"/>
          <p:cNvSpPr/>
          <p:nvPr/>
        </p:nvSpPr>
        <p:spPr>
          <a:xfrm>
            <a:off x="8832586" y="2431499"/>
            <a:ext cx="372534" cy="428378"/>
          </a:xfrm>
          <a:prstGeom prst="ellipse">
            <a:avLst/>
          </a:prstGeom>
          <a:noFill/>
          <a:ln w="44450">
            <a:solidFill>
              <a:srgbClr val="C62828"/>
            </a:solidFill>
          </a:ln>
        </p:spPr>
        <p:txBody>
          <a:bodyPr rtlCol="0" anchor="ctr"/>
          <a:lstStyle/>
          <a:p>
            <a:pPr algn="ctr"/>
          </a:p>
        </p:txBody>
      </p:sp>
      <p:sp>
        <p:nvSpPr>
          <p:cNvPr id="17" name="Oval 16"/>
          <p:cNvSpPr/>
          <p:nvPr/>
        </p:nvSpPr>
        <p:spPr>
          <a:xfrm>
            <a:off x="9263942" y="2614086"/>
            <a:ext cx="328418" cy="589897"/>
          </a:xfrm>
          <a:prstGeom prst="ellipse">
            <a:avLst/>
          </a:prstGeom>
          <a:noFill/>
          <a:ln w="44450">
            <a:solidFill>
              <a:srgbClr val="1F5FAD"/>
            </a:solidFill>
          </a:ln>
        </p:spPr>
        <p:txBody>
          <a:bodyPr rtlCol="0" anchor="ctr"/>
          <a:lstStyle/>
          <a:p>
            <a:pPr algn="ctr"/>
          </a:p>
        </p:txBody>
      </p:sp>
      <p:sp>
        <p:nvSpPr>
          <p:cNvPr id="18" name="Rectangle 17"/>
          <p:cNvSpPr/>
          <p:nvPr/>
        </p:nvSpPr>
        <p:spPr>
          <a:xfrm>
            <a:off x="7347350" y="2982772"/>
            <a:ext cx="1014666" cy="2377147"/>
          </a:xfrm>
          <a:prstGeom prst="rect">
            <a:avLst/>
          </a:prstGeom>
          <a:noFill/>
          <a:ln w="44450">
            <a:solidFill>
              <a:srgbClr val="007A33"/>
            </a:solidFill>
          </a:ln>
        </p:spPr>
        <p:txBody>
          <a:bodyPr rtlCol="0" anchor="ctr"/>
          <a:lstStyle/>
          <a:p>
            <a:pPr algn="ctr"/>
          </a:p>
        </p:txBody>
      </p:sp>
      <p:sp>
        <p:nvSpPr>
          <p:cNvPr id="19" name="Oval 18"/>
          <p:cNvSpPr/>
          <p:nvPr/>
        </p:nvSpPr>
        <p:spPr>
          <a:xfrm>
            <a:off x="8740861" y="520447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8677138" y="227605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1" name="Oval 20"/>
          <p:cNvSpPr/>
          <p:nvPr/>
        </p:nvSpPr>
        <p:spPr>
          <a:xfrm>
            <a:off x="9108494" y="245863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2" name="Oval 21"/>
          <p:cNvSpPr/>
          <p:nvPr/>
        </p:nvSpPr>
        <p:spPr>
          <a:xfrm>
            <a:off x="7191902" y="5204472"/>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3" name="TextBox 22"/>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6.6 - Lim, The Handbook of Technical Analysis (Wiley, 2016)</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p.178 and Figure 6.6. Its caption says a daily chart; the chart itself is labelled weekly.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one uptrend, period by period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22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PHP 40 to 48, volume about 1.2 to 3.3 million: both rise, bullish confirmation.</a:t>
            </a:r>
          </a:p>
          <a:p>
            <a:pPr algn="l">
              <a:lnSpc>
                <a:spcPct val="105000"/>
              </a:lnSpc>
              <a:spcBef>
                <a:spcPts val="0"/>
              </a:spcBef>
              <a:spcAft>
                <a:spcPts val="1100"/>
              </a:spcAft>
            </a:pPr>
            <a:r>
              <a:rPr sz="1700" b="0" i="0">
                <a:solidFill>
                  <a:srgbClr val="1A1A1A"/>
                </a:solidFill>
                <a:latin typeface="Arial"/>
              </a:rPr>
              <a:t>2  Dip to 45.5, volume about 2.7 to 1.4 million: both fall, bullish divergence. Fewer will sell lower: a weak dip, and 4 resumes the trend.</a:t>
            </a:r>
          </a:p>
          <a:p>
            <a:pPr algn="l">
              <a:lnSpc>
                <a:spcPct val="105000"/>
              </a:lnSpc>
              <a:spcBef>
                <a:spcPts val="0"/>
              </a:spcBef>
              <a:spcAft>
                <a:spcPts val="1100"/>
              </a:spcAft>
            </a:pPr>
            <a:r>
              <a:rPr sz="1700" b="0" i="0">
                <a:solidFill>
                  <a:srgbClr val="1A1A1A"/>
                </a:solidFill>
                <a:latin typeface="Arial"/>
              </a:rPr>
              <a:t>3  Sideways, 45.5 to 47.3, volume down to 0.5 million: a consolidation.</a:t>
            </a:r>
          </a:p>
          <a:p>
            <a:pPr algn="l">
              <a:lnSpc>
                <a:spcPct val="105000"/>
              </a:lnSpc>
              <a:spcBef>
                <a:spcPts val="0"/>
              </a:spcBef>
              <a:spcAft>
                <a:spcPts val="1100"/>
              </a:spcAft>
            </a:pPr>
            <a:r>
              <a:rPr sz="1700" b="0" i="0">
                <a:solidFill>
                  <a:srgbClr val="1A1A1A"/>
                </a:solidFill>
                <a:latin typeface="Arial"/>
              </a:rPr>
              <a:t>4  Breakout, 46 to 55, volume about 2.5 to 3 million: bullish confirmation.</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3: no direction, no reading (p.180).</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Figure 6.6's readings on one invented uptrend, so each period can be seen. The periods, prices and volumes are ours, read off the chart.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Price-based and non-price-based volume oscillators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23 of 29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Oscillator: an indicator under price. Price-based: price built in. Non-price-based: volume only.</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closes PHP 50, 51, 50.5 on 2, 3, 1 million. Bars: 2, 3, 1. Line: start at 0; 51 is higher, add 3: 3; 50.5 is lower, subtract 1: 2.</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Price-based volume oscillators incorporate price data in their construction, whereas non-price-based volume oscillators only incorporate volume data in their construction.</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i.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I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pp.178-179 defines both; our gloss of oscillator. The numbers are ours. The chart is ours, on invented prices; its line is the rule taught in Part 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book's two lists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24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Price-based: On Balance Volume (OBV), Accumulation/Distribution Line (ADL), Chaikin Money Flow, Chaikin Oscillator, Demand Index, Herrick Payoff Index.</a:t>
            </a:r>
          </a:p>
          <a:p>
            <a:pPr algn="l">
              <a:lnSpc>
                <a:spcPct val="118000"/>
              </a:lnSpc>
              <a:spcBef>
                <a:spcPts val="0"/>
              </a:spcBef>
              <a:spcAft>
                <a:spcPts val="1300"/>
              </a:spcAft>
            </a:pPr>
            <a:r>
              <a:rPr sz="2100" b="0" i="0">
                <a:solidFill>
                  <a:srgbClr val="1A1A1A"/>
                </a:solidFill>
                <a:latin typeface="Arial"/>
              </a:rPr>
              <a:t>Non-price-based: standard volume bars, smoothed volume, detrended volume, rate of change of volume (ROC volume), percentage volume oscillator (PVO).</a:t>
            </a:r>
          </a:p>
          <a:p>
            <a:pPr algn="l">
              <a:lnSpc>
                <a:spcPct val="118000"/>
              </a:lnSpc>
              <a:spcBef>
                <a:spcPts val="0"/>
              </a:spcBef>
              <a:spcAft>
                <a:spcPts val="1300"/>
              </a:spcAft>
            </a:pPr>
            <a:r>
              <a:rPr sz="2100" b="0" i="0">
                <a:solidFill>
                  <a:srgbClr val="1A1A1A"/>
                </a:solidFill>
                <a:latin typeface="Arial"/>
              </a:rPr>
              <a:t>So plain volume bars count as a non-price-based volume oscillator.</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Reading divergence on one kind differs from reading it on the other.</a:t>
            </a:r>
          </a:p>
        </p:txBody>
      </p:sp>
      <p:sp>
        <p:nvSpPr>
          <p:cNvPr id="10" name="TextBox 9"/>
          <p:cNvSpPr txBox="1"/>
          <p:nvPr/>
        </p:nvSpPr>
        <p:spPr>
          <a:xfrm>
            <a:off x="777240" y="510438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Taught later: OBV, ADL, the two Chaikin indicators and the Herrick index in Part 6, smoothed volume in Part 3. The Demand Index, detrended volume, ROC volume and the PVO are named and never explained.</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p.179: its two lists, as printed. Where each is taught is this course's note.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divergence on the two kinds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25 of 29</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Non-price-based, plain volume included: bullish if it moves with price, bearish if against. Divergence if it falls, confirmation if it rises.</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Price-based, such as the OBV: bullish if it rises, bearish if it falls. Divergence if it moves against price, confirmation if with it.</a:t>
            </a:r>
          </a:p>
          <a:p>
            <a:pPr algn="l">
              <a:lnSpc>
                <a:spcPct val="105000"/>
              </a:lnSpc>
              <a:spcBef>
                <a:spcPts val="0"/>
              </a:spcBef>
              <a:spcAft>
                <a:spcPts val="1100"/>
              </a:spcAft>
            </a:pPr>
            <a:r>
              <a:rPr sz="1700" b="0" i="0">
                <a:solidFill>
                  <a:srgbClr val="1A1A1A"/>
                </a:solidFill>
                <a:latin typeface="Arial"/>
              </a:rPr>
              <a:t>Figure 6.7: top half divergence, bottom half confirmation; left </a:t>
            </a:r>
            <a:r>
              <a:rPr sz="1700" b="1" i="0">
                <a:solidFill>
                  <a:srgbClr val="E09B00"/>
                </a:solidFill>
                <a:latin typeface="Arial"/>
              </a:rPr>
              <a:t>(1)</a:t>
            </a:r>
            <a:r>
              <a:rPr sz="1700" b="0" i="0">
                <a:solidFill>
                  <a:srgbClr val="1A1A1A"/>
                </a:solidFill>
                <a:latin typeface="Arial"/>
              </a:rPr>
              <a:t> plain volume, right </a:t>
            </a:r>
            <a:r>
              <a:rPr sz="1700" b="1" i="0">
                <a:solidFill>
                  <a:srgbClr val="C62828"/>
                </a:solidFill>
                <a:latin typeface="Arial"/>
              </a:rPr>
              <a:t>(2)</a:t>
            </a:r>
            <a:r>
              <a:rPr sz="1700" b="0" i="0">
                <a:solidFill>
                  <a:srgbClr val="1A1A1A"/>
                </a:solidFill>
                <a:latin typeface="Arial"/>
              </a:rPr>
              <a:t> price-based. Two arrows flip, </a:t>
            </a:r>
            <a:r>
              <a:rPr sz="1700" b="1" i="0">
                <a:solidFill>
                  <a:srgbClr val="1F5FAD"/>
                </a:solidFill>
                <a:latin typeface="Arial"/>
              </a:rPr>
              <a:t>(3)</a:t>
            </a:r>
            <a:r>
              <a:rPr sz="1700" b="0" i="0">
                <a:solidFill>
                  <a:srgbClr val="1A1A1A"/>
                </a:solidFill>
                <a:latin typeface="Arial"/>
              </a:rPr>
              <a:t> and </a:t>
            </a:r>
            <a:r>
              <a:rPr sz="1700" b="1" i="0">
                <a:solidFill>
                  <a:srgbClr val="007A33"/>
                </a:solidFill>
                <a:latin typeface="Arial"/>
              </a:rPr>
              <a:t>(4)</a:t>
            </a:r>
            <a:r>
              <a:rPr sz="1700" b="0" i="0">
                <a:solidFill>
                  <a:srgbClr val="1A1A1A"/>
                </a:solidFill>
                <a:latin typeface="Arial"/>
              </a:rPr>
              <a:t>.</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537667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First ask which kind you are reading.</a:t>
            </a:r>
          </a:p>
        </p:txBody>
      </p:sp>
      <p:sp>
        <p:nvSpPr>
          <p:cNvPr id="10" name="TextBox 9"/>
          <p:cNvSpPr txBox="1"/>
          <p:nvPr/>
        </p:nvSpPr>
        <p:spPr>
          <a:xfrm>
            <a:off x="777240" y="5731002"/>
            <a:ext cx="56692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Book: only bullish divergence and bearish confirmation differ.</a:t>
            </a:r>
          </a:p>
        </p:txBody>
      </p:sp>
      <p:sp>
        <p:nvSpPr>
          <p:cNvPr id="11" name="Rectangle 10"/>
          <p:cNvSpPr/>
          <p:nvPr/>
        </p:nvSpPr>
        <p:spPr>
          <a:xfrm>
            <a:off x="6766559" y="1810512"/>
            <a:ext cx="4647894" cy="359657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85431" y="1929384"/>
            <a:ext cx="4410151" cy="3358835"/>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885431" y="1929384"/>
            <a:ext cx="441015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7159751" y="2203703"/>
            <a:ext cx="3861511" cy="290163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6.7</a:t>
            </a:r>
          </a:p>
          <a:p>
            <a:pPr algn="l">
              <a:lnSpc>
                <a:spcPct val="115000"/>
              </a:lnSpc>
              <a:spcBef>
                <a:spcPts val="0"/>
              </a:spcBef>
              <a:spcAft>
                <a:spcPts val="0"/>
              </a:spcAft>
            </a:pPr>
            <a:r>
              <a:rPr sz="1500" b="0" i="0">
                <a:solidFill>
                  <a:srgbClr val="1A1A1A"/>
                </a:solidFill>
                <a:latin typeface="Palatino"/>
              </a:rPr>
              <a:t>Eight pairs of arrows, a price arrow over a volume arrow, in four boxes: divergence and confirmation, each for non-price-based and price-based volume oscillators. The two kinds differ only in bullish divergence and bearish confirmation, where the price-based volume arrow points the other way.</a:t>
            </a:r>
          </a:p>
        </p:txBody>
      </p:sp>
      <p:sp>
        <p:nvSpPr>
          <p:cNvPr id="15" name="Rectangle 14"/>
          <p:cNvSpPr/>
          <p:nvPr/>
        </p:nvSpPr>
        <p:spPr>
          <a:xfrm>
            <a:off x="6951584" y="2006637"/>
            <a:ext cx="2125692" cy="3234558"/>
          </a:xfrm>
          <a:prstGeom prst="rect">
            <a:avLst/>
          </a:prstGeom>
          <a:noFill/>
          <a:ln w="44450">
            <a:solidFill>
              <a:srgbClr val="E09B00"/>
            </a:solidFill>
          </a:ln>
        </p:spPr>
        <p:txBody>
          <a:bodyPr rtlCol="0" anchor="ctr"/>
          <a:lstStyle/>
          <a:p>
            <a:pPr algn="ctr"/>
          </a:p>
        </p:txBody>
      </p:sp>
      <p:sp>
        <p:nvSpPr>
          <p:cNvPr id="16" name="Rectangle 15"/>
          <p:cNvSpPr/>
          <p:nvPr/>
        </p:nvSpPr>
        <p:spPr>
          <a:xfrm>
            <a:off x="9130198" y="2006637"/>
            <a:ext cx="2112462" cy="3234558"/>
          </a:xfrm>
          <a:prstGeom prst="rect">
            <a:avLst/>
          </a:prstGeom>
          <a:noFill/>
          <a:ln w="44450">
            <a:solidFill>
              <a:srgbClr val="C62828"/>
            </a:solidFill>
          </a:ln>
        </p:spPr>
        <p:txBody>
          <a:bodyPr rtlCol="0" anchor="ctr"/>
          <a:lstStyle/>
          <a:p>
            <a:pPr algn="ctr"/>
          </a:p>
        </p:txBody>
      </p:sp>
      <p:sp>
        <p:nvSpPr>
          <p:cNvPr id="17" name="Oval 16"/>
          <p:cNvSpPr/>
          <p:nvPr/>
        </p:nvSpPr>
        <p:spPr>
          <a:xfrm>
            <a:off x="10413552" y="2836269"/>
            <a:ext cx="771776" cy="470236"/>
          </a:xfrm>
          <a:prstGeom prst="ellipse">
            <a:avLst/>
          </a:prstGeom>
          <a:noFill/>
          <a:ln w="44450">
            <a:solidFill>
              <a:srgbClr val="1F5FAD"/>
            </a:solidFill>
          </a:ln>
        </p:spPr>
        <p:txBody>
          <a:bodyPr rtlCol="0" anchor="ctr"/>
          <a:lstStyle/>
          <a:p>
            <a:pPr algn="ctr"/>
          </a:p>
        </p:txBody>
      </p:sp>
      <p:sp>
        <p:nvSpPr>
          <p:cNvPr id="18" name="Oval 17"/>
          <p:cNvSpPr/>
          <p:nvPr/>
        </p:nvSpPr>
        <p:spPr>
          <a:xfrm>
            <a:off x="10409142" y="4354463"/>
            <a:ext cx="807057" cy="641537"/>
          </a:xfrm>
          <a:prstGeom prst="ellipse">
            <a:avLst/>
          </a:prstGeom>
          <a:noFill/>
          <a:ln w="44450">
            <a:solidFill>
              <a:srgbClr val="007A33"/>
            </a:solidFill>
          </a:ln>
        </p:spPr>
        <p:txBody>
          <a:bodyPr rtlCol="0" anchor="ctr"/>
          <a:lstStyle/>
          <a:p>
            <a:pPr algn="ctr"/>
          </a:p>
        </p:txBody>
      </p:sp>
      <p:sp>
        <p:nvSpPr>
          <p:cNvPr id="19" name="Oval 18"/>
          <p:cNvSpPr/>
          <p:nvPr/>
        </p:nvSpPr>
        <p:spPr>
          <a:xfrm>
            <a:off x="6796136" y="508574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8974750" y="508574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1" name="Oval 20"/>
          <p:cNvSpPr/>
          <p:nvPr/>
        </p:nvSpPr>
        <p:spPr>
          <a:xfrm>
            <a:off x="11029881" y="315105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2" name="Oval 21"/>
          <p:cNvSpPr/>
          <p:nvPr/>
        </p:nvSpPr>
        <p:spPr>
          <a:xfrm>
            <a:off x="11060752" y="4199015"/>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3" name="TextBox 22"/>
          <p:cNvSpPr txBox="1"/>
          <p:nvPr/>
        </p:nvSpPr>
        <p:spPr>
          <a:xfrm>
            <a:off x="6766559" y="549853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6.7 - Lim, The Handbook of Technical Analysis (Wiley, 2016)</a:t>
            </a:r>
          </a:p>
        </p:txBody>
      </p:sp>
      <p:sp>
        <p:nvSpPr>
          <p:cNvPr id="24" name="TextBox 2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p.179 and Figure 6.7. The two rules are our summary of the figure's eight arrows; the book gives no reason the two kinds differ.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names on both kinds,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26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rising, PHP 46 to 50: both kinds read alike. Volume 3 to 5 million, OBV 5 to 7: bullish confirmation. Both down: bearish divergence.</a:t>
            </a:r>
          </a:p>
          <a:p>
            <a:pPr algn="l">
              <a:lnSpc>
                <a:spcPct val="118000"/>
              </a:lnSpc>
              <a:spcBef>
                <a:spcPts val="0"/>
              </a:spcBef>
              <a:spcAft>
                <a:spcPts val="1300"/>
              </a:spcAft>
            </a:pPr>
            <a:r>
              <a:rPr sz="2100" b="0" i="0">
                <a:solidFill>
                  <a:srgbClr val="1A1A1A"/>
                </a:solidFill>
                <a:latin typeface="Arial"/>
              </a:rPr>
              <a:t>Price falling, 50 to 46, bullish divergence: volume falls 3 to 1 million, with price; the OBV rises 5 to 7 million, against price.</a:t>
            </a:r>
          </a:p>
          <a:p>
            <a:pPr algn="l">
              <a:lnSpc>
                <a:spcPct val="118000"/>
              </a:lnSpc>
              <a:spcBef>
                <a:spcPts val="0"/>
              </a:spcBef>
              <a:spcAft>
                <a:spcPts val="1300"/>
              </a:spcAft>
            </a:pPr>
            <a:r>
              <a:rPr sz="2100" b="0" i="0">
                <a:solidFill>
                  <a:srgbClr val="1A1A1A"/>
                </a:solidFill>
                <a:latin typeface="Arial"/>
              </a:rPr>
              <a:t>Price falling, 50 to 46, bearish confirmation: volume rises 3 to 5 million, against price; the OBV falls 5 to 3 million, with price.</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Price falling: same names, opposite arrows.</a:t>
            </a:r>
          </a:p>
        </p:txBody>
      </p:sp>
      <p:sp>
        <p:nvSpPr>
          <p:cNvPr id="10" name="TextBox 9"/>
          <p:cNvSpPr txBox="1"/>
          <p:nvPr/>
        </p:nvSpPr>
        <p:spPr>
          <a:xfrm>
            <a:off x="777240" y="5419089"/>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Plain volume: rising is confirmation. A price-based line: moving with price is confirmation.</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p.179: the four names on both kinds. The prices and the volume and OBV numbers are ours.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four on Figure 6.7's arrows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27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and </a:t>
            </a:r>
            <a:r>
              <a:rPr sz="1800" b="1" i="0">
                <a:solidFill>
                  <a:srgbClr val="E09B00"/>
                </a:solidFill>
                <a:latin typeface="Arial"/>
              </a:rPr>
              <a:t>(2)</a:t>
            </a:r>
            <a:r>
              <a:rPr sz="1800" b="0" i="0">
                <a:solidFill>
                  <a:srgbClr val="1A1A1A"/>
                </a:solidFill>
                <a:latin typeface="Arial"/>
              </a:rPr>
              <a:t> Bullish confirmation, price rising: the volume arrows match on both kinds.</a:t>
            </a:r>
          </a:p>
          <a:p>
            <a:pPr algn="l">
              <a:lnSpc>
                <a:spcPct val="105000"/>
              </a:lnSpc>
              <a:spcBef>
                <a:spcPts val="0"/>
              </a:spcBef>
              <a:spcAft>
                <a:spcPts val="1100"/>
              </a:spcAft>
            </a:pPr>
            <a:r>
              <a:rPr sz="1800" b="1" i="0">
                <a:solidFill>
                  <a:srgbClr val="C62828"/>
                </a:solidFill>
                <a:latin typeface="Arial"/>
              </a:rPr>
              <a:t>(3)</a:t>
            </a:r>
            <a:r>
              <a:rPr sz="1800" b="0" i="0">
                <a:solidFill>
                  <a:srgbClr val="1A1A1A"/>
                </a:solidFill>
                <a:latin typeface="Arial"/>
              </a:rPr>
              <a:t> and </a:t>
            </a:r>
            <a:r>
              <a:rPr sz="1800" b="1" i="0">
                <a:solidFill>
                  <a:srgbClr val="C62828"/>
                </a:solidFill>
                <a:latin typeface="Arial"/>
              </a:rPr>
              <a:t>(4)</a:t>
            </a:r>
            <a:r>
              <a:rPr sz="1800" b="0" i="0">
                <a:solidFill>
                  <a:srgbClr val="1A1A1A"/>
                </a:solidFill>
                <a:latin typeface="Arial"/>
              </a:rPr>
              <a:t> Bullish divergence: plain volume falls with price; the price-based arrow rises.</a:t>
            </a:r>
          </a:p>
          <a:p>
            <a:pPr algn="l">
              <a:lnSpc>
                <a:spcPct val="105000"/>
              </a:lnSpc>
              <a:spcBef>
                <a:spcPts val="0"/>
              </a:spcBef>
              <a:spcAft>
                <a:spcPts val="1100"/>
              </a:spcAft>
            </a:pPr>
            <a:r>
              <a:rPr sz="1800" b="1" i="0">
                <a:solidFill>
                  <a:srgbClr val="1F5FAD"/>
                </a:solidFill>
                <a:latin typeface="Arial"/>
              </a:rPr>
              <a:t>(5)</a:t>
            </a:r>
            <a:r>
              <a:rPr sz="1800" b="0" i="0">
                <a:solidFill>
                  <a:srgbClr val="1A1A1A"/>
                </a:solidFill>
                <a:latin typeface="Arial"/>
              </a:rPr>
              <a:t> and </a:t>
            </a:r>
            <a:r>
              <a:rPr sz="1800" b="1" i="0">
                <a:solidFill>
                  <a:srgbClr val="1F5FAD"/>
                </a:solidFill>
                <a:latin typeface="Arial"/>
              </a:rPr>
              <a:t>(6)</a:t>
            </a:r>
            <a:r>
              <a:rPr sz="1800" b="0" i="0">
                <a:solidFill>
                  <a:srgbClr val="1A1A1A"/>
                </a:solidFill>
                <a:latin typeface="Arial"/>
              </a:rPr>
              <a:t> Bearish confirmation: plain volume rises; the price-based arrow falls with price.</a:t>
            </a:r>
          </a:p>
        </p:txBody>
      </p:sp>
      <p:sp>
        <p:nvSpPr>
          <p:cNvPr id="8" name="Rectangle 7"/>
          <p:cNvSpPr/>
          <p:nvPr/>
        </p:nvSpPr>
        <p:spPr>
          <a:xfrm>
            <a:off x="777240" y="4389120"/>
            <a:ext cx="82296" cy="4358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25696"/>
            <a:ext cx="5193792" cy="43586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Only the two price-falling cases flip.</a:t>
            </a:r>
          </a:p>
        </p:txBody>
      </p:sp>
      <p:sp>
        <p:nvSpPr>
          <p:cNvPr id="10" name="Rectangle 9"/>
          <p:cNvSpPr/>
          <p:nvPr/>
        </p:nvSpPr>
        <p:spPr>
          <a:xfrm>
            <a:off x="6583679" y="1810512"/>
            <a:ext cx="4830775" cy="373586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349811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304091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6.7</a:t>
            </a:r>
          </a:p>
          <a:p>
            <a:pPr algn="l">
              <a:lnSpc>
                <a:spcPct val="115000"/>
              </a:lnSpc>
              <a:spcBef>
                <a:spcPts val="0"/>
              </a:spcBef>
              <a:spcAft>
                <a:spcPts val="0"/>
              </a:spcAft>
            </a:pPr>
            <a:r>
              <a:rPr sz="1500" b="0" i="0">
                <a:solidFill>
                  <a:srgbClr val="1A1A1A"/>
                </a:solidFill>
                <a:latin typeface="Palatino"/>
              </a:rPr>
              <a:t>Eight pairs of arrows, a price arrow over a volume arrow, in four boxes. With price rising the two kinds of oscillator match; with price falling, in bullish divergence and bearish confirmation, the price-based volume arrow points the other way.</a:t>
            </a:r>
          </a:p>
        </p:txBody>
      </p:sp>
      <p:sp>
        <p:nvSpPr>
          <p:cNvPr id="14" name="Rectangle 13"/>
          <p:cNvSpPr/>
          <p:nvPr/>
        </p:nvSpPr>
        <p:spPr>
          <a:xfrm>
            <a:off x="6748482" y="3748406"/>
            <a:ext cx="987501" cy="1294304"/>
          </a:xfrm>
          <a:prstGeom prst="rect">
            <a:avLst/>
          </a:prstGeom>
          <a:noFill/>
          <a:ln w="44450">
            <a:solidFill>
              <a:srgbClr val="E09B00"/>
            </a:solidFill>
          </a:ln>
        </p:spPr>
        <p:txBody>
          <a:bodyPr rtlCol="0" anchor="ctr"/>
          <a:lstStyle/>
          <a:p>
            <a:pPr algn="ctr"/>
          </a:p>
        </p:txBody>
      </p:sp>
      <p:sp>
        <p:nvSpPr>
          <p:cNvPr id="15" name="Rectangle 14"/>
          <p:cNvSpPr/>
          <p:nvPr/>
        </p:nvSpPr>
        <p:spPr>
          <a:xfrm>
            <a:off x="9067962" y="3748406"/>
            <a:ext cx="964536" cy="1294304"/>
          </a:xfrm>
          <a:prstGeom prst="rect">
            <a:avLst/>
          </a:prstGeom>
          <a:noFill/>
          <a:ln w="44450">
            <a:solidFill>
              <a:srgbClr val="E09B00"/>
            </a:solidFill>
          </a:ln>
        </p:spPr>
        <p:txBody>
          <a:bodyPr rtlCol="0" anchor="ctr"/>
          <a:lstStyle/>
          <a:p>
            <a:pPr algn="ctr"/>
          </a:p>
        </p:txBody>
      </p:sp>
      <p:sp>
        <p:nvSpPr>
          <p:cNvPr id="16" name="Rectangle 15"/>
          <p:cNvSpPr/>
          <p:nvPr/>
        </p:nvSpPr>
        <p:spPr>
          <a:xfrm>
            <a:off x="8080461" y="1999346"/>
            <a:ext cx="877268" cy="1259323"/>
          </a:xfrm>
          <a:prstGeom prst="rect">
            <a:avLst/>
          </a:prstGeom>
          <a:noFill/>
          <a:ln w="44450">
            <a:solidFill>
              <a:srgbClr val="C62828"/>
            </a:solidFill>
          </a:ln>
        </p:spPr>
        <p:txBody>
          <a:bodyPr rtlCol="0" anchor="ctr"/>
          <a:lstStyle/>
          <a:p>
            <a:pPr algn="ctr"/>
          </a:p>
        </p:txBody>
      </p:sp>
      <p:sp>
        <p:nvSpPr>
          <p:cNvPr id="17" name="Rectangle 16"/>
          <p:cNvSpPr/>
          <p:nvPr/>
        </p:nvSpPr>
        <p:spPr>
          <a:xfrm>
            <a:off x="10376976" y="1999346"/>
            <a:ext cx="891048" cy="1259323"/>
          </a:xfrm>
          <a:prstGeom prst="rect">
            <a:avLst/>
          </a:prstGeom>
          <a:noFill/>
          <a:ln w="44450">
            <a:solidFill>
              <a:srgbClr val="C62828"/>
            </a:solidFill>
          </a:ln>
        </p:spPr>
        <p:txBody>
          <a:bodyPr rtlCol="0" anchor="ctr"/>
          <a:lstStyle/>
          <a:p>
            <a:pPr algn="ctr"/>
          </a:p>
        </p:txBody>
      </p:sp>
      <p:sp>
        <p:nvSpPr>
          <p:cNvPr id="18" name="Rectangle 17"/>
          <p:cNvSpPr/>
          <p:nvPr/>
        </p:nvSpPr>
        <p:spPr>
          <a:xfrm>
            <a:off x="8080461" y="3748406"/>
            <a:ext cx="877268" cy="1294304"/>
          </a:xfrm>
          <a:prstGeom prst="rect">
            <a:avLst/>
          </a:prstGeom>
          <a:noFill/>
          <a:ln w="44450">
            <a:solidFill>
              <a:srgbClr val="1F5FAD"/>
            </a:solidFill>
          </a:ln>
        </p:spPr>
        <p:txBody>
          <a:bodyPr rtlCol="0" anchor="ctr"/>
          <a:lstStyle/>
          <a:p>
            <a:pPr algn="ctr"/>
          </a:p>
        </p:txBody>
      </p:sp>
      <p:sp>
        <p:nvSpPr>
          <p:cNvPr id="19" name="Rectangle 18"/>
          <p:cNvSpPr/>
          <p:nvPr/>
        </p:nvSpPr>
        <p:spPr>
          <a:xfrm>
            <a:off x="10376976" y="3748406"/>
            <a:ext cx="891048" cy="1294304"/>
          </a:xfrm>
          <a:prstGeom prst="rect">
            <a:avLst/>
          </a:prstGeom>
          <a:noFill/>
          <a:ln w="44450">
            <a:solidFill>
              <a:srgbClr val="1F5FAD"/>
            </a:solidFill>
          </a:ln>
        </p:spPr>
        <p:txBody>
          <a:bodyPr rtlCol="0" anchor="ctr"/>
          <a:lstStyle/>
          <a:p>
            <a:pPr algn="ctr"/>
          </a:p>
        </p:txBody>
      </p:sp>
      <p:sp>
        <p:nvSpPr>
          <p:cNvPr id="20" name="Oval 19"/>
          <p:cNvSpPr/>
          <p:nvPr/>
        </p:nvSpPr>
        <p:spPr>
          <a:xfrm>
            <a:off x="6593034" y="488726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1" name="Oval 20"/>
          <p:cNvSpPr/>
          <p:nvPr/>
        </p:nvSpPr>
        <p:spPr>
          <a:xfrm>
            <a:off x="8912514" y="488726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2" name="Oval 21"/>
          <p:cNvSpPr/>
          <p:nvPr/>
        </p:nvSpPr>
        <p:spPr>
          <a:xfrm>
            <a:off x="7925013" y="184389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3" name="Oval 22"/>
          <p:cNvSpPr/>
          <p:nvPr/>
        </p:nvSpPr>
        <p:spPr>
          <a:xfrm>
            <a:off x="10221528" y="184389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4" name="Oval 23"/>
          <p:cNvSpPr/>
          <p:nvPr/>
        </p:nvSpPr>
        <p:spPr>
          <a:xfrm>
            <a:off x="8802282" y="359295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25" name="Oval 24"/>
          <p:cNvSpPr/>
          <p:nvPr/>
        </p:nvSpPr>
        <p:spPr>
          <a:xfrm>
            <a:off x="11112576" y="359295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6</a:t>
            </a:r>
          </a:p>
        </p:txBody>
      </p:sp>
      <p:sp>
        <p:nvSpPr>
          <p:cNvPr id="26" name="TextBox 25"/>
          <p:cNvSpPr txBox="1"/>
          <p:nvPr/>
        </p:nvSpPr>
        <p:spPr>
          <a:xfrm>
            <a:off x="6583679" y="5637815"/>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6.7 - Lim, The Handbook of Technical Analysis (Wiley, 2016)</a:t>
            </a:r>
          </a:p>
        </p:txBody>
      </p:sp>
      <p:sp>
        <p:nvSpPr>
          <p:cNvPr id="27" name="TextBox 2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p.179 and Figure 6.7: where the two kinds' arrows match and where they differ.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Both kinds on one chart: price and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28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The trust rises from about 129 to 133, October to January.</a:t>
            </a:r>
          </a:p>
          <a:p>
            <a:pPr algn="l">
              <a:lnSpc>
                <a:spcPct val="105000"/>
              </a:lnSpc>
              <a:spcBef>
                <a:spcPts val="0"/>
              </a:spcBef>
              <a:spcAft>
                <a:spcPts val="1100"/>
              </a:spcAft>
            </a:pPr>
            <a:r>
              <a:rPr sz="2000" b="1" i="0">
                <a:solidFill>
                  <a:srgbClr val="C62828"/>
                </a:solidFill>
                <a:latin typeface="Arial"/>
              </a:rPr>
              <a:t>(2)</a:t>
            </a:r>
            <a:r>
              <a:rPr sz="2000" b="0" i="0">
                <a:solidFill>
                  <a:srgbClr val="1A1A1A"/>
                </a:solidFill>
                <a:latin typeface="Arial"/>
              </a:rPr>
              <a:t> Volume and smoothed volume, a 20-day average, non-price-based: falling, against price: bearish divergence.</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51937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Plain volume falling under a rising price: bearish divergence.</a:t>
            </a:r>
          </a:p>
        </p:txBody>
      </p:sp>
      <p:sp>
        <p:nvSpPr>
          <p:cNvPr id="10" name="TextBox 9"/>
          <p:cNvSpPr txBox="1"/>
          <p:nvPr/>
        </p:nvSpPr>
        <p:spPr>
          <a:xfrm>
            <a:off x="777240" y="5084064"/>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Smoothed volume: Part 3. The figure's two lower panels come next.</a:t>
            </a:r>
          </a:p>
        </p:txBody>
      </p:sp>
      <p:sp>
        <p:nvSpPr>
          <p:cNvPr id="11" name="Rectangle 10"/>
          <p:cNvSpPr/>
          <p:nvPr/>
        </p:nvSpPr>
        <p:spPr>
          <a:xfrm>
            <a:off x="6583679" y="1810512"/>
            <a:ext cx="4830775" cy="3383585"/>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3145841"/>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976871" y="2203703"/>
            <a:ext cx="4044391" cy="268864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6.8</a:t>
            </a:r>
          </a:p>
          <a:p>
            <a:pPr algn="l">
              <a:lnSpc>
                <a:spcPct val="115000"/>
              </a:lnSpc>
              <a:spcBef>
                <a:spcPts val="0"/>
              </a:spcBef>
              <a:spcAft>
                <a:spcPts val="0"/>
              </a:spcAft>
            </a:pPr>
            <a:r>
              <a:rPr sz="1500" b="0" i="0">
                <a:solidFill>
                  <a:srgbClr val="1A1A1A"/>
                </a:solidFill>
                <a:latin typeface="Palatino"/>
              </a:rPr>
              <a:t>The top of Figure 6.8: a daily chart of the Currency Shares Euro Trust rising from about 129 to 133, and under it volume with a smoothed line, labelled bearish divergence.</a:t>
            </a:r>
          </a:p>
        </p:txBody>
      </p:sp>
      <p:cxnSp>
        <p:nvCxnSpPr>
          <p:cNvPr id="15" name="Connector 14"/>
          <p:cNvCxnSpPr/>
          <p:nvPr/>
        </p:nvCxnSpPr>
        <p:spPr>
          <a:xfrm flipV="1">
            <a:off x="8291740" y="2580573"/>
            <a:ext cx="1873957" cy="311438"/>
          </a:xfrm>
          <a:prstGeom prst="line">
            <a:avLst/>
          </a:prstGeom>
          <a:ln w="44450">
            <a:solidFill>
              <a:srgbClr val="E09B00"/>
            </a:solidFill>
            <a:tailEnd type="triangle" w="med" len="med"/>
          </a:ln>
        </p:spPr>
      </p:cxnSp>
      <p:sp>
        <p:nvSpPr>
          <p:cNvPr id="16" name="Rectangle 15"/>
          <p:cNvSpPr/>
          <p:nvPr/>
        </p:nvSpPr>
        <p:spPr>
          <a:xfrm>
            <a:off x="6734703" y="4096868"/>
            <a:ext cx="4528728" cy="962627"/>
          </a:xfrm>
          <a:prstGeom prst="rect">
            <a:avLst/>
          </a:prstGeom>
          <a:noFill/>
          <a:ln w="44450">
            <a:solidFill>
              <a:srgbClr val="C62828"/>
            </a:solidFill>
          </a:ln>
        </p:spPr>
        <p:txBody>
          <a:bodyPr rtlCol="0" anchor="ctr"/>
          <a:lstStyle/>
          <a:p>
            <a:pPr algn="ctr"/>
          </a:p>
        </p:txBody>
      </p:sp>
      <p:sp>
        <p:nvSpPr>
          <p:cNvPr id="17" name="Oval 16"/>
          <p:cNvSpPr/>
          <p:nvPr/>
        </p:nvSpPr>
        <p:spPr>
          <a:xfrm>
            <a:off x="8136292" y="273656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6579255" y="394142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TextBox 18"/>
          <p:cNvSpPr txBox="1"/>
          <p:nvPr/>
        </p:nvSpPr>
        <p:spPr>
          <a:xfrm>
            <a:off x="6583679" y="5285537"/>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6.8 - Lim, The Handbook of Technical Analysis (Wiley, 2016)</a:t>
            </a:r>
          </a:p>
        </p:txBody>
      </p:sp>
      <p:sp>
        <p:nvSpPr>
          <p:cNvPr id="20" name="TextBox 1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and Figure 6.8, its prices read off the figure. Shown: its price and volume panels.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Both kinds on one chart: the PVO and the ADL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6 - 6.1 Confirmation  |  29 of 29</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The same months, the same price rising from about 129 to 133.</a:t>
            </a:r>
          </a:p>
          <a:p>
            <a:pPr algn="l">
              <a:lnSpc>
                <a:spcPct val="105000"/>
              </a:lnSpc>
              <a:spcBef>
                <a:spcPts val="0"/>
              </a:spcBef>
              <a:spcAft>
                <a:spcPts val="1100"/>
              </a:spcAft>
            </a:pPr>
            <a:r>
              <a:rPr sz="1900" b="1" i="0">
                <a:solidFill>
                  <a:srgbClr val="E09B00"/>
                </a:solidFill>
                <a:latin typeface="Arial"/>
              </a:rPr>
              <a:t>(1)</a:t>
            </a:r>
            <a:r>
              <a:rPr sz="1900" b="0" i="0">
                <a:solidFill>
                  <a:srgbClr val="1A1A1A"/>
                </a:solidFill>
                <a:latin typeface="Arial"/>
              </a:rPr>
              <a:t> The PVO, a detrended volume oscillator the book never explains: non-price-based, falling: bearish divergence too.</a:t>
            </a:r>
          </a:p>
          <a:p>
            <a:pPr algn="l">
              <a:lnSpc>
                <a:spcPct val="105000"/>
              </a:lnSpc>
              <a:spcBef>
                <a:spcPts val="0"/>
              </a:spcBef>
              <a:spcAft>
                <a:spcPts val="1100"/>
              </a:spcAft>
            </a:pPr>
            <a:r>
              <a:rPr sz="1900" b="1" i="0">
                <a:solidFill>
                  <a:srgbClr val="C62828"/>
                </a:solidFill>
                <a:latin typeface="Arial"/>
              </a:rPr>
              <a:t>(2)</a:t>
            </a:r>
            <a:r>
              <a:rPr sz="1900" b="0" i="0">
                <a:solidFill>
                  <a:srgbClr val="1A1A1A"/>
                </a:solidFill>
                <a:latin typeface="Arial"/>
              </a:rPr>
              <a:t> ADL, price-based: rising, with price: bullish confirmation.</a:t>
            </a:r>
          </a:p>
        </p:txBody>
      </p:sp>
      <p:sp>
        <p:nvSpPr>
          <p:cNvPr id="8" name="Rectangle 7"/>
          <p:cNvSpPr/>
          <p:nvPr/>
        </p:nvSpPr>
        <p:spPr>
          <a:xfrm>
            <a:off x="777240" y="5093208"/>
            <a:ext cx="82296" cy="45110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29784"/>
            <a:ext cx="4279392" cy="451103"/>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Each kind read by its own rule.</a:t>
            </a:r>
          </a:p>
        </p:txBody>
      </p:sp>
      <p:sp>
        <p:nvSpPr>
          <p:cNvPr id="10" name="TextBox 9"/>
          <p:cNvSpPr txBox="1"/>
          <p:nvPr/>
        </p:nvSpPr>
        <p:spPr>
          <a:xfrm>
            <a:off x="777240" y="5745480"/>
            <a:ext cx="4572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gives no rule for which reading to believe.</a:t>
            </a:r>
          </a:p>
        </p:txBody>
      </p:sp>
      <p:sp>
        <p:nvSpPr>
          <p:cNvPr id="11" name="Rectangle 10"/>
          <p:cNvSpPr/>
          <p:nvPr/>
        </p:nvSpPr>
        <p:spPr>
          <a:xfrm>
            <a:off x="5669279" y="1810512"/>
            <a:ext cx="5745175" cy="2662244"/>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788151" y="1929384"/>
            <a:ext cx="5507431" cy="2424500"/>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5788151" y="1929384"/>
            <a:ext cx="550743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062471" y="2203703"/>
            <a:ext cx="4958791" cy="196730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6.8</a:t>
            </a:r>
          </a:p>
          <a:p>
            <a:pPr algn="l">
              <a:lnSpc>
                <a:spcPct val="115000"/>
              </a:lnSpc>
              <a:spcBef>
                <a:spcPts val="0"/>
              </a:spcBef>
              <a:spcAft>
                <a:spcPts val="0"/>
              </a:spcAft>
            </a:pPr>
            <a:r>
              <a:rPr sz="1500" b="0" i="0">
                <a:solidFill>
                  <a:srgbClr val="1A1A1A"/>
                </a:solidFill>
                <a:latin typeface="Palatino"/>
              </a:rPr>
              <a:t>The bottom of Figure 6.8: a detrended volume oscillator, the PVO, labelled bearish divergence, and under it the accumulation distribution line rising, labelled bullish confirmation.</a:t>
            </a:r>
          </a:p>
        </p:txBody>
      </p:sp>
      <p:sp>
        <p:nvSpPr>
          <p:cNvPr id="15" name="Rectangle 14"/>
          <p:cNvSpPr/>
          <p:nvPr/>
        </p:nvSpPr>
        <p:spPr>
          <a:xfrm>
            <a:off x="5826704" y="1987572"/>
            <a:ext cx="5430326" cy="1095874"/>
          </a:xfrm>
          <a:prstGeom prst="rect">
            <a:avLst/>
          </a:prstGeom>
          <a:noFill/>
          <a:ln w="44450">
            <a:solidFill>
              <a:srgbClr val="E09B00"/>
            </a:solidFill>
          </a:ln>
        </p:spPr>
        <p:txBody>
          <a:bodyPr rtlCol="0" anchor="ctr"/>
          <a:lstStyle/>
          <a:p>
            <a:pPr algn="ctr"/>
          </a:p>
        </p:txBody>
      </p:sp>
      <p:sp>
        <p:nvSpPr>
          <p:cNvPr id="16" name="Rectangle 15"/>
          <p:cNvSpPr/>
          <p:nvPr/>
        </p:nvSpPr>
        <p:spPr>
          <a:xfrm>
            <a:off x="5826704" y="3122238"/>
            <a:ext cx="5430326" cy="1212250"/>
          </a:xfrm>
          <a:prstGeom prst="rect">
            <a:avLst/>
          </a:prstGeom>
          <a:noFill/>
          <a:ln w="44450">
            <a:solidFill>
              <a:srgbClr val="C62828"/>
            </a:solidFill>
          </a:ln>
        </p:spPr>
        <p:txBody>
          <a:bodyPr rtlCol="0" anchor="ctr"/>
          <a:lstStyle/>
          <a:p>
            <a:pPr algn="ctr"/>
          </a:p>
        </p:txBody>
      </p:sp>
      <p:sp>
        <p:nvSpPr>
          <p:cNvPr id="17" name="Oval 16"/>
          <p:cNvSpPr/>
          <p:nvPr/>
        </p:nvSpPr>
        <p:spPr>
          <a:xfrm>
            <a:off x="11101582" y="292799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1101582" y="417904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TextBox 18"/>
          <p:cNvSpPr txBox="1"/>
          <p:nvPr/>
        </p:nvSpPr>
        <p:spPr>
          <a:xfrm>
            <a:off x="5669279" y="4564196"/>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6.8 - Lim, The Handbook of Technical Analysis (Wiley, 2016)</a:t>
            </a:r>
          </a:p>
        </p:txBody>
      </p:sp>
      <p:sp>
        <p:nvSpPr>
          <p:cNvPr id="20" name="TextBox 1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and Figure 6.8. Shown: its two lower panels. PVO and detrending are on the figure and not explained by the book.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Volume as a timing indicator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Consolidation: price moving sideways in a range, here PHP 48 to 52.</a:t>
            </a:r>
          </a:p>
          <a:p>
            <a:pPr algn="l">
              <a:lnSpc>
                <a:spcPct val="105000"/>
              </a:lnSpc>
              <a:spcBef>
                <a:spcPts val="0"/>
              </a:spcBef>
              <a:spcAft>
                <a:spcPts val="1100"/>
              </a:spcAft>
            </a:pPr>
            <a:r>
              <a:rPr sz="1500" b="0" i="0">
                <a:solidFill>
                  <a:srgbClr val="1A1A1A"/>
                </a:solidFill>
                <a:latin typeface="Arial"/>
              </a:rPr>
              <a:t>The book: as volume falls close to its lowest historical level, a breakout from the range is expected.</a:t>
            </a:r>
          </a:p>
          <a:p>
            <a:pPr algn="l">
              <a:lnSpc>
                <a:spcPct val="105000"/>
              </a:lnSpc>
              <a:spcBef>
                <a:spcPts val="0"/>
              </a:spcBef>
              <a:spcAft>
                <a:spcPts val="1100"/>
              </a:spcAft>
            </a:pPr>
            <a:r>
              <a:rPr sz="1500" b="0" i="0">
                <a:solidFill>
                  <a:srgbClr val="1A1A1A"/>
                </a:solidFill>
                <a:latin typeface="Arial"/>
              </a:rPr>
              <a:t>Ours: an earlier low, 0.45 million, sets the dashed level. Volume falls back to 0.42 at 1, testing it; at 2 price breaks out on 3.6 million.</a:t>
            </a:r>
          </a:p>
        </p:txBody>
      </p:sp>
      <p:sp>
        <p:nvSpPr>
          <p:cNvPr id="8" name="Rectangle 7"/>
          <p:cNvSpPr/>
          <p:nvPr/>
        </p:nvSpPr>
        <p:spPr>
          <a:xfrm>
            <a:off x="777240" y="4581144"/>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7720"/>
            <a:ext cx="482803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No divergence reading in a range: price moves sideways.</a:t>
            </a:r>
          </a:p>
        </p:txBody>
      </p:sp>
      <p:sp>
        <p:nvSpPr>
          <p:cNvPr id="10" name="TextBox 9"/>
          <p:cNvSpPr txBox="1"/>
          <p:nvPr/>
        </p:nvSpPr>
        <p:spPr>
          <a:xfrm>
            <a:off x="777240" y="541629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So falling volume in a range is not weakness. How far back historical reaches, the book does not say.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j.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Consolidation and breakout: Chapters 2 and 4. The chart is ours, on invented prices and volume; the numbers are read off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lowest volume times the breakout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Volume shrinks as each side finishes: most who wanted to buy have bought, most who wanted to sell have sold.</a:t>
            </a:r>
          </a:p>
          <a:p>
            <a:pPr algn="l">
              <a:lnSpc>
                <a:spcPct val="118000"/>
              </a:lnSpc>
              <a:spcBef>
                <a:spcPts val="0"/>
              </a:spcBef>
              <a:spcAft>
                <a:spcPts val="1300"/>
              </a:spcAft>
            </a:pPr>
            <a:r>
              <a:rPr sz="2100" b="0" i="0">
                <a:solidFill>
                  <a:srgbClr val="1A1A1A"/>
                </a:solidFill>
                <a:latin typeface="Arial"/>
              </a:rPr>
              <a:t>2  Stop orders pile up outside the range: buy stops above PHP 52, sell stops below PHP 48 (Chapter 1: they trade once price pushes through their level).</a:t>
            </a:r>
          </a:p>
          <a:p>
            <a:pPr algn="l">
              <a:lnSpc>
                <a:spcPct val="118000"/>
              </a:lnSpc>
              <a:spcBef>
                <a:spcPts val="0"/>
              </a:spcBef>
              <a:spcAft>
                <a:spcPts val="1300"/>
              </a:spcAft>
            </a:pPr>
            <a:r>
              <a:rPr sz="2100" b="0" i="0">
                <a:solidFill>
                  <a:srgbClr val="1A1A1A"/>
                </a:solidFill>
                <a:latin typeface="Arial"/>
              </a:rPr>
              <a:t>3  When price reaches one edge, those stops trigger together and push it out: the catalyst.</a:t>
            </a:r>
          </a:p>
          <a:p>
            <a:pPr algn="l">
              <a:lnSpc>
                <a:spcPct val="118000"/>
              </a:lnSpc>
              <a:spcBef>
                <a:spcPts val="0"/>
              </a:spcBef>
              <a:spcAft>
                <a:spcPts val="1300"/>
              </a:spcAft>
            </a:pPr>
            <a:r>
              <a:rPr sz="2100" b="0" i="0">
                <a:solidFill>
                  <a:srgbClr val="1A1A1A"/>
                </a:solidFill>
                <a:latin typeface="Arial"/>
              </a:rPr>
              <a:t>4  Up or down, the book does not say: let price show the way.</a:t>
            </a:r>
          </a:p>
        </p:txBody>
      </p:sp>
      <p:sp>
        <p:nvSpPr>
          <p:cNvPr id="8" name="Rectangle 7"/>
          <p:cNvSpPr/>
          <p:nvPr/>
        </p:nvSpPr>
        <p:spPr>
          <a:xfrm>
            <a:off x="777240" y="521131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 to do: volume back at an earlier low, expect a breakout.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the reasons are the book's. Stop orders: Chapters 1 and 5. The PHP 48 and 52 edges are ours.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steps on one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3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1  Volume shrinks, to 0.42 million.</a:t>
            </a:r>
          </a:p>
          <a:p>
            <a:pPr algn="l">
              <a:lnSpc>
                <a:spcPct val="105000"/>
              </a:lnSpc>
              <a:spcBef>
                <a:spcPts val="0"/>
              </a:spcBef>
              <a:spcAft>
                <a:spcPts val="1100"/>
              </a:spcAft>
            </a:pPr>
            <a:r>
              <a:rPr sz="2000" b="0" i="0">
                <a:solidFill>
                  <a:srgbClr val="1A1A1A"/>
                </a:solidFill>
                <a:latin typeface="Arial"/>
              </a:rPr>
              <a:t>2  Buy stops wait above PHP 52, sell stops below PHP 48.</a:t>
            </a:r>
          </a:p>
          <a:p>
            <a:pPr algn="l">
              <a:lnSpc>
                <a:spcPct val="105000"/>
              </a:lnSpc>
              <a:spcBef>
                <a:spcPts val="0"/>
              </a:spcBef>
              <a:spcAft>
                <a:spcPts val="1100"/>
              </a:spcAft>
            </a:pPr>
            <a:r>
              <a:rPr sz="2000" b="0" i="0">
                <a:solidFill>
                  <a:srgbClr val="1A1A1A"/>
                </a:solidFill>
                <a:latin typeface="Arial"/>
              </a:rPr>
              <a:t>3  Price reaches the top edge: the buy stops trigger.</a:t>
            </a:r>
          </a:p>
          <a:p>
            <a:pPr algn="l">
              <a:lnSpc>
                <a:spcPct val="105000"/>
              </a:lnSpc>
              <a:spcBef>
                <a:spcPts val="0"/>
              </a:spcBef>
              <a:spcAft>
                <a:spcPts val="1100"/>
              </a:spcAft>
            </a:pPr>
            <a:r>
              <a:rPr sz="2000" b="0" i="0">
                <a:solidFill>
                  <a:srgbClr val="1A1A1A"/>
                </a:solidFill>
                <a:latin typeface="Arial"/>
              </a:rPr>
              <a:t>4  It breaks out up, on 3.6 million.</a:t>
            </a:r>
          </a:p>
        </p:txBody>
      </p:sp>
      <p:sp>
        <p:nvSpPr>
          <p:cNvPr id="8" name="Rectangle 7"/>
          <p:cNvSpPr/>
          <p:nvPr/>
        </p:nvSpPr>
        <p:spPr>
          <a:xfrm>
            <a:off x="777240" y="4745736"/>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82312"/>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quiet range is where the breakout is loaded.</a:t>
            </a:r>
          </a:p>
        </p:txBody>
      </p:sp>
      <p:sp>
        <p:nvSpPr>
          <p:cNvPr id="10" name="Rectangle 9"/>
          <p:cNvSpPr/>
          <p:nvPr/>
        </p:nvSpPr>
        <p:spPr>
          <a:xfrm>
            <a:off x="640217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ga.png"/>
          <p:cNvPicPr>
            <a:picLocks noChangeAspect="1"/>
          </p:cNvPicPr>
          <p:nvPr/>
        </p:nvPicPr>
        <p:blipFill>
          <a:blip r:embed="rId2"/>
          <a:stretch>
            <a:fillRect/>
          </a:stretch>
        </p:blipFill>
        <p:spPr>
          <a:xfrm>
            <a:off x="6521043" y="1929384"/>
            <a:ext cx="459028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GA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p.180's four reasons, drawn on our invented range, PHP 48 to 52. Every price and volume is ours.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Low volume breakout signal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4 of 30</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A signal, not a trade: in a range, volume falls back to a low it has touched before, testing it. Expect price to leave the range soon, up or down.</a:t>
            </a:r>
          </a:p>
        </p:txBody>
      </p:sp>
      <p:sp>
        <p:nvSpPr>
          <p:cNvPr id="10" name="Rectangle 9"/>
          <p:cNvSpPr/>
          <p:nvPr/>
        </p:nvSpPr>
        <p:spPr>
          <a:xfrm>
            <a:off x="777240" y="3401568"/>
            <a:ext cx="64008" cy="11155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39496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Figure 6.9, Apple: in late March, inside the Accumulation box </a:t>
            </a:r>
            <a:r>
              <a:rPr sz="1500" b="1" i="0">
                <a:solidFill>
                  <a:srgbClr val="C62828"/>
                </a:solidFill>
                <a:latin typeface="Arial"/>
              </a:rPr>
              <a:t>(2)</a:t>
            </a:r>
            <a:r>
              <a:rPr sz="1500" b="0" i="0">
                <a:solidFill>
                  <a:srgbClr val="1A1A1A"/>
                </a:solidFill>
                <a:latin typeface="Arial"/>
              </a:rPr>
              <a:t>, a buying range (Chapters 2 and 4), volume falls back to the dashed low volume level </a:t>
            </a:r>
            <a:r>
              <a:rPr sz="1500" b="1" i="0">
                <a:solidFill>
                  <a:srgbClr val="E09B00"/>
                </a:solidFill>
                <a:latin typeface="Arial"/>
              </a:rPr>
              <a:t>(1)</a:t>
            </a:r>
            <a:r>
              <a:rPr sz="1500" b="0" i="0">
                <a:solidFill>
                  <a:srgbClr val="1A1A1A"/>
                </a:solidFill>
                <a:latin typeface="Arial"/>
              </a:rPr>
              <a:t>, at </a:t>
            </a:r>
            <a:r>
              <a:rPr sz="1500" b="1" i="0">
                <a:solidFill>
                  <a:srgbClr val="1F5FAD"/>
                </a:solidFill>
                <a:latin typeface="Arial"/>
              </a:rPr>
              <a:t>(3)</a:t>
            </a:r>
            <a:r>
              <a:rPr sz="1500" b="0" i="0">
                <a:solidFill>
                  <a:srgbClr val="1A1A1A"/>
                </a:solidFill>
                <a:latin typeface="Arial"/>
              </a:rPr>
              <a:t>. In April price breaks out of the top.</a:t>
            </a:r>
          </a:p>
        </p:txBody>
      </p:sp>
      <p:sp>
        <p:nvSpPr>
          <p:cNvPr id="12" name="Rectangle 11"/>
          <p:cNvSpPr/>
          <p:nvPr/>
        </p:nvSpPr>
        <p:spPr>
          <a:xfrm>
            <a:off x="777240" y="4773168"/>
            <a:ext cx="64008" cy="886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727448"/>
            <a:ext cx="539496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Whenever the volume is testing a significant minimum or its lowest historical levels, a breakout is expected. We refer to this as a low volume breakout signal.</a:t>
            </a:r>
          </a:p>
        </p:txBody>
      </p:sp>
      <p:sp>
        <p:nvSpPr>
          <p:cNvPr id="14" name="Rectangle 13"/>
          <p:cNvSpPr/>
          <p:nvPr/>
        </p:nvSpPr>
        <p:spPr>
          <a:xfrm>
            <a:off x="6766559" y="2157984"/>
            <a:ext cx="4647894" cy="3311993"/>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885431" y="2276856"/>
            <a:ext cx="4410151" cy="3074249"/>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885431" y="2276856"/>
            <a:ext cx="441015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7159751" y="2551175"/>
            <a:ext cx="3861511" cy="261704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6.9</a:t>
            </a:r>
          </a:p>
          <a:p>
            <a:pPr algn="l">
              <a:lnSpc>
                <a:spcPct val="115000"/>
              </a:lnSpc>
              <a:spcBef>
                <a:spcPts val="0"/>
              </a:spcBef>
              <a:spcAft>
                <a:spcPts val="0"/>
              </a:spcAft>
            </a:pPr>
            <a:r>
              <a:rPr sz="1500" b="0" i="0">
                <a:solidFill>
                  <a:srgbClr val="1A1A1A"/>
                </a:solidFill>
                <a:latin typeface="Palatino"/>
              </a:rPr>
              <a:t>A daily Apple chart with a low volume level drawn across its volume panel. Circles mark two low volume reversals at time lines 1 and 2, a bearish divergence and a bearish confirmation, and later an accumulation box that price leaves on a low volume breakout signal.</a:t>
            </a:r>
          </a:p>
        </p:txBody>
      </p:sp>
      <p:cxnSp>
        <p:nvCxnSpPr>
          <p:cNvPr id="18" name="Connector 17"/>
          <p:cNvCxnSpPr/>
          <p:nvPr/>
        </p:nvCxnSpPr>
        <p:spPr>
          <a:xfrm>
            <a:off x="6929533" y="4963750"/>
            <a:ext cx="4321948" cy="0"/>
          </a:xfrm>
          <a:prstGeom prst="line">
            <a:avLst/>
          </a:prstGeom>
          <a:ln w="44450">
            <a:solidFill>
              <a:srgbClr val="E09B00"/>
            </a:solidFill>
          </a:ln>
        </p:spPr>
      </p:cxnSp>
      <p:sp>
        <p:nvSpPr>
          <p:cNvPr id="19" name="Rectangle 18"/>
          <p:cNvSpPr/>
          <p:nvPr/>
        </p:nvSpPr>
        <p:spPr>
          <a:xfrm>
            <a:off x="9496241" y="2937819"/>
            <a:ext cx="1428888" cy="740894"/>
          </a:xfrm>
          <a:prstGeom prst="rect">
            <a:avLst/>
          </a:prstGeom>
          <a:noFill/>
          <a:ln w="44450">
            <a:solidFill>
              <a:srgbClr val="C62828"/>
            </a:solidFill>
          </a:ln>
        </p:spPr>
        <p:txBody>
          <a:bodyPr rtlCol="0" anchor="ctr"/>
          <a:lstStyle/>
          <a:p>
            <a:pPr algn="ctr"/>
          </a:p>
        </p:txBody>
      </p:sp>
      <p:sp>
        <p:nvSpPr>
          <p:cNvPr id="20" name="Oval 19"/>
          <p:cNvSpPr/>
          <p:nvPr/>
        </p:nvSpPr>
        <p:spPr>
          <a:xfrm>
            <a:off x="10431193" y="4524132"/>
            <a:ext cx="529218" cy="562587"/>
          </a:xfrm>
          <a:prstGeom prst="ellipse">
            <a:avLst/>
          </a:prstGeom>
          <a:noFill/>
          <a:ln w="44450">
            <a:solidFill>
              <a:srgbClr val="1F5FAD"/>
            </a:solidFill>
          </a:ln>
        </p:spPr>
        <p:txBody>
          <a:bodyPr rtlCol="0" anchor="ctr"/>
          <a:lstStyle/>
          <a:p>
            <a:pPr algn="ctr"/>
          </a:p>
        </p:txBody>
      </p:sp>
      <p:sp>
        <p:nvSpPr>
          <p:cNvPr id="21" name="Oval 20"/>
          <p:cNvSpPr/>
          <p:nvPr/>
        </p:nvSpPr>
        <p:spPr>
          <a:xfrm>
            <a:off x="6774085" y="480830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2" name="Oval 21"/>
          <p:cNvSpPr/>
          <p:nvPr/>
        </p:nvSpPr>
        <p:spPr>
          <a:xfrm>
            <a:off x="9340793" y="278237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3" name="Oval 22"/>
          <p:cNvSpPr/>
          <p:nvPr/>
        </p:nvSpPr>
        <p:spPr>
          <a:xfrm>
            <a:off x="10875525" y="493127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4" name="TextBox 23"/>
          <p:cNvSpPr txBox="1"/>
          <p:nvPr/>
        </p:nvSpPr>
        <p:spPr>
          <a:xfrm>
            <a:off x="6766559" y="5561417"/>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6.9 - Lim, The Handbook of Technical Analysis (Wiley, 2016)</a:t>
            </a:r>
          </a:p>
        </p:txBody>
      </p:sp>
      <p:sp>
        <p:nvSpPr>
          <p:cNvPr id="25" name="TextBox 2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pp.180-181 and Figure 6.9. Accumulation: Chapters 2 and 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Low volume reversal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5 of 30</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Price turns as volume sits at its minimum. In a trend, volume testing its low says the trend may turn, the book's tendency; price shows which way.</a:t>
            </a:r>
          </a:p>
        </p:txBody>
      </p:sp>
      <p:sp>
        <p:nvSpPr>
          <p:cNvPr id="10" name="Rectangle 9"/>
          <p:cNvSpPr/>
          <p:nvPr/>
        </p:nvSpPr>
        <p:spPr>
          <a:xfrm>
            <a:off x="777240" y="3401568"/>
            <a:ext cx="64008" cy="886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Ours: volume shrinks to 0.55 million at 1, the PHP 56 peak, and price turns down. That low is the dashed line. At 2, PHP 47, volume falls back to it and price turns up.</a:t>
            </a:r>
          </a:p>
        </p:txBody>
      </p:sp>
      <p:sp>
        <p:nvSpPr>
          <p:cNvPr id="12" name="Rectangle 11"/>
          <p:cNvSpPr/>
          <p:nvPr/>
        </p:nvSpPr>
        <p:spPr>
          <a:xfrm>
            <a:off x="777240" y="4544568"/>
            <a:ext cx="64008" cy="886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There is a tendency for price to reverse when volume is at its minimum or lowest historical levels. We refer to such reversals as low volume reversals.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k.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K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p.180 gives the term; Figure 6.9 (p.181) has two. The chart is ours, on invented prices, because that figure is dense. The book does not say how the low is set.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Breakouts at the lowest volume: silver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6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The three boxes are consolidations. The low volume threshold </a:t>
            </a:r>
            <a:r>
              <a:rPr sz="1600" b="1" i="0">
                <a:solidFill>
                  <a:srgbClr val="E09B00"/>
                </a:solidFill>
                <a:latin typeface="Arial"/>
              </a:rPr>
              <a:t>(1)</a:t>
            </a:r>
            <a:r>
              <a:rPr sz="1600" b="0" i="0">
                <a:solidFill>
                  <a:srgbClr val="1A1A1A"/>
                </a:solidFill>
                <a:latin typeface="Arial"/>
              </a:rPr>
              <a:t> runs low across the volume panel, near 10 million shares.</a:t>
            </a:r>
          </a:p>
          <a:p>
            <a:pPr algn="l">
              <a:lnSpc>
                <a:spcPct val="105000"/>
              </a:lnSpc>
              <a:spcBef>
                <a:spcPts val="0"/>
              </a:spcBef>
              <a:spcAft>
                <a:spcPts val="1100"/>
              </a:spcAft>
            </a:pPr>
            <a:r>
              <a:rPr sz="1600" b="0" i="0">
                <a:solidFill>
                  <a:srgbClr val="1A1A1A"/>
                </a:solidFill>
                <a:latin typeface="Arial"/>
              </a:rPr>
              <a:t>Dotted arrows: volume falls to it in each box. Then price breaks out: up at 1, from an accumulation; down at 2 and 3, from distributions, ranges where informed holders sell.</a:t>
            </a:r>
          </a:p>
          <a:p>
            <a:pPr algn="l">
              <a:lnSpc>
                <a:spcPct val="105000"/>
              </a:lnSpc>
              <a:spcBef>
                <a:spcPts val="0"/>
              </a:spcBef>
              <a:spcAft>
                <a:spcPts val="1100"/>
              </a:spcAft>
            </a:pPr>
            <a:r>
              <a:rPr sz="1600" b="0" i="0">
                <a:solidFill>
                  <a:srgbClr val="1A1A1A"/>
                </a:solidFill>
                <a:latin typeface="Arial"/>
              </a:rPr>
              <a:t>Volume rises on the breakout bars, </a:t>
            </a:r>
            <a:r>
              <a:rPr sz="1600" b="1" i="0">
                <a:solidFill>
                  <a:srgbClr val="C62828"/>
                </a:solidFill>
                <a:latin typeface="Arial"/>
              </a:rPr>
              <a:t>(2)</a:t>
            </a:r>
            <a:r>
              <a:rPr sz="1600" b="0" i="0">
                <a:solidFill>
                  <a:srgbClr val="1A1A1A"/>
                </a:solidFill>
                <a:latin typeface="Arial"/>
              </a:rPr>
              <a:t>, </a:t>
            </a:r>
            <a:r>
              <a:rPr sz="1600" b="1" i="0">
                <a:solidFill>
                  <a:srgbClr val="1F5FAD"/>
                </a:solidFill>
                <a:latin typeface="Arial"/>
              </a:rPr>
              <a:t>(3)</a:t>
            </a:r>
            <a:r>
              <a:rPr sz="1600" b="0" i="0">
                <a:solidFill>
                  <a:srgbClr val="1A1A1A"/>
                </a:solidFill>
                <a:latin typeface="Arial"/>
              </a:rPr>
              <a:t> and </a:t>
            </a:r>
            <a:r>
              <a:rPr sz="1600" b="1" i="0">
                <a:solidFill>
                  <a:srgbClr val="007A33"/>
                </a:solidFill>
                <a:latin typeface="Arial"/>
              </a:rPr>
              <a:t>(4)</a:t>
            </a:r>
            <a:r>
              <a:rPr sz="1600" b="0" i="0">
                <a:solidFill>
                  <a:srgbClr val="1A1A1A"/>
                </a:solidFill>
                <a:latin typeface="Arial"/>
              </a:rPr>
              <a:t>, under the book's 1, 2 and 3.</a:t>
            </a:r>
          </a:p>
        </p:txBody>
      </p:sp>
      <p:sp>
        <p:nvSpPr>
          <p:cNvPr id="8" name="Rectangle 7"/>
          <p:cNvSpPr/>
          <p:nvPr/>
        </p:nvSpPr>
        <p:spPr>
          <a:xfrm>
            <a:off x="777240" y="4965192"/>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One signal, three times: it said when; price chose the way.</a:t>
            </a:r>
          </a:p>
        </p:txBody>
      </p:sp>
      <p:sp>
        <p:nvSpPr>
          <p:cNvPr id="10" name="Rectangle 9"/>
          <p:cNvSpPr/>
          <p:nvPr/>
        </p:nvSpPr>
        <p:spPr>
          <a:xfrm>
            <a:off x="6217919" y="1810512"/>
            <a:ext cx="5196535" cy="321242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97467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51747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6.10</a:t>
            </a:r>
          </a:p>
          <a:p>
            <a:pPr algn="l">
              <a:lnSpc>
                <a:spcPct val="115000"/>
              </a:lnSpc>
              <a:spcBef>
                <a:spcPts val="0"/>
              </a:spcBef>
              <a:spcAft>
                <a:spcPts val="0"/>
              </a:spcAft>
            </a:pPr>
            <a:r>
              <a:rPr sz="1500" b="0" i="0">
                <a:solidFill>
                  <a:srgbClr val="1A1A1A"/>
                </a:solidFill>
                <a:latin typeface="Palatino"/>
              </a:rPr>
              <a:t>The daily iShares Silver Trust with three consolidations boxed and a low volume threshold drawn across the volume panel. Dotted arrows show volume falling to the threshold in each box, and the breakouts at bars 1, 2 and 3 follow, with volume rising on each breakout bar.</a:t>
            </a:r>
          </a:p>
        </p:txBody>
      </p:sp>
      <p:cxnSp>
        <p:nvCxnSpPr>
          <p:cNvPr id="14" name="Connector 13"/>
          <p:cNvCxnSpPr/>
          <p:nvPr/>
        </p:nvCxnSpPr>
        <p:spPr>
          <a:xfrm>
            <a:off x="6366544" y="4630393"/>
            <a:ext cx="4899286" cy="0"/>
          </a:xfrm>
          <a:prstGeom prst="line">
            <a:avLst/>
          </a:prstGeom>
          <a:ln w="44450">
            <a:solidFill>
              <a:srgbClr val="E09B00"/>
            </a:solidFill>
          </a:ln>
        </p:spPr>
      </p:cxnSp>
      <p:sp>
        <p:nvSpPr>
          <p:cNvPr id="15" name="Oval 14"/>
          <p:cNvSpPr/>
          <p:nvPr/>
        </p:nvSpPr>
        <p:spPr>
          <a:xfrm>
            <a:off x="7988069" y="4359697"/>
            <a:ext cx="223145" cy="345062"/>
          </a:xfrm>
          <a:prstGeom prst="ellipse">
            <a:avLst/>
          </a:prstGeom>
          <a:noFill/>
          <a:ln w="44450">
            <a:solidFill>
              <a:srgbClr val="C62828"/>
            </a:solidFill>
          </a:ln>
        </p:spPr>
        <p:txBody>
          <a:bodyPr rtlCol="0" anchor="ctr"/>
          <a:lstStyle/>
          <a:p>
            <a:pPr algn="ctr"/>
          </a:p>
        </p:txBody>
      </p:sp>
      <p:sp>
        <p:nvSpPr>
          <p:cNvPr id="16" name="Oval 15"/>
          <p:cNvSpPr/>
          <p:nvPr/>
        </p:nvSpPr>
        <p:spPr>
          <a:xfrm>
            <a:off x="10075720" y="4395393"/>
            <a:ext cx="223145" cy="309366"/>
          </a:xfrm>
          <a:prstGeom prst="ellipse">
            <a:avLst/>
          </a:prstGeom>
          <a:noFill/>
          <a:ln w="44450">
            <a:solidFill>
              <a:srgbClr val="1F5FAD"/>
            </a:solidFill>
          </a:ln>
        </p:spPr>
        <p:txBody>
          <a:bodyPr rtlCol="0" anchor="ctr"/>
          <a:lstStyle/>
          <a:p>
            <a:pPr algn="ctr"/>
          </a:p>
        </p:txBody>
      </p:sp>
      <p:sp>
        <p:nvSpPr>
          <p:cNvPr id="17" name="Oval 16"/>
          <p:cNvSpPr/>
          <p:nvPr/>
        </p:nvSpPr>
        <p:spPr>
          <a:xfrm>
            <a:off x="10735239" y="4297229"/>
            <a:ext cx="233063" cy="407531"/>
          </a:xfrm>
          <a:prstGeom prst="ellipse">
            <a:avLst/>
          </a:prstGeom>
          <a:noFill/>
          <a:ln w="44450">
            <a:solidFill>
              <a:srgbClr val="007A33"/>
            </a:solidFill>
          </a:ln>
        </p:spPr>
        <p:txBody>
          <a:bodyPr rtlCol="0" anchor="ctr"/>
          <a:lstStyle/>
          <a:p>
            <a:pPr algn="ctr"/>
          </a:p>
        </p:txBody>
      </p:sp>
      <p:sp>
        <p:nvSpPr>
          <p:cNvPr id="18" name="Oval 17"/>
          <p:cNvSpPr/>
          <p:nvPr/>
        </p:nvSpPr>
        <p:spPr>
          <a:xfrm>
            <a:off x="6211096" y="447494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7832621" y="420424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9920272" y="423994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579791" y="4141781"/>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217919" y="5114375"/>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6.10 -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and Figure 6.10. Accumulation and distribution: Chapters 2 and 4. The 10 million is read by eye off the figure's scale.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Volume-weighted moving average, VWMA</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7 of 30</a:t>
            </a:r>
          </a:p>
        </p:txBody>
      </p:sp>
      <p:sp>
        <p:nvSpPr>
          <p:cNvPr id="8" name="Rectangle 7"/>
          <p:cNvSpPr/>
          <p:nvPr/>
        </p:nvSpPr>
        <p:spPr>
          <a:xfrm>
            <a:off x="777240" y="2258568"/>
            <a:ext cx="64008" cy="11155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A moving average: the average of the last few closes, redone at each new bar. Volume-weighted: each close counts by its volume, so heavy days pull the line toward their price.</a:t>
            </a:r>
          </a:p>
        </p:txBody>
      </p:sp>
      <p:sp>
        <p:nvSpPr>
          <p:cNvPr id="10" name="Rectangle 9"/>
          <p:cNvSpPr/>
          <p:nvPr/>
        </p:nvSpPr>
        <p:spPr>
          <a:xfrm>
            <a:off x="777240" y="3630168"/>
            <a:ext cx="64008" cy="886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5844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Line at PHP 50: price at 52, above it, is potentially bullish; at 48, below it, potentially bearish. Our chart: the gold dot crosses above, the green dot below.</a:t>
            </a:r>
          </a:p>
        </p:txBody>
      </p:sp>
      <p:sp>
        <p:nvSpPr>
          <p:cNvPr id="12" name="Rectangle 11"/>
          <p:cNvSpPr/>
          <p:nvPr/>
        </p:nvSpPr>
        <p:spPr>
          <a:xfrm>
            <a:off x="777240" y="4773168"/>
            <a:ext cx="64008" cy="8869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727448"/>
            <a:ext cx="576072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A VWMA may be created to track overvalued and undervalued stock. Typically, price is considered potentially bullish when it is above the VWMA, and bearish when below it.</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l.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L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It defers the calculation to Chapter 11. Moving averages: met in Chapters 4 and 5. The chart is ours; its line is a 10-bar VWMA we computed.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our VWMA line is computed,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8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three bars close at PHP 50, 52 and 54, on 1, 1 and 2 million shares.</a:t>
            </a:r>
          </a:p>
          <a:p>
            <a:pPr algn="l">
              <a:lnSpc>
                <a:spcPct val="118000"/>
              </a:lnSpc>
              <a:spcBef>
                <a:spcPts val="0"/>
              </a:spcBef>
              <a:spcAft>
                <a:spcPts val="1300"/>
              </a:spcAft>
            </a:pPr>
            <a:r>
              <a:rPr sz="2100" b="0" i="0">
                <a:solidFill>
                  <a:srgbClr val="1A1A1A"/>
                </a:solidFill>
                <a:latin typeface="Arial"/>
              </a:rPr>
              <a:t>Plain average: (50 + 52 + 54) / 3 = PHP 52. Every bar counts the same.</a:t>
            </a:r>
          </a:p>
          <a:p>
            <a:pPr algn="l">
              <a:lnSpc>
                <a:spcPct val="118000"/>
              </a:lnSpc>
              <a:spcBef>
                <a:spcPts val="0"/>
              </a:spcBef>
              <a:spcAft>
                <a:spcPts val="1300"/>
              </a:spcAft>
            </a:pPr>
            <a:r>
              <a:rPr sz="2100" b="0" i="0">
                <a:solidFill>
                  <a:srgbClr val="1A1A1A"/>
                </a:solidFill>
                <a:latin typeface="Arial"/>
              </a:rPr>
              <a:t>Volume-weighted: each close times its volume, added up, divided by the total volume: (50 x 1 + 52 x 1 + 54 x 2) / 4 = 210 / 4 = PHP 52.50.</a:t>
            </a:r>
          </a:p>
          <a:p>
            <a:pPr algn="l">
              <a:lnSpc>
                <a:spcPct val="118000"/>
              </a:lnSpc>
              <a:spcBef>
                <a:spcPts val="0"/>
              </a:spcBef>
              <a:spcAft>
                <a:spcPts val="1300"/>
              </a:spcAft>
            </a:pPr>
            <a:r>
              <a:rPr sz="2100" b="0" i="0">
                <a:solidFill>
                  <a:srgbClr val="1A1A1A"/>
                </a:solidFill>
                <a:latin typeface="Arial"/>
              </a:rPr>
              <a:t>The heavy PHP 54 day pulls the line up toward it. At the next bar, drop the oldest, add the newest, compute again; our charts use 10 bars.</a:t>
            </a:r>
          </a:p>
        </p:txBody>
      </p:sp>
      <p:sp>
        <p:nvSpPr>
          <p:cNvPr id="8" name="Rectangle 7"/>
          <p:cNvSpPr/>
          <p:nvPr/>
        </p:nvSpPr>
        <p:spPr>
          <a:xfrm>
            <a:off x="777240" y="4896612"/>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33188"/>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VWMA: the average price, weighted by how much traded at it.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how our charts compute the line, read from build/charts_chapter06.py, on invented numbers. The book's own calculation is in its Chapter 11.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VWMA on a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9 of 30</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 10-minute chart of the S&amp;P 500 SPDR. Dashed </a:t>
            </a:r>
            <a:r>
              <a:rPr sz="1600" b="1" i="0">
                <a:solidFill>
                  <a:srgbClr val="E09B00"/>
                </a:solidFill>
                <a:latin typeface="Arial"/>
              </a:rPr>
              <a:t>(1)</a:t>
            </a:r>
            <a:r>
              <a:rPr sz="1600" b="0" i="0">
                <a:solidFill>
                  <a:srgbClr val="1A1A1A"/>
                </a:solidFill>
                <a:latin typeface="Arial"/>
              </a:rPr>
              <a:t>: the line labelled VWAP, volume-weighted average price; the book treats VWAP and VWMA as one line here.</a:t>
            </a:r>
          </a:p>
          <a:p>
            <a:pPr algn="l">
              <a:lnSpc>
                <a:spcPct val="105000"/>
              </a:lnSpc>
              <a:spcBef>
                <a:spcPts val="0"/>
              </a:spcBef>
              <a:spcAft>
                <a:spcPts val="1100"/>
              </a:spcAft>
            </a:pPr>
            <a:r>
              <a:rPr sz="1600" b="1" i="0">
                <a:solidFill>
                  <a:srgbClr val="C62828"/>
                </a:solidFill>
                <a:latin typeface="Arial"/>
              </a:rPr>
              <a:t>(2)</a:t>
            </a:r>
            <a:r>
              <a:rPr sz="1600" b="0" i="0">
                <a:solidFill>
                  <a:srgbClr val="1A1A1A"/>
                </a:solidFill>
                <a:latin typeface="Arial"/>
              </a:rPr>
              <a:t> Price rises decisively each time it crosses above the line, and falls after crossing below.</a:t>
            </a:r>
          </a:p>
          <a:p>
            <a:pPr algn="l">
              <a:lnSpc>
                <a:spcPct val="105000"/>
              </a:lnSpc>
              <a:spcBef>
                <a:spcPts val="0"/>
              </a:spcBef>
              <a:spcAft>
                <a:spcPts val="1100"/>
              </a:spcAft>
            </a:pPr>
            <a:r>
              <a:rPr sz="1600" b="1" i="0">
                <a:solidFill>
                  <a:srgbClr val="1F5FAD"/>
                </a:solidFill>
                <a:latin typeface="Arial"/>
              </a:rPr>
              <a:t>(3)</a:t>
            </a:r>
            <a:r>
              <a:rPr sz="1600" b="0" i="0">
                <a:solidFill>
                  <a:srgbClr val="1A1A1A"/>
                </a:solidFill>
                <a:latin typeface="Arial"/>
              </a:rPr>
              <a:t> The four circles: each day's volume peak, its busiest stretch (Part 5). Dashed arrows run up from each: the crossovers came at those peaks.</a:t>
            </a:r>
          </a:p>
        </p:txBody>
      </p:sp>
      <p:sp>
        <p:nvSpPr>
          <p:cNvPr id="8" name="Rectangle 7"/>
          <p:cNvSpPr/>
          <p:nvPr/>
        </p:nvSpPr>
        <p:spPr>
          <a:xfrm>
            <a:off x="777240" y="4709160"/>
            <a:ext cx="82296" cy="405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45736"/>
            <a:ext cx="5193792" cy="40538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Above the line, bullish; below it, bearish.</a:t>
            </a:r>
          </a:p>
        </p:txBody>
      </p:sp>
      <p:sp>
        <p:nvSpPr>
          <p:cNvPr id="10" name="TextBox 9"/>
          <p:cNvSpPr txBox="1"/>
          <p:nvPr/>
        </p:nvSpPr>
        <p:spPr>
          <a:xfrm>
            <a:off x="777240" y="5315712"/>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So watch each day's busiest stretch: the crossovers came there, and the book gives no rule beyond that. The line also acts as support, a floor, and resistance, a ceiling (Chapter 5).</a:t>
            </a:r>
          </a:p>
        </p:txBody>
      </p:sp>
      <p:sp>
        <p:nvSpPr>
          <p:cNvPr id="11" name="Rectangle 10"/>
          <p:cNvSpPr/>
          <p:nvPr/>
        </p:nvSpPr>
        <p:spPr>
          <a:xfrm>
            <a:off x="6583679" y="1810512"/>
            <a:ext cx="4830775" cy="2901915"/>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2664171"/>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976871" y="2203703"/>
            <a:ext cx="4044391" cy="220697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6.11</a:t>
            </a:r>
          </a:p>
          <a:p>
            <a:pPr algn="l">
              <a:lnSpc>
                <a:spcPct val="115000"/>
              </a:lnSpc>
              <a:spcBef>
                <a:spcPts val="0"/>
              </a:spcBef>
              <a:spcAft>
                <a:spcPts val="0"/>
              </a:spcAft>
            </a:pPr>
            <a:r>
              <a:rPr sz="1300" b="0" i="0">
                <a:solidFill>
                  <a:srgbClr val="1A1A1A"/>
                </a:solidFill>
                <a:latin typeface="Palatino"/>
              </a:rPr>
              <a:t>A 10-minute chart of the S&amp;P 500 SPDR over four days with a dashed volume weighted average price line, labelled price above it bullish and below it bearish, and the line marked as support and as resistance. Circles on the volume panel mark the daily volume cycle peaks, with arrows from them to the crossovers.</a:t>
            </a:r>
          </a:p>
        </p:txBody>
      </p:sp>
      <p:cxnSp>
        <p:nvCxnSpPr>
          <p:cNvPr id="15" name="Connector 14"/>
          <p:cNvCxnSpPr/>
          <p:nvPr/>
        </p:nvCxnSpPr>
        <p:spPr>
          <a:xfrm flipH="1">
            <a:off x="8539764" y="2462218"/>
            <a:ext cx="321512" cy="639401"/>
          </a:xfrm>
          <a:prstGeom prst="line">
            <a:avLst/>
          </a:prstGeom>
          <a:ln w="44450">
            <a:solidFill>
              <a:srgbClr val="E09B00"/>
            </a:solidFill>
            <a:tailEnd type="triangle" w="med" len="med"/>
          </a:ln>
        </p:spPr>
      </p:cxnSp>
      <p:sp>
        <p:nvSpPr>
          <p:cNvPr id="16" name="Oval 15"/>
          <p:cNvSpPr/>
          <p:nvPr/>
        </p:nvSpPr>
        <p:spPr>
          <a:xfrm>
            <a:off x="8870462" y="3272126"/>
            <a:ext cx="298547" cy="311708"/>
          </a:xfrm>
          <a:prstGeom prst="ellipse">
            <a:avLst/>
          </a:prstGeom>
          <a:noFill/>
          <a:ln w="44450">
            <a:solidFill>
              <a:srgbClr val="C62828"/>
            </a:solidFill>
          </a:ln>
        </p:spPr>
        <p:txBody>
          <a:bodyPr rtlCol="0" anchor="ctr"/>
          <a:lstStyle/>
          <a:p>
            <a:pPr algn="ctr"/>
          </a:p>
        </p:txBody>
      </p:sp>
      <p:sp>
        <p:nvSpPr>
          <p:cNvPr id="17" name="Rectangle 16"/>
          <p:cNvSpPr/>
          <p:nvPr/>
        </p:nvSpPr>
        <p:spPr>
          <a:xfrm>
            <a:off x="7069994" y="3980795"/>
            <a:ext cx="2985470" cy="346342"/>
          </a:xfrm>
          <a:prstGeom prst="rect">
            <a:avLst/>
          </a:prstGeom>
          <a:noFill/>
          <a:ln w="44450">
            <a:solidFill>
              <a:srgbClr val="1F5FAD"/>
            </a:solidFill>
          </a:ln>
        </p:spPr>
        <p:txBody>
          <a:bodyPr rtlCol="0" anchor="ctr"/>
          <a:lstStyle/>
          <a:p>
            <a:pPr algn="ctr"/>
          </a:p>
        </p:txBody>
      </p:sp>
      <p:sp>
        <p:nvSpPr>
          <p:cNvPr id="18" name="Oval 17"/>
          <p:cNvSpPr/>
          <p:nvPr/>
        </p:nvSpPr>
        <p:spPr>
          <a:xfrm>
            <a:off x="8705828" y="230677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623154" y="347900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6776755" y="399851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6583679" y="4803867"/>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6.11 -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and Figure 6.11. The figure is labelled VWAP on a 10-minute chart; the caption says VWMA, daily. Support and resistance: Chapter 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Undervalued below, overvalued above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10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The book also calls a stock undervalued below the VWMA and overvalued above it.</a:t>
            </a:r>
          </a:p>
          <a:p>
            <a:pPr algn="l">
              <a:lnSpc>
                <a:spcPct val="105000"/>
              </a:lnSpc>
              <a:spcBef>
                <a:spcPts val="0"/>
              </a:spcBef>
              <a:spcAft>
                <a:spcPts val="1100"/>
              </a:spcAft>
            </a:pPr>
            <a:r>
              <a:rPr sz="1600" b="0" i="0">
                <a:solidFill>
                  <a:srgbClr val="1A1A1A"/>
                </a:solidFill>
                <a:latin typeface="Arial"/>
              </a:rPr>
              <a:t>Its buy signals come from another method, unnamed; the VWMA only decides whether to take one.</a:t>
            </a:r>
          </a:p>
          <a:p>
            <a:pPr algn="l">
              <a:lnSpc>
                <a:spcPct val="105000"/>
              </a:lnSpc>
              <a:spcBef>
                <a:spcPts val="0"/>
              </a:spcBef>
              <a:spcAft>
                <a:spcPts val="1100"/>
              </a:spcAft>
            </a:pPr>
            <a:r>
              <a:rPr sz="1600" b="0" i="0">
                <a:solidFill>
                  <a:srgbClr val="1A1A1A"/>
                </a:solidFill>
                <a:latin typeface="Arial"/>
              </a:rPr>
              <a:t>Institutions buy only below the line, sell only above. Ours, line at PHP 50: a buy signal at 48, yes; at 52, no.</a:t>
            </a:r>
          </a:p>
          <a:p>
            <a:pPr algn="l">
              <a:lnSpc>
                <a:spcPct val="105000"/>
              </a:lnSpc>
              <a:spcBef>
                <a:spcPts val="0"/>
              </a:spcBef>
              <a:spcAft>
                <a:spcPts val="1100"/>
              </a:spcAft>
            </a:pPr>
            <a:r>
              <a:rPr sz="1600" b="0" i="0">
                <a:solidFill>
                  <a:srgbClr val="1A1A1A"/>
                </a:solidFill>
                <a:latin typeface="Arial"/>
              </a:rPr>
              <a:t>So above the line is bullish for the trend, yet overvalued: not where institutions buy.</a:t>
            </a:r>
          </a:p>
        </p:txBody>
      </p:sp>
      <p:sp>
        <p:nvSpPr>
          <p:cNvPr id="8" name="Rectangle 7"/>
          <p:cNvSpPr/>
          <p:nvPr/>
        </p:nvSpPr>
        <p:spPr>
          <a:xfrm>
            <a:off x="777240" y="5129784"/>
            <a:ext cx="82296" cy="405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66360"/>
            <a:ext cx="4828032" cy="40538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Two readings of one line, both the book's.</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m.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M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p.181. Both readings are the book's, a paragraph apart; it does not reconcile them. The chart and the PHP 50 example are ours.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Tops and bottoms: volume at the extremes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11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Back from the VWMA to volume itself: how much trades on the day a market turns?</a:t>
            </a:r>
          </a:p>
          <a:p>
            <a:pPr algn="l">
              <a:lnSpc>
                <a:spcPct val="105000"/>
              </a:lnSpc>
              <a:spcBef>
                <a:spcPts val="0"/>
              </a:spcBef>
              <a:spcAft>
                <a:spcPts val="1100"/>
              </a:spcAft>
            </a:pPr>
            <a:r>
              <a:rPr sz="1500" b="0" i="0">
                <a:solidFill>
                  <a:srgbClr val="1A1A1A"/>
                </a:solidFill>
                <a:latin typeface="Arial"/>
              </a:rPr>
              <a:t>The book: tops and bottoms usually come on relatively large or extreme volume, or relatively low or minimal volume.</a:t>
            </a:r>
          </a:p>
          <a:p>
            <a:pPr algn="l">
              <a:lnSpc>
                <a:spcPct val="105000"/>
              </a:lnSpc>
              <a:spcBef>
                <a:spcPts val="0"/>
              </a:spcBef>
              <a:spcAft>
                <a:spcPts val="1100"/>
              </a:spcAft>
            </a:pPr>
            <a:r>
              <a:rPr sz="1500" b="0" i="0">
                <a:solidFill>
                  <a:srgbClr val="1A1A1A"/>
                </a:solidFill>
                <a:latin typeface="Arial"/>
              </a:rPr>
              <a:t>Ours, usual volume 2 million a day. On 9 million: a top is a blow-off or buying climax; a bottom, a sell-off or selling climax.</a:t>
            </a:r>
          </a:p>
          <a:p>
            <a:pPr algn="l">
              <a:lnSpc>
                <a:spcPct val="105000"/>
              </a:lnSpc>
              <a:spcBef>
                <a:spcPts val="0"/>
              </a:spcBef>
              <a:spcAft>
                <a:spcPts val="1100"/>
              </a:spcAft>
            </a:pPr>
            <a:r>
              <a:rPr sz="1500" b="0" i="0">
                <a:solidFill>
                  <a:srgbClr val="1A1A1A"/>
                </a:solidFill>
                <a:latin typeface="Arial"/>
              </a:rPr>
              <a:t>On 0.3 million: a low volume top, or a low volume bottom.</a:t>
            </a:r>
          </a:p>
        </p:txBody>
      </p:sp>
      <p:sp>
        <p:nvSpPr>
          <p:cNvPr id="8" name="Rectangle 7"/>
          <p:cNvSpPr/>
          <p:nvPr/>
        </p:nvSpPr>
        <p:spPr>
          <a:xfrm>
            <a:off x="777240" y="5225796"/>
            <a:ext cx="82296" cy="3901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62372"/>
            <a:ext cx="4828032" cy="39014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Four turns, named by place and by volume.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n.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N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pp.182-183, its four scenarios. Chapter 4 named the climaxes by who trades. The chart is ours: sketches, with our invented volumes.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quiet pair matters, and why sell-off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12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one peak at PHP 60. On 9 million the rise ends in a frenzy; on 0.3 million it runs out of interest. Watch only spikes and you miss the second.</a:t>
            </a:r>
          </a:p>
          <a:p>
            <a:pPr algn="l">
              <a:lnSpc>
                <a:spcPct val="118000"/>
              </a:lnSpc>
              <a:spcBef>
                <a:spcPts val="0"/>
              </a:spcBef>
              <a:spcAft>
                <a:spcPts val="1300"/>
              </a:spcAft>
            </a:pPr>
            <a:r>
              <a:rPr sz="2100" b="0" i="0">
                <a:solidFill>
                  <a:srgbClr val="1A1A1A"/>
                </a:solidFill>
                <a:latin typeface="Arial"/>
              </a:rPr>
              <a:t>Every trade has a buyer and a seller; the names say who was rushing.</a:t>
            </a:r>
          </a:p>
          <a:p>
            <a:pPr algn="l">
              <a:lnSpc>
                <a:spcPct val="118000"/>
              </a:lnSpc>
              <a:spcBef>
                <a:spcPts val="0"/>
              </a:spcBef>
              <a:spcAft>
                <a:spcPts val="1300"/>
              </a:spcAft>
            </a:pPr>
            <a:r>
              <a:rPr sz="2100" b="0" i="0">
                <a:solidFill>
                  <a:srgbClr val="1A1A1A"/>
                </a:solidFill>
                <a:latin typeface="Arial"/>
              </a:rPr>
              <a:t>Selling climax, Chapter 4: a deep fall ends as the uninformed sell at any price and the informed buy from them.</a:t>
            </a:r>
          </a:p>
          <a:p>
            <a:pPr algn="l">
              <a:lnSpc>
                <a:spcPct val="118000"/>
              </a:lnSpc>
              <a:spcBef>
                <a:spcPts val="0"/>
              </a:spcBef>
              <a:spcAft>
                <a:spcPts val="1300"/>
              </a:spcAft>
            </a:pPr>
            <a:r>
              <a:rPr sz="2100" b="0" i="0">
                <a:solidFill>
                  <a:srgbClr val="1A1A1A"/>
                </a:solidFill>
                <a:latin typeface="Arial"/>
              </a:rPr>
              <a:t>Buying climax, the mirror: a strong rise ends as the uninformed buy at any price and the informed sell to them.</a:t>
            </a:r>
          </a:p>
        </p:txBody>
      </p:sp>
      <p:sp>
        <p:nvSpPr>
          <p:cNvPr id="8" name="Rectangle 7"/>
          <p:cNvSpPr/>
          <p:nvPr/>
        </p:nvSpPr>
        <p:spPr>
          <a:xfrm>
            <a:off x="777240" y="521131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quiet pair are the low volume reversals: turns on silence.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pp.182-185. Who trades in each climax: Chapter 4, its accumulation and distribution slides.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Upper and lower overextended volume levels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13 of 30</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Overextended volume: far above usual. The upper level is a line only the most extreme spikes reach; a lower one, still high, is reached more often.</a:t>
            </a:r>
          </a:p>
        </p:txBody>
      </p:sp>
      <p:sp>
        <p:nvSpPr>
          <p:cNvPr id="10" name="Rectangle 9"/>
          <p:cNvSpPr/>
          <p:nvPr/>
        </p:nvSpPr>
        <p:spPr>
          <a:xfrm>
            <a:off x="777240" y="3401568"/>
            <a:ext cx="64008" cy="886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39496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Figure 6.12, Exxon Mobil: the extreme volume of two selling climaxes </a:t>
            </a:r>
            <a:r>
              <a:rPr sz="1500" b="1" i="0">
                <a:solidFill>
                  <a:srgbClr val="E09B00"/>
                </a:solidFill>
                <a:latin typeface="Arial"/>
              </a:rPr>
              <a:t>(1)</a:t>
            </a:r>
            <a:r>
              <a:rPr sz="1500" b="0" i="0">
                <a:solidFill>
                  <a:srgbClr val="1A1A1A"/>
                </a:solidFill>
                <a:latin typeface="Arial"/>
              </a:rPr>
              <a:t>, under the ellipse, sets the upper level </a:t>
            </a:r>
            <a:r>
              <a:rPr sz="1500" b="1" i="0">
                <a:solidFill>
                  <a:srgbClr val="C62828"/>
                </a:solidFill>
                <a:latin typeface="Arial"/>
              </a:rPr>
              <a:t>(2)</a:t>
            </a:r>
            <a:r>
              <a:rPr sz="1500" b="0" i="0">
                <a:solidFill>
                  <a:srgbClr val="1A1A1A"/>
                </a:solidFill>
                <a:latin typeface="Arial"/>
              </a:rPr>
              <a:t>.</a:t>
            </a:r>
          </a:p>
        </p:txBody>
      </p:sp>
      <p:sp>
        <p:nvSpPr>
          <p:cNvPr id="12" name="Rectangle 11"/>
          <p:cNvSpPr/>
          <p:nvPr/>
        </p:nvSpPr>
        <p:spPr>
          <a:xfrm>
            <a:off x="777240" y="4544568"/>
            <a:ext cx="64008" cy="1115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539496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The extreme volume level is the upper overextended volume level, a signal for predicting potential bottoms or tops. A lower overextended volume level forecasts less significant corrections.</a:t>
            </a:r>
          </a:p>
        </p:txBody>
      </p:sp>
      <p:sp>
        <p:nvSpPr>
          <p:cNvPr id="14" name="Rectangle 13"/>
          <p:cNvSpPr/>
          <p:nvPr/>
        </p:nvSpPr>
        <p:spPr>
          <a:xfrm>
            <a:off x="6923059" y="2157984"/>
            <a:ext cx="4334896" cy="3401568"/>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7041931" y="2276856"/>
            <a:ext cx="4097152" cy="3163824"/>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7041931" y="2276856"/>
            <a:ext cx="4097152"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7316251" y="2551175"/>
            <a:ext cx="3548512" cy="270662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6.12</a:t>
            </a:r>
          </a:p>
          <a:p>
            <a:pPr algn="l">
              <a:lnSpc>
                <a:spcPct val="115000"/>
              </a:lnSpc>
              <a:spcBef>
                <a:spcPts val="0"/>
              </a:spcBef>
              <a:spcAft>
                <a:spcPts val="0"/>
              </a:spcAft>
            </a:pPr>
            <a:r>
              <a:rPr sz="1300" b="0" i="0">
                <a:solidFill>
                  <a:srgbClr val="1A1A1A"/>
                </a:solidFill>
                <a:latin typeface="Palatino"/>
              </a:rPr>
              <a:t>The daily chart of Exxon Mobil from 2006 to 2013: an ellipse around a market bottom made by two selling climaxes, with arrows down to two volume spikes. Across the volume panel run two lines, upper level volume overextension, near 120 million shares, and lower level volume overextension, near 70 million.</a:t>
            </a:r>
          </a:p>
        </p:txBody>
      </p:sp>
      <p:sp>
        <p:nvSpPr>
          <p:cNvPr id="18" name="Rectangle 17"/>
          <p:cNvSpPr/>
          <p:nvPr/>
        </p:nvSpPr>
        <p:spPr>
          <a:xfrm>
            <a:off x="8434963" y="4175150"/>
            <a:ext cx="1024288" cy="506211"/>
          </a:xfrm>
          <a:prstGeom prst="rect">
            <a:avLst/>
          </a:prstGeom>
          <a:noFill/>
          <a:ln w="44450">
            <a:solidFill>
              <a:srgbClr val="E09B00"/>
            </a:solidFill>
          </a:ln>
        </p:spPr>
        <p:txBody>
          <a:bodyPr rtlCol="0" anchor="ctr"/>
          <a:lstStyle/>
          <a:p>
            <a:pPr algn="ctr"/>
          </a:p>
        </p:txBody>
      </p:sp>
      <p:cxnSp>
        <p:nvCxnSpPr>
          <p:cNvPr id="19" name="Connector 18"/>
          <p:cNvCxnSpPr/>
          <p:nvPr/>
        </p:nvCxnSpPr>
        <p:spPr>
          <a:xfrm>
            <a:off x="7951499" y="4228935"/>
            <a:ext cx="2896686" cy="0"/>
          </a:xfrm>
          <a:prstGeom prst="line">
            <a:avLst/>
          </a:prstGeom>
          <a:ln w="44450">
            <a:solidFill>
              <a:srgbClr val="C62828"/>
            </a:solidFill>
          </a:ln>
        </p:spPr>
      </p:cxnSp>
      <p:sp>
        <p:nvSpPr>
          <p:cNvPr id="20" name="Oval 19"/>
          <p:cNvSpPr/>
          <p:nvPr/>
        </p:nvSpPr>
        <p:spPr>
          <a:xfrm>
            <a:off x="8791659" y="4304446"/>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1" name="Oval 20"/>
          <p:cNvSpPr/>
          <p:nvPr/>
        </p:nvSpPr>
        <p:spPr>
          <a:xfrm>
            <a:off x="10692737" y="407348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2" name="TextBox 21"/>
          <p:cNvSpPr txBox="1"/>
          <p:nvPr/>
        </p:nvSpPr>
        <p:spPr>
          <a:xfrm>
            <a:off x="6766559" y="565099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6.12 -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p.183 and Figure 6.12. Exxon Mobil is spelt Exxon Mobile by the book.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6.12's two levels, read off its scale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14 of 30</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1" i="0">
                <a:solidFill>
                  <a:srgbClr val="E09B00"/>
                </a:solidFill>
                <a:latin typeface="Arial"/>
              </a:rPr>
              <a:t>(1)</a:t>
            </a:r>
            <a:r>
              <a:rPr sz="1900" b="0" i="0">
                <a:solidFill>
                  <a:srgbClr val="1A1A1A"/>
                </a:solidFill>
                <a:latin typeface="Arial"/>
              </a:rPr>
              <a:t> Most days trade under 40 million shares.</a:t>
            </a:r>
          </a:p>
          <a:p>
            <a:pPr algn="l">
              <a:lnSpc>
                <a:spcPct val="105000"/>
              </a:lnSpc>
              <a:spcBef>
                <a:spcPts val="0"/>
              </a:spcBef>
              <a:spcAft>
                <a:spcPts val="1100"/>
              </a:spcAft>
            </a:pPr>
            <a:r>
              <a:rPr sz="1900" b="1" i="0">
                <a:solidFill>
                  <a:srgbClr val="C62828"/>
                </a:solidFill>
                <a:latin typeface="Arial"/>
              </a:rPr>
              <a:t>(2)</a:t>
            </a:r>
            <a:r>
              <a:rPr sz="1900" b="0" i="0">
                <a:solidFill>
                  <a:srgbClr val="1A1A1A"/>
                </a:solidFill>
                <a:latin typeface="Arial"/>
              </a:rPr>
              <a:t> The lower line: a little under 70 million.</a:t>
            </a:r>
          </a:p>
          <a:p>
            <a:pPr algn="l">
              <a:lnSpc>
                <a:spcPct val="105000"/>
              </a:lnSpc>
              <a:spcBef>
                <a:spcPts val="0"/>
              </a:spcBef>
              <a:spcAft>
                <a:spcPts val="1100"/>
              </a:spcAft>
            </a:pPr>
            <a:r>
              <a:rPr sz="1900" b="1" i="0">
                <a:solidFill>
                  <a:srgbClr val="1F5FAD"/>
                </a:solidFill>
                <a:latin typeface="Arial"/>
              </a:rPr>
              <a:t>(3)</a:t>
            </a:r>
            <a:r>
              <a:rPr sz="1900" b="0" i="0">
                <a:solidFill>
                  <a:srgbClr val="1A1A1A"/>
                </a:solidFill>
                <a:latin typeface="Arial"/>
              </a:rPr>
              <a:t> The upper line: a little above 120 million.</a:t>
            </a:r>
          </a:p>
          <a:p>
            <a:pPr algn="l">
              <a:lnSpc>
                <a:spcPct val="105000"/>
              </a:lnSpc>
              <a:spcBef>
                <a:spcPts val="0"/>
              </a:spcBef>
              <a:spcAft>
                <a:spcPts val="1100"/>
              </a:spcAft>
            </a:pPr>
            <a:r>
              <a:rPr sz="1900" b="1" i="0">
                <a:solidFill>
                  <a:srgbClr val="007A33"/>
                </a:solidFill>
                <a:latin typeface="Arial"/>
              </a:rPr>
              <a:t>(4)</a:t>
            </a:r>
            <a:r>
              <a:rPr sz="1900" b="0" i="0">
                <a:solidFill>
                  <a:srgbClr val="1A1A1A"/>
                </a:solidFill>
                <a:latin typeface="Arial"/>
              </a:rPr>
              <a:t> and </a:t>
            </a:r>
            <a:r>
              <a:rPr sz="1900" b="1" i="0">
                <a:solidFill>
                  <a:srgbClr val="7B3FA0"/>
                </a:solidFill>
                <a:latin typeface="Arial"/>
              </a:rPr>
              <a:t>(5)</a:t>
            </a:r>
            <a:r>
              <a:rPr sz="1900" b="0" i="0">
                <a:solidFill>
                  <a:srgbClr val="1A1A1A"/>
                </a:solidFill>
                <a:latin typeface="Arial"/>
              </a:rPr>
              <a:t> The two spikes that reach it sit under bottoms.</a:t>
            </a:r>
          </a:p>
        </p:txBody>
      </p:sp>
      <p:sp>
        <p:nvSpPr>
          <p:cNvPr id="8" name="Rectangle 7"/>
          <p:cNvSpPr/>
          <p:nvPr/>
        </p:nvSpPr>
        <p:spPr>
          <a:xfrm>
            <a:off x="777240" y="4953762"/>
            <a:ext cx="82296" cy="45110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90338"/>
            <a:ext cx="5193792" cy="451103"/>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Both lines are far above a usual day.</a:t>
            </a:r>
          </a:p>
        </p:txBody>
      </p:sp>
      <p:sp>
        <p:nvSpPr>
          <p:cNvPr id="10" name="Rectangle 9"/>
          <p:cNvSpPr/>
          <p:nvPr/>
        </p:nvSpPr>
        <p:spPr>
          <a:xfrm>
            <a:off x="6606631" y="1810512"/>
            <a:ext cx="4784872"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25503" y="1929384"/>
            <a:ext cx="4547128"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25503" y="1929384"/>
            <a:ext cx="4547128"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99823" y="2203703"/>
            <a:ext cx="3998488"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6.12</a:t>
            </a:r>
          </a:p>
          <a:p>
            <a:pPr algn="l">
              <a:lnSpc>
                <a:spcPct val="115000"/>
              </a:lnSpc>
              <a:spcBef>
                <a:spcPts val="0"/>
              </a:spcBef>
              <a:spcAft>
                <a:spcPts val="0"/>
              </a:spcAft>
            </a:pPr>
            <a:r>
              <a:rPr sz="1500" b="0" i="0">
                <a:solidFill>
                  <a:srgbClr val="1A1A1A"/>
                </a:solidFill>
                <a:latin typeface="Palatino"/>
              </a:rPr>
              <a:t>The daily chart of Exxon Mobil from 2006 to 2013. Most volume bars sit under 40 million shares; a lower overextension line runs near 70 million and an upper one near 120 million, and the two spikes that reach the upper line sit under the market bottom in the ellipse.</a:t>
            </a:r>
          </a:p>
        </p:txBody>
      </p:sp>
      <p:sp>
        <p:nvSpPr>
          <p:cNvPr id="14" name="Rectangle 13"/>
          <p:cNvSpPr/>
          <p:nvPr/>
        </p:nvSpPr>
        <p:spPr>
          <a:xfrm>
            <a:off x="6757333" y="4970166"/>
            <a:ext cx="4219735" cy="375708"/>
          </a:xfrm>
          <a:prstGeom prst="rect">
            <a:avLst/>
          </a:prstGeom>
          <a:noFill/>
          <a:ln w="44450">
            <a:solidFill>
              <a:srgbClr val="E09B00"/>
            </a:solidFill>
          </a:ln>
        </p:spPr>
        <p:txBody>
          <a:bodyPr rtlCol="0" anchor="ctr"/>
          <a:lstStyle/>
          <a:p>
            <a:pPr algn="ctr"/>
          </a:p>
        </p:txBody>
      </p:sp>
      <p:cxnSp>
        <p:nvCxnSpPr>
          <p:cNvPr id="15" name="Connector 14"/>
          <p:cNvCxnSpPr/>
          <p:nvPr/>
        </p:nvCxnSpPr>
        <p:spPr>
          <a:xfrm>
            <a:off x="6911935" y="4661172"/>
            <a:ext cx="4065133" cy="0"/>
          </a:xfrm>
          <a:prstGeom prst="line">
            <a:avLst/>
          </a:prstGeom>
          <a:ln w="44450">
            <a:solidFill>
              <a:srgbClr val="C62828"/>
            </a:solidFill>
          </a:ln>
        </p:spPr>
      </p:cxnSp>
      <p:cxnSp>
        <p:nvCxnSpPr>
          <p:cNvPr id="16" name="Connector 15"/>
          <p:cNvCxnSpPr/>
          <p:nvPr/>
        </p:nvCxnSpPr>
        <p:spPr>
          <a:xfrm>
            <a:off x="7734965" y="4095853"/>
            <a:ext cx="3242103" cy="0"/>
          </a:xfrm>
          <a:prstGeom prst="line">
            <a:avLst/>
          </a:prstGeom>
          <a:ln w="44450">
            <a:solidFill>
              <a:srgbClr val="1F5FAD"/>
            </a:solidFill>
          </a:ln>
        </p:spPr>
      </p:cxnSp>
      <p:sp>
        <p:nvSpPr>
          <p:cNvPr id="17" name="Oval 16"/>
          <p:cNvSpPr/>
          <p:nvPr/>
        </p:nvSpPr>
        <p:spPr>
          <a:xfrm>
            <a:off x="8244244" y="3892198"/>
            <a:ext cx="259186" cy="365174"/>
          </a:xfrm>
          <a:prstGeom prst="ellipse">
            <a:avLst/>
          </a:prstGeom>
          <a:noFill/>
          <a:ln w="44450">
            <a:solidFill>
              <a:srgbClr val="007A33"/>
            </a:solidFill>
          </a:ln>
        </p:spPr>
        <p:txBody>
          <a:bodyPr rtlCol="0" anchor="ctr"/>
          <a:lstStyle/>
          <a:p>
            <a:pPr algn="ctr"/>
          </a:p>
        </p:txBody>
      </p:sp>
      <p:sp>
        <p:nvSpPr>
          <p:cNvPr id="18" name="Oval 17"/>
          <p:cNvSpPr/>
          <p:nvPr/>
        </p:nvSpPr>
        <p:spPr>
          <a:xfrm>
            <a:off x="9180952" y="4176613"/>
            <a:ext cx="204620" cy="351129"/>
          </a:xfrm>
          <a:prstGeom prst="ellipse">
            <a:avLst/>
          </a:prstGeom>
          <a:noFill/>
          <a:ln w="44450">
            <a:solidFill>
              <a:srgbClr val="7B3FA0"/>
            </a:solidFill>
          </a:ln>
        </p:spPr>
        <p:txBody>
          <a:bodyPr rtlCol="0" anchor="ctr"/>
          <a:lstStyle/>
          <a:p>
            <a:pPr algn="ctr"/>
          </a:p>
        </p:txBody>
      </p:sp>
      <p:sp>
        <p:nvSpPr>
          <p:cNvPr id="19" name="Oval 18"/>
          <p:cNvSpPr/>
          <p:nvPr/>
        </p:nvSpPr>
        <p:spPr>
          <a:xfrm>
            <a:off x="6601885" y="481471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10480585" y="450572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1" name="Oval 20"/>
          <p:cNvSpPr/>
          <p:nvPr/>
        </p:nvSpPr>
        <p:spPr>
          <a:xfrm>
            <a:off x="10821620" y="394040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2" name="Oval 21"/>
          <p:cNvSpPr/>
          <p:nvPr/>
        </p:nvSpPr>
        <p:spPr>
          <a:xfrm>
            <a:off x="8088796" y="4231843"/>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3" name="Oval 22"/>
          <p:cNvSpPr/>
          <p:nvPr/>
        </p:nvSpPr>
        <p:spPr>
          <a:xfrm>
            <a:off x="9230125" y="4372295"/>
            <a:ext cx="310896" cy="31089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24" name="TextBox 23"/>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6.12 - Lim, The Handbook of Technical Analysis (Wiley, 2016)</a:t>
            </a:r>
          </a:p>
        </p:txBody>
      </p:sp>
      <p:sp>
        <p:nvSpPr>
          <p:cNvPr id="25" name="TextBox 2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p.183 and Figure 6.12, its scale read by eye.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two levels tell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Both are high volume: lower means less extreme, not low volume.</a:t>
            </a:r>
          </a:p>
          <a:p>
            <a:pPr algn="l">
              <a:lnSpc>
                <a:spcPct val="118000"/>
              </a:lnSpc>
              <a:spcBef>
                <a:spcPts val="0"/>
              </a:spcBef>
              <a:spcAft>
                <a:spcPts val="1300"/>
              </a:spcAft>
            </a:pPr>
            <a:r>
              <a:rPr sz="2100" b="0" i="0">
                <a:solidFill>
                  <a:srgbClr val="1A1A1A"/>
                </a:solidFill>
                <a:latin typeface="Arial"/>
              </a:rPr>
              <a:t>Upper: potential tops or bottoms, a warning and not a promise. Lower: less significant corrections, smaller moves against the trend.</a:t>
            </a:r>
          </a:p>
          <a:p>
            <a:pPr algn="l">
              <a:lnSpc>
                <a:spcPct val="118000"/>
              </a:lnSpc>
              <a:spcBef>
                <a:spcPts val="0"/>
              </a:spcBef>
              <a:spcAft>
                <a:spcPts val="1300"/>
              </a:spcAft>
            </a:pPr>
            <a:r>
              <a:rPr sz="2100" b="0" i="0">
                <a:solidFill>
                  <a:srgbClr val="1A1A1A"/>
                </a:solidFill>
                <a:latin typeface="Arial"/>
              </a:rPr>
              <a:t>Exxon's chart shows only bottoms; the book says the same level signals tops too.</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Above the line: a potential turn. Which way: price, afterwards.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p.183. Correction: Chapter 5. Not a promise: the book's word potential, said plainly.</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Blow-offs: buying climaxes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16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A blow-off, or buying climax: a market top on extreme volume, the mirror of Exxon's selling climaxes.</a:t>
            </a:r>
          </a:p>
          <a:p>
            <a:pPr algn="l">
              <a:lnSpc>
                <a:spcPct val="105000"/>
              </a:lnSpc>
              <a:spcBef>
                <a:spcPts val="0"/>
              </a:spcBef>
              <a:spcAft>
                <a:spcPts val="1100"/>
              </a:spcAft>
            </a:pPr>
            <a:r>
              <a:rPr sz="1600" b="0" i="0">
                <a:solidFill>
                  <a:srgbClr val="1A1A1A"/>
                </a:solidFill>
                <a:latin typeface="Arial"/>
              </a:rPr>
              <a:t>Follow each arrow from BLOW-OFF to its circled volume spike, </a:t>
            </a:r>
            <a:r>
              <a:rPr sz="1600" b="1" i="0">
                <a:solidFill>
                  <a:srgbClr val="E09B00"/>
                </a:solidFill>
                <a:latin typeface="Arial"/>
              </a:rPr>
              <a:t>(1)</a:t>
            </a:r>
            <a:r>
              <a:rPr sz="1600" b="0" i="0">
                <a:solidFill>
                  <a:srgbClr val="1A1A1A"/>
                </a:solidFill>
                <a:latin typeface="Arial"/>
              </a:rPr>
              <a:t> and </a:t>
            </a:r>
            <a:r>
              <a:rPr sz="1600" b="1" i="0">
                <a:solidFill>
                  <a:srgbClr val="C62828"/>
                </a:solidFill>
                <a:latin typeface="Arial"/>
              </a:rPr>
              <a:t>(2)</a:t>
            </a:r>
            <a:r>
              <a:rPr sz="1600" b="0" i="0">
                <a:solidFill>
                  <a:srgbClr val="1A1A1A"/>
                </a:solidFill>
                <a:latin typeface="Arial"/>
              </a:rPr>
              <a:t>, then up to the top above it, </a:t>
            </a:r>
            <a:r>
              <a:rPr sz="1600" b="1" i="0">
                <a:solidFill>
                  <a:srgbClr val="1F5FAD"/>
                </a:solidFill>
                <a:latin typeface="Arial"/>
              </a:rPr>
              <a:t>(3)</a:t>
            </a:r>
            <a:r>
              <a:rPr sz="1600" b="0" i="0">
                <a:solidFill>
                  <a:srgbClr val="1A1A1A"/>
                </a:solidFill>
                <a:latin typeface="Arial"/>
              </a:rPr>
              <a:t> and </a:t>
            </a:r>
            <a:r>
              <a:rPr sz="1600" b="1" i="0">
                <a:solidFill>
                  <a:srgbClr val="007A33"/>
                </a:solidFill>
                <a:latin typeface="Arial"/>
              </a:rPr>
              <a:t>(4)</a:t>
            </a:r>
            <a:r>
              <a:rPr sz="1600" b="0" i="0">
                <a:solidFill>
                  <a:srgbClr val="1A1A1A"/>
                </a:solidFill>
                <a:latin typeface="Arial"/>
              </a:rPr>
              <a:t>. Price falls after each.</a:t>
            </a:r>
          </a:p>
          <a:p>
            <a:pPr algn="l">
              <a:lnSpc>
                <a:spcPct val="105000"/>
              </a:lnSpc>
              <a:spcBef>
                <a:spcPts val="0"/>
              </a:spcBef>
              <a:spcAft>
                <a:spcPts val="1100"/>
              </a:spcAft>
            </a:pPr>
            <a:r>
              <a:rPr sz="1600" b="0" i="0">
                <a:solidFill>
                  <a:srgbClr val="1A1A1A"/>
                </a:solidFill>
                <a:latin typeface="Arial"/>
              </a:rPr>
              <a:t>Relatively high, the book says: the first spike tops 200 thousand shares, the second only about 100 thousand, yet each towers over its neighbours.</a:t>
            </a:r>
          </a:p>
        </p:txBody>
      </p:sp>
      <p:sp>
        <p:nvSpPr>
          <p:cNvPr id="8" name="Rectangle 7"/>
          <p:cNvSpPr/>
          <p:nvPr/>
        </p:nvSpPr>
        <p:spPr>
          <a:xfrm>
            <a:off x="777240" y="4965192"/>
            <a:ext cx="82296" cy="6644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66446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Compare a spike with its own neighbours, not with the biggest bar.</a:t>
            </a:r>
          </a:p>
        </p:txBody>
      </p:sp>
      <p:sp>
        <p:nvSpPr>
          <p:cNvPr id="10" name="Rectangle 9"/>
          <p:cNvSpPr/>
          <p:nvPr/>
        </p:nvSpPr>
        <p:spPr>
          <a:xfrm>
            <a:off x="6217919" y="1810512"/>
            <a:ext cx="5196535" cy="2804406"/>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566662"/>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10946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6.13</a:t>
            </a:r>
          </a:p>
          <a:p>
            <a:pPr algn="l">
              <a:lnSpc>
                <a:spcPct val="115000"/>
              </a:lnSpc>
              <a:spcBef>
                <a:spcPts val="0"/>
              </a:spcBef>
              <a:spcAft>
                <a:spcPts val="0"/>
              </a:spcAft>
            </a:pPr>
            <a:r>
              <a:rPr sz="1500" b="0" i="0">
                <a:solidFill>
                  <a:srgbClr val="1A1A1A"/>
                </a:solidFill>
                <a:latin typeface="Palatino"/>
              </a:rPr>
              <a:t>The daily chart of the E-TRACS UBS Bloomberg CMCI Food ETN with two circled volume spikes labelled blow-off, each under a market top: the first above 200 thousand shares, the second about 100 thousand.</a:t>
            </a:r>
          </a:p>
        </p:txBody>
      </p:sp>
      <p:sp>
        <p:nvSpPr>
          <p:cNvPr id="14" name="Oval 13"/>
          <p:cNvSpPr/>
          <p:nvPr/>
        </p:nvSpPr>
        <p:spPr>
          <a:xfrm>
            <a:off x="7239291" y="3636214"/>
            <a:ext cx="163640" cy="415799"/>
          </a:xfrm>
          <a:prstGeom prst="ellipse">
            <a:avLst/>
          </a:prstGeom>
          <a:noFill/>
          <a:ln w="44450">
            <a:solidFill>
              <a:srgbClr val="E09B00"/>
            </a:solidFill>
          </a:ln>
        </p:spPr>
        <p:txBody>
          <a:bodyPr rtlCol="0" anchor="ctr"/>
          <a:lstStyle/>
          <a:p>
            <a:pPr algn="ctr"/>
          </a:p>
        </p:txBody>
      </p:sp>
      <p:sp>
        <p:nvSpPr>
          <p:cNvPr id="15" name="Oval 14"/>
          <p:cNvSpPr/>
          <p:nvPr/>
        </p:nvSpPr>
        <p:spPr>
          <a:xfrm>
            <a:off x="9971585" y="4023780"/>
            <a:ext cx="158681" cy="336232"/>
          </a:xfrm>
          <a:prstGeom prst="ellipse">
            <a:avLst/>
          </a:prstGeom>
          <a:noFill/>
          <a:ln w="44450">
            <a:solidFill>
              <a:srgbClr val="C62828"/>
            </a:solidFill>
          </a:ln>
        </p:spPr>
        <p:txBody>
          <a:bodyPr rtlCol="0" anchor="ctr"/>
          <a:lstStyle/>
          <a:p>
            <a:pPr algn="ctr"/>
          </a:p>
        </p:txBody>
      </p:sp>
      <p:sp>
        <p:nvSpPr>
          <p:cNvPr id="16" name="Oval 15"/>
          <p:cNvSpPr/>
          <p:nvPr/>
        </p:nvSpPr>
        <p:spPr>
          <a:xfrm>
            <a:off x="7179786" y="2766115"/>
            <a:ext cx="287609" cy="433765"/>
          </a:xfrm>
          <a:prstGeom prst="ellipse">
            <a:avLst/>
          </a:prstGeom>
          <a:noFill/>
          <a:ln w="44450">
            <a:solidFill>
              <a:srgbClr val="1F5FAD"/>
            </a:solidFill>
          </a:ln>
        </p:spPr>
        <p:txBody>
          <a:bodyPr rtlCol="0" anchor="ctr"/>
          <a:lstStyle/>
          <a:p>
            <a:pPr algn="ctr"/>
          </a:p>
        </p:txBody>
      </p:sp>
      <p:sp>
        <p:nvSpPr>
          <p:cNvPr id="17" name="Oval 16"/>
          <p:cNvSpPr/>
          <p:nvPr/>
        </p:nvSpPr>
        <p:spPr>
          <a:xfrm>
            <a:off x="9921997" y="2147550"/>
            <a:ext cx="267774" cy="369599"/>
          </a:xfrm>
          <a:prstGeom prst="ellipse">
            <a:avLst/>
          </a:prstGeom>
          <a:noFill/>
          <a:ln w="44450">
            <a:solidFill>
              <a:srgbClr val="007A33"/>
            </a:solidFill>
          </a:ln>
        </p:spPr>
        <p:txBody>
          <a:bodyPr rtlCol="0" anchor="ctr"/>
          <a:lstStyle/>
          <a:p>
            <a:pPr algn="ctr"/>
          </a:p>
        </p:txBody>
      </p:sp>
      <p:sp>
        <p:nvSpPr>
          <p:cNvPr id="18" name="Oval 17"/>
          <p:cNvSpPr/>
          <p:nvPr/>
        </p:nvSpPr>
        <p:spPr>
          <a:xfrm>
            <a:off x="6776398" y="382726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098788" y="398126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7024338" y="2610667"/>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9766549" y="1992102"/>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217919" y="4706358"/>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6.13 -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p.183 and Figure 6.13. The volumes are read by eye off the figure's scale.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to set the overextension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17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By visual inspection, the book says: by eye, no formula. Find the spikes under the most significant tops and bottoms; draw the line just below them.</a:t>
            </a:r>
          </a:p>
          <a:p>
            <a:pPr algn="l">
              <a:lnSpc>
                <a:spcPct val="105000"/>
              </a:lnSpc>
              <a:spcBef>
                <a:spcPts val="0"/>
              </a:spcBef>
              <a:spcAft>
                <a:spcPts val="1100"/>
              </a:spcAft>
            </a:pPr>
            <a:r>
              <a:rPr sz="1500" b="0" i="0">
                <a:solidFill>
                  <a:srgbClr val="1A1A1A"/>
                </a:solidFill>
                <a:latin typeface="Arial"/>
              </a:rPr>
              <a:t>Set lower, more spikes cross it: more frequent signals, at less significant tops and bottoms.</a:t>
            </a:r>
          </a:p>
          <a:p>
            <a:pPr algn="l">
              <a:lnSpc>
                <a:spcPct val="105000"/>
              </a:lnSpc>
              <a:spcBef>
                <a:spcPts val="0"/>
              </a:spcBef>
              <a:spcAft>
                <a:spcPts val="1100"/>
              </a:spcAft>
            </a:pPr>
            <a:r>
              <a:rPr sz="1500" b="0" i="0">
                <a:solidFill>
                  <a:srgbClr val="1A1A1A"/>
                </a:solidFill>
                <a:latin typeface="Arial"/>
              </a:rPr>
              <a:t>Figure 6.14, gold: the circled spikes </a:t>
            </a:r>
            <a:r>
              <a:rPr sz="1500" b="1" i="0">
                <a:solidFill>
                  <a:srgbClr val="C62828"/>
                </a:solidFill>
                <a:latin typeface="Arial"/>
              </a:rPr>
              <a:t>(2)</a:t>
            </a:r>
            <a:r>
              <a:rPr sz="1500" b="0" i="0">
                <a:solidFill>
                  <a:srgbClr val="1A1A1A"/>
                </a:solidFill>
                <a:latin typeface="Arial"/>
              </a:rPr>
              <a:t> cross the dashed level </a:t>
            </a:r>
            <a:r>
              <a:rPr sz="1500" b="1" i="0">
                <a:solidFill>
                  <a:srgbClr val="E09B00"/>
                </a:solidFill>
                <a:latin typeface="Arial"/>
              </a:rPr>
              <a:t>(1)</a:t>
            </a:r>
            <a:r>
              <a:rPr sz="1500" b="0" i="0">
                <a:solidFill>
                  <a:srgbClr val="1A1A1A"/>
                </a:solidFill>
                <a:latin typeface="Arial"/>
              </a:rPr>
              <a:t>. At the far right price breaks a significant support </a:t>
            </a:r>
            <a:r>
              <a:rPr sz="1500" b="1" i="0">
                <a:solidFill>
                  <a:srgbClr val="1F5FAD"/>
                </a:solidFill>
                <a:latin typeface="Arial"/>
              </a:rPr>
              <a:t>(3)</a:t>
            </a:r>
            <a:r>
              <a:rPr sz="1500" b="0" i="0">
                <a:solidFill>
                  <a:srgbClr val="1A1A1A"/>
                </a:solidFill>
                <a:latin typeface="Arial"/>
              </a:rPr>
              <a:t>, a level where falls had stopped, on extreme volume.</a:t>
            </a:r>
          </a:p>
        </p:txBody>
      </p:sp>
      <p:sp>
        <p:nvSpPr>
          <p:cNvPr id="8" name="Rectangle 7"/>
          <p:cNvSpPr/>
          <p:nvPr/>
        </p:nvSpPr>
        <p:spPr>
          <a:xfrm>
            <a:off x="777240" y="4821174"/>
            <a:ext cx="82296" cy="3901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57750"/>
            <a:ext cx="4828032" cy="39014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Higher level, fewer and bigger turns.</a:t>
            </a:r>
          </a:p>
        </p:txBody>
      </p:sp>
      <p:sp>
        <p:nvSpPr>
          <p:cNvPr id="10" name="TextBox 9"/>
          <p:cNvSpPr txBox="1"/>
          <p:nvPr/>
        </p:nvSpPr>
        <p:spPr>
          <a:xfrm>
            <a:off x="777240" y="5412486"/>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figure's second, computed line: next slide.</a:t>
            </a:r>
          </a:p>
        </p:txBody>
      </p:sp>
      <p:sp>
        <p:nvSpPr>
          <p:cNvPr id="11" name="Rectangle 10"/>
          <p:cNvSpPr/>
          <p:nvPr/>
        </p:nvSpPr>
        <p:spPr>
          <a:xfrm>
            <a:off x="6217919" y="1810512"/>
            <a:ext cx="5196535" cy="3250375"/>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3012631"/>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611111" y="2203703"/>
            <a:ext cx="4410151" cy="255543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6.14</a:t>
            </a:r>
          </a:p>
          <a:p>
            <a:pPr algn="l">
              <a:lnSpc>
                <a:spcPct val="115000"/>
              </a:lnSpc>
              <a:spcBef>
                <a:spcPts val="0"/>
              </a:spcBef>
              <a:spcAft>
                <a:spcPts val="0"/>
              </a:spcAft>
            </a:pPr>
            <a:r>
              <a:rPr sz="1500" b="0" i="0">
                <a:solidFill>
                  <a:srgbClr val="1A1A1A"/>
                </a:solidFill>
                <a:latin typeface="Palatino"/>
              </a:rPr>
              <a:t>The daily SPDR Gold Trust: a dashed volume overextension line across the volume panel with circled spikes above it, a stepped computed line under it, and a dashed support line on the price that is broken at the right on extreme volume, labelled above the rolling 100-day 2-sigma level.</a:t>
            </a:r>
          </a:p>
        </p:txBody>
      </p:sp>
      <p:cxnSp>
        <p:nvCxnSpPr>
          <p:cNvPr id="15" name="Connector 14"/>
          <p:cNvCxnSpPr/>
          <p:nvPr/>
        </p:nvCxnSpPr>
        <p:spPr>
          <a:xfrm>
            <a:off x="6366544" y="4396728"/>
            <a:ext cx="4899286" cy="0"/>
          </a:xfrm>
          <a:prstGeom prst="line">
            <a:avLst/>
          </a:prstGeom>
          <a:ln w="44450">
            <a:solidFill>
              <a:srgbClr val="E09B00"/>
            </a:solidFill>
          </a:ln>
        </p:spPr>
      </p:cxnSp>
      <p:sp>
        <p:nvSpPr>
          <p:cNvPr id="16" name="Oval 15"/>
          <p:cNvSpPr/>
          <p:nvPr/>
        </p:nvSpPr>
        <p:spPr>
          <a:xfrm>
            <a:off x="8801311" y="4149693"/>
            <a:ext cx="401662" cy="382604"/>
          </a:xfrm>
          <a:prstGeom prst="ellipse">
            <a:avLst/>
          </a:prstGeom>
          <a:noFill/>
          <a:ln w="44450">
            <a:solidFill>
              <a:srgbClr val="C62828"/>
            </a:solidFill>
          </a:ln>
        </p:spPr>
        <p:txBody>
          <a:bodyPr rtlCol="0" anchor="ctr"/>
          <a:lstStyle/>
          <a:p>
            <a:pPr algn="ctr"/>
          </a:p>
        </p:txBody>
      </p:sp>
      <p:sp>
        <p:nvSpPr>
          <p:cNvPr id="17" name="Oval 16"/>
          <p:cNvSpPr/>
          <p:nvPr/>
        </p:nvSpPr>
        <p:spPr>
          <a:xfrm>
            <a:off x="10809621" y="2549986"/>
            <a:ext cx="426456" cy="370553"/>
          </a:xfrm>
          <a:prstGeom prst="ellipse">
            <a:avLst/>
          </a:prstGeom>
          <a:noFill/>
          <a:ln w="44450">
            <a:solidFill>
              <a:srgbClr val="1F5FAD"/>
            </a:solidFill>
          </a:ln>
        </p:spPr>
        <p:txBody>
          <a:bodyPr rtlCol="0" anchor="ctr"/>
          <a:lstStyle/>
          <a:p>
            <a:pPr algn="ctr"/>
          </a:p>
        </p:txBody>
      </p:sp>
      <p:sp>
        <p:nvSpPr>
          <p:cNvPr id="18" name="Oval 17"/>
          <p:cNvSpPr/>
          <p:nvPr/>
        </p:nvSpPr>
        <p:spPr>
          <a:xfrm>
            <a:off x="6211096" y="424128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645863" y="399424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10654173" y="239453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6217919" y="5152327"/>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6.14 -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pp.183-184 and Figure 6.14. Support: Chapter 5.</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figure's second line: a rolling 2-sigma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18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Rolling 100-day 2-sigma level = 100-day average volume + 2 x sigma. Sigma, the standard deviation: how far volume typically strays from its average.</a:t>
            </a:r>
          </a:p>
          <a:p>
            <a:pPr algn="l">
              <a:lnSpc>
                <a:spcPct val="118000"/>
              </a:lnSpc>
              <a:spcBef>
                <a:spcPts val="0"/>
              </a:spcBef>
              <a:spcAft>
                <a:spcPts val="1300"/>
              </a:spcAft>
            </a:pPr>
            <a:r>
              <a:rPr sz="2100" b="0" i="0">
                <a:solidFill>
                  <a:srgbClr val="1A1A1A"/>
                </a:solidFill>
                <a:latin typeface="Arial"/>
              </a:rPr>
              <a:t>Ours: average 20 million, sigma 10 million: 20 + 2 x 10 = 40 million. A 35 million day stays under; 55 million crosses.</a:t>
            </a:r>
          </a:p>
          <a:p>
            <a:pPr algn="l">
              <a:lnSpc>
                <a:spcPct val="118000"/>
              </a:lnSpc>
              <a:spcBef>
                <a:spcPts val="0"/>
              </a:spcBef>
              <a:spcAft>
                <a:spcPts val="1300"/>
              </a:spcAft>
            </a:pPr>
            <a:r>
              <a:rPr sz="2100" b="0" i="0">
                <a:solidFill>
                  <a:srgbClr val="1A1A1A"/>
                </a:solidFill>
                <a:latin typeface="Arial"/>
              </a:rPr>
              <a:t>Rolling: redone daily over the latest 100 days, so the level moves as old days leave the window.</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By eye or by formula: only volume above the line counts.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p.184 names the rolling 100-day 2-sigma level. Ours: the arithmetic and the 20 and 10 million.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rolling line on Figure 6.14</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19 of 30</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On Figure 6.14, the solid line under the dashed level is the rolling level.</a:t>
            </a:r>
          </a:p>
          <a:p>
            <a:pPr algn="l">
              <a:lnSpc>
                <a:spcPct val="105000"/>
              </a:lnSpc>
              <a:spcBef>
                <a:spcPts val="0"/>
              </a:spcBef>
              <a:spcAft>
                <a:spcPts val="1100"/>
              </a:spcAft>
            </a:pPr>
            <a:r>
              <a:rPr sz="2000" b="1" i="0">
                <a:solidFill>
                  <a:srgbClr val="C62828"/>
                </a:solidFill>
                <a:latin typeface="Arial"/>
              </a:rPr>
              <a:t>(2)</a:t>
            </a:r>
            <a:r>
              <a:rPr sz="2000" b="0" i="0">
                <a:solidFill>
                  <a:srgbClr val="1A1A1A"/>
                </a:solidFill>
                <a:latin typeface="Arial"/>
              </a:rPr>
              <a:t> The August 2011 spikes enter its window: the line steps up.</a:t>
            </a:r>
          </a:p>
          <a:p>
            <a:pPr algn="l">
              <a:lnSpc>
                <a:spcPct val="105000"/>
              </a:lnSpc>
              <a:spcBef>
                <a:spcPts val="0"/>
              </a:spcBef>
              <a:spcAft>
                <a:spcPts val="1100"/>
              </a:spcAft>
            </a:pPr>
            <a:r>
              <a:rPr sz="2000" b="1" i="0">
                <a:solidFill>
                  <a:srgbClr val="1F5FAD"/>
                </a:solidFill>
                <a:latin typeface="Arial"/>
              </a:rPr>
              <a:t>(3)</a:t>
            </a:r>
            <a:r>
              <a:rPr sz="2000" b="0" i="0">
                <a:solidFill>
                  <a:srgbClr val="1A1A1A"/>
                </a:solidFill>
                <a:latin typeface="Arial"/>
              </a:rPr>
              <a:t> Some 100 days later they leave, and it drops back.</a:t>
            </a:r>
          </a:p>
        </p:txBody>
      </p:sp>
      <p:sp>
        <p:nvSpPr>
          <p:cNvPr id="8" name="Rectangle 7"/>
          <p:cNvSpPr/>
          <p:nvPr/>
        </p:nvSpPr>
        <p:spPr>
          <a:xfrm>
            <a:off x="777240" y="4581144"/>
            <a:ext cx="82296" cy="11064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7720"/>
            <a:ext cx="5193792" cy="1106423"/>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level follows volume's recent past: what counts as extreme changes over time.</a:t>
            </a:r>
          </a:p>
        </p:txBody>
      </p:sp>
      <p:sp>
        <p:nvSpPr>
          <p:cNvPr id="10" name="Rectangle 9"/>
          <p:cNvSpPr/>
          <p:nvPr/>
        </p:nvSpPr>
        <p:spPr>
          <a:xfrm>
            <a:off x="6583679" y="1810512"/>
            <a:ext cx="4830775" cy="302816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279041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33321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6.14</a:t>
            </a:r>
          </a:p>
          <a:p>
            <a:pPr algn="l">
              <a:lnSpc>
                <a:spcPct val="115000"/>
              </a:lnSpc>
              <a:spcBef>
                <a:spcPts val="0"/>
              </a:spcBef>
              <a:spcAft>
                <a:spcPts val="0"/>
              </a:spcAft>
            </a:pPr>
            <a:r>
              <a:rPr sz="1500" b="0" i="0">
                <a:solidFill>
                  <a:srgbClr val="1A1A1A"/>
                </a:solidFill>
                <a:latin typeface="Palatino"/>
              </a:rPr>
              <a:t>The daily SPDR Gold Trust with its volume panel: the solid rolling 100-day 2-sigma line steps up after the August 2011 volume spikes and drops back some 100 days later.</a:t>
            </a:r>
          </a:p>
        </p:txBody>
      </p:sp>
      <p:cxnSp>
        <p:nvCxnSpPr>
          <p:cNvPr id="14" name="Connector 13"/>
          <p:cNvCxnSpPr/>
          <p:nvPr/>
        </p:nvCxnSpPr>
        <p:spPr>
          <a:xfrm flipV="1">
            <a:off x="7938077" y="4410067"/>
            <a:ext cx="197500" cy="239976"/>
          </a:xfrm>
          <a:prstGeom prst="line">
            <a:avLst/>
          </a:prstGeom>
          <a:ln w="44450">
            <a:solidFill>
              <a:srgbClr val="E09B00"/>
            </a:solidFill>
            <a:tailEnd type="triangle" w="med" len="med"/>
          </a:ln>
        </p:spPr>
      </p:cxnSp>
      <p:cxnSp>
        <p:nvCxnSpPr>
          <p:cNvPr id="15" name="Connector 14"/>
          <p:cNvCxnSpPr/>
          <p:nvPr/>
        </p:nvCxnSpPr>
        <p:spPr>
          <a:xfrm flipV="1">
            <a:off x="8953137" y="4306821"/>
            <a:ext cx="146977" cy="354383"/>
          </a:xfrm>
          <a:prstGeom prst="line">
            <a:avLst/>
          </a:prstGeom>
          <a:ln w="44450">
            <a:solidFill>
              <a:srgbClr val="C62828"/>
            </a:solidFill>
            <a:tailEnd type="triangle" w="med" len="med"/>
          </a:ln>
        </p:spPr>
      </p:cxnSp>
      <p:cxnSp>
        <p:nvCxnSpPr>
          <p:cNvPr id="16" name="Connector 15"/>
          <p:cNvCxnSpPr/>
          <p:nvPr/>
        </p:nvCxnSpPr>
        <p:spPr>
          <a:xfrm flipH="1" flipV="1">
            <a:off x="9651277" y="4340306"/>
            <a:ext cx="151570" cy="320898"/>
          </a:xfrm>
          <a:prstGeom prst="line">
            <a:avLst/>
          </a:prstGeom>
          <a:ln w="44450">
            <a:solidFill>
              <a:srgbClr val="1F5FAD"/>
            </a:solidFill>
            <a:tailEnd type="triangle" w="med" len="med"/>
          </a:ln>
        </p:spPr>
      </p:cxnSp>
      <p:sp>
        <p:nvSpPr>
          <p:cNvPr id="17" name="Oval 16"/>
          <p:cNvSpPr/>
          <p:nvPr/>
        </p:nvSpPr>
        <p:spPr>
          <a:xfrm>
            <a:off x="7782629" y="449459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8797689" y="4505756"/>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647399" y="4505756"/>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583679" y="4930115"/>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6.14 -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p.184 names the rolling line. Ours: why it steps, read by eye off Figure 6.14.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a higher level and a lower one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20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Ours: ordinary bars trade 0.9 to 1.5 million shares. Upper level 4.0 million, lower 2.2, both by eye.</a:t>
            </a:r>
          </a:p>
          <a:p>
            <a:pPr algn="l">
              <a:lnSpc>
                <a:spcPct val="105000"/>
              </a:lnSpc>
              <a:spcBef>
                <a:spcPts val="0"/>
              </a:spcBef>
              <a:spcAft>
                <a:spcPts val="1100"/>
              </a:spcAft>
            </a:pPr>
            <a:r>
              <a:rPr sz="1500" b="0" i="0">
                <a:solidFill>
                  <a:srgbClr val="1A1A1A"/>
                </a:solidFill>
                <a:latin typeface="Arial"/>
              </a:rPr>
              <a:t>Upper: only the spikes of 4.6 million cross it, at 1, the top at PHP 60, and at 2, the bottom at PHP 42. Two signals, both major turns.</a:t>
            </a:r>
          </a:p>
          <a:p>
            <a:pPr algn="l">
              <a:lnSpc>
                <a:spcPct val="105000"/>
              </a:lnSpc>
              <a:spcBef>
                <a:spcPts val="0"/>
              </a:spcBef>
              <a:spcAft>
                <a:spcPts val="1100"/>
              </a:spcAft>
            </a:pPr>
            <a:r>
              <a:rPr sz="1500" b="0" i="0">
                <a:solidFill>
                  <a:srgbClr val="1A1A1A"/>
                </a:solidFill>
                <a:latin typeface="Arial"/>
              </a:rPr>
              <a:t>Lower: those two, plus spikes of 2.6 million at a, b and c, smaller corrections. Five signals.</a:t>
            </a:r>
          </a:p>
        </p:txBody>
      </p:sp>
      <p:sp>
        <p:nvSpPr>
          <p:cNvPr id="8" name="Rectangle 7"/>
          <p:cNvSpPr/>
          <p:nvPr/>
        </p:nvSpPr>
        <p:spPr>
          <a:xfrm>
            <a:off x="777240" y="4341114"/>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77690"/>
            <a:ext cx="482803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Where the line goes decides which turns it signals.</a:t>
            </a:r>
          </a:p>
        </p:txBody>
      </p:sp>
      <p:sp>
        <p:nvSpPr>
          <p:cNvPr id="10" name="TextBox 9"/>
          <p:cNvSpPr txBox="1"/>
          <p:nvPr/>
        </p:nvSpPr>
        <p:spPr>
          <a:xfrm>
            <a:off x="777240" y="5176265"/>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Only the major turns: the upper line. The corrections too: the lower, which flags smaller moves.</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o.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O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drawing the book's p.183 rule on one invented chart. Both levels, every price and every volume are ours.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Volatility spikes at the same turns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21 of 30</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600" b="0" i="0">
                <a:solidFill>
                  <a:srgbClr val="1A1A1A"/>
                </a:solidFill>
                <a:latin typeface="Arial"/>
              </a:rPr>
              <a:t>Volatility: how widely price swings. The bottom panel, a Bollinger Bandwidth oscillator, is the book's gauge of it here; the chapter does not say how it is calculated.</a:t>
            </a:r>
          </a:p>
          <a:p>
            <a:pPr algn="l">
              <a:lnSpc>
                <a:spcPct val="105000"/>
              </a:lnSpc>
              <a:spcBef>
                <a:spcPts val="0"/>
              </a:spcBef>
              <a:spcAft>
                <a:spcPts val="1100"/>
              </a:spcAft>
            </a:pPr>
            <a:r>
              <a:rPr sz="1600" b="0" i="0">
                <a:solidFill>
                  <a:srgbClr val="1A1A1A"/>
                </a:solidFill>
                <a:latin typeface="Arial"/>
              </a:rPr>
              <a:t>Thin upright lines join circled volatility spikes </a:t>
            </a:r>
            <a:r>
              <a:rPr sz="1600" b="1" i="0">
                <a:solidFill>
                  <a:srgbClr val="E09B00"/>
                </a:solidFill>
                <a:latin typeface="Arial"/>
              </a:rPr>
              <a:t>(1)</a:t>
            </a:r>
            <a:r>
              <a:rPr sz="1600" b="0" i="0">
                <a:solidFill>
                  <a:srgbClr val="1A1A1A"/>
                </a:solidFill>
                <a:latin typeface="Arial"/>
              </a:rPr>
              <a:t> to volume crossing the overextension lines </a:t>
            </a:r>
            <a:r>
              <a:rPr sz="1600" b="1" i="0">
                <a:solidFill>
                  <a:srgbClr val="C62828"/>
                </a:solidFill>
                <a:latin typeface="Arial"/>
              </a:rPr>
              <a:t>(2)</a:t>
            </a:r>
            <a:r>
              <a:rPr sz="1600" b="0" i="0">
                <a:solidFill>
                  <a:srgbClr val="1A1A1A"/>
                </a:solidFill>
                <a:latin typeface="Arial"/>
              </a:rPr>
              <a:t>, and up to turns in price.</a:t>
            </a:r>
          </a:p>
          <a:p>
            <a:pPr algn="l">
              <a:lnSpc>
                <a:spcPct val="105000"/>
              </a:lnSpc>
              <a:spcBef>
                <a:spcPts val="0"/>
              </a:spcBef>
              <a:spcAft>
                <a:spcPts val="1100"/>
              </a:spcAft>
            </a:pPr>
            <a:r>
              <a:rPr sz="1600" b="0" i="0">
                <a:solidFill>
                  <a:srgbClr val="1A1A1A"/>
                </a:solidFill>
                <a:latin typeface="Arial"/>
              </a:rPr>
              <a:t>At the book's 1 and 2, lows after sharp falls, volume and volatility spike together.</a:t>
            </a:r>
          </a:p>
        </p:txBody>
      </p:sp>
      <p:sp>
        <p:nvSpPr>
          <p:cNvPr id="8" name="Rectangle 7"/>
          <p:cNvSpPr/>
          <p:nvPr/>
        </p:nvSpPr>
        <p:spPr>
          <a:xfrm>
            <a:off x="777240" y="4965192"/>
            <a:ext cx="82296" cy="405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5193792" cy="405384"/>
          </a:xfrm>
          <a:prstGeom prst="rect">
            <a:avLst/>
          </a:prstGeom>
          <a:noFill/>
        </p:spPr>
        <p:txBody>
          <a:bodyPr wrap="square" anchor="t" lIns="0" rIns="0" tIns="0" bIns="0">
            <a:spAutoFit/>
          </a:bodyPr>
          <a:lstStyle/>
          <a:p>
            <a:pPr algn="l">
              <a:lnSpc>
                <a:spcPct val="100000"/>
              </a:lnSpc>
              <a:spcBef>
                <a:spcPts val="0"/>
              </a:spcBef>
              <a:spcAft>
                <a:spcPts val="0"/>
              </a:spcAft>
            </a:pPr>
            <a:r>
              <a:rPr sz="1700" b="1" i="0">
                <a:solidFill>
                  <a:srgbClr val="1A1A1A"/>
                </a:solidFill>
                <a:latin typeface="Arial"/>
              </a:rPr>
              <a:t>Two different measures flag the same turns.</a:t>
            </a:r>
          </a:p>
        </p:txBody>
      </p:sp>
      <p:sp>
        <p:nvSpPr>
          <p:cNvPr id="10" name="Rectangle 9"/>
          <p:cNvSpPr/>
          <p:nvPr/>
        </p:nvSpPr>
        <p:spPr>
          <a:xfrm>
            <a:off x="6583679" y="1810512"/>
            <a:ext cx="4830775" cy="286083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2623090"/>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16589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6.15</a:t>
            </a:r>
          </a:p>
          <a:p>
            <a:pPr algn="l">
              <a:lnSpc>
                <a:spcPct val="115000"/>
              </a:lnSpc>
              <a:spcBef>
                <a:spcPts val="0"/>
              </a:spcBef>
              <a:spcAft>
                <a:spcPts val="0"/>
              </a:spcAft>
            </a:pPr>
            <a:r>
              <a:rPr sz="1300" b="0" i="0">
                <a:solidFill>
                  <a:srgbClr val="1A1A1A"/>
                </a:solidFill>
                <a:latin typeface="Palatino"/>
              </a:rPr>
              <a:t>The continuous daily chart of silver with an upper and a lower volume overextension line, and under it a bandwidth oscillator labelled volatility, with its own historical volatility level. Thin lines join circled volatility spikes to volume overextensions and to two lows after sharp falls, at 1 and 2.</a:t>
            </a:r>
          </a:p>
        </p:txBody>
      </p:sp>
      <p:sp>
        <p:nvSpPr>
          <p:cNvPr id="14" name="Rectangle 13"/>
          <p:cNvSpPr/>
          <p:nvPr/>
        </p:nvSpPr>
        <p:spPr>
          <a:xfrm>
            <a:off x="7823251" y="4132779"/>
            <a:ext cx="2392969" cy="254439"/>
          </a:xfrm>
          <a:prstGeom prst="rect">
            <a:avLst/>
          </a:prstGeom>
          <a:noFill/>
          <a:ln w="44450">
            <a:solidFill>
              <a:srgbClr val="E09B00"/>
            </a:solidFill>
          </a:ln>
        </p:spPr>
        <p:txBody>
          <a:bodyPr rtlCol="0" anchor="ctr"/>
          <a:lstStyle/>
          <a:p>
            <a:pPr algn="ctr"/>
          </a:p>
        </p:txBody>
      </p:sp>
      <p:sp>
        <p:nvSpPr>
          <p:cNvPr id="15" name="Rectangle 14"/>
          <p:cNvSpPr/>
          <p:nvPr/>
        </p:nvSpPr>
        <p:spPr>
          <a:xfrm>
            <a:off x="8815346" y="3267160"/>
            <a:ext cx="1860177" cy="372478"/>
          </a:xfrm>
          <a:prstGeom prst="rect">
            <a:avLst/>
          </a:prstGeom>
          <a:noFill/>
          <a:ln w="44450">
            <a:solidFill>
              <a:srgbClr val="C62828"/>
            </a:solidFill>
          </a:ln>
        </p:spPr>
        <p:txBody>
          <a:bodyPr rtlCol="0" anchor="ctr"/>
          <a:lstStyle/>
          <a:p>
            <a:pPr algn="ctr"/>
          </a:p>
        </p:txBody>
      </p:sp>
      <p:sp>
        <p:nvSpPr>
          <p:cNvPr id="16" name="Oval 15"/>
          <p:cNvSpPr/>
          <p:nvPr/>
        </p:nvSpPr>
        <p:spPr>
          <a:xfrm>
            <a:off x="7511640" y="397733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8843619" y="311171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583679" y="4762786"/>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p.184 and Figure 6.15. The book does not explain the Bollinger Bandwidth. The figure's caption calls 1 and 2 selling climaxes.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6.15's two volatility 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22 of 30</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The dashed line, near 15: below it is noise, which many practitioners filter out. All four circled spikes clear it.</a:t>
            </a:r>
          </a:p>
          <a:p>
            <a:pPr algn="l">
              <a:lnSpc>
                <a:spcPct val="105000"/>
              </a:lnSpc>
              <a:spcBef>
                <a:spcPts val="0"/>
              </a:spcBef>
              <a:spcAft>
                <a:spcPts val="1100"/>
              </a:spcAft>
            </a:pPr>
            <a:r>
              <a:rPr sz="2000" b="1" i="0">
                <a:solidFill>
                  <a:srgbClr val="C62828"/>
                </a:solidFill>
                <a:latin typeface="Arial"/>
              </a:rPr>
              <a:t>(2)</a:t>
            </a:r>
            <a:r>
              <a:rPr sz="2000" b="0" i="0">
                <a:solidFill>
                  <a:srgbClr val="1A1A1A"/>
                </a:solidFill>
                <a:latin typeface="Arial"/>
              </a:rPr>
              <a:t> The historical volatility level, near 40: only the spikes under the book's two lows reach it.</a:t>
            </a:r>
          </a:p>
        </p:txBody>
      </p:sp>
      <p:sp>
        <p:nvSpPr>
          <p:cNvPr id="8" name="Rectangle 7"/>
          <p:cNvSpPr/>
          <p:nvPr/>
        </p:nvSpPr>
        <p:spPr>
          <a:xfrm>
            <a:off x="777240" y="441655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53128"/>
            <a:ext cx="51937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A low line for noise, a high one for the major turns.</a:t>
            </a:r>
          </a:p>
        </p:txBody>
      </p:sp>
      <p:sp>
        <p:nvSpPr>
          <p:cNvPr id="10" name="Rectangle 9"/>
          <p:cNvSpPr/>
          <p:nvPr/>
        </p:nvSpPr>
        <p:spPr>
          <a:xfrm>
            <a:off x="6583679" y="1810512"/>
            <a:ext cx="4830775" cy="286083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2623090"/>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16589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6.15</a:t>
            </a:r>
          </a:p>
          <a:p>
            <a:pPr algn="l">
              <a:lnSpc>
                <a:spcPct val="115000"/>
              </a:lnSpc>
              <a:spcBef>
                <a:spcPts val="0"/>
              </a:spcBef>
              <a:spcAft>
                <a:spcPts val="0"/>
              </a:spcAft>
            </a:pPr>
            <a:r>
              <a:rPr sz="1300" b="0" i="0">
                <a:solidFill>
                  <a:srgbClr val="1A1A1A"/>
                </a:solidFill>
                <a:latin typeface="Palatino"/>
              </a:rPr>
              <a:t>The continuous daily chart of silver, its volume with two overextension lines, and under it a bandwidth oscillator labelled volatility: a dashed noise line near 15 that four circled spikes clear, and a historical volatility level near 40 that only the two spikes under the book's lows 1 and 2 reach.</a:t>
            </a:r>
          </a:p>
        </p:txBody>
      </p:sp>
      <p:cxnSp>
        <p:nvCxnSpPr>
          <p:cNvPr id="14" name="Connector 13"/>
          <p:cNvCxnSpPr/>
          <p:nvPr/>
        </p:nvCxnSpPr>
        <p:spPr>
          <a:xfrm>
            <a:off x="6730110" y="4282295"/>
            <a:ext cx="3936227" cy="0"/>
          </a:xfrm>
          <a:prstGeom prst="line">
            <a:avLst/>
          </a:prstGeom>
          <a:ln w="44450">
            <a:solidFill>
              <a:srgbClr val="E09B00"/>
            </a:solidFill>
          </a:ln>
        </p:spPr>
      </p:cxnSp>
      <p:cxnSp>
        <p:nvCxnSpPr>
          <p:cNvPr id="15" name="Connector 14"/>
          <p:cNvCxnSpPr/>
          <p:nvPr/>
        </p:nvCxnSpPr>
        <p:spPr>
          <a:xfrm>
            <a:off x="9343544" y="3938671"/>
            <a:ext cx="1322793" cy="0"/>
          </a:xfrm>
          <a:prstGeom prst="line">
            <a:avLst/>
          </a:prstGeom>
          <a:ln w="44450">
            <a:solidFill>
              <a:srgbClr val="C62828"/>
            </a:solidFill>
          </a:ln>
        </p:spPr>
      </p:cxnSp>
      <p:sp>
        <p:nvSpPr>
          <p:cNvPr id="16" name="Oval 15"/>
          <p:cNvSpPr/>
          <p:nvPr/>
        </p:nvSpPr>
        <p:spPr>
          <a:xfrm>
            <a:off x="6574662" y="412684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9188096" y="378322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583679" y="4762786"/>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p.184 and Figure 6.15, its two volatility lines read by eye.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volatility spike adds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23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second, separate measure, price's swings, agreeing with volume at the same turns: evidence that corroborates, the chapter's first idea.</a:t>
            </a:r>
          </a:p>
          <a:p>
            <a:pPr algn="l">
              <a:lnSpc>
                <a:spcPct val="118000"/>
              </a:lnSpc>
              <a:spcBef>
                <a:spcPts val="0"/>
              </a:spcBef>
              <a:spcAft>
                <a:spcPts val="1300"/>
              </a:spcAft>
            </a:pPr>
            <a:r>
              <a:rPr sz="2100" b="0" i="0">
                <a:solidFill>
                  <a:srgbClr val="1A1A1A"/>
                </a:solidFill>
                <a:latin typeface="Arial"/>
              </a:rPr>
              <a:t>A spike above the noise line is a real one; a spike at the historical level marks a major turn, as on the volume panel's upper line.</a:t>
            </a:r>
          </a:p>
          <a:p>
            <a:pPr algn="l">
              <a:lnSpc>
                <a:spcPct val="118000"/>
              </a:lnSpc>
              <a:spcBef>
                <a:spcPts val="0"/>
              </a:spcBef>
              <a:spcAft>
                <a:spcPts val="1300"/>
              </a:spcAft>
            </a:pPr>
            <a:r>
              <a:rPr sz="2100" b="0" i="0">
                <a:solidFill>
                  <a:srgbClr val="1A1A1A"/>
                </a:solidFill>
                <a:latin typeface="Arial"/>
              </a:rPr>
              <a:t>Both crossing together is stronger evidence; the book gives no weighting.</a:t>
            </a:r>
          </a:p>
        </p:txBody>
      </p:sp>
      <p:sp>
        <p:nvSpPr>
          <p:cNvPr id="8" name="Rectangle 7"/>
          <p:cNvSpPr/>
          <p:nvPr/>
        </p:nvSpPr>
        <p:spPr>
          <a:xfrm>
            <a:off x="777240" y="439902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As on volume: a low line for noise, a high one for the major turns.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p.184. Evidence that corroborates: the chapter's first slide, p.173.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Low volume top and low volume bottom</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24 of 30</a:t>
            </a:r>
          </a:p>
        </p:txBody>
      </p:sp>
      <p:sp>
        <p:nvSpPr>
          <p:cNvPr id="8" name="Rectangle 7"/>
          <p:cNvSpPr/>
          <p:nvPr/>
        </p:nvSpPr>
        <p:spPr>
          <a:xfrm>
            <a:off x="777240" y="2258568"/>
            <a:ext cx="64008" cy="88696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39496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500" b="1" i="0">
                <a:solidFill>
                  <a:srgbClr val="1A1A1A"/>
                </a:solidFill>
                <a:latin typeface="Arial"/>
              </a:rPr>
              <a:t>A top, or a bottom, made on very little volume. Ours: usual volume 2 million a day; a peak, or a trough, on 0.3 million.</a:t>
            </a:r>
          </a:p>
        </p:txBody>
      </p:sp>
      <p:sp>
        <p:nvSpPr>
          <p:cNvPr id="10" name="Rectangle 9"/>
          <p:cNvSpPr/>
          <p:nvPr/>
        </p:nvSpPr>
        <p:spPr>
          <a:xfrm>
            <a:off x="777240" y="3401568"/>
            <a:ext cx="64008" cy="88696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355848"/>
            <a:ext cx="5394960" cy="9966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500" b="0" i="0">
                <a:solidFill>
                  <a:srgbClr val="1A1A1A"/>
                </a:solidFill>
                <a:latin typeface="Arial"/>
              </a:rPr>
              <a:t>Figure 6.16, Apple: seven circles where volume dips to a lower threshold </a:t>
            </a:r>
            <a:r>
              <a:rPr sz="1500" b="1" i="0">
                <a:solidFill>
                  <a:srgbClr val="E09B00"/>
                </a:solidFill>
                <a:latin typeface="Arial"/>
              </a:rPr>
              <a:t>(1)</a:t>
            </a:r>
            <a:r>
              <a:rPr sz="1500" b="0" i="0">
                <a:solidFill>
                  <a:srgbClr val="1A1A1A"/>
                </a:solidFill>
                <a:latin typeface="Arial"/>
              </a:rPr>
              <a:t>, set by a rule the book does not give. Each time line runs up to a turn </a:t>
            </a:r>
            <a:r>
              <a:rPr sz="1500" b="1" i="0">
                <a:solidFill>
                  <a:srgbClr val="C62828"/>
                </a:solidFill>
                <a:latin typeface="Arial"/>
              </a:rPr>
              <a:t>(2)</a:t>
            </a:r>
            <a:r>
              <a:rPr sz="1500" b="0" i="0">
                <a:solidFill>
                  <a:srgbClr val="1A1A1A"/>
                </a:solidFill>
                <a:latin typeface="Arial"/>
              </a:rPr>
              <a:t>.</a:t>
            </a:r>
          </a:p>
        </p:txBody>
      </p:sp>
      <p:sp>
        <p:nvSpPr>
          <p:cNvPr id="12" name="Rectangle 11"/>
          <p:cNvSpPr/>
          <p:nvPr/>
        </p:nvSpPr>
        <p:spPr>
          <a:xfrm>
            <a:off x="777240" y="4544568"/>
            <a:ext cx="64008" cy="1115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98848"/>
            <a:ext cx="5394960" cy="1225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500" b="0" i="0">
                <a:solidFill>
                  <a:srgbClr val="1A1A1A"/>
                </a:solidFill>
                <a:latin typeface="Arial"/>
              </a:rPr>
              <a:t>A market top associated with extremely low or minimal volume is called a low volume top. A market bottom associated with extremely low volume is called a low volume bottom.</a:t>
            </a:r>
          </a:p>
        </p:txBody>
      </p:sp>
      <p:sp>
        <p:nvSpPr>
          <p:cNvPr id="14" name="Rectangle 13"/>
          <p:cNvSpPr/>
          <p:nvPr/>
        </p:nvSpPr>
        <p:spPr>
          <a:xfrm>
            <a:off x="6766559" y="2157984"/>
            <a:ext cx="4647894" cy="2912183"/>
          </a:xfrm>
          <a:prstGeom prst="rect">
            <a:avLst/>
          </a:prstGeom>
          <a:solidFill>
            <a:srgbClr val="FFFFFF"/>
          </a:solidFill>
          <a:ln w="12700">
            <a:solidFill>
              <a:srgbClr val="D7E0D9"/>
            </a:solidFill>
          </a:ln>
          <a:effectLst/>
        </p:spPr>
        <p:txBody>
          <a:bodyPr rtlCol="0" anchor="ctr"/>
          <a:lstStyle/>
          <a:p>
            <a:pPr algn="ctr"/>
          </a:p>
        </p:txBody>
      </p:sp>
      <p:sp>
        <p:nvSpPr>
          <p:cNvPr id="15" name="Rectangle 14"/>
          <p:cNvSpPr/>
          <p:nvPr/>
        </p:nvSpPr>
        <p:spPr>
          <a:xfrm>
            <a:off x="6885431" y="2276856"/>
            <a:ext cx="4410151" cy="2674439"/>
          </a:xfrm>
          <a:prstGeom prst="rect">
            <a:avLst/>
          </a:prstGeom>
          <a:solidFill>
            <a:srgbClr val="FFFFFF"/>
          </a:solidFill>
          <a:ln w="12700">
            <a:solidFill>
              <a:srgbClr val="D7E0D9"/>
            </a:solidFill>
          </a:ln>
          <a:effectLst/>
        </p:spPr>
        <p:txBody>
          <a:bodyPr rtlCol="0" anchor="ctr"/>
          <a:lstStyle/>
          <a:p>
            <a:pPr algn="ctr"/>
          </a:p>
        </p:txBody>
      </p:sp>
      <p:sp>
        <p:nvSpPr>
          <p:cNvPr id="16" name="Rectangle 15"/>
          <p:cNvSpPr/>
          <p:nvPr/>
        </p:nvSpPr>
        <p:spPr>
          <a:xfrm>
            <a:off x="6885431" y="2276856"/>
            <a:ext cx="4410151" cy="50800"/>
          </a:xfrm>
          <a:prstGeom prst="rect">
            <a:avLst/>
          </a:prstGeom>
          <a:solidFill>
            <a:srgbClr val="F2A900"/>
          </a:solidFill>
          <a:ln>
            <a:noFill/>
          </a:ln>
          <a:effectLst/>
        </p:spPr>
        <p:txBody>
          <a:bodyPr rtlCol="0" anchor="ctr"/>
          <a:lstStyle/>
          <a:p>
            <a:pPr algn="ctr"/>
          </a:p>
        </p:txBody>
      </p:sp>
      <p:sp>
        <p:nvSpPr>
          <p:cNvPr id="17" name="TextBox 16"/>
          <p:cNvSpPr txBox="1"/>
          <p:nvPr/>
        </p:nvSpPr>
        <p:spPr>
          <a:xfrm>
            <a:off x="7159751" y="2551175"/>
            <a:ext cx="3861511" cy="221723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6.16</a:t>
            </a:r>
          </a:p>
          <a:p>
            <a:pPr algn="l">
              <a:lnSpc>
                <a:spcPct val="115000"/>
              </a:lnSpc>
              <a:spcBef>
                <a:spcPts val="0"/>
              </a:spcBef>
              <a:spcAft>
                <a:spcPts val="0"/>
              </a:spcAft>
            </a:pPr>
            <a:r>
              <a:rPr sz="1500" b="0" i="0">
                <a:solidFill>
                  <a:srgbClr val="1A1A1A"/>
                </a:solidFill>
                <a:latin typeface="Palatino"/>
              </a:rPr>
              <a:t>A daily Apple chart with a low volume threshold drawn across its volume panel and circled wherever volume tests it. Dashed time lines run up from each circle to a top or a bottom in price, labelled low volume reversals.</a:t>
            </a:r>
          </a:p>
        </p:txBody>
      </p:sp>
      <p:cxnSp>
        <p:nvCxnSpPr>
          <p:cNvPr id="18" name="Connector 17"/>
          <p:cNvCxnSpPr/>
          <p:nvPr/>
        </p:nvCxnSpPr>
        <p:spPr>
          <a:xfrm>
            <a:off x="7048607" y="4713270"/>
            <a:ext cx="3960316" cy="0"/>
          </a:xfrm>
          <a:prstGeom prst="line">
            <a:avLst/>
          </a:prstGeom>
          <a:ln w="44450">
            <a:solidFill>
              <a:srgbClr val="E09B00"/>
            </a:solidFill>
          </a:ln>
        </p:spPr>
      </p:cxnSp>
      <p:cxnSp>
        <p:nvCxnSpPr>
          <p:cNvPr id="19" name="Connector 18"/>
          <p:cNvCxnSpPr/>
          <p:nvPr/>
        </p:nvCxnSpPr>
        <p:spPr>
          <a:xfrm flipV="1">
            <a:off x="8406934" y="2707440"/>
            <a:ext cx="0" cy="1874782"/>
          </a:xfrm>
          <a:prstGeom prst="line">
            <a:avLst/>
          </a:prstGeom>
          <a:ln w="44450">
            <a:solidFill>
              <a:srgbClr val="C62828"/>
            </a:solidFill>
            <a:tailEnd type="triangle" w="med" len="med"/>
          </a:ln>
        </p:spPr>
      </p:cxnSp>
      <p:sp>
        <p:nvSpPr>
          <p:cNvPr id="20" name="Oval 19"/>
          <p:cNvSpPr/>
          <p:nvPr/>
        </p:nvSpPr>
        <p:spPr>
          <a:xfrm>
            <a:off x="6893159" y="455782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1" name="Oval 20"/>
          <p:cNvSpPr/>
          <p:nvPr/>
        </p:nvSpPr>
        <p:spPr>
          <a:xfrm>
            <a:off x="8097130" y="265629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2" name="TextBox 21"/>
          <p:cNvSpPr txBox="1"/>
          <p:nvPr/>
        </p:nvSpPr>
        <p:spPr>
          <a:xfrm>
            <a:off x="6766559" y="5161607"/>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6.16 -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pp.183, 185 and Figure 6.16. The 2 and 0.3 million are ours.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a low volume turn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What it means: when volume falls to its threshold, expect a turn, the book's tendency.</a:t>
            </a:r>
          </a:p>
          <a:p>
            <a:pPr algn="l">
              <a:lnSpc>
                <a:spcPct val="118000"/>
              </a:lnSpc>
              <a:spcBef>
                <a:spcPts val="0"/>
              </a:spcBef>
              <a:spcAft>
                <a:spcPts val="1300"/>
              </a:spcAft>
            </a:pPr>
            <a:r>
              <a:rPr sz="2100" b="0" i="0">
                <a:solidFill>
                  <a:srgbClr val="1A1A1A"/>
                </a:solidFill>
                <a:latin typeface="Arial"/>
              </a:rPr>
              <a:t>Why, by the book's reason for breakouts: those who wanted to trade have traded, so the move runs out of participants. The book gives that reason for breakouts, not for turns.</a:t>
            </a:r>
          </a:p>
          <a:p>
            <a:pPr algn="l">
              <a:lnSpc>
                <a:spcPct val="118000"/>
              </a:lnSpc>
              <a:spcBef>
                <a:spcPts val="0"/>
              </a:spcBef>
              <a:spcAft>
                <a:spcPts val="1300"/>
              </a:spcAft>
            </a:pPr>
            <a:r>
              <a:rPr sz="2100" b="0" i="0">
                <a:solidFill>
                  <a:srgbClr val="1A1A1A"/>
                </a:solidFill>
                <a:latin typeface="Arial"/>
              </a:rPr>
              <a:t>Top or bottom: the touch does not say. Wait for price to show which it was.</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Volume going quiet says a turn may come; price says which.</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pp.180 and 185. The reason is the book's for breakouts, p.180; it gives none for these turns.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Overbought or oversold? Only afterwards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26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500" b="0" i="0">
                <a:solidFill>
                  <a:srgbClr val="1A1A1A"/>
                </a:solidFill>
                <a:latin typeface="Arial"/>
              </a:rPr>
              <a:t>Back to the spikes, with one caution.</a:t>
            </a:r>
          </a:p>
          <a:p>
            <a:pPr algn="l">
              <a:lnSpc>
                <a:spcPct val="105000"/>
              </a:lnSpc>
              <a:spcBef>
                <a:spcPts val="0"/>
              </a:spcBef>
              <a:spcAft>
                <a:spcPts val="1100"/>
              </a:spcAft>
            </a:pPr>
            <a:r>
              <a:rPr sz="1500" b="0" i="0">
                <a:solidFill>
                  <a:srgbClr val="1A1A1A"/>
                </a:solidFill>
                <a:latin typeface="Arial"/>
              </a:rPr>
              <a:t>Overextended volume can signal a top or a bottom: extreme buying and selling both generate volume.</a:t>
            </a:r>
          </a:p>
          <a:p>
            <a:pPr algn="l">
              <a:lnSpc>
                <a:spcPct val="105000"/>
              </a:lnSpc>
              <a:spcBef>
                <a:spcPts val="0"/>
              </a:spcBef>
              <a:spcAft>
                <a:spcPts val="1100"/>
              </a:spcAft>
            </a:pPr>
            <a:r>
              <a:rPr sz="1500" b="0" i="0">
                <a:solidFill>
                  <a:srgbClr val="1A1A1A"/>
                </a:solidFill>
                <a:latin typeface="Arial"/>
              </a:rPr>
              <a:t>Overbought: an extreme tied to a top; oversold, to a bottom: the book's usage. Plain words, ours: risen too far, fallen too far.</a:t>
            </a:r>
          </a:p>
          <a:p>
            <a:pPr algn="l">
              <a:lnSpc>
                <a:spcPct val="105000"/>
              </a:lnSpc>
              <a:spcBef>
                <a:spcPts val="0"/>
              </a:spcBef>
              <a:spcAft>
                <a:spcPts val="1100"/>
              </a:spcAft>
            </a:pPr>
            <a:r>
              <a:rPr sz="1500" b="0" i="0">
                <a:solidFill>
                  <a:srgbClr val="1A1A1A"/>
                </a:solidFill>
                <a:latin typeface="Arial"/>
              </a:rPr>
              <a:t>Our chart: the same 9 million spike twice. Price rose into it, then fell: a top. Or fell, then rose: a bottom.</a:t>
            </a:r>
          </a:p>
        </p:txBody>
      </p:sp>
      <p:sp>
        <p:nvSpPr>
          <p:cNvPr id="8" name="Rectangle 7"/>
          <p:cNvSpPr/>
          <p:nvPr/>
        </p:nvSpPr>
        <p:spPr>
          <a:xfrm>
            <a:off x="777240" y="4985766"/>
            <a:ext cx="82296" cy="6339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22342"/>
            <a:ext cx="4828032" cy="633984"/>
          </a:xfrm>
          <a:prstGeom prst="rect">
            <a:avLst/>
          </a:prstGeom>
          <a:noFill/>
        </p:spPr>
        <p:txBody>
          <a:bodyPr wrap="square" anchor="t" lIns="0" rIns="0" tIns="0" bIns="0">
            <a:spAutoFit/>
          </a:bodyPr>
          <a:lstStyle/>
          <a:p>
            <a:pPr algn="l">
              <a:lnSpc>
                <a:spcPct val="100000"/>
              </a:lnSpc>
              <a:spcBef>
                <a:spcPts val="0"/>
              </a:spcBef>
              <a:spcAft>
                <a:spcPts val="0"/>
              </a:spcAft>
            </a:pPr>
            <a:r>
              <a:rPr sz="1600" b="1" i="0">
                <a:solidFill>
                  <a:srgbClr val="1A1A1A"/>
                </a:solidFill>
                <a:latin typeface="Arial"/>
              </a:rPr>
              <a:t>Overextension: pinpointed now. Overbought or oversold: only in retrospect.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p.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P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p.186. The chart is ours: sketches, with our invented volumes. Overbought and oversold are used and not defined in this chapter.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caution teaches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27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point: a volume spike tells you something is happening, not what. Volume alone cannot call a market overbought or oversold.</a:t>
            </a:r>
          </a:p>
          <a:p>
            <a:pPr algn="l">
              <a:lnSpc>
                <a:spcPct val="118000"/>
              </a:lnSpc>
              <a:spcBef>
                <a:spcPts val="0"/>
              </a:spcBef>
              <a:spcAft>
                <a:spcPts val="1300"/>
              </a:spcAft>
            </a:pPr>
            <a:r>
              <a:rPr sz="2100" b="0" i="0">
                <a:solidFill>
                  <a:srgbClr val="1A1A1A"/>
                </a:solidFill>
                <a:latin typeface="Arial"/>
              </a:rPr>
              <a:t>So do not trade the spike alone: name the overextension now, and wait for price to show which way it turned.</a:t>
            </a:r>
          </a:p>
          <a:p>
            <a:pPr algn="l">
              <a:lnSpc>
                <a:spcPct val="118000"/>
              </a:lnSpc>
              <a:spcBef>
                <a:spcPts val="0"/>
              </a:spcBef>
              <a:spcAft>
                <a:spcPts val="1300"/>
              </a:spcAft>
            </a:pPr>
            <a:r>
              <a:rPr sz="2100" b="0" i="0">
                <a:solidFill>
                  <a:srgbClr val="1A1A1A"/>
                </a:solidFill>
                <a:latin typeface="Arial"/>
              </a:rPr>
              <a:t>It returns to the spikes because the book puts the caution here, p.186.</a:t>
            </a:r>
          </a:p>
          <a:p>
            <a:pPr algn="l">
              <a:lnSpc>
                <a:spcPct val="118000"/>
              </a:lnSpc>
              <a:spcBef>
                <a:spcPts val="0"/>
              </a:spcBef>
              <a:spcAft>
                <a:spcPts val="1300"/>
              </a:spcAft>
            </a:pPr>
            <a:r>
              <a:rPr sz="2100" b="0" i="0">
                <a:solidFill>
                  <a:srgbClr val="1A1A1A"/>
                </a:solidFill>
                <a:latin typeface="Arial"/>
              </a:rPr>
              <a:t>The book is silent on two things: whether the quiet turns carry it too, and what overbought and oversold mean.</a:t>
            </a:r>
          </a:p>
        </p:txBody>
      </p:sp>
      <p:sp>
        <p:nvSpPr>
          <p:cNvPr id="8" name="Rectangle 7"/>
          <p:cNvSpPr/>
          <p:nvPr/>
        </p:nvSpPr>
        <p:spPr>
          <a:xfrm>
            <a:off x="777240" y="5211317"/>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47893"/>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Volume says a turn is likely; price says which kind it was.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p.186. Where the caution sits is the book's order. That it is silent on the quiet turns is a reading of p.186, which names overextensions only.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Lower timeframes are more sensitive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28 of 30</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Timeframe: the time one bar covers. A monthly bar adds up every day of the month.</a:t>
            </a:r>
          </a:p>
          <a:p>
            <a:pPr algn="l">
              <a:lnSpc>
                <a:spcPct val="105000"/>
              </a:lnSpc>
              <a:spcBef>
                <a:spcPts val="0"/>
              </a:spcBef>
              <a:spcAft>
                <a:spcPts val="1100"/>
              </a:spcAft>
            </a:pPr>
            <a:r>
              <a:rPr sz="1700" b="0" i="0">
                <a:solidFill>
                  <a:srgbClr val="1A1A1A"/>
                </a:solidFill>
                <a:latin typeface="Arial"/>
              </a:rPr>
              <a:t>Figure 6.17, gold: daily and weekly volume peak in 2013 </a:t>
            </a:r>
            <a:r>
              <a:rPr sz="1700" b="1" i="0">
                <a:solidFill>
                  <a:srgbClr val="E09B00"/>
                </a:solidFill>
                <a:latin typeface="Arial"/>
              </a:rPr>
              <a:t>(1)</a:t>
            </a:r>
            <a:r>
              <a:rPr sz="1700" b="0" i="0">
                <a:solidFill>
                  <a:srgbClr val="1A1A1A"/>
                </a:solidFill>
                <a:latin typeface="Arial"/>
              </a:rPr>
              <a:t>; monthly, quarterly and yearly peak in 2011 </a:t>
            </a:r>
            <a:r>
              <a:rPr sz="1700" b="1" i="0">
                <a:solidFill>
                  <a:srgbClr val="C62828"/>
                </a:solidFill>
                <a:latin typeface="Arial"/>
              </a:rPr>
              <a:t>(2)</a:t>
            </a:r>
            <a:r>
              <a:rPr sz="1700" b="0" i="0">
                <a:solidFill>
                  <a:srgbClr val="1A1A1A"/>
                </a:solidFill>
                <a:latin typeface="Arial"/>
              </a:rPr>
              <a:t>.</a:t>
            </a:r>
          </a:p>
        </p:txBody>
      </p:sp>
      <p:sp>
        <p:nvSpPr>
          <p:cNvPr id="8" name="Rectangle 7"/>
          <p:cNvSpPr/>
          <p:nvPr/>
        </p:nvSpPr>
        <p:spPr>
          <a:xfrm>
            <a:off x="777240" y="4128516"/>
            <a:ext cx="82296" cy="12435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65092"/>
            <a:ext cx="3913632" cy="124358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Lower timeframes are more sensitive: one day's burst shows. Higher ones show the overall trend of volume.</a:t>
            </a:r>
          </a:p>
        </p:txBody>
      </p:sp>
      <p:sp>
        <p:nvSpPr>
          <p:cNvPr id="10" name="Rectangle 9"/>
          <p:cNvSpPr/>
          <p:nvPr/>
        </p:nvSpPr>
        <p:spPr>
          <a:xfrm>
            <a:off x="5875477" y="1810512"/>
            <a:ext cx="4967020"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994349" y="1929384"/>
            <a:ext cx="4729276"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994349" y="1929384"/>
            <a:ext cx="4729276"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268669" y="2203703"/>
            <a:ext cx="418063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6.17</a:t>
            </a:r>
          </a:p>
          <a:p>
            <a:pPr algn="l">
              <a:lnSpc>
                <a:spcPct val="115000"/>
              </a:lnSpc>
              <a:spcBef>
                <a:spcPts val="0"/>
              </a:spcBef>
              <a:spcAft>
                <a:spcPts val="0"/>
              </a:spcAft>
            </a:pPr>
            <a:r>
              <a:rPr sz="1500" b="0" i="0">
                <a:solidFill>
                  <a:srgbClr val="1A1A1A"/>
                </a:solidFill>
                <a:latin typeface="Palatino"/>
              </a:rPr>
              <a:t>The continuous chart of gold with five volume panels under it: daily, weekly, monthly, quarterly and yearly. Lines over each mark where its volume peaks: in 2013 on the daily and weekly panels, in 2011 on the monthly, quarterly and yearly ones.</a:t>
            </a:r>
          </a:p>
        </p:txBody>
      </p:sp>
      <p:sp>
        <p:nvSpPr>
          <p:cNvPr id="14" name="Rectangle 13"/>
          <p:cNvSpPr/>
          <p:nvPr/>
        </p:nvSpPr>
        <p:spPr>
          <a:xfrm>
            <a:off x="10137195" y="1943429"/>
            <a:ext cx="321590" cy="937516"/>
          </a:xfrm>
          <a:prstGeom prst="rect">
            <a:avLst/>
          </a:prstGeom>
          <a:noFill/>
          <a:ln w="44450">
            <a:solidFill>
              <a:srgbClr val="E09B00"/>
            </a:solidFill>
          </a:ln>
        </p:spPr>
        <p:txBody>
          <a:bodyPr rtlCol="0" anchor="ctr"/>
          <a:lstStyle/>
          <a:p>
            <a:pPr algn="ctr"/>
          </a:p>
        </p:txBody>
      </p:sp>
      <p:sp>
        <p:nvSpPr>
          <p:cNvPr id="15" name="Rectangle 14"/>
          <p:cNvSpPr/>
          <p:nvPr/>
        </p:nvSpPr>
        <p:spPr>
          <a:xfrm>
            <a:off x="9574411" y="3354970"/>
            <a:ext cx="255380" cy="2043574"/>
          </a:xfrm>
          <a:prstGeom prst="rect">
            <a:avLst/>
          </a:prstGeom>
          <a:noFill/>
          <a:ln w="44450">
            <a:solidFill>
              <a:srgbClr val="C62828"/>
            </a:solidFill>
          </a:ln>
        </p:spPr>
        <p:txBody>
          <a:bodyPr rtlCol="0" anchor="ctr"/>
          <a:lstStyle/>
          <a:p>
            <a:pPr algn="ctr"/>
          </a:p>
        </p:txBody>
      </p:sp>
      <p:sp>
        <p:nvSpPr>
          <p:cNvPr id="16" name="Oval 15"/>
          <p:cNvSpPr/>
          <p:nvPr/>
        </p:nvSpPr>
        <p:spPr>
          <a:xfrm>
            <a:off x="9480444" y="194950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9418963" y="319952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5303519" y="5650991"/>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6.17 -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p.186 and Figure 6.17.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peaks differ: the arithmetic</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29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a record 2013 day of 10 million, in a month of 19 quiet days of 3 million: 10 + 57 = 67 million for the month.</a:t>
            </a:r>
          </a:p>
          <a:p>
            <a:pPr algn="l">
              <a:lnSpc>
                <a:spcPct val="118000"/>
              </a:lnSpc>
              <a:spcBef>
                <a:spcPts val="0"/>
              </a:spcBef>
              <a:spcAft>
                <a:spcPts val="1300"/>
              </a:spcAft>
            </a:pPr>
            <a:r>
              <a:rPr sz="2100" b="0" i="0">
                <a:solidFill>
                  <a:srgbClr val="1A1A1A"/>
                </a:solidFill>
                <a:latin typeface="Arial"/>
              </a:rPr>
              <a:t>A 2011 month with no record day, 20 days of 6 million: 20 x 6 = 120 million, the monthly peak.</a:t>
            </a:r>
          </a:p>
          <a:p>
            <a:pPr algn="l">
              <a:lnSpc>
                <a:spcPct val="118000"/>
              </a:lnSpc>
              <a:spcBef>
                <a:spcPts val="0"/>
              </a:spcBef>
              <a:spcAft>
                <a:spcPts val="1300"/>
              </a:spcAft>
            </a:pPr>
            <a:r>
              <a:rPr sz="2100" b="0" i="0">
                <a:solidFill>
                  <a:srgbClr val="1A1A1A"/>
                </a:solidFill>
                <a:latin typeface="Arial"/>
              </a:rPr>
              <a:t>So the record day tops the daily bars, and the steady month tops the monthly ones.</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Daily to spot a single burst; monthly or higher to see the trend in volume.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p.186's point, worked. The 10, 3 and 6 million are ours, to show the arithmetic.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Our example: one record, two timeframes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6 - 6.1 Timing  |  30 of 30</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Daily: the tallest bar is one spike of 6.0 million shares, late in the record, at 1.</a:t>
            </a:r>
          </a:p>
          <a:p>
            <a:pPr algn="l">
              <a:lnSpc>
                <a:spcPct val="105000"/>
              </a:lnSpc>
              <a:spcBef>
                <a:spcPts val="0"/>
              </a:spcBef>
              <a:spcAft>
                <a:spcPts val="1100"/>
              </a:spcAft>
            </a:pPr>
            <a:r>
              <a:rPr sz="1700" b="0" i="0">
                <a:solidFill>
                  <a:srgbClr val="1A1A1A"/>
                </a:solidFill>
                <a:latin typeface="Arial"/>
              </a:rPr>
              <a:t>Monthly, the same days added twenty at a time: the spike's month comes to only 24.4 million, one big day and nineteen of about 1 million.</a:t>
            </a:r>
          </a:p>
          <a:p>
            <a:pPr algn="l">
              <a:lnSpc>
                <a:spcPct val="105000"/>
              </a:lnSpc>
              <a:spcBef>
                <a:spcPts val="0"/>
              </a:spcBef>
              <a:spcAft>
                <a:spcPts val="1100"/>
              </a:spcAft>
            </a:pPr>
            <a:r>
              <a:rPr sz="1700" b="0" i="0">
                <a:solidFill>
                  <a:srgbClr val="1A1A1A"/>
                </a:solidFill>
                <a:latin typeface="Arial"/>
              </a:rPr>
              <a:t>The busiest month, 2, comes earlier: no day above 3.5 million, but twenty of them add to 55.7 million.</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One volume record, two different peaks: it depends on the timeframe.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q.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Q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book's p.186 point on one invented volume record. The days, the spike and the months are ours, and the sums are read from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Volume and the strength of a price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 of 24</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Barrier (Chapter 5): a resistance above price stops a rise; a support below price stops a fall.</a:t>
            </a:r>
          </a:p>
          <a:p>
            <a:pPr algn="l">
              <a:lnSpc>
                <a:spcPct val="105000"/>
              </a:lnSpc>
              <a:spcBef>
                <a:spcPts val="0"/>
              </a:spcBef>
              <a:spcAft>
                <a:spcPts val="1100"/>
              </a:spcAft>
            </a:pPr>
            <a:r>
              <a:rPr sz="1700" b="0" i="0">
                <a:solidFill>
                  <a:srgbClr val="1A1A1A"/>
                </a:solidFill>
                <a:latin typeface="Arial"/>
              </a:rPr>
              <a:t>Retest (Chapter 5): price coming back later to a barrier it touched before.</a:t>
            </a:r>
          </a:p>
          <a:p>
            <a:pPr algn="l">
              <a:lnSpc>
                <a:spcPct val="105000"/>
              </a:lnSpc>
              <a:spcBef>
                <a:spcPts val="0"/>
              </a:spcBef>
              <a:spcAft>
                <a:spcPts val="1100"/>
              </a:spcAft>
            </a:pPr>
            <a:r>
              <a:rPr sz="1700" b="0" i="0">
                <a:solidFill>
                  <a:srgbClr val="1A1A1A"/>
                </a:solidFill>
                <a:latin typeface="Arial"/>
              </a:rPr>
              <a:t>Volume peak: the tallest bar comes at the touch, the bar where price meets the barrier. Resistance 1 </a:t>
            </a:r>
            <a:r>
              <a:rPr sz="1700" b="1" i="0">
                <a:solidFill>
                  <a:srgbClr val="E09B00"/>
                </a:solidFill>
                <a:latin typeface="Arial"/>
              </a:rPr>
              <a:t>(1)</a:t>
            </a:r>
            <a:r>
              <a:rPr sz="1700" b="0" i="0">
                <a:solidFill>
                  <a:srgbClr val="1A1A1A"/>
                </a:solidFill>
                <a:latin typeface="Arial"/>
              </a:rPr>
              <a:t>, Support 1 </a:t>
            </a:r>
            <a:r>
              <a:rPr sz="1700" b="1" i="0">
                <a:solidFill>
                  <a:srgbClr val="C62828"/>
                </a:solidFill>
                <a:latin typeface="Arial"/>
              </a:rPr>
              <a:t>(2)</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Volume dip or trough: the shortest bar comes at the touch. Resistance 2 </a:t>
            </a:r>
            <a:r>
              <a:rPr sz="1700" b="1" i="0">
                <a:solidFill>
                  <a:srgbClr val="1F5FAD"/>
                </a:solidFill>
                <a:latin typeface="Arial"/>
              </a:rPr>
              <a:t>(3)</a:t>
            </a:r>
            <a:r>
              <a:rPr sz="1700" b="0" i="0">
                <a:solidFill>
                  <a:srgbClr val="1A1A1A"/>
                </a:solidFill>
                <a:latin typeface="Arial"/>
              </a:rPr>
              <a:t>, Support 2 </a:t>
            </a:r>
            <a:r>
              <a:rPr sz="1700" b="1" i="0">
                <a:solidFill>
                  <a:srgbClr val="007A33"/>
                </a:solidFill>
                <a:latin typeface="Arial"/>
              </a:rPr>
              <a:t>(4)</a:t>
            </a:r>
            <a:r>
              <a:rPr sz="1700" b="0" i="0">
                <a:solidFill>
                  <a:srgbClr val="1A1A1A"/>
                </a:solidFill>
                <a:latin typeface="Arial"/>
              </a:rPr>
              <a:t>.</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519379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book: the peak is the most reliable.</a:t>
            </a:r>
          </a:p>
        </p:txBody>
      </p:sp>
      <p:sp>
        <p:nvSpPr>
          <p:cNvPr id="10" name="Rectangle 9"/>
          <p:cNvSpPr/>
          <p:nvPr/>
        </p:nvSpPr>
        <p:spPr>
          <a:xfrm>
            <a:off x="6629454" y="1810512"/>
            <a:ext cx="4739225"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48326" y="1929384"/>
            <a:ext cx="4501481"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48326" y="1929384"/>
            <a:ext cx="450148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022646" y="2203703"/>
            <a:ext cx="3952841"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6.18</a:t>
            </a:r>
          </a:p>
          <a:p>
            <a:pPr algn="l">
              <a:lnSpc>
                <a:spcPct val="115000"/>
              </a:lnSpc>
              <a:spcBef>
                <a:spcPts val="0"/>
              </a:spcBef>
              <a:spcAft>
                <a:spcPts val="0"/>
              </a:spcAft>
            </a:pPr>
            <a:r>
              <a:rPr sz="1500" b="0" i="0">
                <a:solidFill>
                  <a:srgbClr val="1A1A1A"/>
                </a:solidFill>
                <a:latin typeface="Palatino"/>
              </a:rPr>
              <a:t>Four sketches under the question which price barrier is more reliable. Resistance 1 and Support 1 are each touched as volume peaks; Resistance 2 and Support 2 are each touched as volume dips to its lowest.</a:t>
            </a:r>
          </a:p>
        </p:txBody>
      </p:sp>
      <p:sp>
        <p:nvSpPr>
          <p:cNvPr id="14" name="Rectangle 13"/>
          <p:cNvSpPr/>
          <p:nvPr/>
        </p:nvSpPr>
        <p:spPr>
          <a:xfrm>
            <a:off x="7603608" y="2982772"/>
            <a:ext cx="540177" cy="737372"/>
          </a:xfrm>
          <a:prstGeom prst="rect">
            <a:avLst/>
          </a:prstGeom>
          <a:noFill/>
          <a:ln w="44450">
            <a:solidFill>
              <a:srgbClr val="E09B00"/>
            </a:solidFill>
          </a:ln>
        </p:spPr>
        <p:txBody>
          <a:bodyPr rtlCol="0" anchor="ctr"/>
          <a:lstStyle/>
          <a:p>
            <a:pPr algn="ctr"/>
          </a:p>
        </p:txBody>
      </p:sp>
      <p:sp>
        <p:nvSpPr>
          <p:cNvPr id="15" name="Rectangle 14"/>
          <p:cNvSpPr/>
          <p:nvPr/>
        </p:nvSpPr>
        <p:spPr>
          <a:xfrm>
            <a:off x="9944378" y="3088111"/>
            <a:ext cx="585192" cy="702259"/>
          </a:xfrm>
          <a:prstGeom prst="rect">
            <a:avLst/>
          </a:prstGeom>
          <a:noFill/>
          <a:ln w="44450">
            <a:solidFill>
              <a:srgbClr val="C62828"/>
            </a:solidFill>
          </a:ln>
        </p:spPr>
        <p:txBody>
          <a:bodyPr rtlCol="0" anchor="ctr"/>
          <a:lstStyle/>
          <a:p>
            <a:pPr algn="ctr"/>
          </a:p>
        </p:txBody>
      </p:sp>
      <p:sp>
        <p:nvSpPr>
          <p:cNvPr id="16" name="Rectangle 15"/>
          <p:cNvSpPr/>
          <p:nvPr/>
        </p:nvSpPr>
        <p:spPr>
          <a:xfrm>
            <a:off x="7603608" y="5089550"/>
            <a:ext cx="540177" cy="333573"/>
          </a:xfrm>
          <a:prstGeom prst="rect">
            <a:avLst/>
          </a:prstGeom>
          <a:noFill/>
          <a:ln w="44450">
            <a:solidFill>
              <a:srgbClr val="1F5FAD"/>
            </a:solidFill>
          </a:ln>
        </p:spPr>
        <p:txBody>
          <a:bodyPr rtlCol="0" anchor="ctr"/>
          <a:lstStyle/>
          <a:p>
            <a:pPr algn="ctr"/>
          </a:p>
        </p:txBody>
      </p:sp>
      <p:sp>
        <p:nvSpPr>
          <p:cNvPr id="17" name="Rectangle 16"/>
          <p:cNvSpPr/>
          <p:nvPr/>
        </p:nvSpPr>
        <p:spPr>
          <a:xfrm>
            <a:off x="9944378" y="5089550"/>
            <a:ext cx="585192" cy="333573"/>
          </a:xfrm>
          <a:prstGeom prst="rect">
            <a:avLst/>
          </a:prstGeom>
          <a:noFill/>
          <a:ln w="44450">
            <a:solidFill>
              <a:srgbClr val="007A33"/>
            </a:solidFill>
          </a:ln>
        </p:spPr>
        <p:txBody>
          <a:bodyPr rtlCol="0" anchor="ctr"/>
          <a:lstStyle/>
          <a:p>
            <a:pPr algn="ctr"/>
          </a:p>
        </p:txBody>
      </p:sp>
      <p:sp>
        <p:nvSpPr>
          <p:cNvPr id="18" name="Oval 17"/>
          <p:cNvSpPr/>
          <p:nvPr/>
        </p:nvSpPr>
        <p:spPr>
          <a:xfrm>
            <a:off x="7448160" y="363492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9743915" y="370514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7448160" y="493410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9788930" y="4934102"/>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6.18 -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p.187 and Figure 6.18. Barrier and retest: Chapter 5's words. The book gives no volume number for a peak or a dip.</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a volume peak makes the stronger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Ours: twice, price rises to PHP 60 and turns down. Volume in millions of shares.</a:t>
            </a:r>
          </a:p>
          <a:p>
            <a:pPr algn="l">
              <a:lnSpc>
                <a:spcPct val="105000"/>
              </a:lnSpc>
              <a:spcBef>
                <a:spcPts val="0"/>
              </a:spcBef>
              <a:spcAft>
                <a:spcPts val="1100"/>
              </a:spcAft>
            </a:pPr>
            <a:r>
              <a:rPr sz="1700" b="0" i="0">
                <a:solidFill>
                  <a:srgbClr val="1A1A1A"/>
                </a:solidFill>
                <a:latin typeface="Arial"/>
              </a:rPr>
              <a:t>A: 9 million at the touch, more than any other bar. Even that surge could not get through, so traders expect PHP 60 to hold.</a:t>
            </a:r>
          </a:p>
          <a:p>
            <a:pPr algn="l">
              <a:lnSpc>
                <a:spcPct val="105000"/>
              </a:lnSpc>
              <a:spcBef>
                <a:spcPts val="0"/>
              </a:spcBef>
              <a:spcAft>
                <a:spcPts val="1100"/>
              </a:spcAft>
            </a:pPr>
            <a:r>
              <a:rPr sz="1700" b="0" i="0">
                <a:solidFill>
                  <a:srgbClr val="1A1A1A"/>
                </a:solidFill>
                <a:latin typeface="Arial"/>
              </a:rPr>
              <a:t>B: 0.5 million at the touch, less than any other bar. It held only for lack of buying: hardly anyone tried.</a:t>
            </a:r>
          </a:p>
        </p:txBody>
      </p:sp>
      <p:sp>
        <p:nvSpPr>
          <p:cNvPr id="8" name="Rectangle 7"/>
          <p:cNvSpPr/>
          <p:nvPr/>
        </p:nvSpPr>
        <p:spPr>
          <a:xfrm>
            <a:off x="777240" y="4837176"/>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 a retest, A is the stronger barrier.</a:t>
            </a:r>
          </a:p>
        </p:txBody>
      </p:sp>
      <p:sp>
        <p:nvSpPr>
          <p:cNvPr id="10" name="TextBox 9"/>
          <p:cNvSpPr txBox="1"/>
          <p:nvPr/>
        </p:nvSpPr>
        <p:spPr>
          <a:xfrm>
            <a:off x="777240" y="545896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since expectation is everything in the market, that confidence goes a long way.</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ra.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RA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p.187: the reasons are the book's. Ours: PHP 60 and every volume number, invented to show the two shapes.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kinds of volume action at a barrier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3 of 24</a:t>
            </a:r>
          </a:p>
        </p:txBody>
      </p:sp>
      <p:sp>
        <p:nvSpPr>
          <p:cNvPr id="7" name="TextBox 6"/>
          <p:cNvSpPr txBox="1"/>
          <p:nvPr/>
        </p:nvSpPr>
        <p:spPr>
          <a:xfrm>
            <a:off x="777240" y="1965960"/>
            <a:ext cx="47548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Across: the bars before, at and after the touch, which the dashed arrow marks. Only the volume differs between sketches.</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Increasing: each bar taller. </a:t>
            </a:r>
            <a:r>
              <a:rPr sz="1700" b="1" i="0">
                <a:solidFill>
                  <a:srgbClr val="C62828"/>
                </a:solidFill>
                <a:latin typeface="Arial"/>
              </a:rPr>
              <a:t>(2)</a:t>
            </a:r>
            <a:r>
              <a:rPr sz="1700" b="0" i="0">
                <a:solidFill>
                  <a:srgbClr val="1A1A1A"/>
                </a:solidFill>
                <a:latin typeface="Arial"/>
              </a:rPr>
              <a:t> Decreasing: each shorter. </a:t>
            </a:r>
            <a:r>
              <a:rPr sz="1700" b="1" i="0">
                <a:solidFill>
                  <a:srgbClr val="1F5FAD"/>
                </a:solidFill>
                <a:latin typeface="Arial"/>
              </a:rPr>
              <a:t>(3)</a:t>
            </a:r>
            <a:r>
              <a:rPr sz="1700" b="0" i="0">
                <a:solidFill>
                  <a:srgbClr val="1A1A1A"/>
                </a:solidFill>
                <a:latin typeface="Arial"/>
              </a:rPr>
              <a:t> Peaking: tallest at the touch.</a:t>
            </a:r>
          </a:p>
          <a:p>
            <a:pPr algn="l">
              <a:lnSpc>
                <a:spcPct val="105000"/>
              </a:lnSpc>
              <a:spcBef>
                <a:spcPts val="0"/>
              </a:spcBef>
              <a:spcAft>
                <a:spcPts val="1100"/>
              </a:spcAft>
            </a:pPr>
            <a:r>
              <a:rPr sz="1700" b="1" i="0">
                <a:solidFill>
                  <a:srgbClr val="007A33"/>
                </a:solidFill>
                <a:latin typeface="Arial"/>
              </a:rPr>
              <a:t>(4)</a:t>
            </a:r>
            <a:r>
              <a:rPr sz="1700" b="0" i="0">
                <a:solidFill>
                  <a:srgbClr val="1A1A1A"/>
                </a:solidFill>
                <a:latin typeface="Arial"/>
              </a:rPr>
              <a:t> Bottoming: shortest at the touch. </a:t>
            </a:r>
            <a:r>
              <a:rPr sz="1700" b="1" i="0">
                <a:solidFill>
                  <a:srgbClr val="7B3FA0"/>
                </a:solidFill>
                <a:latin typeface="Arial"/>
              </a:rPr>
              <a:t>(5)</a:t>
            </a:r>
            <a:r>
              <a:rPr sz="1700" b="0" i="0">
                <a:solidFill>
                  <a:srgbClr val="1A1A1A"/>
                </a:solidFill>
                <a:latin typeface="Arial"/>
              </a:rPr>
              <a:t> Flatlining: all alike.</a:t>
            </a:r>
          </a:p>
        </p:txBody>
      </p:sp>
      <p:sp>
        <p:nvSpPr>
          <p:cNvPr id="8" name="Rectangle 7"/>
          <p:cNvSpPr/>
          <p:nvPr/>
        </p:nvSpPr>
        <p:spPr>
          <a:xfrm>
            <a:off x="777240" y="4837176"/>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46227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Top: resistance. Bottom: support.</a:t>
            </a:r>
          </a:p>
        </p:txBody>
      </p:sp>
      <p:sp>
        <p:nvSpPr>
          <p:cNvPr id="10" name="TextBox 9"/>
          <p:cNvSpPr txBox="1"/>
          <p:nvPr/>
        </p:nvSpPr>
        <p:spPr>
          <a:xfrm>
            <a:off x="777240" y="5458968"/>
            <a:ext cx="475488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increasing or decreasing volume there signifies a change in sentiment, the crowd's mood (Chapter 1).</a:t>
            </a:r>
          </a:p>
        </p:txBody>
      </p:sp>
      <p:sp>
        <p:nvSpPr>
          <p:cNvPr id="11" name="Rectangle 10"/>
          <p:cNvSpPr/>
          <p:nvPr/>
        </p:nvSpPr>
        <p:spPr>
          <a:xfrm>
            <a:off x="5917832" y="1810512"/>
            <a:ext cx="5430950"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036704" y="1929384"/>
            <a:ext cx="5193206" cy="3511296"/>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036704" y="1929384"/>
            <a:ext cx="5193206"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311024" y="2203703"/>
            <a:ext cx="464456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6.19</a:t>
            </a:r>
          </a:p>
          <a:p>
            <a:pPr algn="l">
              <a:lnSpc>
                <a:spcPct val="115000"/>
              </a:lnSpc>
              <a:spcBef>
                <a:spcPts val="0"/>
              </a:spcBef>
              <a:spcAft>
                <a:spcPts val="0"/>
              </a:spcAft>
            </a:pPr>
            <a:r>
              <a:rPr sz="1500" b="0" i="0">
                <a:solidFill>
                  <a:srgbClr val="1A1A1A"/>
                </a:solidFill>
                <a:latin typeface="Palatino"/>
              </a:rPr>
              <a:t>Ten sketches in two rows, five at a resistance and five at a support, each with volume bars under the turn: increasing, decreasing, peaking, bottoming and flatlining across the barrier.</a:t>
            </a:r>
          </a:p>
        </p:txBody>
      </p:sp>
      <p:sp>
        <p:nvSpPr>
          <p:cNvPr id="15" name="Rectangle 14"/>
          <p:cNvSpPr/>
          <p:nvPr/>
        </p:nvSpPr>
        <p:spPr>
          <a:xfrm>
            <a:off x="6088636" y="2526304"/>
            <a:ext cx="934777" cy="702259"/>
          </a:xfrm>
          <a:prstGeom prst="rect">
            <a:avLst/>
          </a:prstGeom>
          <a:noFill/>
          <a:ln w="44450">
            <a:solidFill>
              <a:srgbClr val="E09B00"/>
            </a:solidFill>
          </a:ln>
        </p:spPr>
        <p:txBody>
          <a:bodyPr rtlCol="0" anchor="ctr"/>
          <a:lstStyle/>
          <a:p>
            <a:pPr algn="ctr"/>
          </a:p>
        </p:txBody>
      </p:sp>
      <p:sp>
        <p:nvSpPr>
          <p:cNvPr id="16" name="Rectangle 15"/>
          <p:cNvSpPr/>
          <p:nvPr/>
        </p:nvSpPr>
        <p:spPr>
          <a:xfrm>
            <a:off x="7127277" y="2526304"/>
            <a:ext cx="934777" cy="702259"/>
          </a:xfrm>
          <a:prstGeom prst="rect">
            <a:avLst/>
          </a:prstGeom>
          <a:noFill/>
          <a:ln w="44450">
            <a:solidFill>
              <a:srgbClr val="C62828"/>
            </a:solidFill>
          </a:ln>
        </p:spPr>
        <p:txBody>
          <a:bodyPr rtlCol="0" anchor="ctr"/>
          <a:lstStyle/>
          <a:p>
            <a:pPr algn="ctr"/>
          </a:p>
        </p:txBody>
      </p:sp>
      <p:sp>
        <p:nvSpPr>
          <p:cNvPr id="17" name="Rectangle 16"/>
          <p:cNvSpPr/>
          <p:nvPr/>
        </p:nvSpPr>
        <p:spPr>
          <a:xfrm>
            <a:off x="8165918" y="2526304"/>
            <a:ext cx="934777" cy="702259"/>
          </a:xfrm>
          <a:prstGeom prst="rect">
            <a:avLst/>
          </a:prstGeom>
          <a:noFill/>
          <a:ln w="44450">
            <a:solidFill>
              <a:srgbClr val="1F5FAD"/>
            </a:solidFill>
          </a:ln>
        </p:spPr>
        <p:txBody>
          <a:bodyPr rtlCol="0" anchor="ctr"/>
          <a:lstStyle/>
          <a:p>
            <a:pPr algn="ctr"/>
          </a:p>
        </p:txBody>
      </p:sp>
      <p:sp>
        <p:nvSpPr>
          <p:cNvPr id="18" name="Rectangle 17"/>
          <p:cNvSpPr/>
          <p:nvPr/>
        </p:nvSpPr>
        <p:spPr>
          <a:xfrm>
            <a:off x="9204560" y="2526304"/>
            <a:ext cx="934777" cy="702259"/>
          </a:xfrm>
          <a:prstGeom prst="rect">
            <a:avLst/>
          </a:prstGeom>
          <a:noFill/>
          <a:ln w="44450">
            <a:solidFill>
              <a:srgbClr val="007A33"/>
            </a:solidFill>
          </a:ln>
        </p:spPr>
        <p:txBody>
          <a:bodyPr rtlCol="0" anchor="ctr"/>
          <a:lstStyle/>
          <a:p>
            <a:pPr algn="ctr"/>
          </a:p>
        </p:txBody>
      </p:sp>
      <p:sp>
        <p:nvSpPr>
          <p:cNvPr id="19" name="Rectangle 18"/>
          <p:cNvSpPr/>
          <p:nvPr/>
        </p:nvSpPr>
        <p:spPr>
          <a:xfrm>
            <a:off x="10243201" y="2526304"/>
            <a:ext cx="934777" cy="702259"/>
          </a:xfrm>
          <a:prstGeom prst="rect">
            <a:avLst/>
          </a:prstGeom>
          <a:noFill/>
          <a:ln w="44450">
            <a:solidFill>
              <a:srgbClr val="7B3FA0"/>
            </a:solidFill>
          </a:ln>
        </p:spPr>
        <p:txBody>
          <a:bodyPr rtlCol="0" anchor="ctr"/>
          <a:lstStyle/>
          <a:p>
            <a:pPr algn="ctr"/>
          </a:p>
        </p:txBody>
      </p:sp>
      <p:sp>
        <p:nvSpPr>
          <p:cNvPr id="20" name="Oval 19"/>
          <p:cNvSpPr/>
          <p:nvPr/>
        </p:nvSpPr>
        <p:spPr>
          <a:xfrm>
            <a:off x="5933188" y="2370856"/>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1" name="Oval 20"/>
          <p:cNvSpPr/>
          <p:nvPr/>
        </p:nvSpPr>
        <p:spPr>
          <a:xfrm>
            <a:off x="6971829" y="2370856"/>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2" name="Oval 21"/>
          <p:cNvSpPr/>
          <p:nvPr/>
        </p:nvSpPr>
        <p:spPr>
          <a:xfrm>
            <a:off x="8010470" y="2370856"/>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3" name="Oval 22"/>
          <p:cNvSpPr/>
          <p:nvPr/>
        </p:nvSpPr>
        <p:spPr>
          <a:xfrm>
            <a:off x="9049112" y="2370856"/>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4" name="Oval 23"/>
          <p:cNvSpPr/>
          <p:nvPr/>
        </p:nvSpPr>
        <p:spPr>
          <a:xfrm>
            <a:off x="10087753" y="2370856"/>
            <a:ext cx="310896" cy="31089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25" name="TextBox 24"/>
          <p:cNvSpPr txBox="1"/>
          <p:nvPr/>
        </p:nvSpPr>
        <p:spPr>
          <a:xfrm>
            <a:off x="5852159" y="5650991"/>
            <a:ext cx="556229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6.19 - Lim, The Handbook of Technical Analysis (Wiley, 2016)</a:t>
            </a:r>
          </a:p>
        </p:txBody>
      </p:sp>
      <p:sp>
        <p:nvSpPr>
          <p:cNvPr id="26" name="TextBox 25"/>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pp.187-188 and Figure 6.19. Across: the book does not define it; this reading is ours, from the figure.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Increasing volume: price driven away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4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Increasing, ours: 1, 2, 3 million on the way in, 4 at the touch, 5, 6, 7 on the way out.</a:t>
            </a:r>
          </a:p>
          <a:p>
            <a:pPr algn="l">
              <a:lnSpc>
                <a:spcPct val="105000"/>
              </a:lnSpc>
              <a:spcBef>
                <a:spcPts val="0"/>
              </a:spcBef>
              <a:spcAft>
                <a:spcPts val="1100"/>
              </a:spcAft>
            </a:pPr>
            <a:r>
              <a:rPr sz="1700" b="0" i="0">
                <a:solidFill>
                  <a:srgbClr val="1A1A1A"/>
                </a:solidFill>
                <a:latin typeface="Arial"/>
              </a:rPr>
              <a:t>The book: rising volume on the way in looks strong enough to break through. Instead price turns, and the rising volume drives it away.</a:t>
            </a:r>
          </a:p>
          <a:p>
            <a:pPr algn="l">
              <a:lnSpc>
                <a:spcPct val="105000"/>
              </a:lnSpc>
              <a:spcBef>
                <a:spcPts val="0"/>
              </a:spcBef>
              <a:spcAft>
                <a:spcPts val="1100"/>
              </a:spcAft>
            </a:pPr>
            <a:r>
              <a:rPr sz="1700" b="0" i="0">
                <a:solidFill>
                  <a:srgbClr val="1A1A1A"/>
                </a:solidFill>
                <a:latin typeface="Arial"/>
              </a:rPr>
              <a:t>At a resistance price falls as volume rises: Part 1's bearish confirmation. At a support both rise: bullish confirmation.</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Rising volume across a barrier confirms the turn away from it.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p.188. Confirmation, bullish and bearish: Part 1. The chart is ours: sketches and invented volume.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Decreasing volume: a retest is likely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5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Decreasing, ours: 7, 6, 5 million on the way in, 4 at the touch, 3, 2, 1 on the way out.</a:t>
            </a:r>
          </a:p>
          <a:p>
            <a:pPr algn="l">
              <a:lnSpc>
                <a:spcPct val="105000"/>
              </a:lnSpc>
              <a:spcBef>
                <a:spcPts val="0"/>
              </a:spcBef>
              <a:spcAft>
                <a:spcPts val="1100"/>
              </a:spcAft>
            </a:pPr>
            <a:r>
              <a:rPr sz="1700" b="0" i="0">
                <a:solidFill>
                  <a:srgbClr val="1A1A1A"/>
                </a:solidFill>
                <a:latin typeface="Arial"/>
              </a:rPr>
              <a:t>The book: falling volume on the way in looks like too little force to take price through.</a:t>
            </a:r>
          </a:p>
          <a:p>
            <a:pPr algn="l">
              <a:lnSpc>
                <a:spcPct val="105000"/>
              </a:lnSpc>
              <a:spcBef>
                <a:spcPts val="0"/>
              </a:spcBef>
              <a:spcAft>
                <a:spcPts val="1100"/>
              </a:spcAft>
            </a:pPr>
            <a:r>
              <a:rPr sz="1700" b="0" i="0">
                <a:solidFill>
                  <a:srgbClr val="1A1A1A"/>
                </a:solidFill>
                <a:latin typeface="Arial"/>
              </a:rPr>
              <a:t>Price turns, and volume falls even further: little force is driving price away.</a:t>
            </a:r>
          </a:p>
          <a:p>
            <a:pPr algn="l">
              <a:lnSpc>
                <a:spcPct val="105000"/>
              </a:lnSpc>
              <a:spcBef>
                <a:spcPts val="0"/>
              </a:spcBef>
              <a:spcAft>
                <a:spcPts val="1100"/>
              </a:spcAft>
            </a:pPr>
            <a:r>
              <a:rPr sz="1700" b="0" i="0">
                <a:solidFill>
                  <a:srgbClr val="1A1A1A"/>
                </a:solidFill>
                <a:latin typeface="Arial"/>
              </a:rPr>
              <a:t>So a retest is likely; in extreme cases price goes through, a penetration (Chapter 2).</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Falling volume across a barrier invites a retest.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b.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RB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p.188. Penetration: Chapter 2. The chart is ours: sketches and invented volume, its retests drawn from the book's words.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Peaking, bottoming and flatlining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6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Peaking, ours: 1, 2, 4, 7 at the touch, 4, 2, 1. The book: most reliable.</a:t>
            </a:r>
          </a:p>
          <a:p>
            <a:pPr algn="l">
              <a:lnSpc>
                <a:spcPct val="105000"/>
              </a:lnSpc>
              <a:spcBef>
                <a:spcPts val="0"/>
              </a:spcBef>
              <a:spcAft>
                <a:spcPts val="1100"/>
              </a:spcAft>
            </a:pPr>
            <a:r>
              <a:rPr sz="1700" b="0" i="0">
                <a:solidFill>
                  <a:srgbClr val="1A1A1A"/>
                </a:solidFill>
                <a:latin typeface="Arial"/>
              </a:rPr>
              <a:t>Bottoming: 7, 4, 2, 1 at the touch, 2, 4, 7. The book: less reliable.</a:t>
            </a:r>
          </a:p>
          <a:p>
            <a:pPr algn="l">
              <a:lnSpc>
                <a:spcPct val="105000"/>
              </a:lnSpc>
              <a:spcBef>
                <a:spcPts val="0"/>
              </a:spcBef>
              <a:spcAft>
                <a:spcPts val="1100"/>
              </a:spcAft>
            </a:pPr>
            <a:r>
              <a:rPr sz="1700" b="0" i="0">
                <a:solidFill>
                  <a:srgbClr val="1A1A1A"/>
                </a:solidFill>
                <a:latin typeface="Arial"/>
              </a:rPr>
              <a:t>Flatlining: 4 on every bar. The book: not enough information about price's next move.</a:t>
            </a:r>
          </a:p>
          <a:p>
            <a:pPr algn="l">
              <a:lnSpc>
                <a:spcPct val="105000"/>
              </a:lnSpc>
              <a:spcBef>
                <a:spcPts val="0"/>
              </a:spcBef>
              <a:spcAft>
                <a:spcPts val="1100"/>
              </a:spcAft>
            </a:pPr>
            <a:r>
              <a:rPr sz="1700" b="0" i="0">
                <a:solidFill>
                  <a:srgbClr val="1A1A1A"/>
                </a:solidFill>
                <a:latin typeface="Arial"/>
              </a:rPr>
              <a:t>The other two: increasing confirms the turn, decreasing invites a retest.</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peak is the most reliable; the book does not rank it against increasing.</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rc.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RC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pp.187-188. The chart is ours: sketches and invented volume.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Filtering volume action: four ways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7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Filtering picks out the most significant volume: what may lead to a top or bottom.</a:t>
            </a:r>
          </a:p>
          <a:p>
            <a:pPr algn="l">
              <a:lnSpc>
                <a:spcPct val="105000"/>
              </a:lnSpc>
              <a:spcBef>
                <a:spcPts val="0"/>
              </a:spcBef>
              <a:spcAft>
                <a:spcPts val="1100"/>
              </a:spcAft>
            </a:pPr>
            <a:r>
              <a:rPr sz="1700" b="0" i="0">
                <a:solidFill>
                  <a:srgbClr val="1A1A1A"/>
                </a:solidFill>
                <a:latin typeface="Arial"/>
              </a:rPr>
              <a:t>Four of the book's numerous ways: 1 a moving average filter, which it calls the smoothed volume filter, 2 a volatility filter, 3 prior volume peaks, 4 volume cycles.</a:t>
            </a:r>
          </a:p>
          <a:p>
            <a:pPr algn="l">
              <a:lnSpc>
                <a:spcPct val="105000"/>
              </a:lnSpc>
              <a:spcBef>
                <a:spcPts val="0"/>
              </a:spcBef>
              <a:spcAft>
                <a:spcPts val="1100"/>
              </a:spcAft>
            </a:pPr>
            <a:r>
              <a:rPr sz="1700" b="0" i="0">
                <a:solidFill>
                  <a:srgbClr val="1A1A1A"/>
                </a:solidFill>
                <a:latin typeface="Arial"/>
              </a:rPr>
              <a:t>1 and 2 are worked next. 3 is named and never explained. 4 comes in Part 5.</a:t>
            </a:r>
          </a:p>
        </p:txBody>
      </p:sp>
      <p:sp>
        <p:nvSpPr>
          <p:cNvPr id="8" name="Rectangle 7"/>
          <p:cNvSpPr/>
          <p:nvPr/>
        </p:nvSpPr>
        <p:spPr>
          <a:xfrm>
            <a:off x="777240" y="4837176"/>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Gold: the volume each filter keeps.</a:t>
            </a:r>
          </a:p>
        </p:txBody>
      </p:sp>
      <p:sp>
        <p:nvSpPr>
          <p:cNvPr id="10" name="TextBox 9"/>
          <p:cNvSpPr txBox="1"/>
          <p:nvPr/>
        </p:nvSpPr>
        <p:spPr>
          <a:xfrm>
            <a:off x="777240" y="5458968"/>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Panel 3 is our reading, not examinable: like Part 2's upper overextended volume level, set at earlier climax volume.</a:t>
            </a:r>
          </a:p>
        </p:txBody>
      </p:sp>
      <p:sp>
        <p:nvSpPr>
          <p:cNvPr id="11" name="Rectangle 10"/>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s.png"/>
          <p:cNvPicPr>
            <a:picLocks noChangeAspect="1"/>
          </p:cNvPicPr>
          <p:nvPr/>
        </p:nvPicPr>
        <p:blipFill>
          <a:blip r:embed="rId2"/>
          <a:stretch>
            <a:fillRect/>
          </a:stretch>
        </p:blipFill>
        <p:spPr>
          <a:xfrm>
            <a:off x="6338163" y="1929384"/>
            <a:ext cx="4956048" cy="3511296"/>
          </a:xfrm>
          <a:prstGeom prst="rect">
            <a:avLst/>
          </a:prstGeom>
        </p:spPr>
      </p:pic>
      <p:sp>
        <p:nvSpPr>
          <p:cNvPr id="13" name="TextBox 12"/>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S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the four are the book's, from among numerous ways. Prior volume peaks: named on p.188 only. The chart is ours, on invented volume.</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Filters 1 and 2 in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8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Ours, filter 1: the line is the average of the last 8 bars, about 1 million.</a:t>
            </a:r>
          </a:p>
          <a:p>
            <a:pPr algn="l">
              <a:lnSpc>
                <a:spcPct val="105000"/>
              </a:lnSpc>
              <a:spcBef>
                <a:spcPts val="0"/>
              </a:spcBef>
              <a:spcAft>
                <a:spcPts val="1100"/>
              </a:spcAft>
            </a:pPr>
            <a:r>
              <a:rPr sz="1700" b="0" i="0">
                <a:solidFill>
                  <a:srgbClr val="1A1A1A"/>
                </a:solidFill>
                <a:latin typeface="Arial"/>
              </a:rPr>
              <a:t>How far above counts? The book gives no measure. Our rule: over twice the average.</a:t>
            </a:r>
          </a:p>
          <a:p>
            <a:pPr algn="l">
              <a:lnSpc>
                <a:spcPct val="105000"/>
              </a:lnSpc>
              <a:spcBef>
                <a:spcPts val="0"/>
              </a:spcBef>
              <a:spcAft>
                <a:spcPts val="1100"/>
              </a:spcAft>
            </a:pPr>
            <a:r>
              <a:rPr sz="1700" b="0" i="0">
                <a:solidFill>
                  <a:srgbClr val="1A1A1A"/>
                </a:solidFill>
                <a:latin typeface="Arial"/>
              </a:rPr>
              <a:t>1.4 million is just over the line: ordinary. The 3.0 and 2.8 million spikes: kept.</a:t>
            </a:r>
          </a:p>
          <a:p>
            <a:pPr algn="l">
              <a:lnSpc>
                <a:spcPct val="105000"/>
              </a:lnSpc>
              <a:spcBef>
                <a:spcPts val="0"/>
              </a:spcBef>
              <a:spcAft>
                <a:spcPts val="1100"/>
              </a:spcAft>
            </a:pPr>
            <a:r>
              <a:rPr sz="1700" b="0" i="0">
                <a:solidFill>
                  <a:srgbClr val="1A1A1A"/>
                </a:solidFill>
                <a:latin typeface="Arial"/>
              </a:rPr>
              <a:t>Filter 2: only the 3.2 bar crosses its higher line; the 1.9 bar is dropped.</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Filter 1 is the book's smoothed volume filter: next.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sa.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SA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a spike above the line is significant; no measure of how far. Ours: the volume, the 8 bars, the twice rule and filter 2's stand-in line.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Smoothed volume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9 of 24</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An average of recent volume, drawn over the volume bars. A spike well above it stands out.</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 chart: each point is the average of the last 20 volume bars. Four spikes stand well above it.</a:t>
            </a:r>
          </a:p>
        </p:txBody>
      </p:sp>
      <p:sp>
        <p:nvSpPr>
          <p:cNvPr id="12" name="Rectangle 11"/>
          <p:cNvSpPr/>
          <p:nvPr/>
        </p:nvSpPr>
        <p:spPr>
          <a:xfrm>
            <a:off x="777240" y="4209287"/>
            <a:ext cx="64008" cy="149656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60629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smoothed volume filter is simply a moving average based on volume, instead of price. Volume spiking above this overextended moving average line is considered significant, and may lead to a top or bottom.</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t.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T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p.188. The chart is ours, on invented volume; its line is a 20-bar simple average of volume we computed.</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Choosing the average's length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10 of 24</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average </a:t>
            </a:r>
            <a:r>
              <a:rPr sz="1700" b="1" i="0">
                <a:solidFill>
                  <a:srgbClr val="E09B00"/>
                </a:solidFill>
                <a:latin typeface="Arial"/>
              </a:rPr>
              <a:t>(1)</a:t>
            </a:r>
            <a:r>
              <a:rPr sz="1700" b="0" i="0">
                <a:solidFill>
                  <a:srgbClr val="1A1A1A"/>
                </a:solidFill>
                <a:latin typeface="Arial"/>
              </a:rPr>
              <a:t> is the smoothed volume filter of the term slide, over the last N bars. N, the lookback, is how many bars go into it.</a:t>
            </a:r>
          </a:p>
          <a:p>
            <a:pPr algn="l">
              <a:lnSpc>
                <a:spcPct val="105000"/>
              </a:lnSpc>
              <a:spcBef>
                <a:spcPts val="0"/>
              </a:spcBef>
              <a:spcAft>
                <a:spcPts val="1100"/>
              </a:spcAft>
            </a:pPr>
            <a:r>
              <a:rPr sz="1700" b="0" i="0">
                <a:solidFill>
                  <a:srgbClr val="1A1A1A"/>
                </a:solidFill>
                <a:latin typeface="Arial"/>
              </a:rPr>
              <a:t>Short N, 5 bars say: hugs the bars closely, ordinary ones cross it too, many false signals.</a:t>
            </a:r>
          </a:p>
          <a:p>
            <a:pPr algn="l">
              <a:lnSpc>
                <a:spcPct val="105000"/>
              </a:lnSpc>
              <a:spcBef>
                <a:spcPts val="0"/>
              </a:spcBef>
              <a:spcAft>
                <a:spcPts val="1100"/>
              </a:spcAft>
            </a:pPr>
            <a:r>
              <a:rPr sz="1700" b="0" i="0">
                <a:solidFill>
                  <a:srgbClr val="1A1A1A"/>
                </a:solidFill>
                <a:latin typeface="Arial"/>
              </a:rPr>
              <a:t>Long N, 100 bars say: slow and flat, only huge spikes cross it, few signals, some turns missed.</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right N sits in between. How to find it: next slide.</a:t>
            </a:r>
          </a:p>
        </p:txBody>
      </p:sp>
      <p:sp>
        <p:nvSpPr>
          <p:cNvPr id="10" name="TextBox 9"/>
          <p:cNvSpPr txBox="1"/>
          <p:nvPr/>
        </p:nvSpPr>
        <p:spPr>
          <a:xfrm>
            <a:off x="777240" y="5461254"/>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Figure 6.20: each dotted arrow runs from a spike crossing the line </a:t>
            </a:r>
            <a:r>
              <a:rPr sz="1300" b="1" i="1">
                <a:solidFill>
                  <a:srgbClr val="C62828"/>
                </a:solidFill>
                <a:latin typeface="Arial"/>
              </a:rPr>
              <a:t>(2)</a:t>
            </a:r>
            <a:r>
              <a:rPr sz="1300" b="0" i="1">
                <a:solidFill>
                  <a:srgbClr val="818181"/>
                </a:solidFill>
                <a:latin typeface="Arial"/>
              </a:rPr>
              <a:t> up to a top or a bottom </a:t>
            </a:r>
            <a:r>
              <a:rPr sz="1300" b="1" i="1">
                <a:solidFill>
                  <a:srgbClr val="1F5FAD"/>
                </a:solidFill>
                <a:latin typeface="Arial"/>
              </a:rPr>
              <a:t>(3)</a:t>
            </a:r>
            <a:r>
              <a:rPr sz="1300" b="0" i="1">
                <a:solidFill>
                  <a:srgbClr val="818181"/>
                </a:solidFill>
                <a:latin typeface="Arial"/>
              </a:rPr>
              <a:t>.</a:t>
            </a:r>
          </a:p>
        </p:txBody>
      </p:sp>
      <p:sp>
        <p:nvSpPr>
          <p:cNvPr id="11" name="Rectangle 10"/>
          <p:cNvSpPr/>
          <p:nvPr/>
        </p:nvSpPr>
        <p:spPr>
          <a:xfrm>
            <a:off x="6583679" y="1810512"/>
            <a:ext cx="4830775" cy="273803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2500289"/>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976871" y="2203703"/>
            <a:ext cx="4044391" cy="204308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6.20</a:t>
            </a:r>
          </a:p>
          <a:p>
            <a:pPr algn="l">
              <a:lnSpc>
                <a:spcPct val="115000"/>
              </a:lnSpc>
              <a:spcBef>
                <a:spcPts val="0"/>
              </a:spcBef>
              <a:spcAft>
                <a:spcPts val="0"/>
              </a:spcAft>
            </a:pPr>
            <a:r>
              <a:rPr sz="1500" b="0" i="0">
                <a:solidFill>
                  <a:srgbClr val="1A1A1A"/>
                </a:solidFill>
                <a:latin typeface="Palatino"/>
              </a:rPr>
              <a:t>The daily USDJPY chart with a smoothed volume line across its volume panel, labelled moving average overextension threshold. Dotted arrows rise from the overextensions in volume to tops and bottoms in price.</a:t>
            </a:r>
          </a:p>
        </p:txBody>
      </p:sp>
      <p:cxnSp>
        <p:nvCxnSpPr>
          <p:cNvPr id="15" name="Connector 14"/>
          <p:cNvCxnSpPr/>
          <p:nvPr/>
        </p:nvCxnSpPr>
        <p:spPr>
          <a:xfrm>
            <a:off x="6794412" y="4142139"/>
            <a:ext cx="3674425" cy="0"/>
          </a:xfrm>
          <a:prstGeom prst="line">
            <a:avLst/>
          </a:prstGeom>
          <a:ln w="44450">
            <a:solidFill>
              <a:srgbClr val="E09B00"/>
            </a:solidFill>
          </a:ln>
        </p:spPr>
      </p:cxnSp>
      <p:sp>
        <p:nvSpPr>
          <p:cNvPr id="16" name="Rectangle 15"/>
          <p:cNvSpPr/>
          <p:nvPr/>
        </p:nvSpPr>
        <p:spPr>
          <a:xfrm>
            <a:off x="7827844" y="3829603"/>
            <a:ext cx="206686" cy="350040"/>
          </a:xfrm>
          <a:prstGeom prst="rect">
            <a:avLst/>
          </a:prstGeom>
          <a:noFill/>
          <a:ln w="44450">
            <a:solidFill>
              <a:srgbClr val="C62828"/>
            </a:solidFill>
          </a:ln>
        </p:spPr>
        <p:txBody>
          <a:bodyPr rtlCol="0" anchor="ctr"/>
          <a:lstStyle/>
          <a:p>
            <a:pPr algn="ctr"/>
          </a:p>
        </p:txBody>
      </p:sp>
      <p:sp>
        <p:nvSpPr>
          <p:cNvPr id="17" name="Oval 16"/>
          <p:cNvSpPr/>
          <p:nvPr/>
        </p:nvSpPr>
        <p:spPr>
          <a:xfrm>
            <a:off x="7781914" y="2754479"/>
            <a:ext cx="275581" cy="350040"/>
          </a:xfrm>
          <a:prstGeom prst="ellipse">
            <a:avLst/>
          </a:prstGeom>
          <a:noFill/>
          <a:ln w="44450">
            <a:solidFill>
              <a:srgbClr val="1F5FAD"/>
            </a:solidFill>
          </a:ln>
        </p:spPr>
        <p:txBody>
          <a:bodyPr rtlCol="0" anchor="ctr"/>
          <a:lstStyle/>
          <a:p>
            <a:pPr algn="ctr"/>
          </a:p>
        </p:txBody>
      </p:sp>
      <p:sp>
        <p:nvSpPr>
          <p:cNvPr id="18" name="Oval 17"/>
          <p:cNvSpPr/>
          <p:nvPr/>
        </p:nvSpPr>
        <p:spPr>
          <a:xfrm>
            <a:off x="6638964" y="398669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062804" y="362414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7626466" y="2599031"/>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6583679" y="4639985"/>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6.20 -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and Figure 6.20.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Choosing the length,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11 of 24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Backtest: run the filter on past prices with a few different N, and see which one actually caught the real tops and bottoms. Keep that N.</a:t>
            </a:r>
          </a:p>
          <a:p>
            <a:pPr algn="l">
              <a:lnSpc>
                <a:spcPct val="118000"/>
              </a:lnSpc>
              <a:spcBef>
                <a:spcPts val="0"/>
              </a:spcBef>
              <a:spcAft>
                <a:spcPts val="1300"/>
              </a:spcAft>
            </a:pPr>
            <a:r>
              <a:rPr sz="2100" b="0" i="0">
                <a:solidFill>
                  <a:srgbClr val="1A1A1A"/>
                </a:solidFill>
                <a:latin typeface="Arial"/>
              </a:rPr>
              <a:t>Rule of thumb: set N to the dominant trading cycle period, or half of it. Ours, invented: swings about 40 bars peak to peak give N = 40, or N = 20.</a:t>
            </a:r>
          </a:p>
          <a:p>
            <a:pPr algn="l">
              <a:lnSpc>
                <a:spcPct val="118000"/>
              </a:lnSpc>
              <a:spcBef>
                <a:spcPts val="0"/>
              </a:spcBef>
              <a:spcAft>
                <a:spcPts val="1300"/>
              </a:spcAft>
            </a:pPr>
            <a:r>
              <a:rPr sz="2100" b="0" i="0">
                <a:solidFill>
                  <a:srgbClr val="1A1A1A"/>
                </a:solidFill>
                <a:latin typeface="Arial"/>
              </a:rPr>
              <a:t>The book gives no fixed N. Not that any N works: the right N is found for each market, by backtest or by this rule of thumb.</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 universal lookback. A method for finding one, for this market.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pp.188-189. Ours: the worked cycle number and the actionable backtest description.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Two- or three-sigma volume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12 of 24</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49224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Sigma, the standard deviation: how far volume typically strays from its mean over the same N bars. The line: mean + k x sigma, k = 3 here, or 2.</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649224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20 bars average 10 million, sigma 2 million. 3-sigma line: 10 + 3 x 2 = 16 million; 12 million stays under, 18 million crosses. 2-sigma, 14 million, flags more.</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649224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2- or 3-sigma filter, a volatility filter, keeps only the most significant surges: the upper Bollinger Band of volume, k standard deviations above its average.</a:t>
            </a:r>
          </a:p>
        </p:txBody>
      </p:sp>
      <p:sp>
        <p:nvSpPr>
          <p:cNvPr id="14" name="Rectangle 13"/>
          <p:cNvSpPr/>
          <p:nvPr/>
        </p:nvSpPr>
        <p:spPr>
          <a:xfrm>
            <a:off x="7865211" y="2157984"/>
            <a:ext cx="354787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u.png"/>
          <p:cNvPicPr>
            <a:picLocks noChangeAspect="1"/>
          </p:cNvPicPr>
          <p:nvPr/>
        </p:nvPicPr>
        <p:blipFill>
          <a:blip r:embed="rId2"/>
          <a:stretch>
            <a:fillRect/>
          </a:stretch>
        </p:blipFill>
        <p:spPr>
          <a:xfrm>
            <a:off x="7984083" y="2276856"/>
            <a:ext cx="3310128" cy="3163824"/>
          </a:xfrm>
          <a:prstGeom prst="rect">
            <a:avLst/>
          </a:prstGeom>
        </p:spPr>
      </p:pic>
      <p:sp>
        <p:nvSpPr>
          <p:cNvPr id="16" name="TextBox 15"/>
          <p:cNvSpPr txBox="1"/>
          <p:nvPr/>
        </p:nvSpPr>
        <p:spPr>
          <a:xfrm>
            <a:off x="7863840" y="5650991"/>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U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Chart: ours, computed; divisor and window read from build/charts_chapter06.py, not guessed.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the dotted line is drawn, bar by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13 of 24</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At each bar: take its last 20 volume bars, this one included. Mean, then sigma. Plot mean + 3 x sigma. Move forward one bar, repeat.</a:t>
            </a:r>
          </a:p>
          <a:p>
            <a:pPr algn="l">
              <a:lnSpc>
                <a:spcPct val="105000"/>
              </a:lnSpc>
              <a:spcBef>
                <a:spcPts val="0"/>
              </a:spcBef>
              <a:spcAft>
                <a:spcPts val="1100"/>
              </a:spcAft>
            </a:pPr>
            <a:r>
              <a:rPr sz="1900" b="0" i="0">
                <a:solidFill>
                  <a:srgbClr val="1A1A1A"/>
                </a:solidFill>
                <a:latin typeface="Arial"/>
              </a:rPr>
              <a:t>That is why it jumps, at 1: a spike entering the window raises both at once, so the line leaps up. It stays high until the spike leaves 20 bars later, at 2.</a:t>
            </a:r>
          </a:p>
        </p:txBody>
      </p:sp>
      <p:sp>
        <p:nvSpPr>
          <p:cNvPr id="8" name="Rectangle 7"/>
          <p:cNvSpPr/>
          <p:nvPr/>
        </p:nvSpPr>
        <p:spPr>
          <a:xfrm>
            <a:off x="777240" y="4928616"/>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65192"/>
            <a:ext cx="519379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Recomputed from nothing at every bar: no memory beyond its window.</a:t>
            </a:r>
          </a:p>
        </p:txBody>
      </p:sp>
      <p:sp>
        <p:nvSpPr>
          <p:cNvPr id="10" name="Rectangle 9"/>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u.png"/>
          <p:cNvPicPr>
            <a:picLocks noChangeAspect="1"/>
          </p:cNvPicPr>
          <p:nvPr/>
        </p:nvPicPr>
        <p:blipFill>
          <a:blip r:embed="rId2"/>
          <a:stretch>
            <a:fillRect/>
          </a:stretch>
        </p:blipFill>
        <p:spPr>
          <a:xfrm>
            <a:off x="6703923" y="1929384"/>
            <a:ext cx="4590288" cy="3511296"/>
          </a:xfrm>
          <a:prstGeom prst="rect">
            <a:avLst/>
          </a:prstGeom>
        </p:spPr>
      </p:pic>
      <p:sp>
        <p:nvSpPr>
          <p:cNvPr id="12" name="TextBox 11"/>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HU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gives only the words. Ours: how build/charts_chapter06.py actually computes it, read from the code, not guessed.</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things the book leaves open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14 of 24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never says if sigma divides by 20 or by 19.</a:t>
            </a:r>
          </a:p>
          <a:p>
            <a:pPr algn="l">
              <a:lnSpc>
                <a:spcPct val="118000"/>
              </a:lnSpc>
              <a:spcBef>
                <a:spcPts val="0"/>
              </a:spcBef>
              <a:spcAft>
                <a:spcPts val="1300"/>
              </a:spcAft>
            </a:pPr>
            <a:r>
              <a:rPr sz="2100" b="0" i="0">
                <a:solidFill>
                  <a:srgbClr val="1A1A1A"/>
                </a:solidFill>
                <a:latin typeface="Arial"/>
              </a:rPr>
              <a:t>Nor does it say if the bar sits in its own window of 20.</a:t>
            </a:r>
          </a:p>
          <a:p>
            <a:pPr algn="l">
              <a:lnSpc>
                <a:spcPct val="118000"/>
              </a:lnSpc>
              <a:spcBef>
                <a:spcPts val="0"/>
              </a:spcBef>
              <a:spcAft>
                <a:spcPts val="1300"/>
              </a:spcAft>
            </a:pPr>
            <a:r>
              <a:rPr sz="2100" b="0" i="0">
                <a:solidFill>
                  <a:srgbClr val="1A1A1A"/>
                </a:solidFill>
                <a:latin typeface="Arial"/>
              </a:rPr>
              <a:t>Our code divides by 20 and includes the bar.</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method is the book's; these two choices are ours.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gives only the words. Ours: how build/charts_chapter06.py computes the line, read from the code.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three-sigma filter on USDJPY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15 of 24</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Daily USDJPY with a three-sigma filter on its volume. Three surges cross the line; the book marks each with an arrow up to price </a:t>
            </a:r>
            <a:r>
              <a:rPr sz="1800" b="1" i="0">
                <a:solidFill>
                  <a:srgbClr val="E09B00"/>
                </a:solidFill>
                <a:latin typeface="Arial"/>
              </a:rPr>
              <a:t>(1)</a:t>
            </a:r>
            <a:r>
              <a:rPr sz="1800" b="0" i="0">
                <a:solidFill>
                  <a:srgbClr val="1A1A1A"/>
                </a:solidFill>
                <a:latin typeface="Arial"/>
              </a:rPr>
              <a:t> </a:t>
            </a:r>
            <a:r>
              <a:rPr sz="1800" b="1" i="0">
                <a:solidFill>
                  <a:srgbClr val="C62828"/>
                </a:solidFill>
                <a:latin typeface="Arial"/>
              </a:rPr>
              <a:t>(2)</a:t>
            </a:r>
            <a:r>
              <a:rPr sz="1800" b="0" i="0">
                <a:solidFill>
                  <a:srgbClr val="1A1A1A"/>
                </a:solidFill>
                <a:latin typeface="Arial"/>
              </a:rPr>
              <a:t> </a:t>
            </a:r>
            <a:r>
              <a:rPr sz="1800" b="1" i="0">
                <a:solidFill>
                  <a:srgbClr val="1F5FAD"/>
                </a:solidFill>
                <a:latin typeface="Arial"/>
              </a:rPr>
              <a:t>(3)</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Stricter than the smoothed filter, this line skips the April 2011 top </a:t>
            </a:r>
            <a:r>
              <a:rPr sz="1800" b="1" i="0">
                <a:solidFill>
                  <a:srgbClr val="007A33"/>
                </a:solidFill>
                <a:latin typeface="Arial"/>
              </a:rPr>
              <a:t>(4)</a:t>
            </a:r>
            <a:r>
              <a:rPr sz="1800" b="0" i="0">
                <a:solidFill>
                  <a:srgbClr val="1A1A1A"/>
                </a:solidFill>
                <a:latin typeface="Arial"/>
              </a:rPr>
              <a:t>, the highest price on the chart.</a:t>
            </a:r>
          </a:p>
        </p:txBody>
      </p:sp>
      <p:sp>
        <p:nvSpPr>
          <p:cNvPr id="8" name="Rectangle 7"/>
          <p:cNvSpPr/>
          <p:nvPr/>
        </p:nvSpPr>
        <p:spPr>
          <a:xfrm>
            <a:off x="777240" y="4512564"/>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49140"/>
            <a:ext cx="427939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book: such surges tend to come at the most significant tops and bottoms.</a:t>
            </a:r>
          </a:p>
        </p:txBody>
      </p:sp>
      <p:sp>
        <p:nvSpPr>
          <p:cNvPr id="10" name="Rectangle 9"/>
          <p:cNvSpPr/>
          <p:nvPr/>
        </p:nvSpPr>
        <p:spPr>
          <a:xfrm>
            <a:off x="5669279" y="1810512"/>
            <a:ext cx="5745175" cy="356148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788151" y="1929384"/>
            <a:ext cx="5507431" cy="332373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788151" y="1929384"/>
            <a:ext cx="55074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62471" y="2203703"/>
            <a:ext cx="4958791" cy="286653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6.21</a:t>
            </a:r>
          </a:p>
          <a:p>
            <a:pPr algn="l">
              <a:lnSpc>
                <a:spcPct val="115000"/>
              </a:lnSpc>
              <a:spcBef>
                <a:spcPts val="0"/>
              </a:spcBef>
              <a:spcAft>
                <a:spcPts val="0"/>
              </a:spcAft>
            </a:pPr>
            <a:r>
              <a:rPr sz="1500" b="0" i="0">
                <a:solidFill>
                  <a:srgbClr val="1A1A1A"/>
                </a:solidFill>
                <a:latin typeface="Palatino"/>
              </a:rPr>
              <a:t>The daily USDJPY chart with a stepped line across its volume panel labelled 3-sigma volume overextension threshold, and dotted arrows from the three overextensions in volume above it up to turns in price; the April 2011 top has no arrow.</a:t>
            </a:r>
          </a:p>
        </p:txBody>
      </p:sp>
      <p:sp>
        <p:nvSpPr>
          <p:cNvPr id="14" name="Oval 13"/>
          <p:cNvSpPr/>
          <p:nvPr/>
        </p:nvSpPr>
        <p:spPr>
          <a:xfrm>
            <a:off x="7412844" y="3258878"/>
            <a:ext cx="330445" cy="797696"/>
          </a:xfrm>
          <a:prstGeom prst="ellipse">
            <a:avLst/>
          </a:prstGeom>
          <a:noFill/>
          <a:ln w="44450">
            <a:solidFill>
              <a:srgbClr val="E09B00"/>
            </a:solidFill>
          </a:ln>
        </p:spPr>
        <p:txBody>
          <a:bodyPr rtlCol="0" anchor="ctr"/>
          <a:lstStyle/>
          <a:p>
            <a:pPr algn="ctr"/>
          </a:p>
        </p:txBody>
      </p:sp>
      <p:sp>
        <p:nvSpPr>
          <p:cNvPr id="15" name="Oval 14"/>
          <p:cNvSpPr/>
          <p:nvPr/>
        </p:nvSpPr>
        <p:spPr>
          <a:xfrm>
            <a:off x="9175222" y="3591252"/>
            <a:ext cx="330445" cy="465323"/>
          </a:xfrm>
          <a:prstGeom prst="ellipse">
            <a:avLst/>
          </a:prstGeom>
          <a:noFill/>
          <a:ln w="44450">
            <a:solidFill>
              <a:srgbClr val="C62828"/>
            </a:solidFill>
          </a:ln>
        </p:spPr>
        <p:txBody>
          <a:bodyPr rtlCol="0" anchor="ctr"/>
          <a:lstStyle/>
          <a:p>
            <a:pPr algn="ctr"/>
          </a:p>
        </p:txBody>
      </p:sp>
      <p:sp>
        <p:nvSpPr>
          <p:cNvPr id="16" name="Oval 15"/>
          <p:cNvSpPr/>
          <p:nvPr/>
        </p:nvSpPr>
        <p:spPr>
          <a:xfrm>
            <a:off x="10249171" y="3857151"/>
            <a:ext cx="330445" cy="432085"/>
          </a:xfrm>
          <a:prstGeom prst="ellipse">
            <a:avLst/>
          </a:prstGeom>
          <a:noFill/>
          <a:ln w="44450">
            <a:solidFill>
              <a:srgbClr val="1F5FAD"/>
            </a:solidFill>
          </a:ln>
        </p:spPr>
        <p:txBody>
          <a:bodyPr rtlCol="0" anchor="ctr"/>
          <a:lstStyle/>
          <a:p>
            <a:pPr algn="ctr"/>
          </a:p>
        </p:txBody>
      </p:sp>
      <p:sp>
        <p:nvSpPr>
          <p:cNvPr id="17" name="Oval 16"/>
          <p:cNvSpPr/>
          <p:nvPr/>
        </p:nvSpPr>
        <p:spPr>
          <a:xfrm>
            <a:off x="7688215" y="1929384"/>
            <a:ext cx="330445" cy="432085"/>
          </a:xfrm>
          <a:prstGeom prst="ellipse">
            <a:avLst/>
          </a:prstGeom>
          <a:noFill/>
          <a:ln w="44450">
            <a:solidFill>
              <a:srgbClr val="007A33"/>
            </a:solidFill>
          </a:ln>
        </p:spPr>
        <p:txBody>
          <a:bodyPr rtlCol="0" anchor="ctr"/>
          <a:lstStyle/>
          <a:p>
            <a:pPr algn="ctr"/>
          </a:p>
        </p:txBody>
      </p:sp>
      <p:sp>
        <p:nvSpPr>
          <p:cNvPr id="18" name="Oval 17"/>
          <p:cNvSpPr/>
          <p:nvPr/>
        </p:nvSpPr>
        <p:spPr>
          <a:xfrm>
            <a:off x="7257396" y="310343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9019774" y="343580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10093723" y="3701703"/>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7863213" y="1989978"/>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5669279" y="5463432"/>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6.21 -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and Figure 6.21. Ours: the April top, read off the figure.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three-sigma line, close up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16 of 24</a:t>
            </a:r>
          </a:p>
        </p:txBody>
      </p:sp>
      <p:sp>
        <p:nvSpPr>
          <p:cNvPr id="7" name="TextBox 6"/>
          <p:cNvSpPr txBox="1"/>
          <p:nvPr/>
        </p:nvSpPr>
        <p:spPr>
          <a:xfrm>
            <a:off x="777240" y="1965960"/>
            <a:ext cx="40233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Stepped line </a:t>
            </a:r>
            <a:r>
              <a:rPr sz="1800" b="1" i="0">
                <a:solidFill>
                  <a:srgbClr val="E09B00"/>
                </a:solidFill>
                <a:latin typeface="Arial"/>
              </a:rPr>
              <a:t>(1)</a:t>
            </a:r>
            <a:r>
              <a:rPr sz="1800" b="0" i="0">
                <a:solidFill>
                  <a:srgbClr val="1A1A1A"/>
                </a:solidFill>
                <a:latin typeface="Arial"/>
              </a:rPr>
              <a:t>: the three-sigma filter, drawn over the volume bars.</a:t>
            </a:r>
          </a:p>
          <a:p>
            <a:pPr algn="l">
              <a:lnSpc>
                <a:spcPct val="105000"/>
              </a:lnSpc>
              <a:spcBef>
                <a:spcPts val="0"/>
              </a:spcBef>
              <a:spcAft>
                <a:spcPts val="1100"/>
              </a:spcAft>
            </a:pPr>
            <a:r>
              <a:rPr sz="1800" b="0" i="0">
                <a:solidFill>
                  <a:srgbClr val="1A1A1A"/>
                </a:solidFill>
                <a:latin typeface="Arial"/>
              </a:rPr>
              <a:t>Three surges cross it </a:t>
            </a:r>
            <a:r>
              <a:rPr sz="1800" b="1" i="0">
                <a:solidFill>
                  <a:srgbClr val="C62828"/>
                </a:solidFill>
                <a:latin typeface="Arial"/>
              </a:rPr>
              <a:t>(2)</a:t>
            </a:r>
            <a:r>
              <a:rPr sz="1800" b="0" i="0">
                <a:solidFill>
                  <a:srgbClr val="1A1A1A"/>
                </a:solidFill>
                <a:latin typeface="Arial"/>
              </a:rPr>
              <a:t> </a:t>
            </a:r>
            <a:r>
              <a:rPr sz="1800" b="1" i="0">
                <a:solidFill>
                  <a:srgbClr val="1F5FAD"/>
                </a:solidFill>
                <a:latin typeface="Arial"/>
              </a:rPr>
              <a:t>(3)</a:t>
            </a:r>
            <a:r>
              <a:rPr sz="1800" b="0" i="0">
                <a:solidFill>
                  <a:srgbClr val="1A1A1A"/>
                </a:solidFill>
                <a:latin typeface="Arial"/>
              </a:rPr>
              <a:t> </a:t>
            </a:r>
            <a:r>
              <a:rPr sz="1800" b="1" i="0">
                <a:solidFill>
                  <a:srgbClr val="007A33"/>
                </a:solidFill>
                <a:latin typeface="Arial"/>
              </a:rPr>
              <a:t>(4)</a:t>
            </a:r>
            <a:r>
              <a:rPr sz="1800" b="0" i="0">
                <a:solidFill>
                  <a:srgbClr val="1A1A1A"/>
                </a:solidFill>
                <a:latin typeface="Arial"/>
              </a:rPr>
              <a:t>, each under an arrow up to price.</a:t>
            </a:r>
          </a:p>
          <a:p>
            <a:pPr algn="l">
              <a:lnSpc>
                <a:spcPct val="105000"/>
              </a:lnSpc>
              <a:spcBef>
                <a:spcPts val="0"/>
              </a:spcBef>
              <a:spcAft>
                <a:spcPts val="1100"/>
              </a:spcAft>
            </a:pPr>
            <a:r>
              <a:rPr sz="1800" b="0" i="0">
                <a:solidFill>
                  <a:srgbClr val="1A1A1A"/>
                </a:solidFill>
                <a:latin typeface="Arial"/>
              </a:rPr>
              <a:t>It stays high for months after the March spike </a:t>
            </a:r>
            <a:r>
              <a:rPr sz="1800" b="1" i="0">
                <a:solidFill>
                  <a:srgbClr val="C62828"/>
                </a:solidFill>
                <a:latin typeface="Arial"/>
              </a:rPr>
              <a:t>(2)</a:t>
            </a:r>
            <a:r>
              <a:rPr sz="1800" b="0" i="0">
                <a:solidFill>
                  <a:srgbClr val="1A1A1A"/>
                </a:solidFill>
                <a:latin typeface="Arial"/>
              </a:rPr>
              <a:t>, far beyond our 20 bars. The book never gives its N.</a:t>
            </a:r>
          </a:p>
          <a:p>
            <a:pPr algn="l">
              <a:lnSpc>
                <a:spcPct val="105000"/>
              </a:lnSpc>
              <a:spcBef>
                <a:spcPts val="0"/>
              </a:spcBef>
              <a:spcAft>
                <a:spcPts val="1100"/>
              </a:spcAft>
            </a:pPr>
            <a:r>
              <a:rPr sz="1800" b="0" i="0">
                <a:solidFill>
                  <a:srgbClr val="1A1A1A"/>
                </a:solidFill>
                <a:latin typeface="Arial"/>
              </a:rPr>
              <a:t>The two lower lines </a:t>
            </a:r>
            <a:r>
              <a:rPr sz="1800" b="1" i="0">
                <a:solidFill>
                  <a:srgbClr val="7B3FA0"/>
                </a:solidFill>
                <a:latin typeface="Arial"/>
              </a:rPr>
              <a:t>(5)</a:t>
            </a:r>
            <a:r>
              <a:rPr sz="1800" b="0" i="0">
                <a:solidFill>
                  <a:srgbClr val="1A1A1A"/>
                </a:solidFill>
                <a:latin typeface="Arial"/>
              </a:rPr>
              <a:t> </a:t>
            </a:r>
            <a:r>
              <a:rPr sz="1800" b="1" i="0">
                <a:solidFill>
                  <a:srgbClr val="007A33"/>
                </a:solidFill>
                <a:latin typeface="Arial"/>
              </a:rPr>
              <a:t>(6)</a:t>
            </a:r>
            <a:r>
              <a:rPr sz="1800" b="0" i="0">
                <a:solidFill>
                  <a:srgbClr val="1A1A1A"/>
                </a:solidFill>
                <a:latin typeface="Arial"/>
              </a:rPr>
              <a:t> are drawn and not named by the book; only the top one is the filter.</a:t>
            </a:r>
          </a:p>
        </p:txBody>
      </p:sp>
      <p:sp>
        <p:nvSpPr>
          <p:cNvPr id="8" name="Rectangle 7"/>
          <p:cNvSpPr/>
          <p:nvPr/>
        </p:nvSpPr>
        <p:spPr>
          <a:xfrm>
            <a:off x="5120640" y="1810512"/>
            <a:ext cx="6293814" cy="2183062"/>
          </a:xfrm>
          <a:prstGeom prst="rect">
            <a:avLst/>
          </a:prstGeom>
          <a:solidFill>
            <a:srgbClr val="FFFFFF"/>
          </a:solidFill>
          <a:ln w="12700">
            <a:solidFill>
              <a:srgbClr val="D7E0D9"/>
            </a:solidFill>
          </a:ln>
          <a:effectLst/>
        </p:spPr>
        <p:txBody>
          <a:bodyPr rtlCol="0" anchor="ctr"/>
          <a:lstStyle/>
          <a:p>
            <a:pPr algn="ctr"/>
          </a:p>
        </p:txBody>
      </p:sp>
      <p:sp>
        <p:nvSpPr>
          <p:cNvPr id="9" name="Rectangle 8"/>
          <p:cNvSpPr/>
          <p:nvPr/>
        </p:nvSpPr>
        <p:spPr>
          <a:xfrm>
            <a:off x="5239512" y="1929384"/>
            <a:ext cx="6056070" cy="1945318"/>
          </a:xfrm>
          <a:prstGeom prst="rect">
            <a:avLst/>
          </a:prstGeom>
          <a:solidFill>
            <a:srgbClr val="FFFFFF"/>
          </a:solidFill>
          <a:ln w="12700">
            <a:solidFill>
              <a:srgbClr val="D7E0D9"/>
            </a:solidFill>
          </a:ln>
          <a:effectLst/>
        </p:spPr>
        <p:txBody>
          <a:bodyPr rtlCol="0" anchor="ctr"/>
          <a:lstStyle/>
          <a:p>
            <a:pPr algn="ctr"/>
          </a:p>
        </p:txBody>
      </p:sp>
      <p:sp>
        <p:nvSpPr>
          <p:cNvPr id="10" name="Rectangle 9"/>
          <p:cNvSpPr/>
          <p:nvPr/>
        </p:nvSpPr>
        <p:spPr>
          <a:xfrm>
            <a:off x="5239512" y="1929384"/>
            <a:ext cx="6056070" cy="50800"/>
          </a:xfrm>
          <a:prstGeom prst="rect">
            <a:avLst/>
          </a:prstGeom>
          <a:solidFill>
            <a:srgbClr val="F2A900"/>
          </a:solidFill>
          <a:ln>
            <a:noFill/>
          </a:ln>
          <a:effectLst/>
        </p:spPr>
        <p:txBody>
          <a:bodyPr rtlCol="0" anchor="ctr"/>
          <a:lstStyle/>
          <a:p>
            <a:pPr algn="ctr"/>
          </a:p>
        </p:txBody>
      </p:sp>
      <p:sp>
        <p:nvSpPr>
          <p:cNvPr id="11" name="TextBox 10"/>
          <p:cNvSpPr txBox="1"/>
          <p:nvPr/>
        </p:nvSpPr>
        <p:spPr>
          <a:xfrm>
            <a:off x="5513831" y="2203703"/>
            <a:ext cx="5507431" cy="148811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6.21</a:t>
            </a:r>
          </a:p>
          <a:p>
            <a:pPr algn="l">
              <a:lnSpc>
                <a:spcPct val="115000"/>
              </a:lnSpc>
              <a:spcBef>
                <a:spcPts val="0"/>
              </a:spcBef>
              <a:spcAft>
                <a:spcPts val="0"/>
              </a:spcAft>
            </a:pPr>
            <a:r>
              <a:rPr sz="1500" b="0" i="0">
                <a:solidFill>
                  <a:srgbClr val="1A1A1A"/>
                </a:solidFill>
                <a:latin typeface="Palatino"/>
              </a:rPr>
              <a:t>The volume panel of the daily USDJPY chart, drawn larger: the stepped 3-sigma volume overextension threshold over the volume bars, the three surges that cross it, and two lower lines the book does not name.</a:t>
            </a:r>
          </a:p>
        </p:txBody>
      </p:sp>
      <p:cxnSp>
        <p:nvCxnSpPr>
          <p:cNvPr id="12" name="Connector 11"/>
          <p:cNvCxnSpPr/>
          <p:nvPr/>
        </p:nvCxnSpPr>
        <p:spPr>
          <a:xfrm>
            <a:off x="5778502" y="2942894"/>
            <a:ext cx="3857717" cy="0"/>
          </a:xfrm>
          <a:prstGeom prst="line">
            <a:avLst/>
          </a:prstGeom>
          <a:ln w="44450">
            <a:solidFill>
              <a:srgbClr val="E09B00"/>
            </a:solidFill>
          </a:ln>
        </p:spPr>
      </p:cxnSp>
      <p:sp>
        <p:nvSpPr>
          <p:cNvPr id="13" name="Oval 12"/>
          <p:cNvSpPr/>
          <p:nvPr/>
        </p:nvSpPr>
        <p:spPr>
          <a:xfrm>
            <a:off x="5433306" y="2518815"/>
            <a:ext cx="490541" cy="824815"/>
          </a:xfrm>
          <a:prstGeom prst="ellipse">
            <a:avLst/>
          </a:prstGeom>
          <a:noFill/>
          <a:ln w="44450">
            <a:solidFill>
              <a:srgbClr val="C62828"/>
            </a:solidFill>
          </a:ln>
        </p:spPr>
        <p:txBody>
          <a:bodyPr rtlCol="0" anchor="ctr"/>
          <a:lstStyle/>
          <a:p>
            <a:pPr algn="ctr"/>
          </a:p>
        </p:txBody>
      </p:sp>
      <p:sp>
        <p:nvSpPr>
          <p:cNvPr id="14" name="Oval 13"/>
          <p:cNvSpPr/>
          <p:nvPr/>
        </p:nvSpPr>
        <p:spPr>
          <a:xfrm>
            <a:off x="8558238" y="2518815"/>
            <a:ext cx="490541" cy="824815"/>
          </a:xfrm>
          <a:prstGeom prst="ellipse">
            <a:avLst/>
          </a:prstGeom>
          <a:noFill/>
          <a:ln w="44450">
            <a:solidFill>
              <a:srgbClr val="1F5FAD"/>
            </a:solidFill>
          </a:ln>
        </p:spPr>
        <p:txBody>
          <a:bodyPr rtlCol="0" anchor="ctr"/>
          <a:lstStyle/>
          <a:p>
            <a:pPr algn="ctr"/>
          </a:p>
        </p:txBody>
      </p:sp>
      <p:sp>
        <p:nvSpPr>
          <p:cNvPr id="15" name="Oval 14"/>
          <p:cNvSpPr/>
          <p:nvPr/>
        </p:nvSpPr>
        <p:spPr>
          <a:xfrm>
            <a:off x="10465901" y="2518815"/>
            <a:ext cx="490541" cy="824815"/>
          </a:xfrm>
          <a:prstGeom prst="ellipse">
            <a:avLst/>
          </a:prstGeom>
          <a:noFill/>
          <a:ln w="44450">
            <a:solidFill>
              <a:srgbClr val="007A33"/>
            </a:solidFill>
          </a:ln>
        </p:spPr>
        <p:txBody>
          <a:bodyPr rtlCol="0" anchor="ctr"/>
          <a:lstStyle/>
          <a:p>
            <a:pPr algn="ctr"/>
          </a:p>
        </p:txBody>
      </p:sp>
      <p:cxnSp>
        <p:nvCxnSpPr>
          <p:cNvPr id="16" name="Connector 15"/>
          <p:cNvCxnSpPr/>
          <p:nvPr/>
        </p:nvCxnSpPr>
        <p:spPr>
          <a:xfrm>
            <a:off x="6414389" y="3372810"/>
            <a:ext cx="4687399" cy="0"/>
          </a:xfrm>
          <a:prstGeom prst="line">
            <a:avLst/>
          </a:prstGeom>
          <a:ln w="44450">
            <a:solidFill>
              <a:srgbClr val="7B3FA0"/>
            </a:solidFill>
          </a:ln>
        </p:spPr>
      </p:cxnSp>
      <p:cxnSp>
        <p:nvCxnSpPr>
          <p:cNvPr id="17" name="Connector 16"/>
          <p:cNvCxnSpPr/>
          <p:nvPr/>
        </p:nvCxnSpPr>
        <p:spPr>
          <a:xfrm>
            <a:off x="6414389" y="3668498"/>
            <a:ext cx="4687399" cy="0"/>
          </a:xfrm>
          <a:prstGeom prst="line">
            <a:avLst/>
          </a:prstGeom>
          <a:ln w="44450">
            <a:solidFill>
              <a:srgbClr val="007A33"/>
            </a:solidFill>
          </a:ln>
        </p:spPr>
      </p:cxnSp>
      <p:sp>
        <p:nvSpPr>
          <p:cNvPr id="18" name="Oval 17"/>
          <p:cNvSpPr/>
          <p:nvPr/>
        </p:nvSpPr>
        <p:spPr>
          <a:xfrm>
            <a:off x="6053035" y="255206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5277858" y="236336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8645033" y="191010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552696" y="1910108"/>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Oval 21"/>
          <p:cNvSpPr/>
          <p:nvPr/>
        </p:nvSpPr>
        <p:spPr>
          <a:xfrm>
            <a:off x="10946340" y="3217362"/>
            <a:ext cx="310896" cy="31089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23" name="Oval 22"/>
          <p:cNvSpPr/>
          <p:nvPr/>
        </p:nvSpPr>
        <p:spPr>
          <a:xfrm>
            <a:off x="6258941" y="3513050"/>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6</a:t>
            </a:r>
          </a:p>
        </p:txBody>
      </p:sp>
      <p:sp>
        <p:nvSpPr>
          <p:cNvPr id="24" name="TextBox 23"/>
          <p:cNvSpPr txBox="1"/>
          <p:nvPr/>
        </p:nvSpPr>
        <p:spPr>
          <a:xfrm>
            <a:off x="5120640" y="4085014"/>
            <a:ext cx="62938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6.21 - Lim, The Handbook of Technical Analysis (Wiley, 2016)</a:t>
            </a:r>
          </a:p>
        </p:txBody>
      </p:sp>
      <p:sp>
        <p:nvSpPr>
          <p:cNvPr id="25" name="TextBox 2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and Figure 6.21, its volume panel. Ours: what the lines do, read off the figure.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book draws the line on the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17 of 24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also names a standard deviation oscillator: an indicator in its own panel (Part 1). It does not describe or draw one.</a:t>
            </a:r>
          </a:p>
          <a:p>
            <a:pPr algn="l">
              <a:lnSpc>
                <a:spcPct val="118000"/>
              </a:lnSpc>
              <a:spcBef>
                <a:spcPts val="0"/>
              </a:spcBef>
              <a:spcAft>
                <a:spcPts val="1300"/>
              </a:spcAft>
            </a:pPr>
            <a:r>
              <a:rPr sz="2100" b="0" i="0">
                <a:solidFill>
                  <a:srgbClr val="1A1A1A"/>
                </a:solidFill>
                <a:latin typeface="Arial"/>
              </a:rPr>
              <a:t>It is less useful, the book says, because it gives no overlay: a line drawn over the volume bars themselves, so a bar can be seen crossing it.</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 to do: pick N as for the smoothed filter, and draw the 3-sigma line over the bars; a bar above it may mark a top or bottom.</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It names the oscillator and does not describe it.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filtered inflection points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18 of 24</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Only peaks and troughs (Chapter 5's inflection points) that came on heavy volume are used to draw lines.</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in millions: 1, 2, 3 came on 3.0, above our 2.5 line. Seven grey turns came on 1.0: dropped.</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Many practitioners use only peaks and troughs that are considered significant, that is, associated with above average volume, to construct trendlines and channels.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v.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V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Inflection point: Chapter 5. The chart is ours, invented.</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Drawing a volume filtered channel, step by step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19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Step 1. Mark every peak and trough.</a:t>
            </a:r>
          </a:p>
          <a:p>
            <a:pPr algn="l">
              <a:lnSpc>
                <a:spcPct val="105000"/>
              </a:lnSpc>
              <a:spcBef>
                <a:spcPts val="0"/>
              </a:spcBef>
              <a:spcAft>
                <a:spcPts val="1100"/>
              </a:spcAft>
            </a:pPr>
            <a:r>
              <a:rPr sz="1800" b="0" i="0">
                <a:solidFill>
                  <a:srgbClr val="1A1A1A"/>
                </a:solidFill>
                <a:latin typeface="Arial"/>
              </a:rPr>
              <a:t>Step 2. The book's rule: above average volume, 1.3 here. Its example draws a higher line by eye, and it never says which governs. Ours: 2.5. Only 1, 2, 3 reach it.</a:t>
            </a:r>
          </a:p>
          <a:p>
            <a:pPr algn="l">
              <a:lnSpc>
                <a:spcPct val="105000"/>
              </a:lnSpc>
              <a:spcBef>
                <a:spcPts val="0"/>
              </a:spcBef>
              <a:spcAft>
                <a:spcPts val="1100"/>
              </a:spcAft>
            </a:pPr>
            <a:r>
              <a:rPr sz="1800" b="0" i="0">
                <a:solidFill>
                  <a:srgbClr val="1A1A1A"/>
                </a:solidFill>
                <a:latin typeface="Arial"/>
              </a:rPr>
              <a:t>Step 3. Join peaks 1 (bar 22, PHP 52.00) and 2 (bar 62, PHP 56.00): PHP 4.00 in 40 bars, 0.10 a bar.</a:t>
            </a:r>
          </a:p>
          <a:p>
            <a:pPr algn="l">
              <a:lnSpc>
                <a:spcPct val="105000"/>
              </a:lnSpc>
              <a:spcBef>
                <a:spcPts val="0"/>
              </a:spcBef>
              <a:spcAft>
                <a:spcPts val="1100"/>
              </a:spcAft>
            </a:pPr>
            <a:r>
              <a:rPr sz="1800" b="0" i="0">
                <a:solidFill>
                  <a:srgbClr val="1A1A1A"/>
                </a:solidFill>
                <a:latin typeface="Arial"/>
              </a:rPr>
              <a:t>Step 4. The same slope through trough 3 (bar 44, PHP 49.00): the channel.</a:t>
            </a:r>
          </a:p>
        </p:txBody>
      </p:sp>
      <p:sp>
        <p:nvSpPr>
          <p:cNvPr id="8" name="Rectangle 7"/>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9" name="Picture 8" descr="chart-va.png"/>
          <p:cNvPicPr>
            <a:picLocks noChangeAspect="1"/>
          </p:cNvPicPr>
          <p:nvPr/>
        </p:nvPicPr>
        <p:blipFill>
          <a:blip r:embed="rId2"/>
          <a:stretch>
            <a:fillRect/>
          </a:stretch>
        </p:blipFill>
        <p:spPr>
          <a:xfrm>
            <a:off x="6338163" y="1929384"/>
            <a:ext cx="4956048" cy="3511296"/>
          </a:xfrm>
          <a:prstGeom prst="rect">
            <a:avLst/>
          </a:prstGeom>
        </p:spPr>
      </p:pic>
      <p:sp>
        <p:nvSpPr>
          <p:cNvPr id="10" name="TextBox 9"/>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VA - FIN1209 teaching chart, drawn for this course. Illustrative data, not a real instrument.</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the steps and every number, invented. The method and both rules for the threshold are the book's, p.189.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channel from filtered points: silver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20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book's example: daily silver, with tick volume, the number of trades (Part 4).</a:t>
            </a:r>
          </a:p>
          <a:p>
            <a:pPr algn="l">
              <a:lnSpc>
                <a:spcPct val="105000"/>
              </a:lnSpc>
              <a:spcBef>
                <a:spcPts val="0"/>
              </a:spcBef>
              <a:spcAft>
                <a:spcPts val="1100"/>
              </a:spcAft>
            </a:pPr>
            <a:r>
              <a:rPr sz="1700" b="0" i="0">
                <a:solidFill>
                  <a:srgbClr val="1A1A1A"/>
                </a:solidFill>
                <a:latin typeface="Arial"/>
              </a:rPr>
              <a:t>A threshold drawn by visual inspection </a:t>
            </a:r>
            <a:r>
              <a:rPr sz="1700" b="1" i="0">
                <a:solidFill>
                  <a:srgbClr val="E09B00"/>
                </a:solidFill>
                <a:latin typeface="Arial"/>
              </a:rPr>
              <a:t>(1)</a:t>
            </a:r>
            <a:r>
              <a:rPr sz="1700" b="0" i="0">
                <a:solidFill>
                  <a:srgbClr val="1A1A1A"/>
                </a:solidFill>
                <a:latin typeface="Arial"/>
              </a:rPr>
              <a:t>, so only the most significant peaks reach it. The oval </a:t>
            </a:r>
            <a:r>
              <a:rPr sz="1700" b="1" i="0">
                <a:solidFill>
                  <a:srgbClr val="C62828"/>
                </a:solidFill>
                <a:latin typeface="Arial"/>
              </a:rPr>
              <a:t>(2)</a:t>
            </a:r>
            <a:r>
              <a:rPr sz="1700" b="0" i="0">
                <a:solidFill>
                  <a:srgbClr val="1A1A1A"/>
                </a:solidFill>
                <a:latin typeface="Arial"/>
              </a:rPr>
              <a:t> rings July to August.</a:t>
            </a:r>
          </a:p>
          <a:p>
            <a:pPr algn="l">
              <a:lnSpc>
                <a:spcPct val="105000"/>
              </a:lnSpc>
              <a:spcBef>
                <a:spcPts val="0"/>
              </a:spcBef>
              <a:spcAft>
                <a:spcPts val="1100"/>
              </a:spcAft>
            </a:pPr>
            <a:r>
              <a:rPr sz="1700" b="0" i="0">
                <a:solidFill>
                  <a:srgbClr val="1A1A1A"/>
                </a:solidFill>
                <a:latin typeface="Arial"/>
              </a:rPr>
              <a:t>Two arrows: under Points 1 and 3, days apart, and under 2. Trendline 1 to 2, parallel from 3.</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At X </a:t>
            </a:r>
            <a:r>
              <a:rPr sz="1800" b="1" i="0">
                <a:solidFill>
                  <a:srgbClr val="1F5FAD"/>
                </a:solidFill>
                <a:latin typeface="Arial"/>
              </a:rPr>
              <a:t>(3)</a:t>
            </a:r>
            <a:r>
              <a:rPr sz="1800" b="1" i="0">
                <a:solidFill>
                  <a:srgbClr val="1A1A1A"/>
                </a:solidFill>
                <a:latin typeface="Arial"/>
              </a:rPr>
              <a:t> price bounces off the lower line, a short-term buy, then falls through it </a:t>
            </a:r>
            <a:r>
              <a:rPr sz="1800" b="1" i="0">
                <a:solidFill>
                  <a:srgbClr val="007A33"/>
                </a:solidFill>
                <a:latin typeface="Arial"/>
              </a:rPr>
              <a:t>(4)</a:t>
            </a:r>
            <a:r>
              <a:rPr sz="1800" b="1" i="0">
                <a:solidFill>
                  <a:srgbClr val="1A1A1A"/>
                </a:solidFill>
                <a:latin typeface="Arial"/>
              </a:rPr>
              <a:t>.</a:t>
            </a:r>
          </a:p>
        </p:txBody>
      </p:sp>
      <p:sp>
        <p:nvSpPr>
          <p:cNvPr id="10" name="Rectangle 9"/>
          <p:cNvSpPr/>
          <p:nvPr/>
        </p:nvSpPr>
        <p:spPr>
          <a:xfrm>
            <a:off x="6217919" y="1810512"/>
            <a:ext cx="5196535" cy="272460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48685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02965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6.22</a:t>
            </a:r>
          </a:p>
          <a:p>
            <a:pPr algn="l">
              <a:lnSpc>
                <a:spcPct val="115000"/>
              </a:lnSpc>
              <a:spcBef>
                <a:spcPts val="0"/>
              </a:spcBef>
              <a:spcAft>
                <a:spcPts val="0"/>
              </a:spcAft>
            </a:pPr>
            <a:r>
              <a:rPr sz="1500" b="0" i="0">
                <a:solidFill>
                  <a:srgbClr val="1A1A1A"/>
                </a:solidFill>
                <a:latin typeface="Palatino"/>
              </a:rPr>
              <a:t>The daily silver chart, XAGUSD, with a tick volume overextension threshold across its volume panel. Arrows rise from the circled tick volume peaks to points 1, 2 and 3; a channel is drawn from 1 and 2 with a parallel from 3, and price reacts at X.</a:t>
            </a:r>
          </a:p>
        </p:txBody>
      </p:sp>
      <p:cxnSp>
        <p:nvCxnSpPr>
          <p:cNvPr id="14" name="Connector 13"/>
          <p:cNvCxnSpPr/>
          <p:nvPr/>
        </p:nvCxnSpPr>
        <p:spPr>
          <a:xfrm>
            <a:off x="6832671" y="4172528"/>
            <a:ext cx="4314148" cy="0"/>
          </a:xfrm>
          <a:prstGeom prst="line">
            <a:avLst/>
          </a:prstGeom>
          <a:ln w="44450">
            <a:solidFill>
              <a:srgbClr val="E09B00"/>
            </a:solidFill>
          </a:ln>
        </p:spPr>
      </p:cxnSp>
      <p:sp>
        <p:nvSpPr>
          <p:cNvPr id="15" name="Rectangle 14"/>
          <p:cNvSpPr/>
          <p:nvPr/>
        </p:nvSpPr>
        <p:spPr>
          <a:xfrm>
            <a:off x="8791393" y="3894000"/>
            <a:ext cx="595054" cy="348159"/>
          </a:xfrm>
          <a:prstGeom prst="rect">
            <a:avLst/>
          </a:prstGeom>
          <a:noFill/>
          <a:ln w="44450">
            <a:solidFill>
              <a:srgbClr val="C62828"/>
            </a:solidFill>
          </a:ln>
        </p:spPr>
        <p:txBody>
          <a:bodyPr rtlCol="0" anchor="ctr"/>
          <a:lstStyle/>
          <a:p>
            <a:pPr algn="ctr"/>
          </a:p>
        </p:txBody>
      </p:sp>
      <p:sp>
        <p:nvSpPr>
          <p:cNvPr id="16" name="Oval 15"/>
          <p:cNvSpPr/>
          <p:nvPr/>
        </p:nvSpPr>
        <p:spPr>
          <a:xfrm>
            <a:off x="9088921" y="2924126"/>
            <a:ext cx="322321" cy="323291"/>
          </a:xfrm>
          <a:prstGeom prst="ellipse">
            <a:avLst/>
          </a:prstGeom>
          <a:noFill/>
          <a:ln w="44450">
            <a:solidFill>
              <a:srgbClr val="1F5FAD"/>
            </a:solidFill>
          </a:ln>
        </p:spPr>
        <p:txBody>
          <a:bodyPr rtlCol="0" anchor="ctr"/>
          <a:lstStyle/>
          <a:p>
            <a:pPr algn="ctr"/>
          </a:p>
        </p:txBody>
      </p:sp>
      <p:cxnSp>
        <p:nvCxnSpPr>
          <p:cNvPr id="17" name="Connector 16"/>
          <p:cNvCxnSpPr/>
          <p:nvPr/>
        </p:nvCxnSpPr>
        <p:spPr>
          <a:xfrm>
            <a:off x="9510418" y="2924126"/>
            <a:ext cx="74382" cy="795794"/>
          </a:xfrm>
          <a:prstGeom prst="line">
            <a:avLst/>
          </a:prstGeom>
          <a:ln w="44450">
            <a:solidFill>
              <a:srgbClr val="007A33"/>
            </a:solidFill>
            <a:tailEnd type="triangle" w="med" len="med"/>
          </a:ln>
        </p:spPr>
      </p:cxnSp>
      <p:sp>
        <p:nvSpPr>
          <p:cNvPr id="18" name="Oval 17"/>
          <p:cNvSpPr/>
          <p:nvPr/>
        </p:nvSpPr>
        <p:spPr>
          <a:xfrm>
            <a:off x="6677223" y="401708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635945" y="373855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8759915" y="294275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9652497" y="3166575"/>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217919" y="462655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6.22 -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p.189 and Figure 6.22.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channel is for: the lower line at 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21 of 24</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Ours: the lower line rises at the slope of peaks 1 to 2: PHP 4.00 in 40 bars, 0.10 a bar.</a:t>
            </a:r>
          </a:p>
          <a:p>
            <a:pPr algn="l">
              <a:lnSpc>
                <a:spcPct val="105000"/>
              </a:lnSpc>
              <a:spcBef>
                <a:spcPts val="0"/>
              </a:spcBef>
              <a:spcAft>
                <a:spcPts val="1100"/>
              </a:spcAft>
            </a:pPr>
            <a:r>
              <a:rPr sz="1800" b="0" i="0">
                <a:solidFill>
                  <a:srgbClr val="1A1A1A"/>
                </a:solidFill>
                <a:latin typeface="Arial"/>
              </a:rPr>
              <a:t>X is bar 72, 28 bars after trough 3 at bar 44, shaded. The lower line is there at 49.00 + 28 x 0.10 = PHP 51.80; price touches it and turns up.</a:t>
            </a:r>
          </a:p>
        </p:txBody>
      </p:sp>
      <p:sp>
        <p:nvSpPr>
          <p:cNvPr id="8" name="Rectangle 7"/>
          <p:cNvSpPr/>
          <p:nvPr/>
        </p:nvSpPr>
        <p:spPr>
          <a:xfrm>
            <a:off x="777240" y="3936491"/>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73068"/>
            <a:ext cx="519379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What to do: at the lower line, look for a short-term buy. Falling through it violates the channel, the book's word.</a:t>
            </a:r>
          </a:p>
        </p:txBody>
      </p:sp>
      <p:sp>
        <p:nvSpPr>
          <p:cNvPr id="10" name="TextBox 9"/>
          <p:cNvSpPr txBox="1"/>
          <p:nvPr/>
        </p:nvSpPr>
        <p:spPr>
          <a:xfrm>
            <a:off x="777240" y="5152644"/>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5's uptrend line joined troughs; here the book joins two peaks, 1 and 2, and gives no reason.</a:t>
            </a:r>
          </a:p>
        </p:txBody>
      </p:sp>
      <p:sp>
        <p:nvSpPr>
          <p:cNvPr id="11" name="Rectangle 10"/>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hv.png"/>
          <p:cNvPicPr>
            <a:picLocks noChangeAspect="1"/>
          </p:cNvPicPr>
          <p:nvPr/>
        </p:nvPicPr>
        <p:blipFill>
          <a:blip r:embed="rId2"/>
          <a:stretch>
            <a:fillRect/>
          </a:stretch>
        </p:blipFill>
        <p:spPr>
          <a:xfrm>
            <a:off x="6703923" y="1929384"/>
            <a:ext cx="4590288" cy="3511296"/>
          </a:xfrm>
          <a:prstGeom prst="rect">
            <a:avLst/>
          </a:prstGeom>
        </p:spPr>
      </p:pic>
      <p:sp>
        <p:nvSpPr>
          <p:cNvPr id="13" name="TextBox 12"/>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HV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Ours: the channel, its numbers and the arithmetic at X, on the step by step chart's invented prices.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Figure 6.22 leaves open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22 of 24</a:t>
            </a:r>
          </a:p>
        </p:txBody>
      </p:sp>
      <p:sp>
        <p:nvSpPr>
          <p:cNvPr id="7" name="TextBox 6"/>
          <p:cNvSpPr txBox="1"/>
          <p:nvPr/>
        </p:nvSpPr>
        <p:spPr>
          <a:xfrm>
            <a:off x="777240" y="1965960"/>
            <a:ext cx="42062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channel uses only the July to August peaks in tick volume </a:t>
            </a:r>
            <a:r>
              <a:rPr sz="1700" b="1" i="0">
                <a:solidFill>
                  <a:srgbClr val="E09B00"/>
                </a:solidFill>
                <a:latin typeface="Arial"/>
              </a:rPr>
              <a:t>(4)</a:t>
            </a:r>
            <a:r>
              <a:rPr sz="1700" b="0" i="0">
                <a:solidFill>
                  <a:srgbClr val="1A1A1A"/>
                </a:solidFill>
                <a:latin typeface="Arial"/>
              </a:rPr>
              <a:t>, under the arrows to Points 1, 2 and 3.</a:t>
            </a:r>
          </a:p>
          <a:p>
            <a:pPr algn="l">
              <a:lnSpc>
                <a:spcPct val="105000"/>
              </a:lnSpc>
              <a:spcBef>
                <a:spcPts val="0"/>
              </a:spcBef>
              <a:spcAft>
                <a:spcPts val="1100"/>
              </a:spcAft>
            </a:pPr>
            <a:r>
              <a:rPr sz="1700" b="0" i="0">
                <a:solidFill>
                  <a:srgbClr val="1A1A1A"/>
                </a:solidFill>
                <a:latin typeface="Arial"/>
              </a:rPr>
              <a:t>Yet silver's April bars </a:t>
            </a:r>
            <a:r>
              <a:rPr sz="1700" b="1" i="0">
                <a:solidFill>
                  <a:srgbClr val="C62828"/>
                </a:solidFill>
                <a:latin typeface="Arial"/>
              </a:rPr>
              <a:t>(5)</a:t>
            </a:r>
            <a:r>
              <a:rPr sz="1700" b="0" i="0">
                <a:solidFill>
                  <a:srgbClr val="1A1A1A"/>
                </a:solidFill>
                <a:latin typeface="Arial"/>
              </a:rPr>
              <a:t>, at the line labelled High tick volume level, and late September bars </a:t>
            </a:r>
            <a:r>
              <a:rPr sz="1700" b="1" i="0">
                <a:solidFill>
                  <a:srgbClr val="1F5FAD"/>
                </a:solidFill>
                <a:latin typeface="Arial"/>
              </a:rPr>
              <a:t>(6)</a:t>
            </a:r>
            <a:r>
              <a:rPr sz="1700" b="0" i="0">
                <a:solidFill>
                  <a:srgbClr val="1A1A1A"/>
                </a:solidFill>
                <a:latin typeface="Arial"/>
              </a:rPr>
              <a:t>, reach the threshold too; the book does not say why it skips them.</a:t>
            </a:r>
          </a:p>
        </p:txBody>
      </p:sp>
      <p:sp>
        <p:nvSpPr>
          <p:cNvPr id="8" name="Rectangle 7"/>
          <p:cNvSpPr/>
          <p:nvPr/>
        </p:nvSpPr>
        <p:spPr>
          <a:xfrm>
            <a:off x="777240" y="4672583"/>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09159"/>
            <a:ext cx="39136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Use heavily traded turns; which of them is left to the eye.</a:t>
            </a:r>
          </a:p>
        </p:txBody>
      </p:sp>
      <p:sp>
        <p:nvSpPr>
          <p:cNvPr id="10" name="Rectangle 9"/>
          <p:cNvSpPr/>
          <p:nvPr/>
        </p:nvSpPr>
        <p:spPr>
          <a:xfrm>
            <a:off x="5303519" y="1810512"/>
            <a:ext cx="6110935" cy="2140946"/>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422391" y="1929384"/>
            <a:ext cx="5873191" cy="1903202"/>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422391" y="1929384"/>
            <a:ext cx="58731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5696711" y="2203703"/>
            <a:ext cx="5324551" cy="144600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6.22</a:t>
            </a:r>
          </a:p>
          <a:p>
            <a:pPr algn="l">
              <a:lnSpc>
                <a:spcPct val="115000"/>
              </a:lnSpc>
              <a:spcBef>
                <a:spcPts val="0"/>
              </a:spcBef>
              <a:spcAft>
                <a:spcPts val="0"/>
              </a:spcAft>
            </a:pPr>
            <a:r>
              <a:rPr sz="1300" b="0" i="0">
                <a:solidFill>
                  <a:srgbClr val="1A1A1A"/>
                </a:solidFill>
                <a:latin typeface="Palatino"/>
              </a:rPr>
              <a:t>The daily silver chart, XAGUSD, with its tick volume overextension threshold. The July to August tick volume peaks are ringed under Points 1, 2 and 3; the April bars, at the line labelled high tick volume level, and the late September bars also reach the threshold and are not used.</a:t>
            </a:r>
          </a:p>
        </p:txBody>
      </p:sp>
      <p:sp>
        <p:nvSpPr>
          <p:cNvPr id="14" name="Rectangle 13"/>
          <p:cNvSpPr/>
          <p:nvPr/>
        </p:nvSpPr>
        <p:spPr>
          <a:xfrm>
            <a:off x="8541056" y="3016112"/>
            <a:ext cx="1080667" cy="635669"/>
          </a:xfrm>
          <a:prstGeom prst="rect">
            <a:avLst/>
          </a:prstGeom>
          <a:noFill/>
          <a:ln w="44450">
            <a:solidFill>
              <a:srgbClr val="E09B00"/>
            </a:solidFill>
          </a:ln>
        </p:spPr>
        <p:txBody>
          <a:bodyPr rtlCol="0" anchor="ctr"/>
          <a:lstStyle/>
          <a:p>
            <a:pPr algn="ctr"/>
          </a:p>
        </p:txBody>
      </p:sp>
      <p:sp>
        <p:nvSpPr>
          <p:cNvPr id="15" name="Rectangle 14"/>
          <p:cNvSpPr/>
          <p:nvPr/>
        </p:nvSpPr>
        <p:spPr>
          <a:xfrm>
            <a:off x="6373848" y="3242593"/>
            <a:ext cx="722402" cy="409188"/>
          </a:xfrm>
          <a:prstGeom prst="rect">
            <a:avLst/>
          </a:prstGeom>
          <a:noFill/>
          <a:ln w="44450">
            <a:solidFill>
              <a:srgbClr val="C62828"/>
            </a:solidFill>
          </a:ln>
        </p:spPr>
        <p:txBody>
          <a:bodyPr rtlCol="0" anchor="ctr"/>
          <a:lstStyle/>
          <a:p>
            <a:pPr algn="ctr"/>
          </a:p>
        </p:txBody>
      </p:sp>
      <p:sp>
        <p:nvSpPr>
          <p:cNvPr id="16" name="Rectangle 15"/>
          <p:cNvSpPr/>
          <p:nvPr/>
        </p:nvSpPr>
        <p:spPr>
          <a:xfrm>
            <a:off x="9891890" y="3242593"/>
            <a:ext cx="722402" cy="409188"/>
          </a:xfrm>
          <a:prstGeom prst="rect">
            <a:avLst/>
          </a:prstGeom>
          <a:noFill/>
          <a:ln w="44450">
            <a:solidFill>
              <a:srgbClr val="1F5FAD"/>
            </a:solidFill>
          </a:ln>
        </p:spPr>
        <p:txBody>
          <a:bodyPr rtlCol="0" anchor="ctr"/>
          <a:lstStyle/>
          <a:p>
            <a:pPr algn="ctr"/>
          </a:p>
        </p:txBody>
      </p:sp>
      <p:sp>
        <p:nvSpPr>
          <p:cNvPr id="17" name="Oval 16"/>
          <p:cNvSpPr/>
          <p:nvPr/>
        </p:nvSpPr>
        <p:spPr>
          <a:xfrm>
            <a:off x="8385608" y="286066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8" name="Oval 17"/>
          <p:cNvSpPr/>
          <p:nvPr/>
        </p:nvSpPr>
        <p:spPr>
          <a:xfrm>
            <a:off x="7163984" y="281689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19" name="Oval 18"/>
          <p:cNvSpPr/>
          <p:nvPr/>
        </p:nvSpPr>
        <p:spPr>
          <a:xfrm>
            <a:off x="9736442" y="308714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6</a:t>
            </a:r>
          </a:p>
        </p:txBody>
      </p:sp>
      <p:sp>
        <p:nvSpPr>
          <p:cNvPr id="20" name="TextBox 19"/>
          <p:cNvSpPr txBox="1"/>
          <p:nvPr/>
        </p:nvSpPr>
        <p:spPr>
          <a:xfrm>
            <a:off x="5303519" y="4042898"/>
            <a:ext cx="61109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6.22 -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and Figure 6.22. Ours: what the figure's volume panel shows that the text does not explain.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More channels from filtered points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23 of 24</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Points numbered afresh. Ovals ring heavy volume under 1, under 3 and 2, under 5 and 6.</a:t>
            </a:r>
          </a:p>
          <a:p>
            <a:pPr algn="l">
              <a:lnSpc>
                <a:spcPct val="105000"/>
              </a:lnSpc>
              <a:spcBef>
                <a:spcPts val="0"/>
              </a:spcBef>
              <a:spcAft>
                <a:spcPts val="1100"/>
              </a:spcAft>
            </a:pPr>
            <a:r>
              <a:rPr sz="1700" b="0" i="0">
                <a:solidFill>
                  <a:srgbClr val="1A1A1A"/>
                </a:solidFill>
                <a:latin typeface="Arial"/>
              </a:rPr>
              <a:t>Trendline 1 to 2, parallel from 3: a large bearish candlestick, closing far below its open, breaks it </a:t>
            </a:r>
            <a:r>
              <a:rPr sz="1700" b="1" i="0">
                <a:solidFill>
                  <a:srgbClr val="E09B00"/>
                </a:solidFill>
                <a:latin typeface="Arial"/>
              </a:rPr>
              <a:t>(7)</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A parallel from 4, carried back, meets the trough at X </a:t>
            </a:r>
            <a:r>
              <a:rPr sz="1700" b="1" i="0">
                <a:solidFill>
                  <a:srgbClr val="C62828"/>
                </a:solidFill>
                <a:latin typeface="Arial"/>
              </a:rPr>
              <a:t>(8)</a:t>
            </a:r>
            <a:r>
              <a:rPr sz="1700" b="0" i="0">
                <a:solidFill>
                  <a:srgbClr val="1A1A1A"/>
                </a:solidFill>
                <a:latin typeface="Arial"/>
              </a:rPr>
              <a:t>, January 2011: valid, the book says, with no third touch (Chapter 5).</a:t>
            </a:r>
          </a:p>
          <a:p>
            <a:pPr algn="l">
              <a:lnSpc>
                <a:spcPct val="105000"/>
              </a:lnSpc>
              <a:spcBef>
                <a:spcPts val="0"/>
              </a:spcBef>
              <a:spcAft>
                <a:spcPts val="1100"/>
              </a:spcAft>
            </a:pPr>
            <a:r>
              <a:rPr sz="1700" b="0" i="0">
                <a:solidFill>
                  <a:srgbClr val="1A1A1A"/>
                </a:solidFill>
                <a:latin typeface="Arial"/>
              </a:rPr>
              <a:t>Parallels from 5 and 6: a new channel </a:t>
            </a:r>
            <a:r>
              <a:rPr sz="1700" b="1" i="0">
                <a:solidFill>
                  <a:srgbClr val="1F5FAD"/>
                </a:solidFill>
                <a:latin typeface="Arial"/>
              </a:rPr>
              <a:t>(9)</a:t>
            </a:r>
            <a:r>
              <a:rPr sz="1700" b="0" i="0">
                <a:solidFill>
                  <a:srgbClr val="1A1A1A"/>
                </a:solidFill>
                <a:latin typeface="Arial"/>
              </a:rPr>
              <a:t>.</a:t>
            </a:r>
          </a:p>
        </p:txBody>
      </p:sp>
      <p:sp>
        <p:nvSpPr>
          <p:cNvPr id="8" name="Rectangle 7"/>
          <p:cNvSpPr/>
          <p:nvPr/>
        </p:nvSpPr>
        <p:spPr>
          <a:xfrm>
            <a:off x="777240" y="5273802"/>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310378"/>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Every line runs parallel to 1 to 2.</a:t>
            </a:r>
          </a:p>
        </p:txBody>
      </p:sp>
      <p:sp>
        <p:nvSpPr>
          <p:cNvPr id="10" name="Rectangle 9"/>
          <p:cNvSpPr/>
          <p:nvPr/>
        </p:nvSpPr>
        <p:spPr>
          <a:xfrm>
            <a:off x="6217919" y="1810512"/>
            <a:ext cx="5196535" cy="2739656"/>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501912"/>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04471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6.23</a:t>
            </a:r>
          </a:p>
          <a:p>
            <a:pPr algn="l">
              <a:lnSpc>
                <a:spcPct val="115000"/>
              </a:lnSpc>
              <a:spcBef>
                <a:spcPts val="0"/>
              </a:spcBef>
              <a:spcAft>
                <a:spcPts val="0"/>
              </a:spcAft>
            </a:pPr>
            <a:r>
              <a:rPr sz="1500" b="0" i="0">
                <a:solidFill>
                  <a:srgbClr val="1A1A1A"/>
                </a:solidFill>
                <a:latin typeface="Palatino"/>
              </a:rPr>
              <a:t>The same silver chart with more volume filtered points, numbered 1 to 6 and X. Several parallel rising lines are drawn through them, each from a point that came on overextended volume, forming channels that contain price.</a:t>
            </a:r>
          </a:p>
        </p:txBody>
      </p:sp>
      <p:sp>
        <p:nvSpPr>
          <p:cNvPr id="14" name="Oval 13"/>
          <p:cNvSpPr/>
          <p:nvPr/>
        </p:nvSpPr>
        <p:spPr>
          <a:xfrm>
            <a:off x="9411242" y="2830072"/>
            <a:ext cx="272733" cy="700535"/>
          </a:xfrm>
          <a:prstGeom prst="ellipse">
            <a:avLst/>
          </a:prstGeom>
          <a:noFill/>
          <a:ln w="44450">
            <a:solidFill>
              <a:srgbClr val="E09B00"/>
            </a:solidFill>
          </a:ln>
        </p:spPr>
        <p:txBody>
          <a:bodyPr rtlCol="0" anchor="ctr"/>
          <a:lstStyle/>
          <a:p>
            <a:pPr algn="ctr"/>
          </a:p>
        </p:txBody>
      </p:sp>
      <p:cxnSp>
        <p:nvCxnSpPr>
          <p:cNvPr id="15" name="Connector 14"/>
          <p:cNvCxnSpPr/>
          <p:nvPr/>
        </p:nvCxnSpPr>
        <p:spPr>
          <a:xfrm flipV="1">
            <a:off x="6857465" y="3580646"/>
            <a:ext cx="1710782" cy="663007"/>
          </a:xfrm>
          <a:prstGeom prst="line">
            <a:avLst/>
          </a:prstGeom>
          <a:ln w="44450">
            <a:solidFill>
              <a:srgbClr val="C62828"/>
            </a:solidFill>
          </a:ln>
        </p:spPr>
      </p:cxnSp>
      <p:sp>
        <p:nvSpPr>
          <p:cNvPr id="16" name="Rectangle 15"/>
          <p:cNvSpPr/>
          <p:nvPr/>
        </p:nvSpPr>
        <p:spPr>
          <a:xfrm>
            <a:off x="9535212" y="3330455"/>
            <a:ext cx="1016552" cy="900688"/>
          </a:xfrm>
          <a:prstGeom prst="rect">
            <a:avLst/>
          </a:prstGeom>
          <a:noFill/>
          <a:ln w="44450">
            <a:solidFill>
              <a:srgbClr val="1F5FAD"/>
            </a:solidFill>
          </a:ln>
        </p:spPr>
        <p:txBody>
          <a:bodyPr rtlCol="0" anchor="ctr"/>
          <a:lstStyle/>
          <a:p>
            <a:pPr algn="ctr"/>
          </a:p>
        </p:txBody>
      </p:sp>
      <p:sp>
        <p:nvSpPr>
          <p:cNvPr id="17" name="Oval 16"/>
          <p:cNvSpPr/>
          <p:nvPr/>
        </p:nvSpPr>
        <p:spPr>
          <a:xfrm>
            <a:off x="9255794" y="267462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7</a:t>
            </a:r>
          </a:p>
        </p:txBody>
      </p:sp>
      <p:sp>
        <p:nvSpPr>
          <p:cNvPr id="18" name="Oval 17"/>
          <p:cNvSpPr/>
          <p:nvPr/>
        </p:nvSpPr>
        <p:spPr>
          <a:xfrm>
            <a:off x="6776398" y="357531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8</a:t>
            </a:r>
          </a:p>
        </p:txBody>
      </p:sp>
      <p:sp>
        <p:nvSpPr>
          <p:cNvPr id="19" name="Oval 18"/>
          <p:cNvSpPr/>
          <p:nvPr/>
        </p:nvSpPr>
        <p:spPr>
          <a:xfrm>
            <a:off x="9900437" y="3175007"/>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9</a:t>
            </a:r>
          </a:p>
        </p:txBody>
      </p:sp>
      <p:sp>
        <p:nvSpPr>
          <p:cNvPr id="20" name="TextBox 19"/>
          <p:cNvSpPr txBox="1"/>
          <p:nvPr/>
        </p:nvSpPr>
        <p:spPr>
          <a:xfrm>
            <a:off x="6217919" y="4641608"/>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6.23 -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and Figure 6.23. Candlestick and valid: Chapters 3 and 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Figure 6.23 shows, and two things it leaves open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6 - 6.1 Filtering  |  24 of 24</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Every line has the slope of trendline 1 to 2 </a:t>
            </a:r>
            <a:r>
              <a:rPr sz="1700" b="1" i="0">
                <a:solidFill>
                  <a:srgbClr val="E09B00"/>
                </a:solidFill>
                <a:latin typeface="Arial"/>
              </a:rPr>
              <a:t>(7)</a:t>
            </a:r>
            <a:r>
              <a:rPr sz="1700" b="0" i="0">
                <a:solidFill>
                  <a:srgbClr val="1A1A1A"/>
                </a:solidFill>
                <a:latin typeface="Arial"/>
              </a:rPr>
              <a:t>: one steady angle, the book's near perfect angular symmetry (Chapter 5).</a:t>
            </a:r>
          </a:p>
          <a:p>
            <a:pPr algn="l">
              <a:lnSpc>
                <a:spcPct val="105000"/>
              </a:lnSpc>
              <a:spcBef>
                <a:spcPts val="0"/>
              </a:spcBef>
              <a:spcAft>
                <a:spcPts val="1100"/>
              </a:spcAft>
            </a:pPr>
            <a:r>
              <a:rPr sz="1700" b="0" i="0">
                <a:solidFill>
                  <a:srgbClr val="1A1A1A"/>
                </a:solidFill>
                <a:latin typeface="Arial"/>
              </a:rPr>
              <a:t>The 5 and 6 channel </a:t>
            </a:r>
            <a:r>
              <a:rPr sz="1700" b="1" i="0">
                <a:solidFill>
                  <a:srgbClr val="C62828"/>
                </a:solidFill>
                <a:latin typeface="Arial"/>
              </a:rPr>
              <a:t>(8)</a:t>
            </a:r>
            <a:r>
              <a:rPr sz="1700" b="0" i="0">
                <a:solidFill>
                  <a:srgbClr val="1A1A1A"/>
                </a:solidFill>
                <a:latin typeface="Arial"/>
              </a:rPr>
              <a:t>: resistance at its top, support at its bottom.</a:t>
            </a:r>
          </a:p>
          <a:p>
            <a:pPr algn="l">
              <a:lnSpc>
                <a:spcPct val="105000"/>
              </a:lnSpc>
              <a:spcBef>
                <a:spcPts val="0"/>
              </a:spcBef>
              <a:spcAft>
                <a:spcPts val="1100"/>
              </a:spcAft>
            </a:pPr>
            <a:r>
              <a:rPr sz="1700" b="0" i="0">
                <a:solidFill>
                  <a:srgbClr val="1A1A1A"/>
                </a:solidFill>
                <a:latin typeface="Arial"/>
              </a:rPr>
              <a:t>Open: the text says USDJPY; the chart, silver.</a:t>
            </a:r>
          </a:p>
          <a:p>
            <a:pPr algn="l">
              <a:lnSpc>
                <a:spcPct val="105000"/>
              </a:lnSpc>
              <a:spcBef>
                <a:spcPts val="0"/>
              </a:spcBef>
              <a:spcAft>
                <a:spcPts val="1100"/>
              </a:spcAft>
            </a:pPr>
            <a:r>
              <a:rPr sz="1700" b="0" i="0">
                <a:solidFill>
                  <a:srgbClr val="1A1A1A"/>
                </a:solidFill>
                <a:latin typeface="Arial"/>
              </a:rPr>
              <a:t>Open: no heavy volume is ringed under 4 </a:t>
            </a:r>
            <a:r>
              <a:rPr sz="1700" b="1" i="0">
                <a:solidFill>
                  <a:srgbClr val="1F5FAD"/>
                </a:solidFill>
                <a:latin typeface="Arial"/>
              </a:rPr>
              <a:t>(9)</a:t>
            </a:r>
            <a:r>
              <a:rPr sz="1700" b="0" i="0">
                <a:solidFill>
                  <a:srgbClr val="1A1A1A"/>
                </a:solidFill>
                <a:latin typeface="Arial"/>
              </a:rPr>
              <a:t> or X, yet both anchor lines.</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Build lines on heavily traded turns; watch the parallels for resistance and support.</a:t>
            </a:r>
          </a:p>
        </p:txBody>
      </p:sp>
      <p:sp>
        <p:nvSpPr>
          <p:cNvPr id="10" name="Rectangle 9"/>
          <p:cNvSpPr/>
          <p:nvPr/>
        </p:nvSpPr>
        <p:spPr>
          <a:xfrm>
            <a:off x="6583679" y="1810512"/>
            <a:ext cx="4830775" cy="255511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2317371"/>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186017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6.23</a:t>
            </a:r>
          </a:p>
          <a:p>
            <a:pPr algn="l">
              <a:lnSpc>
                <a:spcPct val="115000"/>
              </a:lnSpc>
              <a:spcBef>
                <a:spcPts val="0"/>
              </a:spcBef>
              <a:spcAft>
                <a:spcPts val="0"/>
              </a:spcAft>
            </a:pPr>
            <a:r>
              <a:rPr sz="1300" b="0" i="0">
                <a:solidFill>
                  <a:srgbClr val="1A1A1A"/>
                </a:solidFill>
                <a:latin typeface="Palatino"/>
              </a:rPr>
              <a:t>The same silver chart with volume filtered points 1 to 6 and X. Every line runs parallel to the trendline from 1 to 2; the last channel runs from 5 and 6; the volume panel rings heavy volume under 1, under 3 and 2, and under 5 and 6, and nothing under 4 or X.</a:t>
            </a:r>
          </a:p>
        </p:txBody>
      </p:sp>
      <p:cxnSp>
        <p:nvCxnSpPr>
          <p:cNvPr id="14" name="Connector 13"/>
          <p:cNvCxnSpPr/>
          <p:nvPr/>
        </p:nvCxnSpPr>
        <p:spPr>
          <a:xfrm flipV="1">
            <a:off x="8287147" y="2358097"/>
            <a:ext cx="1446805" cy="556170"/>
          </a:xfrm>
          <a:prstGeom prst="line">
            <a:avLst/>
          </a:prstGeom>
          <a:ln w="44450">
            <a:solidFill>
              <a:srgbClr val="E09B00"/>
            </a:solidFill>
          </a:ln>
        </p:spPr>
      </p:cxnSp>
      <p:sp>
        <p:nvSpPr>
          <p:cNvPr id="15" name="Rectangle 14"/>
          <p:cNvSpPr/>
          <p:nvPr/>
        </p:nvSpPr>
        <p:spPr>
          <a:xfrm>
            <a:off x="9665056" y="3227112"/>
            <a:ext cx="941571" cy="834253"/>
          </a:xfrm>
          <a:prstGeom prst="rect">
            <a:avLst/>
          </a:prstGeom>
          <a:noFill/>
          <a:ln w="44450">
            <a:solidFill>
              <a:srgbClr val="C62828"/>
            </a:solidFill>
          </a:ln>
        </p:spPr>
        <p:txBody>
          <a:bodyPr rtlCol="0" anchor="ctr"/>
          <a:lstStyle/>
          <a:p>
            <a:pPr algn="ctr"/>
          </a:p>
        </p:txBody>
      </p:sp>
      <p:sp>
        <p:nvSpPr>
          <p:cNvPr id="16" name="Rectangle 15"/>
          <p:cNvSpPr/>
          <p:nvPr/>
        </p:nvSpPr>
        <p:spPr>
          <a:xfrm>
            <a:off x="8539764" y="3875976"/>
            <a:ext cx="459303" cy="208563"/>
          </a:xfrm>
          <a:prstGeom prst="rect">
            <a:avLst/>
          </a:prstGeom>
          <a:noFill/>
          <a:ln w="44450">
            <a:solidFill>
              <a:srgbClr val="1F5FAD"/>
            </a:solidFill>
          </a:ln>
        </p:spPr>
        <p:txBody>
          <a:bodyPr rtlCol="0" anchor="ctr"/>
          <a:lstStyle/>
          <a:p>
            <a:pPr algn="ctr"/>
          </a:p>
        </p:txBody>
      </p:sp>
      <p:sp>
        <p:nvSpPr>
          <p:cNvPr id="17" name="Oval 16"/>
          <p:cNvSpPr/>
          <p:nvPr/>
        </p:nvSpPr>
        <p:spPr>
          <a:xfrm>
            <a:off x="8843619" y="228375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7</a:t>
            </a:r>
          </a:p>
        </p:txBody>
      </p:sp>
      <p:sp>
        <p:nvSpPr>
          <p:cNvPr id="18" name="Oval 17"/>
          <p:cNvSpPr/>
          <p:nvPr/>
        </p:nvSpPr>
        <p:spPr>
          <a:xfrm>
            <a:off x="9509608" y="307166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8</a:t>
            </a:r>
          </a:p>
        </p:txBody>
      </p:sp>
      <p:sp>
        <p:nvSpPr>
          <p:cNvPr id="19" name="Oval 18"/>
          <p:cNvSpPr/>
          <p:nvPr/>
        </p:nvSpPr>
        <p:spPr>
          <a:xfrm>
            <a:off x="8384316" y="3720528"/>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9</a:t>
            </a:r>
          </a:p>
        </p:txBody>
      </p:sp>
      <p:sp>
        <p:nvSpPr>
          <p:cNvPr id="20" name="TextBox 19"/>
          <p:cNvSpPr txBox="1"/>
          <p:nvPr/>
        </p:nvSpPr>
        <p:spPr>
          <a:xfrm>
            <a:off x="6583679" y="4457067"/>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6.23 -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pp.189-190 and Figure 6.23. Angular symmetry: Chapter 5. Ours: what the figure rings and what it does not.</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Relative and absolute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Absolute volume is the raw count: today, 3 million shares traded.</a:t>
            </a:r>
          </a:p>
          <a:p>
            <a:pPr algn="l">
              <a:lnSpc>
                <a:spcPct val="105000"/>
              </a:lnSpc>
              <a:spcBef>
                <a:spcPts val="0"/>
              </a:spcBef>
              <a:spcAft>
                <a:spcPts val="1100"/>
              </a:spcAft>
            </a:pPr>
            <a:r>
              <a:rPr sz="1800" b="0" i="0">
                <a:solidFill>
                  <a:srgbClr val="1A1A1A"/>
                </a:solidFill>
                <a:latin typeface="Arial"/>
              </a:rPr>
              <a:t>Relative volume compares it with its own past: 3 million against a usual 1.5 million is double.</a:t>
            </a:r>
          </a:p>
          <a:p>
            <a:pPr algn="l">
              <a:lnSpc>
                <a:spcPct val="105000"/>
              </a:lnSpc>
              <a:spcBef>
                <a:spcPts val="0"/>
              </a:spcBef>
              <a:spcAft>
                <a:spcPts val="1100"/>
              </a:spcAft>
            </a:pPr>
            <a:r>
              <a:rPr sz="1800" b="0" i="0">
                <a:solidFill>
                  <a:srgbClr val="1A1A1A"/>
                </a:solidFill>
                <a:latin typeface="Arial"/>
              </a:rPr>
              <a:t>The book: absolute volume is not as important as relative. The change in volume tells the most about price.</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Yet a trend can persist for long periods on flat volume.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w.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W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pp.190-191. It never defines the two names; these readings are ours, from its contrast. The share counts and the chart are ours, on invented prices.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change in volume tells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Rising and falling volume show interest at each price. Part 1's tests: rising is confirmation, falling divergence; with price bullish, against bearish.</a:t>
            </a:r>
          </a:p>
          <a:p>
            <a:pPr algn="l">
              <a:lnSpc>
                <a:spcPct val="118000"/>
              </a:lnSpc>
              <a:spcBef>
                <a:spcPts val="0"/>
              </a:spcBef>
              <a:spcAft>
                <a:spcPts val="1300"/>
              </a:spcAft>
            </a:pPr>
            <a:r>
              <a:rPr sz="2100" b="0" i="0">
                <a:solidFill>
                  <a:srgbClr val="1A1A1A"/>
                </a:solidFill>
                <a:latin typeface="Arial"/>
              </a:rPr>
              <a:t>Past extremes, Part 2's overextended levels, are a reference. Ours: busiest day 9 million, quietest 0.4 million; volume reaching either again warns of a top or bottom.</a:t>
            </a:r>
          </a:p>
          <a:p>
            <a:pPr algn="l">
              <a:lnSpc>
                <a:spcPct val="118000"/>
              </a:lnSpc>
              <a:spcBef>
                <a:spcPts val="0"/>
              </a:spcBef>
              <a:spcAft>
                <a:spcPts val="1300"/>
              </a:spcAft>
            </a:pPr>
            <a:r>
              <a:rPr sz="2100" b="0" i="0">
                <a:solidFill>
                  <a:srgbClr val="1A1A1A"/>
                </a:solidFill>
                <a:latin typeface="Arial"/>
              </a:rPr>
              <a:t>Flat volume is no sign a trend is ending; the book gives no rule for it.</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 the change in volume for the trend, and past extremes for the turns.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The share counts in the example are ours.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Loss aversion bias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3 of 29</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49224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Holding a losing position, not selling at a loss, hoping it comes back. Holding is not trading: it adds no volume.</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649224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Bought at PHP 50, now PHP 38: an unrealized loss of PHP 12, on paper only, unsold. You hold for breakeven, PHP 50.</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649224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Many investors hold on to losing positions in a falling market, hoping they rebound to breakeven or profitability, believing unrealized losses are not real losses: loss aversion bias.</a:t>
            </a:r>
          </a:p>
        </p:txBody>
      </p:sp>
      <p:sp>
        <p:nvSpPr>
          <p:cNvPr id="14" name="Rectangle 13"/>
          <p:cNvSpPr/>
          <p:nvPr/>
        </p:nvSpPr>
        <p:spPr>
          <a:xfrm>
            <a:off x="7865211" y="2157984"/>
            <a:ext cx="354787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x.png"/>
          <p:cNvPicPr>
            <a:picLocks noChangeAspect="1"/>
          </p:cNvPicPr>
          <p:nvPr/>
        </p:nvPicPr>
        <p:blipFill>
          <a:blip r:embed="rId2"/>
          <a:stretch>
            <a:fillRect/>
          </a:stretch>
        </p:blipFill>
        <p:spPr>
          <a:xfrm>
            <a:off x="7984083" y="2276856"/>
            <a:ext cx="3310128" cy="3163824"/>
          </a:xfrm>
          <a:prstGeom prst="rect">
            <a:avLst/>
          </a:prstGeom>
        </p:spPr>
      </p:pic>
      <p:sp>
        <p:nvSpPr>
          <p:cNvPr id="16" name="TextBox 15"/>
          <p:cNvSpPr txBox="1"/>
          <p:nvPr/>
        </p:nvSpPr>
        <p:spPr>
          <a:xfrm>
            <a:off x="7863840" y="5650991"/>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X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names the bias. The pesos, the share and the chart are ours, on invented prices.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Bull market volume outweighs bear market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4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Loss aversion: losing positions held in a falling, bear market add nothing to its trading.</a:t>
            </a:r>
          </a:p>
          <a:p>
            <a:pPr algn="l">
              <a:lnSpc>
                <a:spcPct val="105000"/>
              </a:lnSpc>
              <a:spcBef>
                <a:spcPts val="0"/>
              </a:spcBef>
              <a:spcAft>
                <a:spcPts val="1100"/>
              </a:spcAft>
            </a:pPr>
            <a:r>
              <a:rPr sz="1700" b="0" i="0">
                <a:solidFill>
                  <a:srgbClr val="1A1A1A"/>
                </a:solidFill>
                <a:latin typeface="Arial"/>
              </a:rPr>
              <a:t>2  In a rising, bull market, traders can fund new positions with house money: profit already made.</a:t>
            </a:r>
          </a:p>
          <a:p>
            <a:pPr algn="l">
              <a:lnSpc>
                <a:spcPct val="105000"/>
              </a:lnSpc>
              <a:spcBef>
                <a:spcPts val="0"/>
              </a:spcBef>
              <a:spcAft>
                <a:spcPts val="1100"/>
              </a:spcAft>
            </a:pPr>
            <a:r>
              <a:rPr sz="1700" b="0" i="0">
                <a:solidFill>
                  <a:srgbClr val="1A1A1A"/>
                </a:solidFill>
                <a:latin typeface="Arial"/>
              </a:rPr>
              <a:t>3  More investment funds market their services in a bull market, drawing in investors.</a:t>
            </a:r>
          </a:p>
        </p:txBody>
      </p:sp>
      <p:sp>
        <p:nvSpPr>
          <p:cNvPr id="8" name="Rectangle 7"/>
          <p:cNvSpPr/>
          <p:nvPr/>
        </p:nvSpPr>
        <p:spPr>
          <a:xfrm>
            <a:off x="777240" y="4293108"/>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519379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So bull market volume tends to outweigh bear market volume. Ours: 2.8 million shares a day rising, 1.3 million falling.</a:t>
            </a:r>
          </a:p>
        </p:txBody>
      </p:sp>
      <p:sp>
        <p:nvSpPr>
          <p:cNvPr id="10" name="TextBox 9"/>
          <p:cNvSpPr txBox="1"/>
          <p:nvPr/>
        </p:nvSpPr>
        <p:spPr>
          <a:xfrm>
            <a:off x="777240" y="5463540"/>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few of the book's reasons; it draws no trading rule from them.</a:t>
            </a:r>
          </a:p>
        </p:txBody>
      </p:sp>
      <p:sp>
        <p:nvSpPr>
          <p:cNvPr id="11" name="Rectangle 10"/>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y.png"/>
          <p:cNvPicPr>
            <a:picLocks noChangeAspect="1"/>
          </p:cNvPicPr>
          <p:nvPr/>
        </p:nvPicPr>
        <p:blipFill>
          <a:blip r:embed="rId2"/>
          <a:stretch>
            <a:fillRect/>
          </a:stretch>
        </p:blipFill>
        <p:spPr>
          <a:xfrm>
            <a:off x="6703923" y="1929384"/>
            <a:ext cx="4590288" cy="3511296"/>
          </a:xfrm>
          <a:prstGeom prst="rect">
            <a:avLst/>
          </a:prstGeom>
        </p:spPr>
      </p:pic>
      <p:sp>
        <p:nvSpPr>
          <p:cNvPr id="13" name="TextBox 12"/>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Y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its three reasons, nearly word for word. The chart and its share counts are ours, on invented prices.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absolute volume is good for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5 of 29</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Price rejection levels, Chapter 3: prices the market was pushed back from. The book gives no method.</a:t>
            </a:r>
          </a:p>
          <a:p>
            <a:pPr algn="l">
              <a:lnSpc>
                <a:spcPct val="105000"/>
              </a:lnSpc>
              <a:spcBef>
                <a:spcPts val="0"/>
              </a:spcBef>
              <a:spcAft>
                <a:spcPts val="1100"/>
              </a:spcAft>
            </a:pPr>
            <a:r>
              <a:rPr sz="1700" b="0" i="0">
                <a:solidFill>
                  <a:srgbClr val="1A1A1A"/>
                </a:solidFill>
                <a:latin typeface="Arial"/>
              </a:rPr>
              <a:t>2  Comparing participation in stocks, sectors or commodities, seeking liquidity: the book's word, not defined.</a:t>
            </a:r>
          </a:p>
          <a:p>
            <a:pPr algn="l">
              <a:lnSpc>
                <a:spcPct val="105000"/>
              </a:lnSpc>
              <a:spcBef>
                <a:spcPts val="0"/>
              </a:spcBef>
              <a:spcAft>
                <a:spcPts val="1100"/>
              </a:spcAft>
            </a:pPr>
            <a:r>
              <a:rPr sz="1700" b="0" i="0">
                <a:solidFill>
                  <a:srgbClr val="1A1A1A"/>
                </a:solidFill>
                <a:latin typeface="Arial"/>
              </a:rPr>
              <a:t>3  Turnover: shares traded / shares outstanding, all the company's shares. A: 5m / 2,000m = 0.25%. B: 1m / 40m = 2.5%.</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trades five times the shares; B has ten times the participation.</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z.png"/>
          <p:cNvPicPr>
            <a:picLocks noChangeAspect="1"/>
          </p:cNvPicPr>
          <p:nvPr/>
        </p:nvPicPr>
        <p:blipFill>
          <a:blip r:embed="rId2"/>
          <a:stretch>
            <a:fillRect/>
          </a:stretch>
        </p:blipFill>
        <p:spPr>
          <a:xfrm>
            <a:off x="7252563" y="1929384"/>
            <a:ext cx="4041648" cy="3511296"/>
          </a:xfrm>
          <a:prstGeom prst="rect">
            <a:avLst/>
          </a:prstGeom>
        </p:spPr>
      </p:pic>
      <p:sp>
        <p:nvSpPr>
          <p:cNvPr id="12" name="TextBox 11"/>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Z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p.191. The two shares, their volumes and their shares outstanding are ours: a share-count example of turnover.</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distortions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6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surge in arbitrage, program trading and high frequency trading (HFT) may distort volume's traditional meaning: traders' interest in a rise or fall.</a:t>
            </a:r>
          </a:p>
          <a:p>
            <a:pPr algn="l">
              <a:lnSpc>
                <a:spcPct val="118000"/>
              </a:lnSpc>
              <a:spcBef>
                <a:spcPts val="0"/>
              </a:spcBef>
              <a:spcAft>
                <a:spcPts val="1300"/>
              </a:spcAft>
            </a:pPr>
            <a:r>
              <a:rPr sz="2100" b="0" i="0">
                <a:solidFill>
                  <a:srgbClr val="1A1A1A"/>
                </a:solidFill>
                <a:latin typeface="Arial"/>
              </a:rPr>
              <a:t>Chapter 1: program trading is machines trading in ways humans cannot replicate. Chapter 1 named arbitrage and HFT without defining them; so does this chapter.</a:t>
            </a:r>
          </a:p>
          <a:p>
            <a:pPr algn="l">
              <a:lnSpc>
                <a:spcPct val="118000"/>
              </a:lnSpc>
              <a:spcBef>
                <a:spcPts val="0"/>
              </a:spcBef>
              <a:spcAft>
                <a:spcPts val="1300"/>
              </a:spcAft>
            </a:pPr>
            <a:r>
              <a:rPr sz="2100" b="0" i="0">
                <a:solidFill>
                  <a:srgbClr val="1A1A1A"/>
                </a:solidFill>
                <a:latin typeface="Arial"/>
              </a:rPr>
              <a:t>Ours: a day trades 4 million shares, 3 million of them program trades. The bar reads 4 million; traders taking part in the move traded 1 million.</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So a volume bar may count machine trades as well as interest: here only 1 of 4 million. The book gives no way to separate them.</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Chapter 1 named arbitrage, program trading and HFT. The share counts in the example are ours.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Open interest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7 of 29</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Every futures or options contract has a buyer, the long, and a seller, the short. Open interest counts the contracts still open.</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Plus 1 when a new long and short both open; minus 1 when both close; no change when one side is replaced.</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total amount of outstanding contracts in the futures and options markets. It increases when a new long and short are initiated, decreases when both exit, and is unchanged when one is replaced.</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a.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AA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gives the definition and the three rules. The traders and contract counts are ours.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Open interest, day by day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8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Day 1: A buys 1 from B, both new, A long and B short: plus 1. Open interest 1.</a:t>
            </a:r>
          </a:p>
          <a:p>
            <a:pPr algn="l">
              <a:lnSpc>
                <a:spcPct val="105000"/>
              </a:lnSpc>
              <a:spcBef>
                <a:spcPts val="0"/>
              </a:spcBef>
              <a:spcAft>
                <a:spcPts val="1100"/>
              </a:spcAft>
            </a:pPr>
            <a:r>
              <a:rPr sz="1700" b="0" i="0">
                <a:solidFill>
                  <a:srgbClr val="1A1A1A"/>
                </a:solidFill>
                <a:latin typeface="Arial"/>
              </a:rPr>
              <a:t>Day 2: C buys 2 from D, both new: plus 2. Open interest 3.</a:t>
            </a:r>
          </a:p>
          <a:p>
            <a:pPr algn="l">
              <a:lnSpc>
                <a:spcPct val="105000"/>
              </a:lnSpc>
              <a:spcBef>
                <a:spcPts val="0"/>
              </a:spcBef>
              <a:spcAft>
                <a:spcPts val="1100"/>
              </a:spcAft>
            </a:pPr>
            <a:r>
              <a:rPr sz="1700" b="0" i="0">
                <a:solidFill>
                  <a:srgbClr val="1A1A1A"/>
                </a:solidFill>
                <a:latin typeface="Arial"/>
              </a:rPr>
              <a:t>Day 3: A sells that 1 to E, the new long; B is still short: no change. Still 3.</a:t>
            </a:r>
          </a:p>
          <a:p>
            <a:pPr algn="l">
              <a:lnSpc>
                <a:spcPct val="105000"/>
              </a:lnSpc>
              <a:spcBef>
                <a:spcPts val="0"/>
              </a:spcBef>
              <a:spcAft>
                <a:spcPts val="1100"/>
              </a:spcAft>
            </a:pPr>
            <a:r>
              <a:rPr sz="1700" b="0" i="0">
                <a:solidFill>
                  <a:srgbClr val="1A1A1A"/>
                </a:solidFill>
                <a:latin typeface="Arial"/>
              </a:rPr>
              <a:t>Day 4: D buys back 2 from C: D's short and C's long close: minus 2. Now 1.</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Only both sides opening, or both closing, moves the count.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a.png"/>
          <p:cNvPicPr>
            <a:picLocks noChangeAspect="1"/>
          </p:cNvPicPr>
          <p:nvPr/>
        </p:nvPicPr>
        <p:blipFill>
          <a:blip r:embed="rId2"/>
          <a:stretch>
            <a:fillRect/>
          </a:stretch>
        </p:blipFill>
        <p:spPr>
          <a:xfrm>
            <a:off x="6338163" y="1929384"/>
            <a:ext cx="4956048" cy="3511296"/>
          </a:xfrm>
          <a:prstGeom prst="rect">
            <a:avLst/>
          </a:prstGeom>
        </p:spPr>
      </p:pic>
      <p:sp>
        <p:nvSpPr>
          <p:cNvPr id="12" name="TextBox 11"/>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HA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the rules, and why count: unlike stocks, futures and options contracts expire. Traders and counts: ours.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Open interest is read like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9 of 29</a:t>
            </a:r>
          </a:p>
        </p:txBody>
      </p:sp>
      <p:sp>
        <p:nvSpPr>
          <p:cNvPr id="7" name="TextBox 6"/>
          <p:cNvSpPr txBox="1"/>
          <p:nvPr/>
        </p:nvSpPr>
        <p:spPr>
          <a:xfrm>
            <a:off x="777240" y="1965960"/>
            <a:ext cx="64008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Like volume, open interest shows interest in seeing price rise or fall. With price: bullish. Against: bearish.</a:t>
            </a:r>
          </a:p>
          <a:p>
            <a:pPr algn="l">
              <a:lnSpc>
                <a:spcPct val="105000"/>
              </a:lnSpc>
              <a:spcBef>
                <a:spcPts val="0"/>
              </a:spcBef>
              <a:spcAft>
                <a:spcPts val="1100"/>
              </a:spcAft>
            </a:pPr>
            <a:r>
              <a:rPr sz="1700" b="0" i="0">
                <a:solidFill>
                  <a:srgbClr val="1A1A1A"/>
                </a:solidFill>
                <a:latin typeface="Arial"/>
              </a:rPr>
              <a:t>Price rising. Both rising: bullish, buying pressure. Both falling: bearish, shorts covering (buying back) and longs leaving.</a:t>
            </a:r>
          </a:p>
          <a:p>
            <a:pPr algn="l">
              <a:lnSpc>
                <a:spcPct val="105000"/>
              </a:lnSpc>
              <a:spcBef>
                <a:spcPts val="0"/>
              </a:spcBef>
              <a:spcAft>
                <a:spcPts val="1100"/>
              </a:spcAft>
            </a:pPr>
            <a:r>
              <a:rPr sz="1700" b="0" i="0">
                <a:solidFill>
                  <a:srgbClr val="1A1A1A"/>
                </a:solidFill>
                <a:latin typeface="Arial"/>
              </a:rPr>
              <a:t>Price falling. Both rising: bearish, short selling. Both falling: bullish, fewer longs liquidating, fewer new shorts.</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61081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Rising is confirmation, falling is divergence: as for non-price-based volume.</a:t>
            </a:r>
          </a:p>
        </p:txBody>
      </p:sp>
      <p:sp>
        <p:nvSpPr>
          <p:cNvPr id="10" name="Rectangle 9"/>
          <p:cNvSpPr/>
          <p:nvPr/>
        </p:nvSpPr>
        <p:spPr>
          <a:xfrm>
            <a:off x="7499451" y="1810512"/>
            <a:ext cx="391363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b.png"/>
          <p:cNvPicPr>
            <a:picLocks noChangeAspect="1"/>
          </p:cNvPicPr>
          <p:nvPr/>
        </p:nvPicPr>
        <p:blipFill>
          <a:blip r:embed="rId2"/>
          <a:stretch>
            <a:fillRect/>
          </a:stretch>
        </p:blipFill>
        <p:spPr>
          <a:xfrm>
            <a:off x="7618323" y="1929384"/>
            <a:ext cx="3675888" cy="3511296"/>
          </a:xfrm>
          <a:prstGeom prst="rect">
            <a:avLst/>
          </a:prstGeom>
        </p:spPr>
      </p:pic>
      <p:sp>
        <p:nvSpPr>
          <p:cNvPr id="12" name="TextBox 11"/>
          <p:cNvSpPr txBox="1"/>
          <p:nvPr/>
        </p:nvSpPr>
        <p:spPr>
          <a:xfrm>
            <a:off x="7498079" y="5650991"/>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AB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the reading and its reasons are the book's. The chart is ours: arrows, not prices.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readings, worked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10 of 29</a:t>
            </a:r>
          </a:p>
        </p:txBody>
      </p:sp>
      <p:sp>
        <p:nvSpPr>
          <p:cNvPr id="7" name="TextBox 6"/>
          <p:cNvSpPr txBox="1"/>
          <p:nvPr/>
        </p:nvSpPr>
        <p:spPr>
          <a:xfrm>
            <a:off x="777240" y="1965960"/>
            <a:ext cx="67665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Ours: a futures contract rises, PHP 100 to 110. Open interest 50,000 to 60,000, volume 8,000 to 12,000 a day: bullish confirmation, buying pressure.</a:t>
            </a:r>
          </a:p>
          <a:p>
            <a:pPr algn="l">
              <a:lnSpc>
                <a:spcPct val="105000"/>
              </a:lnSpc>
              <a:spcBef>
                <a:spcPts val="0"/>
              </a:spcBef>
              <a:spcAft>
                <a:spcPts val="1100"/>
              </a:spcAft>
            </a:pPr>
            <a:r>
              <a:rPr sz="1700" b="0" i="0">
                <a:solidFill>
                  <a:srgbClr val="1A1A1A"/>
                </a:solidFill>
                <a:latin typeface="Arial"/>
              </a:rPr>
              <a:t>2  Same rise; open interest 50,000 to 40,000, volume 8,000 to 5,000: bearish divergence, shorts covering, longs leaving.</a:t>
            </a:r>
          </a:p>
          <a:p>
            <a:pPr algn="l">
              <a:lnSpc>
                <a:spcPct val="105000"/>
              </a:lnSpc>
              <a:spcBef>
                <a:spcPts val="0"/>
              </a:spcBef>
              <a:spcAft>
                <a:spcPts val="1100"/>
              </a:spcAft>
            </a:pPr>
            <a:r>
              <a:rPr sz="1700" b="0" i="0">
                <a:solidFill>
                  <a:srgbClr val="1A1A1A"/>
                </a:solidFill>
                <a:latin typeface="Arial"/>
              </a:rPr>
              <a:t>Falling, PHP 110 to 100: 3, both rising, bearish confirmation, short selling; 4, both falling, bullish divergence.</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64739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Same price move, opposite readings: volume and open interest decide.</a:t>
            </a:r>
          </a:p>
        </p:txBody>
      </p:sp>
      <p:sp>
        <p:nvSpPr>
          <p:cNvPr id="10" name="Rectangle 9"/>
          <p:cNvSpPr/>
          <p:nvPr/>
        </p:nvSpPr>
        <p:spPr>
          <a:xfrm>
            <a:off x="7865211" y="1810512"/>
            <a:ext cx="35478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b.png"/>
          <p:cNvPicPr>
            <a:picLocks noChangeAspect="1"/>
          </p:cNvPicPr>
          <p:nvPr/>
        </p:nvPicPr>
        <p:blipFill>
          <a:blip r:embed="rId2"/>
          <a:stretch>
            <a:fillRect/>
          </a:stretch>
        </p:blipFill>
        <p:spPr>
          <a:xfrm>
            <a:off x="7984083" y="1929384"/>
            <a:ext cx="3310128" cy="3511296"/>
          </a:xfrm>
          <a:prstGeom prst="rect">
            <a:avLst/>
          </a:prstGeom>
        </p:spPr>
      </p:pic>
      <p:sp>
        <p:nvSpPr>
          <p:cNvPr id="12" name="TextBox 11"/>
          <p:cNvSpPr txBox="1"/>
          <p:nvPr/>
        </p:nvSpPr>
        <p:spPr>
          <a:xfrm>
            <a:off x="7863840" y="5650991"/>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HB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gives the four readings and their reasons. The contract, its prices and its counts are ours, invented.</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trader does with the four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11 of 29</a:t>
            </a:r>
          </a:p>
        </p:txBody>
      </p:sp>
      <p:sp>
        <p:nvSpPr>
          <p:cNvPr id="7" name="TextBox 6"/>
          <p:cNvSpPr txBox="1"/>
          <p:nvPr/>
        </p:nvSpPr>
        <p:spPr>
          <a:xfrm>
            <a:off x="777240" y="1965960"/>
            <a:ext cx="67665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All three rising, bullish: look for buy signals.</a:t>
            </a:r>
          </a:p>
          <a:p>
            <a:pPr algn="l">
              <a:lnSpc>
                <a:spcPct val="105000"/>
              </a:lnSpc>
              <a:spcBef>
                <a:spcPts val="0"/>
              </a:spcBef>
              <a:spcAft>
                <a:spcPts val="1100"/>
              </a:spcAft>
            </a:pPr>
            <a:r>
              <a:rPr sz="1900" b="0" i="0">
                <a:solidFill>
                  <a:srgbClr val="1A1A1A"/>
                </a:solidFill>
                <a:latin typeface="Arial"/>
              </a:rPr>
              <a:t>Price rising, open interest and volume falling, bearish: look to exit, liquidating (selling) your longs.</a:t>
            </a:r>
          </a:p>
          <a:p>
            <a:pPr algn="l">
              <a:lnSpc>
                <a:spcPct val="105000"/>
              </a:lnSpc>
              <a:spcBef>
                <a:spcPts val="0"/>
              </a:spcBef>
              <a:spcAft>
                <a:spcPts val="1100"/>
              </a:spcAft>
            </a:pPr>
            <a:r>
              <a:rPr sz="1900" b="0" i="0">
                <a:solidFill>
                  <a:srgbClr val="1A1A1A"/>
                </a:solidFill>
                <a:latin typeface="Arial"/>
              </a:rPr>
              <a:t>Price falling, both rising, bearish: look to go short. Once both start to fall together, bullish: rapidly cover (buy back) all shorts.</a:t>
            </a:r>
          </a:p>
        </p:txBody>
      </p:sp>
      <p:sp>
        <p:nvSpPr>
          <p:cNvPr id="8" name="Rectangle 7"/>
          <p:cNvSpPr/>
          <p:nvPr/>
        </p:nvSpPr>
        <p:spPr>
          <a:xfrm>
            <a:off x="777240" y="4485132"/>
            <a:ext cx="82296" cy="10607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521708"/>
            <a:ext cx="6473952" cy="10607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Figure 6.24, silver: from A, about $20, price rose to B, about $49 </a:t>
            </a:r>
            <a:r>
              <a:rPr sz="2000" b="1" i="0">
                <a:solidFill>
                  <a:srgbClr val="E09B00"/>
                </a:solidFill>
                <a:latin typeface="Arial"/>
              </a:rPr>
              <a:t>(1)</a:t>
            </a:r>
            <a:r>
              <a:rPr sz="2000" b="1" i="0">
                <a:solidFill>
                  <a:srgbClr val="1A1A1A"/>
                </a:solidFill>
                <a:latin typeface="Arial"/>
              </a:rPr>
              <a:t>, then fell to under $30 </a:t>
            </a:r>
            <a:r>
              <a:rPr sz="2000" b="1" i="0">
                <a:solidFill>
                  <a:srgbClr val="C62828"/>
                </a:solidFill>
                <a:latin typeface="Arial"/>
              </a:rPr>
              <a:t>(2)</a:t>
            </a:r>
            <a:r>
              <a:rPr sz="2000" b="1" i="0">
                <a:solidFill>
                  <a:srgbClr val="1A1A1A"/>
                </a:solidFill>
                <a:latin typeface="Arial"/>
              </a:rPr>
              <a:t>. Which of the four was it at B? Next slide.</a:t>
            </a:r>
          </a:p>
        </p:txBody>
      </p:sp>
      <p:sp>
        <p:nvSpPr>
          <p:cNvPr id="10" name="Rectangle 9"/>
          <p:cNvSpPr/>
          <p:nvPr/>
        </p:nvSpPr>
        <p:spPr>
          <a:xfrm>
            <a:off x="7863840" y="1810512"/>
            <a:ext cx="3550614" cy="3438956"/>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982712" y="1929384"/>
            <a:ext cx="3312870" cy="3201212"/>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982712" y="1929384"/>
            <a:ext cx="33128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8257032" y="2203703"/>
            <a:ext cx="2764230" cy="274401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6.24</a:t>
            </a:r>
          </a:p>
          <a:p>
            <a:pPr algn="l">
              <a:lnSpc>
                <a:spcPct val="115000"/>
              </a:lnSpc>
              <a:spcBef>
                <a:spcPts val="0"/>
              </a:spcBef>
              <a:spcAft>
                <a:spcPts val="0"/>
              </a:spcAft>
            </a:pPr>
            <a:r>
              <a:rPr sz="1500" b="0" i="0">
                <a:solidFill>
                  <a:srgbClr val="1A1A1A"/>
                </a:solidFill>
                <a:latin typeface="Palatino"/>
              </a:rPr>
              <a:t>The price panel of the continuous daily chart of silver: from A, about $20 in 2008, price rises to B, about $49 in 2011, then falls to under $30.</a:t>
            </a:r>
          </a:p>
        </p:txBody>
      </p:sp>
      <p:cxnSp>
        <p:nvCxnSpPr>
          <p:cNvPr id="14" name="Connector 13"/>
          <p:cNvCxnSpPr/>
          <p:nvPr/>
        </p:nvCxnSpPr>
        <p:spPr>
          <a:xfrm flipV="1">
            <a:off x="8307373" y="2217493"/>
            <a:ext cx="1808827" cy="2272861"/>
          </a:xfrm>
          <a:prstGeom prst="line">
            <a:avLst/>
          </a:prstGeom>
          <a:ln w="44450">
            <a:solidFill>
              <a:srgbClr val="E09B00"/>
            </a:solidFill>
            <a:tailEnd type="triangle" w="med" len="med"/>
          </a:ln>
        </p:spPr>
      </p:cxnSp>
      <p:cxnSp>
        <p:nvCxnSpPr>
          <p:cNvPr id="15" name="Connector 14"/>
          <p:cNvCxnSpPr/>
          <p:nvPr/>
        </p:nvCxnSpPr>
        <p:spPr>
          <a:xfrm>
            <a:off x="10215587" y="2313529"/>
            <a:ext cx="400857" cy="1472558"/>
          </a:xfrm>
          <a:prstGeom prst="line">
            <a:avLst/>
          </a:prstGeom>
          <a:ln w="44450">
            <a:solidFill>
              <a:srgbClr val="C62828"/>
            </a:solidFill>
            <a:tailEnd type="triangle" w="med" len="med"/>
          </a:ln>
        </p:spPr>
      </p:cxnSp>
      <p:sp>
        <p:nvSpPr>
          <p:cNvPr id="16" name="Oval 15"/>
          <p:cNvSpPr/>
          <p:nvPr/>
        </p:nvSpPr>
        <p:spPr>
          <a:xfrm>
            <a:off x="8092293" y="382271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477560" y="259024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7863840" y="5340908"/>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6.24 -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and Figure 6.24; the prices are read off the figure by eye. Go long, liquidate, go short and cover are Chapter 1 terms.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6.24: volume and open interest disagree at B</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12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peaks higher at B than at A </a:t>
            </a:r>
            <a:r>
              <a:rPr sz="1700" b="1" i="0">
                <a:solidFill>
                  <a:srgbClr val="E09B00"/>
                </a:solidFill>
                <a:latin typeface="Arial"/>
              </a:rPr>
              <a:t>(1)</a:t>
            </a:r>
            <a:r>
              <a:rPr sz="1700" b="0" i="0">
                <a:solidFill>
                  <a:srgbClr val="1A1A1A"/>
                </a:solidFill>
                <a:latin typeface="Arial"/>
              </a:rPr>
              <a:t>: price and volume rise together, bullish confirmation.</a:t>
            </a:r>
          </a:p>
          <a:p>
            <a:pPr algn="l">
              <a:lnSpc>
                <a:spcPct val="105000"/>
              </a:lnSpc>
              <a:spcBef>
                <a:spcPts val="0"/>
              </a:spcBef>
              <a:spcAft>
                <a:spcPts val="1100"/>
              </a:spcAft>
            </a:pPr>
            <a:r>
              <a:rPr sz="1700" b="0" i="0">
                <a:solidFill>
                  <a:srgbClr val="1A1A1A"/>
                </a:solidFill>
                <a:latin typeface="Arial"/>
              </a:rPr>
              <a:t>Open interest peaks lower at B than at A </a:t>
            </a:r>
            <a:r>
              <a:rPr sz="1700" b="1" i="0">
                <a:solidFill>
                  <a:srgbClr val="C62828"/>
                </a:solidFill>
                <a:latin typeface="Arial"/>
              </a:rPr>
              <a:t>(2)</a:t>
            </a:r>
            <a:r>
              <a:rPr sz="1700" b="0" i="0">
                <a:solidFill>
                  <a:srgbClr val="1A1A1A"/>
                </a:solidFill>
                <a:latin typeface="Arial"/>
              </a:rPr>
              <a:t>: price rises as open interest falls, bearish divergence.</a:t>
            </a:r>
          </a:p>
          <a:p>
            <a:pPr algn="l">
              <a:lnSpc>
                <a:spcPct val="105000"/>
              </a:lnSpc>
              <a:spcBef>
                <a:spcPts val="0"/>
              </a:spcBef>
              <a:spcAft>
                <a:spcPts val="1100"/>
              </a:spcAft>
            </a:pPr>
            <a:r>
              <a:rPr sz="1700" b="0" i="0">
                <a:solidFill>
                  <a:srgbClr val="1A1A1A"/>
                </a:solidFill>
                <a:latin typeface="Arial"/>
              </a:rPr>
              <a:t>They disagree. The book reads the open interest: longs liquidating, early. Silver then fell from about $49 to under $30.</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When the two disagree, the book reads open interest.</a:t>
            </a:r>
          </a:p>
        </p:txBody>
      </p:sp>
      <p:sp>
        <p:nvSpPr>
          <p:cNvPr id="10" name="Rectangle 9"/>
          <p:cNvSpPr/>
          <p:nvPr/>
        </p:nvSpPr>
        <p:spPr>
          <a:xfrm>
            <a:off x="6722440" y="1810512"/>
            <a:ext cx="4187494"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841312" y="1929384"/>
            <a:ext cx="3949750"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41312" y="1929384"/>
            <a:ext cx="394975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15632" y="2203703"/>
            <a:ext cx="3401110"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6.24</a:t>
            </a:r>
          </a:p>
          <a:p>
            <a:pPr algn="l">
              <a:lnSpc>
                <a:spcPct val="115000"/>
              </a:lnSpc>
              <a:spcBef>
                <a:spcPts val="0"/>
              </a:spcBef>
              <a:spcAft>
                <a:spcPts val="0"/>
              </a:spcAft>
            </a:pPr>
            <a:r>
              <a:rPr sz="1500" b="0" i="0">
                <a:solidFill>
                  <a:srgbClr val="1A1A1A"/>
                </a:solidFill>
                <a:latin typeface="Palatino"/>
              </a:rPr>
              <a:t>The open interest and volume panels of the continuous daily chart of silver, from 2005 to 2012. At B, early 2011, volume makes a higher peak than at A, marked 1, labelled bullish confirmation; open interest makes a lower peak, marked 2, labelled bearish divergence.</a:t>
            </a:r>
          </a:p>
        </p:txBody>
      </p:sp>
      <p:sp>
        <p:nvSpPr>
          <p:cNvPr id="14" name="Oval 13"/>
          <p:cNvSpPr/>
          <p:nvPr/>
        </p:nvSpPr>
        <p:spPr>
          <a:xfrm>
            <a:off x="9116368" y="3646407"/>
            <a:ext cx="718854" cy="649589"/>
          </a:xfrm>
          <a:prstGeom prst="ellipse">
            <a:avLst/>
          </a:prstGeom>
          <a:noFill/>
          <a:ln w="44450">
            <a:solidFill>
              <a:srgbClr val="E09B00"/>
            </a:solidFill>
          </a:ln>
        </p:spPr>
        <p:txBody>
          <a:bodyPr rtlCol="0" anchor="ctr"/>
          <a:lstStyle/>
          <a:p>
            <a:pPr algn="ctr"/>
          </a:p>
        </p:txBody>
      </p:sp>
      <p:sp>
        <p:nvSpPr>
          <p:cNvPr id="15" name="Oval 14"/>
          <p:cNvSpPr/>
          <p:nvPr/>
        </p:nvSpPr>
        <p:spPr>
          <a:xfrm>
            <a:off x="9116368" y="2768583"/>
            <a:ext cx="718854" cy="572341"/>
          </a:xfrm>
          <a:prstGeom prst="ellipse">
            <a:avLst/>
          </a:prstGeom>
          <a:noFill/>
          <a:ln w="44450">
            <a:solidFill>
              <a:srgbClr val="C62828"/>
            </a:solidFill>
          </a:ln>
        </p:spPr>
        <p:txBody>
          <a:bodyPr rtlCol="0" anchor="ctr"/>
          <a:lstStyle/>
          <a:p>
            <a:pPr algn="ctr"/>
          </a:p>
        </p:txBody>
      </p:sp>
      <p:sp>
        <p:nvSpPr>
          <p:cNvPr id="16" name="Oval 15"/>
          <p:cNvSpPr/>
          <p:nvPr/>
        </p:nvSpPr>
        <p:spPr>
          <a:xfrm>
            <a:off x="8960920" y="349095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8960920" y="261313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6.24 -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and Figure 6.24; the prices are read off the figure by eye. Confirmation and divergence: Part 1.</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Very high open interest: a faster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13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level of open interest may indicate the nature of a reversal or breakout: here, its speed.</a:t>
            </a:r>
          </a:p>
          <a:p>
            <a:pPr algn="l">
              <a:lnSpc>
                <a:spcPct val="105000"/>
              </a:lnSpc>
              <a:spcBef>
                <a:spcPts val="0"/>
              </a:spcBef>
              <a:spcAft>
                <a:spcPts val="1100"/>
              </a:spcAft>
            </a:pPr>
            <a:r>
              <a:rPr sz="1700" b="0" i="0">
                <a:solidFill>
                  <a:srgbClr val="1A1A1A"/>
                </a:solidFill>
                <a:latin typeface="Arial"/>
              </a:rPr>
              <a:t>If open interest is very high, the reversal may be significantly more rapid.</a:t>
            </a:r>
          </a:p>
          <a:p>
            <a:pPr algn="l">
              <a:lnSpc>
                <a:spcPct val="105000"/>
              </a:lnSpc>
              <a:spcBef>
                <a:spcPts val="0"/>
              </a:spcBef>
              <a:spcAft>
                <a:spcPts val="1100"/>
              </a:spcAft>
            </a:pPr>
            <a:r>
              <a:rPr sz="1700" b="0" i="0">
                <a:solidFill>
                  <a:srgbClr val="1A1A1A"/>
                </a:solidFill>
                <a:latin typeface="Arial"/>
              </a:rPr>
              <a:t>Ours: about 85,000 open contracts against 20,000. After the same top, the first falls steeply.</a:t>
            </a:r>
          </a:p>
        </p:txBody>
      </p:sp>
      <p:sp>
        <p:nvSpPr>
          <p:cNvPr id="8" name="Rectangle 7"/>
          <p:cNvSpPr/>
          <p:nvPr/>
        </p:nvSpPr>
        <p:spPr>
          <a:xfrm>
            <a:off x="777240" y="429310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29684"/>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reason: many open contracts liquidating and covering at once.</a:t>
            </a:r>
          </a:p>
        </p:txBody>
      </p:sp>
      <p:sp>
        <p:nvSpPr>
          <p:cNvPr id="10" name="TextBox 9"/>
          <p:cNvSpPr txBox="1"/>
          <p:nvPr/>
        </p:nvSpPr>
        <p:spPr>
          <a:xfrm>
            <a:off x="777240" y="5189220"/>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Liquidating: longs selling to close. Covering: shorts buying back. The book sets no number for very high.</a:t>
            </a:r>
          </a:p>
        </p:txBody>
      </p:sp>
      <p:sp>
        <p:nvSpPr>
          <p:cNvPr id="11" name="Rectangle 10"/>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c.png"/>
          <p:cNvPicPr>
            <a:picLocks noChangeAspect="1"/>
          </p:cNvPicPr>
          <p:nvPr/>
        </p:nvPicPr>
        <p:blipFill>
          <a:blip r:embed="rId2"/>
          <a:stretch>
            <a:fillRect/>
          </a:stretch>
        </p:blipFill>
        <p:spPr>
          <a:xfrm>
            <a:off x="6703923" y="1929384"/>
            <a:ext cx="4590288" cy="3511296"/>
          </a:xfrm>
          <a:prstGeom prst="rect">
            <a:avLst/>
          </a:prstGeom>
        </p:spPr>
      </p:pic>
      <p:sp>
        <p:nvSpPr>
          <p:cNvPr id="13" name="TextBox 12"/>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AC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p.192: one sentence and its reason. The chart is ours: two invented reversals, the open interest in each made up to show the point.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Tick 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14 of 29</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count of trades, not shares: one tick is one trade, of any size. Met in Chapters 1 and 3.</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Part 1's five trades of 0.1, 0.6, 0.3, 1.2 and 0.2 million shares: volume 2.4 million shares, tick volume 5.</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One tick represents one trade: tick volume is transaction volume. Many OTC fx brokers offer it instead of actual volume; strongly correlated with it, it may be used as a proxy.</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d.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AD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pp.192-193. OTC fx is the book's over the counter foreign exchange market. The five trades are Part 1's, ours. Chapter 3 counted trades the same way.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Tick volume as a stand-in for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15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Where: the over the counter (OTC) foreign exchange (fx) market, where many brokers offer tick volume instead of actual volume. The book does not say why.</a:t>
            </a:r>
          </a:p>
          <a:p>
            <a:pPr algn="l">
              <a:lnSpc>
                <a:spcPct val="118000"/>
              </a:lnSpc>
              <a:spcBef>
                <a:spcPts val="0"/>
              </a:spcBef>
              <a:spcAft>
                <a:spcPts val="1300"/>
              </a:spcAft>
            </a:pPr>
            <a:r>
              <a:rPr sz="2100" b="0" i="0">
                <a:solidFill>
                  <a:srgbClr val="1A1A1A"/>
                </a:solidFill>
                <a:latin typeface="Arial"/>
              </a:rPr>
              <a:t>Strongly correlated: the two rise and fall together. Ours: a busy hour, 900 trades and 60 million in currency; a quiet hour, 200 trades and 14 million.</a:t>
            </a:r>
          </a:p>
          <a:p>
            <a:pPr algn="l">
              <a:lnSpc>
                <a:spcPct val="118000"/>
              </a:lnSpc>
              <a:spcBef>
                <a:spcPts val="0"/>
              </a:spcBef>
              <a:spcAft>
                <a:spcPts val="1300"/>
              </a:spcAft>
            </a:pPr>
            <a:r>
              <a:rPr sz="2100" b="0" i="0">
                <a:solidFill>
                  <a:srgbClr val="1A1A1A"/>
                </a:solidFill>
                <a:latin typeface="Arial"/>
              </a:rPr>
              <a:t>So tick volume may be a proxy, a stand-in, for actual volume, for comparing relative levels of overbought and oversold: Part 2's words, never defined.</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Compare tick volume with its own past: 900 trades does not say how much changed hands.</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pp.192-193. The trade counts and amounts in the example are ours, invented.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Arms Index, or TRIN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16 of 29</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Breadth: advances, stocks that rose, over declines, stocks that fell. Divided by up volume over down volume, the shares each side traded. Our readings.</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1,500 advances / 1,000 declines = 1.5. Up volume 600 million / down volume 800 million = 0.75. TRIN = 1.5 / 0.75 = 2.0.</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Arms Index, or TRIN, incorporates breadth volume, advances and declines: TRIN = (advances / declines) / (up volume / down volume).</a:t>
            </a:r>
          </a:p>
        </p:txBody>
      </p:sp>
      <p:sp>
        <p:nvSpPr>
          <p:cNvPr id="14" name="Rectangle 13"/>
          <p:cNvSpPr/>
          <p:nvPr/>
        </p:nvSpPr>
        <p:spPr>
          <a:xfrm>
            <a:off x="7499451" y="2157984"/>
            <a:ext cx="391363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e.png"/>
          <p:cNvPicPr>
            <a:picLocks noChangeAspect="1"/>
          </p:cNvPicPr>
          <p:nvPr/>
        </p:nvPicPr>
        <p:blipFill>
          <a:blip r:embed="rId2"/>
          <a:stretch>
            <a:fillRect/>
          </a:stretch>
        </p:blipFill>
        <p:spPr>
          <a:xfrm>
            <a:off x="7618323" y="2276856"/>
            <a:ext cx="3675888" cy="3163824"/>
          </a:xfrm>
          <a:prstGeom prst="rect">
            <a:avLst/>
          </a:prstGeom>
        </p:spPr>
      </p:pic>
      <p:sp>
        <p:nvSpPr>
          <p:cNvPr id="16" name="TextBox 15"/>
          <p:cNvSpPr txBox="1"/>
          <p:nvPr/>
        </p:nvSpPr>
        <p:spPr>
          <a:xfrm>
            <a:off x="7498079" y="5650991"/>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AE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gives the ratio. The counts and volumes in the example are ours. Advances and declines: Chapter 3's breadth data, never defined.</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TRIN, step by step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17 of 29</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Advances / declines = 1,500 / 1,000 = 1.5 rising stocks for each falling one.</a:t>
            </a:r>
          </a:p>
          <a:p>
            <a:pPr algn="l">
              <a:lnSpc>
                <a:spcPct val="105000"/>
              </a:lnSpc>
              <a:spcBef>
                <a:spcPts val="0"/>
              </a:spcBef>
              <a:spcAft>
                <a:spcPts val="1100"/>
              </a:spcAft>
            </a:pPr>
            <a:r>
              <a:rPr sz="1700" b="0" i="0">
                <a:solidFill>
                  <a:srgbClr val="1A1A1A"/>
                </a:solidFill>
                <a:latin typeface="Arial"/>
              </a:rPr>
              <a:t>2  Up volume / down volume = 600m / 800m = 0.75: the falling stocks traded more shares.</a:t>
            </a:r>
          </a:p>
          <a:p>
            <a:pPr algn="l">
              <a:lnSpc>
                <a:spcPct val="105000"/>
              </a:lnSpc>
              <a:spcBef>
                <a:spcPts val="0"/>
              </a:spcBef>
              <a:spcAft>
                <a:spcPts val="1100"/>
              </a:spcAft>
            </a:pPr>
            <a:r>
              <a:rPr sz="1700" b="0" i="0">
                <a:solidFill>
                  <a:srgbClr val="1A1A1A"/>
                </a:solidFill>
                <a:latin typeface="Arial"/>
              </a:rPr>
              <a:t>3  TRIN = 1.5 / 0.75 = 2.0. Rearranged: down volume per falling stock, 800m / 1,000 = 0.8m, over up volume per rising stock, 600m / 1,500 = 0.4m.</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 TRIN of 2.0: each falling stock traded, on average, twice the volume of each rising stock.</a:t>
            </a:r>
          </a:p>
        </p:txBody>
      </p:sp>
      <p:sp>
        <p:nvSpPr>
          <p:cNvPr id="10" name="TextBox 9"/>
          <p:cNvSpPr txBox="1"/>
          <p:nvPr/>
        </p:nvSpPr>
        <p:spPr>
          <a:xfrm>
            <a:off x="777240" y="5461254"/>
            <a:ext cx="60350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Step 3 and the gold line are our arithmetic; the book never reads one value such as 2.0.</a:t>
            </a:r>
          </a:p>
        </p:txBody>
      </p:sp>
      <p:sp>
        <p:nvSpPr>
          <p:cNvPr id="11" name="Rectangle 10"/>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he.png"/>
          <p:cNvPicPr>
            <a:picLocks noChangeAspect="1"/>
          </p:cNvPicPr>
          <p:nvPr/>
        </p:nvPicPr>
        <p:blipFill>
          <a:blip r:embed="rId2"/>
          <a:stretch>
            <a:fillRect/>
          </a:stretch>
        </p:blipFill>
        <p:spPr>
          <a:xfrm>
            <a:off x="7252563" y="1929384"/>
            <a:ext cx="4041648" cy="3511296"/>
          </a:xfrm>
          <a:prstGeom prst="rect">
            <a:avLst/>
          </a:prstGeom>
        </p:spPr>
      </p:pic>
      <p:sp>
        <p:nvSpPr>
          <p:cNvPr id="13" name="TextBox 12"/>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HE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gives the ratio. It names breadth volume, advances, declines, up and down volume and never defines them; our readings. The numbers are ours.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the tick and the TRIN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18 of 29</a:t>
            </a:r>
          </a:p>
        </p:txBody>
      </p:sp>
      <p:sp>
        <p:nvSpPr>
          <p:cNvPr id="7" name="TextBox 6"/>
          <p:cNvSpPr txBox="1"/>
          <p:nvPr/>
        </p:nvSpPr>
        <p:spPr>
          <a:xfrm>
            <a:off x="777240" y="1965960"/>
            <a:ext cx="67665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tick: the book never says what it measures. On Figure 6.25 it goes below zero </a:t>
            </a:r>
            <a:r>
              <a:rPr sz="1700" b="1" i="0">
                <a:solidFill>
                  <a:srgbClr val="E09B00"/>
                </a:solidFill>
                <a:latin typeface="Arial"/>
              </a:rPr>
              <a:t>(1)</a:t>
            </a:r>
            <a:r>
              <a:rPr sz="1700" b="0" i="0">
                <a:solidFill>
                  <a:srgbClr val="1A1A1A"/>
                </a:solidFill>
                <a:latin typeface="Arial"/>
              </a:rPr>
              <a:t>, so it is not tick volume, a count of trades.</a:t>
            </a:r>
          </a:p>
          <a:p>
            <a:pPr algn="l">
              <a:lnSpc>
                <a:spcPct val="105000"/>
              </a:lnSpc>
              <a:spcBef>
                <a:spcPts val="0"/>
              </a:spcBef>
              <a:spcAft>
                <a:spcPts val="1100"/>
              </a:spcAft>
            </a:pPr>
            <a:r>
              <a:rPr sz="1700" b="0" i="0">
                <a:solidFill>
                  <a:srgbClr val="1A1A1A"/>
                </a:solidFill>
                <a:latin typeface="Arial"/>
              </a:rPr>
              <a:t>Short term, the book's rule: tick rising but not overbought, TRIN falling but not oversold: bullish, look for a long entry.</a:t>
            </a:r>
          </a:p>
          <a:p>
            <a:pPr algn="l">
              <a:lnSpc>
                <a:spcPct val="105000"/>
              </a:lnSpc>
              <a:spcBef>
                <a:spcPts val="0"/>
              </a:spcBef>
              <a:spcAft>
                <a:spcPts val="1100"/>
              </a:spcAft>
            </a:pPr>
            <a:r>
              <a:rPr sz="1700" b="0" i="0">
                <a:solidFill>
                  <a:srgbClr val="1A1A1A"/>
                </a:solidFill>
                <a:latin typeface="Arial"/>
              </a:rPr>
              <a:t>Figure 6.25 shows something else: tick down to about -1,000 </a:t>
            </a:r>
            <a:r>
              <a:rPr sz="1700" b="1" i="0">
                <a:solidFill>
                  <a:srgbClr val="E09B00"/>
                </a:solidFill>
                <a:latin typeface="Arial"/>
              </a:rPr>
              <a:t>(1)</a:t>
            </a:r>
            <a:r>
              <a:rPr sz="1700" b="0" i="0">
                <a:solidFill>
                  <a:srgbClr val="1A1A1A"/>
                </a:solidFill>
                <a:latin typeface="Arial"/>
              </a:rPr>
              <a:t>, TRIN up to about 2.2 </a:t>
            </a:r>
            <a:r>
              <a:rPr sz="1700" b="1" i="0">
                <a:solidFill>
                  <a:srgbClr val="C62828"/>
                </a:solidFill>
                <a:latin typeface="Arial"/>
              </a:rPr>
              <a:t>(2)</a:t>
            </a:r>
            <a:r>
              <a:rPr sz="1700" b="0" i="0">
                <a:solidFill>
                  <a:srgbClr val="1A1A1A"/>
                </a:solidFill>
                <a:latin typeface="Arial"/>
              </a:rPr>
              <a:t>, both at levels it labels oversold. The index then rose </a:t>
            </a:r>
            <a:r>
              <a:rPr sz="1700" b="1" i="0">
                <a:solidFill>
                  <a:srgbClr val="1F5FAD"/>
                </a:solidFill>
                <a:latin typeface="Arial"/>
              </a:rPr>
              <a:t>(3)</a:t>
            </a:r>
            <a:r>
              <a:rPr sz="1700" b="0" i="0">
                <a:solidFill>
                  <a:srgbClr val="1A1A1A"/>
                </a:solidFill>
                <a:latin typeface="Arial"/>
              </a:rPr>
              <a:t>.</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64739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Both at the labelled oversold extremes: the book reads short-term bullish, look for a long entry.</a:t>
            </a:r>
          </a:p>
        </p:txBody>
      </p:sp>
      <p:sp>
        <p:nvSpPr>
          <p:cNvPr id="10" name="TextBox 9"/>
          <p:cNvSpPr txBox="1"/>
          <p:nvPr/>
        </p:nvSpPr>
        <p:spPr>
          <a:xfrm>
            <a:off x="777240" y="5733288"/>
            <a:ext cx="676656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does not say why its figure departs from its short-term rule.</a:t>
            </a:r>
          </a:p>
        </p:txBody>
      </p:sp>
      <p:sp>
        <p:nvSpPr>
          <p:cNvPr id="11" name="Rectangle 10"/>
          <p:cNvSpPr/>
          <p:nvPr/>
        </p:nvSpPr>
        <p:spPr>
          <a:xfrm>
            <a:off x="7863840" y="1810512"/>
            <a:ext cx="3550614" cy="3662254"/>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982712" y="1929384"/>
            <a:ext cx="3312870" cy="3424510"/>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7982712" y="1929384"/>
            <a:ext cx="3312870"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8257032" y="2203703"/>
            <a:ext cx="2764230" cy="296731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6.25</a:t>
            </a:r>
          </a:p>
          <a:p>
            <a:pPr algn="l">
              <a:lnSpc>
                <a:spcPct val="115000"/>
              </a:lnSpc>
              <a:spcBef>
                <a:spcPts val="0"/>
              </a:spcBef>
              <a:spcAft>
                <a:spcPts val="0"/>
              </a:spcAft>
            </a:pPr>
            <a:r>
              <a:rPr sz="1500" b="0" i="0">
                <a:solidFill>
                  <a:srgbClr val="1A1A1A"/>
                </a:solidFill>
                <a:latin typeface="Palatino"/>
              </a:rPr>
              <a:t>A 1-minute chart of the S&amp;P 500 index falling and then rising, with a $TICK panel and a $TRIN panel under it. A box around the low marks both labelled oversold, with the note that short-term bullishness was predicated on the confluence of oversold signals.</a:t>
            </a:r>
          </a:p>
        </p:txBody>
      </p:sp>
      <p:sp>
        <p:nvSpPr>
          <p:cNvPr id="15" name="Rectangle 14"/>
          <p:cNvSpPr/>
          <p:nvPr/>
        </p:nvSpPr>
        <p:spPr>
          <a:xfrm>
            <a:off x="8721482" y="4155315"/>
            <a:ext cx="563188" cy="534223"/>
          </a:xfrm>
          <a:prstGeom prst="rect">
            <a:avLst/>
          </a:prstGeom>
          <a:noFill/>
          <a:ln w="44450">
            <a:solidFill>
              <a:srgbClr val="E09B00"/>
            </a:solidFill>
          </a:ln>
        </p:spPr>
        <p:txBody>
          <a:bodyPr rtlCol="0" anchor="ctr"/>
          <a:lstStyle/>
          <a:p>
            <a:pPr algn="ctr"/>
          </a:p>
        </p:txBody>
      </p:sp>
      <p:sp>
        <p:nvSpPr>
          <p:cNvPr id="16" name="Rectangle 15"/>
          <p:cNvSpPr/>
          <p:nvPr/>
        </p:nvSpPr>
        <p:spPr>
          <a:xfrm>
            <a:off x="8721482" y="4713510"/>
            <a:ext cx="563188" cy="277385"/>
          </a:xfrm>
          <a:prstGeom prst="rect">
            <a:avLst/>
          </a:prstGeom>
          <a:noFill/>
          <a:ln w="44450">
            <a:solidFill>
              <a:srgbClr val="C62828"/>
            </a:solidFill>
          </a:ln>
        </p:spPr>
        <p:txBody>
          <a:bodyPr rtlCol="0" anchor="ctr"/>
          <a:lstStyle/>
          <a:p>
            <a:pPr algn="ctr"/>
          </a:p>
        </p:txBody>
      </p:sp>
      <p:cxnSp>
        <p:nvCxnSpPr>
          <p:cNvPr id="17" name="Connector 16"/>
          <p:cNvCxnSpPr/>
          <p:nvPr/>
        </p:nvCxnSpPr>
        <p:spPr>
          <a:xfrm flipV="1">
            <a:off x="9165406" y="3299188"/>
            <a:ext cx="1066745" cy="513676"/>
          </a:xfrm>
          <a:prstGeom prst="line">
            <a:avLst/>
          </a:prstGeom>
          <a:ln w="44450">
            <a:solidFill>
              <a:srgbClr val="1F5FAD"/>
            </a:solidFill>
            <a:tailEnd type="triangle" w="med" len="med"/>
          </a:ln>
        </p:spPr>
      </p:cxnSp>
      <p:sp>
        <p:nvSpPr>
          <p:cNvPr id="18" name="Oval 17"/>
          <p:cNvSpPr/>
          <p:nvPr/>
        </p:nvSpPr>
        <p:spPr>
          <a:xfrm>
            <a:off x="8566034" y="399986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489838" y="451354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9009958" y="3657416"/>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7863840" y="5564206"/>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6.25 -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and Figure 6.25; the levels are read off the figure by eye. The caption says daily; the chart and the text say 1-minute.</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longer-term rule, and the book's gaps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19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Short term, the converse: tick falling but not oversold, TRIN rising but not overbought: bearish, look for a short entry.</a:t>
            </a:r>
          </a:p>
          <a:p>
            <a:pPr algn="l">
              <a:lnSpc>
                <a:spcPct val="118000"/>
              </a:lnSpc>
              <a:spcBef>
                <a:spcPts val="0"/>
              </a:spcBef>
              <a:spcAft>
                <a:spcPts val="1300"/>
              </a:spcAft>
            </a:pPr>
            <a:r>
              <a:rPr sz="2100" b="0" i="0">
                <a:solidFill>
                  <a:srgbClr val="1A1A1A"/>
                </a:solidFill>
                <a:latin typeface="Arial"/>
              </a:rPr>
              <a:t>Longer term: tick oversold, above its weekly two-sigma level, and TRIN overbought, near or above 3.0 daily: bullish, long. Reverse: bearish, short.</a:t>
            </a:r>
          </a:p>
          <a:p>
            <a:pPr algn="l">
              <a:lnSpc>
                <a:spcPct val="118000"/>
              </a:lnSpc>
              <a:spcBef>
                <a:spcPts val="0"/>
              </a:spcBef>
              <a:spcAft>
                <a:spcPts val="1300"/>
              </a:spcAft>
            </a:pPr>
            <a:r>
              <a:rPr sz="2100" b="0" i="0">
                <a:solidFill>
                  <a:srgbClr val="1A1A1A"/>
                </a:solidFill>
                <a:latin typeface="Arial"/>
              </a:rPr>
              <a:t>Two sigma: Part 3's line, k = 2. Ours: weekly tick mean 200, sigma 300: 200 + 2 x 300 = 800; above it, oversold. Daily TRIN 3.2: overbought.</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gives no reason for either rule.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The weekly tick numbers are ours, in invented units; the book never says what the tick measures.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6.25 against the text's rules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20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text calls a bullish TRIN overbought. Figure 6.25 labels its TRIN oversold </a:t>
            </a:r>
            <a:r>
              <a:rPr sz="2000" b="1" i="0">
                <a:solidFill>
                  <a:srgbClr val="C62828"/>
                </a:solidFill>
                <a:latin typeface="Arial"/>
              </a:rPr>
              <a:t>(2)</a:t>
            </a:r>
            <a:r>
              <a:rPr sz="2000" b="0" i="0">
                <a:solidFill>
                  <a:srgbClr val="1A1A1A"/>
                </a:solidFill>
                <a:latin typeface="Arial"/>
              </a:rPr>
              <a:t>, at the low, before the index rose.</a:t>
            </a:r>
          </a:p>
          <a:p>
            <a:pPr algn="l">
              <a:lnSpc>
                <a:spcPct val="105000"/>
              </a:lnSpc>
              <a:spcBef>
                <a:spcPts val="0"/>
              </a:spcBef>
              <a:spcAft>
                <a:spcPts val="1100"/>
              </a:spcAft>
            </a:pPr>
            <a:r>
              <a:rPr sz="2000" b="0" i="0">
                <a:solidFill>
                  <a:srgbClr val="1A1A1A"/>
                </a:solidFill>
                <a:latin typeface="Arial"/>
              </a:rPr>
              <a:t>The text's longer-term oversold tick is above a two-sigma level. The figure's oversold tick </a:t>
            </a:r>
            <a:r>
              <a:rPr sz="2000" b="1" i="0">
                <a:solidFill>
                  <a:srgbClr val="E09B00"/>
                </a:solidFill>
                <a:latin typeface="Arial"/>
              </a:rPr>
              <a:t>(1)</a:t>
            </a:r>
            <a:r>
              <a:rPr sz="2000" b="0" i="0">
                <a:solidFill>
                  <a:srgbClr val="1A1A1A"/>
                </a:solidFill>
                <a:latin typeface="Arial"/>
              </a:rPr>
              <a:t> sits at its low.</a:t>
            </a:r>
          </a:p>
        </p:txBody>
      </p:sp>
      <p:sp>
        <p:nvSpPr>
          <p:cNvPr id="8" name="Rectangle 7"/>
          <p:cNvSpPr/>
          <p:nvPr/>
        </p:nvSpPr>
        <p:spPr>
          <a:xfrm>
            <a:off x="777240" y="441655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53128"/>
            <a:ext cx="51937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book does not say why its figure and its text differ.</a:t>
            </a:r>
          </a:p>
        </p:txBody>
      </p:sp>
      <p:sp>
        <p:nvSpPr>
          <p:cNvPr id="10" name="Rectangle 9"/>
          <p:cNvSpPr/>
          <p:nvPr/>
        </p:nvSpPr>
        <p:spPr>
          <a:xfrm>
            <a:off x="7181781" y="1810512"/>
            <a:ext cx="3634571"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300653" y="1929384"/>
            <a:ext cx="3396827"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300653" y="1929384"/>
            <a:ext cx="3396827"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574973" y="2203703"/>
            <a:ext cx="284818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6.25</a:t>
            </a:r>
          </a:p>
          <a:p>
            <a:pPr algn="l">
              <a:lnSpc>
                <a:spcPct val="115000"/>
              </a:lnSpc>
              <a:spcBef>
                <a:spcPts val="0"/>
              </a:spcBef>
              <a:spcAft>
                <a:spcPts val="0"/>
              </a:spcAft>
            </a:pPr>
            <a:r>
              <a:rPr sz="1500" b="0" i="0">
                <a:solidFill>
                  <a:srgbClr val="1A1A1A"/>
                </a:solidFill>
                <a:latin typeface="Palatino"/>
              </a:rPr>
              <a:t>The 1-minute S&amp;P 500 chart of the last slides. In the box at the low, the TRIN reaches about 2.2 at the line the figure labels TRIN oversold, and the tick drops to about -1,000 at the line it labels TICK oversold: both at the bottom of their swing, not above a two-sigma level.</a:t>
            </a:r>
          </a:p>
        </p:txBody>
      </p:sp>
      <p:sp>
        <p:nvSpPr>
          <p:cNvPr id="14" name="Rectangle 13"/>
          <p:cNvSpPr/>
          <p:nvPr/>
        </p:nvSpPr>
        <p:spPr>
          <a:xfrm>
            <a:off x="8058146" y="4211726"/>
            <a:ext cx="577460" cy="547762"/>
          </a:xfrm>
          <a:prstGeom prst="rect">
            <a:avLst/>
          </a:prstGeom>
          <a:noFill/>
          <a:ln w="44450">
            <a:solidFill>
              <a:srgbClr val="E09B00"/>
            </a:solidFill>
          </a:ln>
        </p:spPr>
        <p:txBody>
          <a:bodyPr rtlCol="0" anchor="ctr"/>
          <a:lstStyle/>
          <a:p>
            <a:pPr algn="ctr"/>
          </a:p>
        </p:txBody>
      </p:sp>
      <p:sp>
        <p:nvSpPr>
          <p:cNvPr id="15" name="Rectangle 14"/>
          <p:cNvSpPr/>
          <p:nvPr/>
        </p:nvSpPr>
        <p:spPr>
          <a:xfrm>
            <a:off x="8058146" y="4784067"/>
            <a:ext cx="577460" cy="284414"/>
          </a:xfrm>
          <a:prstGeom prst="rect">
            <a:avLst/>
          </a:prstGeom>
          <a:noFill/>
          <a:ln w="44450">
            <a:solidFill>
              <a:srgbClr val="C62828"/>
            </a:solidFill>
          </a:ln>
        </p:spPr>
        <p:txBody>
          <a:bodyPr rtlCol="0" anchor="ctr"/>
          <a:lstStyle/>
          <a:p>
            <a:pPr algn="ctr"/>
          </a:p>
        </p:txBody>
      </p:sp>
      <p:sp>
        <p:nvSpPr>
          <p:cNvPr id="16" name="Oval 15"/>
          <p:cNvSpPr/>
          <p:nvPr/>
        </p:nvSpPr>
        <p:spPr>
          <a:xfrm>
            <a:off x="7902698" y="405627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7824571" y="458297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6.25 -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p.193 and Figure 6.25; the levels are read off the figure by eye.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bearish day on the tick and the TRIN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21 of 29</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Figure 6.26: the S&amp;P 500 falls all afternoon. The boxed TRIN rises from about 0.9 to 1.34 </a:t>
            </a:r>
            <a:r>
              <a:rPr sz="1800" b="1" i="0">
                <a:solidFill>
                  <a:srgbClr val="E09B00"/>
                </a:solidFill>
                <a:latin typeface="Arial"/>
              </a:rPr>
              <a:t>(1)</a:t>
            </a:r>
            <a:r>
              <a:rPr sz="1800" b="0" i="0">
                <a:solidFill>
                  <a:srgbClr val="1A1A1A"/>
                </a:solidFill>
                <a:latin typeface="Arial"/>
              </a:rPr>
              <a:t>: bearish, by the short-term rule.</a:t>
            </a:r>
          </a:p>
          <a:p>
            <a:pPr algn="l">
              <a:lnSpc>
                <a:spcPct val="105000"/>
              </a:lnSpc>
              <a:spcBef>
                <a:spcPts val="0"/>
              </a:spcBef>
              <a:spcAft>
                <a:spcPts val="1100"/>
              </a:spcAft>
            </a:pPr>
            <a:r>
              <a:rPr sz="1800" b="0" i="0">
                <a:solidFill>
                  <a:srgbClr val="1A1A1A"/>
                </a:solidFill>
                <a:latin typeface="Arial"/>
              </a:rPr>
              <a:t>1:45 to 2:45 p.m.: the text says largely absent of activity; the figure says absent of uptick action. In its shaded box </a:t>
            </a:r>
            <a:r>
              <a:rPr sz="1800" b="1" i="0">
                <a:solidFill>
                  <a:srgbClr val="C62828"/>
                </a:solidFill>
                <a:latin typeface="Arial"/>
              </a:rPr>
              <a:t>(2)</a:t>
            </a:r>
            <a:r>
              <a:rPr sz="1800" b="0" i="0">
                <a:solidFill>
                  <a:srgbClr val="1A1A1A"/>
                </a:solidFill>
                <a:latin typeface="Arial"/>
              </a:rPr>
              <a:t> the tick barely rises above zero and twice drops to about -1,000, circled as extreme bearish ticks </a:t>
            </a:r>
            <a:r>
              <a:rPr sz="1800" b="1" i="0">
                <a:solidFill>
                  <a:srgbClr val="1F5FAD"/>
                </a:solidFill>
                <a:latin typeface="Arial"/>
              </a:rPr>
              <a:t>(3)</a:t>
            </a:r>
            <a:r>
              <a:rPr sz="1800" b="0" i="0">
                <a:solidFill>
                  <a:srgbClr val="1A1A1A"/>
                </a:solidFill>
                <a:latin typeface="Arial"/>
              </a:rPr>
              <a:t>.</a:t>
            </a:r>
          </a:p>
        </p:txBody>
      </p:sp>
      <p:sp>
        <p:nvSpPr>
          <p:cNvPr id="8" name="Rectangle 7"/>
          <p:cNvSpPr/>
          <p:nvPr/>
        </p:nvSpPr>
        <p:spPr>
          <a:xfrm>
            <a:off x="777240" y="480060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37176"/>
            <a:ext cx="57424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Together, a short-term bearish signal: look for a short entry.</a:t>
            </a:r>
          </a:p>
        </p:txBody>
      </p:sp>
      <p:sp>
        <p:nvSpPr>
          <p:cNvPr id="10" name="TextBox 9"/>
          <p:cNvSpPr txBox="1"/>
          <p:nvPr/>
        </p:nvSpPr>
        <p:spPr>
          <a:xfrm>
            <a:off x="777240" y="5727192"/>
            <a:ext cx="60350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book gives no reason this is bearish, and does not define uptick.</a:t>
            </a:r>
          </a:p>
        </p:txBody>
      </p:sp>
      <p:sp>
        <p:nvSpPr>
          <p:cNvPr id="11" name="Rectangle 10"/>
          <p:cNvSpPr/>
          <p:nvPr/>
        </p:nvSpPr>
        <p:spPr>
          <a:xfrm>
            <a:off x="7590872" y="1810512"/>
            <a:ext cx="3365029" cy="37490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709744" y="1929384"/>
            <a:ext cx="3127285" cy="3511296"/>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7709744" y="1929384"/>
            <a:ext cx="3127285"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7984064" y="2203703"/>
            <a:ext cx="2578645"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6.26</a:t>
            </a:r>
          </a:p>
          <a:p>
            <a:pPr algn="l">
              <a:lnSpc>
                <a:spcPct val="115000"/>
              </a:lnSpc>
              <a:spcBef>
                <a:spcPts val="0"/>
              </a:spcBef>
              <a:spcAft>
                <a:spcPts val="0"/>
              </a:spcAft>
            </a:pPr>
            <a:r>
              <a:rPr sz="1500" b="0" i="0">
                <a:solidFill>
                  <a:srgbClr val="1A1A1A"/>
                </a:solidFill>
                <a:latin typeface="Palatino"/>
              </a:rPr>
              <a:t>A 1-minute chart of the S&amp;P 500 index on an intraday decline, with a $TICK panel showing stretches marked bearish and balanced tick action, and a $TRIN panel whose last stretch is boxed and labelled rising TRIN, bearish.</a:t>
            </a:r>
          </a:p>
        </p:txBody>
      </p:sp>
      <p:cxnSp>
        <p:nvCxnSpPr>
          <p:cNvPr id="15" name="Connector 14"/>
          <p:cNvCxnSpPr/>
          <p:nvPr/>
        </p:nvCxnSpPr>
        <p:spPr>
          <a:xfrm flipV="1">
            <a:off x="8238255" y="4538276"/>
            <a:ext cx="2107791" cy="575853"/>
          </a:xfrm>
          <a:prstGeom prst="line">
            <a:avLst/>
          </a:prstGeom>
          <a:ln w="44450">
            <a:solidFill>
              <a:srgbClr val="E09B00"/>
            </a:solidFill>
            <a:tailEnd type="triangle" w="med" len="med"/>
          </a:ln>
        </p:spPr>
      </p:cxnSp>
      <p:sp>
        <p:nvSpPr>
          <p:cNvPr id="16" name="Rectangle 15"/>
          <p:cNvSpPr/>
          <p:nvPr/>
        </p:nvSpPr>
        <p:spPr>
          <a:xfrm>
            <a:off x="8060000" y="3758769"/>
            <a:ext cx="1232150" cy="452957"/>
          </a:xfrm>
          <a:prstGeom prst="rect">
            <a:avLst/>
          </a:prstGeom>
          <a:noFill/>
          <a:ln w="44450">
            <a:solidFill>
              <a:srgbClr val="C62828"/>
            </a:solidFill>
          </a:ln>
        </p:spPr>
        <p:txBody>
          <a:bodyPr rtlCol="0" anchor="ctr"/>
          <a:lstStyle/>
          <a:p>
            <a:pPr algn="ctr"/>
          </a:p>
        </p:txBody>
      </p:sp>
      <p:cxnSp>
        <p:nvCxnSpPr>
          <p:cNvPr id="17" name="Connector 16"/>
          <p:cNvCxnSpPr/>
          <p:nvPr/>
        </p:nvCxnSpPr>
        <p:spPr>
          <a:xfrm>
            <a:off x="7803563" y="4362712"/>
            <a:ext cx="362765" cy="0"/>
          </a:xfrm>
          <a:prstGeom prst="line">
            <a:avLst/>
          </a:prstGeom>
          <a:ln w="44450">
            <a:solidFill>
              <a:srgbClr val="1F5FAD"/>
            </a:solidFill>
            <a:tailEnd type="triangle" w="med" len="med"/>
          </a:ln>
        </p:spPr>
      </p:cxnSp>
      <p:sp>
        <p:nvSpPr>
          <p:cNvPr id="18" name="Oval 17"/>
          <p:cNvSpPr/>
          <p:nvPr/>
        </p:nvSpPr>
        <p:spPr>
          <a:xfrm>
            <a:off x="8292336" y="515882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7904552" y="360332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7648115" y="4207264"/>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6.26 -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6.26; the TRIN values are read off the figure. Its caption says daily; the times show a 1-minute chart.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Volume by price and volume by time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22 of 29</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One volume record added up two ways. By time: the usual bars, one a day. By price: sideways bars, one per price band.</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 chart, 100 days: 68 million shares at PHP 48 to 50, the longest sideways bar; 12 million at PHP 54 to 56. Five days worked: next slide.</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612648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Volume by time represents the total volume traded over a specified time interval or period. Volume by price identifies the total volume traded at each price level.</a:t>
            </a:r>
          </a:p>
        </p:txBody>
      </p:sp>
      <p:sp>
        <p:nvSpPr>
          <p:cNvPr id="14" name="Rectangle 13"/>
          <p:cNvSpPr/>
          <p:nvPr/>
        </p:nvSpPr>
        <p:spPr>
          <a:xfrm>
            <a:off x="7499451" y="2157984"/>
            <a:ext cx="391363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f.png"/>
          <p:cNvPicPr>
            <a:picLocks noChangeAspect="1"/>
          </p:cNvPicPr>
          <p:nvPr/>
        </p:nvPicPr>
        <p:blipFill>
          <a:blip r:embed="rId2"/>
          <a:stretch>
            <a:fillRect/>
          </a:stretch>
        </p:blipFill>
        <p:spPr>
          <a:xfrm>
            <a:off x="7618323" y="2276856"/>
            <a:ext cx="3675888" cy="3163824"/>
          </a:xfrm>
          <a:prstGeom prst="rect">
            <a:avLst/>
          </a:prstGeom>
        </p:spPr>
      </p:pic>
      <p:sp>
        <p:nvSpPr>
          <p:cNvPr id="16" name="TextBox 15"/>
          <p:cNvSpPr txBox="1"/>
          <p:nvPr/>
        </p:nvSpPr>
        <p:spPr>
          <a:xfrm>
            <a:off x="7498079" y="5650991"/>
            <a:ext cx="39163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AF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defines both. The chart is ours: the volume by price is added up from its own invented bars and volume.</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Adding up volume by price, worked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23 of 29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Ours, five days: closes of PHP 49.10, 49.80, 51.20, 48.60 and 50.50, on 2, 3, 1, 4 and 2 million shares.</a:t>
            </a:r>
          </a:p>
          <a:p>
            <a:pPr algn="l">
              <a:lnSpc>
                <a:spcPct val="118000"/>
              </a:lnSpc>
              <a:spcBef>
                <a:spcPts val="0"/>
              </a:spcBef>
              <a:spcAft>
                <a:spcPts val="1300"/>
              </a:spcAft>
            </a:pPr>
            <a:r>
              <a:rPr sz="2100" b="0" i="0">
                <a:solidFill>
                  <a:srgbClr val="1A1A1A"/>
                </a:solidFill>
                <a:latin typeface="Arial"/>
              </a:rPr>
              <a:t>By time: one bar a day, 2, 3, 1, 4, 2 million: the usual volume panel.</a:t>
            </a:r>
          </a:p>
          <a:p>
            <a:pPr algn="l">
              <a:lnSpc>
                <a:spcPct val="118000"/>
              </a:lnSpc>
              <a:spcBef>
                <a:spcPts val="0"/>
              </a:spcBef>
              <a:spcAft>
                <a:spcPts val="1300"/>
              </a:spcAft>
            </a:pPr>
            <a:r>
              <a:rPr sz="2100" b="0" i="0">
                <a:solidFill>
                  <a:srgbClr val="1A1A1A"/>
                </a:solidFill>
                <a:latin typeface="Arial"/>
              </a:rPr>
              <a:t>By price: each day's volume goes in the band of its close. PHP 48 to 50: 2 + 3 + 4 = 9 million. PHP 50 to 52: 1 + 2 = 3 million.</a:t>
            </a:r>
          </a:p>
        </p:txBody>
      </p:sp>
      <p:sp>
        <p:nvSpPr>
          <p:cNvPr id="8" name="Rectangle 7"/>
          <p:cNvSpPr/>
          <p:nvPr/>
        </p:nvSpPr>
        <p:spPr>
          <a:xfrm>
            <a:off x="777240" y="439902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560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same 12 million shares: most traded between PHP 48 and 50. Using both splits: two-dimensional volume analysis.</a:t>
            </a:r>
          </a:p>
        </p:txBody>
      </p:sp>
      <p:sp>
        <p:nvSpPr>
          <p:cNvPr id="10" name="TextBox 9"/>
          <p:cNvSpPr txBox="1"/>
          <p:nvPr/>
        </p:nvSpPr>
        <p:spPr>
          <a:xfrm>
            <a:off x="777240" y="542569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 does not say how a day's volume is split across its prices; ours puts it all at the close.</a:t>
            </a:r>
          </a:p>
        </p:txBody>
      </p:sp>
      <p:sp>
        <p:nvSpPr>
          <p:cNvPr id="11" name="TextBox 1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defines both. The five days, their closes and their volumes are ours, invented.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by price marks a support: silver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24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Figure 6.27, iShares Silver Trust: sideways bars longest around $17 </a:t>
            </a:r>
            <a:r>
              <a:rPr sz="1700" b="1" i="0">
                <a:solidFill>
                  <a:srgbClr val="E09B00"/>
                </a:solidFill>
                <a:latin typeface="Arial"/>
              </a:rPr>
              <a:t>(1)</a:t>
            </a:r>
            <a:r>
              <a:rPr sz="1700" b="0" i="0">
                <a:solidFill>
                  <a:srgbClr val="1A1A1A"/>
                </a:solidFill>
                <a:latin typeface="Arial"/>
              </a:rPr>
              <a:t>. The book's volume turnover here is shares traded, not the turnover ratio.</a:t>
            </a:r>
          </a:p>
          <a:p>
            <a:pPr algn="l">
              <a:lnSpc>
                <a:spcPct val="105000"/>
              </a:lnSpc>
              <a:spcBef>
                <a:spcPts val="0"/>
              </a:spcBef>
              <a:spcAft>
                <a:spcPts val="1100"/>
              </a:spcAft>
            </a:pPr>
            <a:r>
              <a:rPr sz="1700" b="0" i="0">
                <a:solidFill>
                  <a:srgbClr val="1A1A1A"/>
                </a:solidFill>
                <a:latin typeface="Arial"/>
              </a:rPr>
              <a:t>So $17 </a:t>
            </a:r>
            <a:r>
              <a:rPr sz="1700" b="1" i="0">
                <a:solidFill>
                  <a:srgbClr val="C62828"/>
                </a:solidFill>
                <a:latin typeface="Arial"/>
              </a:rPr>
              <a:t>(2)</a:t>
            </a:r>
            <a:r>
              <a:rPr sz="1700" b="0" i="0">
                <a:solidFill>
                  <a:srgbClr val="1A1A1A"/>
                </a:solidFill>
                <a:latin typeface="Arial"/>
              </a:rPr>
              <a:t> represents a significant support: a floor where a fall may stop. The figure: significant capital commitment.</a:t>
            </a:r>
          </a:p>
          <a:p>
            <a:pPr algn="l">
              <a:lnSpc>
                <a:spcPct val="105000"/>
              </a:lnSpc>
              <a:spcBef>
                <a:spcPts val="0"/>
              </a:spcBef>
              <a:spcAft>
                <a:spcPts val="1100"/>
              </a:spcAft>
            </a:pPr>
            <a:r>
              <a:rPr sz="1700" b="0" i="0">
                <a:solidFill>
                  <a:srgbClr val="1A1A1A"/>
                </a:solidFill>
                <a:latin typeface="Arial"/>
              </a:rPr>
              <a:t>Also marked: high volume at about $35 </a:t>
            </a:r>
            <a:r>
              <a:rPr sz="1700" b="1" i="0">
                <a:solidFill>
                  <a:srgbClr val="1F5FAD"/>
                </a:solidFill>
                <a:latin typeface="Arial"/>
              </a:rPr>
              <a:t>(3)</a:t>
            </a:r>
            <a:r>
              <a:rPr sz="1700" b="0" i="0">
                <a:solidFill>
                  <a:srgbClr val="1A1A1A"/>
                </a:solidFill>
                <a:latin typeface="Arial"/>
              </a:rPr>
              <a:t>, a new consolidation level, not in the text.</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Ordinary volume bars show when, not at what price.</a:t>
            </a:r>
          </a:p>
        </p:txBody>
      </p:sp>
      <p:sp>
        <p:nvSpPr>
          <p:cNvPr id="10" name="TextBox 9"/>
          <p:cNvSpPr txBox="1"/>
          <p:nvPr/>
        </p:nvSpPr>
        <p:spPr>
          <a:xfrm>
            <a:off x="777240" y="5733288"/>
            <a:ext cx="54864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Chapter 4's price-based volume; not Part 1's oscillators.</a:t>
            </a:r>
          </a:p>
        </p:txBody>
      </p:sp>
      <p:sp>
        <p:nvSpPr>
          <p:cNvPr id="11" name="Rectangle 10"/>
          <p:cNvSpPr/>
          <p:nvPr/>
        </p:nvSpPr>
        <p:spPr>
          <a:xfrm>
            <a:off x="6583679" y="1810512"/>
            <a:ext cx="4830775" cy="316510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2927362"/>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976871" y="2203703"/>
            <a:ext cx="4044391" cy="247016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6.27</a:t>
            </a:r>
          </a:p>
          <a:p>
            <a:pPr algn="l">
              <a:lnSpc>
                <a:spcPct val="115000"/>
              </a:lnSpc>
              <a:spcBef>
                <a:spcPts val="0"/>
              </a:spcBef>
              <a:spcAft>
                <a:spcPts val="0"/>
              </a:spcAft>
            </a:pPr>
            <a:r>
              <a:rPr sz="1500" b="0" i="0">
                <a:solidFill>
                  <a:srgbClr val="1A1A1A"/>
                </a:solidFill>
                <a:latin typeface="Palatino"/>
              </a:rPr>
              <a:t>The daily iShares Silver Trust with volume by price drawn as horizontal bars from the left edge. The longest bars sit around the $17 level, labelled significant capital commitment, strong support, and another cluster at the newer consolidation level higher up.</a:t>
            </a:r>
          </a:p>
        </p:txBody>
      </p:sp>
      <p:sp>
        <p:nvSpPr>
          <p:cNvPr id="15" name="Rectangle 14"/>
          <p:cNvSpPr/>
          <p:nvPr/>
        </p:nvSpPr>
        <p:spPr>
          <a:xfrm>
            <a:off x="6725517" y="4198089"/>
            <a:ext cx="2181689" cy="292736"/>
          </a:xfrm>
          <a:prstGeom prst="rect">
            <a:avLst/>
          </a:prstGeom>
          <a:noFill/>
          <a:ln w="44450">
            <a:solidFill>
              <a:srgbClr val="E09B00"/>
            </a:solidFill>
          </a:ln>
        </p:spPr>
        <p:txBody>
          <a:bodyPr rtlCol="0" anchor="ctr"/>
          <a:lstStyle/>
          <a:p>
            <a:pPr algn="ctr"/>
          </a:p>
        </p:txBody>
      </p:sp>
      <p:cxnSp>
        <p:nvCxnSpPr>
          <p:cNvPr id="16" name="Connector 15"/>
          <p:cNvCxnSpPr/>
          <p:nvPr/>
        </p:nvCxnSpPr>
        <p:spPr>
          <a:xfrm>
            <a:off x="8999067" y="4285910"/>
            <a:ext cx="918606" cy="0"/>
          </a:xfrm>
          <a:prstGeom prst="line">
            <a:avLst/>
          </a:prstGeom>
          <a:ln w="44450">
            <a:solidFill>
              <a:srgbClr val="C62828"/>
            </a:solidFill>
          </a:ln>
        </p:spPr>
      </p:cxnSp>
      <p:sp>
        <p:nvSpPr>
          <p:cNvPr id="17" name="Rectangle 16"/>
          <p:cNvSpPr/>
          <p:nvPr/>
        </p:nvSpPr>
        <p:spPr>
          <a:xfrm>
            <a:off x="6725517" y="3363791"/>
            <a:ext cx="1286048" cy="278099"/>
          </a:xfrm>
          <a:prstGeom prst="rect">
            <a:avLst/>
          </a:prstGeom>
          <a:noFill/>
          <a:ln w="44450">
            <a:solidFill>
              <a:srgbClr val="1F5FAD"/>
            </a:solidFill>
          </a:ln>
        </p:spPr>
        <p:txBody>
          <a:bodyPr rtlCol="0" anchor="ctr"/>
          <a:lstStyle/>
          <a:p>
            <a:pPr algn="ctr"/>
          </a:p>
        </p:txBody>
      </p:sp>
      <p:sp>
        <p:nvSpPr>
          <p:cNvPr id="18" name="Oval 17"/>
          <p:cNvSpPr/>
          <p:nvPr/>
        </p:nvSpPr>
        <p:spPr>
          <a:xfrm>
            <a:off x="6570069" y="404264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9348852" y="391091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6570069" y="3208343"/>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TextBox 20"/>
          <p:cNvSpPr txBox="1"/>
          <p:nvPr/>
        </p:nvSpPr>
        <p:spPr>
          <a:xfrm>
            <a:off x="6583679" y="5067058"/>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6.27 - Lim, The Handbook of Technical Analysis (Wiley, 2016)</a:t>
            </a:r>
          </a:p>
        </p:txBody>
      </p:sp>
      <p:sp>
        <p:nvSpPr>
          <p:cNvPr id="22" name="TextBox 2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6.27. Chapter 4 showed the same thing and called it price-based volume.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most traded range: 3M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25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Figure 6.28, 3M: the longest sideways bars, bracketed, $77 to $86 </a:t>
            </a:r>
            <a:r>
              <a:rPr sz="1800" b="1" i="0">
                <a:solidFill>
                  <a:srgbClr val="E09B00"/>
                </a:solidFill>
                <a:latin typeface="Arial"/>
              </a:rPr>
              <a:t>(1)</a:t>
            </a:r>
            <a:r>
              <a:rPr sz="1800" b="0" i="0">
                <a:solidFill>
                  <a:srgbClr val="1A1A1A"/>
                </a:solidFill>
                <a:latin typeface="Arial"/>
              </a:rPr>
              <a:t>: the most traded range, more shares than at any other price.</a:t>
            </a:r>
          </a:p>
          <a:p>
            <a:pPr algn="l">
              <a:lnSpc>
                <a:spcPct val="105000"/>
              </a:lnSpc>
              <a:spcBef>
                <a:spcPts val="0"/>
              </a:spcBef>
              <a:spcAft>
                <a:spcPts val="1100"/>
              </a:spcAft>
            </a:pPr>
            <a:r>
              <a:rPr sz="1800" b="0" i="0">
                <a:solidFill>
                  <a:srgbClr val="1A1A1A"/>
                </a:solidFill>
                <a:latin typeface="Arial"/>
              </a:rPr>
              <a:t>With 3M last at about $88 </a:t>
            </a:r>
            <a:r>
              <a:rPr sz="1800" b="1" i="0">
                <a:solidFill>
                  <a:srgbClr val="C62828"/>
                </a:solidFill>
                <a:latin typeface="Arial"/>
              </a:rPr>
              <a:t>(2)</a:t>
            </a:r>
            <a:r>
              <a:rPr sz="1800" b="0" i="0">
                <a:solidFill>
                  <a:srgbClr val="1A1A1A"/>
                </a:solidFill>
                <a:latin typeface="Arial"/>
              </a:rPr>
              <a:t>, $77 to $86 lies below: potential support, the figure's label. $90 to $92 above </a:t>
            </a:r>
            <a:r>
              <a:rPr sz="1800" b="1" i="0">
                <a:solidFill>
                  <a:srgbClr val="1F5FAD"/>
                </a:solidFill>
                <a:latin typeface="Arial"/>
              </a:rPr>
              <a:t>(3)</a:t>
            </a:r>
            <a:r>
              <a:rPr sz="1800" b="0" i="0">
                <a:solidFill>
                  <a:srgbClr val="1A1A1A"/>
                </a:solidFill>
                <a:latin typeface="Arial"/>
              </a:rPr>
              <a:t>: some resistance, says the book, not how it was found.</a:t>
            </a:r>
          </a:p>
        </p:txBody>
      </p:sp>
      <p:sp>
        <p:nvSpPr>
          <p:cNvPr id="8" name="Rectangle 7"/>
          <p:cNvSpPr/>
          <p:nvPr/>
        </p:nvSpPr>
        <p:spPr>
          <a:xfrm>
            <a:off x="777240" y="4800600"/>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37176"/>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These price ranges are potential future support and resistance levels.</a:t>
            </a:r>
          </a:p>
        </p:txBody>
      </p:sp>
      <p:sp>
        <p:nvSpPr>
          <p:cNvPr id="10" name="Rectangle 9"/>
          <p:cNvSpPr/>
          <p:nvPr/>
        </p:nvSpPr>
        <p:spPr>
          <a:xfrm>
            <a:off x="6217919" y="1810512"/>
            <a:ext cx="5196535" cy="238973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15198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169478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6.28</a:t>
            </a:r>
          </a:p>
          <a:p>
            <a:pPr algn="l">
              <a:lnSpc>
                <a:spcPct val="115000"/>
              </a:lnSpc>
              <a:spcBef>
                <a:spcPts val="0"/>
              </a:spcBef>
              <a:spcAft>
                <a:spcPts val="0"/>
              </a:spcAft>
            </a:pPr>
            <a:r>
              <a:rPr sz="1300" b="0" i="0">
                <a:solidFill>
                  <a:srgbClr val="1A1A1A"/>
                </a:solidFill>
                <a:latin typeface="Palatino"/>
              </a:rPr>
              <a:t>The price panel of the daily chart of 3M with volume by price as horizontal bars, the longest bracketed between about $77 and $86 and labelled maximum capital commitment in this range, an important support zone in the future; 3M last at about $88.</a:t>
            </a:r>
          </a:p>
        </p:txBody>
      </p:sp>
      <p:sp>
        <p:nvSpPr>
          <p:cNvPr id="14" name="Rectangle 13"/>
          <p:cNvSpPr/>
          <p:nvPr/>
        </p:nvSpPr>
        <p:spPr>
          <a:xfrm>
            <a:off x="6361585" y="2852586"/>
            <a:ext cx="2305837" cy="583188"/>
          </a:xfrm>
          <a:prstGeom prst="rect">
            <a:avLst/>
          </a:prstGeom>
          <a:noFill/>
          <a:ln w="44450">
            <a:solidFill>
              <a:srgbClr val="E09B00"/>
            </a:solidFill>
          </a:ln>
        </p:spPr>
        <p:txBody>
          <a:bodyPr rtlCol="0" anchor="ctr"/>
          <a:lstStyle/>
          <a:p>
            <a:pPr algn="ctr"/>
          </a:p>
        </p:txBody>
      </p:sp>
      <p:sp>
        <p:nvSpPr>
          <p:cNvPr id="15" name="Oval 14"/>
          <p:cNvSpPr/>
          <p:nvPr/>
        </p:nvSpPr>
        <p:spPr>
          <a:xfrm>
            <a:off x="10725322" y="2652451"/>
            <a:ext cx="347115" cy="230262"/>
          </a:xfrm>
          <a:prstGeom prst="ellipse">
            <a:avLst/>
          </a:prstGeom>
          <a:noFill/>
          <a:ln w="44450">
            <a:solidFill>
              <a:srgbClr val="C62828"/>
            </a:solidFill>
          </a:ln>
        </p:spPr>
        <p:txBody>
          <a:bodyPr rtlCol="0" anchor="ctr"/>
          <a:lstStyle/>
          <a:p>
            <a:pPr algn="ctr"/>
          </a:p>
        </p:txBody>
      </p:sp>
      <p:sp>
        <p:nvSpPr>
          <p:cNvPr id="16" name="Rectangle 15"/>
          <p:cNvSpPr/>
          <p:nvPr/>
        </p:nvSpPr>
        <p:spPr>
          <a:xfrm>
            <a:off x="6361585" y="2404972"/>
            <a:ext cx="1710782" cy="215198"/>
          </a:xfrm>
          <a:prstGeom prst="rect">
            <a:avLst/>
          </a:prstGeom>
          <a:noFill/>
          <a:ln w="44450">
            <a:solidFill>
              <a:srgbClr val="1F5FAD"/>
            </a:solidFill>
          </a:ln>
        </p:spPr>
        <p:txBody>
          <a:bodyPr rtlCol="0" anchor="ctr"/>
          <a:lstStyle/>
          <a:p>
            <a:pPr algn="ctr"/>
          </a:p>
        </p:txBody>
      </p:sp>
      <p:sp>
        <p:nvSpPr>
          <p:cNvPr id="17" name="Oval 16"/>
          <p:cNvSpPr/>
          <p:nvPr/>
        </p:nvSpPr>
        <p:spPr>
          <a:xfrm>
            <a:off x="6206137" y="269713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098788" y="269713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6206137" y="2249524"/>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217919" y="429168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6.28 -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6.28.</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volume panel on 3M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26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figure's own lines carry Part 1's names.</a:t>
            </a:r>
          </a:p>
          <a:p>
            <a:pPr algn="l">
              <a:lnSpc>
                <a:spcPct val="105000"/>
              </a:lnSpc>
              <a:spcBef>
                <a:spcPts val="0"/>
              </a:spcBef>
              <a:spcAft>
                <a:spcPts val="1100"/>
              </a:spcAft>
            </a:pPr>
            <a:r>
              <a:rPr sz="2000" b="0" i="0">
                <a:solidFill>
                  <a:srgbClr val="1A1A1A"/>
                </a:solidFill>
                <a:latin typeface="Arial"/>
              </a:rPr>
              <a:t>Bearish confirmation </a:t>
            </a:r>
            <a:r>
              <a:rPr sz="2000" b="1" i="0">
                <a:solidFill>
                  <a:srgbClr val="E09B00"/>
                </a:solidFill>
                <a:latin typeface="Arial"/>
              </a:rPr>
              <a:t>(4)</a:t>
            </a:r>
            <a:r>
              <a:rPr sz="2000" b="0" i="0">
                <a:solidFill>
                  <a:srgbClr val="1A1A1A"/>
                </a:solidFill>
                <a:latin typeface="Arial"/>
              </a:rPr>
              <a:t>: price falling, May to October, on rising volume.</a:t>
            </a:r>
          </a:p>
          <a:p>
            <a:pPr algn="l">
              <a:lnSpc>
                <a:spcPct val="105000"/>
              </a:lnSpc>
              <a:spcBef>
                <a:spcPts val="0"/>
              </a:spcBef>
              <a:spcAft>
                <a:spcPts val="1100"/>
              </a:spcAft>
            </a:pPr>
            <a:r>
              <a:rPr sz="2000" b="0" i="0">
                <a:solidFill>
                  <a:srgbClr val="1A1A1A"/>
                </a:solidFill>
                <a:latin typeface="Arial"/>
              </a:rPr>
              <a:t>Bearish divergence </a:t>
            </a:r>
            <a:r>
              <a:rPr sz="2000" b="1" i="0">
                <a:solidFill>
                  <a:srgbClr val="C62828"/>
                </a:solidFill>
                <a:latin typeface="Arial"/>
              </a:rPr>
              <a:t>(5)</a:t>
            </a:r>
            <a:r>
              <a:rPr sz="2000" b="0" i="0">
                <a:solidFill>
                  <a:srgbClr val="1A1A1A"/>
                </a:solidFill>
                <a:latin typeface="Arial"/>
              </a:rPr>
              <a:t>: price rising, November to February, on falling volume.</a:t>
            </a:r>
          </a:p>
        </p:txBody>
      </p:sp>
      <p:sp>
        <p:nvSpPr>
          <p:cNvPr id="8" name="Rectangle 7"/>
          <p:cNvSpPr/>
          <p:nvPr/>
        </p:nvSpPr>
        <p:spPr>
          <a:xfrm>
            <a:off x="777240" y="4581144"/>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7720"/>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Volume read against price, as in Part 1, on the same chart.</a:t>
            </a:r>
          </a:p>
        </p:txBody>
      </p:sp>
      <p:sp>
        <p:nvSpPr>
          <p:cNvPr id="10" name="Rectangle 9"/>
          <p:cNvSpPr/>
          <p:nvPr/>
        </p:nvSpPr>
        <p:spPr>
          <a:xfrm>
            <a:off x="6683548" y="1810512"/>
            <a:ext cx="4265278" cy="374904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802420" y="1929384"/>
            <a:ext cx="4027534"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02420" y="1929384"/>
            <a:ext cx="4027534"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076740" y="2203703"/>
            <a:ext cx="3478894"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6.28</a:t>
            </a:r>
          </a:p>
          <a:p>
            <a:pPr algn="l">
              <a:lnSpc>
                <a:spcPct val="115000"/>
              </a:lnSpc>
              <a:spcBef>
                <a:spcPts val="0"/>
              </a:spcBef>
              <a:spcAft>
                <a:spcPts val="0"/>
              </a:spcAft>
            </a:pPr>
            <a:r>
              <a:rPr sz="1500" b="0" i="0">
                <a:solidFill>
                  <a:srgbClr val="1A1A1A"/>
                </a:solidFill>
                <a:latin typeface="Palatino"/>
              </a:rPr>
              <a:t>The daily chart of 3M from May 2011 to February 2012: a falling price line with a rising volume line under it, labelled bearish confirmation, then a rising price line with a falling volume line under it, labelled bearish divergence.</a:t>
            </a:r>
          </a:p>
        </p:txBody>
      </p:sp>
      <p:cxnSp>
        <p:nvCxnSpPr>
          <p:cNvPr id="14" name="Connector 13"/>
          <p:cNvCxnSpPr/>
          <p:nvPr/>
        </p:nvCxnSpPr>
        <p:spPr>
          <a:xfrm flipV="1">
            <a:off x="6822557" y="4464539"/>
            <a:ext cx="1900997" cy="312506"/>
          </a:xfrm>
          <a:prstGeom prst="line">
            <a:avLst/>
          </a:prstGeom>
          <a:ln w="44450">
            <a:solidFill>
              <a:srgbClr val="E09B00"/>
            </a:solidFill>
          </a:ln>
        </p:spPr>
      </p:cxnSp>
      <p:cxnSp>
        <p:nvCxnSpPr>
          <p:cNvPr id="15" name="Connector 14"/>
          <p:cNvCxnSpPr/>
          <p:nvPr/>
        </p:nvCxnSpPr>
        <p:spPr>
          <a:xfrm>
            <a:off x="9065894" y="4524231"/>
            <a:ext cx="1325059" cy="488070"/>
          </a:xfrm>
          <a:prstGeom prst="line">
            <a:avLst/>
          </a:prstGeom>
          <a:ln w="44450">
            <a:solidFill>
              <a:srgbClr val="C62828"/>
            </a:solidFill>
          </a:ln>
        </p:spPr>
      </p:cxnSp>
      <p:sp>
        <p:nvSpPr>
          <p:cNvPr id="16" name="Oval 15"/>
          <p:cNvSpPr/>
          <p:nvPr/>
        </p:nvSpPr>
        <p:spPr>
          <a:xfrm>
            <a:off x="6667109" y="462159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7" name="Oval 16"/>
          <p:cNvSpPr/>
          <p:nvPr/>
        </p:nvSpPr>
        <p:spPr>
          <a:xfrm>
            <a:off x="8910446" y="436878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18" name="TextBox 17"/>
          <p:cNvSpPr txBox="1"/>
          <p:nvPr/>
        </p:nvSpPr>
        <p:spPr>
          <a:xfrm>
            <a:off x="6217919" y="5650992"/>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6.28 -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p.194 and Figure 6.28. Confirmation and divergence: Part 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Support and resistance in four steps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27 of 29</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Largest volume by price range: ours, PHP 48 to 50.</a:t>
            </a:r>
          </a:p>
          <a:p>
            <a:pPr algn="l">
              <a:lnSpc>
                <a:spcPct val="105000"/>
              </a:lnSpc>
              <a:spcBef>
                <a:spcPts val="0"/>
              </a:spcBef>
              <a:spcAft>
                <a:spcPts val="1100"/>
              </a:spcAft>
            </a:pPr>
            <a:r>
              <a:rPr sz="1700" b="0" i="0">
                <a:solidFill>
                  <a:srgbClr val="1A1A1A"/>
                </a:solidFill>
                <a:latin typeface="Arial"/>
              </a:rPr>
              <a:t>2  Largest volume by time intervals: ours, two bursts of 3.4 to 4.1 million a day.</a:t>
            </a:r>
          </a:p>
          <a:p>
            <a:pPr algn="l">
              <a:lnSpc>
                <a:spcPct val="105000"/>
              </a:lnSpc>
              <a:spcBef>
                <a:spcPts val="0"/>
              </a:spcBef>
              <a:spcAft>
                <a:spcPts val="1100"/>
              </a:spcAft>
            </a:pPr>
            <a:r>
              <a:rPr sz="1700" b="0" i="0">
                <a:solidFill>
                  <a:srgbClr val="1A1A1A"/>
                </a:solidFill>
                <a:latin typeface="Arial"/>
              </a:rPr>
              <a:t>3  Intersection, the boxes: most shares at one price, step 1's band, in one stretch, step 2's days.</a:t>
            </a:r>
          </a:p>
          <a:p>
            <a:pPr algn="l">
              <a:lnSpc>
                <a:spcPct val="105000"/>
              </a:lnSpc>
              <a:spcBef>
                <a:spcPts val="0"/>
              </a:spcBef>
              <a:spcAft>
                <a:spcPts val="1100"/>
              </a:spcAft>
            </a:pPr>
            <a:r>
              <a:rPr sz="1700" b="0" i="0">
                <a:solidFill>
                  <a:srgbClr val="1A1A1A"/>
                </a:solidFill>
                <a:latin typeface="Arial"/>
              </a:rPr>
              <a:t>4  Closest peak above the intersection: resistance, PHP 50.80. Closest trough below: support, PHP 47.50.</a:t>
            </a:r>
          </a:p>
        </p:txBody>
      </p:sp>
      <p:sp>
        <p:nvSpPr>
          <p:cNvPr id="8" name="Rectangle 7"/>
          <p:cNvSpPr/>
          <p:nvPr/>
        </p:nvSpPr>
        <p:spPr>
          <a:xfrm>
            <a:off x="777240" y="4729734"/>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66310"/>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Potentially the most significant and reliable support and resistance.</a:t>
            </a:r>
          </a:p>
        </p:txBody>
      </p:sp>
      <p:sp>
        <p:nvSpPr>
          <p:cNvPr id="10" name="TextBox 9"/>
          <p:cNvSpPr txBox="1"/>
          <p:nvPr/>
        </p:nvSpPr>
        <p:spPr>
          <a:xfrm>
            <a:off x="777240" y="5625846"/>
            <a:ext cx="60350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No reason given; largest is picked by eye.</a:t>
            </a:r>
          </a:p>
        </p:txBody>
      </p:sp>
      <p:sp>
        <p:nvSpPr>
          <p:cNvPr id="11" name="Rectangle 10"/>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2" name="Picture 11" descr="chart-ag.png"/>
          <p:cNvPicPr>
            <a:picLocks noChangeAspect="1"/>
          </p:cNvPicPr>
          <p:nvPr/>
        </p:nvPicPr>
        <p:blipFill>
          <a:blip r:embed="rId2"/>
          <a:stretch>
            <a:fillRect/>
          </a:stretch>
        </p:blipFill>
        <p:spPr>
          <a:xfrm>
            <a:off x="7252563" y="1929384"/>
            <a:ext cx="4041648" cy="3511296"/>
          </a:xfrm>
          <a:prstGeom prst="rect">
            <a:avLst/>
          </a:prstGeom>
        </p:spPr>
      </p:pic>
      <p:sp>
        <p:nvSpPr>
          <p:cNvPr id="13" name="TextBox 12"/>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AG - FIN1209 teaching chart, drawn for this course. Illustrative data, not a real instrument.</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pp.196-197, its steps. The chart is ours, on invented prices, with the steps numbered in the book's order.</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two levels did on our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28 of 29</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Support at PHP 47.50: price turned up near it twice, at 1, PHP 47.40, and 2, PHP 47.50.</a:t>
            </a:r>
          </a:p>
          <a:p>
            <a:pPr algn="l">
              <a:lnSpc>
                <a:spcPct val="105000"/>
              </a:lnSpc>
              <a:spcBef>
                <a:spcPts val="0"/>
              </a:spcBef>
              <a:spcAft>
                <a:spcPts val="1100"/>
              </a:spcAft>
            </a:pPr>
            <a:r>
              <a:rPr sz="1900" b="0" i="0">
                <a:solidFill>
                  <a:srgbClr val="1A1A1A"/>
                </a:solidFill>
                <a:latin typeface="Arial"/>
              </a:rPr>
              <a:t>Resistance at PHP 50.80: price turned down near it twice, at 3, PHP 50.90, and 4, PHP 50.80, then broke above it and rose to about PHP 58.60, at 5.</a:t>
            </a:r>
          </a:p>
        </p:txBody>
      </p:sp>
      <p:sp>
        <p:nvSpPr>
          <p:cNvPr id="8" name="Rectangle 7"/>
          <p:cNvSpPr/>
          <p:nvPr/>
        </p:nvSpPr>
        <p:spPr>
          <a:xfrm>
            <a:off x="777240" y="4320540"/>
            <a:ext cx="82296" cy="136550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57116"/>
            <a:ext cx="5193792" cy="1365503"/>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Potential levels, the book says, not certain ones: ours held twice, then broke. It does not say what a break means.</a:t>
            </a:r>
          </a:p>
        </p:txBody>
      </p:sp>
      <p:sp>
        <p:nvSpPr>
          <p:cNvPr id="10" name="Rectangle 9"/>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hg.png"/>
          <p:cNvPicPr>
            <a:picLocks noChangeAspect="1"/>
          </p:cNvPicPr>
          <p:nvPr/>
        </p:nvPicPr>
        <p:blipFill>
          <a:blip r:embed="rId2"/>
          <a:stretch>
            <a:fillRect/>
          </a:stretch>
        </p:blipFill>
        <p:spPr>
          <a:xfrm>
            <a:off x="6703923" y="1929384"/>
            <a:ext cx="4590288" cy="3511296"/>
          </a:xfrm>
          <a:prstGeom prst="rect">
            <a:avLst/>
          </a:prstGeom>
        </p:spPr>
      </p:pic>
      <p:sp>
        <p:nvSpPr>
          <p:cNvPr id="12" name="TextBox 11"/>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HG - FIN1209 teaching chart, drawn for this course. Illustrative data, not a real instrument.</a:t>
            </a:r>
          </a:p>
        </p:txBody>
      </p:sp>
      <p:sp>
        <p:nvSpPr>
          <p:cNvPr id="13" name="TextBox 1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pp.196-197. The prices are our chart's, read from the series that drew it.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steps on 3M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6 - 6.1 Open interest  |  29 of 29</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$74 to $80: the book's largest volume by price range, the dark sideways bars.</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The dark columns, where volume reaches the dotted overextended volume level (Part 2), cross it in two white boxes, </a:t>
            </a:r>
            <a:r>
              <a:rPr sz="1700" b="1" i="0">
                <a:solidFill>
                  <a:srgbClr val="1F5FAD"/>
                </a:solidFill>
                <a:latin typeface="Arial"/>
              </a:rPr>
              <a:t>(3)</a:t>
            </a:r>
            <a:r>
              <a:rPr sz="1700" b="0" i="0">
                <a:solidFill>
                  <a:srgbClr val="1A1A1A"/>
                </a:solidFill>
                <a:latin typeface="Arial"/>
              </a:rPr>
              <a:t> and </a:t>
            </a:r>
            <a:r>
              <a:rPr sz="1700" b="1" i="0">
                <a:solidFill>
                  <a:srgbClr val="7B3FA0"/>
                </a:solidFill>
                <a:latin typeface="Arial"/>
              </a:rPr>
              <a:t>(5)</a:t>
            </a:r>
            <a:r>
              <a:rPr sz="1700" b="0" i="0">
                <a:solidFill>
                  <a:srgbClr val="1A1A1A"/>
                </a:solidFill>
                <a:latin typeface="Arial"/>
              </a:rPr>
              <a:t>.</a:t>
            </a:r>
          </a:p>
          <a:p>
            <a:pPr algn="l">
              <a:lnSpc>
                <a:spcPct val="105000"/>
              </a:lnSpc>
              <a:spcBef>
                <a:spcPts val="0"/>
              </a:spcBef>
              <a:spcAft>
                <a:spcPts val="1100"/>
              </a:spcAft>
            </a:pPr>
            <a:r>
              <a:rPr sz="1700" b="1" i="0">
                <a:solidFill>
                  <a:srgbClr val="007A33"/>
                </a:solidFill>
                <a:latin typeface="Arial"/>
              </a:rPr>
              <a:t>(4)</a:t>
            </a:r>
            <a:r>
              <a:rPr sz="1700" b="0" i="0">
                <a:solidFill>
                  <a:srgbClr val="1A1A1A"/>
                </a:solidFill>
                <a:latin typeface="Arial"/>
              </a:rPr>
              <a:t>  Closest peak above, about $80: resistance. Closest trough below, about $72.50: support.</a:t>
            </a:r>
          </a:p>
        </p:txBody>
      </p:sp>
      <p:sp>
        <p:nvSpPr>
          <p:cNvPr id="8" name="Rectangle 7"/>
          <p:cNvSpPr/>
          <p:nvPr/>
        </p:nvSpPr>
        <p:spPr>
          <a:xfrm>
            <a:off x="777240" y="4565142"/>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Both act as effective barriers to price on the daily chart of 3M.</a:t>
            </a:r>
          </a:p>
        </p:txBody>
      </p:sp>
      <p:sp>
        <p:nvSpPr>
          <p:cNvPr id="10" name="TextBox 9"/>
          <p:cNvSpPr txBox="1"/>
          <p:nvPr/>
        </p:nvSpPr>
        <p:spPr>
          <a:xfrm>
            <a:off x="777240" y="5461254"/>
            <a:ext cx="512064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A page earlier the book gave 3M's most traded range as $77 to $86. It does not say why they differ.</a:t>
            </a:r>
          </a:p>
        </p:txBody>
      </p:sp>
      <p:sp>
        <p:nvSpPr>
          <p:cNvPr id="11" name="Rectangle 10"/>
          <p:cNvSpPr/>
          <p:nvPr/>
        </p:nvSpPr>
        <p:spPr>
          <a:xfrm>
            <a:off x="6217919" y="1810512"/>
            <a:ext cx="5196535" cy="323218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2994439"/>
          </a:xfrm>
          <a:prstGeom prst="rect">
            <a:avLst/>
          </a:prstGeom>
          <a:solidFill>
            <a:srgbClr val="FFFFFF"/>
          </a:solidFill>
          <a:ln w="12700">
            <a:solidFill>
              <a:srgbClr val="D7E0D9"/>
            </a:solidFill>
          </a:ln>
          <a:effectLst/>
        </p:spPr>
        <p:txBody>
          <a:bodyPr rtlCol="0" anchor="ctr"/>
          <a:lstStyle/>
          <a:p>
            <a:pPr algn="ctr"/>
          </a:p>
        </p:txBody>
      </p:sp>
      <p:sp>
        <p:nvSpPr>
          <p:cNvPr id="13" name="Rectangle 12"/>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4" name="TextBox 13"/>
          <p:cNvSpPr txBox="1"/>
          <p:nvPr/>
        </p:nvSpPr>
        <p:spPr>
          <a:xfrm>
            <a:off x="6611111" y="2203703"/>
            <a:ext cx="4410151" cy="253723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6.29</a:t>
            </a:r>
          </a:p>
          <a:p>
            <a:pPr algn="l">
              <a:lnSpc>
                <a:spcPct val="115000"/>
              </a:lnSpc>
              <a:spcBef>
                <a:spcPts val="0"/>
              </a:spcBef>
              <a:spcAft>
                <a:spcPts val="0"/>
              </a:spcAft>
            </a:pPr>
            <a:r>
              <a:rPr sz="1500" b="0" i="0">
                <a:solidFill>
                  <a:srgbClr val="1A1A1A"/>
                </a:solidFill>
                <a:latin typeface="Palatino"/>
              </a:rPr>
              <a:t>The daily chart of 3M with the $74 to $80 volume by price band and two dark time columns over the high volume intervals; where they cross are two white boxes. Dashed lines mark the closest resistance above and the closest support below, and an overextended volume level runs across the volume panel.</a:t>
            </a:r>
          </a:p>
        </p:txBody>
      </p:sp>
      <p:sp>
        <p:nvSpPr>
          <p:cNvPr id="15" name="Rectangle 14"/>
          <p:cNvSpPr/>
          <p:nvPr/>
        </p:nvSpPr>
        <p:spPr>
          <a:xfrm>
            <a:off x="6361585" y="2917548"/>
            <a:ext cx="2206661" cy="509054"/>
          </a:xfrm>
          <a:prstGeom prst="rect">
            <a:avLst/>
          </a:prstGeom>
          <a:noFill/>
          <a:ln w="44450">
            <a:solidFill>
              <a:srgbClr val="E09B00"/>
            </a:solidFill>
          </a:ln>
        </p:spPr>
        <p:txBody>
          <a:bodyPr rtlCol="0" anchor="ctr"/>
          <a:lstStyle/>
          <a:p>
            <a:pPr algn="ctr"/>
          </a:p>
        </p:txBody>
      </p:sp>
      <p:sp>
        <p:nvSpPr>
          <p:cNvPr id="16" name="Rectangle 15"/>
          <p:cNvSpPr/>
          <p:nvPr/>
        </p:nvSpPr>
        <p:spPr>
          <a:xfrm>
            <a:off x="9088921" y="4205157"/>
            <a:ext cx="1041346" cy="628832"/>
          </a:xfrm>
          <a:prstGeom prst="rect">
            <a:avLst/>
          </a:prstGeom>
          <a:noFill/>
          <a:ln w="44450">
            <a:solidFill>
              <a:srgbClr val="C62828"/>
            </a:solidFill>
          </a:ln>
        </p:spPr>
        <p:txBody>
          <a:bodyPr rtlCol="0" anchor="ctr"/>
          <a:lstStyle/>
          <a:p>
            <a:pPr algn="ctr"/>
          </a:p>
        </p:txBody>
      </p:sp>
      <p:sp>
        <p:nvSpPr>
          <p:cNvPr id="17" name="Rectangle 16"/>
          <p:cNvSpPr/>
          <p:nvPr/>
        </p:nvSpPr>
        <p:spPr>
          <a:xfrm>
            <a:off x="9113714" y="3037326"/>
            <a:ext cx="247939" cy="389277"/>
          </a:xfrm>
          <a:prstGeom prst="rect">
            <a:avLst/>
          </a:prstGeom>
          <a:noFill/>
          <a:ln w="44450">
            <a:solidFill>
              <a:srgbClr val="1F5FAD"/>
            </a:solidFill>
          </a:ln>
        </p:spPr>
        <p:txBody>
          <a:bodyPr rtlCol="0" anchor="ctr"/>
          <a:lstStyle/>
          <a:p>
            <a:pPr algn="ctr"/>
          </a:p>
        </p:txBody>
      </p:sp>
      <p:sp>
        <p:nvSpPr>
          <p:cNvPr id="18" name="Rectangle 17"/>
          <p:cNvSpPr/>
          <p:nvPr/>
        </p:nvSpPr>
        <p:spPr>
          <a:xfrm>
            <a:off x="9807945" y="3037326"/>
            <a:ext cx="247939" cy="389277"/>
          </a:xfrm>
          <a:prstGeom prst="rect">
            <a:avLst/>
          </a:prstGeom>
          <a:noFill/>
          <a:ln w="44450">
            <a:solidFill>
              <a:srgbClr val="7B3FA0"/>
            </a:solidFill>
          </a:ln>
        </p:spPr>
        <p:txBody>
          <a:bodyPr rtlCol="0" anchor="ctr"/>
          <a:lstStyle/>
          <a:p>
            <a:pPr algn="ctr"/>
          </a:p>
        </p:txBody>
      </p:sp>
      <p:sp>
        <p:nvSpPr>
          <p:cNvPr id="19" name="Rectangle 18"/>
          <p:cNvSpPr/>
          <p:nvPr/>
        </p:nvSpPr>
        <p:spPr>
          <a:xfrm>
            <a:off x="10254236" y="2977437"/>
            <a:ext cx="768612" cy="628832"/>
          </a:xfrm>
          <a:prstGeom prst="rect">
            <a:avLst/>
          </a:prstGeom>
          <a:noFill/>
          <a:ln w="44450">
            <a:solidFill>
              <a:srgbClr val="007A33"/>
            </a:solidFill>
          </a:ln>
        </p:spPr>
        <p:txBody>
          <a:bodyPr rtlCol="0" anchor="ctr"/>
          <a:lstStyle/>
          <a:p>
            <a:pPr algn="ctr"/>
          </a:p>
        </p:txBody>
      </p:sp>
      <p:sp>
        <p:nvSpPr>
          <p:cNvPr id="20" name="Oval 19"/>
          <p:cNvSpPr/>
          <p:nvPr/>
        </p:nvSpPr>
        <p:spPr>
          <a:xfrm>
            <a:off x="6206137" y="276210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1" name="Oval 20"/>
          <p:cNvSpPr/>
          <p:nvPr/>
        </p:nvSpPr>
        <p:spPr>
          <a:xfrm>
            <a:off x="9404558" y="404970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2" name="Oval 21"/>
          <p:cNvSpPr/>
          <p:nvPr/>
        </p:nvSpPr>
        <p:spPr>
          <a:xfrm>
            <a:off x="9082236" y="2762100"/>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3" name="Oval 22"/>
          <p:cNvSpPr/>
          <p:nvPr/>
        </p:nvSpPr>
        <p:spPr>
          <a:xfrm>
            <a:off x="9776467" y="2762100"/>
            <a:ext cx="310896" cy="310896"/>
          </a:xfrm>
          <a:prstGeom prst="ellipse">
            <a:avLst/>
          </a:prstGeom>
          <a:solidFill>
            <a:srgbClr val="7B3FA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5</a:t>
            </a:r>
          </a:p>
        </p:txBody>
      </p:sp>
      <p:sp>
        <p:nvSpPr>
          <p:cNvPr id="24" name="Oval 23"/>
          <p:cNvSpPr/>
          <p:nvPr/>
        </p:nvSpPr>
        <p:spPr>
          <a:xfrm>
            <a:off x="10098788" y="2821989"/>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5" name="TextBox 24"/>
          <p:cNvSpPr txBox="1"/>
          <p:nvPr/>
        </p:nvSpPr>
        <p:spPr>
          <a:xfrm>
            <a:off x="6217919" y="5134135"/>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6.29 - Lim, The Handbook of Technical Analysis (Wiley, 2016)</a:t>
            </a:r>
          </a:p>
        </p:txBody>
      </p:sp>
      <p:sp>
        <p:nvSpPr>
          <p:cNvPr id="26" name="TextBox 25"/>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pp.196-197 and Figure 6.29; the two levels are read off the figure by eye.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6.1  Volume and bar range: Chapter 5's four cases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 of 26</a:t>
            </a:r>
          </a:p>
        </p:txBody>
      </p:sp>
      <p:sp>
        <p:nvSpPr>
          <p:cNvPr id="7" name="TextBox 6"/>
          <p:cNvSpPr txBox="1"/>
          <p:nvPr/>
        </p:nvSpPr>
        <p:spPr>
          <a:xfrm>
            <a:off x="777240" y="1965960"/>
            <a:ext cx="67665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Bar range, as in Chapter 5: a bar's high minus its low. High PHP 52.00, low PHP 51.20: range PHP 0.80. The book also says spread, not Chapter 3's bid-ask spread.</a:t>
            </a:r>
          </a:p>
          <a:p>
            <a:pPr algn="l">
              <a:lnSpc>
                <a:spcPct val="105000"/>
              </a:lnSpc>
              <a:spcBef>
                <a:spcPts val="0"/>
              </a:spcBef>
              <a:spcAft>
                <a:spcPts val="1100"/>
              </a:spcAft>
            </a:pPr>
            <a:r>
              <a:rPr sz="1700" b="0" i="0">
                <a:solidFill>
                  <a:srgbClr val="1A1A1A"/>
                </a:solidFill>
                <a:latin typeface="Arial"/>
              </a:rPr>
              <a:t>Set range against volume: four cases. Figure 6.30 draws each as an empty box, the range, over a black box, the volume.</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short range, low volume; </a:t>
            </a:r>
            <a:r>
              <a:rPr sz="1700" b="1" i="0">
                <a:solidFill>
                  <a:srgbClr val="C62828"/>
                </a:solidFill>
                <a:latin typeface="Arial"/>
              </a:rPr>
              <a:t>(2)</a:t>
            </a:r>
            <a:r>
              <a:rPr sz="1700" b="0" i="0">
                <a:solidFill>
                  <a:srgbClr val="1A1A1A"/>
                </a:solidFill>
                <a:latin typeface="Arial"/>
              </a:rPr>
              <a:t> short, high; </a:t>
            </a:r>
            <a:r>
              <a:rPr sz="1700" b="1" i="0">
                <a:solidFill>
                  <a:srgbClr val="1F5FAD"/>
                </a:solidFill>
                <a:latin typeface="Arial"/>
              </a:rPr>
              <a:t>(3)</a:t>
            </a:r>
            <a:r>
              <a:rPr sz="1700" b="0" i="0">
                <a:solidFill>
                  <a:srgbClr val="1A1A1A"/>
                </a:solidFill>
                <a:latin typeface="Arial"/>
              </a:rPr>
              <a:t> tall, low; </a:t>
            </a:r>
            <a:r>
              <a:rPr sz="1700" b="1" i="0">
                <a:solidFill>
                  <a:srgbClr val="007A33"/>
                </a:solidFill>
                <a:latin typeface="Arial"/>
              </a:rPr>
              <a:t>(4)</a:t>
            </a:r>
            <a:r>
              <a:rPr sz="1700" b="0" i="0">
                <a:solidFill>
                  <a:srgbClr val="1A1A1A"/>
                </a:solidFill>
                <a:latin typeface="Arial"/>
              </a:rPr>
              <a:t> tall, high. The book uses them to forecast breakouts and reversals.</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64739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Chapter 5's squat bar, a small range on large volume, is case 2.</a:t>
            </a:r>
          </a:p>
        </p:txBody>
      </p:sp>
      <p:sp>
        <p:nvSpPr>
          <p:cNvPr id="10" name="Rectangle 9"/>
          <p:cNvSpPr/>
          <p:nvPr/>
        </p:nvSpPr>
        <p:spPr>
          <a:xfrm>
            <a:off x="7863840" y="1810512"/>
            <a:ext cx="3550614" cy="3059610"/>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982712" y="1929384"/>
            <a:ext cx="3312870" cy="282186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982712" y="1929384"/>
            <a:ext cx="33128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8257032" y="2203703"/>
            <a:ext cx="2764230" cy="236466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6.30</a:t>
            </a:r>
          </a:p>
          <a:p>
            <a:pPr algn="l">
              <a:lnSpc>
                <a:spcPct val="115000"/>
              </a:lnSpc>
              <a:spcBef>
                <a:spcPts val="0"/>
              </a:spcBef>
              <a:spcAft>
                <a:spcPts val="0"/>
              </a:spcAft>
            </a:pPr>
            <a:r>
              <a:rPr sz="1500" b="0" i="0">
                <a:solidFill>
                  <a:srgbClr val="1A1A1A"/>
                </a:solidFill>
                <a:latin typeface="Palatino"/>
              </a:rPr>
              <a:t>Four numbered pairs: an empty box for the bar range over a black box for the volume. 1 short on low, 2 short on high, 3 tall on low, 4 tall on high.</a:t>
            </a:r>
          </a:p>
        </p:txBody>
      </p:sp>
      <p:cxnSp>
        <p:nvCxnSpPr>
          <p:cNvPr id="14" name="Connector 13"/>
          <p:cNvCxnSpPr/>
          <p:nvPr/>
        </p:nvCxnSpPr>
        <p:spPr>
          <a:xfrm>
            <a:off x="9075959" y="2550194"/>
            <a:ext cx="0" cy="1805994"/>
          </a:xfrm>
          <a:prstGeom prst="line">
            <a:avLst/>
          </a:prstGeom>
          <a:ln w="44450">
            <a:solidFill>
              <a:srgbClr val="E09B00"/>
            </a:solidFill>
          </a:ln>
        </p:spPr>
      </p:cxnSp>
      <p:cxnSp>
        <p:nvCxnSpPr>
          <p:cNvPr id="15" name="Connector 14"/>
          <p:cNvCxnSpPr/>
          <p:nvPr/>
        </p:nvCxnSpPr>
        <p:spPr>
          <a:xfrm>
            <a:off x="9705404" y="2550194"/>
            <a:ext cx="0" cy="1805994"/>
          </a:xfrm>
          <a:prstGeom prst="line">
            <a:avLst/>
          </a:prstGeom>
          <a:ln w="44450">
            <a:solidFill>
              <a:srgbClr val="C62828"/>
            </a:solidFill>
          </a:ln>
        </p:spPr>
      </p:cxnSp>
      <p:cxnSp>
        <p:nvCxnSpPr>
          <p:cNvPr id="16" name="Connector 15"/>
          <p:cNvCxnSpPr/>
          <p:nvPr/>
        </p:nvCxnSpPr>
        <p:spPr>
          <a:xfrm>
            <a:off x="10334850" y="1985821"/>
            <a:ext cx="0" cy="2370367"/>
          </a:xfrm>
          <a:prstGeom prst="line">
            <a:avLst/>
          </a:prstGeom>
          <a:ln w="44450">
            <a:solidFill>
              <a:srgbClr val="1F5FAD"/>
            </a:solidFill>
          </a:ln>
        </p:spPr>
      </p:cxnSp>
      <p:cxnSp>
        <p:nvCxnSpPr>
          <p:cNvPr id="17" name="Connector 16"/>
          <p:cNvCxnSpPr/>
          <p:nvPr/>
        </p:nvCxnSpPr>
        <p:spPr>
          <a:xfrm>
            <a:off x="10964295" y="1985821"/>
            <a:ext cx="0" cy="2370367"/>
          </a:xfrm>
          <a:prstGeom prst="line">
            <a:avLst/>
          </a:prstGeom>
          <a:ln w="44450">
            <a:solidFill>
              <a:srgbClr val="007A33"/>
            </a:solidFill>
          </a:ln>
        </p:spPr>
      </p:cxnSp>
      <p:sp>
        <p:nvSpPr>
          <p:cNvPr id="18" name="Oval 17"/>
          <p:cNvSpPr/>
          <p:nvPr/>
        </p:nvSpPr>
        <p:spPr>
          <a:xfrm>
            <a:off x="8920511" y="332596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9549956" y="332596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10179402" y="332596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10808847" y="3325962"/>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7863840" y="4961562"/>
            <a:ext cx="35506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Figure 6.30 -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and Figure 6.30; Chapter 5, characteristic 15. The pesos are ours. Spread is the book's word for bar range here.</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Rest, reversal and continuation bars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 of 26</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One name for each of four kinds of bar: narrow or wide range, on low or high volume, each judged against the trend's usual bars.</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Usual bar: PHP 1.00 on 2 million shares. PHP 0.20 on 5 million: narrow, high, a High Volume Reversal Bar.</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Narrow range on low volume: Low Volume Rest Bar. Narrow, high volume: High Volume Reversal Bar. Wide, low volume: Low Volume Reversal Bar. Wide, high volume: High Volume Continuation Bar.</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h.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AH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four names. The pesos and share counts in the example are ours. The chart is ours: sketches, not prices.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Naming a bar, step by step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3 of 26</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Step 1, the usual bar, grey: about PHP 1.00 high to low, on 2 million shares; ours, as the book gives no number.</a:t>
            </a:r>
          </a:p>
          <a:p>
            <a:pPr algn="l">
              <a:lnSpc>
                <a:spcPct val="105000"/>
              </a:lnSpc>
              <a:spcBef>
                <a:spcPts val="0"/>
              </a:spcBef>
              <a:spcAft>
                <a:spcPts val="1100"/>
              </a:spcAft>
            </a:pPr>
            <a:r>
              <a:rPr sz="1800" b="0" i="0">
                <a:solidFill>
                  <a:srgbClr val="1A1A1A"/>
                </a:solidFill>
                <a:latin typeface="Arial"/>
              </a:rPr>
              <a:t>Step 2, compare. </a:t>
            </a:r>
            <a:r>
              <a:rPr sz="1800" b="1" i="0">
                <a:solidFill>
                  <a:srgbClr val="E09B00"/>
                </a:solidFill>
                <a:latin typeface="Arial"/>
              </a:rPr>
              <a:t>(1)</a:t>
            </a:r>
            <a:r>
              <a:rPr sz="1800" b="0" i="0">
                <a:solidFill>
                  <a:srgbClr val="1A1A1A"/>
                </a:solidFill>
                <a:latin typeface="Arial"/>
              </a:rPr>
              <a:t> PHP 0.20 on 1 million: narrow, low: Low Volume Rest Bar. </a:t>
            </a:r>
            <a:r>
              <a:rPr sz="1800" b="1" i="0">
                <a:solidFill>
                  <a:srgbClr val="C62828"/>
                </a:solidFill>
                <a:latin typeface="Arial"/>
              </a:rPr>
              <a:t>(2)</a:t>
            </a:r>
            <a:r>
              <a:rPr sz="1800" b="0" i="0">
                <a:solidFill>
                  <a:srgbClr val="1A1A1A"/>
                </a:solidFill>
                <a:latin typeface="Arial"/>
              </a:rPr>
              <a:t> PHP 0.20 on 5 million: narrow, high: High Volume Reversal Bar.</a:t>
            </a:r>
          </a:p>
          <a:p>
            <a:pPr algn="l">
              <a:lnSpc>
                <a:spcPct val="105000"/>
              </a:lnSpc>
              <a:spcBef>
                <a:spcPts val="0"/>
              </a:spcBef>
              <a:spcAft>
                <a:spcPts val="1100"/>
              </a:spcAft>
            </a:pPr>
            <a:r>
              <a:rPr sz="1800" b="1" i="0">
                <a:solidFill>
                  <a:srgbClr val="1F5FAD"/>
                </a:solidFill>
                <a:latin typeface="Arial"/>
              </a:rPr>
              <a:t>(3)</a:t>
            </a:r>
            <a:r>
              <a:rPr sz="1800" b="0" i="0">
                <a:solidFill>
                  <a:srgbClr val="1A1A1A"/>
                </a:solidFill>
                <a:latin typeface="Arial"/>
              </a:rPr>
              <a:t> PHP 2.50 on 1 million: wide, low: Low Volume Reversal Bar. </a:t>
            </a:r>
            <a:r>
              <a:rPr sz="1800" b="1" i="0">
                <a:solidFill>
                  <a:srgbClr val="007A33"/>
                </a:solidFill>
                <a:latin typeface="Arial"/>
              </a:rPr>
              <a:t>(4)</a:t>
            </a:r>
            <a:r>
              <a:rPr sz="1800" b="0" i="0">
                <a:solidFill>
                  <a:srgbClr val="1A1A1A"/>
                </a:solidFill>
                <a:latin typeface="Arial"/>
              </a:rPr>
              <a:t> PHP 2.50 on 5 million: wide, high: High Volume Continuation Bar.</a:t>
            </a:r>
          </a:p>
        </p:txBody>
      </p:sp>
      <p:sp>
        <p:nvSpPr>
          <p:cNvPr id="8" name="Rectangle 7"/>
          <p:cNvSpPr/>
          <p:nvPr/>
        </p:nvSpPr>
        <p:spPr>
          <a:xfrm>
            <a:off x="777240" y="5253228"/>
            <a:ext cx="82296" cy="4358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89804"/>
            <a:ext cx="5559552" cy="43586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Judge each bar against the bars around it.</a:t>
            </a:r>
          </a:p>
        </p:txBody>
      </p:sp>
      <p:sp>
        <p:nvSpPr>
          <p:cNvPr id="10" name="Rectangle 9"/>
          <p:cNvSpPr/>
          <p:nvPr/>
        </p:nvSpPr>
        <p:spPr>
          <a:xfrm>
            <a:off x="6950811" y="1810512"/>
            <a:ext cx="44622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a.png"/>
          <p:cNvPicPr>
            <a:picLocks noChangeAspect="1"/>
          </p:cNvPicPr>
          <p:nvPr/>
        </p:nvPicPr>
        <p:blipFill>
          <a:blip r:embed="rId2"/>
          <a:stretch>
            <a:fillRect/>
          </a:stretch>
        </p:blipFill>
        <p:spPr>
          <a:xfrm>
            <a:off x="7069683" y="1929384"/>
            <a:ext cx="4224528" cy="3511296"/>
          </a:xfrm>
          <a:prstGeom prst="rect">
            <a:avLst/>
          </a:prstGeom>
        </p:spPr>
      </p:pic>
      <p:sp>
        <p:nvSpPr>
          <p:cNvPr id="12" name="Rectangle 11"/>
          <p:cNvSpPr/>
          <p:nvPr/>
        </p:nvSpPr>
        <p:spPr>
          <a:xfrm>
            <a:off x="8725698" y="2350739"/>
            <a:ext cx="257696" cy="1088501"/>
          </a:xfrm>
          <a:prstGeom prst="rect">
            <a:avLst/>
          </a:prstGeom>
          <a:noFill/>
          <a:ln w="44450">
            <a:solidFill>
              <a:srgbClr val="E09B00"/>
            </a:solidFill>
          </a:ln>
        </p:spPr>
        <p:txBody>
          <a:bodyPr rtlCol="0" anchor="ctr"/>
          <a:lstStyle/>
          <a:p>
            <a:pPr algn="ctr"/>
          </a:p>
        </p:txBody>
      </p:sp>
      <p:sp>
        <p:nvSpPr>
          <p:cNvPr id="13" name="Rectangle 12"/>
          <p:cNvSpPr/>
          <p:nvPr/>
        </p:nvSpPr>
        <p:spPr>
          <a:xfrm>
            <a:off x="10804166" y="2350739"/>
            <a:ext cx="253471" cy="1088501"/>
          </a:xfrm>
          <a:prstGeom prst="rect">
            <a:avLst/>
          </a:prstGeom>
          <a:noFill/>
          <a:ln w="44450">
            <a:solidFill>
              <a:srgbClr val="C62828"/>
            </a:solidFill>
          </a:ln>
        </p:spPr>
        <p:txBody>
          <a:bodyPr rtlCol="0" anchor="ctr"/>
          <a:lstStyle/>
          <a:p>
            <a:pPr algn="ctr"/>
          </a:p>
        </p:txBody>
      </p:sp>
      <p:sp>
        <p:nvSpPr>
          <p:cNvPr id="14" name="Rectangle 13"/>
          <p:cNvSpPr/>
          <p:nvPr/>
        </p:nvSpPr>
        <p:spPr>
          <a:xfrm>
            <a:off x="8725698" y="3930822"/>
            <a:ext cx="257696" cy="1018275"/>
          </a:xfrm>
          <a:prstGeom prst="rect">
            <a:avLst/>
          </a:prstGeom>
          <a:noFill/>
          <a:ln w="44450">
            <a:solidFill>
              <a:srgbClr val="1F5FAD"/>
            </a:solidFill>
          </a:ln>
        </p:spPr>
        <p:txBody>
          <a:bodyPr rtlCol="0" anchor="ctr"/>
          <a:lstStyle/>
          <a:p>
            <a:pPr algn="ctr"/>
          </a:p>
        </p:txBody>
      </p:sp>
      <p:sp>
        <p:nvSpPr>
          <p:cNvPr id="15" name="Rectangle 14"/>
          <p:cNvSpPr/>
          <p:nvPr/>
        </p:nvSpPr>
        <p:spPr>
          <a:xfrm>
            <a:off x="10804166" y="3930822"/>
            <a:ext cx="253471" cy="1018275"/>
          </a:xfrm>
          <a:prstGeom prst="rect">
            <a:avLst/>
          </a:prstGeom>
          <a:noFill/>
          <a:ln w="44450">
            <a:solidFill>
              <a:srgbClr val="007A33"/>
            </a:solidFill>
          </a:ln>
        </p:spPr>
        <p:txBody>
          <a:bodyPr rtlCol="0" anchor="ctr"/>
          <a:lstStyle/>
          <a:p>
            <a:pPr algn="ctr"/>
          </a:p>
        </p:txBody>
      </p:sp>
      <p:sp>
        <p:nvSpPr>
          <p:cNvPr id="16" name="Oval 15"/>
          <p:cNvSpPr/>
          <p:nvPr/>
        </p:nvSpPr>
        <p:spPr>
          <a:xfrm>
            <a:off x="8392820" y="265176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483961" y="265176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Oval 17"/>
          <p:cNvSpPr/>
          <p:nvPr/>
        </p:nvSpPr>
        <p:spPr>
          <a:xfrm>
            <a:off x="8392820" y="4302069"/>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9" name="Oval 18"/>
          <p:cNvSpPr/>
          <p:nvPr/>
        </p:nvSpPr>
        <p:spPr>
          <a:xfrm>
            <a:off x="10483961" y="4302069"/>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0" name="TextBox 19"/>
          <p:cNvSpPr txBox="1"/>
          <p:nvPr/>
        </p:nvSpPr>
        <p:spPr>
          <a:xfrm>
            <a:off x="6949440" y="5650991"/>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JA - FIN1209 teaching chart, drawn for this course. Illustrative data, not a real instrument.</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four names. Ours: every number, the comparison with the usual bar, which the book does not put a number on, and the chart: sketches, not prices.</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two reversal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4 of 26</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1" i="0">
                <a:solidFill>
                  <a:srgbClr val="E09B00"/>
                </a:solidFill>
                <a:latin typeface="Arial"/>
              </a:rPr>
              <a:t>(1)</a:t>
            </a:r>
            <a:r>
              <a:rPr sz="1900" b="0" i="0">
                <a:solidFill>
                  <a:srgbClr val="1A1A1A"/>
                </a:solidFill>
                <a:latin typeface="Arial"/>
              </a:rPr>
              <a:t> High Volume Reversal Bar, narrow on high volume, chart left: a strong potential for reversal. Bearish in an uptrend; the converse, bullish, in a downtrend.</a:t>
            </a:r>
          </a:p>
          <a:p>
            <a:pPr algn="l">
              <a:lnSpc>
                <a:spcPct val="105000"/>
              </a:lnSpc>
              <a:spcBef>
                <a:spcPts val="0"/>
              </a:spcBef>
              <a:spcAft>
                <a:spcPts val="1100"/>
              </a:spcAft>
            </a:pPr>
            <a:r>
              <a:rPr sz="1900" b="1" i="0">
                <a:solidFill>
                  <a:srgbClr val="C62828"/>
                </a:solidFill>
                <a:latin typeface="Arial"/>
              </a:rPr>
              <a:t>(2)</a:t>
            </a:r>
            <a:r>
              <a:rPr sz="1900" b="0" i="0">
                <a:solidFill>
                  <a:srgbClr val="1A1A1A"/>
                </a:solidFill>
                <a:latin typeface="Arial"/>
              </a:rPr>
              <a:t> Low Volume Reversal Bar, wide on low volume, right: a potential for reversal. The longer the bar, the more bearish in an uptrend, bullish in a downtrend.</a:t>
            </a:r>
          </a:p>
        </p:txBody>
      </p:sp>
      <p:sp>
        <p:nvSpPr>
          <p:cNvPr id="8" name="Rectangle 7"/>
          <p:cNvSpPr/>
          <p:nvPr/>
        </p:nvSpPr>
        <p:spPr>
          <a:xfrm>
            <a:off x="777240" y="4928616"/>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65192"/>
            <a:ext cx="501091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Too little movement for the volume, or too little volume for the move.</a:t>
            </a:r>
          </a:p>
        </p:txBody>
      </p:sp>
      <p:sp>
        <p:nvSpPr>
          <p:cNvPr id="10" name="Rectangle 9"/>
          <p:cNvSpPr/>
          <p:nvPr/>
        </p:nvSpPr>
        <p:spPr>
          <a:xfrm>
            <a:off x="6400799" y="1810512"/>
            <a:ext cx="5013654" cy="3621415"/>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i.png"/>
          <p:cNvPicPr>
            <a:picLocks noChangeAspect="1"/>
          </p:cNvPicPr>
          <p:nvPr/>
        </p:nvPicPr>
        <p:blipFill>
          <a:blip r:embed="rId2"/>
          <a:stretch>
            <a:fillRect/>
          </a:stretch>
        </p:blipFill>
        <p:spPr>
          <a:xfrm>
            <a:off x="6519671" y="1929384"/>
            <a:ext cx="4775910" cy="3383671"/>
          </a:xfrm>
          <a:prstGeom prst="rect">
            <a:avLst/>
          </a:prstGeom>
        </p:spPr>
      </p:pic>
      <p:sp>
        <p:nvSpPr>
          <p:cNvPr id="12" name="Rectangle 11"/>
          <p:cNvSpPr/>
          <p:nvPr/>
        </p:nvSpPr>
        <p:spPr>
          <a:xfrm>
            <a:off x="7880806" y="2369261"/>
            <a:ext cx="186260" cy="2706937"/>
          </a:xfrm>
          <a:prstGeom prst="rect">
            <a:avLst/>
          </a:prstGeom>
          <a:noFill/>
          <a:ln w="44450">
            <a:solidFill>
              <a:srgbClr val="E09B00"/>
            </a:solidFill>
          </a:ln>
        </p:spPr>
        <p:txBody>
          <a:bodyPr rtlCol="0" anchor="ctr"/>
          <a:lstStyle/>
          <a:p>
            <a:pPr algn="ctr"/>
          </a:p>
        </p:txBody>
      </p:sp>
      <p:sp>
        <p:nvSpPr>
          <p:cNvPr id="13" name="Rectangle 12"/>
          <p:cNvSpPr/>
          <p:nvPr/>
        </p:nvSpPr>
        <p:spPr>
          <a:xfrm>
            <a:off x="10235330" y="2369261"/>
            <a:ext cx="186260" cy="2706937"/>
          </a:xfrm>
          <a:prstGeom prst="rect">
            <a:avLst/>
          </a:prstGeom>
          <a:noFill/>
          <a:ln w="44450">
            <a:solidFill>
              <a:srgbClr val="C62828"/>
            </a:solidFill>
          </a:ln>
        </p:spPr>
        <p:txBody>
          <a:bodyPr rtlCol="0" anchor="ctr"/>
          <a:lstStyle/>
          <a:p>
            <a:pPr algn="ctr"/>
          </a:p>
        </p:txBody>
      </p:sp>
      <p:sp>
        <p:nvSpPr>
          <p:cNvPr id="14" name="Oval 13"/>
          <p:cNvSpPr/>
          <p:nvPr/>
        </p:nvSpPr>
        <p:spPr>
          <a:xfrm>
            <a:off x="8131311" y="363495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0519266" y="353344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6400799" y="5523367"/>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AI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readings are the book's; the gold line is our summary. The chart is ours: sketches, not prices.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reversal bars warn,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5 of 26</a:t>
            </a:r>
          </a:p>
        </p:txBody>
      </p:sp>
      <p:sp>
        <p:nvSpPr>
          <p:cNvPr id="7" name="TextBox 6"/>
          <p:cNvSpPr txBox="1"/>
          <p:nvPr/>
        </p:nvSpPr>
        <p:spPr>
          <a:xfrm>
            <a:off x="777240" y="1965960"/>
            <a:ext cx="6217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Ours: the usual bar moves PHP 1.00 on 2 million shares. Today 5 million trade, 2.5 times usual, and price moves only PHP 0.20.</a:t>
            </a:r>
          </a:p>
          <a:p>
            <a:pPr algn="l">
              <a:lnSpc>
                <a:spcPct val="105000"/>
              </a:lnSpc>
              <a:spcBef>
                <a:spcPts val="0"/>
              </a:spcBef>
              <a:spcAft>
                <a:spcPts val="1100"/>
              </a:spcAft>
            </a:pPr>
            <a:r>
              <a:rPr sz="2000" b="0" i="0">
                <a:solidFill>
                  <a:srgbClr val="1A1A1A"/>
                </a:solidFill>
                <a:latin typeface="Arial"/>
              </a:rPr>
              <a:t>The book: were that volume buying, the range would be much wider. So sellers are attempting to take control. In a downtrend, the converse.</a:t>
            </a:r>
          </a:p>
        </p:txBody>
      </p:sp>
      <p:sp>
        <p:nvSpPr>
          <p:cNvPr id="8" name="Rectangle 7"/>
          <p:cNvSpPr/>
          <p:nvPr/>
        </p:nvSpPr>
        <p:spPr>
          <a:xfrm>
            <a:off x="777240" y="441655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53128"/>
            <a:ext cx="592531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A warning of a potential turn, not a certainty: the book gives no entry rule.</a:t>
            </a:r>
          </a:p>
        </p:txBody>
      </p:sp>
      <p:sp>
        <p:nvSpPr>
          <p:cNvPr id="10" name="Rectangle 9"/>
          <p:cNvSpPr/>
          <p:nvPr/>
        </p:nvSpPr>
        <p:spPr>
          <a:xfrm>
            <a:off x="7316571" y="1810512"/>
            <a:ext cx="4096511"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b.png"/>
          <p:cNvPicPr>
            <a:picLocks noChangeAspect="1"/>
          </p:cNvPicPr>
          <p:nvPr/>
        </p:nvPicPr>
        <p:blipFill>
          <a:blip r:embed="rId2"/>
          <a:stretch>
            <a:fillRect/>
          </a:stretch>
        </p:blipFill>
        <p:spPr>
          <a:xfrm>
            <a:off x="7435443" y="1929384"/>
            <a:ext cx="3858768" cy="3511296"/>
          </a:xfrm>
          <a:prstGeom prst="rect">
            <a:avLst/>
          </a:prstGeom>
        </p:spPr>
      </p:pic>
      <p:sp>
        <p:nvSpPr>
          <p:cNvPr id="12" name="Rectangle 11"/>
          <p:cNvSpPr/>
          <p:nvPr/>
        </p:nvSpPr>
        <p:spPr>
          <a:xfrm>
            <a:off x="9650376" y="2420965"/>
            <a:ext cx="246961" cy="2580802"/>
          </a:xfrm>
          <a:prstGeom prst="rect">
            <a:avLst/>
          </a:prstGeom>
          <a:noFill/>
          <a:ln w="44450">
            <a:solidFill>
              <a:srgbClr val="E09B00"/>
            </a:solidFill>
          </a:ln>
        </p:spPr>
        <p:txBody>
          <a:bodyPr rtlCol="0" anchor="ctr"/>
          <a:lstStyle/>
          <a:p>
            <a:pPr algn="ctr"/>
          </a:p>
        </p:txBody>
      </p:sp>
      <p:sp>
        <p:nvSpPr>
          <p:cNvPr id="13" name="Oval 12"/>
          <p:cNvSpPr/>
          <p:nvPr/>
        </p:nvSpPr>
        <p:spPr>
          <a:xfrm>
            <a:off x="9942545" y="352958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TextBox 13"/>
          <p:cNvSpPr txBox="1"/>
          <p:nvPr/>
        </p:nvSpPr>
        <p:spPr>
          <a:xfrm>
            <a:off x="7315199" y="5650991"/>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JB - FIN1209 teaching chart, drawn for this course. Illustrative data, not a real instrument.</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reason is the book's, and the converse is its word for the downtrend case. Ours: every number, and the chart: a sketch, not prices.</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low volume reversal bar warns,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6 of 26</a:t>
            </a:r>
          </a:p>
        </p:txBody>
      </p:sp>
      <p:sp>
        <p:nvSpPr>
          <p:cNvPr id="7" name="TextBox 6"/>
          <p:cNvSpPr txBox="1"/>
          <p:nvPr/>
        </p:nvSpPr>
        <p:spPr>
          <a:xfrm>
            <a:off x="777240" y="1965960"/>
            <a:ext cx="6217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Ours: price jumps PHP 3.00 on 0.7 million shares, a third of the usual 2 million.</a:t>
            </a:r>
          </a:p>
          <a:p>
            <a:pPr algn="l">
              <a:lnSpc>
                <a:spcPct val="105000"/>
              </a:lnSpc>
              <a:spcBef>
                <a:spcPts val="0"/>
              </a:spcBef>
              <a:spcAft>
                <a:spcPts val="1100"/>
              </a:spcAft>
            </a:pPr>
            <a:r>
              <a:rPr sz="2000" b="0" i="0">
                <a:solidFill>
                  <a:srgbClr val="1A1A1A"/>
                </a:solidFill>
                <a:latin typeface="Arial"/>
              </a:rPr>
              <a:t>The book: a large move on little participation, its word for volume: a lack of interest. Bearish in an uptrend, bullish in a downtrend.</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592531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Too little volume for the move: a potential reversal.</a:t>
            </a:r>
          </a:p>
        </p:txBody>
      </p:sp>
      <p:sp>
        <p:nvSpPr>
          <p:cNvPr id="10" name="Rectangle 9"/>
          <p:cNvSpPr/>
          <p:nvPr/>
        </p:nvSpPr>
        <p:spPr>
          <a:xfrm>
            <a:off x="7316571" y="1810512"/>
            <a:ext cx="4096511"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n.png"/>
          <p:cNvPicPr>
            <a:picLocks noChangeAspect="1"/>
          </p:cNvPicPr>
          <p:nvPr/>
        </p:nvPicPr>
        <p:blipFill>
          <a:blip r:embed="rId2"/>
          <a:stretch>
            <a:fillRect/>
          </a:stretch>
        </p:blipFill>
        <p:spPr>
          <a:xfrm>
            <a:off x="7435443" y="1929384"/>
            <a:ext cx="3858768" cy="3511296"/>
          </a:xfrm>
          <a:prstGeom prst="rect">
            <a:avLst/>
          </a:prstGeom>
        </p:spPr>
      </p:pic>
      <p:sp>
        <p:nvSpPr>
          <p:cNvPr id="12" name="Rectangle 11"/>
          <p:cNvSpPr/>
          <p:nvPr/>
        </p:nvSpPr>
        <p:spPr>
          <a:xfrm>
            <a:off x="9650376" y="2420965"/>
            <a:ext cx="246961" cy="2580802"/>
          </a:xfrm>
          <a:prstGeom prst="rect">
            <a:avLst/>
          </a:prstGeom>
          <a:noFill/>
          <a:ln w="44450">
            <a:solidFill>
              <a:srgbClr val="E09B00"/>
            </a:solidFill>
          </a:ln>
        </p:spPr>
        <p:txBody>
          <a:bodyPr rtlCol="0" anchor="ctr"/>
          <a:lstStyle/>
          <a:p>
            <a:pPr algn="ctr"/>
          </a:p>
        </p:txBody>
      </p:sp>
      <p:sp>
        <p:nvSpPr>
          <p:cNvPr id="13" name="Oval 12"/>
          <p:cNvSpPr/>
          <p:nvPr/>
        </p:nvSpPr>
        <p:spPr>
          <a:xfrm>
            <a:off x="9942545" y="352958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4" name="TextBox 13"/>
          <p:cNvSpPr txBox="1"/>
          <p:nvPr/>
        </p:nvSpPr>
        <p:spPr>
          <a:xfrm>
            <a:off x="7315199" y="5650991"/>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JN - FIN1209 teaching chart, drawn for this course. Illustrative data, not a real instrument.</a:t>
            </a:r>
          </a:p>
        </p:txBody>
      </p:sp>
      <p:sp>
        <p:nvSpPr>
          <p:cNvPr id="15" name="TextBox 14"/>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reason is the book's. Ours: every number, and the chart: a sketch, not prices.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rest bar and the continuation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7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Low Volume Rest Bar, narrow on low volume: a lack of participation. In a strong, rapid trend </a:t>
            </a:r>
            <a:r>
              <a:rPr sz="1700" b="1" i="0">
                <a:solidFill>
                  <a:srgbClr val="E09B00"/>
                </a:solidFill>
                <a:latin typeface="Arial"/>
              </a:rPr>
              <a:t>(1)</a:t>
            </a:r>
            <a:r>
              <a:rPr sz="1700" b="0" i="0">
                <a:solidFill>
                  <a:srgbClr val="1A1A1A"/>
                </a:solidFill>
                <a:latin typeface="Arial"/>
              </a:rPr>
              <a:t>, a potential reversal; in a weak to average one </a:t>
            </a:r>
            <a:r>
              <a:rPr sz="1700" b="1" i="0">
                <a:solidFill>
                  <a:srgbClr val="C62828"/>
                </a:solidFill>
                <a:latin typeface="Arial"/>
              </a:rPr>
              <a:t>(2)</a:t>
            </a:r>
            <a:r>
              <a:rPr sz="1700" b="0" i="0">
                <a:solidFill>
                  <a:srgbClr val="1A1A1A"/>
                </a:solidFill>
                <a:latin typeface="Arial"/>
              </a:rPr>
              <a:t>, a point of rest.</a:t>
            </a:r>
          </a:p>
          <a:p>
            <a:pPr algn="l">
              <a:lnSpc>
                <a:spcPct val="105000"/>
              </a:lnSpc>
              <a:spcBef>
                <a:spcPts val="0"/>
              </a:spcBef>
              <a:spcAft>
                <a:spcPts val="1100"/>
              </a:spcAft>
            </a:pPr>
            <a:r>
              <a:rPr sz="1700" b="1" i="0">
                <a:solidFill>
                  <a:srgbClr val="1F5FAD"/>
                </a:solidFill>
                <a:latin typeface="Arial"/>
              </a:rPr>
              <a:t>(3)</a:t>
            </a:r>
            <a:r>
              <a:rPr sz="1700" b="0" i="0">
                <a:solidFill>
                  <a:srgbClr val="1A1A1A"/>
                </a:solidFill>
                <a:latin typeface="Arial"/>
              </a:rPr>
              <a:t> High Volume Continuation Bar, wide on high volume: backed by very large participation. Bullish in an uptrend, bearish in a downtrend.</a:t>
            </a:r>
          </a:p>
        </p:txBody>
      </p:sp>
      <p:sp>
        <p:nvSpPr>
          <p:cNvPr id="8" name="Rectangle 7"/>
          <p:cNvSpPr/>
          <p:nvPr/>
        </p:nvSpPr>
        <p:spPr>
          <a:xfrm>
            <a:off x="777240" y="4400550"/>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37126"/>
            <a:ext cx="482803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rest bar reads by the trend's speed; the continuation bar, by its direction.</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j.png"/>
          <p:cNvPicPr>
            <a:picLocks noChangeAspect="1"/>
          </p:cNvPicPr>
          <p:nvPr/>
        </p:nvPicPr>
        <p:blipFill>
          <a:blip r:embed="rId2"/>
          <a:stretch>
            <a:fillRect/>
          </a:stretch>
        </p:blipFill>
        <p:spPr>
          <a:xfrm>
            <a:off x="6338163" y="1929384"/>
            <a:ext cx="4956048" cy="3511296"/>
          </a:xfrm>
          <a:prstGeom prst="rect">
            <a:avLst/>
          </a:prstGeom>
        </p:spPr>
      </p:pic>
      <p:sp>
        <p:nvSpPr>
          <p:cNvPr id="12" name="Rectangle 11"/>
          <p:cNvSpPr/>
          <p:nvPr/>
        </p:nvSpPr>
        <p:spPr>
          <a:xfrm>
            <a:off x="7220340" y="2561417"/>
            <a:ext cx="163549" cy="2633472"/>
          </a:xfrm>
          <a:prstGeom prst="rect">
            <a:avLst/>
          </a:prstGeom>
          <a:noFill/>
          <a:ln w="44450">
            <a:solidFill>
              <a:srgbClr val="E09B00"/>
            </a:solidFill>
          </a:ln>
        </p:spPr>
        <p:txBody>
          <a:bodyPr rtlCol="0" anchor="ctr"/>
          <a:lstStyle/>
          <a:p>
            <a:pPr algn="ctr"/>
          </a:p>
        </p:txBody>
      </p:sp>
      <p:sp>
        <p:nvSpPr>
          <p:cNvPr id="13" name="Rectangle 12"/>
          <p:cNvSpPr/>
          <p:nvPr/>
        </p:nvSpPr>
        <p:spPr>
          <a:xfrm>
            <a:off x="8796363" y="2877433"/>
            <a:ext cx="153637" cy="2317455"/>
          </a:xfrm>
          <a:prstGeom prst="rect">
            <a:avLst/>
          </a:prstGeom>
          <a:noFill/>
          <a:ln w="44450">
            <a:solidFill>
              <a:srgbClr val="C62828"/>
            </a:solidFill>
          </a:ln>
        </p:spPr>
        <p:txBody>
          <a:bodyPr rtlCol="0" anchor="ctr"/>
          <a:lstStyle/>
          <a:p>
            <a:pPr algn="ctr"/>
          </a:p>
        </p:txBody>
      </p:sp>
      <p:sp>
        <p:nvSpPr>
          <p:cNvPr id="14" name="Rectangle 13"/>
          <p:cNvSpPr/>
          <p:nvPr/>
        </p:nvSpPr>
        <p:spPr>
          <a:xfrm>
            <a:off x="10481419" y="2947659"/>
            <a:ext cx="158593" cy="2247229"/>
          </a:xfrm>
          <a:prstGeom prst="rect">
            <a:avLst/>
          </a:prstGeom>
          <a:noFill/>
          <a:ln w="44450">
            <a:solidFill>
              <a:srgbClr val="1F5FAD"/>
            </a:solidFill>
          </a:ln>
        </p:spPr>
        <p:txBody>
          <a:bodyPr rtlCol="0" anchor="ctr"/>
          <a:lstStyle/>
          <a:p>
            <a:pPr algn="ctr"/>
          </a:p>
        </p:txBody>
      </p:sp>
      <p:sp>
        <p:nvSpPr>
          <p:cNvPr id="15" name="Oval 14"/>
          <p:cNvSpPr/>
          <p:nvPr/>
        </p:nvSpPr>
        <p:spPr>
          <a:xfrm>
            <a:off x="7421727" y="359980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412937" y="258153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10073213" y="2651760"/>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AJ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the readings and reasons are the book's. The chart is ours: sketches, not prices.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rest bar's two readings,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8 of 26</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Ours: a rise of PHP 1.60 a bar stalls on a PHP 0.30 bar with a quarter of the usual volume. That fast, then that quiet: a potential reversal.</a:t>
            </a:r>
          </a:p>
          <a:p>
            <a:pPr algn="l">
              <a:lnSpc>
                <a:spcPct val="105000"/>
              </a:lnSpc>
              <a:spcBef>
                <a:spcPts val="0"/>
              </a:spcBef>
              <a:spcAft>
                <a:spcPts val="1100"/>
              </a:spcAft>
            </a:pPr>
            <a:r>
              <a:rPr sz="1800" b="1" i="0">
                <a:solidFill>
                  <a:srgbClr val="C62828"/>
                </a:solidFill>
                <a:latin typeface="Arial"/>
              </a:rPr>
              <a:t>(2)</a:t>
            </a:r>
            <a:r>
              <a:rPr sz="1800" b="0" i="0">
                <a:solidFill>
                  <a:srgbClr val="1A1A1A"/>
                </a:solidFill>
                <a:latin typeface="Arial"/>
              </a:rPr>
              <a:t> The same quiet bar in a rise of PHP 0.45 a bar: a point of rest, a pause before the rise goes on. The book gives no speed for strong and rapid.</a:t>
            </a:r>
          </a:p>
          <a:p>
            <a:pPr algn="l">
              <a:lnSpc>
                <a:spcPct val="105000"/>
              </a:lnSpc>
              <a:spcBef>
                <a:spcPts val="0"/>
              </a:spcBef>
              <a:spcAft>
                <a:spcPts val="1100"/>
              </a:spcAft>
            </a:pPr>
            <a:r>
              <a:rPr sz="1800" b="0" i="0">
                <a:solidFill>
                  <a:srgbClr val="1A1A1A"/>
                </a:solidFill>
                <a:latin typeface="Arial"/>
              </a:rPr>
              <a:t>Chapter 5 called both low volume bars only trend inhibiting, holding the trend back. Here each can also mark a reversal.</a:t>
            </a:r>
          </a:p>
        </p:txBody>
      </p:sp>
      <p:sp>
        <p:nvSpPr>
          <p:cNvPr id="8" name="Rectangle 7"/>
          <p:cNvSpPr/>
          <p:nvPr/>
        </p:nvSpPr>
        <p:spPr>
          <a:xfrm>
            <a:off x="777240" y="5253228"/>
            <a:ext cx="82296" cy="43586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89804"/>
            <a:ext cx="5559552" cy="43586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Read the rest bar with the trend's speed.</a:t>
            </a:r>
          </a:p>
        </p:txBody>
      </p:sp>
      <p:sp>
        <p:nvSpPr>
          <p:cNvPr id="10" name="Rectangle 9"/>
          <p:cNvSpPr/>
          <p:nvPr/>
        </p:nvSpPr>
        <p:spPr>
          <a:xfrm>
            <a:off x="6950811" y="1810512"/>
            <a:ext cx="446227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c.png"/>
          <p:cNvPicPr>
            <a:picLocks noChangeAspect="1"/>
          </p:cNvPicPr>
          <p:nvPr/>
        </p:nvPicPr>
        <p:blipFill>
          <a:blip r:embed="rId2"/>
          <a:stretch>
            <a:fillRect/>
          </a:stretch>
        </p:blipFill>
        <p:spPr>
          <a:xfrm>
            <a:off x="7069683" y="1929384"/>
            <a:ext cx="4224528" cy="3511296"/>
          </a:xfrm>
          <a:prstGeom prst="rect">
            <a:avLst/>
          </a:prstGeom>
        </p:spPr>
      </p:pic>
      <p:sp>
        <p:nvSpPr>
          <p:cNvPr id="12" name="Rectangle 11"/>
          <p:cNvSpPr/>
          <p:nvPr/>
        </p:nvSpPr>
        <p:spPr>
          <a:xfrm>
            <a:off x="8210306" y="2561417"/>
            <a:ext cx="173205" cy="2563246"/>
          </a:xfrm>
          <a:prstGeom prst="rect">
            <a:avLst/>
          </a:prstGeom>
          <a:noFill/>
          <a:ln w="44450">
            <a:solidFill>
              <a:srgbClr val="E09B00"/>
            </a:solidFill>
          </a:ln>
        </p:spPr>
        <p:txBody>
          <a:bodyPr rtlCol="0" anchor="ctr"/>
          <a:lstStyle/>
          <a:p>
            <a:pPr algn="ctr"/>
          </a:p>
        </p:txBody>
      </p:sp>
      <p:sp>
        <p:nvSpPr>
          <p:cNvPr id="13" name="Rectangle 12"/>
          <p:cNvSpPr/>
          <p:nvPr/>
        </p:nvSpPr>
        <p:spPr>
          <a:xfrm>
            <a:off x="10208507" y="2947659"/>
            <a:ext cx="164756" cy="2177003"/>
          </a:xfrm>
          <a:prstGeom prst="rect">
            <a:avLst/>
          </a:prstGeom>
          <a:noFill/>
          <a:ln w="44450">
            <a:solidFill>
              <a:srgbClr val="C62828"/>
            </a:solidFill>
          </a:ln>
        </p:spPr>
        <p:txBody>
          <a:bodyPr rtlCol="0" anchor="ctr"/>
          <a:lstStyle/>
          <a:p>
            <a:pPr algn="ctr"/>
          </a:p>
        </p:txBody>
      </p:sp>
      <p:sp>
        <p:nvSpPr>
          <p:cNvPr id="14" name="Oval 13"/>
          <p:cNvSpPr/>
          <p:nvPr/>
        </p:nvSpPr>
        <p:spPr>
          <a:xfrm>
            <a:off x="8392820" y="342424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9871405" y="258153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6949440" y="5650991"/>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JC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p.197; Chapter 5, characteristic 15. Ours: every number, the chart, and a pause as the plain reading of point of rest. The book gives no reason speed matters.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High volume reversal bars: a dollar fund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9 of 26</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At </a:t>
            </a:r>
            <a:r>
              <a:rPr sz="1700" b="1" i="0">
                <a:solidFill>
                  <a:srgbClr val="E09B00"/>
                </a:solidFill>
                <a:latin typeface="Arial"/>
              </a:rPr>
              <a:t>(1)</a:t>
            </a:r>
            <a:r>
              <a:rPr sz="1700" b="0" i="0">
                <a:solidFill>
                  <a:srgbClr val="1A1A1A"/>
                </a:solidFill>
                <a:latin typeface="Arial"/>
              </a:rPr>
              <a:t> and </a:t>
            </a:r>
            <a:r>
              <a:rPr sz="1700" b="1" i="0">
                <a:solidFill>
                  <a:srgbClr val="C62828"/>
                </a:solidFill>
                <a:latin typeface="Arial"/>
              </a:rPr>
              <a:t>(2)</a:t>
            </a:r>
            <a:r>
              <a:rPr sz="1700" b="0" i="0">
                <a:solidFill>
                  <a:srgbClr val="1A1A1A"/>
                </a:solidFill>
                <a:latin typeface="Arial"/>
              </a:rPr>
              <a:t>: a narrow range candle on one of the tallest volume bars, about 11 to 13 million shares against 5 million most days.</a:t>
            </a:r>
          </a:p>
          <a:p>
            <a:pPr algn="l">
              <a:lnSpc>
                <a:spcPct val="105000"/>
              </a:lnSpc>
              <a:spcBef>
                <a:spcPts val="0"/>
              </a:spcBef>
              <a:spcAft>
                <a:spcPts val="1100"/>
              </a:spcAft>
            </a:pPr>
            <a:r>
              <a:rPr sz="1700" b="0" i="0">
                <a:solidFill>
                  <a:srgbClr val="1A1A1A"/>
                </a:solidFill>
                <a:latin typeface="Arial"/>
              </a:rPr>
              <a:t>Point 1, late October, at a low: price then rises. Point 2, at the year end, ends a dip from about 22.6 to 22.35: price turns back up to 22.72.</a:t>
            </a:r>
          </a:p>
          <a:p>
            <a:pPr algn="l">
              <a:lnSpc>
                <a:spcPct val="105000"/>
              </a:lnSpc>
              <a:spcBef>
                <a:spcPts val="0"/>
              </a:spcBef>
              <a:spcAft>
                <a:spcPts val="1100"/>
              </a:spcAft>
            </a:pPr>
            <a:r>
              <a:rPr sz="1700" b="1" i="0">
                <a:solidFill>
                  <a:srgbClr val="1F5FAD"/>
                </a:solidFill>
                <a:latin typeface="Arial"/>
              </a:rPr>
              <a:t>(3)</a:t>
            </a:r>
            <a:r>
              <a:rPr sz="1700" b="0" i="0">
                <a:solidFill>
                  <a:srgbClr val="1A1A1A"/>
                </a:solidFill>
                <a:latin typeface="Arial"/>
              </a:rPr>
              <a:t> August: volume falls into a triangle's apex, where its lines meet: Part 2's low volume breakout signal. Then a volume surge.</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519379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Narrow bar, heavy volume, then a turn.</a:t>
            </a:r>
          </a:p>
        </p:txBody>
      </p:sp>
      <p:sp>
        <p:nvSpPr>
          <p:cNvPr id="10" name="Rectangle 9"/>
          <p:cNvSpPr/>
          <p:nvPr/>
        </p:nvSpPr>
        <p:spPr>
          <a:xfrm>
            <a:off x="6583679" y="1810512"/>
            <a:ext cx="4830775" cy="3040081"/>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2802337"/>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345137"/>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6.31</a:t>
            </a:r>
          </a:p>
          <a:p>
            <a:pPr algn="l">
              <a:lnSpc>
                <a:spcPct val="115000"/>
              </a:lnSpc>
              <a:spcBef>
                <a:spcPts val="0"/>
              </a:spcBef>
              <a:spcAft>
                <a:spcPts val="0"/>
              </a:spcAft>
            </a:pPr>
            <a:r>
              <a:rPr sz="1500" b="0" i="0">
                <a:solidFill>
                  <a:srgbClr val="1A1A1A"/>
                </a:solidFill>
                <a:latin typeface="Palatino"/>
              </a:rPr>
              <a:t>The daily dollar fund: narrow range candlesticks on high volume circled at 1, at a low, and 2, at a dip near the highs, lined to tall volume bars; a triangle at the left.</a:t>
            </a:r>
          </a:p>
        </p:txBody>
      </p:sp>
      <p:sp>
        <p:nvSpPr>
          <p:cNvPr id="14" name="Oval 13"/>
          <p:cNvSpPr/>
          <p:nvPr/>
        </p:nvSpPr>
        <p:spPr>
          <a:xfrm>
            <a:off x="9044997" y="3302529"/>
            <a:ext cx="505233" cy="476397"/>
          </a:xfrm>
          <a:prstGeom prst="ellipse">
            <a:avLst/>
          </a:prstGeom>
          <a:noFill/>
          <a:ln w="44450">
            <a:solidFill>
              <a:srgbClr val="E09B00"/>
            </a:solidFill>
          </a:ln>
        </p:spPr>
        <p:txBody>
          <a:bodyPr rtlCol="0" anchor="ctr"/>
          <a:lstStyle/>
          <a:p>
            <a:pPr algn="ctr"/>
          </a:p>
        </p:txBody>
      </p:sp>
      <p:sp>
        <p:nvSpPr>
          <p:cNvPr id="15" name="Oval 14"/>
          <p:cNvSpPr/>
          <p:nvPr/>
        </p:nvSpPr>
        <p:spPr>
          <a:xfrm>
            <a:off x="10629593" y="2377757"/>
            <a:ext cx="390407" cy="364303"/>
          </a:xfrm>
          <a:prstGeom prst="ellipse">
            <a:avLst/>
          </a:prstGeom>
          <a:noFill/>
          <a:ln w="44450">
            <a:solidFill>
              <a:srgbClr val="C62828"/>
            </a:solidFill>
          </a:ln>
        </p:spPr>
        <p:txBody>
          <a:bodyPr rtlCol="0" anchor="ctr"/>
          <a:lstStyle/>
          <a:p>
            <a:pPr algn="ctr"/>
          </a:p>
        </p:txBody>
      </p:sp>
      <p:sp>
        <p:nvSpPr>
          <p:cNvPr id="16" name="Rectangle 15"/>
          <p:cNvSpPr/>
          <p:nvPr/>
        </p:nvSpPr>
        <p:spPr>
          <a:xfrm>
            <a:off x="7299646" y="3274505"/>
            <a:ext cx="826745" cy="1317098"/>
          </a:xfrm>
          <a:prstGeom prst="rect">
            <a:avLst/>
          </a:prstGeom>
          <a:noFill/>
          <a:ln w="44450">
            <a:solidFill>
              <a:srgbClr val="1F5FAD"/>
            </a:solidFill>
          </a:ln>
        </p:spPr>
        <p:txBody>
          <a:bodyPr rtlCol="0" anchor="ctr"/>
          <a:lstStyle/>
          <a:p>
            <a:pPr algn="ctr"/>
          </a:p>
        </p:txBody>
      </p:sp>
      <p:sp>
        <p:nvSpPr>
          <p:cNvPr id="17" name="Oval 16"/>
          <p:cNvSpPr/>
          <p:nvPr/>
        </p:nvSpPr>
        <p:spPr>
          <a:xfrm>
            <a:off x="8843619" y="303498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359319" y="213823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6960476" y="3091034"/>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583679" y="4942033"/>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6.31 -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p.198 and Figure 6.31, the PowerShares DB U.S. Dollar Bullish Fund. Ours: volumes read by eye. The curved lines are Bollinger Bands, not discussed.</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reversal bar at a bottom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10 of 26</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The dollar fund in 2010: a narrow range candlestick on high volume, circled at a low around the start of November </a:t>
            </a:r>
            <a:r>
              <a:rPr sz="1900" b="1" i="0">
                <a:solidFill>
                  <a:srgbClr val="E09B00"/>
                </a:solidFill>
                <a:latin typeface="Arial"/>
              </a:rPr>
              <a:t>(1)</a:t>
            </a:r>
            <a:r>
              <a:rPr sz="1900" b="0" i="0">
                <a:solidFill>
                  <a:srgbClr val="1A1A1A"/>
                </a:solidFill>
                <a:latin typeface="Arial"/>
              </a:rPr>
              <a:t>.</a:t>
            </a:r>
          </a:p>
          <a:p>
            <a:pPr algn="l">
              <a:lnSpc>
                <a:spcPct val="105000"/>
              </a:lnSpc>
              <a:spcBef>
                <a:spcPts val="0"/>
              </a:spcBef>
              <a:spcAft>
                <a:spcPts val="1100"/>
              </a:spcAft>
            </a:pPr>
            <a:r>
              <a:rPr sz="1900" b="0" i="0">
                <a:solidFill>
                  <a:srgbClr val="1A1A1A"/>
                </a:solidFill>
                <a:latin typeface="Arial"/>
              </a:rPr>
              <a:t>The volume bars under the circle are among the chart's tallest. Price then rebounds </a:t>
            </a:r>
            <a:r>
              <a:rPr sz="1900" b="1" i="0">
                <a:solidFill>
                  <a:srgbClr val="C62828"/>
                </a:solidFill>
                <a:latin typeface="Arial"/>
              </a:rPr>
              <a:t>(2)</a:t>
            </a:r>
            <a:r>
              <a:rPr sz="1900" b="0" i="0">
                <a:solidFill>
                  <a:srgbClr val="1A1A1A"/>
                </a:solidFill>
                <a:latin typeface="Arial"/>
              </a:rPr>
              <a:t>, from about 22.0 to about 23.5 within the month.</a:t>
            </a:r>
          </a:p>
        </p:txBody>
      </p:sp>
      <p:sp>
        <p:nvSpPr>
          <p:cNvPr id="8" name="Rectangle 7"/>
          <p:cNvSpPr/>
          <p:nvPr/>
        </p:nvSpPr>
        <p:spPr>
          <a:xfrm>
            <a:off x="777240" y="4624578"/>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61154"/>
            <a:ext cx="501091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The converse case: in a decline, a high volume reversal bar is bullish.</a:t>
            </a:r>
          </a:p>
        </p:txBody>
      </p:sp>
      <p:sp>
        <p:nvSpPr>
          <p:cNvPr id="10" name="Rectangle 9"/>
          <p:cNvSpPr/>
          <p:nvPr/>
        </p:nvSpPr>
        <p:spPr>
          <a:xfrm>
            <a:off x="6400799" y="1810512"/>
            <a:ext cx="5013655" cy="246427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519671" y="1929384"/>
            <a:ext cx="4775911" cy="2226531"/>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19671" y="1929384"/>
            <a:ext cx="477591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93991" y="2203703"/>
            <a:ext cx="4227271" cy="176933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6.32</a:t>
            </a:r>
          </a:p>
          <a:p>
            <a:pPr algn="l">
              <a:lnSpc>
                <a:spcPct val="115000"/>
              </a:lnSpc>
              <a:spcBef>
                <a:spcPts val="0"/>
              </a:spcBef>
              <a:spcAft>
                <a:spcPts val="0"/>
              </a:spcAft>
            </a:pPr>
            <a:r>
              <a:rPr sz="1500" b="0" i="0">
                <a:solidFill>
                  <a:srgbClr val="1A1A1A"/>
                </a:solidFill>
                <a:latin typeface="Palatino"/>
              </a:rPr>
              <a:t>The daily PowerShares DB U.S. Dollar Bullish Fund with a narrow range candlestick on high volume circled at a low at the start of November, followed by a strong rise.</a:t>
            </a:r>
          </a:p>
        </p:txBody>
      </p:sp>
      <p:sp>
        <p:nvSpPr>
          <p:cNvPr id="14" name="Oval 13"/>
          <p:cNvSpPr/>
          <p:nvPr/>
        </p:nvSpPr>
        <p:spPr>
          <a:xfrm>
            <a:off x="6997263" y="3688344"/>
            <a:ext cx="549229" cy="445306"/>
          </a:xfrm>
          <a:prstGeom prst="ellipse">
            <a:avLst/>
          </a:prstGeom>
          <a:noFill/>
          <a:ln w="44450">
            <a:solidFill>
              <a:srgbClr val="E09B00"/>
            </a:solidFill>
          </a:ln>
        </p:spPr>
        <p:txBody>
          <a:bodyPr rtlCol="0" anchor="ctr"/>
          <a:lstStyle/>
          <a:p>
            <a:pPr algn="ctr"/>
          </a:p>
        </p:txBody>
      </p:sp>
      <p:cxnSp>
        <p:nvCxnSpPr>
          <p:cNvPr id="15" name="Connector 14"/>
          <p:cNvCxnSpPr/>
          <p:nvPr/>
        </p:nvCxnSpPr>
        <p:spPr>
          <a:xfrm flipV="1">
            <a:off x="7474854" y="2307894"/>
            <a:ext cx="740266" cy="1269123"/>
          </a:xfrm>
          <a:prstGeom prst="line">
            <a:avLst/>
          </a:prstGeom>
          <a:ln w="44450">
            <a:solidFill>
              <a:srgbClr val="C62828"/>
            </a:solidFill>
            <a:tailEnd type="triangle" w="med" len="med"/>
          </a:ln>
        </p:spPr>
      </p:cxnSp>
      <p:sp>
        <p:nvSpPr>
          <p:cNvPr id="16" name="Oval 15"/>
          <p:cNvSpPr/>
          <p:nvPr/>
        </p:nvSpPr>
        <p:spPr>
          <a:xfrm>
            <a:off x="6889574" y="355516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7319406" y="328797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400799" y="4366227"/>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6.32 -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p.198 and Figure 6.32, the PowerShares DB U.S. Dollar Bullish Fund. Ours: the prices and volumes, read by eye.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More reliable inside the larger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11 of 26</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dollar fund, 2011: a larger downtrend </a:t>
            </a:r>
            <a:r>
              <a:rPr sz="1700" b="1" i="0">
                <a:solidFill>
                  <a:srgbClr val="E09B00"/>
                </a:solidFill>
                <a:latin typeface="Arial"/>
              </a:rPr>
              <a:t>(1)</a:t>
            </a:r>
            <a:r>
              <a:rPr sz="1700" b="0" i="0">
                <a:solidFill>
                  <a:srgbClr val="1A1A1A"/>
                </a:solidFill>
                <a:latin typeface="Arial"/>
              </a:rPr>
              <a:t>, about 23.4 in January to 21.0 in May. A short rally ends at a circled high volume reversal bar </a:t>
            </a:r>
            <a:r>
              <a:rPr sz="1700" b="1" i="0">
                <a:solidFill>
                  <a:srgbClr val="C62828"/>
                </a:solidFill>
                <a:latin typeface="Arial"/>
              </a:rPr>
              <a:t>(2)</a:t>
            </a:r>
            <a:r>
              <a:rPr sz="1700" b="0" i="0">
                <a:solidFill>
                  <a:srgbClr val="1A1A1A"/>
                </a:solidFill>
                <a:latin typeface="Arial"/>
              </a:rPr>
              <a:t>, May 23.</a:t>
            </a:r>
          </a:p>
          <a:p>
            <a:pPr algn="l">
              <a:lnSpc>
                <a:spcPct val="105000"/>
              </a:lnSpc>
              <a:spcBef>
                <a:spcPts val="0"/>
              </a:spcBef>
              <a:spcAft>
                <a:spcPts val="1100"/>
              </a:spcAft>
            </a:pPr>
            <a:r>
              <a:rPr sz="1700" b="0" i="0">
                <a:solidFill>
                  <a:srgbClr val="1A1A1A"/>
                </a:solidFill>
                <a:latin typeface="Arial"/>
              </a:rPr>
              <a:t>Before it, bearish divergence </a:t>
            </a:r>
            <a:r>
              <a:rPr sz="1700" b="1" i="0">
                <a:solidFill>
                  <a:srgbClr val="1F5FAD"/>
                </a:solidFill>
                <a:latin typeface="Arial"/>
              </a:rPr>
              <a:t>(3)</a:t>
            </a:r>
            <a:r>
              <a:rPr sz="1700" b="0" i="0">
                <a:solidFill>
                  <a:srgbClr val="1A1A1A"/>
                </a:solidFill>
                <a:latin typeface="Arial"/>
              </a:rPr>
              <a:t>: price rising while volume fell, and the MACD too.</a:t>
            </a:r>
          </a:p>
          <a:p>
            <a:pPr algn="l">
              <a:lnSpc>
                <a:spcPct val="105000"/>
              </a:lnSpc>
              <a:spcBef>
                <a:spcPts val="0"/>
              </a:spcBef>
              <a:spcAft>
                <a:spcPts val="1100"/>
              </a:spcAft>
            </a:pPr>
            <a:r>
              <a:rPr sz="1700" b="0" i="0">
                <a:solidFill>
                  <a:srgbClr val="1A1A1A"/>
                </a:solidFill>
                <a:latin typeface="Arial"/>
              </a:rPr>
              <a:t>Bearish, the larger trend's way: potentially more reliable, the book says. Prices then fell.</a:t>
            </a:r>
          </a:p>
          <a:p>
            <a:pPr algn="l">
              <a:lnSpc>
                <a:spcPct val="105000"/>
              </a:lnSpc>
              <a:spcBef>
                <a:spcPts val="0"/>
              </a:spcBef>
              <a:spcAft>
                <a:spcPts val="1100"/>
              </a:spcAft>
            </a:pPr>
            <a:r>
              <a:rPr sz="1700" b="1" i="0">
                <a:solidFill>
                  <a:srgbClr val="007A33"/>
                </a:solidFill>
                <a:latin typeface="Arial"/>
              </a:rPr>
              <a:t>(4)</a:t>
            </a:r>
            <a:r>
              <a:rPr sz="1700" b="0" i="0">
                <a:solidFill>
                  <a:srgbClr val="1A1A1A"/>
                </a:solidFill>
                <a:latin typeface="Arial"/>
              </a:rPr>
              <a:t> X, early May: a high volume continuation bar.</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55595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Agreeing with the larger trend: more reliable.</a:t>
            </a:r>
          </a:p>
        </p:txBody>
      </p:sp>
      <p:sp>
        <p:nvSpPr>
          <p:cNvPr id="10" name="Rectangle 9"/>
          <p:cNvSpPr/>
          <p:nvPr/>
        </p:nvSpPr>
        <p:spPr>
          <a:xfrm>
            <a:off x="6949440" y="1810512"/>
            <a:ext cx="4465014" cy="363041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068312" y="1929384"/>
            <a:ext cx="4227270" cy="339267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068312" y="1929384"/>
            <a:ext cx="42272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42631" y="2203703"/>
            <a:ext cx="3678631" cy="293547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6.33</a:t>
            </a:r>
          </a:p>
          <a:p>
            <a:pPr algn="l">
              <a:lnSpc>
                <a:spcPct val="115000"/>
              </a:lnSpc>
              <a:spcBef>
                <a:spcPts val="0"/>
              </a:spcBef>
              <a:spcAft>
                <a:spcPts val="0"/>
              </a:spcAft>
            </a:pPr>
            <a:r>
              <a:rPr sz="1500" b="0" i="0">
                <a:solidFill>
                  <a:srgbClr val="1A1A1A"/>
                </a:solidFill>
                <a:latin typeface="Palatino"/>
              </a:rPr>
              <a:t>The daily dollar fund in a long decline: a circled high volume reversal bar at a short rally's top in late May, falling lines over volume and the MACD before it, and a continuation bar at X.</a:t>
            </a:r>
          </a:p>
        </p:txBody>
      </p:sp>
      <p:cxnSp>
        <p:nvCxnSpPr>
          <p:cNvPr id="14" name="Connector 13"/>
          <p:cNvCxnSpPr/>
          <p:nvPr/>
        </p:nvCxnSpPr>
        <p:spPr>
          <a:xfrm>
            <a:off x="7786948" y="2777552"/>
            <a:ext cx="2240453" cy="1390996"/>
          </a:xfrm>
          <a:prstGeom prst="line">
            <a:avLst/>
          </a:prstGeom>
          <a:ln w="44450">
            <a:solidFill>
              <a:srgbClr val="E09B00"/>
            </a:solidFill>
            <a:tailEnd type="triangle" w="med" len="med"/>
          </a:ln>
        </p:spPr>
      </p:cxnSp>
      <p:sp>
        <p:nvSpPr>
          <p:cNvPr id="15" name="Oval 14"/>
          <p:cNvSpPr/>
          <p:nvPr/>
        </p:nvSpPr>
        <p:spPr>
          <a:xfrm>
            <a:off x="10450128" y="3523940"/>
            <a:ext cx="507272" cy="407120"/>
          </a:xfrm>
          <a:prstGeom prst="ellipse">
            <a:avLst/>
          </a:prstGeom>
          <a:noFill/>
          <a:ln w="44450">
            <a:solidFill>
              <a:srgbClr val="C62828"/>
            </a:solidFill>
          </a:ln>
        </p:spPr>
        <p:txBody>
          <a:bodyPr rtlCol="0" anchor="ctr"/>
          <a:lstStyle/>
          <a:p>
            <a:pPr algn="ctr"/>
          </a:p>
        </p:txBody>
      </p:sp>
      <p:sp>
        <p:nvSpPr>
          <p:cNvPr id="16" name="Rectangle 15"/>
          <p:cNvSpPr/>
          <p:nvPr/>
        </p:nvSpPr>
        <p:spPr>
          <a:xfrm>
            <a:off x="10281037" y="3964988"/>
            <a:ext cx="634090" cy="407120"/>
          </a:xfrm>
          <a:prstGeom prst="rect">
            <a:avLst/>
          </a:prstGeom>
          <a:noFill/>
          <a:ln w="44450">
            <a:solidFill>
              <a:srgbClr val="1F5FAD"/>
            </a:solidFill>
          </a:ln>
        </p:spPr>
        <p:txBody>
          <a:bodyPr rtlCol="0" anchor="ctr"/>
          <a:lstStyle/>
          <a:p>
            <a:pPr algn="ctr"/>
          </a:p>
        </p:txBody>
      </p:sp>
      <p:sp>
        <p:nvSpPr>
          <p:cNvPr id="17" name="Oval 16"/>
          <p:cNvSpPr/>
          <p:nvPr/>
        </p:nvSpPr>
        <p:spPr>
          <a:xfrm>
            <a:off x="9985128" y="3863207"/>
            <a:ext cx="317045" cy="339267"/>
          </a:xfrm>
          <a:prstGeom prst="ellipse">
            <a:avLst/>
          </a:prstGeom>
          <a:noFill/>
          <a:ln w="44450">
            <a:solidFill>
              <a:srgbClr val="007A33"/>
            </a:solidFill>
          </a:ln>
        </p:spPr>
        <p:txBody>
          <a:bodyPr rtlCol="0" anchor="ctr"/>
          <a:lstStyle/>
          <a:p>
            <a:pPr algn="ctr"/>
          </a:p>
        </p:txBody>
      </p:sp>
      <p:sp>
        <p:nvSpPr>
          <p:cNvPr id="18" name="Oval 17"/>
          <p:cNvSpPr/>
          <p:nvPr/>
        </p:nvSpPr>
        <p:spPr>
          <a:xfrm>
            <a:off x="7631500" y="241854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0336953" y="340241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10421498" y="4369331"/>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9702862" y="3572052"/>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949440" y="5532369"/>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6.33 -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6.33, the dollar fund. Ours: prices read by eye. The MACD: met in Chapter 4, not taught. The RSI panel and the two moving averages are not discussed.</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larger trend matters,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12 of 26</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Larger, or predominant, trend: the whole move, our reading, as the book gives none. </a:t>
            </a:r>
            <a:r>
              <a:rPr sz="2000" b="1" i="0">
                <a:solidFill>
                  <a:srgbClr val="E09B00"/>
                </a:solidFill>
                <a:latin typeface="Arial"/>
              </a:rPr>
              <a:t>(1)</a:t>
            </a:r>
            <a:r>
              <a:rPr sz="2000" b="0" i="0">
                <a:solidFill>
                  <a:srgbClr val="1A1A1A"/>
                </a:solidFill>
                <a:latin typeface="Arial"/>
              </a:rPr>
              <a:t> Here, about 23.4 in January down to 21.0 in May.</a:t>
            </a:r>
          </a:p>
          <a:p>
            <a:pPr algn="l">
              <a:lnSpc>
                <a:spcPct val="105000"/>
              </a:lnSpc>
              <a:spcBef>
                <a:spcPts val="0"/>
              </a:spcBef>
              <a:spcAft>
                <a:spcPts val="1100"/>
              </a:spcAft>
            </a:pPr>
            <a:r>
              <a:rPr sz="2000" b="1" i="0">
                <a:solidFill>
                  <a:srgbClr val="C62828"/>
                </a:solidFill>
                <a:latin typeface="Arial"/>
              </a:rPr>
              <a:t>(2)</a:t>
            </a:r>
            <a:r>
              <a:rPr sz="2000" b="0" i="0">
                <a:solidFill>
                  <a:srgbClr val="1A1A1A"/>
                </a:solidFill>
                <a:latin typeface="Arial"/>
              </a:rPr>
              <a:t> The circled high volume reversal bar is bearish, with that fall: potentially more reliable, the book says.</a:t>
            </a:r>
          </a:p>
        </p:txBody>
      </p:sp>
      <p:sp>
        <p:nvSpPr>
          <p:cNvPr id="8" name="Rectangle 7"/>
          <p:cNvSpPr/>
          <p:nvPr/>
        </p:nvSpPr>
        <p:spPr>
          <a:xfrm>
            <a:off x="777240" y="441655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53128"/>
            <a:ext cx="55595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Ask which way the larger trend runs. The book gives no further reason.</a:t>
            </a:r>
          </a:p>
        </p:txBody>
      </p:sp>
      <p:sp>
        <p:nvSpPr>
          <p:cNvPr id="10" name="Rectangle 9"/>
          <p:cNvSpPr/>
          <p:nvPr/>
        </p:nvSpPr>
        <p:spPr>
          <a:xfrm>
            <a:off x="6949440" y="1810512"/>
            <a:ext cx="4465014" cy="363041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068312" y="1929384"/>
            <a:ext cx="4227270" cy="339267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068312" y="1929384"/>
            <a:ext cx="42272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42631" y="2203703"/>
            <a:ext cx="3678631" cy="293547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6.33</a:t>
            </a:r>
          </a:p>
          <a:p>
            <a:pPr algn="l">
              <a:lnSpc>
                <a:spcPct val="115000"/>
              </a:lnSpc>
              <a:spcBef>
                <a:spcPts val="0"/>
              </a:spcBef>
              <a:spcAft>
                <a:spcPts val="0"/>
              </a:spcAft>
            </a:pPr>
            <a:r>
              <a:rPr sz="1500" b="0" i="0">
                <a:solidFill>
                  <a:srgbClr val="1A1A1A"/>
                </a:solidFill>
                <a:latin typeface="Palatino"/>
              </a:rPr>
              <a:t>The daily dollar fund in a long decline from about 23.4 in January to 21.0 in May, with a circled high volume reversal bar at a short rally's top in late May.</a:t>
            </a:r>
          </a:p>
        </p:txBody>
      </p:sp>
      <p:cxnSp>
        <p:nvCxnSpPr>
          <p:cNvPr id="14" name="Connector 13"/>
          <p:cNvCxnSpPr/>
          <p:nvPr/>
        </p:nvCxnSpPr>
        <p:spPr>
          <a:xfrm>
            <a:off x="7786948" y="2777552"/>
            <a:ext cx="2240453" cy="1390996"/>
          </a:xfrm>
          <a:prstGeom prst="line">
            <a:avLst/>
          </a:prstGeom>
          <a:ln w="44450">
            <a:solidFill>
              <a:srgbClr val="E09B00"/>
            </a:solidFill>
            <a:tailEnd type="triangle" w="med" len="med"/>
          </a:ln>
        </p:spPr>
      </p:cxnSp>
      <p:sp>
        <p:nvSpPr>
          <p:cNvPr id="15" name="Oval 14"/>
          <p:cNvSpPr/>
          <p:nvPr/>
        </p:nvSpPr>
        <p:spPr>
          <a:xfrm>
            <a:off x="10450128" y="3523940"/>
            <a:ext cx="507272" cy="407120"/>
          </a:xfrm>
          <a:prstGeom prst="ellipse">
            <a:avLst/>
          </a:prstGeom>
          <a:noFill/>
          <a:ln w="44450">
            <a:solidFill>
              <a:srgbClr val="C62828"/>
            </a:solidFill>
          </a:ln>
        </p:spPr>
        <p:txBody>
          <a:bodyPr rtlCol="0" anchor="ctr"/>
          <a:lstStyle/>
          <a:p>
            <a:pPr algn="ctr"/>
          </a:p>
        </p:txBody>
      </p:sp>
      <p:sp>
        <p:nvSpPr>
          <p:cNvPr id="16" name="Oval 15"/>
          <p:cNvSpPr/>
          <p:nvPr/>
        </p:nvSpPr>
        <p:spPr>
          <a:xfrm>
            <a:off x="7631500" y="241854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336953" y="340241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949440" y="5532369"/>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6.33 -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6.33. Ours: levels read by eye, and the larger trend read as the whole move. The book does not define the larger trend.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X: a continuation bar against the larger trend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13 of 26</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The book: continuation bars, too, are more reliable in the direction of the predominant trend.</a:t>
            </a:r>
          </a:p>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X, our reading, as the book does not say: a high volume continuation bar rising against the larger downtrend, so the less reliable kind.</a:t>
            </a:r>
          </a:p>
          <a:p>
            <a:pPr algn="l">
              <a:lnSpc>
                <a:spcPct val="105000"/>
              </a:lnSpc>
              <a:spcBef>
                <a:spcPts val="0"/>
              </a:spcBef>
              <a:spcAft>
                <a:spcPts val="1100"/>
              </a:spcAft>
            </a:pPr>
            <a:r>
              <a:rPr sz="1800" b="0" i="0">
                <a:solidFill>
                  <a:srgbClr val="1A1A1A"/>
                </a:solidFill>
                <a:latin typeface="Arial"/>
              </a:rPr>
              <a:t>Its rally lasted about two and a half weeks before the fall went on.</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555955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With the larger trend: more reliable. Against it: less.</a:t>
            </a:r>
          </a:p>
        </p:txBody>
      </p:sp>
      <p:sp>
        <p:nvSpPr>
          <p:cNvPr id="10" name="Rectangle 9"/>
          <p:cNvSpPr/>
          <p:nvPr/>
        </p:nvSpPr>
        <p:spPr>
          <a:xfrm>
            <a:off x="6949440" y="1810512"/>
            <a:ext cx="4465014" cy="363041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068312" y="1929384"/>
            <a:ext cx="4227270" cy="339267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068312" y="1929384"/>
            <a:ext cx="42272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42631" y="2203703"/>
            <a:ext cx="3678631" cy="293547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6.33</a:t>
            </a:r>
          </a:p>
          <a:p>
            <a:pPr algn="l">
              <a:lnSpc>
                <a:spcPct val="115000"/>
              </a:lnSpc>
              <a:spcBef>
                <a:spcPts val="0"/>
              </a:spcBef>
              <a:spcAft>
                <a:spcPts val="0"/>
              </a:spcAft>
            </a:pPr>
            <a:r>
              <a:rPr sz="1500" b="0" i="0">
                <a:solidFill>
                  <a:srgbClr val="1A1A1A"/>
                </a:solidFill>
                <a:latin typeface="Palatino"/>
              </a:rPr>
              <a:t>The daily dollar fund in a long decline, with X marking a high volume continuation bar in early May that rises against the decline.</a:t>
            </a:r>
          </a:p>
        </p:txBody>
      </p:sp>
      <p:sp>
        <p:nvSpPr>
          <p:cNvPr id="14" name="Oval 13"/>
          <p:cNvSpPr/>
          <p:nvPr/>
        </p:nvSpPr>
        <p:spPr>
          <a:xfrm>
            <a:off x="9985128" y="3863207"/>
            <a:ext cx="317045" cy="339267"/>
          </a:xfrm>
          <a:prstGeom prst="ellipse">
            <a:avLst/>
          </a:prstGeom>
          <a:noFill/>
          <a:ln w="44450">
            <a:solidFill>
              <a:srgbClr val="E09B00"/>
            </a:solidFill>
          </a:ln>
        </p:spPr>
        <p:txBody>
          <a:bodyPr rtlCol="0" anchor="ctr"/>
          <a:lstStyle/>
          <a:p>
            <a:pPr algn="ctr"/>
          </a:p>
        </p:txBody>
      </p:sp>
      <p:sp>
        <p:nvSpPr>
          <p:cNvPr id="15" name="Oval 14"/>
          <p:cNvSpPr/>
          <p:nvPr/>
        </p:nvSpPr>
        <p:spPr>
          <a:xfrm>
            <a:off x="9702862" y="357205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TextBox 15"/>
          <p:cNvSpPr txBox="1"/>
          <p:nvPr/>
        </p:nvSpPr>
        <p:spPr>
          <a:xfrm>
            <a:off x="6949440" y="5532369"/>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6.33 -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6.33. Ours: the reading of X, and its length read by eye. The book does not discuss X.</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reversal bar at an overextended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14 of 26</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dollar fund, end of October 2011: a high volume reversal bar, circled </a:t>
            </a:r>
            <a:r>
              <a:rPr sz="1700" b="1" i="0">
                <a:solidFill>
                  <a:srgbClr val="E09B00"/>
                </a:solidFill>
                <a:latin typeface="Arial"/>
              </a:rPr>
              <a:t>(1)</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Its volume reaches the line across the volume panel </a:t>
            </a:r>
            <a:r>
              <a:rPr sz="1700" b="1" i="0">
                <a:solidFill>
                  <a:srgbClr val="C62828"/>
                </a:solidFill>
                <a:latin typeface="Arial"/>
              </a:rPr>
              <a:t>(2)</a:t>
            </a:r>
            <a:r>
              <a:rPr sz="1700" b="0" i="0">
                <a:solidFill>
                  <a:srgbClr val="1A1A1A"/>
                </a:solidFill>
                <a:latin typeface="Arial"/>
              </a:rPr>
              <a:t>, about 13 million: the book's historically overextended volume level, Part 2's upper level.</a:t>
            </a:r>
          </a:p>
          <a:p>
            <a:pPr algn="l">
              <a:lnSpc>
                <a:spcPct val="105000"/>
              </a:lnSpc>
              <a:spcBef>
                <a:spcPts val="0"/>
              </a:spcBef>
              <a:spcAft>
                <a:spcPts val="1100"/>
              </a:spcAft>
            </a:pPr>
            <a:r>
              <a:rPr sz="1700" b="0" i="0">
                <a:solidFill>
                  <a:srgbClr val="1A1A1A"/>
                </a:solidFill>
                <a:latin typeface="Arial"/>
              </a:rPr>
              <a:t>Historically is not defined; the line runs level with the September peaks, the oval </a:t>
            </a:r>
            <a:r>
              <a:rPr sz="1700" b="1" i="0">
                <a:solidFill>
                  <a:srgbClr val="1F5FAD"/>
                </a:solidFill>
                <a:latin typeface="Arial"/>
              </a:rPr>
              <a:t>(3)</a:t>
            </a:r>
            <a:r>
              <a:rPr sz="1700" b="0" i="0">
                <a:solidFill>
                  <a:srgbClr val="1A1A1A"/>
                </a:solidFill>
                <a:latin typeface="Arial"/>
              </a:rPr>
              <a:t>. Price had fallen into the bar, and rose after it.</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37667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Two signals agree: the reversal bar, and Part 2's overextended volume.</a:t>
            </a:r>
          </a:p>
        </p:txBody>
      </p:sp>
      <p:sp>
        <p:nvSpPr>
          <p:cNvPr id="10" name="Rectangle 9"/>
          <p:cNvSpPr/>
          <p:nvPr/>
        </p:nvSpPr>
        <p:spPr>
          <a:xfrm>
            <a:off x="6766559" y="1810512"/>
            <a:ext cx="4647895" cy="230532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885431" y="1929384"/>
            <a:ext cx="4410151" cy="2067581"/>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85431" y="1929384"/>
            <a:ext cx="441015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59751" y="2203703"/>
            <a:ext cx="3861511" cy="161038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6.34</a:t>
            </a:r>
          </a:p>
          <a:p>
            <a:pPr algn="l">
              <a:lnSpc>
                <a:spcPct val="115000"/>
              </a:lnSpc>
              <a:spcBef>
                <a:spcPts val="0"/>
              </a:spcBef>
              <a:spcAft>
                <a:spcPts val="0"/>
              </a:spcAft>
            </a:pPr>
            <a:r>
              <a:rPr sz="1300" b="0" i="0">
                <a:solidFill>
                  <a:srgbClr val="1A1A1A"/>
                </a:solidFill>
                <a:latin typeface="Palatino"/>
              </a:rPr>
              <a:t>The daily PowerShares DB U.S. Dollar Bullish Fund with a line across the volume panel labelled historically overextended volume level, and a circled reversal bar at the end of October whose volume reaches that line.</a:t>
            </a:r>
          </a:p>
        </p:txBody>
      </p:sp>
      <p:sp>
        <p:nvSpPr>
          <p:cNvPr id="14" name="Oval 13"/>
          <p:cNvSpPr/>
          <p:nvPr/>
        </p:nvSpPr>
        <p:spPr>
          <a:xfrm>
            <a:off x="10215096" y="3293987"/>
            <a:ext cx="396913" cy="537571"/>
          </a:xfrm>
          <a:prstGeom prst="ellipse">
            <a:avLst/>
          </a:prstGeom>
          <a:noFill/>
          <a:ln w="44450">
            <a:solidFill>
              <a:srgbClr val="E09B00"/>
            </a:solidFill>
          </a:ln>
        </p:spPr>
        <p:txBody>
          <a:bodyPr rtlCol="0" anchor="ctr"/>
          <a:lstStyle/>
          <a:p>
            <a:pPr algn="ctr"/>
          </a:p>
        </p:txBody>
      </p:sp>
      <p:cxnSp>
        <p:nvCxnSpPr>
          <p:cNvPr id="15" name="Connector 14"/>
          <p:cNvCxnSpPr/>
          <p:nvPr/>
        </p:nvCxnSpPr>
        <p:spPr>
          <a:xfrm>
            <a:off x="8825898" y="3387028"/>
            <a:ext cx="2160974" cy="0"/>
          </a:xfrm>
          <a:prstGeom prst="line">
            <a:avLst/>
          </a:prstGeom>
          <a:ln w="44450">
            <a:solidFill>
              <a:srgbClr val="C62828"/>
            </a:solidFill>
          </a:ln>
        </p:spPr>
      </p:cxnSp>
      <p:sp>
        <p:nvSpPr>
          <p:cNvPr id="16" name="Oval 15"/>
          <p:cNvSpPr/>
          <p:nvPr/>
        </p:nvSpPr>
        <p:spPr>
          <a:xfrm>
            <a:off x="9134609" y="3211284"/>
            <a:ext cx="926131" cy="392840"/>
          </a:xfrm>
          <a:prstGeom prst="ellipse">
            <a:avLst/>
          </a:prstGeom>
          <a:noFill/>
          <a:ln w="44450">
            <a:solidFill>
              <a:srgbClr val="1F5FAD"/>
            </a:solidFill>
          </a:ln>
        </p:spPr>
        <p:txBody>
          <a:bodyPr rtlCol="0" anchor="ctr"/>
          <a:lstStyle/>
          <a:p>
            <a:pPr algn="ctr"/>
          </a:p>
        </p:txBody>
      </p:sp>
      <p:sp>
        <p:nvSpPr>
          <p:cNvPr id="17" name="Oval 16"/>
          <p:cNvSpPr/>
          <p:nvPr/>
        </p:nvSpPr>
        <p:spPr>
          <a:xfrm>
            <a:off x="10103749" y="315921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831424" y="323158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023262" y="307651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766559" y="4207277"/>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6.34 -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6.34, the dollar fund. Ours: volume and direction read by eye. The book does not say which way price went.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Constant volume charts find reversal bars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15 of 26</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Chapter 3: a constant volume chart starts a new bar each time a set volume has traded, so every volume bar is the same height </a:t>
            </a:r>
            <a:r>
              <a:rPr sz="1700" b="1" i="0">
                <a:solidFill>
                  <a:srgbClr val="1F5FAD"/>
                </a:solidFill>
                <a:latin typeface="Arial"/>
              </a:rPr>
              <a:t>(3)</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So the book finds reversal bars from the bar range alone and its height against the rest of the bars.</a:t>
            </a:r>
          </a:p>
          <a:p>
            <a:pPr algn="l">
              <a:lnSpc>
                <a:spcPct val="105000"/>
              </a:lnSpc>
              <a:spcBef>
                <a:spcPts val="0"/>
              </a:spcBef>
              <a:spcAft>
                <a:spcPts val="1100"/>
              </a:spcAft>
            </a:pPr>
            <a:r>
              <a:rPr sz="1700" b="0" i="0">
                <a:solidFill>
                  <a:srgbClr val="1A1A1A"/>
                </a:solidFill>
                <a:latin typeface="Arial"/>
              </a:rPr>
              <a:t>Figure 6.35: a narrow bar </a:t>
            </a:r>
            <a:r>
              <a:rPr sz="1700" b="1" i="0">
                <a:solidFill>
                  <a:srgbClr val="E09B00"/>
                </a:solidFill>
                <a:latin typeface="Arial"/>
              </a:rPr>
              <a:t>(1)</a:t>
            </a:r>
            <a:r>
              <a:rPr sz="1700" b="0" i="0">
                <a:solidFill>
                  <a:srgbClr val="1A1A1A"/>
                </a:solidFill>
                <a:latin typeface="Arial"/>
              </a:rPr>
              <a:t>, sellers taking control; a very tall bar </a:t>
            </a:r>
            <a:r>
              <a:rPr sz="1700" b="1" i="0">
                <a:solidFill>
                  <a:srgbClr val="C62828"/>
                </a:solidFill>
                <a:latin typeface="Arial"/>
              </a:rPr>
              <a:t>(2)</a:t>
            </a:r>
            <a:r>
              <a:rPr sz="1700" b="0" i="0">
                <a:solidFill>
                  <a:srgbClr val="1A1A1A"/>
                </a:solidFill>
                <a:latin typeface="Arial"/>
              </a:rPr>
              <a:t>, a lack of interest in the rise. Both bearish.</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1937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Especially useful for reversal bars on high or low volume.</a:t>
            </a:r>
          </a:p>
        </p:txBody>
      </p:sp>
      <p:sp>
        <p:nvSpPr>
          <p:cNvPr id="10" name="Rectangle 9"/>
          <p:cNvSpPr/>
          <p:nvPr/>
        </p:nvSpPr>
        <p:spPr>
          <a:xfrm>
            <a:off x="6583679" y="1810512"/>
            <a:ext cx="4830775" cy="323776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3000020"/>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5428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6.35</a:t>
            </a:r>
          </a:p>
          <a:p>
            <a:pPr algn="l">
              <a:lnSpc>
                <a:spcPct val="115000"/>
              </a:lnSpc>
              <a:spcBef>
                <a:spcPts val="0"/>
              </a:spcBef>
              <a:spcAft>
                <a:spcPts val="0"/>
              </a:spcAft>
            </a:pPr>
            <a:r>
              <a:rPr sz="1500" b="0" i="0">
                <a:solidFill>
                  <a:srgbClr val="1A1A1A"/>
                </a:solidFill>
                <a:latin typeface="Palatino"/>
              </a:rPr>
              <a:t>Two sketches of a constant volume chart, all volume bars equal. Left: a rise topped by a narrow bar on relatively high volume. Right: by a very tall bar on relatively low volume. Both bearish.</a:t>
            </a:r>
          </a:p>
        </p:txBody>
      </p:sp>
      <p:sp>
        <p:nvSpPr>
          <p:cNvPr id="14" name="Rectangle 13"/>
          <p:cNvSpPr/>
          <p:nvPr/>
        </p:nvSpPr>
        <p:spPr>
          <a:xfrm>
            <a:off x="7919705" y="2319386"/>
            <a:ext cx="344477" cy="345002"/>
          </a:xfrm>
          <a:prstGeom prst="rect">
            <a:avLst/>
          </a:prstGeom>
          <a:noFill/>
          <a:ln w="44450">
            <a:solidFill>
              <a:srgbClr val="E09B00"/>
            </a:solidFill>
          </a:ln>
        </p:spPr>
        <p:txBody>
          <a:bodyPr rtlCol="0" anchor="ctr"/>
          <a:lstStyle/>
          <a:p>
            <a:pPr algn="ctr"/>
          </a:p>
        </p:txBody>
      </p:sp>
      <p:sp>
        <p:nvSpPr>
          <p:cNvPr id="15" name="Rectangle 14"/>
          <p:cNvSpPr/>
          <p:nvPr/>
        </p:nvSpPr>
        <p:spPr>
          <a:xfrm>
            <a:off x="10537732" y="2079385"/>
            <a:ext cx="275581" cy="1650011"/>
          </a:xfrm>
          <a:prstGeom prst="rect">
            <a:avLst/>
          </a:prstGeom>
          <a:noFill/>
          <a:ln w="44450">
            <a:solidFill>
              <a:srgbClr val="C62828"/>
            </a:solidFill>
          </a:ln>
        </p:spPr>
        <p:txBody>
          <a:bodyPr rtlCol="0" anchor="ctr"/>
          <a:lstStyle/>
          <a:p>
            <a:pPr algn="ctr"/>
          </a:p>
        </p:txBody>
      </p:sp>
      <p:sp>
        <p:nvSpPr>
          <p:cNvPr id="16" name="Rectangle 15"/>
          <p:cNvSpPr/>
          <p:nvPr/>
        </p:nvSpPr>
        <p:spPr>
          <a:xfrm>
            <a:off x="7207785" y="4419400"/>
            <a:ext cx="1584595" cy="495003"/>
          </a:xfrm>
          <a:prstGeom prst="rect">
            <a:avLst/>
          </a:prstGeom>
          <a:noFill/>
          <a:ln w="44450">
            <a:solidFill>
              <a:srgbClr val="1F5FAD"/>
            </a:solidFill>
          </a:ln>
        </p:spPr>
        <p:txBody>
          <a:bodyPr rtlCol="0" anchor="ctr"/>
          <a:lstStyle/>
          <a:p>
            <a:pPr algn="ctr"/>
          </a:p>
        </p:txBody>
      </p:sp>
      <p:sp>
        <p:nvSpPr>
          <p:cNvPr id="17" name="Oval 16"/>
          <p:cNvSpPr/>
          <p:nvPr/>
        </p:nvSpPr>
        <p:spPr>
          <a:xfrm>
            <a:off x="8269490" y="234393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221528" y="267394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6914546" y="4143951"/>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583679" y="5139716"/>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6.35 -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6.35. The constant volume chart was a Chapter 3 term.</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High and low volume when every bar's volume is fixed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16 of 26</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Ours: every bar holds 100,000 shares; a usual bar spans PHP 1.00: 100,000 shares a peso of range.</a:t>
            </a:r>
          </a:p>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A PHP 0.20 bar: 100,000 shares moved price 20 centavos, 500,000 a peso, five times usual. Figure 6.35's label: relatively high volume.</a:t>
            </a:r>
          </a:p>
          <a:p>
            <a:pPr algn="l">
              <a:lnSpc>
                <a:spcPct val="105000"/>
              </a:lnSpc>
              <a:spcBef>
                <a:spcPts val="0"/>
              </a:spcBef>
              <a:spcAft>
                <a:spcPts val="1100"/>
              </a:spcAft>
            </a:pPr>
            <a:r>
              <a:rPr sz="1800" b="1" i="0">
                <a:solidFill>
                  <a:srgbClr val="C62828"/>
                </a:solidFill>
                <a:latin typeface="Arial"/>
              </a:rPr>
              <a:t>(2)</a:t>
            </a:r>
            <a:r>
              <a:rPr sz="1800" b="0" i="0">
                <a:solidFill>
                  <a:srgbClr val="1A1A1A"/>
                </a:solidFill>
                <a:latin typeface="Arial"/>
              </a:rPr>
              <a:t> A PHP 4.00 bar: 100,000 shares over 4 pesos, 25,000 a peso, a quarter of usual. Its label: relatively low volume.</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537667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Volume is fixed, so the range alone says if it was a lot or a little.</a:t>
            </a:r>
          </a:p>
        </p:txBody>
      </p:sp>
      <p:sp>
        <p:nvSpPr>
          <p:cNvPr id="10" name="Rectangle 9"/>
          <p:cNvSpPr/>
          <p:nvPr/>
        </p:nvSpPr>
        <p:spPr>
          <a:xfrm>
            <a:off x="6766559" y="1810512"/>
            <a:ext cx="4647894" cy="3118312"/>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885431" y="1929384"/>
            <a:ext cx="4410151" cy="2880568"/>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885431" y="1929384"/>
            <a:ext cx="441015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159751" y="2203703"/>
            <a:ext cx="3861511" cy="242336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6.35</a:t>
            </a:r>
          </a:p>
          <a:p>
            <a:pPr algn="l">
              <a:lnSpc>
                <a:spcPct val="115000"/>
              </a:lnSpc>
              <a:spcBef>
                <a:spcPts val="0"/>
              </a:spcBef>
              <a:spcAft>
                <a:spcPts val="0"/>
              </a:spcAft>
            </a:pPr>
            <a:r>
              <a:rPr sz="1500" b="0" i="0">
                <a:solidFill>
                  <a:srgbClr val="1A1A1A"/>
                </a:solidFill>
                <a:latin typeface="Palatino"/>
              </a:rPr>
              <a:t>Two sketches of a constant volume chart, all volume bars equal. 1, left: a rise topped by a narrow bar labelled relatively high volume. 2, right: a rise topped by a very tall bar labelled relatively low volume.</a:t>
            </a:r>
          </a:p>
        </p:txBody>
      </p:sp>
      <p:sp>
        <p:nvSpPr>
          <p:cNvPr id="14" name="Rectangle 13"/>
          <p:cNvSpPr/>
          <p:nvPr/>
        </p:nvSpPr>
        <p:spPr>
          <a:xfrm>
            <a:off x="8054122" y="2303857"/>
            <a:ext cx="330761" cy="331265"/>
          </a:xfrm>
          <a:prstGeom prst="rect">
            <a:avLst/>
          </a:prstGeom>
          <a:noFill/>
          <a:ln w="44450">
            <a:solidFill>
              <a:srgbClr val="E09B00"/>
            </a:solidFill>
          </a:ln>
        </p:spPr>
        <p:txBody>
          <a:bodyPr rtlCol="0" anchor="ctr"/>
          <a:lstStyle/>
          <a:p>
            <a:pPr algn="ctr"/>
          </a:p>
        </p:txBody>
      </p:sp>
      <p:sp>
        <p:nvSpPr>
          <p:cNvPr id="15" name="Rectangle 14"/>
          <p:cNvSpPr/>
          <p:nvPr/>
        </p:nvSpPr>
        <p:spPr>
          <a:xfrm>
            <a:off x="10567908" y="2073412"/>
            <a:ext cx="264609" cy="1584312"/>
          </a:xfrm>
          <a:prstGeom prst="rect">
            <a:avLst/>
          </a:prstGeom>
          <a:noFill/>
          <a:ln w="44450">
            <a:solidFill>
              <a:srgbClr val="C62828"/>
            </a:solidFill>
          </a:ln>
        </p:spPr>
        <p:txBody>
          <a:bodyPr rtlCol="0" anchor="ctr"/>
          <a:lstStyle/>
          <a:p>
            <a:pPr algn="ctr"/>
          </a:p>
        </p:txBody>
      </p:sp>
      <p:sp>
        <p:nvSpPr>
          <p:cNvPr id="16" name="Oval 15"/>
          <p:cNvSpPr/>
          <p:nvPr/>
        </p:nvSpPr>
        <p:spPr>
          <a:xfrm>
            <a:off x="8383790" y="232124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258104" y="2638106"/>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766559" y="5020264"/>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6.35 -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p.199 and Figure 6.35, whose labels say relatively high and relatively low volume. Ours: every number, and the per-peso reading.</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leading price, or price leading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17 of 26</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Volume leading price, our reading: volume rises first, price moves after. Most agree price cannot move significantly without volume.</a:t>
            </a:r>
          </a:p>
          <a:p>
            <a:pPr algn="l">
              <a:lnSpc>
                <a:spcPct val="105000"/>
              </a:lnSpc>
              <a:spcBef>
                <a:spcPts val="0"/>
              </a:spcBef>
              <a:spcAft>
                <a:spcPts val="1100"/>
              </a:spcAft>
            </a:pPr>
            <a:r>
              <a:rPr sz="1700" b="0" i="0">
                <a:solidFill>
                  <a:srgbClr val="1A1A1A"/>
                </a:solidFill>
                <a:latin typeface="Arial"/>
              </a:rPr>
              <a:t>Price leading volume: price breaks first. Signals need little volume to appear. </a:t>
            </a:r>
            <a:r>
              <a:rPr sz="1700" b="1" i="0">
                <a:solidFill>
                  <a:srgbClr val="E09B00"/>
                </a:solidFill>
                <a:latin typeface="Arial"/>
              </a:rPr>
              <a:t>(1)</a:t>
            </a:r>
            <a:r>
              <a:rPr sz="1700" b="0" i="0">
                <a:solidFill>
                  <a:srgbClr val="1A1A1A"/>
                </a:solidFill>
                <a:latin typeface="Arial"/>
              </a:rPr>
              <a:t> A small trendline breakout on ordinary volume.</a:t>
            </a:r>
          </a:p>
          <a:p>
            <a:pPr algn="l">
              <a:lnSpc>
                <a:spcPct val="105000"/>
              </a:lnSpc>
              <a:spcBef>
                <a:spcPts val="0"/>
              </a:spcBef>
              <a:spcAft>
                <a:spcPts val="1100"/>
              </a:spcAft>
            </a:pPr>
            <a:r>
              <a:rPr sz="1700" b="0" i="0">
                <a:solidFill>
                  <a:srgbClr val="1A1A1A"/>
                </a:solidFill>
                <a:latin typeface="Arial"/>
              </a:rPr>
              <a:t>As the break becomes obvious it invites tremendous volume. </a:t>
            </a:r>
            <a:r>
              <a:rPr sz="1700" b="1" i="0">
                <a:solidFill>
                  <a:srgbClr val="C62828"/>
                </a:solidFill>
                <a:latin typeface="Arial"/>
              </a:rPr>
              <a:t>(2)</a:t>
            </a:r>
            <a:r>
              <a:rPr sz="1700" b="0" i="0">
                <a:solidFill>
                  <a:srgbClr val="1A1A1A"/>
                </a:solidFill>
                <a:latin typeface="Arial"/>
              </a:rPr>
              <a:t> Volume more than doubles.</a:t>
            </a:r>
          </a:p>
        </p:txBody>
      </p:sp>
      <p:sp>
        <p:nvSpPr>
          <p:cNvPr id="8" name="Rectangle 7"/>
          <p:cNvSpPr/>
          <p:nvPr/>
        </p:nvSpPr>
        <p:spPr>
          <a:xfrm>
            <a:off x="777240" y="5109210"/>
            <a:ext cx="82296" cy="42062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45786"/>
            <a:ext cx="4828032" cy="42062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Price moved first: price led volume.</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k.png"/>
          <p:cNvPicPr>
            <a:picLocks noChangeAspect="1"/>
          </p:cNvPicPr>
          <p:nvPr/>
        </p:nvPicPr>
        <p:blipFill>
          <a:blip r:embed="rId2"/>
          <a:stretch>
            <a:fillRect/>
          </a:stretch>
        </p:blipFill>
        <p:spPr>
          <a:xfrm>
            <a:off x="6338163" y="1929384"/>
            <a:ext cx="4956048" cy="3511296"/>
          </a:xfrm>
          <a:prstGeom prst="rect">
            <a:avLst/>
          </a:prstGeom>
        </p:spPr>
      </p:pic>
      <p:sp>
        <p:nvSpPr>
          <p:cNvPr id="12" name="Oval 11"/>
          <p:cNvSpPr/>
          <p:nvPr/>
        </p:nvSpPr>
        <p:spPr>
          <a:xfrm>
            <a:off x="9633935" y="3088111"/>
            <a:ext cx="396483" cy="316016"/>
          </a:xfrm>
          <a:prstGeom prst="ellipse">
            <a:avLst/>
          </a:prstGeom>
          <a:noFill/>
          <a:ln w="44450">
            <a:solidFill>
              <a:srgbClr val="E09B00"/>
            </a:solidFill>
          </a:ln>
        </p:spPr>
        <p:txBody>
          <a:bodyPr rtlCol="0" anchor="ctr"/>
          <a:lstStyle/>
          <a:p>
            <a:pPr algn="ctr"/>
          </a:p>
        </p:txBody>
      </p:sp>
      <p:sp>
        <p:nvSpPr>
          <p:cNvPr id="13" name="Rectangle 12"/>
          <p:cNvSpPr/>
          <p:nvPr/>
        </p:nvSpPr>
        <p:spPr>
          <a:xfrm>
            <a:off x="10278221" y="4229282"/>
            <a:ext cx="892088" cy="807598"/>
          </a:xfrm>
          <a:prstGeom prst="rect">
            <a:avLst/>
          </a:prstGeom>
          <a:noFill/>
          <a:ln w="44450">
            <a:solidFill>
              <a:srgbClr val="C62828"/>
            </a:solidFill>
          </a:ln>
        </p:spPr>
        <p:txBody>
          <a:bodyPr rtlCol="0" anchor="ctr"/>
          <a:lstStyle/>
          <a:p>
            <a:pPr algn="ctr"/>
          </a:p>
        </p:txBody>
      </p:sp>
      <p:sp>
        <p:nvSpPr>
          <p:cNvPr id="14" name="Oval 13"/>
          <p:cNvSpPr/>
          <p:nvPr/>
        </p:nvSpPr>
        <p:spPr>
          <a:xfrm>
            <a:off x="9651949" y="272198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1014862" y="388071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AK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p.200. Ours: the reading of leading, and the chart, on invented prices. Breakout of a trendline: Chapter 5's use of the word.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price leading volume means for a signal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18 of 26</a:t>
            </a:r>
          </a:p>
        </p:txBody>
      </p:sp>
      <p:sp>
        <p:nvSpPr>
          <p:cNvPr id="7" name="TextBox 6"/>
          <p:cNvSpPr txBox="1"/>
          <p:nvPr/>
        </p:nvSpPr>
        <p:spPr>
          <a:xfrm>
            <a:off x="777240" y="1965960"/>
            <a:ext cx="6217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Ours: a usual day trades 1.3 million. </a:t>
            </a:r>
            <a:r>
              <a:rPr sz="1700" b="1" i="0">
                <a:solidFill>
                  <a:srgbClr val="E09B00"/>
                </a:solidFill>
                <a:latin typeface="Arial"/>
              </a:rPr>
              <a:t>(1)</a:t>
            </a:r>
            <a:r>
              <a:rPr sz="1700" b="0" i="0">
                <a:solidFill>
                  <a:srgbClr val="1A1A1A"/>
                </a:solidFill>
                <a:latin typeface="Arial"/>
              </a:rPr>
              <a:t> Price closes PHP 0.80 above a two-month falling trendline, </a:t>
            </a:r>
            <a:r>
              <a:rPr sz="1700" b="1" i="0">
                <a:solidFill>
                  <a:srgbClr val="C62828"/>
                </a:solidFill>
                <a:latin typeface="Arial"/>
              </a:rPr>
              <a:t>(2)</a:t>
            </a:r>
            <a:r>
              <a:rPr sz="1700" b="0" i="0">
                <a:solidFill>
                  <a:srgbClr val="1A1A1A"/>
                </a:solidFill>
                <a:latin typeface="Arial"/>
              </a:rPr>
              <a:t> on 1.3 million: an ordinary day.</a:t>
            </a:r>
          </a:p>
          <a:p>
            <a:pPr algn="l">
              <a:lnSpc>
                <a:spcPct val="105000"/>
              </a:lnSpc>
              <a:spcBef>
                <a:spcPts val="0"/>
              </a:spcBef>
              <a:spcAft>
                <a:spcPts val="1100"/>
              </a:spcAft>
            </a:pPr>
            <a:r>
              <a:rPr sz="1700" b="0" i="0">
                <a:solidFill>
                  <a:srgbClr val="1A1A1A"/>
                </a:solidFill>
                <a:latin typeface="Arial"/>
              </a:rPr>
              <a:t>By volume alone, nothing happened. But the break shows on every chart: </a:t>
            </a:r>
            <a:r>
              <a:rPr sz="1700" b="1" i="0">
                <a:solidFill>
                  <a:srgbClr val="1F5FAD"/>
                </a:solidFill>
                <a:latin typeface="Arial"/>
              </a:rPr>
              <a:t>(3)</a:t>
            </a:r>
            <a:r>
              <a:rPr sz="1700" b="0" i="0">
                <a:solidFill>
                  <a:srgbClr val="1A1A1A"/>
                </a:solidFill>
                <a:latin typeface="Arial"/>
              </a:rPr>
              <a:t> days later, 3 million trade.</a:t>
            </a:r>
          </a:p>
          <a:p>
            <a:pPr algn="l">
              <a:lnSpc>
                <a:spcPct val="105000"/>
              </a:lnSpc>
              <a:spcBef>
                <a:spcPts val="0"/>
              </a:spcBef>
              <a:spcAft>
                <a:spcPts val="1100"/>
              </a:spcAft>
            </a:pPr>
            <a:r>
              <a:rPr sz="1700" b="0" i="0">
                <a:solidFill>
                  <a:srgbClr val="1A1A1A"/>
                </a:solidFill>
                <a:latin typeface="Arial"/>
              </a:rPr>
              <a:t>Light volume on a break does not cancel it: watch whether volume follows. The book does not say for how long.</a:t>
            </a:r>
          </a:p>
        </p:txBody>
      </p:sp>
      <p:sp>
        <p:nvSpPr>
          <p:cNvPr id="8" name="Rectangle 7"/>
          <p:cNvSpPr/>
          <p:nvPr/>
        </p:nvSpPr>
        <p:spPr>
          <a:xfrm>
            <a:off x="777240" y="4565142"/>
            <a:ext cx="82296" cy="96926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01718"/>
            <a:ext cx="5925312" cy="969263"/>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Volume can follow the signal: more often now, the book says, as technical analysis is widely used.</a:t>
            </a:r>
          </a:p>
        </p:txBody>
      </p:sp>
      <p:sp>
        <p:nvSpPr>
          <p:cNvPr id="10" name="Rectangle 9"/>
          <p:cNvSpPr/>
          <p:nvPr/>
        </p:nvSpPr>
        <p:spPr>
          <a:xfrm>
            <a:off x="7316571" y="1810512"/>
            <a:ext cx="4096511"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e.png"/>
          <p:cNvPicPr>
            <a:picLocks noChangeAspect="1"/>
          </p:cNvPicPr>
          <p:nvPr/>
        </p:nvPicPr>
        <p:blipFill>
          <a:blip r:embed="rId2"/>
          <a:stretch>
            <a:fillRect/>
          </a:stretch>
        </p:blipFill>
        <p:spPr>
          <a:xfrm>
            <a:off x="7435443" y="1929384"/>
            <a:ext cx="3858768" cy="3511296"/>
          </a:xfrm>
          <a:prstGeom prst="rect">
            <a:avLst/>
          </a:prstGeom>
        </p:spPr>
      </p:pic>
      <p:sp>
        <p:nvSpPr>
          <p:cNvPr id="12" name="Oval 11"/>
          <p:cNvSpPr/>
          <p:nvPr/>
        </p:nvSpPr>
        <p:spPr>
          <a:xfrm>
            <a:off x="10040111" y="3105668"/>
            <a:ext cx="308701" cy="351129"/>
          </a:xfrm>
          <a:prstGeom prst="ellipse">
            <a:avLst/>
          </a:prstGeom>
          <a:noFill/>
          <a:ln w="44450">
            <a:solidFill>
              <a:srgbClr val="E09B00"/>
            </a:solidFill>
          </a:ln>
        </p:spPr>
        <p:txBody>
          <a:bodyPr rtlCol="0" anchor="ctr"/>
          <a:lstStyle/>
          <a:p>
            <a:pPr algn="ctr"/>
          </a:p>
        </p:txBody>
      </p:sp>
      <p:sp>
        <p:nvSpPr>
          <p:cNvPr id="13" name="Rectangle 12"/>
          <p:cNvSpPr/>
          <p:nvPr/>
        </p:nvSpPr>
        <p:spPr>
          <a:xfrm>
            <a:off x="10136581" y="4562856"/>
            <a:ext cx="135056" cy="456468"/>
          </a:xfrm>
          <a:prstGeom prst="rect">
            <a:avLst/>
          </a:prstGeom>
          <a:noFill/>
          <a:ln w="44450">
            <a:solidFill>
              <a:srgbClr val="C62828"/>
            </a:solidFill>
          </a:ln>
        </p:spPr>
        <p:txBody>
          <a:bodyPr rtlCol="0" anchor="ctr"/>
          <a:lstStyle/>
          <a:p>
            <a:pPr algn="ctr"/>
          </a:p>
        </p:txBody>
      </p:sp>
      <p:sp>
        <p:nvSpPr>
          <p:cNvPr id="14" name="Rectangle 13"/>
          <p:cNvSpPr/>
          <p:nvPr/>
        </p:nvSpPr>
        <p:spPr>
          <a:xfrm>
            <a:off x="10503164" y="4036161"/>
            <a:ext cx="694578" cy="1000719"/>
          </a:xfrm>
          <a:prstGeom prst="rect">
            <a:avLst/>
          </a:prstGeom>
          <a:noFill/>
          <a:ln w="44450">
            <a:solidFill>
              <a:srgbClr val="1F5FAD"/>
            </a:solidFill>
          </a:ln>
        </p:spPr>
        <p:txBody>
          <a:bodyPr rtlCol="0" anchor="ctr"/>
          <a:lstStyle/>
          <a:p>
            <a:pPr algn="ctr"/>
          </a:p>
        </p:txBody>
      </p:sp>
      <p:sp>
        <p:nvSpPr>
          <p:cNvPr id="15" name="Oval 14"/>
          <p:cNvSpPr/>
          <p:nvPr/>
        </p:nvSpPr>
        <p:spPr>
          <a:xfrm>
            <a:off x="10058308" y="351202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9826782" y="472342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11080881" y="402116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7315199" y="5650991"/>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JE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p.200, one paragraph. Ours: the numbers and the chart, Chart AK's line with its numbers. The book gives no test for when a light volume signal will draw volume in.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Intraday volume cycle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19 of 26</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Intraday: within one day. Volume swells and fades daily, peaking at about the same hour each day.</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GMT, Greenwich Mean Time: 1:30 to 2:30 p.m. GMT is 9:30 to 10:30 p.m. in Manila. Our chart: reversals at </a:t>
            </a:r>
            <a:r>
              <a:rPr sz="1700" b="1" i="0">
                <a:solidFill>
                  <a:srgbClr val="E09B00"/>
                </a:solidFill>
                <a:latin typeface="Arial"/>
              </a:rPr>
              <a:t>(1)</a:t>
            </a:r>
            <a:r>
              <a:rPr sz="1700" b="0" i="0">
                <a:solidFill>
                  <a:srgbClr val="1A1A1A"/>
                </a:solidFill>
                <a:latin typeface="Arial"/>
              </a:rPr>
              <a:t> and </a:t>
            </a:r>
            <a:r>
              <a:rPr sz="1700" b="1" i="0">
                <a:solidFill>
                  <a:srgbClr val="1F5FAD"/>
                </a:solidFill>
                <a:latin typeface="Arial"/>
              </a:rPr>
              <a:t>(3)</a:t>
            </a:r>
            <a:r>
              <a:rPr sz="1700" b="0" i="0">
                <a:solidFill>
                  <a:srgbClr val="1A1A1A"/>
                </a:solidFill>
                <a:latin typeface="Arial"/>
              </a:rPr>
              <a:t>, a continuation at </a:t>
            </a:r>
            <a:r>
              <a:rPr sz="1700" b="1" i="0">
                <a:solidFill>
                  <a:srgbClr val="C62828"/>
                </a:solidFill>
                <a:latin typeface="Arial"/>
              </a:rPr>
              <a:t>(2)</a:t>
            </a:r>
            <a:r>
              <a:rPr sz="1700" b="0" i="0">
                <a:solidFill>
                  <a:srgbClr val="1A1A1A"/>
                </a:solidFill>
                <a:latin typeface="Arial"/>
              </a:rPr>
              <a:t>.</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intraday volume cycle normally peaks around 1:30 p.m. to 2:30 p.m. GMT. At these volume peaks, price will either reverse or continue, but very rarely remain unchanged.</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l.png"/>
          <p:cNvPicPr>
            <a:picLocks noChangeAspect="1"/>
          </p:cNvPicPr>
          <p:nvPr/>
        </p:nvPicPr>
        <p:blipFill>
          <a:blip r:embed="rId2"/>
          <a:stretch>
            <a:fillRect/>
          </a:stretch>
        </p:blipFill>
        <p:spPr>
          <a:xfrm>
            <a:off x="7252563" y="2276856"/>
            <a:ext cx="4041648" cy="3163824"/>
          </a:xfrm>
          <a:prstGeom prst="rect">
            <a:avLst/>
          </a:prstGeom>
        </p:spPr>
      </p:pic>
      <p:sp>
        <p:nvSpPr>
          <p:cNvPr id="16" name="Oval 15"/>
          <p:cNvSpPr/>
          <p:nvPr/>
        </p:nvSpPr>
        <p:spPr>
          <a:xfrm>
            <a:off x="8202350" y="3400013"/>
            <a:ext cx="323331" cy="348020"/>
          </a:xfrm>
          <a:prstGeom prst="ellipse">
            <a:avLst/>
          </a:prstGeom>
          <a:noFill/>
          <a:ln w="44450">
            <a:solidFill>
              <a:srgbClr val="E09B00"/>
            </a:solidFill>
          </a:ln>
        </p:spPr>
        <p:txBody>
          <a:bodyPr rtlCol="0" anchor="ctr"/>
          <a:lstStyle/>
          <a:p>
            <a:pPr algn="ctr"/>
          </a:p>
        </p:txBody>
      </p:sp>
      <p:sp>
        <p:nvSpPr>
          <p:cNvPr id="17" name="Oval 16"/>
          <p:cNvSpPr/>
          <p:nvPr/>
        </p:nvSpPr>
        <p:spPr>
          <a:xfrm>
            <a:off x="9374428" y="2846344"/>
            <a:ext cx="323331" cy="348020"/>
          </a:xfrm>
          <a:prstGeom prst="ellipse">
            <a:avLst/>
          </a:prstGeom>
          <a:noFill/>
          <a:ln w="44450">
            <a:solidFill>
              <a:srgbClr val="C62828"/>
            </a:solidFill>
          </a:ln>
        </p:spPr>
        <p:txBody>
          <a:bodyPr rtlCol="0" anchor="ctr"/>
          <a:lstStyle/>
          <a:p>
            <a:pPr algn="ctr"/>
          </a:p>
        </p:txBody>
      </p:sp>
      <p:sp>
        <p:nvSpPr>
          <p:cNvPr id="18" name="Oval 17"/>
          <p:cNvSpPr/>
          <p:nvPr/>
        </p:nvSpPr>
        <p:spPr>
          <a:xfrm>
            <a:off x="10526298" y="2545781"/>
            <a:ext cx="323331" cy="348020"/>
          </a:xfrm>
          <a:prstGeom prst="ellipse">
            <a:avLst/>
          </a:prstGeom>
          <a:noFill/>
          <a:ln w="44450">
            <a:solidFill>
              <a:srgbClr val="1F5FAD"/>
            </a:solidFill>
          </a:ln>
        </p:spPr>
        <p:txBody>
          <a:bodyPr rtlCol="0" anchor="ctr"/>
          <a:lstStyle/>
          <a:p>
            <a:pPr algn="ctr"/>
          </a:p>
        </p:txBody>
      </p:sp>
      <p:sp>
        <p:nvSpPr>
          <p:cNvPr id="19" name="Oval 18"/>
          <p:cNvSpPr/>
          <p:nvPr/>
        </p:nvSpPr>
        <p:spPr>
          <a:xfrm>
            <a:off x="7905445" y="364004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20" name="Oval 19"/>
          <p:cNvSpPr/>
          <p:nvPr/>
        </p:nvSpPr>
        <p:spPr>
          <a:xfrm>
            <a:off x="9077523" y="307055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1" name="Oval 20"/>
          <p:cNvSpPr/>
          <p:nvPr/>
        </p:nvSpPr>
        <p:spPr>
          <a:xfrm>
            <a:off x="10855848" y="234287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2" name="TextBox 21"/>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AL - FIN1209 teaching chart, drawn for this course. Illustrative data, not a real instrument.</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p.200. The hours are the book's; its examples are EURUSD. The chart and the Manila time are ours.</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Using the cycle: when to watch, not which way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20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 the cycle lets us anticipate price action. At the peak hour price will reverse or continue, very rarely stay put.</a:t>
            </a:r>
          </a:p>
          <a:p>
            <a:pPr algn="l">
              <a:lnSpc>
                <a:spcPct val="118000"/>
              </a:lnSpc>
              <a:spcBef>
                <a:spcPts val="0"/>
              </a:spcBef>
              <a:spcAft>
                <a:spcPts val="1300"/>
              </a:spcAft>
            </a:pPr>
            <a:r>
              <a:rPr sz="2100" b="0" i="0">
                <a:solidFill>
                  <a:srgbClr val="1A1A1A"/>
                </a:solidFill>
                <a:latin typeface="Arial"/>
              </a:rPr>
              <a:t>It does not say which way, so many use a straddle, Chapter 5's bidirectional entry: one order each way.</a:t>
            </a:r>
          </a:p>
          <a:p>
            <a:pPr algn="l">
              <a:lnSpc>
                <a:spcPct val="118000"/>
              </a:lnSpc>
              <a:spcBef>
                <a:spcPts val="0"/>
              </a:spcBef>
              <a:spcAft>
                <a:spcPts val="1300"/>
              </a:spcAft>
            </a:pPr>
            <a:r>
              <a:rPr sz="2100" b="0" i="0">
                <a:solidFill>
                  <a:srgbClr val="1A1A1A"/>
                </a:solidFill>
                <a:latin typeface="Arial"/>
              </a:rPr>
              <a:t>Ours: EURUSD at 1.3000 before 1:30 p.m. GMT. A buy stop at 1.3020 buys only if price rises to it; a sell stop at 1.2980 sells only if price falls to it.</a:t>
            </a:r>
          </a:p>
        </p:txBody>
      </p:sp>
      <p:sp>
        <p:nvSpPr>
          <p:cNvPr id="8" name="Rectangle 7"/>
          <p:cNvSpPr/>
          <p:nvPr/>
        </p:nvSpPr>
        <p:spPr>
          <a:xfrm>
            <a:off x="777240" y="4713731"/>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gives no reason for the hour, no distance for the orders, and nothing on the order not filled.</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pp.200-201. Ours: the EURUSD prices, the timing and the order levels. EURUSD: the euro priced in US dollars. Bidirectional entry: a Chapter 5 term.</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cycle peaks at support and resistance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21 of 26</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30-minute EURUSD: almost every reversal comes at a peak in tick volume, Part 4's count of trades: the daily spikes in the bottom panel </a:t>
            </a:r>
            <a:r>
              <a:rPr sz="1700" b="1" i="0">
                <a:solidFill>
                  <a:srgbClr val="C62828"/>
                </a:solidFill>
                <a:latin typeface="Arial"/>
              </a:rPr>
              <a:t>(2)</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Follow the solid line down from Market bottom </a:t>
            </a:r>
            <a:r>
              <a:rPr sz="1700" b="1" i="0">
                <a:solidFill>
                  <a:srgbClr val="E09B00"/>
                </a:solidFill>
                <a:latin typeface="Arial"/>
              </a:rPr>
              <a:t>(1)</a:t>
            </a:r>
            <a:r>
              <a:rPr sz="1700" b="0" i="0">
                <a:solidFill>
                  <a:srgbClr val="1A1A1A"/>
                </a:solidFill>
                <a:latin typeface="Arial"/>
              </a:rPr>
              <a:t>: it lands on one of the tallest spikes </a:t>
            </a:r>
            <a:r>
              <a:rPr sz="1700" b="1" i="0">
                <a:solidFill>
                  <a:srgbClr val="007A33"/>
                </a:solidFill>
                <a:latin typeface="Arial"/>
              </a:rPr>
              <a:t>(4)</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Especially useful when price retests a support or resistance level </a:t>
            </a:r>
            <a:r>
              <a:rPr sz="1700" b="1" i="0">
                <a:solidFill>
                  <a:srgbClr val="1F5FAD"/>
                </a:solidFill>
                <a:latin typeface="Arial"/>
              </a:rPr>
              <a:t>(3)</a:t>
            </a:r>
            <a:r>
              <a:rPr sz="1700" b="0" i="0">
                <a:solidFill>
                  <a:srgbClr val="1A1A1A"/>
                </a:solidFill>
                <a:latin typeface="Arial"/>
              </a:rPr>
              <a:t>: comes back to one it turned at before.</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0109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Many straddle the peak: catch price either way.</a:t>
            </a:r>
          </a:p>
        </p:txBody>
      </p:sp>
      <p:sp>
        <p:nvSpPr>
          <p:cNvPr id="10" name="Rectangle 9"/>
          <p:cNvSpPr/>
          <p:nvPr/>
        </p:nvSpPr>
        <p:spPr>
          <a:xfrm>
            <a:off x="6400799" y="1810512"/>
            <a:ext cx="5013655" cy="268944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519671" y="1929384"/>
            <a:ext cx="4775911" cy="245169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19671" y="1929384"/>
            <a:ext cx="477591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93991" y="2203703"/>
            <a:ext cx="4227271" cy="199449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6.36</a:t>
            </a:r>
          </a:p>
          <a:p>
            <a:pPr algn="l">
              <a:lnSpc>
                <a:spcPct val="115000"/>
              </a:lnSpc>
              <a:spcBef>
                <a:spcPts val="0"/>
              </a:spcBef>
              <a:spcAft>
                <a:spcPts val="0"/>
              </a:spcAft>
            </a:pPr>
            <a:r>
              <a:rPr sz="1500" b="0" i="0">
                <a:solidFill>
                  <a:srgbClr val="1A1A1A"/>
                </a:solidFill>
                <a:latin typeface="Palatino"/>
              </a:rPr>
              <a:t>A 30-minute EURUSD chart over weeks, with support and resistance lines, a triangle and a channel, over daily volume cycles; price turns at the peaks.</a:t>
            </a:r>
          </a:p>
        </p:txBody>
      </p:sp>
      <p:sp>
        <p:nvSpPr>
          <p:cNvPr id="14" name="Oval 13"/>
          <p:cNvSpPr/>
          <p:nvPr/>
        </p:nvSpPr>
        <p:spPr>
          <a:xfrm>
            <a:off x="8119602" y="3559764"/>
            <a:ext cx="262675" cy="208394"/>
          </a:xfrm>
          <a:prstGeom prst="ellipse">
            <a:avLst/>
          </a:prstGeom>
          <a:noFill/>
          <a:ln w="44450">
            <a:solidFill>
              <a:srgbClr val="E09B00"/>
            </a:solidFill>
          </a:ln>
        </p:spPr>
        <p:txBody>
          <a:bodyPr rtlCol="0" anchor="ctr"/>
          <a:lstStyle/>
          <a:p>
            <a:pPr algn="ctr"/>
          </a:p>
        </p:txBody>
      </p:sp>
      <p:sp>
        <p:nvSpPr>
          <p:cNvPr id="15" name="Rectangle 14"/>
          <p:cNvSpPr/>
          <p:nvPr/>
        </p:nvSpPr>
        <p:spPr>
          <a:xfrm>
            <a:off x="6615190" y="4050104"/>
            <a:ext cx="4584874" cy="269686"/>
          </a:xfrm>
          <a:prstGeom prst="rect">
            <a:avLst/>
          </a:prstGeom>
          <a:noFill/>
          <a:ln w="44450">
            <a:solidFill>
              <a:srgbClr val="C62828"/>
            </a:solidFill>
          </a:ln>
        </p:spPr>
        <p:txBody>
          <a:bodyPr rtlCol="0" anchor="ctr"/>
          <a:lstStyle/>
          <a:p>
            <a:pPr algn="ctr"/>
          </a:p>
        </p:txBody>
      </p:sp>
      <p:sp>
        <p:nvSpPr>
          <p:cNvPr id="16" name="Rectangle 15"/>
          <p:cNvSpPr/>
          <p:nvPr/>
        </p:nvSpPr>
        <p:spPr>
          <a:xfrm>
            <a:off x="8668831" y="2713927"/>
            <a:ext cx="859663" cy="588407"/>
          </a:xfrm>
          <a:prstGeom prst="rect">
            <a:avLst/>
          </a:prstGeom>
          <a:noFill/>
          <a:ln w="44450">
            <a:solidFill>
              <a:srgbClr val="1F5FAD"/>
            </a:solidFill>
          </a:ln>
        </p:spPr>
        <p:txBody>
          <a:bodyPr rtlCol="0" anchor="ctr"/>
          <a:lstStyle/>
          <a:p>
            <a:pPr algn="ctr"/>
          </a:p>
        </p:txBody>
      </p:sp>
      <p:cxnSp>
        <p:nvCxnSpPr>
          <p:cNvPr id="17" name="Connector 16"/>
          <p:cNvCxnSpPr/>
          <p:nvPr/>
        </p:nvCxnSpPr>
        <p:spPr>
          <a:xfrm flipH="1">
            <a:off x="8296310" y="3890743"/>
            <a:ext cx="372521" cy="208395"/>
          </a:xfrm>
          <a:prstGeom prst="line">
            <a:avLst/>
          </a:prstGeom>
          <a:ln w="44450">
            <a:solidFill>
              <a:srgbClr val="007A33"/>
            </a:solidFill>
            <a:tailEnd type="triangle" w="med" len="med"/>
          </a:ln>
        </p:spPr>
      </p:cxnSp>
      <p:sp>
        <p:nvSpPr>
          <p:cNvPr id="18" name="Oval 17"/>
          <p:cNvSpPr/>
          <p:nvPr/>
        </p:nvSpPr>
        <p:spPr>
          <a:xfrm>
            <a:off x="7844756" y="344109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11068496" y="402949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8417865" y="250944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8608902" y="3710778"/>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400799" y="4591395"/>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6.36 -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pp.200-201 and Figure 6.36. Retest: our plain reading; the book does not define it. The figure's labels and dotted lines are not explained in the text.</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Trendline retests at volume peaks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22 of 26</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Hourly EURUSD: price rebounds off a rising trendline at the book's 1 </a:t>
            </a:r>
            <a:r>
              <a:rPr sz="2000" b="1" i="0">
                <a:solidFill>
                  <a:srgbClr val="E09B00"/>
                </a:solidFill>
                <a:latin typeface="Arial"/>
              </a:rPr>
              <a:t>(1)</a:t>
            </a:r>
            <a:r>
              <a:rPr sz="2000" b="0" i="0">
                <a:solidFill>
                  <a:srgbClr val="1A1A1A"/>
                </a:solidFill>
                <a:latin typeface="Arial"/>
              </a:rPr>
              <a:t> and at its 4 and 5 </a:t>
            </a:r>
            <a:r>
              <a:rPr sz="2000" b="1" i="0">
                <a:solidFill>
                  <a:srgbClr val="C62828"/>
                </a:solidFill>
                <a:latin typeface="Arial"/>
              </a:rPr>
              <a:t>(2)</a:t>
            </a:r>
            <a:r>
              <a:rPr sz="2000" b="0" i="0">
                <a:solidFill>
                  <a:srgbClr val="1A1A1A"/>
                </a:solidFill>
                <a:latin typeface="Arial"/>
              </a:rPr>
              <a:t>, each time at a tick volume peak </a:t>
            </a:r>
            <a:r>
              <a:rPr sz="2000" b="1" i="0">
                <a:solidFill>
                  <a:srgbClr val="1F5FAD"/>
                </a:solidFill>
                <a:latin typeface="Arial"/>
              </a:rPr>
              <a:t>(3)</a:t>
            </a:r>
            <a:r>
              <a:rPr sz="2000" b="0" i="0">
                <a:solidFill>
                  <a:srgbClr val="1A1A1A"/>
                </a:solidFill>
                <a:latin typeface="Arial"/>
              </a:rPr>
              <a:t>.</a:t>
            </a:r>
          </a:p>
          <a:p>
            <a:pPr algn="l">
              <a:lnSpc>
                <a:spcPct val="105000"/>
              </a:lnSpc>
              <a:spcBef>
                <a:spcPts val="0"/>
              </a:spcBef>
              <a:spcAft>
                <a:spcPts val="1100"/>
              </a:spcAft>
            </a:pPr>
            <a:r>
              <a:rPr sz="2000" b="0" i="0">
                <a:solidFill>
                  <a:srgbClr val="1A1A1A"/>
                </a:solidFill>
                <a:latin typeface="Arial"/>
              </a:rPr>
              <a:t>At the book's 2 and 3, the trendline failed.</a:t>
            </a:r>
          </a:p>
        </p:txBody>
      </p:sp>
      <p:sp>
        <p:nvSpPr>
          <p:cNvPr id="8" name="Rectangle 7"/>
          <p:cNvSpPr/>
          <p:nvPr/>
        </p:nvSpPr>
        <p:spPr>
          <a:xfrm>
            <a:off x="777240" y="441655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453128"/>
            <a:ext cx="427939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Retests at a volume peak: the line held three times of five.</a:t>
            </a:r>
          </a:p>
        </p:txBody>
      </p:sp>
      <p:sp>
        <p:nvSpPr>
          <p:cNvPr id="10" name="Rectangle 9"/>
          <p:cNvSpPr/>
          <p:nvPr/>
        </p:nvSpPr>
        <p:spPr>
          <a:xfrm>
            <a:off x="5669279" y="1810512"/>
            <a:ext cx="5745175" cy="294276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788151" y="1929384"/>
            <a:ext cx="5507431" cy="2705025"/>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788151" y="1929384"/>
            <a:ext cx="55074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62471" y="2203703"/>
            <a:ext cx="4958791" cy="224782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6.37</a:t>
            </a:r>
          </a:p>
          <a:p>
            <a:pPr algn="l">
              <a:lnSpc>
                <a:spcPct val="115000"/>
              </a:lnSpc>
              <a:spcBef>
                <a:spcPts val="0"/>
              </a:spcBef>
              <a:spcAft>
                <a:spcPts val="0"/>
              </a:spcAft>
            </a:pPr>
            <a:r>
              <a:rPr sz="1500" b="0" i="0">
                <a:solidFill>
                  <a:srgbClr val="1A1A1A"/>
                </a:solidFill>
                <a:latin typeface="Palatino"/>
              </a:rPr>
              <a:t>Hourly EURUSD with rising trendlines and retests 1 to 5, daily volume cycles below, and a stochastic panel: oversold under 1, 4 and 5, not at X and Y.</a:t>
            </a:r>
          </a:p>
        </p:txBody>
      </p:sp>
      <p:cxnSp>
        <p:nvCxnSpPr>
          <p:cNvPr id="14" name="Connector 13"/>
          <p:cNvCxnSpPr/>
          <p:nvPr/>
        </p:nvCxnSpPr>
        <p:spPr>
          <a:xfrm flipV="1">
            <a:off x="5870763" y="2294562"/>
            <a:ext cx="1569618" cy="459854"/>
          </a:xfrm>
          <a:prstGeom prst="line">
            <a:avLst/>
          </a:prstGeom>
          <a:ln w="44450">
            <a:solidFill>
              <a:srgbClr val="E09B00"/>
            </a:solidFill>
          </a:ln>
        </p:spPr>
      </p:cxnSp>
      <p:cxnSp>
        <p:nvCxnSpPr>
          <p:cNvPr id="15" name="Connector 14"/>
          <p:cNvCxnSpPr/>
          <p:nvPr/>
        </p:nvCxnSpPr>
        <p:spPr>
          <a:xfrm flipV="1">
            <a:off x="9340444" y="2835567"/>
            <a:ext cx="1707304" cy="459854"/>
          </a:xfrm>
          <a:prstGeom prst="line">
            <a:avLst/>
          </a:prstGeom>
          <a:ln w="44450">
            <a:solidFill>
              <a:srgbClr val="C62828"/>
            </a:solidFill>
          </a:ln>
        </p:spPr>
      </p:cxnSp>
      <p:sp>
        <p:nvSpPr>
          <p:cNvPr id="16" name="Rectangle 15"/>
          <p:cNvSpPr/>
          <p:nvPr/>
        </p:nvSpPr>
        <p:spPr>
          <a:xfrm>
            <a:off x="5815689" y="3620024"/>
            <a:ext cx="5452356" cy="270502"/>
          </a:xfrm>
          <a:prstGeom prst="rect">
            <a:avLst/>
          </a:prstGeom>
          <a:noFill/>
          <a:ln w="44450">
            <a:solidFill>
              <a:srgbClr val="1F5FAD"/>
            </a:solidFill>
          </a:ln>
        </p:spPr>
        <p:txBody>
          <a:bodyPr rtlCol="0" anchor="ctr"/>
          <a:lstStyle/>
          <a:p>
            <a:pPr algn="ctr"/>
          </a:p>
        </p:txBody>
      </p:sp>
      <p:sp>
        <p:nvSpPr>
          <p:cNvPr id="17" name="Oval 16"/>
          <p:cNvSpPr/>
          <p:nvPr/>
        </p:nvSpPr>
        <p:spPr>
          <a:xfrm>
            <a:off x="5715315" y="274774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9047311" y="320759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1057523" y="3356375"/>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5669279" y="4844721"/>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6.37 -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pp.201-202 and Figure 6.37. Oversold and the cycle-tuned stochastic are named, not taught: oscillators are the book's Chapter 8. The pip label is not in the text.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Retests and the stochastic</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23 of 26</a:t>
            </a:r>
          </a:p>
        </p:txBody>
      </p:sp>
      <p:sp>
        <p:nvSpPr>
          <p:cNvPr id="7" name="TextBox 6"/>
          <p:cNvSpPr txBox="1"/>
          <p:nvPr/>
        </p:nvSpPr>
        <p:spPr>
          <a:xfrm>
            <a:off x="777240" y="1965960"/>
            <a:ext cx="4572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Bottom panel: a cycle-tuned stochastic. At the book's 1, 4 and 5 it read oversold: its line on the lower line, the grey boxes </a:t>
            </a:r>
            <a:r>
              <a:rPr sz="1700" b="1" i="0">
                <a:solidFill>
                  <a:srgbClr val="E09B00"/>
                </a:solidFill>
                <a:latin typeface="Arial"/>
              </a:rPr>
              <a:t>(1)</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At 2 and 3 the trendline failed: at circles Y </a:t>
            </a:r>
            <a:r>
              <a:rPr sz="1700" b="1" i="0">
                <a:solidFill>
                  <a:srgbClr val="C62828"/>
                </a:solidFill>
                <a:latin typeface="Arial"/>
              </a:rPr>
              <a:t>(2)</a:t>
            </a:r>
            <a:r>
              <a:rPr sz="1700" b="0" i="0">
                <a:solidFill>
                  <a:srgbClr val="1A1A1A"/>
                </a:solidFill>
                <a:latin typeface="Arial"/>
              </a:rPr>
              <a:t> and X </a:t>
            </a:r>
            <a:r>
              <a:rPr sz="1700" b="1" i="0">
                <a:solidFill>
                  <a:srgbClr val="1F5FAD"/>
                </a:solidFill>
                <a:latin typeface="Arial"/>
              </a:rPr>
              <a:t>(3)</a:t>
            </a:r>
            <a:r>
              <a:rPr sz="1700" b="0" i="0">
                <a:solidFill>
                  <a:srgbClr val="1A1A1A"/>
                </a:solidFill>
                <a:latin typeface="Arial"/>
              </a:rPr>
              <a:t> the stochastic was still mid-panel, not clearly oversold.</a:t>
            </a:r>
          </a:p>
          <a:p>
            <a:pPr algn="l">
              <a:lnSpc>
                <a:spcPct val="105000"/>
              </a:lnSpc>
              <a:spcBef>
                <a:spcPts val="0"/>
              </a:spcBef>
              <a:spcAft>
                <a:spcPts val="1100"/>
              </a:spcAft>
            </a:pPr>
            <a:r>
              <a:rPr sz="1700" b="0" i="0">
                <a:solidFill>
                  <a:srgbClr val="1A1A1A"/>
                </a:solidFill>
                <a:latin typeface="Arial"/>
              </a:rPr>
              <a:t>The book never defines oversold.</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27939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Volume peak and oscillator both: the line held.</a:t>
            </a:r>
          </a:p>
        </p:txBody>
      </p:sp>
      <p:sp>
        <p:nvSpPr>
          <p:cNvPr id="10" name="Rectangle 9"/>
          <p:cNvSpPr/>
          <p:nvPr/>
        </p:nvSpPr>
        <p:spPr>
          <a:xfrm>
            <a:off x="5669279" y="1810512"/>
            <a:ext cx="5745175" cy="1455005"/>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5788151" y="1929384"/>
            <a:ext cx="5507431" cy="1217261"/>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5788151" y="1929384"/>
            <a:ext cx="55074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062471" y="2203703"/>
            <a:ext cx="4958791" cy="760061"/>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6.37</a:t>
            </a:r>
          </a:p>
          <a:p>
            <a:pPr algn="l">
              <a:lnSpc>
                <a:spcPct val="115000"/>
              </a:lnSpc>
              <a:spcBef>
                <a:spcPts val="0"/>
              </a:spcBef>
              <a:spcAft>
                <a:spcPts val="0"/>
              </a:spcAft>
            </a:pPr>
            <a:r>
              <a:rPr sz="900" b="0" i="0">
                <a:solidFill>
                  <a:srgbClr val="1A1A1A"/>
                </a:solidFill>
                <a:latin typeface="Palatino"/>
              </a:rPr>
              <a:t>The volume and stochastic panels of Figure 6.37, enlarged: grey boxes where its line sits on the lower line, under the book's retests 1, 4 and 5, and circles Y and X where it does not.</a:t>
            </a:r>
          </a:p>
        </p:txBody>
      </p:sp>
      <p:sp>
        <p:nvSpPr>
          <p:cNvPr id="14" name="Rectangle 13"/>
          <p:cNvSpPr/>
          <p:nvPr/>
        </p:nvSpPr>
        <p:spPr>
          <a:xfrm>
            <a:off x="6228746" y="2854502"/>
            <a:ext cx="4791464" cy="146071"/>
          </a:xfrm>
          <a:prstGeom prst="rect">
            <a:avLst/>
          </a:prstGeom>
          <a:noFill/>
          <a:ln w="44450">
            <a:solidFill>
              <a:srgbClr val="E09B00"/>
            </a:solidFill>
          </a:ln>
        </p:spPr>
        <p:txBody>
          <a:bodyPr rtlCol="0" anchor="ctr"/>
          <a:lstStyle/>
          <a:p>
            <a:pPr algn="ctr"/>
          </a:p>
        </p:txBody>
      </p:sp>
      <p:sp>
        <p:nvSpPr>
          <p:cNvPr id="15" name="Oval 14"/>
          <p:cNvSpPr/>
          <p:nvPr/>
        </p:nvSpPr>
        <p:spPr>
          <a:xfrm>
            <a:off x="7054861" y="2635395"/>
            <a:ext cx="385520" cy="243452"/>
          </a:xfrm>
          <a:prstGeom prst="ellipse">
            <a:avLst/>
          </a:prstGeom>
          <a:noFill/>
          <a:ln w="44450">
            <a:solidFill>
              <a:srgbClr val="C62828"/>
            </a:solidFill>
          </a:ln>
        </p:spPr>
        <p:txBody>
          <a:bodyPr rtlCol="0" anchor="ctr"/>
          <a:lstStyle/>
          <a:p>
            <a:pPr algn="ctr"/>
          </a:p>
        </p:txBody>
      </p:sp>
      <p:sp>
        <p:nvSpPr>
          <p:cNvPr id="16" name="Oval 15"/>
          <p:cNvSpPr/>
          <p:nvPr/>
        </p:nvSpPr>
        <p:spPr>
          <a:xfrm>
            <a:off x="8652016" y="2635395"/>
            <a:ext cx="385520" cy="243452"/>
          </a:xfrm>
          <a:prstGeom prst="ellipse">
            <a:avLst/>
          </a:prstGeom>
          <a:noFill/>
          <a:ln w="44450">
            <a:solidFill>
              <a:srgbClr val="1F5FAD"/>
            </a:solidFill>
          </a:ln>
        </p:spPr>
        <p:txBody>
          <a:bodyPr rtlCol="0" anchor="ctr"/>
          <a:lstStyle/>
          <a:p>
            <a:pPr algn="ctr"/>
          </a:p>
        </p:txBody>
      </p:sp>
      <p:sp>
        <p:nvSpPr>
          <p:cNvPr id="17" name="Oval 16"/>
          <p:cNvSpPr/>
          <p:nvPr/>
        </p:nvSpPr>
        <p:spPr>
          <a:xfrm>
            <a:off x="5853001" y="277209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6734190" y="245560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8331345" y="245560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5669279" y="3356957"/>
            <a:ext cx="574517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6.37 -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pp.201-202 and Figure 6.37, its volume and stochastic panels. Oversold and the cycle-tuned stochastic are named, not taught: oscillators are the book's Chapter 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Volume on non-constant time charts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24 of 26</a:t>
            </a:r>
          </a:p>
        </p:txBody>
      </p:sp>
      <p:sp>
        <p:nvSpPr>
          <p:cNvPr id="7" name="TextBox 6"/>
          <p:cNvSpPr txBox="1"/>
          <p:nvPr/>
        </p:nvSpPr>
        <p:spPr>
          <a:xfrm>
            <a:off x="777240" y="1965960"/>
            <a:ext cx="58521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Chapter 3: point and figure, Renko and three line break charts are not plotted linearly in time: equal steps along the axis are not equal times.</a:t>
            </a:r>
          </a:p>
          <a:p>
            <a:pPr algn="l">
              <a:lnSpc>
                <a:spcPct val="105000"/>
              </a:lnSpc>
              <a:spcBef>
                <a:spcPts val="0"/>
              </a:spcBef>
              <a:spcAft>
                <a:spcPts val="1100"/>
              </a:spcAft>
            </a:pPr>
            <a:r>
              <a:rPr sz="2000" b="0" i="0">
                <a:solidFill>
                  <a:srgbClr val="1A1A1A"/>
                </a:solidFill>
                <a:latin typeface="Arial"/>
              </a:rPr>
              <a:t>That changes the angle of trendlines, channels and chart patterns. Figure 6.38, top: Apple on a standard daily chart, with a trendline </a:t>
            </a:r>
            <a:r>
              <a:rPr sz="2000" b="1" i="0">
                <a:solidFill>
                  <a:srgbClr val="C62828"/>
                </a:solidFill>
                <a:latin typeface="Arial"/>
              </a:rPr>
              <a:t>(2)</a:t>
            </a:r>
            <a:r>
              <a:rPr sz="2000" b="0" i="0">
                <a:solidFill>
                  <a:srgbClr val="1A1A1A"/>
                </a:solidFill>
                <a:latin typeface="Arial"/>
              </a:rPr>
              <a:t>.</a:t>
            </a:r>
          </a:p>
        </p:txBody>
      </p:sp>
      <p:sp>
        <p:nvSpPr>
          <p:cNvPr id="8" name="Rectangle 7"/>
          <p:cNvSpPr/>
          <p:nvPr/>
        </p:nvSpPr>
        <p:spPr>
          <a:xfrm>
            <a:off x="777240" y="473659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73168"/>
            <a:ext cx="55595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E09B00"/>
                </a:solidFill>
                <a:latin typeface="Arial"/>
              </a:rPr>
              <a:t>(1)</a:t>
            </a:r>
            <a:r>
              <a:rPr sz="2100" b="1" i="0">
                <a:solidFill>
                  <a:srgbClr val="1A1A1A"/>
                </a:solidFill>
                <a:latin typeface="Arial"/>
              </a:rPr>
              <a:t> Circled, late May: on the standard chart, price stays above the line.</a:t>
            </a:r>
          </a:p>
        </p:txBody>
      </p:sp>
      <p:sp>
        <p:nvSpPr>
          <p:cNvPr id="10" name="Rectangle 9"/>
          <p:cNvSpPr/>
          <p:nvPr/>
        </p:nvSpPr>
        <p:spPr>
          <a:xfrm>
            <a:off x="6949440" y="1810512"/>
            <a:ext cx="4465014" cy="286321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068312" y="1929384"/>
            <a:ext cx="4227270" cy="262546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068312" y="1929384"/>
            <a:ext cx="42272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42631" y="2203703"/>
            <a:ext cx="3678631" cy="216826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6.38</a:t>
            </a:r>
          </a:p>
          <a:p>
            <a:pPr algn="l">
              <a:lnSpc>
                <a:spcPct val="115000"/>
              </a:lnSpc>
              <a:spcBef>
                <a:spcPts val="0"/>
              </a:spcBef>
              <a:spcAft>
                <a:spcPts val="0"/>
              </a:spcAft>
            </a:pPr>
            <a:r>
              <a:rPr sz="1500" b="0" i="0">
                <a:solidFill>
                  <a:srgbClr val="1A1A1A"/>
                </a:solidFill>
                <a:latin typeface="Palatino"/>
              </a:rPr>
              <a:t>The upper panel of Figure 6.38: Apple on a standard daily chart, a rising trendline under it, and a circle in late May where price stays above the line.</a:t>
            </a:r>
          </a:p>
        </p:txBody>
      </p:sp>
      <p:sp>
        <p:nvSpPr>
          <p:cNvPr id="14" name="Oval 13"/>
          <p:cNvSpPr/>
          <p:nvPr/>
        </p:nvSpPr>
        <p:spPr>
          <a:xfrm>
            <a:off x="9942856" y="3084590"/>
            <a:ext cx="464999" cy="498839"/>
          </a:xfrm>
          <a:prstGeom prst="ellipse">
            <a:avLst/>
          </a:prstGeom>
          <a:noFill/>
          <a:ln w="44450">
            <a:solidFill>
              <a:srgbClr val="E09B00"/>
            </a:solidFill>
          </a:ln>
        </p:spPr>
        <p:txBody>
          <a:bodyPr rtlCol="0" anchor="ctr"/>
          <a:lstStyle/>
          <a:p>
            <a:pPr algn="ctr"/>
          </a:p>
        </p:txBody>
      </p:sp>
      <p:cxnSp>
        <p:nvCxnSpPr>
          <p:cNvPr id="15" name="Connector 14"/>
          <p:cNvCxnSpPr/>
          <p:nvPr/>
        </p:nvCxnSpPr>
        <p:spPr>
          <a:xfrm flipV="1">
            <a:off x="8040584" y="3176481"/>
            <a:ext cx="2916817" cy="1128952"/>
          </a:xfrm>
          <a:prstGeom prst="line">
            <a:avLst/>
          </a:prstGeom>
          <a:ln w="44450">
            <a:solidFill>
              <a:srgbClr val="C62828"/>
            </a:solidFill>
          </a:ln>
        </p:spPr>
      </p:cxnSp>
      <p:sp>
        <p:nvSpPr>
          <p:cNvPr id="16" name="Oval 15"/>
          <p:cNvSpPr/>
          <p:nvPr/>
        </p:nvSpPr>
        <p:spPr>
          <a:xfrm>
            <a:off x="9956499" y="290288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7885136" y="399245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949440" y="4765165"/>
            <a:ext cx="4465014" cy="274320"/>
          </a:xfrm>
          <a:prstGeom prst="rect">
            <a:avLst/>
          </a:prstGeom>
          <a:noFill/>
        </p:spPr>
        <p:txBody>
          <a:bodyPr wrap="square" anchor="t" lIns="0" rIns="0" tIns="0" bIns="0">
            <a:spAutoFit/>
          </a:bodyPr>
          <a:lstStyle/>
          <a:p>
            <a:pPr algn="l">
              <a:lnSpc>
                <a:spcPct val="100000"/>
              </a:lnSpc>
              <a:spcBef>
                <a:spcPts val="0"/>
              </a:spcBef>
              <a:spcAft>
                <a:spcPts val="0"/>
              </a:spcAft>
            </a:pPr>
            <a:r>
              <a:rPr sz="1000" b="0" i="0">
                <a:solidFill>
                  <a:srgbClr val="818181"/>
                </a:solidFill>
                <a:latin typeface="Arial"/>
              </a:rPr>
              <a:t>Figure 6.38 -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p.202 and Figure 6.38, its upper panel. Point and figure, Renko, three line break and equivolume charts were Chapter 3 terms.</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line on the equivolume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25 of 26</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Equivolume: each bar covers the same time, but is wider on heavier volume, so its time axis is non-linear too.</a:t>
            </a:r>
          </a:p>
          <a:p>
            <a:pPr algn="l">
              <a:lnSpc>
                <a:spcPct val="105000"/>
              </a:lnSpc>
              <a:spcBef>
                <a:spcPts val="0"/>
              </a:spcBef>
              <a:spcAft>
                <a:spcPts val="1100"/>
              </a:spcAft>
            </a:pPr>
            <a:r>
              <a:rPr sz="1800" b="0" i="0">
                <a:solidFill>
                  <a:srgbClr val="1A1A1A"/>
                </a:solidFill>
                <a:latin typeface="Arial"/>
              </a:rPr>
              <a:t>Figure 6.38, bottom: the same Apple prices on an equivolume chart, and the same trendline </a:t>
            </a:r>
            <a:r>
              <a:rPr sz="1800" b="1" i="0">
                <a:solidFill>
                  <a:srgbClr val="C62828"/>
                </a:solidFill>
                <a:latin typeface="Arial"/>
              </a:rPr>
              <a:t>(2)</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So the same line meets late May at a different place.</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519379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E09B00"/>
                </a:solidFill>
                <a:latin typeface="Arial"/>
              </a:rPr>
              <a:t>(1)</a:t>
            </a:r>
            <a:r>
              <a:rPr sz="1900" b="1" i="0">
                <a:solidFill>
                  <a:srgbClr val="1A1A1A"/>
                </a:solidFill>
                <a:latin typeface="Arial"/>
              </a:rPr>
              <a:t> Circled, late May: on the equivolume chart, price cuts through the line.</a:t>
            </a:r>
          </a:p>
        </p:txBody>
      </p:sp>
      <p:sp>
        <p:nvSpPr>
          <p:cNvPr id="10" name="Rectangle 9"/>
          <p:cNvSpPr/>
          <p:nvPr/>
        </p:nvSpPr>
        <p:spPr>
          <a:xfrm>
            <a:off x="6583679" y="1810512"/>
            <a:ext cx="4830775" cy="306156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702551" y="1929384"/>
            <a:ext cx="4593031" cy="2823820"/>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702551" y="1929384"/>
            <a:ext cx="459303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976871" y="2203703"/>
            <a:ext cx="4044391" cy="236662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6.38</a:t>
            </a:r>
          </a:p>
          <a:p>
            <a:pPr algn="l">
              <a:lnSpc>
                <a:spcPct val="115000"/>
              </a:lnSpc>
              <a:spcBef>
                <a:spcPts val="0"/>
              </a:spcBef>
              <a:spcAft>
                <a:spcPts val="0"/>
              </a:spcAft>
            </a:pPr>
            <a:r>
              <a:rPr sz="1500" b="0" i="0">
                <a:solidFill>
                  <a:srgbClr val="1A1A1A"/>
                </a:solidFill>
                <a:latin typeface="Palatino"/>
              </a:rPr>
              <a:t>The lower panel of Figure 6.38: the same Apple prices on an equivolume chart, the same trendline, and a circle in late May where price cuts through the line.</a:t>
            </a:r>
          </a:p>
        </p:txBody>
      </p:sp>
      <p:sp>
        <p:nvSpPr>
          <p:cNvPr id="14" name="Oval 13"/>
          <p:cNvSpPr/>
          <p:nvPr/>
        </p:nvSpPr>
        <p:spPr>
          <a:xfrm>
            <a:off x="9917673" y="2917721"/>
            <a:ext cx="551163" cy="564764"/>
          </a:xfrm>
          <a:prstGeom prst="ellipse">
            <a:avLst/>
          </a:prstGeom>
          <a:noFill/>
          <a:ln w="44450">
            <a:solidFill>
              <a:srgbClr val="E09B00"/>
            </a:solidFill>
          </a:ln>
        </p:spPr>
        <p:txBody>
          <a:bodyPr rtlCol="0" anchor="ctr"/>
          <a:lstStyle/>
          <a:p>
            <a:pPr algn="ctr"/>
          </a:p>
        </p:txBody>
      </p:sp>
      <p:cxnSp>
        <p:nvCxnSpPr>
          <p:cNvPr id="15" name="Connector 14"/>
          <p:cNvCxnSpPr/>
          <p:nvPr/>
        </p:nvCxnSpPr>
        <p:spPr>
          <a:xfrm flipV="1">
            <a:off x="7850809" y="3016555"/>
            <a:ext cx="2709889" cy="1468386"/>
          </a:xfrm>
          <a:prstGeom prst="line">
            <a:avLst/>
          </a:prstGeom>
          <a:ln w="44450">
            <a:solidFill>
              <a:srgbClr val="C62828"/>
            </a:solidFill>
          </a:ln>
        </p:spPr>
      </p:cxnSp>
      <p:sp>
        <p:nvSpPr>
          <p:cNvPr id="16" name="Oval 15"/>
          <p:cNvSpPr/>
          <p:nvPr/>
        </p:nvSpPr>
        <p:spPr>
          <a:xfrm>
            <a:off x="9808156" y="279051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7695361" y="4160064"/>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583679" y="4963516"/>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6.38 -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p.202 and Figure 6.38, its lower panel: the same prices and the same line as the slide before, on an equivolume chart.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the trendline moves, with numbers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6 - 6.1 Bar range  |  26 of 26</a:t>
            </a:r>
          </a:p>
        </p:txBody>
      </p:sp>
      <p:sp>
        <p:nvSpPr>
          <p:cNvPr id="7" name="TextBox 6"/>
          <p:cNvSpPr txBox="1"/>
          <p:nvPr/>
        </p:nvSpPr>
        <p:spPr>
          <a:xfrm>
            <a:off x="777240" y="1965960"/>
            <a:ext cx="62179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Ours: lows of PHP 100 and 110, ten ordinary days apart, one step a day on both charts: the line rises PHP 1.00 a step.</a:t>
            </a:r>
          </a:p>
          <a:p>
            <a:pPr algn="l">
              <a:lnSpc>
                <a:spcPct val="105000"/>
              </a:lnSpc>
              <a:spcBef>
                <a:spcPts val="0"/>
              </a:spcBef>
              <a:spcAft>
                <a:spcPts val="1100"/>
              </a:spcAft>
            </a:pPr>
            <a:r>
              <a:rPr sz="1700" b="0" i="0">
                <a:solidFill>
                  <a:srgbClr val="1A1A1A"/>
                </a:solidFill>
                <a:latin typeface="Arial"/>
              </a:rPr>
              <a:t>Then five heavy days: </a:t>
            </a:r>
            <a:r>
              <a:rPr sz="1700" b="1" i="0">
                <a:solidFill>
                  <a:srgbClr val="E09B00"/>
                </a:solidFill>
                <a:latin typeface="Arial"/>
              </a:rPr>
              <a:t>(1)</a:t>
            </a:r>
            <a:r>
              <a:rPr sz="1700" b="0" i="0">
                <a:solidFill>
                  <a:srgbClr val="1A1A1A"/>
                </a:solidFill>
                <a:latin typeface="Arial"/>
              </a:rPr>
              <a:t> one step each on the daily chart, </a:t>
            </a:r>
            <a:r>
              <a:rPr sz="1700" b="1" i="0">
                <a:solidFill>
                  <a:srgbClr val="C62828"/>
                </a:solidFill>
                <a:latin typeface="Arial"/>
              </a:rPr>
              <a:t>(2)</a:t>
            </a:r>
            <a:r>
              <a:rPr sz="1700" b="0" i="0">
                <a:solidFill>
                  <a:srgbClr val="1A1A1A"/>
                </a:solidFill>
                <a:latin typeface="Arial"/>
              </a:rPr>
              <a:t> two each on the equivolume one. The lines reach PHP 115 and PHP 120.</a:t>
            </a:r>
          </a:p>
          <a:p>
            <a:pPr algn="l">
              <a:lnSpc>
                <a:spcPct val="105000"/>
              </a:lnSpc>
              <a:spcBef>
                <a:spcPts val="0"/>
              </a:spcBef>
              <a:spcAft>
                <a:spcPts val="1100"/>
              </a:spcAft>
            </a:pPr>
            <a:r>
              <a:rPr sz="1700" b="0" i="0">
                <a:solidFill>
                  <a:srgbClr val="1A1A1A"/>
                </a:solidFill>
                <a:latin typeface="Arial"/>
              </a:rPr>
              <a:t>That day's low of PHP 117 holds above the daily line and cuts the equivolume one. Equal widths would move nothing.</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92531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book shows the discrepancy, not which break to trust.</a:t>
            </a:r>
          </a:p>
        </p:txBody>
      </p:sp>
      <p:sp>
        <p:nvSpPr>
          <p:cNvPr id="10" name="Rectangle 9"/>
          <p:cNvSpPr/>
          <p:nvPr/>
        </p:nvSpPr>
        <p:spPr>
          <a:xfrm>
            <a:off x="7316571" y="1810512"/>
            <a:ext cx="4096511"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g.png"/>
          <p:cNvPicPr>
            <a:picLocks noChangeAspect="1"/>
          </p:cNvPicPr>
          <p:nvPr/>
        </p:nvPicPr>
        <p:blipFill>
          <a:blip r:embed="rId2"/>
          <a:stretch>
            <a:fillRect/>
          </a:stretch>
        </p:blipFill>
        <p:spPr>
          <a:xfrm>
            <a:off x="7435443" y="1929384"/>
            <a:ext cx="3858768" cy="3511296"/>
          </a:xfrm>
          <a:prstGeom prst="rect">
            <a:avLst/>
          </a:prstGeom>
        </p:spPr>
      </p:pic>
      <p:sp>
        <p:nvSpPr>
          <p:cNvPr id="12" name="Oval 11"/>
          <p:cNvSpPr/>
          <p:nvPr/>
        </p:nvSpPr>
        <p:spPr>
          <a:xfrm>
            <a:off x="10117287" y="2298070"/>
            <a:ext cx="270113" cy="316016"/>
          </a:xfrm>
          <a:prstGeom prst="ellipse">
            <a:avLst/>
          </a:prstGeom>
          <a:noFill/>
          <a:ln w="44450">
            <a:solidFill>
              <a:srgbClr val="E09B00"/>
            </a:solidFill>
          </a:ln>
        </p:spPr>
        <p:txBody>
          <a:bodyPr rtlCol="0" anchor="ctr"/>
          <a:lstStyle/>
          <a:p>
            <a:pPr algn="ctr"/>
          </a:p>
        </p:txBody>
      </p:sp>
      <p:sp>
        <p:nvSpPr>
          <p:cNvPr id="13" name="Oval 12"/>
          <p:cNvSpPr/>
          <p:nvPr/>
        </p:nvSpPr>
        <p:spPr>
          <a:xfrm>
            <a:off x="10850453" y="3807927"/>
            <a:ext cx="270113" cy="351129"/>
          </a:xfrm>
          <a:prstGeom prst="ellipse">
            <a:avLst/>
          </a:prstGeom>
          <a:noFill/>
          <a:ln w="44450">
            <a:solidFill>
              <a:srgbClr val="C62828"/>
            </a:solidFill>
          </a:ln>
        </p:spPr>
        <p:txBody>
          <a:bodyPr rtlCol="0" anchor="ctr"/>
          <a:lstStyle/>
          <a:p>
            <a:pPr algn="ctr"/>
          </a:p>
        </p:txBody>
      </p:sp>
      <p:sp>
        <p:nvSpPr>
          <p:cNvPr id="14" name="Oval 13"/>
          <p:cNvSpPr/>
          <p:nvPr/>
        </p:nvSpPr>
        <p:spPr>
          <a:xfrm>
            <a:off x="10521360" y="198461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1003706" y="414406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7315199" y="5650991"/>
            <a:ext cx="40992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JG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p.202. Ours: every number and the chart. The book says the angle is affected and shows the result in Figure 6.38; it does not work the arithmetic.</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6.2  Volume oscillators, and how they are read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 of 25</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An oscillator (Part 1): an indicator in its own panel under price. Section 6.2 names eight built from volume.</a:t>
            </a:r>
          </a:p>
          <a:p>
            <a:pPr algn="l">
              <a:lnSpc>
                <a:spcPct val="118000"/>
              </a:lnSpc>
              <a:spcBef>
                <a:spcPts val="0"/>
              </a:spcBef>
              <a:spcAft>
                <a:spcPts val="1300"/>
              </a:spcAft>
            </a:pPr>
            <a:r>
              <a:rPr sz="2100" b="0" i="0">
                <a:solidFill>
                  <a:srgbClr val="1A1A1A"/>
                </a:solidFill>
                <a:latin typeface="Arial"/>
              </a:rPr>
              <a:t>Price-based: the OBV, the ADL, the Chaikin Money Flow and Oscillator, the Herrick Payoff Index, the Demand Index (never explained).</a:t>
            </a:r>
          </a:p>
          <a:p>
            <a:pPr algn="l">
              <a:lnSpc>
                <a:spcPct val="118000"/>
              </a:lnSpc>
              <a:spcBef>
                <a:spcPts val="0"/>
              </a:spcBef>
              <a:spcAft>
                <a:spcPts val="1300"/>
              </a:spcAft>
            </a:pPr>
            <a:r>
              <a:rPr sz="2100" b="0" i="0">
                <a:solidFill>
                  <a:srgbClr val="1A1A1A"/>
                </a:solidFill>
                <a:latin typeface="Arial"/>
              </a:rPr>
              <a:t>Non-price-based: the NYSE Up/Down Volume Line. The eighth, the VWMA (Part 2), is on neither of Part 1's lists.</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Plain volume diverges by falling; price-based, against price.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p.203 lists the eight. p.179 sorts the price-based ones and p.206 the NYSE line; the VWMA is on neither list.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Eight ways to read an oscillator; three used here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 of 25</a:t>
            </a:r>
          </a:p>
        </p:txBody>
      </p:sp>
      <p:sp>
        <p:nvSpPr>
          <p:cNvPr id="7" name="TextBox 6"/>
          <p:cNvSpPr txBox="1"/>
          <p:nvPr/>
        </p:nvSpPr>
        <p:spPr>
          <a:xfrm>
            <a:off x="777240" y="1965960"/>
            <a:ext cx="68580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Eight methods, taught in Chapter 8, listed below. Part 6 uses only three:</a:t>
            </a:r>
          </a:p>
          <a:p>
            <a:pPr algn="l">
              <a:lnSpc>
                <a:spcPct val="105000"/>
              </a:lnSpc>
              <a:spcBef>
                <a:spcPts val="0"/>
              </a:spcBef>
              <a:spcAft>
                <a:spcPts val="1100"/>
              </a:spcAft>
            </a:pPr>
            <a:r>
              <a:rPr sz="1700" b="0" i="0">
                <a:solidFill>
                  <a:srgbClr val="1A1A1A"/>
                </a:solidFill>
                <a:latin typeface="Arial"/>
              </a:rPr>
              <a:t>A  Price, a higher peak; oscillator, a lower one. Against price: divergence. Falling: bearish. Price then falls (method 4).</a:t>
            </a:r>
          </a:p>
          <a:p>
            <a:pPr algn="l">
              <a:lnSpc>
                <a:spcPct val="105000"/>
              </a:lnSpc>
              <a:spcBef>
                <a:spcPts val="0"/>
              </a:spcBef>
              <a:spcAft>
                <a:spcPts val="1100"/>
              </a:spcAft>
            </a:pPr>
            <a:r>
              <a:rPr sz="1700" b="0" i="0">
                <a:solidFill>
                  <a:srgbClr val="1A1A1A"/>
                </a:solidFill>
                <a:latin typeface="Arial"/>
              </a:rPr>
              <a:t>B  A rising line under the oscillator; falling through it is a sell signal (the Chaikin pair, later). No method is named.</a:t>
            </a:r>
          </a:p>
          <a:p>
            <a:pPr algn="l">
              <a:lnSpc>
                <a:spcPct val="105000"/>
              </a:lnSpc>
              <a:spcBef>
                <a:spcPts val="0"/>
              </a:spcBef>
              <a:spcAft>
                <a:spcPts val="1100"/>
              </a:spcAft>
            </a:pPr>
            <a:r>
              <a:rPr sz="1700" b="0" i="0">
                <a:solidFill>
                  <a:srgbClr val="1A1A1A"/>
                </a:solidFill>
                <a:latin typeface="Arial"/>
              </a:rPr>
              <a:t>C  An oversold level (method 1): a potential bottom, the book says (p.206). It never says how it is set.</a:t>
            </a:r>
          </a:p>
        </p:txBody>
      </p:sp>
      <p:sp>
        <p:nvSpPr>
          <p:cNvPr id="8" name="TextBox 7"/>
          <p:cNvSpPr txBox="1"/>
          <p:nvPr/>
        </p:nvSpPr>
        <p:spPr>
          <a:xfrm>
            <a:off x="777240" y="5001768"/>
            <a:ext cx="6858000" cy="731520"/>
          </a:xfrm>
          <a:prstGeom prst="rect">
            <a:avLst/>
          </a:prstGeom>
          <a:noFill/>
        </p:spPr>
        <p:txBody>
          <a:bodyPr wrap="square" anchor="t" lIns="0" rIns="0" tIns="0" bIns="0">
            <a:spAutoFit/>
          </a:bodyPr>
          <a:lstStyle/>
          <a:p>
            <a:pPr algn="l">
              <a:lnSpc>
                <a:spcPct val="100000"/>
              </a:lnSpc>
              <a:spcBef>
                <a:spcPts val="0"/>
              </a:spcBef>
              <a:spcAft>
                <a:spcPts val="0"/>
              </a:spcAft>
            </a:pPr>
            <a:r>
              <a:rPr sz="1300" b="0" i="1">
                <a:solidFill>
                  <a:srgbClr val="818181"/>
                </a:solidFill>
                <a:latin typeface="Arial"/>
              </a:rPr>
              <a:t>The eight: 1 OBOS (overbought and oversold) overextended levels, 2 equilibrium and zero line crossovers, 3 signal line crossovers, 4 price-oscillator divergence, 5 to 7 geometric, numeric and horizontal pattern analysis, 8 oscillator on oscillator.</a:t>
            </a:r>
          </a:p>
        </p:txBody>
      </p:sp>
      <p:sp>
        <p:nvSpPr>
          <p:cNvPr id="9" name="Rectangle 8"/>
          <p:cNvSpPr/>
          <p:nvPr/>
        </p:nvSpPr>
        <p:spPr>
          <a:xfrm>
            <a:off x="7956651" y="1810512"/>
            <a:ext cx="3456432" cy="3749039"/>
          </a:xfrm>
          <a:prstGeom prst="rect">
            <a:avLst/>
          </a:prstGeom>
          <a:solidFill>
            <a:srgbClr val="FFFFFF"/>
          </a:solidFill>
          <a:ln w="12700">
            <a:solidFill>
              <a:srgbClr val="D7E0D9"/>
            </a:solidFill>
          </a:ln>
          <a:effectLst/>
        </p:spPr>
        <p:txBody>
          <a:bodyPr rtlCol="0" anchor="ctr"/>
          <a:lstStyle/>
          <a:p>
            <a:pPr algn="ctr"/>
          </a:p>
        </p:txBody>
      </p:sp>
      <p:pic>
        <p:nvPicPr>
          <p:cNvPr id="10" name="Picture 9" descr="chart-fa.png"/>
          <p:cNvPicPr>
            <a:picLocks noChangeAspect="1"/>
          </p:cNvPicPr>
          <p:nvPr/>
        </p:nvPicPr>
        <p:blipFill>
          <a:blip r:embed="rId2"/>
          <a:stretch>
            <a:fillRect/>
          </a:stretch>
        </p:blipFill>
        <p:spPr>
          <a:xfrm>
            <a:off x="8075523" y="1929384"/>
            <a:ext cx="3218688" cy="3511296"/>
          </a:xfrm>
          <a:prstGeom prst="rect">
            <a:avLst/>
          </a:prstGeom>
        </p:spPr>
      </p:pic>
      <p:sp>
        <p:nvSpPr>
          <p:cNvPr id="11" name="TextBox 10"/>
          <p:cNvSpPr txBox="1"/>
          <p:nvPr/>
        </p:nvSpPr>
        <p:spPr>
          <a:xfrm>
            <a:off x="7955279" y="5650991"/>
            <a:ext cx="345917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FA - FIN1209 teaching chart, drawn for this course. Illustrative data, not a real instrument.</a:t>
            </a:r>
          </a:p>
        </p:txBody>
      </p:sp>
      <p:sp>
        <p:nvSpPr>
          <p:cNvPr id="12" name="TextBox 11"/>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p.203 lists the eight methods and sends them to Chapter 8; p.206 reads the oversold level. The chart is ours, invented.</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On Balance Volume, OBV</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3 of 25</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running total of volume: a close above the day before's adds the day's volume; below, subtracts it; the same, nothing.</a:t>
            </a:r>
          </a:p>
        </p:txBody>
      </p:sp>
      <p:sp>
        <p:nvSpPr>
          <p:cNvPr id="10" name="Rectangle 9"/>
          <p:cNvSpPr/>
          <p:nvPr/>
        </p:nvSpPr>
        <p:spPr>
          <a:xfrm>
            <a:off x="777240" y="349300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day 2 closes up, add 2.0 million: OBV 2.0. Day 3 down, take 1.5: 0.5. Day 4 unchanged: 0.5. Day 5 up, add 3.0: 3.5. Day 6 down, take 1.0: 2.5.</a:t>
            </a:r>
          </a:p>
        </p:txBody>
      </p:sp>
      <p:sp>
        <p:nvSpPr>
          <p:cNvPr id="12" name="Rectangle 11"/>
          <p:cNvSpPr/>
          <p:nvPr/>
        </p:nvSpPr>
        <p:spPr>
          <a:xfrm>
            <a:off x="777240" y="472744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68172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A cumulative running total of each period's volume: added if the close is higher than the preceding close, subtracted if lower, and nothing if unchanged.</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m.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AM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p.203 gives the rule. The closes and volumes in the example and on the chart are ours.</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OBV's number says, and which kind it is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4 of 25</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book sets no start; we start at 0 on day 1, with no day before it. </a:t>
            </a:r>
            <a:r>
              <a:rPr sz="1700" b="1" i="0">
                <a:solidFill>
                  <a:srgbClr val="E09B00"/>
                </a:solidFill>
                <a:latin typeface="Arial"/>
              </a:rPr>
              <a:t>(1)</a:t>
            </a:r>
            <a:r>
              <a:rPr sz="1700" b="0" i="0">
                <a:solidFill>
                  <a:srgbClr val="1A1A1A"/>
                </a:solidFill>
                <a:latin typeface="Arial"/>
              </a:rPr>
              <a:t> Up days: 2.0 + 3.0 = 5.0 million; </a:t>
            </a:r>
            <a:r>
              <a:rPr sz="1700" b="1" i="0">
                <a:solidFill>
                  <a:srgbClr val="C62828"/>
                </a:solidFill>
                <a:latin typeface="Arial"/>
              </a:rPr>
              <a:t>(2)</a:t>
            </a:r>
            <a:r>
              <a:rPr sz="1700" b="0" i="0">
                <a:solidFill>
                  <a:srgbClr val="1A1A1A"/>
                </a:solidFill>
                <a:latin typeface="Arial"/>
              </a:rPr>
              <a:t> down days: 1.5 + 1.0 = 2.5. </a:t>
            </a:r>
            <a:r>
              <a:rPr sz="1700" b="1" i="0">
                <a:solidFill>
                  <a:srgbClr val="1F5FAD"/>
                </a:solidFill>
                <a:latin typeface="Arial"/>
              </a:rPr>
              <a:t>(3)</a:t>
            </a:r>
            <a:r>
              <a:rPr sz="1700" b="0" i="0">
                <a:solidFill>
                  <a:srgbClr val="1A1A1A"/>
                </a:solidFill>
                <a:latin typeface="Arial"/>
              </a:rPr>
              <a:t> OBV: 2.5.</a:t>
            </a:r>
          </a:p>
          <a:p>
            <a:pPr algn="l">
              <a:lnSpc>
                <a:spcPct val="105000"/>
              </a:lnSpc>
              <a:spcBef>
                <a:spcPts val="0"/>
              </a:spcBef>
              <a:spcAft>
                <a:spcPts val="1100"/>
              </a:spcAft>
            </a:pPr>
            <a:r>
              <a:rPr sz="1700" b="0" i="0">
                <a:solidFill>
                  <a:srgbClr val="1A1A1A"/>
                </a:solidFill>
                <a:latin typeface="Arial"/>
              </a:rPr>
              <a:t>Rising OBV: more volume on up closes than down closes. Falling: the reverse.</a:t>
            </a:r>
          </a:p>
          <a:p>
            <a:pPr algn="l">
              <a:lnSpc>
                <a:spcPct val="105000"/>
              </a:lnSpc>
              <a:spcBef>
                <a:spcPts val="0"/>
              </a:spcBef>
              <a:spcAft>
                <a:spcPts val="1100"/>
              </a:spcAft>
            </a:pPr>
            <a:r>
              <a:rPr sz="1700" b="0" i="0">
                <a:solidFill>
                  <a:srgbClr val="1A1A1A"/>
                </a:solidFill>
                <a:latin typeface="Arial"/>
              </a:rPr>
              <a:t>Price-based, as the close sets the sign. Part 1's two questions: rising (bullish) or falling (bearish)? With price (confirmation) or against it (divergence)?</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Read it by rises and falls against price, not by level: next slide.</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h.png"/>
          <p:cNvPicPr>
            <a:picLocks noChangeAspect="1"/>
          </p:cNvPicPr>
          <p:nvPr/>
        </p:nvPicPr>
        <p:blipFill>
          <a:blip r:embed="rId2"/>
          <a:stretch>
            <a:fillRect/>
          </a:stretch>
        </p:blipFill>
        <p:spPr>
          <a:xfrm>
            <a:off x="7252563" y="1929384"/>
            <a:ext cx="4041648" cy="3511296"/>
          </a:xfrm>
          <a:prstGeom prst="rect">
            <a:avLst/>
          </a:prstGeom>
        </p:spPr>
      </p:pic>
      <p:sp>
        <p:nvSpPr>
          <p:cNvPr id="12" name="Rectangle 11"/>
          <p:cNvSpPr/>
          <p:nvPr/>
        </p:nvSpPr>
        <p:spPr>
          <a:xfrm>
            <a:off x="8081101" y="2210287"/>
            <a:ext cx="1454993" cy="228234"/>
          </a:xfrm>
          <a:prstGeom prst="rect">
            <a:avLst/>
          </a:prstGeom>
          <a:noFill/>
          <a:ln w="44450">
            <a:solidFill>
              <a:srgbClr val="E09B00"/>
            </a:solidFill>
          </a:ln>
        </p:spPr>
        <p:txBody>
          <a:bodyPr rtlCol="0" anchor="ctr"/>
          <a:lstStyle/>
          <a:p>
            <a:pPr algn="ctr"/>
          </a:p>
        </p:txBody>
      </p:sp>
      <p:sp>
        <p:nvSpPr>
          <p:cNvPr id="13" name="Rectangle 12"/>
          <p:cNvSpPr/>
          <p:nvPr/>
        </p:nvSpPr>
        <p:spPr>
          <a:xfrm>
            <a:off x="9495678" y="3491910"/>
            <a:ext cx="1657075" cy="228234"/>
          </a:xfrm>
          <a:prstGeom prst="rect">
            <a:avLst/>
          </a:prstGeom>
          <a:noFill/>
          <a:ln w="44450">
            <a:solidFill>
              <a:srgbClr val="C62828"/>
            </a:solidFill>
          </a:ln>
        </p:spPr>
        <p:txBody>
          <a:bodyPr rtlCol="0" anchor="ctr"/>
          <a:lstStyle/>
          <a:p>
            <a:pPr algn="ctr"/>
          </a:p>
        </p:txBody>
      </p:sp>
      <p:sp>
        <p:nvSpPr>
          <p:cNvPr id="14" name="Oval 13"/>
          <p:cNvSpPr/>
          <p:nvPr/>
        </p:nvSpPr>
        <p:spPr>
          <a:xfrm>
            <a:off x="10344424" y="4088831"/>
            <a:ext cx="282915" cy="316016"/>
          </a:xfrm>
          <a:prstGeom prst="ellipse">
            <a:avLst/>
          </a:prstGeom>
          <a:noFill/>
          <a:ln w="44450">
            <a:solidFill>
              <a:srgbClr val="1F5FAD"/>
            </a:solidFill>
          </a:ln>
        </p:spPr>
        <p:txBody>
          <a:bodyPr rtlCol="0" anchor="ctr"/>
          <a:lstStyle/>
          <a:p>
            <a:pPr algn="ctr"/>
          </a:p>
        </p:txBody>
      </p:sp>
      <p:sp>
        <p:nvSpPr>
          <p:cNvPr id="15" name="Oval 14"/>
          <p:cNvSpPr/>
          <p:nvPr/>
        </p:nvSpPr>
        <p:spPr>
          <a:xfrm>
            <a:off x="9522104" y="216017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9218980" y="344180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10613349" y="4302069"/>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JH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p.203 gives the rule and no starting value. The arithmetic and the chart are ours, on Chart AM's six days. The reading rule is Part 1's, Figure 6.7.</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OBV's disadvantage: the start date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5 of 25</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Its level, the book's absolute value, depends on the start date. Start our six days on day 3: day 6 reads 2.0 </a:t>
            </a:r>
            <a:r>
              <a:rPr sz="1800" b="1" i="0">
                <a:solidFill>
                  <a:srgbClr val="C62828"/>
                </a:solidFill>
                <a:latin typeface="Arial"/>
              </a:rPr>
              <a:t>(2)</a:t>
            </a:r>
            <a:r>
              <a:rPr sz="1800" b="0" i="0">
                <a:solidFill>
                  <a:srgbClr val="1A1A1A"/>
                </a:solidFill>
                <a:latin typeface="Arial"/>
              </a:rPr>
              <a:t>, not 2.5 </a:t>
            </a:r>
            <a:r>
              <a:rPr sz="1800" b="1" i="0">
                <a:solidFill>
                  <a:srgbClr val="E09B00"/>
                </a:solidFill>
                <a:latin typeface="Arial"/>
              </a:rPr>
              <a:t>(1)</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Its changes, the relative value, do not. From day 3 </a:t>
            </a:r>
            <a:r>
              <a:rPr sz="1800" b="1" i="0">
                <a:solidFill>
                  <a:srgbClr val="1F5FAD"/>
                </a:solidFill>
                <a:latin typeface="Arial"/>
              </a:rPr>
              <a:t>(3)</a:t>
            </a:r>
            <a:r>
              <a:rPr sz="1800" b="0" i="0">
                <a:solidFill>
                  <a:srgbClr val="1A1A1A"/>
                </a:solidFill>
                <a:latin typeface="Arial"/>
              </a:rPr>
              <a:t> to day 6, both lines rise 2.0: 0.5 to 2.5, 0 to 2.0.</a:t>
            </a:r>
          </a:p>
          <a:p>
            <a:pPr algn="l">
              <a:lnSpc>
                <a:spcPct val="105000"/>
              </a:lnSpc>
              <a:spcBef>
                <a:spcPts val="0"/>
              </a:spcBef>
              <a:spcAft>
                <a:spcPts val="1100"/>
              </a:spcAft>
            </a:pPr>
            <a:r>
              <a:rPr sz="1800" b="0" i="0">
                <a:solidFill>
                  <a:srgbClr val="1A1A1A"/>
                </a:solidFill>
                <a:latin typeface="Arial"/>
              </a:rPr>
              <a:t>The book: so all eight methods may still be used. Divergence reads rises and falls.</a:t>
            </a:r>
          </a:p>
        </p:txBody>
      </p:sp>
      <p:sp>
        <p:nvSpPr>
          <p:cNvPr id="8" name="Rectangle 7"/>
          <p:cNvSpPr/>
          <p:nvPr/>
        </p:nvSpPr>
        <p:spPr>
          <a:xfrm>
            <a:off x="777240" y="4965192"/>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01768"/>
            <a:ext cx="501091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An OBV reading of 2.5 means nothing alone; a rise or a fall does.</a:t>
            </a:r>
          </a:p>
        </p:txBody>
      </p:sp>
      <p:sp>
        <p:nvSpPr>
          <p:cNvPr id="10" name="Rectangle 9"/>
          <p:cNvSpPr/>
          <p:nvPr/>
        </p:nvSpPr>
        <p:spPr>
          <a:xfrm>
            <a:off x="6400799" y="1810512"/>
            <a:ext cx="5013654" cy="3621415"/>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n.png"/>
          <p:cNvPicPr>
            <a:picLocks noChangeAspect="1"/>
          </p:cNvPicPr>
          <p:nvPr/>
        </p:nvPicPr>
        <p:blipFill>
          <a:blip r:embed="rId2"/>
          <a:stretch>
            <a:fillRect/>
          </a:stretch>
        </p:blipFill>
        <p:spPr>
          <a:xfrm>
            <a:off x="6519671" y="1929384"/>
            <a:ext cx="4775910" cy="3383671"/>
          </a:xfrm>
          <a:prstGeom prst="rect">
            <a:avLst/>
          </a:prstGeom>
        </p:spPr>
      </p:pic>
      <p:sp>
        <p:nvSpPr>
          <p:cNvPr id="12" name="Oval 11"/>
          <p:cNvSpPr/>
          <p:nvPr/>
        </p:nvSpPr>
        <p:spPr>
          <a:xfrm>
            <a:off x="10197123" y="2741465"/>
            <a:ext cx="286554" cy="406040"/>
          </a:xfrm>
          <a:prstGeom prst="ellipse">
            <a:avLst/>
          </a:prstGeom>
          <a:noFill/>
          <a:ln w="44450">
            <a:solidFill>
              <a:srgbClr val="E09B00"/>
            </a:solidFill>
          </a:ln>
        </p:spPr>
        <p:txBody>
          <a:bodyPr rtlCol="0" anchor="ctr"/>
          <a:lstStyle/>
          <a:p>
            <a:pPr algn="ctr"/>
          </a:p>
        </p:txBody>
      </p:sp>
      <p:sp>
        <p:nvSpPr>
          <p:cNvPr id="13" name="Oval 12"/>
          <p:cNvSpPr/>
          <p:nvPr/>
        </p:nvSpPr>
        <p:spPr>
          <a:xfrm>
            <a:off x="10197123" y="3181342"/>
            <a:ext cx="286554" cy="270693"/>
          </a:xfrm>
          <a:prstGeom prst="ellipse">
            <a:avLst/>
          </a:prstGeom>
          <a:noFill/>
          <a:ln w="44450">
            <a:solidFill>
              <a:srgbClr val="C62828"/>
            </a:solidFill>
          </a:ln>
        </p:spPr>
        <p:txBody>
          <a:bodyPr rtlCol="0" anchor="ctr"/>
          <a:lstStyle/>
          <a:p>
            <a:pPr algn="ctr"/>
          </a:p>
        </p:txBody>
      </p:sp>
      <p:sp>
        <p:nvSpPr>
          <p:cNvPr id="14" name="Rectangle 13"/>
          <p:cNvSpPr/>
          <p:nvPr/>
        </p:nvSpPr>
        <p:spPr>
          <a:xfrm>
            <a:off x="8191240" y="3756566"/>
            <a:ext cx="620868" cy="710570"/>
          </a:xfrm>
          <a:prstGeom prst="rect">
            <a:avLst/>
          </a:prstGeom>
          <a:noFill/>
          <a:ln w="44450">
            <a:solidFill>
              <a:srgbClr val="1F5FAD"/>
            </a:solidFill>
          </a:ln>
        </p:spPr>
        <p:txBody>
          <a:bodyPr rtlCol="0" anchor="ctr"/>
          <a:lstStyle/>
          <a:p>
            <a:pPr algn="ctr"/>
          </a:p>
        </p:txBody>
      </p:sp>
      <p:sp>
        <p:nvSpPr>
          <p:cNvPr id="15" name="Oval 14"/>
          <p:cNvSpPr/>
          <p:nvPr/>
        </p:nvSpPr>
        <p:spPr>
          <a:xfrm>
            <a:off x="10519266" y="251834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10519266" y="3364261"/>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847697" y="4447036"/>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6400799" y="5523367"/>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AN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pp.203-204: the disadvantage and its consequence are the book's. The chart is ours: the OBV's six days, started twice.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OBV's weakness: only the close counts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6 of 25</a:t>
            </a:r>
          </a:p>
        </p:txBody>
      </p:sp>
      <p:sp>
        <p:nvSpPr>
          <p:cNvPr id="7" name="TextBox 6"/>
          <p:cNvSpPr txBox="1"/>
          <p:nvPr/>
        </p:nvSpPr>
        <p:spPr>
          <a:xfrm>
            <a:off x="777240" y="1965960"/>
            <a:ext cx="566928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Volume is added or subtracted regardless of the bar's own behavior.</a:t>
            </a:r>
          </a:p>
          <a:p>
            <a:pPr algn="l">
              <a:lnSpc>
                <a:spcPct val="105000"/>
              </a:lnSpc>
              <a:spcBef>
                <a:spcPts val="0"/>
              </a:spcBef>
              <a:spcAft>
                <a:spcPts val="1100"/>
              </a:spcAft>
            </a:pPr>
            <a:r>
              <a:rPr sz="1800" b="0" i="0">
                <a:solidFill>
                  <a:srgbClr val="1A1A1A"/>
                </a:solidFill>
                <a:latin typeface="Arial"/>
              </a:rPr>
              <a:t>Ours: bar 1 has a high of 51.00 and closes 50.80. Bar 2 rallies to a new high of 54.00 </a:t>
            </a:r>
            <a:r>
              <a:rPr sz="1800" b="1" i="0">
                <a:solidFill>
                  <a:srgbClr val="E09B00"/>
                </a:solidFill>
                <a:latin typeface="Arial"/>
              </a:rPr>
              <a:t>(1)</a:t>
            </a:r>
            <a:r>
              <a:rPr sz="1800" b="0" i="0">
                <a:solidFill>
                  <a:srgbClr val="1A1A1A"/>
                </a:solidFill>
                <a:latin typeface="Arial"/>
              </a:rPr>
              <a:t>, far above, and closes 50.70 </a:t>
            </a:r>
            <a:r>
              <a:rPr sz="1800" b="1" i="0">
                <a:solidFill>
                  <a:srgbClr val="C62828"/>
                </a:solidFill>
                <a:latin typeface="Arial"/>
              </a:rPr>
              <a:t>(2)</a:t>
            </a:r>
            <a:r>
              <a:rPr sz="1800" b="0" i="0">
                <a:solidFill>
                  <a:srgbClr val="1A1A1A"/>
                </a:solidFill>
                <a:latin typeface="Arial"/>
              </a:rPr>
              <a:t>, just under 50.80.</a:t>
            </a:r>
          </a:p>
          <a:p>
            <a:pPr algn="l">
              <a:lnSpc>
                <a:spcPct val="105000"/>
              </a:lnSpc>
              <a:spcBef>
                <a:spcPts val="0"/>
              </a:spcBef>
              <a:spcAft>
                <a:spcPts val="1100"/>
              </a:spcAft>
            </a:pPr>
            <a:r>
              <a:rPr sz="1800" b="0" i="0">
                <a:solidFill>
                  <a:srgbClr val="1A1A1A"/>
                </a:solidFill>
                <a:latin typeface="Arial"/>
              </a:rPr>
              <a:t>Bar 2 closed lower, so all its 3.0 million is subtracted </a:t>
            </a:r>
            <a:r>
              <a:rPr sz="1800" b="1" i="0">
                <a:solidFill>
                  <a:srgbClr val="1F5FAD"/>
                </a:solidFill>
                <a:latin typeface="Arial"/>
              </a:rPr>
              <a:t>(3)</a:t>
            </a:r>
            <a:r>
              <a:rPr sz="1800" b="0" i="0">
                <a:solidFill>
                  <a:srgbClr val="1A1A1A"/>
                </a:solidFill>
                <a:latin typeface="Arial"/>
              </a:rPr>
              <a:t>.</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537667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To redress it, that is, to put it right, many prefer the ADL or the two Chaikin indicators: next.</a:t>
            </a:r>
          </a:p>
        </p:txBody>
      </p:sp>
      <p:sp>
        <p:nvSpPr>
          <p:cNvPr id="10" name="Rectangle 9"/>
          <p:cNvSpPr/>
          <p:nvPr/>
        </p:nvSpPr>
        <p:spPr>
          <a:xfrm>
            <a:off x="6766559" y="1810512"/>
            <a:ext cx="4647894" cy="336227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fc.png"/>
          <p:cNvPicPr>
            <a:picLocks noChangeAspect="1"/>
          </p:cNvPicPr>
          <p:nvPr/>
        </p:nvPicPr>
        <p:blipFill>
          <a:blip r:embed="rId2"/>
          <a:stretch>
            <a:fillRect/>
          </a:stretch>
        </p:blipFill>
        <p:spPr>
          <a:xfrm>
            <a:off x="6885431" y="1929384"/>
            <a:ext cx="4410151" cy="3124535"/>
          </a:xfrm>
          <a:prstGeom prst="rect">
            <a:avLst/>
          </a:prstGeom>
        </p:spPr>
      </p:pic>
      <p:sp>
        <p:nvSpPr>
          <p:cNvPr id="12" name="Oval 11"/>
          <p:cNvSpPr/>
          <p:nvPr/>
        </p:nvSpPr>
        <p:spPr>
          <a:xfrm>
            <a:off x="9487421" y="2148101"/>
            <a:ext cx="264609" cy="218717"/>
          </a:xfrm>
          <a:prstGeom prst="ellipse">
            <a:avLst/>
          </a:prstGeom>
          <a:noFill/>
          <a:ln w="44450">
            <a:solidFill>
              <a:srgbClr val="E09B00"/>
            </a:solidFill>
          </a:ln>
        </p:spPr>
        <p:txBody>
          <a:bodyPr rtlCol="0" anchor="ctr"/>
          <a:lstStyle/>
          <a:p>
            <a:pPr algn="ctr"/>
          </a:p>
        </p:txBody>
      </p:sp>
      <p:sp>
        <p:nvSpPr>
          <p:cNvPr id="13" name="Oval 12"/>
          <p:cNvSpPr/>
          <p:nvPr/>
        </p:nvSpPr>
        <p:spPr>
          <a:xfrm>
            <a:off x="9531522" y="2960480"/>
            <a:ext cx="441015" cy="218717"/>
          </a:xfrm>
          <a:prstGeom prst="ellipse">
            <a:avLst/>
          </a:prstGeom>
          <a:noFill/>
          <a:ln w="44450">
            <a:solidFill>
              <a:srgbClr val="C62828"/>
            </a:solidFill>
          </a:ln>
        </p:spPr>
        <p:txBody>
          <a:bodyPr rtlCol="0" anchor="ctr"/>
          <a:lstStyle/>
          <a:p>
            <a:pPr algn="ctr"/>
          </a:p>
        </p:txBody>
      </p:sp>
      <p:sp>
        <p:nvSpPr>
          <p:cNvPr id="14" name="Rectangle 13"/>
          <p:cNvSpPr/>
          <p:nvPr/>
        </p:nvSpPr>
        <p:spPr>
          <a:xfrm>
            <a:off x="9266913" y="4085313"/>
            <a:ext cx="705624" cy="499925"/>
          </a:xfrm>
          <a:prstGeom prst="rect">
            <a:avLst/>
          </a:prstGeom>
          <a:noFill/>
          <a:ln w="44450">
            <a:solidFill>
              <a:srgbClr val="1F5FAD"/>
            </a:solidFill>
          </a:ln>
        </p:spPr>
        <p:txBody>
          <a:bodyPr rtlCol="0" anchor="ctr"/>
          <a:lstStyle/>
          <a:p>
            <a:pPr algn="ctr"/>
          </a:p>
        </p:txBody>
      </p:sp>
      <p:sp>
        <p:nvSpPr>
          <p:cNvPr id="15" name="Oval 14"/>
          <p:cNvSpPr/>
          <p:nvPr/>
        </p:nvSpPr>
        <p:spPr>
          <a:xfrm>
            <a:off x="9772988" y="208638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9949394" y="2711296"/>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8935059" y="4179827"/>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6766559" y="5264231"/>
            <a:ext cx="4647894"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FC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pp.203-204: the weakness and its example are the book's. The two bars and their numbers are ours.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OBV bullish divergence: Citigroup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7 of 25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Price: a lower low, August to October 2011: the falling line.</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OBV: a higher low, same weeks: the rising line.</a:t>
            </a:r>
          </a:p>
          <a:p>
            <a:pPr algn="l">
              <a:lnSpc>
                <a:spcPct val="105000"/>
              </a:lnSpc>
              <a:spcBef>
                <a:spcPts val="0"/>
              </a:spcBef>
              <a:spcAft>
                <a:spcPts val="1100"/>
              </a:spcAft>
            </a:pPr>
            <a:r>
              <a:rPr sz="1700" b="0" i="0">
                <a:solidFill>
                  <a:srgbClr val="1A1A1A"/>
                </a:solidFill>
                <a:latin typeface="Arial"/>
              </a:rPr>
              <a:t>Price-based rule: rising, so bullish; against price, so divergence.</a:t>
            </a:r>
          </a:p>
          <a:p>
            <a:pPr algn="l">
              <a:lnSpc>
                <a:spcPct val="105000"/>
              </a:lnSpc>
              <a:spcBef>
                <a:spcPts val="0"/>
              </a:spcBef>
              <a:spcAft>
                <a:spcPts val="1100"/>
              </a:spcAft>
            </a:pPr>
            <a:r>
              <a:rPr sz="1700" b="1" i="0">
                <a:solidFill>
                  <a:srgbClr val="1F5FAD"/>
                </a:solidFill>
                <a:latin typeface="Arial"/>
              </a:rPr>
              <a:t>(3)</a:t>
            </a:r>
            <a:r>
              <a:rPr sz="1700" b="0" i="0">
                <a:solidFill>
                  <a:srgbClr val="1A1A1A"/>
                </a:solidFill>
                <a:latin typeface="Arial"/>
              </a:rPr>
              <a:t> Then, the book: prices rebound strongly, here about 22 to 34 dollars.</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On plain volume, bullish divergence is instead volume falling as price falls.</a:t>
            </a:r>
          </a:p>
        </p:txBody>
      </p:sp>
      <p:sp>
        <p:nvSpPr>
          <p:cNvPr id="10" name="Rectangle 9"/>
          <p:cNvSpPr/>
          <p:nvPr/>
        </p:nvSpPr>
        <p:spPr>
          <a:xfrm>
            <a:off x="6035040" y="1810512"/>
            <a:ext cx="5379414" cy="339407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153912" y="1929384"/>
            <a:ext cx="5141670" cy="3156335"/>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153912" y="1929384"/>
            <a:ext cx="51416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28231" y="2203703"/>
            <a:ext cx="4593031" cy="269913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6.39</a:t>
            </a:r>
          </a:p>
          <a:p>
            <a:pPr algn="l">
              <a:lnSpc>
                <a:spcPct val="115000"/>
              </a:lnSpc>
              <a:spcBef>
                <a:spcPts val="0"/>
              </a:spcBef>
              <a:spcAft>
                <a:spcPts val="0"/>
              </a:spcAft>
            </a:pPr>
            <a:r>
              <a:rPr sz="1500" b="0" i="0">
                <a:solidFill>
                  <a:srgbClr val="1A1A1A"/>
                </a:solidFill>
                <a:latin typeface="Palatino"/>
              </a:rPr>
              <a:t>The daily chart of Citigroup with an On Balance Volume panel under it. A falling line marks price's lower lows in August to October 2011, and a rising line under the OBV, labelled bullish divergence, marks its higher lows.</a:t>
            </a:r>
          </a:p>
        </p:txBody>
      </p:sp>
      <p:cxnSp>
        <p:nvCxnSpPr>
          <p:cNvPr id="14" name="Connector 13"/>
          <p:cNvCxnSpPr/>
          <p:nvPr/>
        </p:nvCxnSpPr>
        <p:spPr>
          <a:xfrm>
            <a:off x="9650248" y="3712713"/>
            <a:ext cx="668417" cy="426106"/>
          </a:xfrm>
          <a:prstGeom prst="line">
            <a:avLst/>
          </a:prstGeom>
          <a:ln w="44450">
            <a:solidFill>
              <a:srgbClr val="E09B00"/>
            </a:solidFill>
          </a:ln>
        </p:spPr>
      </p:cxnSp>
      <p:cxnSp>
        <p:nvCxnSpPr>
          <p:cNvPr id="15" name="Connector 14"/>
          <p:cNvCxnSpPr/>
          <p:nvPr/>
        </p:nvCxnSpPr>
        <p:spPr>
          <a:xfrm flipV="1">
            <a:off x="9547414" y="4848994"/>
            <a:ext cx="668418" cy="110472"/>
          </a:xfrm>
          <a:prstGeom prst="line">
            <a:avLst/>
          </a:prstGeom>
          <a:ln w="44450">
            <a:solidFill>
              <a:srgbClr val="C62828"/>
            </a:solidFill>
          </a:ln>
        </p:spPr>
      </p:cxnSp>
      <p:cxnSp>
        <p:nvCxnSpPr>
          <p:cNvPr id="16" name="Connector 15"/>
          <p:cNvCxnSpPr/>
          <p:nvPr/>
        </p:nvCxnSpPr>
        <p:spPr>
          <a:xfrm flipV="1">
            <a:off x="10447207" y="3097228"/>
            <a:ext cx="205667" cy="915337"/>
          </a:xfrm>
          <a:prstGeom prst="line">
            <a:avLst/>
          </a:prstGeom>
          <a:ln w="44450">
            <a:solidFill>
              <a:srgbClr val="1F5FAD"/>
            </a:solidFill>
            <a:tailEnd type="triangle" w="med" len="med"/>
          </a:ln>
        </p:spPr>
      </p:cxnSp>
      <p:sp>
        <p:nvSpPr>
          <p:cNvPr id="17" name="Oval 16"/>
          <p:cNvSpPr/>
          <p:nvPr/>
        </p:nvSpPr>
        <p:spPr>
          <a:xfrm>
            <a:off x="9391966" y="347835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9289133" y="472510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548842" y="2847090"/>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035040" y="529603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6.39 -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p.204 and Figure 6.39. The dollar levels are read off the figure, roughly.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OBV bearish divergence: copper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8 of 25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First arrow, March to April 2011: equal peaks near 4.5; the OBV falls.</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Second, June to August: price rises from about 4.1 to 4.5; the OBV falls.</a:t>
            </a:r>
          </a:p>
          <a:p>
            <a:pPr algn="l">
              <a:lnSpc>
                <a:spcPct val="105000"/>
              </a:lnSpc>
              <a:spcBef>
                <a:spcPts val="0"/>
              </a:spcBef>
              <a:spcAft>
                <a:spcPts val="1100"/>
              </a:spcAft>
            </a:pPr>
            <a:r>
              <a:rPr sz="1700" b="0" i="0">
                <a:solidFill>
                  <a:srgbClr val="1A1A1A"/>
                </a:solidFill>
                <a:latin typeface="Arial"/>
              </a:rPr>
              <a:t>The book calls both bearish divergence: the OBV falls </a:t>
            </a:r>
            <a:r>
              <a:rPr sz="1700" b="1" i="0">
                <a:solidFill>
                  <a:srgbClr val="1F5FAD"/>
                </a:solidFill>
                <a:latin typeface="Arial"/>
              </a:rPr>
              <a:t>(3)</a:t>
            </a:r>
            <a:r>
              <a:rPr sz="1700" b="0" i="0">
                <a:solidFill>
                  <a:srgbClr val="1A1A1A"/>
                </a:solidFill>
                <a:latin typeface="Arial"/>
              </a:rPr>
              <a:t> while price holds or rises.</a:t>
            </a:r>
          </a:p>
          <a:p>
            <a:pPr algn="l">
              <a:lnSpc>
                <a:spcPct val="105000"/>
              </a:lnSpc>
              <a:spcBef>
                <a:spcPts val="0"/>
              </a:spcBef>
              <a:spcAft>
                <a:spcPts val="1100"/>
              </a:spcAft>
            </a:pPr>
            <a:r>
              <a:rPr sz="1700" b="1" i="0">
                <a:solidFill>
                  <a:srgbClr val="007A33"/>
                </a:solidFill>
                <a:latin typeface="Arial"/>
              </a:rPr>
              <a:t>(4)</a:t>
            </a:r>
            <a:r>
              <a:rPr sz="1700" b="0" i="0">
                <a:solidFill>
                  <a:srgbClr val="1A1A1A"/>
                </a:solidFill>
                <a:latin typeface="Arial"/>
              </a:rPr>
              <a:t> Prices then fell strongly, the book says: here to about 3.0 by October.</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Bearish divergence: price flat or up, the price-based indicator down.</a:t>
            </a:r>
          </a:p>
        </p:txBody>
      </p:sp>
      <p:sp>
        <p:nvSpPr>
          <p:cNvPr id="10" name="Rectangle 9"/>
          <p:cNvSpPr/>
          <p:nvPr/>
        </p:nvSpPr>
        <p:spPr>
          <a:xfrm>
            <a:off x="6035040" y="1810512"/>
            <a:ext cx="5379414" cy="3115008"/>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153912" y="1929384"/>
            <a:ext cx="5141670" cy="2877264"/>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153912" y="1929384"/>
            <a:ext cx="51416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28231" y="2203703"/>
            <a:ext cx="4593031" cy="2420064"/>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6.40</a:t>
            </a:r>
          </a:p>
          <a:p>
            <a:pPr algn="l">
              <a:lnSpc>
                <a:spcPct val="115000"/>
              </a:lnSpc>
              <a:spcBef>
                <a:spcPts val="0"/>
              </a:spcBef>
              <a:spcAft>
                <a:spcPts val="0"/>
              </a:spcAft>
            </a:pPr>
            <a:r>
              <a:rPr sz="1500" b="0" i="0">
                <a:solidFill>
                  <a:srgbClr val="1A1A1A"/>
                </a:solidFill>
                <a:latin typeface="Palatino"/>
              </a:rPr>
              <a:t>The daily chart of copper with an On Balance Volume panel under it. Two arrows mark price holding level and then rising to a peak in 2011 while two arrows under the OBV fall, labelled bearish divergence.</a:t>
            </a:r>
          </a:p>
        </p:txBody>
      </p:sp>
      <p:sp>
        <p:nvSpPr>
          <p:cNvPr id="14" name="Rectangle 13"/>
          <p:cNvSpPr/>
          <p:nvPr/>
        </p:nvSpPr>
        <p:spPr>
          <a:xfrm>
            <a:off x="8107746" y="2130792"/>
            <a:ext cx="617000" cy="230181"/>
          </a:xfrm>
          <a:prstGeom prst="rect">
            <a:avLst/>
          </a:prstGeom>
          <a:noFill/>
          <a:ln w="44450">
            <a:solidFill>
              <a:srgbClr val="E09B00"/>
            </a:solidFill>
          </a:ln>
        </p:spPr>
        <p:txBody>
          <a:bodyPr rtlCol="0" anchor="ctr"/>
          <a:lstStyle/>
          <a:p>
            <a:pPr algn="ctr"/>
          </a:p>
        </p:txBody>
      </p:sp>
      <p:sp>
        <p:nvSpPr>
          <p:cNvPr id="15" name="Rectangle 14"/>
          <p:cNvSpPr/>
          <p:nvPr/>
        </p:nvSpPr>
        <p:spPr>
          <a:xfrm>
            <a:off x="8981831" y="2102019"/>
            <a:ext cx="719833" cy="517907"/>
          </a:xfrm>
          <a:prstGeom prst="rect">
            <a:avLst/>
          </a:prstGeom>
          <a:noFill/>
          <a:ln w="44450">
            <a:solidFill>
              <a:srgbClr val="C62828"/>
            </a:solidFill>
          </a:ln>
        </p:spPr>
        <p:txBody>
          <a:bodyPr rtlCol="0" anchor="ctr"/>
          <a:lstStyle/>
          <a:p>
            <a:pPr algn="ctr"/>
          </a:p>
        </p:txBody>
      </p:sp>
      <p:sp>
        <p:nvSpPr>
          <p:cNvPr id="16" name="Rectangle 15"/>
          <p:cNvSpPr/>
          <p:nvPr/>
        </p:nvSpPr>
        <p:spPr>
          <a:xfrm>
            <a:off x="8107746" y="4029786"/>
            <a:ext cx="1799584" cy="345271"/>
          </a:xfrm>
          <a:prstGeom prst="rect">
            <a:avLst/>
          </a:prstGeom>
          <a:noFill/>
          <a:ln w="44450">
            <a:solidFill>
              <a:srgbClr val="1F5FAD"/>
            </a:solidFill>
          </a:ln>
        </p:spPr>
        <p:txBody>
          <a:bodyPr rtlCol="0" anchor="ctr"/>
          <a:lstStyle/>
          <a:p>
            <a:pPr algn="ctr"/>
          </a:p>
        </p:txBody>
      </p:sp>
      <p:cxnSp>
        <p:nvCxnSpPr>
          <p:cNvPr id="17" name="Connector 16"/>
          <p:cNvCxnSpPr/>
          <p:nvPr/>
        </p:nvCxnSpPr>
        <p:spPr>
          <a:xfrm>
            <a:off x="9881623" y="2562382"/>
            <a:ext cx="488459" cy="1208451"/>
          </a:xfrm>
          <a:prstGeom prst="line">
            <a:avLst/>
          </a:prstGeom>
          <a:ln w="44450">
            <a:solidFill>
              <a:srgbClr val="007A33"/>
            </a:solidFill>
            <a:tailEnd type="triangle" w="med" len="med"/>
          </a:ln>
        </p:spPr>
      </p:cxnSp>
      <p:sp>
        <p:nvSpPr>
          <p:cNvPr id="18" name="Oval 17"/>
          <p:cNvSpPr/>
          <p:nvPr/>
        </p:nvSpPr>
        <p:spPr>
          <a:xfrm>
            <a:off x="7823757" y="234938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9" name="Oval 18"/>
          <p:cNvSpPr/>
          <p:nvPr/>
        </p:nvSpPr>
        <p:spPr>
          <a:xfrm>
            <a:off x="8672132" y="255079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Oval 19"/>
          <p:cNvSpPr/>
          <p:nvPr/>
        </p:nvSpPr>
        <p:spPr>
          <a:xfrm>
            <a:off x="7823757" y="3788020"/>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1" name="Oval 20"/>
          <p:cNvSpPr/>
          <p:nvPr/>
        </p:nvSpPr>
        <p:spPr>
          <a:xfrm>
            <a:off x="9983259" y="2349388"/>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22" name="TextBox 21"/>
          <p:cNvSpPr txBox="1"/>
          <p:nvPr/>
        </p:nvSpPr>
        <p:spPr>
          <a:xfrm>
            <a:off x="6035040" y="5016960"/>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6.40 - Lim, The Handbook of Technical Analysis (Wiley, 2016)</a:t>
            </a:r>
          </a:p>
        </p:txBody>
      </p:sp>
      <p:sp>
        <p:nvSpPr>
          <p:cNvPr id="23" name="TextBox 22"/>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p.204 and Figure 6.40. The price levels are read off the figure, roughly.</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Accumulation Distribution Line, ADL</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9 of 25</a:t>
            </a:r>
          </a:p>
        </p:txBody>
      </p:sp>
      <p:sp>
        <p:nvSpPr>
          <p:cNvPr id="8" name="Rectangle 7"/>
          <p:cNvSpPr/>
          <p:nvPr/>
        </p:nvSpPr>
        <p:spPr>
          <a:xfrm>
            <a:off x="777240" y="2258568"/>
            <a:ext cx="64008" cy="97840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Like the OBV, a running total, but each bar adds a share of its volume set by where it closes in its range.</a:t>
            </a:r>
          </a:p>
        </p:txBody>
      </p:sp>
      <p:sp>
        <p:nvSpPr>
          <p:cNvPr id="10" name="Rectangle 9"/>
          <p:cNvSpPr/>
          <p:nvPr/>
        </p:nvSpPr>
        <p:spPr>
          <a:xfrm>
            <a:off x="777240" y="349300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44728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bar PHP 48 to 52, 2 million shares. Close 52: add 2.0. At 50: add 0. At 49: take 1.0.</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C, H, L: close, high, low. Calculate the multiplying factor [(C - L) - (H - C)] / (H - L) times the period's volume, and add it to its running total: the ADL.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o.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AO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pp.204-205 gives the calculation. C, H and L are Chapter 1's OHLC. The bars and their volume are ours.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ADL worked, bar by bar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10 of 25</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Each bar: low L = 48, high H = 52, range H - L = 4, volume 2.0 million. C - L: the close's height above the low. H - C: its depth below the high.</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Close 52: (4 - 0) / 4 = 1, add 2.0.   </a:t>
            </a:r>
            <a:r>
              <a:rPr sz="1700" b="1" i="0">
                <a:solidFill>
                  <a:srgbClr val="C62828"/>
                </a:solidFill>
                <a:latin typeface="Arial"/>
              </a:rPr>
              <a:t>(2)</a:t>
            </a:r>
            <a:r>
              <a:rPr sz="1700" b="0" i="0">
                <a:solidFill>
                  <a:srgbClr val="1A1A1A"/>
                </a:solidFill>
                <a:latin typeface="Arial"/>
              </a:rPr>
              <a:t> Close 50: (2 - 2) / 4 = 0, add nothing.   </a:t>
            </a:r>
            <a:r>
              <a:rPr sz="1700" b="1" i="0">
                <a:solidFill>
                  <a:srgbClr val="1F5FAD"/>
                </a:solidFill>
                <a:latin typeface="Arial"/>
              </a:rPr>
              <a:t>(3)</a:t>
            </a:r>
            <a:r>
              <a:rPr sz="1700" b="0" i="0">
                <a:solidFill>
                  <a:srgbClr val="1A1A1A"/>
                </a:solidFill>
                <a:latin typeface="Arial"/>
              </a:rPr>
              <a:t> Close 49: (1 - 3) / 4 = -0.5, take 1.0.</a:t>
            </a:r>
          </a:p>
          <a:p>
            <a:pPr algn="l">
              <a:lnSpc>
                <a:spcPct val="105000"/>
              </a:lnSpc>
              <a:spcBef>
                <a:spcPts val="0"/>
              </a:spcBef>
              <a:spcAft>
                <a:spcPts val="1100"/>
              </a:spcAft>
            </a:pPr>
            <a:r>
              <a:rPr sz="1700" b="0" i="0">
                <a:solidFill>
                  <a:srgbClr val="1A1A1A"/>
                </a:solidFill>
                <a:latin typeface="Arial"/>
              </a:rPr>
              <a:t>The running total, bar by bar: 2.0, then 2.0 + 0 = 2.0, then 2.0 - 1.0 = 1.0. That total is the ADL.</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factor scores where the close sits: -1 at the low, 0 at the midpoint, +1 at the high.</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i.png"/>
          <p:cNvPicPr>
            <a:picLocks noChangeAspect="1"/>
          </p:cNvPicPr>
          <p:nvPr/>
        </p:nvPicPr>
        <p:blipFill>
          <a:blip r:embed="rId2"/>
          <a:stretch>
            <a:fillRect/>
          </a:stretch>
        </p:blipFill>
        <p:spPr>
          <a:xfrm>
            <a:off x="7252563" y="1929384"/>
            <a:ext cx="4041648" cy="3511296"/>
          </a:xfrm>
          <a:prstGeom prst="rect">
            <a:avLst/>
          </a:prstGeom>
        </p:spPr>
      </p:pic>
      <p:sp>
        <p:nvSpPr>
          <p:cNvPr id="12" name="Rectangle 11"/>
          <p:cNvSpPr/>
          <p:nvPr/>
        </p:nvSpPr>
        <p:spPr>
          <a:xfrm>
            <a:off x="8626723" y="2034722"/>
            <a:ext cx="484997" cy="983162"/>
          </a:xfrm>
          <a:prstGeom prst="rect">
            <a:avLst/>
          </a:prstGeom>
          <a:noFill/>
          <a:ln w="44450">
            <a:solidFill>
              <a:srgbClr val="E09B00"/>
            </a:solidFill>
          </a:ln>
        </p:spPr>
        <p:txBody>
          <a:bodyPr rtlCol="0" anchor="ctr"/>
          <a:lstStyle/>
          <a:p>
            <a:pPr algn="ctr"/>
          </a:p>
        </p:txBody>
      </p:sp>
      <p:sp>
        <p:nvSpPr>
          <p:cNvPr id="13" name="Rectangle 12"/>
          <p:cNvSpPr/>
          <p:nvPr/>
        </p:nvSpPr>
        <p:spPr>
          <a:xfrm>
            <a:off x="9273387" y="2034722"/>
            <a:ext cx="484997" cy="983162"/>
          </a:xfrm>
          <a:prstGeom prst="rect">
            <a:avLst/>
          </a:prstGeom>
          <a:noFill/>
          <a:ln w="44450">
            <a:solidFill>
              <a:srgbClr val="C62828"/>
            </a:solidFill>
          </a:ln>
        </p:spPr>
        <p:txBody>
          <a:bodyPr rtlCol="0" anchor="ctr"/>
          <a:lstStyle/>
          <a:p>
            <a:pPr algn="ctr"/>
          </a:p>
        </p:txBody>
      </p:sp>
      <p:sp>
        <p:nvSpPr>
          <p:cNvPr id="14" name="Rectangle 13"/>
          <p:cNvSpPr/>
          <p:nvPr/>
        </p:nvSpPr>
        <p:spPr>
          <a:xfrm>
            <a:off x="9920051" y="2034722"/>
            <a:ext cx="444581" cy="983162"/>
          </a:xfrm>
          <a:prstGeom prst="rect">
            <a:avLst/>
          </a:prstGeom>
          <a:noFill/>
          <a:ln w="44450">
            <a:solidFill>
              <a:srgbClr val="1F5FAD"/>
            </a:solidFill>
          </a:ln>
        </p:spPr>
        <p:txBody>
          <a:bodyPr rtlCol="0" anchor="ctr"/>
          <a:lstStyle/>
          <a:p>
            <a:pPr algn="ctr"/>
          </a:p>
        </p:txBody>
      </p:sp>
      <p:sp>
        <p:nvSpPr>
          <p:cNvPr id="15" name="Oval 14"/>
          <p:cNvSpPr/>
          <p:nvPr/>
        </p:nvSpPr>
        <p:spPr>
          <a:xfrm>
            <a:off x="8350026" y="2370856"/>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9602937" y="303800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10168767" y="3038002"/>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JI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pp.204-205 gives the factor. The bars, volumes, arithmetic and chart are ours, Chart AO's three bars.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the ADL redresses the OBV</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11 of 25</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Midpoint, nothing added: if C - L = H - C, then C = (H + L) / 2. For 48 and 52, 50.</a:t>
            </a:r>
          </a:p>
          <a:p>
            <a:pPr algn="l">
              <a:lnSpc>
                <a:spcPct val="105000"/>
              </a:lnSpc>
              <a:spcBef>
                <a:spcPts val="0"/>
              </a:spcBef>
              <a:spcAft>
                <a:spcPts val="1100"/>
              </a:spcAft>
            </a:pPr>
            <a:r>
              <a:rPr sz="1800" b="0" i="0">
                <a:solidFill>
                  <a:srgbClr val="1A1A1A"/>
                </a:solidFill>
                <a:latin typeface="Arial"/>
              </a:rPr>
              <a:t>Further above it, more is added; below it, more subtracted.</a:t>
            </a:r>
          </a:p>
          <a:p>
            <a:pPr algn="l">
              <a:lnSpc>
                <a:spcPct val="105000"/>
              </a:lnSpc>
              <a:spcBef>
                <a:spcPts val="0"/>
              </a:spcBef>
              <a:spcAft>
                <a:spcPts val="1100"/>
              </a:spcAft>
            </a:pPr>
            <a:r>
              <a:rPr sz="1800" b="1" i="0">
                <a:solidFill>
                  <a:srgbClr val="C62828"/>
                </a:solidFill>
                <a:latin typeface="Arial"/>
              </a:rPr>
              <a:t>(2)</a:t>
            </a:r>
            <a:r>
              <a:rPr sz="1800" b="0" i="0">
                <a:solidFill>
                  <a:srgbClr val="1A1A1A"/>
                </a:solidFill>
                <a:latin typeface="Arial"/>
              </a:rPr>
              <a:t> At most the day's volume: at the high, C = H, the factor is (H - L) / (H - L) = 1, however wide the bar.</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82803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ADL accounts for the current bar's price action. The OBV does not.</a:t>
            </a:r>
          </a:p>
        </p:txBody>
      </p:sp>
      <p:sp>
        <p:nvSpPr>
          <p:cNvPr id="10" name="Rectangle 9"/>
          <p:cNvSpPr/>
          <p:nvPr/>
        </p:nvSpPr>
        <p:spPr>
          <a:xfrm>
            <a:off x="6219291" y="1810512"/>
            <a:ext cx="51937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ap.png"/>
          <p:cNvPicPr>
            <a:picLocks noChangeAspect="1"/>
          </p:cNvPicPr>
          <p:nvPr/>
        </p:nvPicPr>
        <p:blipFill>
          <a:blip r:embed="rId2"/>
          <a:stretch>
            <a:fillRect/>
          </a:stretch>
        </p:blipFill>
        <p:spPr>
          <a:xfrm>
            <a:off x="6338163" y="1929384"/>
            <a:ext cx="4956048" cy="3511296"/>
          </a:xfrm>
          <a:prstGeom prst="rect">
            <a:avLst/>
          </a:prstGeom>
        </p:spPr>
      </p:pic>
      <p:sp>
        <p:nvSpPr>
          <p:cNvPr id="12" name="Oval 11"/>
          <p:cNvSpPr/>
          <p:nvPr/>
        </p:nvSpPr>
        <p:spPr>
          <a:xfrm>
            <a:off x="8890528" y="3246120"/>
            <a:ext cx="396483" cy="316016"/>
          </a:xfrm>
          <a:prstGeom prst="ellipse">
            <a:avLst/>
          </a:prstGeom>
          <a:noFill/>
          <a:ln w="44450">
            <a:solidFill>
              <a:srgbClr val="E09B00"/>
            </a:solidFill>
          </a:ln>
        </p:spPr>
        <p:txBody>
          <a:bodyPr rtlCol="0" anchor="ctr"/>
          <a:lstStyle/>
          <a:p>
            <a:pPr algn="ctr"/>
          </a:p>
        </p:txBody>
      </p:sp>
      <p:sp>
        <p:nvSpPr>
          <p:cNvPr id="13" name="Oval 12"/>
          <p:cNvSpPr/>
          <p:nvPr/>
        </p:nvSpPr>
        <p:spPr>
          <a:xfrm>
            <a:off x="10674705" y="2315626"/>
            <a:ext cx="297362" cy="280903"/>
          </a:xfrm>
          <a:prstGeom prst="ellipse">
            <a:avLst/>
          </a:prstGeom>
          <a:noFill/>
          <a:ln w="44450">
            <a:solidFill>
              <a:srgbClr val="C62828"/>
            </a:solidFill>
          </a:ln>
        </p:spPr>
        <p:txBody>
          <a:bodyPr rtlCol="0" anchor="ctr"/>
          <a:lstStyle/>
          <a:p>
            <a:pPr algn="ctr"/>
          </a:p>
        </p:txBody>
      </p:sp>
      <p:sp>
        <p:nvSpPr>
          <p:cNvPr id="14" name="Oval 13"/>
          <p:cNvSpPr/>
          <p:nvPr/>
        </p:nvSpPr>
        <p:spPr>
          <a:xfrm>
            <a:off x="8784640" y="312578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0568817" y="272198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AP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p.205: the algebra and the maximum are the book's. The chart is ours: the factor against where the close sits.</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bar, two answers: the OBV against the ADL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12 of 25</a:t>
            </a:r>
          </a:p>
        </p:txBody>
      </p:sp>
      <p:sp>
        <p:nvSpPr>
          <p:cNvPr id="7" name="TextBox 6"/>
          <p:cNvSpPr txBox="1"/>
          <p:nvPr/>
        </p:nvSpPr>
        <p:spPr>
          <a:xfrm>
            <a:off x="777240" y="1965960"/>
            <a:ext cx="548640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Ours: yesterday closed 50.00. Today runs from 46.00 to 51.00 on 2.0 million shares and closes at 49.75.</a:t>
            </a:r>
          </a:p>
          <a:p>
            <a:pPr algn="l">
              <a:lnSpc>
                <a:spcPct val="105000"/>
              </a:lnSpc>
              <a:spcBef>
                <a:spcPts val="0"/>
              </a:spcBef>
              <a:spcAft>
                <a:spcPts val="1100"/>
              </a:spcAft>
            </a:pPr>
            <a:r>
              <a:rPr sz="1800" b="1" i="0">
                <a:solidFill>
                  <a:srgbClr val="E09B00"/>
                </a:solidFill>
                <a:latin typeface="Arial"/>
              </a:rPr>
              <a:t>(1)</a:t>
            </a:r>
            <a:r>
              <a:rPr sz="1800" b="0" i="0">
                <a:solidFill>
                  <a:srgbClr val="1A1A1A"/>
                </a:solidFill>
                <a:latin typeface="Arial"/>
              </a:rPr>
              <a:t> OBV: 49.75 is below 50.00, so subtract all 2.0 million.</a:t>
            </a:r>
          </a:p>
          <a:p>
            <a:pPr algn="l">
              <a:lnSpc>
                <a:spcPct val="105000"/>
              </a:lnSpc>
              <a:spcBef>
                <a:spcPts val="0"/>
              </a:spcBef>
              <a:spcAft>
                <a:spcPts val="1100"/>
              </a:spcAft>
            </a:pPr>
            <a:r>
              <a:rPr sz="1800" b="1" i="0">
                <a:solidFill>
                  <a:srgbClr val="C62828"/>
                </a:solidFill>
                <a:latin typeface="Arial"/>
              </a:rPr>
              <a:t>(2)</a:t>
            </a:r>
            <a:r>
              <a:rPr sz="1800" b="0" i="0">
                <a:solidFill>
                  <a:srgbClr val="1A1A1A"/>
                </a:solidFill>
                <a:latin typeface="Arial"/>
              </a:rPr>
              <a:t> ADL: C - L = 3.75, H - C = 1.25, range 5. Factor (3.75 - 1.25) / 5 = 0.5: add 1.0 million.</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519379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OBV sees only yesterday's close; the ADL sees where today closed in today's bar.</a:t>
            </a:r>
          </a:p>
        </p:txBody>
      </p:sp>
      <p:sp>
        <p:nvSpPr>
          <p:cNvPr id="10" name="Rectangle 9"/>
          <p:cNvSpPr/>
          <p:nvPr/>
        </p:nvSpPr>
        <p:spPr>
          <a:xfrm>
            <a:off x="6585051" y="1810512"/>
            <a:ext cx="482803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j.png"/>
          <p:cNvPicPr>
            <a:picLocks noChangeAspect="1"/>
          </p:cNvPicPr>
          <p:nvPr/>
        </p:nvPicPr>
        <p:blipFill>
          <a:blip r:embed="rId2"/>
          <a:stretch>
            <a:fillRect/>
          </a:stretch>
        </p:blipFill>
        <p:spPr>
          <a:xfrm>
            <a:off x="6703923" y="1929384"/>
            <a:ext cx="4590288" cy="3511296"/>
          </a:xfrm>
          <a:prstGeom prst="rect">
            <a:avLst/>
          </a:prstGeom>
        </p:spPr>
      </p:pic>
      <p:sp>
        <p:nvSpPr>
          <p:cNvPr id="12" name="Rectangle 11"/>
          <p:cNvSpPr/>
          <p:nvPr/>
        </p:nvSpPr>
        <p:spPr>
          <a:xfrm>
            <a:off x="9549902" y="3333902"/>
            <a:ext cx="527883" cy="1264066"/>
          </a:xfrm>
          <a:prstGeom prst="rect">
            <a:avLst/>
          </a:prstGeom>
          <a:noFill/>
          <a:ln w="44450">
            <a:solidFill>
              <a:srgbClr val="E09B00"/>
            </a:solidFill>
          </a:ln>
        </p:spPr>
        <p:txBody>
          <a:bodyPr rtlCol="0" anchor="ctr"/>
          <a:lstStyle/>
          <a:p>
            <a:pPr algn="ctr"/>
          </a:p>
        </p:txBody>
      </p:sp>
      <p:sp>
        <p:nvSpPr>
          <p:cNvPr id="13" name="Rectangle 12"/>
          <p:cNvSpPr/>
          <p:nvPr/>
        </p:nvSpPr>
        <p:spPr>
          <a:xfrm>
            <a:off x="10215493" y="2666756"/>
            <a:ext cx="550834" cy="772485"/>
          </a:xfrm>
          <a:prstGeom prst="rect">
            <a:avLst/>
          </a:prstGeom>
          <a:noFill/>
          <a:ln w="44450">
            <a:solidFill>
              <a:srgbClr val="C62828"/>
            </a:solidFill>
          </a:ln>
        </p:spPr>
        <p:txBody>
          <a:bodyPr rtlCol="0" anchor="ctr"/>
          <a:lstStyle/>
          <a:p>
            <a:pPr algn="ctr"/>
          </a:p>
        </p:txBody>
      </p:sp>
      <p:sp>
        <p:nvSpPr>
          <p:cNvPr id="14" name="Oval 13"/>
          <p:cNvSpPr/>
          <p:nvPr/>
        </p:nvSpPr>
        <p:spPr>
          <a:xfrm>
            <a:off x="9256745" y="3038002"/>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9922337" y="2370856"/>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6583679" y="5650991"/>
            <a:ext cx="483077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JJ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one invented bar and the chart, read by the book's two rules from pp.203 and 205.</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ADL confirms, volume diverges: EURUSD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13 of 25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Hourly EURUSD, June 2011: price makes new highs </a:t>
            </a:r>
            <a:r>
              <a:rPr sz="1800" b="1" i="0">
                <a:solidFill>
                  <a:srgbClr val="E09B00"/>
                </a:solidFill>
                <a:latin typeface="Arial"/>
              </a:rPr>
              <a:t>(1)</a:t>
            </a:r>
            <a:r>
              <a:rPr sz="1800" b="0" i="0">
                <a:solidFill>
                  <a:srgbClr val="1A1A1A"/>
                </a:solidFill>
                <a:latin typeface="Arial"/>
              </a:rPr>
              <a:t>.</a:t>
            </a:r>
          </a:p>
          <a:p>
            <a:pPr algn="l">
              <a:lnSpc>
                <a:spcPct val="105000"/>
              </a:lnSpc>
              <a:spcBef>
                <a:spcPts val="0"/>
              </a:spcBef>
              <a:spcAft>
                <a:spcPts val="1100"/>
              </a:spcAft>
            </a:pPr>
            <a:r>
              <a:rPr sz="1800" b="1" i="0">
                <a:solidFill>
                  <a:srgbClr val="C62828"/>
                </a:solidFill>
                <a:latin typeface="Arial"/>
              </a:rPr>
              <a:t>(2)</a:t>
            </a:r>
            <a:r>
              <a:rPr sz="1800" b="0" i="0">
                <a:solidFill>
                  <a:srgbClr val="1A1A1A"/>
                </a:solidFill>
                <a:latin typeface="Arial"/>
              </a:rPr>
              <a:t> ADL, price-based: rising with price, so bullish confirmation.</a:t>
            </a:r>
          </a:p>
          <a:p>
            <a:pPr algn="l">
              <a:lnSpc>
                <a:spcPct val="105000"/>
              </a:lnSpc>
              <a:spcBef>
                <a:spcPts val="0"/>
              </a:spcBef>
              <a:spcAft>
                <a:spcPts val="1100"/>
              </a:spcAft>
            </a:pPr>
            <a:r>
              <a:rPr sz="1800" b="1" i="0">
                <a:solidFill>
                  <a:srgbClr val="1F5FAD"/>
                </a:solidFill>
                <a:latin typeface="Arial"/>
              </a:rPr>
              <a:t>(3)</a:t>
            </a:r>
            <a:r>
              <a:rPr sz="1800" b="0" i="0">
                <a:solidFill>
                  <a:srgbClr val="1A1A1A"/>
                </a:solidFill>
                <a:latin typeface="Arial"/>
              </a:rPr>
              <a:t> Volume, plain: falling as price rises, so bearish divergence: an underlying weakness, the book says.</a:t>
            </a:r>
          </a:p>
        </p:txBody>
      </p:sp>
      <p:sp>
        <p:nvSpPr>
          <p:cNvPr id="8" name="Rectangle 7"/>
          <p:cNvSpPr/>
          <p:nvPr/>
        </p:nvSpPr>
        <p:spPr>
          <a:xfrm>
            <a:off x="777240" y="4677156"/>
            <a:ext cx="82296" cy="1014983"/>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4645152" cy="1014983"/>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They disagree: wait for price itself to confirm a reversal, by breaking its own trendline.</a:t>
            </a:r>
          </a:p>
        </p:txBody>
      </p:sp>
      <p:sp>
        <p:nvSpPr>
          <p:cNvPr id="10" name="Rectangle 9"/>
          <p:cNvSpPr/>
          <p:nvPr/>
        </p:nvSpPr>
        <p:spPr>
          <a:xfrm>
            <a:off x="6035040" y="1810512"/>
            <a:ext cx="5379414" cy="2815022"/>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153912" y="1929384"/>
            <a:ext cx="5141670" cy="2577278"/>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153912" y="1929384"/>
            <a:ext cx="51416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28231" y="2203703"/>
            <a:ext cx="4593031" cy="212007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6.41</a:t>
            </a:r>
          </a:p>
          <a:p>
            <a:pPr algn="l">
              <a:lnSpc>
                <a:spcPct val="115000"/>
              </a:lnSpc>
              <a:spcBef>
                <a:spcPts val="0"/>
              </a:spcBef>
              <a:spcAft>
                <a:spcPts val="0"/>
              </a:spcAft>
            </a:pPr>
            <a:r>
              <a:rPr sz="1500" b="0" i="0">
                <a:solidFill>
                  <a:srgbClr val="1A1A1A"/>
                </a:solidFill>
                <a:latin typeface="Palatino"/>
              </a:rPr>
              <a:t>An hourly EURUSD chart rising to a top, with an A/D line panel rising alongside it, labelled bullish confirmation, and a volume panel falling, labelled bearish divergence, under the heading divergence between volume and ADL.</a:t>
            </a:r>
          </a:p>
        </p:txBody>
      </p:sp>
      <p:sp>
        <p:nvSpPr>
          <p:cNvPr id="14" name="Rectangle 13"/>
          <p:cNvSpPr/>
          <p:nvPr/>
        </p:nvSpPr>
        <p:spPr>
          <a:xfrm>
            <a:off x="8878997" y="2419066"/>
            <a:ext cx="1285417" cy="438137"/>
          </a:xfrm>
          <a:prstGeom prst="rect">
            <a:avLst/>
          </a:prstGeom>
          <a:noFill/>
          <a:ln w="44450">
            <a:solidFill>
              <a:srgbClr val="E09B00"/>
            </a:solidFill>
          </a:ln>
        </p:spPr>
        <p:txBody>
          <a:bodyPr rtlCol="0" anchor="ctr"/>
          <a:lstStyle/>
          <a:p>
            <a:pPr algn="ctr"/>
          </a:p>
        </p:txBody>
      </p:sp>
      <p:sp>
        <p:nvSpPr>
          <p:cNvPr id="15" name="Rectangle 14"/>
          <p:cNvSpPr/>
          <p:nvPr/>
        </p:nvSpPr>
        <p:spPr>
          <a:xfrm>
            <a:off x="8930414" y="3527296"/>
            <a:ext cx="1079750" cy="206182"/>
          </a:xfrm>
          <a:prstGeom prst="rect">
            <a:avLst/>
          </a:prstGeom>
          <a:noFill/>
          <a:ln w="44450">
            <a:solidFill>
              <a:srgbClr val="C62828"/>
            </a:solidFill>
          </a:ln>
        </p:spPr>
        <p:txBody>
          <a:bodyPr rtlCol="0" anchor="ctr"/>
          <a:lstStyle/>
          <a:p>
            <a:pPr algn="ctr"/>
          </a:p>
        </p:txBody>
      </p:sp>
      <p:cxnSp>
        <p:nvCxnSpPr>
          <p:cNvPr id="16" name="Connector 15"/>
          <p:cNvCxnSpPr/>
          <p:nvPr/>
        </p:nvCxnSpPr>
        <p:spPr>
          <a:xfrm>
            <a:off x="8467663" y="4132957"/>
            <a:ext cx="1336835" cy="206182"/>
          </a:xfrm>
          <a:prstGeom prst="line">
            <a:avLst/>
          </a:prstGeom>
          <a:ln w="44450">
            <a:solidFill>
              <a:srgbClr val="1F5FAD"/>
            </a:solidFill>
          </a:ln>
        </p:spPr>
      </p:cxnSp>
      <p:sp>
        <p:nvSpPr>
          <p:cNvPr id="17" name="Oval 16"/>
          <p:cNvSpPr/>
          <p:nvPr/>
        </p:nvSpPr>
        <p:spPr>
          <a:xfrm>
            <a:off x="8569299" y="2186300"/>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8620716" y="332030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8209382" y="3887304"/>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035040" y="4716974"/>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6.41 -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p.205 and Figure 6.41. Price confirmation as Figure 6.44, p.206, labels it.</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OBV and ADL together: trend or range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14 of 25</a:t>
            </a:r>
          </a:p>
        </p:txBody>
      </p:sp>
      <p:sp>
        <p:nvSpPr>
          <p:cNvPr id="7" name="TextBox 6"/>
          <p:cNvSpPr txBox="1"/>
          <p:nvPr/>
        </p:nvSpPr>
        <p:spPr>
          <a:xfrm>
            <a:off x="777240" y="1965960"/>
            <a:ext cx="5303520" cy="3108960"/>
          </a:xfrm>
          <a:prstGeom prst="rect">
            <a:avLst/>
          </a:prstGeom>
          <a:noFill/>
        </p:spPr>
        <p:txBody>
          <a:bodyPr wrap="square" anchor="t" lIns="0" rIns="0" tIns="0" bIns="0">
            <a:spAutoFit/>
          </a:bodyPr>
          <a:lstStyle/>
          <a:p>
            <a:pPr algn="l">
              <a:lnSpc>
                <a:spcPct val="105000"/>
              </a:lnSpc>
              <a:spcBef>
                <a:spcPts val="0"/>
              </a:spcBef>
              <a:spcAft>
                <a:spcPts val="1100"/>
              </a:spcAft>
            </a:pPr>
            <a:r>
              <a:rPr sz="1800" b="0" i="0">
                <a:solidFill>
                  <a:srgbClr val="1A1A1A"/>
                </a:solidFill>
                <a:latin typeface="Arial"/>
              </a:rPr>
              <a:t>Both rising, or both falling: price trends in a decisive manner. Right ellipse </a:t>
            </a:r>
            <a:r>
              <a:rPr sz="1800" b="1" i="0">
                <a:solidFill>
                  <a:srgbClr val="E09B00"/>
                </a:solidFill>
                <a:latin typeface="Arial"/>
              </a:rPr>
              <a:t>(1)</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Opposite directions: price tends to range or consolidate, going sideways. Left ellipse </a:t>
            </a:r>
            <a:r>
              <a:rPr sz="1800" b="1" i="0">
                <a:solidFill>
                  <a:srgbClr val="C62828"/>
                </a:solidFill>
                <a:latin typeface="Arial"/>
              </a:rPr>
              <a:t>(2)</a:t>
            </a:r>
            <a:r>
              <a:rPr sz="1800" b="0" i="0">
                <a:solidFill>
                  <a:srgbClr val="1A1A1A"/>
                </a:solidFill>
                <a:latin typeface="Arial"/>
              </a:rPr>
              <a:t>.</a:t>
            </a:r>
          </a:p>
          <a:p>
            <a:pPr algn="l">
              <a:lnSpc>
                <a:spcPct val="105000"/>
              </a:lnSpc>
              <a:spcBef>
                <a:spcPts val="0"/>
              </a:spcBef>
              <a:spcAft>
                <a:spcPts val="1100"/>
              </a:spcAft>
            </a:pPr>
            <a:r>
              <a:rPr sz="1800" b="0" i="0">
                <a:solidFill>
                  <a:srgbClr val="1A1A1A"/>
                </a:solidFill>
                <a:latin typeface="Arial"/>
              </a:rPr>
              <a:t>Regime: whether the market trends or ranges. Trend-following trades with a trend; range-bound, inside a range.</a:t>
            </a:r>
          </a:p>
        </p:txBody>
      </p:sp>
      <p:sp>
        <p:nvSpPr>
          <p:cNvPr id="8" name="Rectangle 7"/>
          <p:cNvSpPr/>
          <p:nvPr/>
        </p:nvSpPr>
        <p:spPr>
          <a:xfrm>
            <a:off x="777240" y="4677156"/>
            <a:ext cx="82296" cy="7254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13732"/>
            <a:ext cx="5010912" cy="725424"/>
          </a:xfrm>
          <a:prstGeom prst="rect">
            <a:avLst/>
          </a:prstGeom>
          <a:noFill/>
        </p:spPr>
        <p:txBody>
          <a:bodyPr wrap="square" anchor="t" lIns="0" rIns="0" tIns="0" bIns="0">
            <a:spAutoFit/>
          </a:bodyPr>
          <a:lstStyle/>
          <a:p>
            <a:pPr algn="l">
              <a:lnSpc>
                <a:spcPct val="100000"/>
              </a:lnSpc>
              <a:spcBef>
                <a:spcPts val="0"/>
              </a:spcBef>
              <a:spcAft>
                <a:spcPts val="0"/>
              </a:spcAft>
            </a:pPr>
            <a:r>
              <a:rPr sz="1900" b="1" i="0">
                <a:solidFill>
                  <a:srgbClr val="1A1A1A"/>
                </a:solidFill>
                <a:latin typeface="Arial"/>
              </a:rPr>
              <a:t>The book: it may help choose. Together, trend-following; apart, range-bound.</a:t>
            </a:r>
          </a:p>
        </p:txBody>
      </p:sp>
      <p:sp>
        <p:nvSpPr>
          <p:cNvPr id="10" name="Rectangle 9"/>
          <p:cNvSpPr/>
          <p:nvPr/>
        </p:nvSpPr>
        <p:spPr>
          <a:xfrm>
            <a:off x="6462521" y="1810512"/>
            <a:ext cx="4890211"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581393" y="1929384"/>
            <a:ext cx="4652467"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581393" y="1929384"/>
            <a:ext cx="4652467"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855713" y="2203703"/>
            <a:ext cx="4103827"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6.42</a:t>
            </a:r>
          </a:p>
          <a:p>
            <a:pPr algn="l">
              <a:lnSpc>
                <a:spcPct val="115000"/>
              </a:lnSpc>
              <a:spcBef>
                <a:spcPts val="0"/>
              </a:spcBef>
              <a:spcAft>
                <a:spcPts val="0"/>
              </a:spcAft>
            </a:pPr>
            <a:r>
              <a:rPr sz="1500" b="0" i="0">
                <a:solidFill>
                  <a:srgbClr val="1A1A1A"/>
                </a:solidFill>
                <a:latin typeface="Palatino"/>
              </a:rPr>
              <a:t>The daily chart of Exxon Mobil with OBV and ADL panels. On the left the two move apart, non-confirmation, under an erratic and volatile price; on the right they rise together, confirmation, under a pronounced trend.</a:t>
            </a:r>
          </a:p>
        </p:txBody>
      </p:sp>
      <p:sp>
        <p:nvSpPr>
          <p:cNvPr id="14" name="Oval 13"/>
          <p:cNvSpPr/>
          <p:nvPr/>
        </p:nvSpPr>
        <p:spPr>
          <a:xfrm>
            <a:off x="9140250" y="4001048"/>
            <a:ext cx="1581838" cy="1299179"/>
          </a:xfrm>
          <a:prstGeom prst="ellipse">
            <a:avLst/>
          </a:prstGeom>
          <a:noFill/>
          <a:ln w="44450">
            <a:solidFill>
              <a:srgbClr val="E09B00"/>
            </a:solidFill>
          </a:ln>
        </p:spPr>
        <p:txBody>
          <a:bodyPr rtlCol="0" anchor="ctr"/>
          <a:lstStyle/>
          <a:p>
            <a:pPr algn="ctr"/>
          </a:p>
        </p:txBody>
      </p:sp>
      <p:sp>
        <p:nvSpPr>
          <p:cNvPr id="15" name="Oval 14"/>
          <p:cNvSpPr/>
          <p:nvPr/>
        </p:nvSpPr>
        <p:spPr>
          <a:xfrm>
            <a:off x="6674443" y="3930822"/>
            <a:ext cx="2233184" cy="1474744"/>
          </a:xfrm>
          <a:prstGeom prst="ellipse">
            <a:avLst/>
          </a:prstGeom>
          <a:noFill/>
          <a:ln w="44450">
            <a:solidFill>
              <a:srgbClr val="C62828"/>
            </a:solidFill>
          </a:ln>
        </p:spPr>
        <p:txBody>
          <a:bodyPr rtlCol="0" anchor="ctr"/>
          <a:lstStyle/>
          <a:p>
            <a:pPr algn="ctr"/>
          </a:p>
        </p:txBody>
      </p:sp>
      <p:sp>
        <p:nvSpPr>
          <p:cNvPr id="16" name="Oval 15"/>
          <p:cNvSpPr/>
          <p:nvPr/>
        </p:nvSpPr>
        <p:spPr>
          <a:xfrm>
            <a:off x="9031327" y="388071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8891753" y="5144780"/>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400799" y="5650991"/>
            <a:ext cx="5013655" cy="274320"/>
          </a:xfrm>
          <a:prstGeom prst="rect">
            <a:avLst/>
          </a:prstGeom>
          <a:noFill/>
        </p:spPr>
        <p:txBody>
          <a:bodyPr wrap="square" anchor="t" lIns="0" rIns="0" tIns="0" bIns="0">
            <a:spAutoFit/>
          </a:bodyPr>
          <a:lstStyle/>
          <a:p>
            <a:pPr algn="l">
              <a:lnSpc>
                <a:spcPct val="100000"/>
              </a:lnSpc>
              <a:spcBef>
                <a:spcPts val="0"/>
              </a:spcBef>
              <a:spcAft>
                <a:spcPts val="0"/>
              </a:spcAft>
            </a:pPr>
            <a:r>
              <a:rPr sz="1100" b="0" i="0">
                <a:solidFill>
                  <a:srgbClr val="818181"/>
                </a:solidFill>
                <a:latin typeface="Arial"/>
              </a:rPr>
              <a:t>Figure 6.42 -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pp.205-206 and Figure 6.42. Regime is the book's word, not defined; the reading of it is ours.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Chaikin Money Flow and Chaikin Oscillator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15 of 25</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CMF: add the ADL's signed volumes S over the last N bars, and divide by those bars' total volume.</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the ADL's three bars, N = 3: S of 2.0, 0 and -1.0 million make 1.0; volumes of 2.0 each make 6.0. CMF = 1.0 / 6.0 = 0.17.</a:t>
            </a:r>
          </a:p>
        </p:txBody>
      </p:sp>
      <p:sp>
        <p:nvSpPr>
          <p:cNvPr id="12" name="Rectangle 11"/>
          <p:cNvSpPr/>
          <p:nvPr/>
        </p:nvSpPr>
        <p:spPr>
          <a:xfrm>
            <a:off x="777240" y="446836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S: the multiplying factor times volume. N-period CMF: the sum of S over the sum of volume. Chaikin oscillator: a shorter-term EMA less a longer-term EMA of the CMF's running total.</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q.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AQ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gives the calculation, not the lengths. The bars and volumes are ours.</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CMF's number says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16 of 25</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The ADL's factor runs from -1 to +1, so no S exceeds its bar's volume: the CMF also runs from -1 to +1.</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-1: every bar closed at its low. </a:t>
            </a:r>
            <a:r>
              <a:rPr sz="1700" b="1" i="0">
                <a:solidFill>
                  <a:srgbClr val="C62828"/>
                </a:solidFill>
                <a:latin typeface="Arial"/>
              </a:rPr>
              <a:t>(2)</a:t>
            </a:r>
            <a:r>
              <a:rPr sz="1700" b="0" i="0">
                <a:solidFill>
                  <a:srgbClr val="1A1A1A"/>
                </a:solidFill>
                <a:latin typeface="Arial"/>
              </a:rPr>
              <a:t> 0: on balance, closes at their midpoints. +1: every bar closed at its high.</a:t>
            </a:r>
          </a:p>
          <a:p>
            <a:pPr algn="l">
              <a:lnSpc>
                <a:spcPct val="105000"/>
              </a:lnSpc>
              <a:spcBef>
                <a:spcPts val="0"/>
              </a:spcBef>
              <a:spcAft>
                <a:spcPts val="1100"/>
              </a:spcAft>
            </a:pPr>
            <a:r>
              <a:rPr sz="1700" b="1" i="0">
                <a:solidFill>
                  <a:srgbClr val="1F5FAD"/>
                </a:solidFill>
                <a:latin typeface="Arial"/>
              </a:rPr>
              <a:t>(3)</a:t>
            </a:r>
            <a:r>
              <a:rPr sz="1700" b="0" i="0">
                <a:solidFill>
                  <a:srgbClr val="1A1A1A"/>
                </a:solidFill>
                <a:latin typeface="Arial"/>
              </a:rPr>
              <a:t> Our 0.17: of 6.0 million traded, a net 1.0 million counts as added: volume came, on balance, with closes above their midpoints.</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Our arithmetic. The book reads the CMF only by a line and an oversold level, three slides on.</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k.png"/>
          <p:cNvPicPr>
            <a:picLocks noChangeAspect="1"/>
          </p:cNvPicPr>
          <p:nvPr/>
        </p:nvPicPr>
        <p:blipFill>
          <a:blip r:embed="rId2"/>
          <a:stretch>
            <a:fillRect/>
          </a:stretch>
        </p:blipFill>
        <p:spPr>
          <a:xfrm>
            <a:off x="7252563" y="1929384"/>
            <a:ext cx="4041648" cy="3511296"/>
          </a:xfrm>
          <a:prstGeom prst="rect">
            <a:avLst/>
          </a:prstGeom>
        </p:spPr>
      </p:pic>
      <p:sp>
        <p:nvSpPr>
          <p:cNvPr id="12" name="Rectangle 11"/>
          <p:cNvSpPr/>
          <p:nvPr/>
        </p:nvSpPr>
        <p:spPr>
          <a:xfrm>
            <a:off x="8303391" y="3298789"/>
            <a:ext cx="444581" cy="1123614"/>
          </a:xfrm>
          <a:prstGeom prst="rect">
            <a:avLst/>
          </a:prstGeom>
          <a:noFill/>
          <a:ln w="44450">
            <a:solidFill>
              <a:srgbClr val="E09B00"/>
            </a:solidFill>
          </a:ln>
        </p:spPr>
        <p:txBody>
          <a:bodyPr rtlCol="0" anchor="ctr"/>
          <a:lstStyle/>
          <a:p>
            <a:pPr algn="ctr"/>
          </a:p>
        </p:txBody>
      </p:sp>
      <p:sp>
        <p:nvSpPr>
          <p:cNvPr id="13" name="Oval 12"/>
          <p:cNvSpPr/>
          <p:nvPr/>
        </p:nvSpPr>
        <p:spPr>
          <a:xfrm>
            <a:off x="8990472" y="3123224"/>
            <a:ext cx="242498" cy="245790"/>
          </a:xfrm>
          <a:prstGeom prst="ellipse">
            <a:avLst/>
          </a:prstGeom>
          <a:noFill/>
          <a:ln w="44450">
            <a:solidFill>
              <a:srgbClr val="C62828"/>
            </a:solidFill>
          </a:ln>
        </p:spPr>
        <p:txBody>
          <a:bodyPr rtlCol="0" anchor="ctr"/>
          <a:lstStyle/>
          <a:p>
            <a:pPr algn="ctr"/>
          </a:p>
        </p:txBody>
      </p:sp>
      <p:sp>
        <p:nvSpPr>
          <p:cNvPr id="14" name="Rectangle 13"/>
          <p:cNvSpPr/>
          <p:nvPr/>
        </p:nvSpPr>
        <p:spPr>
          <a:xfrm>
            <a:off x="9495678" y="2982772"/>
            <a:ext cx="424373" cy="386242"/>
          </a:xfrm>
          <a:prstGeom prst="rect">
            <a:avLst/>
          </a:prstGeom>
          <a:noFill/>
          <a:ln w="44450">
            <a:solidFill>
              <a:srgbClr val="1F5FAD"/>
            </a:solidFill>
          </a:ln>
        </p:spPr>
        <p:txBody>
          <a:bodyPr rtlCol="0" anchor="ctr"/>
          <a:lstStyle/>
          <a:p>
            <a:pPr algn="ctr"/>
          </a:p>
        </p:txBody>
      </p:sp>
      <p:sp>
        <p:nvSpPr>
          <p:cNvPr id="15" name="Oval 14"/>
          <p:cNvSpPr/>
          <p:nvPr/>
        </p:nvSpPr>
        <p:spPr>
          <a:xfrm>
            <a:off x="7986278" y="3705148"/>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Oval 15"/>
          <p:cNvSpPr/>
          <p:nvPr/>
        </p:nvSpPr>
        <p:spPr>
          <a:xfrm>
            <a:off x="8956273" y="342424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7" name="Oval 16"/>
          <p:cNvSpPr/>
          <p:nvPr/>
        </p:nvSpPr>
        <p:spPr>
          <a:xfrm>
            <a:off x="9885852" y="2827324"/>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8" name="TextBox 17"/>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JK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Ours: arithmetic on the book's p.206 definition and the ADL's factor, p.205, and the chart. The book gives no reading of the CMF's value.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Chaikin oscillator, step by step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17 of 25</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1  Each bar's CMF, over its last N bars.</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A running total of the CMF, as for the ADL: black.</a:t>
            </a:r>
          </a:p>
          <a:p>
            <a:pPr algn="l">
              <a:lnSpc>
                <a:spcPct val="105000"/>
              </a:lnSpc>
              <a:spcBef>
                <a:spcPts val="0"/>
              </a:spcBef>
              <a:spcAft>
                <a:spcPts val="1100"/>
              </a:spcAft>
            </a:pPr>
            <a:r>
              <a:rPr sz="1700" b="1" i="0">
                <a:solidFill>
                  <a:srgbClr val="1F5FAD"/>
                </a:solidFill>
                <a:latin typeface="Arial"/>
              </a:rPr>
              <a:t>(3)</a:t>
            </a:r>
            <a:r>
              <a:rPr sz="1700" b="0" i="0">
                <a:solidFill>
                  <a:srgbClr val="1A1A1A"/>
                </a:solidFill>
                <a:latin typeface="Arial"/>
              </a:rPr>
              <a:t> Two EMAs of that total, here over 3 and 10 bars: gold and green.</a:t>
            </a:r>
          </a:p>
          <a:p>
            <a:pPr algn="l">
              <a:lnSpc>
                <a:spcPct val="105000"/>
              </a:lnSpc>
              <a:spcBef>
                <a:spcPts val="0"/>
              </a:spcBef>
              <a:spcAft>
                <a:spcPts val="1100"/>
              </a:spcAft>
            </a:pPr>
            <a:r>
              <a:rPr sz="1700" b="1" i="0">
                <a:solidFill>
                  <a:srgbClr val="007A33"/>
                </a:solidFill>
                <a:latin typeface="Arial"/>
              </a:rPr>
              <a:t>(4)</a:t>
            </a:r>
            <a:r>
              <a:rPr sz="1700" b="0" i="0">
                <a:solidFill>
                  <a:srgbClr val="1A1A1A"/>
                </a:solidFill>
                <a:latin typeface="Arial"/>
              </a:rPr>
              <a:t> Oscillator = shorter EMA - longer EMA, bottom panel. At the dashed lines: 1.0 - 0.5 = +0.5; 0.6 - 0.8 = -0.2.</a:t>
            </a:r>
          </a:p>
        </p:txBody>
      </p:sp>
      <p:sp>
        <p:nvSpPr>
          <p:cNvPr id="8" name="Rectangle 7"/>
          <p:cNvSpPr/>
          <p:nvPr/>
        </p:nvSpPr>
        <p:spPr>
          <a:xfrm>
            <a:off x="777240" y="4729734"/>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66310"/>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oscillator is the gap between the two averages.</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fd.png"/>
          <p:cNvPicPr>
            <a:picLocks noChangeAspect="1"/>
          </p:cNvPicPr>
          <p:nvPr/>
        </p:nvPicPr>
        <p:blipFill>
          <a:blip r:embed="rId2"/>
          <a:stretch>
            <a:fillRect/>
          </a:stretch>
        </p:blipFill>
        <p:spPr>
          <a:xfrm>
            <a:off x="7252563" y="1929384"/>
            <a:ext cx="4041648" cy="3511296"/>
          </a:xfrm>
          <a:prstGeom prst="rect">
            <a:avLst/>
          </a:prstGeom>
        </p:spPr>
      </p:pic>
      <p:cxnSp>
        <p:nvCxnSpPr>
          <p:cNvPr id="12" name="Connector 11"/>
          <p:cNvCxnSpPr/>
          <p:nvPr/>
        </p:nvCxnSpPr>
        <p:spPr>
          <a:xfrm flipH="1">
            <a:off x="9859426" y="2140061"/>
            <a:ext cx="424373" cy="245791"/>
          </a:xfrm>
          <a:prstGeom prst="line">
            <a:avLst/>
          </a:prstGeom>
          <a:ln w="44450">
            <a:solidFill>
              <a:srgbClr val="C62828"/>
            </a:solidFill>
            <a:tailEnd type="triangle" w="med" len="med"/>
          </a:ln>
        </p:spPr>
      </p:cxnSp>
      <p:sp>
        <p:nvSpPr>
          <p:cNvPr id="13" name="Rectangle 12"/>
          <p:cNvSpPr/>
          <p:nvPr/>
        </p:nvSpPr>
        <p:spPr>
          <a:xfrm>
            <a:off x="7414229" y="2280513"/>
            <a:ext cx="3758732" cy="983162"/>
          </a:xfrm>
          <a:prstGeom prst="rect">
            <a:avLst/>
          </a:prstGeom>
          <a:noFill/>
          <a:ln w="44450">
            <a:solidFill>
              <a:srgbClr val="1F5FAD"/>
            </a:solidFill>
          </a:ln>
        </p:spPr>
        <p:txBody>
          <a:bodyPr rtlCol="0" anchor="ctr"/>
          <a:lstStyle/>
          <a:p>
            <a:pPr algn="ctr"/>
          </a:p>
        </p:txBody>
      </p:sp>
      <p:sp>
        <p:nvSpPr>
          <p:cNvPr id="14" name="Rectangle 13"/>
          <p:cNvSpPr/>
          <p:nvPr/>
        </p:nvSpPr>
        <p:spPr>
          <a:xfrm>
            <a:off x="7414229" y="3965935"/>
            <a:ext cx="3718316" cy="877824"/>
          </a:xfrm>
          <a:prstGeom prst="rect">
            <a:avLst/>
          </a:prstGeom>
          <a:noFill/>
          <a:ln w="44450">
            <a:solidFill>
              <a:srgbClr val="007A33"/>
            </a:solidFill>
          </a:ln>
        </p:spPr>
        <p:txBody>
          <a:bodyPr rtlCol="0" anchor="ctr"/>
          <a:lstStyle/>
          <a:p>
            <a:pPr algn="ctr"/>
          </a:p>
        </p:txBody>
      </p:sp>
      <p:sp>
        <p:nvSpPr>
          <p:cNvPr id="15" name="Oval 14"/>
          <p:cNvSpPr/>
          <p:nvPr/>
        </p:nvSpPr>
        <p:spPr>
          <a:xfrm>
            <a:off x="10209184" y="198461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Oval 15"/>
          <p:cNvSpPr/>
          <p:nvPr/>
        </p:nvSpPr>
        <p:spPr>
          <a:xfrm>
            <a:off x="7177948" y="2616647"/>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17" name="Oval 16"/>
          <p:cNvSpPr/>
          <p:nvPr/>
        </p:nvSpPr>
        <p:spPr>
          <a:xfrm>
            <a:off x="7177948" y="4231843"/>
            <a:ext cx="310896" cy="310896"/>
          </a:xfrm>
          <a:prstGeom prst="ellipse">
            <a:avLst/>
          </a:prstGeom>
          <a:solidFill>
            <a:srgbClr val="007A33"/>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4</a:t>
            </a:r>
          </a:p>
        </p:txBody>
      </p:sp>
      <p:sp>
        <p:nvSpPr>
          <p:cNvPr id="18" name="TextBox 17"/>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FD - FIN1209 teaching chart, drawn for this course. Illustrative data, not a real instrument.</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gives the steps, no lengths, no reading of the sign and no EMA formula. The chart is ours: invented CMF values, our EMAs.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EMA, and what the oscillator's sign says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18 of 25</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EMA, exponential moving average: a moving average of the last few values, like Part 3's smoothed volume. This chapter never says how it weights them.</a:t>
            </a:r>
          </a:p>
          <a:p>
            <a:pPr algn="l">
              <a:lnSpc>
                <a:spcPct val="105000"/>
              </a:lnSpc>
              <a:spcBef>
                <a:spcPts val="0"/>
              </a:spcBef>
              <a:spcAft>
                <a:spcPts val="1100"/>
              </a:spcAft>
            </a:pPr>
            <a:r>
              <a:rPr sz="1700" b="0" i="0">
                <a:solidFill>
                  <a:srgbClr val="1A1A1A"/>
                </a:solidFill>
                <a:latin typeface="Arial"/>
              </a:rPr>
              <a:t>A 3-bar EMA follows the running total closely; a 10-bar one follows it slowly.</a:t>
            </a:r>
          </a:p>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Above 0, the recent average is above the longer one: the total has been rising lately. </a:t>
            </a:r>
            <a:r>
              <a:rPr sz="1700" b="1" i="0">
                <a:solidFill>
                  <a:srgbClr val="C62828"/>
                </a:solidFill>
                <a:latin typeface="Arial"/>
              </a:rPr>
              <a:t>(2)</a:t>
            </a:r>
            <a:r>
              <a:rPr sz="1700" b="0" i="0">
                <a:solidFill>
                  <a:srgbClr val="1A1A1A"/>
                </a:solidFill>
                <a:latin typeface="Arial"/>
              </a:rPr>
              <a:t> Below 0, falling. Ours: the book gives no reading of the sign.</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sign says which of the two averages is on top.</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l.png"/>
          <p:cNvPicPr>
            <a:picLocks noChangeAspect="1"/>
          </p:cNvPicPr>
          <p:nvPr/>
        </p:nvPicPr>
        <p:blipFill>
          <a:blip r:embed="rId2"/>
          <a:stretch>
            <a:fillRect/>
          </a:stretch>
        </p:blipFill>
        <p:spPr>
          <a:xfrm>
            <a:off x="7252563" y="1929384"/>
            <a:ext cx="4041648" cy="3511296"/>
          </a:xfrm>
          <a:prstGeom prst="rect">
            <a:avLst/>
          </a:prstGeom>
        </p:spPr>
      </p:pic>
      <p:sp>
        <p:nvSpPr>
          <p:cNvPr id="12" name="Rectangle 11"/>
          <p:cNvSpPr/>
          <p:nvPr/>
        </p:nvSpPr>
        <p:spPr>
          <a:xfrm>
            <a:off x="8667140" y="4141500"/>
            <a:ext cx="1758116" cy="561807"/>
          </a:xfrm>
          <a:prstGeom prst="rect">
            <a:avLst/>
          </a:prstGeom>
          <a:noFill/>
          <a:ln w="44450">
            <a:solidFill>
              <a:srgbClr val="E09B00"/>
            </a:solidFill>
          </a:ln>
        </p:spPr>
        <p:txBody>
          <a:bodyPr rtlCol="0" anchor="ctr"/>
          <a:lstStyle/>
          <a:p>
            <a:pPr algn="ctr"/>
          </a:p>
        </p:txBody>
      </p:sp>
      <p:sp>
        <p:nvSpPr>
          <p:cNvPr id="13" name="Rectangle 12"/>
          <p:cNvSpPr/>
          <p:nvPr/>
        </p:nvSpPr>
        <p:spPr>
          <a:xfrm>
            <a:off x="7535478" y="4615525"/>
            <a:ext cx="1212494" cy="263347"/>
          </a:xfrm>
          <a:prstGeom prst="rect">
            <a:avLst/>
          </a:prstGeom>
          <a:noFill/>
          <a:ln w="44450">
            <a:solidFill>
              <a:srgbClr val="C62828"/>
            </a:solidFill>
          </a:ln>
        </p:spPr>
        <p:txBody>
          <a:bodyPr rtlCol="0" anchor="ctr"/>
          <a:lstStyle/>
          <a:p>
            <a:pPr algn="ctr"/>
          </a:p>
        </p:txBody>
      </p:sp>
      <p:sp>
        <p:nvSpPr>
          <p:cNvPr id="14" name="Oval 13"/>
          <p:cNvSpPr/>
          <p:nvPr/>
        </p:nvSpPr>
        <p:spPr>
          <a:xfrm>
            <a:off x="8350026" y="423184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7258781" y="431962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JL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gives the steps, no EMA formula and no reading of the sign. The reading of the sign is our arithmetic; the chart is Chart FD's invented values.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Chaikin pair on copper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19 of 25</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Each indicator falls through the rising line under its lows: the sell signal.</a:t>
            </a:r>
          </a:p>
          <a:p>
            <a:pPr algn="l">
              <a:lnSpc>
                <a:spcPct val="105000"/>
              </a:lnSpc>
              <a:spcBef>
                <a:spcPts val="0"/>
              </a:spcBef>
              <a:spcAft>
                <a:spcPts val="1100"/>
              </a:spcAft>
            </a:pPr>
            <a:r>
              <a:rPr sz="1700" b="0" i="0">
                <a:solidFill>
                  <a:srgbClr val="1A1A1A"/>
                </a:solidFill>
                <a:latin typeface="Arial"/>
              </a:rPr>
              <a:t>The oscillator falls through first, the CMF later. The dashed arrows run up to the price top near 4.5, early August </a:t>
            </a:r>
            <a:r>
              <a:rPr sz="1700" b="1" i="0">
                <a:solidFill>
                  <a:srgbClr val="C62828"/>
                </a:solidFill>
                <a:latin typeface="Arial"/>
              </a:rPr>
              <a:t>(2)</a:t>
            </a:r>
            <a:r>
              <a:rPr sz="1700" b="0" i="0">
                <a:solidFill>
                  <a:srgbClr val="1A1A1A"/>
                </a:solidFill>
                <a:latin typeface="Arial"/>
              </a:rPr>
              <a:t>.</a:t>
            </a:r>
          </a:p>
          <a:p>
            <a:pPr algn="l">
              <a:lnSpc>
                <a:spcPct val="105000"/>
              </a:lnSpc>
              <a:spcBef>
                <a:spcPts val="0"/>
              </a:spcBef>
              <a:spcAft>
                <a:spcPts val="1100"/>
              </a:spcAft>
            </a:pPr>
            <a:r>
              <a:rPr sz="1700" b="0" i="0">
                <a:solidFill>
                  <a:srgbClr val="1A1A1A"/>
                </a:solidFill>
                <a:latin typeface="Arial"/>
              </a:rPr>
              <a:t>Copper then fell to about 3.0 by October, where both touched the line labelled oversold </a:t>
            </a:r>
            <a:r>
              <a:rPr sz="1700" b="1" i="0">
                <a:solidFill>
                  <a:srgbClr val="1F5FAD"/>
                </a:solidFill>
                <a:latin typeface="Arial"/>
              </a:rPr>
              <a:t>(3)</a:t>
            </a:r>
            <a:r>
              <a:rPr sz="1700" b="0" i="0">
                <a:solidFill>
                  <a:srgbClr val="1A1A1A"/>
                </a:solidFill>
                <a:latin typeface="Arial"/>
              </a:rPr>
              <a:t>: a potential bottom, the book says.</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64515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Chaikin oscillator gives the earlier sell, or bearish, signal.</a:t>
            </a:r>
          </a:p>
        </p:txBody>
      </p:sp>
      <p:sp>
        <p:nvSpPr>
          <p:cNvPr id="10" name="Rectangle 9"/>
          <p:cNvSpPr/>
          <p:nvPr/>
        </p:nvSpPr>
        <p:spPr>
          <a:xfrm>
            <a:off x="6362157" y="1810512"/>
            <a:ext cx="4725180"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481029" y="1929384"/>
            <a:ext cx="4487436"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481029" y="1929384"/>
            <a:ext cx="4487436"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755349" y="2203703"/>
            <a:ext cx="3938796"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6.43</a:t>
            </a:r>
          </a:p>
          <a:p>
            <a:pPr algn="l">
              <a:lnSpc>
                <a:spcPct val="115000"/>
              </a:lnSpc>
              <a:spcBef>
                <a:spcPts val="0"/>
              </a:spcBef>
              <a:spcAft>
                <a:spcPts val="0"/>
              </a:spcAft>
            </a:pPr>
            <a:r>
              <a:rPr sz="1500" b="0" i="0">
                <a:solidFill>
                  <a:srgbClr val="1A1A1A"/>
                </a:solidFill>
                <a:latin typeface="Palatino"/>
              </a:rPr>
              <a:t>The daily chart of copper with a Chaikin oscillator panel and a Chaikin Money Flow panel. Rising lines mark both before a top in August, with dashed arrows to the top, and both panels carry a line labelled oversold that both touch near the October low.</a:t>
            </a:r>
          </a:p>
        </p:txBody>
      </p:sp>
      <p:sp>
        <p:nvSpPr>
          <p:cNvPr id="14" name="Rectangle 13"/>
          <p:cNvSpPr/>
          <p:nvPr/>
        </p:nvSpPr>
        <p:spPr>
          <a:xfrm>
            <a:off x="8769621" y="4071274"/>
            <a:ext cx="987235" cy="1193840"/>
          </a:xfrm>
          <a:prstGeom prst="rect">
            <a:avLst/>
          </a:prstGeom>
          <a:noFill/>
          <a:ln w="44450">
            <a:solidFill>
              <a:srgbClr val="E09B00"/>
            </a:solidFill>
          </a:ln>
        </p:spPr>
        <p:txBody>
          <a:bodyPr rtlCol="0" anchor="ctr"/>
          <a:lstStyle/>
          <a:p>
            <a:pPr algn="ctr"/>
          </a:p>
        </p:txBody>
      </p:sp>
      <p:sp>
        <p:nvSpPr>
          <p:cNvPr id="15" name="Oval 14"/>
          <p:cNvSpPr/>
          <p:nvPr/>
        </p:nvSpPr>
        <p:spPr>
          <a:xfrm>
            <a:off x="9218365" y="2175174"/>
            <a:ext cx="493617" cy="386242"/>
          </a:xfrm>
          <a:prstGeom prst="ellipse">
            <a:avLst/>
          </a:prstGeom>
          <a:noFill/>
          <a:ln w="44450">
            <a:solidFill>
              <a:srgbClr val="C62828"/>
            </a:solidFill>
          </a:ln>
        </p:spPr>
        <p:txBody>
          <a:bodyPr rtlCol="0" anchor="ctr"/>
          <a:lstStyle/>
          <a:p>
            <a:pPr algn="ctr"/>
          </a:p>
        </p:txBody>
      </p:sp>
      <p:sp>
        <p:nvSpPr>
          <p:cNvPr id="16" name="Rectangle 15"/>
          <p:cNvSpPr/>
          <p:nvPr/>
        </p:nvSpPr>
        <p:spPr>
          <a:xfrm>
            <a:off x="9958792" y="4492630"/>
            <a:ext cx="381432" cy="790041"/>
          </a:xfrm>
          <a:prstGeom prst="rect">
            <a:avLst/>
          </a:prstGeom>
          <a:noFill/>
          <a:ln w="44450">
            <a:solidFill>
              <a:srgbClr val="1F5FAD"/>
            </a:solidFill>
          </a:ln>
        </p:spPr>
        <p:txBody>
          <a:bodyPr rtlCol="0" anchor="ctr"/>
          <a:lstStyle/>
          <a:p>
            <a:pPr algn="ctr"/>
          </a:p>
        </p:txBody>
      </p:sp>
      <p:sp>
        <p:nvSpPr>
          <p:cNvPr id="17" name="Oval 16"/>
          <p:cNvSpPr/>
          <p:nvPr/>
        </p:nvSpPr>
        <p:spPr>
          <a:xfrm>
            <a:off x="8479550" y="377537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9107791" y="205483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9668721" y="4196730"/>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035040" y="5650991"/>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6.43 -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and Figure 6.43. The text gives no settings. Oversold is not defined in this chapter.</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Chaikin pair's settings, read off Figure 6.43</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20 of 25</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The book gives no lengths for the CMF or its EMAs. Figure 6.43's panel labels print them.</a:t>
            </a:r>
          </a:p>
          <a:p>
            <a:pPr algn="l">
              <a:lnSpc>
                <a:spcPct val="105000"/>
              </a:lnSpc>
              <a:spcBef>
                <a:spcPts val="0"/>
              </a:spcBef>
              <a:spcAft>
                <a:spcPts val="1100"/>
              </a:spcAft>
            </a:pPr>
            <a:r>
              <a:rPr sz="2000" b="1" i="0">
                <a:solidFill>
                  <a:srgbClr val="E09B00"/>
                </a:solidFill>
                <a:latin typeface="Arial"/>
              </a:rPr>
              <a:t>(1)</a:t>
            </a:r>
            <a:r>
              <a:rPr sz="2000" b="0" i="0">
                <a:solidFill>
                  <a:srgbClr val="1A1A1A"/>
                </a:solidFill>
                <a:latin typeface="Arial"/>
              </a:rPr>
              <a:t> ChiOsc(3,10): the Chaikin oscillator, from EMAs of 3 and 10 bars.</a:t>
            </a:r>
          </a:p>
          <a:p>
            <a:pPr algn="l">
              <a:lnSpc>
                <a:spcPct val="105000"/>
              </a:lnSpc>
              <a:spcBef>
                <a:spcPts val="0"/>
              </a:spcBef>
              <a:spcAft>
                <a:spcPts val="1100"/>
              </a:spcAft>
            </a:pPr>
            <a:r>
              <a:rPr sz="2000" b="1" i="0">
                <a:solidFill>
                  <a:srgbClr val="C62828"/>
                </a:solidFill>
                <a:latin typeface="Arial"/>
              </a:rPr>
              <a:t>(2)</a:t>
            </a:r>
            <a:r>
              <a:rPr sz="2000" b="0" i="0">
                <a:solidFill>
                  <a:srgbClr val="1A1A1A"/>
                </a:solidFill>
                <a:latin typeface="Arial"/>
              </a:rPr>
              <a:t> CMF(20): the Chaikin Money Flow over N = 20 bars.</a:t>
            </a:r>
          </a:p>
        </p:txBody>
      </p:sp>
      <p:sp>
        <p:nvSpPr>
          <p:cNvPr id="8" name="Rectangle 7"/>
          <p:cNvSpPr/>
          <p:nvPr/>
        </p:nvSpPr>
        <p:spPr>
          <a:xfrm>
            <a:off x="777240" y="4901183"/>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937759"/>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Read the brackets as the settings: lengths in bars.</a:t>
            </a:r>
          </a:p>
        </p:txBody>
      </p:sp>
      <p:sp>
        <p:nvSpPr>
          <p:cNvPr id="10" name="Rectangle 9"/>
          <p:cNvSpPr/>
          <p:nvPr/>
        </p:nvSpPr>
        <p:spPr>
          <a:xfrm>
            <a:off x="6217919" y="1810512"/>
            <a:ext cx="5196535" cy="2918552"/>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680808"/>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22360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6.43</a:t>
            </a:r>
          </a:p>
          <a:p>
            <a:pPr algn="l">
              <a:lnSpc>
                <a:spcPct val="115000"/>
              </a:lnSpc>
              <a:spcBef>
                <a:spcPts val="0"/>
              </a:spcBef>
              <a:spcAft>
                <a:spcPts val="0"/>
              </a:spcAft>
            </a:pPr>
            <a:r>
              <a:rPr sz="1500" b="0" i="0">
                <a:solidFill>
                  <a:srgbClr val="1A1A1A"/>
                </a:solidFill>
                <a:latin typeface="Palatino"/>
              </a:rPr>
              <a:t>The two indicator panels of Figure 6.43, enlarged: the label ChiOsc(3,10) on the Chaikin oscillator and the label CMF(20) on the Chaikin Money Flow.</a:t>
            </a:r>
          </a:p>
        </p:txBody>
      </p:sp>
      <p:sp>
        <p:nvSpPr>
          <p:cNvPr id="14" name="Rectangle 13"/>
          <p:cNvSpPr/>
          <p:nvPr/>
        </p:nvSpPr>
        <p:spPr>
          <a:xfrm>
            <a:off x="6634319" y="2090232"/>
            <a:ext cx="1834752" cy="268080"/>
          </a:xfrm>
          <a:prstGeom prst="rect">
            <a:avLst/>
          </a:prstGeom>
          <a:noFill/>
          <a:ln w="44450">
            <a:solidFill>
              <a:srgbClr val="E09B00"/>
            </a:solidFill>
          </a:ln>
        </p:spPr>
        <p:txBody>
          <a:bodyPr rtlCol="0" anchor="ctr"/>
          <a:lstStyle/>
          <a:p>
            <a:pPr algn="ctr"/>
          </a:p>
        </p:txBody>
      </p:sp>
      <p:sp>
        <p:nvSpPr>
          <p:cNvPr id="15" name="Rectangle 14"/>
          <p:cNvSpPr/>
          <p:nvPr/>
        </p:nvSpPr>
        <p:spPr>
          <a:xfrm>
            <a:off x="6634319" y="3377020"/>
            <a:ext cx="1487637" cy="268080"/>
          </a:xfrm>
          <a:prstGeom prst="rect">
            <a:avLst/>
          </a:prstGeom>
          <a:noFill/>
          <a:ln w="44450">
            <a:solidFill>
              <a:srgbClr val="C62828"/>
            </a:solidFill>
          </a:ln>
        </p:spPr>
        <p:txBody>
          <a:bodyPr rtlCol="0" anchor="ctr"/>
          <a:lstStyle/>
          <a:p>
            <a:pPr algn="ctr"/>
          </a:p>
        </p:txBody>
      </p:sp>
      <p:sp>
        <p:nvSpPr>
          <p:cNvPr id="16" name="Oval 15"/>
          <p:cNvSpPr/>
          <p:nvPr/>
        </p:nvSpPr>
        <p:spPr>
          <a:xfrm>
            <a:off x="8511975" y="206882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8164860" y="3355613"/>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217919" y="4820504"/>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6.43 -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and Figure 6.43, its two indicator panels. The text gives no settings; the figure's labels print them.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NYSE Up/Down Volume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21 of 25</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Volume traded in NYSE stocks that rose that day, divided by volume in those that fell.</a:t>
            </a:r>
          </a:p>
        </p:txBody>
      </p:sp>
      <p:sp>
        <p:nvSpPr>
          <p:cNvPr id="10" name="Rectangle 9"/>
          <p:cNvSpPr/>
          <p:nvPr/>
        </p:nvSpPr>
        <p:spPr>
          <a:xfrm>
            <a:off x="777240" y="3233927"/>
            <a:ext cx="64008" cy="97840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600 million shares in rising stocks, 400 million in falling: 600 / 400 = 1.5. Read like plain volume: falling is divergence, rising confirmation.</a:t>
            </a:r>
          </a:p>
        </p:txBody>
      </p:sp>
      <p:sp>
        <p:nvSpPr>
          <p:cNvPr id="12" name="Rectangle 11"/>
          <p:cNvSpPr/>
          <p:nvPr/>
        </p:nvSpPr>
        <p:spPr>
          <a:xfrm>
            <a:off x="777240" y="4468367"/>
            <a:ext cx="64008" cy="97840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422647"/>
            <a:ext cx="5760720" cy="108813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The ratio of advancing volume over declining volume. Being non-price-based, its divergence is read like volume bars and smoothed and detrended volume.</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fb.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FB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Advancing and declining volume: our reading of the names, as for the TRIN in Part 4. The numbers are ours.</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NYSE Up/Down Volume on a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22 of 25</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1" i="0">
                <a:solidFill>
                  <a:srgbClr val="E09B00"/>
                </a:solidFill>
                <a:latin typeface="Arial"/>
              </a:rPr>
              <a:t>(1)</a:t>
            </a:r>
            <a:r>
              <a:rPr sz="1700" b="0" i="0">
                <a:solidFill>
                  <a:srgbClr val="1A1A1A"/>
                </a:solidFill>
                <a:latin typeface="Arial"/>
              </a:rPr>
              <a:t> Top: the indicator falls through its rising trendline in mid 2011: an early bearish signal.</a:t>
            </a:r>
          </a:p>
          <a:p>
            <a:pPr algn="l">
              <a:lnSpc>
                <a:spcPct val="105000"/>
              </a:lnSpc>
              <a:spcBef>
                <a:spcPts val="0"/>
              </a:spcBef>
              <a:spcAft>
                <a:spcPts val="1100"/>
              </a:spcAft>
            </a:pPr>
            <a:r>
              <a:rPr sz="1700" b="1" i="0">
                <a:solidFill>
                  <a:srgbClr val="C62828"/>
                </a:solidFill>
                <a:latin typeface="Arial"/>
              </a:rPr>
              <a:t>(2)</a:t>
            </a:r>
            <a:r>
              <a:rPr sz="1700" b="0" i="0">
                <a:solidFill>
                  <a:srgbClr val="1A1A1A"/>
                </a:solidFill>
                <a:latin typeface="Arial"/>
              </a:rPr>
              <a:t> Bottom: the NYSE Composite, an index of NYSE share prices, breaks its own line later: price confirmation.</a:t>
            </a:r>
          </a:p>
          <a:p>
            <a:pPr algn="l">
              <a:lnSpc>
                <a:spcPct val="105000"/>
              </a:lnSpc>
              <a:spcBef>
                <a:spcPts val="0"/>
              </a:spcBef>
              <a:spcAft>
                <a:spcPts val="1100"/>
              </a:spcAft>
            </a:pPr>
            <a:r>
              <a:rPr sz="1700" b="0" i="0">
                <a:solidFill>
                  <a:srgbClr val="1A1A1A"/>
                </a:solidFill>
                <a:latin typeface="Arial"/>
              </a:rPr>
              <a:t>The book says ratio; the figure's line is cumulative and runs below zero </a:t>
            </a:r>
            <a:r>
              <a:rPr sz="1700" b="1" i="0">
                <a:solidFill>
                  <a:srgbClr val="1F5FAD"/>
                </a:solidFill>
                <a:latin typeface="Arial"/>
              </a:rPr>
              <a:t>(3)</a:t>
            </a:r>
            <a:r>
              <a:rPr sz="1700" b="0" i="0">
                <a:solidFill>
                  <a:srgbClr val="1A1A1A"/>
                </a:solidFill>
                <a:latin typeface="Arial"/>
              </a:rPr>
              <a:t>. It does not explain.</a:t>
            </a:r>
          </a:p>
        </p:txBody>
      </p:sp>
      <p:sp>
        <p:nvSpPr>
          <p:cNvPr id="8" name="Rectangle 7"/>
          <p:cNvSpPr/>
          <p:nvPr/>
        </p:nvSpPr>
        <p:spPr>
          <a:xfrm>
            <a:off x="777240" y="4837176"/>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73752"/>
            <a:ext cx="48280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The volume line warned first; price confirmed later.</a:t>
            </a:r>
          </a:p>
        </p:txBody>
      </p:sp>
      <p:sp>
        <p:nvSpPr>
          <p:cNvPr id="10" name="Rectangle 9"/>
          <p:cNvSpPr/>
          <p:nvPr/>
        </p:nvSpPr>
        <p:spPr>
          <a:xfrm>
            <a:off x="6217919" y="1810512"/>
            <a:ext cx="5196535" cy="328930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305156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59436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6.44</a:t>
            </a:r>
          </a:p>
          <a:p>
            <a:pPr algn="l">
              <a:lnSpc>
                <a:spcPct val="115000"/>
              </a:lnSpc>
              <a:spcBef>
                <a:spcPts val="0"/>
              </a:spcBef>
              <a:spcAft>
                <a:spcPts val="0"/>
              </a:spcAft>
            </a:pPr>
            <a:r>
              <a:rPr sz="1500" b="0" i="0">
                <a:solidFill>
                  <a:srgbClr val="1A1A1A"/>
                </a:solidFill>
                <a:latin typeface="Palatino"/>
              </a:rPr>
              <a:t>Two daily panels, 2009 to 2011: the NYSE Advance-Decline Volume line above, labelled cumulative, breaking its rising trendline at a point marked early bearish signal; and the NYSE Composite Index below, breaking its own trendline later, circled as price confirmation.</a:t>
            </a:r>
          </a:p>
        </p:txBody>
      </p:sp>
      <p:sp>
        <p:nvSpPr>
          <p:cNvPr id="14" name="Oval 13"/>
          <p:cNvSpPr/>
          <p:nvPr/>
        </p:nvSpPr>
        <p:spPr>
          <a:xfrm>
            <a:off x="9907121" y="2173509"/>
            <a:ext cx="446291" cy="396703"/>
          </a:xfrm>
          <a:prstGeom prst="ellipse">
            <a:avLst/>
          </a:prstGeom>
          <a:noFill/>
          <a:ln w="44450">
            <a:solidFill>
              <a:srgbClr val="E09B00"/>
            </a:solidFill>
          </a:ln>
        </p:spPr>
        <p:txBody>
          <a:bodyPr rtlCol="0" anchor="ctr"/>
          <a:lstStyle/>
          <a:p>
            <a:pPr algn="ctr"/>
          </a:p>
        </p:txBody>
      </p:sp>
      <p:sp>
        <p:nvSpPr>
          <p:cNvPr id="15" name="Oval 14"/>
          <p:cNvSpPr/>
          <p:nvPr/>
        </p:nvSpPr>
        <p:spPr>
          <a:xfrm>
            <a:off x="10229442" y="4126509"/>
            <a:ext cx="396703" cy="427218"/>
          </a:xfrm>
          <a:prstGeom prst="ellipse">
            <a:avLst/>
          </a:prstGeom>
          <a:noFill/>
          <a:ln w="44450">
            <a:solidFill>
              <a:srgbClr val="C62828"/>
            </a:solidFill>
          </a:ln>
        </p:spPr>
        <p:txBody>
          <a:bodyPr rtlCol="0" anchor="ctr"/>
          <a:lstStyle/>
          <a:p>
            <a:pPr algn="ctr"/>
          </a:p>
        </p:txBody>
      </p:sp>
      <p:sp>
        <p:nvSpPr>
          <p:cNvPr id="16" name="Rectangle 15"/>
          <p:cNvSpPr/>
          <p:nvPr/>
        </p:nvSpPr>
        <p:spPr>
          <a:xfrm>
            <a:off x="6535143" y="3760322"/>
            <a:ext cx="595054" cy="335672"/>
          </a:xfrm>
          <a:prstGeom prst="rect">
            <a:avLst/>
          </a:prstGeom>
          <a:noFill/>
          <a:ln w="44450">
            <a:solidFill>
              <a:srgbClr val="1F5FAD"/>
            </a:solidFill>
          </a:ln>
        </p:spPr>
        <p:txBody>
          <a:bodyPr rtlCol="0" anchor="ctr"/>
          <a:lstStyle/>
          <a:p>
            <a:pPr algn="ctr"/>
          </a:p>
        </p:txBody>
      </p:sp>
      <p:sp>
        <p:nvSpPr>
          <p:cNvPr id="17" name="Oval 16"/>
          <p:cNvSpPr/>
          <p:nvPr/>
        </p:nvSpPr>
        <p:spPr>
          <a:xfrm>
            <a:off x="9801261" y="2048576"/>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10123582" y="4001577"/>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7123514" y="3482811"/>
            <a:ext cx="310896" cy="310896"/>
          </a:xfrm>
          <a:prstGeom prst="ellipse">
            <a:avLst/>
          </a:prstGeom>
          <a:solidFill>
            <a:srgbClr val="1F5FAD"/>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3</a:t>
            </a:r>
          </a:p>
        </p:txBody>
      </p:sp>
      <p:sp>
        <p:nvSpPr>
          <p:cNvPr id="20" name="TextBox 19"/>
          <p:cNvSpPr txBox="1"/>
          <p:nvPr/>
        </p:nvSpPr>
        <p:spPr>
          <a:xfrm>
            <a:off x="6217919" y="5191259"/>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6.44 -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p.206 and Figure 6.44. Its line is labelled cumulative and runs below zero, which a ratio cannot; the book does not explain.</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Herrick Payoff Index</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Uses price and open interest, so futures and options only. Price-based: rising bullish, falling bearish; against price, divergence.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Gold futures: yes. A PSE share, with no open interest: no. The book gives no formula.</a:t>
            </a:r>
          </a:p>
        </p:txBody>
      </p:sp>
      <p:sp>
        <p:nvSpPr>
          <p:cNvPr id="11" name="Rectangle 10"/>
          <p:cNvSpPr/>
          <p:nvPr/>
        </p:nvSpPr>
        <p:spPr>
          <a:xfrm>
            <a:off x="777240" y="4298061"/>
            <a:ext cx="64008" cy="136601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47574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Herrick Payoff Index uses open interest in its calculations, so it may only be used with futures and options. It incorporates price, so its divergence is read as for all price-based volume oscillators. As with all volume oscillators, bearish signals: money flowing out; bullish: money flowing in.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23 of 25</a:t>
            </a:r>
          </a:p>
        </p:txBody>
      </p:sp>
      <p:sp>
        <p:nvSpPr>
          <p:cNvPr id="14" name="TextBox 13"/>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pp.207-208. The book gives no formula and no figure for it, so this slide has no picture.</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Commitment of Traders, COT, report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24 of 25</a:t>
            </a:r>
          </a:p>
        </p:txBody>
      </p:sp>
      <p:sp>
        <p:nvSpPr>
          <p:cNvPr id="8" name="Rectangle 7"/>
          <p:cNvSpPr/>
          <p:nvPr/>
        </p:nvSpPr>
        <p:spPr>
          <a:xfrm>
            <a:off x="777240" y="2258568"/>
            <a:ext cx="64008" cy="719328"/>
          </a:xfrm>
          <a:prstGeom prst="rect">
            <a:avLst/>
          </a:prstGeom>
          <a:solidFill>
            <a:srgbClr val="F2A900"/>
          </a:solidFill>
          <a:ln>
            <a:noFill/>
          </a:ln>
          <a:effectLst/>
        </p:spPr>
        <p:txBody>
          <a:bodyPr rtlCol="0" anchor="ctr"/>
          <a:lstStyle/>
          <a:p>
            <a:pPr algn="ctr"/>
          </a:p>
        </p:txBody>
      </p:sp>
      <p:sp>
        <p:nvSpPr>
          <p:cNvPr id="9" name="TextBox 8"/>
          <p:cNvSpPr txBox="1"/>
          <p:nvPr/>
        </p:nvSpPr>
        <p:spPr>
          <a:xfrm>
            <a:off x="1051560" y="2212848"/>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IN PLAIN WORDS</a:t>
            </a:r>
          </a:p>
          <a:p>
            <a:pPr algn="l">
              <a:lnSpc>
                <a:spcPct val="100000"/>
              </a:lnSpc>
              <a:spcBef>
                <a:spcPts val="0"/>
              </a:spcBef>
              <a:spcAft>
                <a:spcPts val="0"/>
              </a:spcAft>
            </a:pPr>
            <a:r>
              <a:rPr sz="1700" b="1" i="0">
                <a:solidFill>
                  <a:srgbClr val="1A1A1A"/>
                </a:solidFill>
                <a:latin typeface="Arial"/>
              </a:rPr>
              <a:t>A weekly report of all open positions, listed by who holds them: three groups.</a:t>
            </a:r>
          </a:p>
        </p:txBody>
      </p:sp>
      <p:sp>
        <p:nvSpPr>
          <p:cNvPr id="10" name="Rectangle 9"/>
          <p:cNvSpPr/>
          <p:nvPr/>
        </p:nvSpPr>
        <p:spPr>
          <a:xfrm>
            <a:off x="777240" y="3233927"/>
            <a:ext cx="64008" cy="719328"/>
          </a:xfrm>
          <a:prstGeom prst="rect">
            <a:avLst/>
          </a:prstGeom>
          <a:solidFill>
            <a:srgbClr val="D7E0D9"/>
          </a:solidFill>
          <a:ln>
            <a:noFill/>
          </a:ln>
          <a:effectLst/>
        </p:spPr>
        <p:txBody>
          <a:bodyPr rtlCol="0" anchor="ctr"/>
          <a:lstStyle/>
          <a:p>
            <a:pPr algn="ctr"/>
          </a:p>
        </p:txBody>
      </p:sp>
      <p:sp>
        <p:nvSpPr>
          <p:cNvPr id="11" name="TextBox 10"/>
          <p:cNvSpPr txBox="1"/>
          <p:nvPr/>
        </p:nvSpPr>
        <p:spPr>
          <a:xfrm>
            <a:off x="1051560" y="3188207"/>
            <a:ext cx="5760720" cy="82905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FOR EXAMPLE</a:t>
            </a:r>
          </a:p>
          <a:p>
            <a:pPr algn="l">
              <a:lnSpc>
                <a:spcPct val="100000"/>
              </a:lnSpc>
              <a:spcBef>
                <a:spcPts val="0"/>
              </a:spcBef>
              <a:spcAft>
                <a:spcPts val="0"/>
              </a:spcAft>
            </a:pPr>
            <a:r>
              <a:rPr sz="1700" b="0" i="0">
                <a:solidFill>
                  <a:srgbClr val="1A1A1A"/>
                </a:solidFill>
                <a:latin typeface="Arial"/>
              </a:rPr>
              <a:t>Ours: open interest returns to its 92,000 peak as price tops: a test of a historical level.</a:t>
            </a:r>
          </a:p>
        </p:txBody>
      </p:sp>
      <p:sp>
        <p:nvSpPr>
          <p:cNvPr id="12" name="Rectangle 11"/>
          <p:cNvSpPr/>
          <p:nvPr/>
        </p:nvSpPr>
        <p:spPr>
          <a:xfrm>
            <a:off x="777240" y="4209287"/>
            <a:ext cx="64008" cy="1237488"/>
          </a:xfrm>
          <a:prstGeom prst="rect">
            <a:avLst/>
          </a:prstGeom>
          <a:solidFill>
            <a:srgbClr val="D7E0D9"/>
          </a:solidFill>
          <a:ln>
            <a:noFill/>
          </a:ln>
          <a:effectLst/>
        </p:spPr>
        <p:txBody>
          <a:bodyPr rtlCol="0" anchor="ctr"/>
          <a:lstStyle/>
          <a:p>
            <a:pPr algn="ctr"/>
          </a:p>
        </p:txBody>
      </p:sp>
      <p:sp>
        <p:nvSpPr>
          <p:cNvPr id="13" name="TextBox 12"/>
          <p:cNvSpPr txBox="1"/>
          <p:nvPr/>
        </p:nvSpPr>
        <p:spPr>
          <a:xfrm>
            <a:off x="1051560" y="4163567"/>
            <a:ext cx="5760720" cy="1347216"/>
          </a:xfrm>
          <a:prstGeom prst="rect">
            <a:avLst/>
          </a:prstGeom>
          <a:noFill/>
        </p:spPr>
        <p:txBody>
          <a:bodyPr wrap="square" anchor="t" lIns="0" rIns="0" tIns="0" bIns="0">
            <a:spAutoFit/>
          </a:bodyPr>
          <a:lstStyle/>
          <a:p>
            <a:pPr algn="l">
              <a:lnSpc>
                <a:spcPct val="100000"/>
              </a:lnSpc>
              <a:spcBef>
                <a:spcPts val="0"/>
              </a:spcBef>
              <a:spcAft>
                <a:spcPts val="300"/>
              </a:spcAft>
            </a:pPr>
            <a:r>
              <a:rPr sz="1050" b="1" i="0">
                <a:solidFill>
                  <a:srgbClr val="818181"/>
                </a:solidFill>
                <a:latin typeface="Arial"/>
              </a:rPr>
              <a:t>THE FORMAL DEFINITION</a:t>
            </a:r>
          </a:p>
          <a:p>
            <a:pPr algn="l">
              <a:lnSpc>
                <a:spcPct val="100000"/>
              </a:lnSpc>
              <a:spcBef>
                <a:spcPts val="0"/>
              </a:spcBef>
              <a:spcAft>
                <a:spcPts val="0"/>
              </a:spcAft>
            </a:pPr>
            <a:r>
              <a:rPr sz="1700" b="0" i="0">
                <a:solidFill>
                  <a:srgbClr val="1A1A1A"/>
                </a:solidFill>
                <a:latin typeface="Arial"/>
              </a:rPr>
              <a:t>Released every Friday, it reports all open positions held by commercials (hedgers, non-cash positions), non-commercials (hedge funds, financial institutions, large traders) and, in aggregate, small traders.</a:t>
            </a:r>
          </a:p>
        </p:txBody>
      </p:sp>
      <p:sp>
        <p:nvSpPr>
          <p:cNvPr id="14" name="Rectangle 13"/>
          <p:cNvSpPr/>
          <p:nvPr/>
        </p:nvSpPr>
        <p:spPr>
          <a:xfrm>
            <a:off x="7133691" y="2157984"/>
            <a:ext cx="4279392" cy="3401568"/>
          </a:xfrm>
          <a:prstGeom prst="rect">
            <a:avLst/>
          </a:prstGeom>
          <a:solidFill>
            <a:srgbClr val="FFFFFF"/>
          </a:solidFill>
          <a:ln w="12700">
            <a:solidFill>
              <a:srgbClr val="D7E0D9"/>
            </a:solidFill>
          </a:ln>
          <a:effectLst/>
        </p:spPr>
        <p:txBody>
          <a:bodyPr rtlCol="0" anchor="ctr"/>
          <a:lstStyle/>
          <a:p>
            <a:pPr algn="ctr"/>
          </a:p>
        </p:txBody>
      </p:sp>
      <p:pic>
        <p:nvPicPr>
          <p:cNvPr id="15" name="Picture 14" descr="chart-ar.png"/>
          <p:cNvPicPr>
            <a:picLocks noChangeAspect="1"/>
          </p:cNvPicPr>
          <p:nvPr/>
        </p:nvPicPr>
        <p:blipFill>
          <a:blip r:embed="rId2"/>
          <a:stretch>
            <a:fillRect/>
          </a:stretch>
        </p:blipFill>
        <p:spPr>
          <a:xfrm>
            <a:off x="7252563" y="2276856"/>
            <a:ext cx="4041648" cy="3163824"/>
          </a:xfrm>
          <a:prstGeom prst="rect">
            <a:avLst/>
          </a:prstGeom>
        </p:spPr>
      </p:pic>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AR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gives the report and its two uses. The chart is ours, on invented prices and open interest.</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traders read in the COT report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6 - 6.2 Oscillators  |  25 of 25</a:t>
            </a:r>
          </a:p>
        </p:txBody>
      </p:sp>
      <p:sp>
        <p:nvSpPr>
          <p:cNvPr id="7" name="TextBox 6"/>
          <p:cNvSpPr txBox="1"/>
          <p:nvPr/>
        </p:nvSpPr>
        <p:spPr>
          <a:xfrm>
            <a:off x="777240" y="1965960"/>
            <a:ext cx="60350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700" b="0" i="0">
                <a:solidFill>
                  <a:srgbClr val="1A1A1A"/>
                </a:solidFill>
                <a:latin typeface="Arial"/>
              </a:rPr>
              <a:t>Commercials: hedgers, holding non-cash positions, a phrase the book never explains.</a:t>
            </a:r>
          </a:p>
          <a:p>
            <a:pPr algn="l">
              <a:lnSpc>
                <a:spcPct val="105000"/>
              </a:lnSpc>
              <a:spcBef>
                <a:spcPts val="0"/>
              </a:spcBef>
              <a:spcAft>
                <a:spcPts val="1100"/>
              </a:spcAft>
            </a:pPr>
            <a:r>
              <a:rPr sz="1700" b="0" i="0">
                <a:solidFill>
                  <a:srgbClr val="1A1A1A"/>
                </a:solidFill>
                <a:latin typeface="Arial"/>
              </a:rPr>
              <a:t>The book: traders use it to identify potential tops and bottoms, by two things.</a:t>
            </a:r>
          </a:p>
          <a:p>
            <a:pPr algn="l">
              <a:lnSpc>
                <a:spcPct val="105000"/>
              </a:lnSpc>
              <a:spcBef>
                <a:spcPts val="0"/>
              </a:spcBef>
              <a:spcAft>
                <a:spcPts val="1100"/>
              </a:spcAft>
            </a:pPr>
            <a:r>
              <a:rPr sz="1700" b="0" i="0">
                <a:solidFill>
                  <a:srgbClr val="1A1A1A"/>
                </a:solidFill>
                <a:latin typeface="Arial"/>
              </a:rPr>
              <a:t>One: changes in net commercial or non-commercial positions. Net: never defined, so not drawn.</a:t>
            </a:r>
          </a:p>
          <a:p>
            <a:pPr algn="l">
              <a:lnSpc>
                <a:spcPct val="105000"/>
              </a:lnSpc>
              <a:spcBef>
                <a:spcPts val="0"/>
              </a:spcBef>
              <a:spcAft>
                <a:spcPts val="1100"/>
              </a:spcAft>
            </a:pPr>
            <a:r>
              <a:rPr sz="1700" b="0" i="0">
                <a:solidFill>
                  <a:srgbClr val="1A1A1A"/>
                </a:solidFill>
                <a:latin typeface="Arial"/>
              </a:rPr>
              <a:t>Two: open interest testing a significant or historical level: back at an old level </a:t>
            </a:r>
            <a:r>
              <a:rPr sz="1700" b="1" i="0">
                <a:solidFill>
                  <a:srgbClr val="E09B00"/>
                </a:solidFill>
                <a:latin typeface="Arial"/>
              </a:rPr>
              <a:t>(1)</a:t>
            </a:r>
            <a:r>
              <a:rPr sz="1700" b="0" i="0">
                <a:solidFill>
                  <a:srgbClr val="1A1A1A"/>
                </a:solidFill>
                <a:latin typeface="Arial"/>
              </a:rPr>
              <a:t>.</a:t>
            </a:r>
          </a:p>
        </p:txBody>
      </p:sp>
      <p:sp>
        <p:nvSpPr>
          <p:cNvPr id="8" name="Rectangle 7"/>
          <p:cNvSpPr/>
          <p:nvPr/>
        </p:nvSpPr>
        <p:spPr>
          <a:xfrm>
            <a:off x="777240" y="5001768"/>
            <a:ext cx="82296" cy="69494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038344"/>
            <a:ext cx="5742432" cy="694944"/>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1A1A1A"/>
                </a:solidFill>
                <a:latin typeface="Arial"/>
              </a:rPr>
              <a:t>Ours: treat either as a warning, and wait for price to confirm </a:t>
            </a:r>
            <a:r>
              <a:rPr sz="1800" b="1" i="0">
                <a:solidFill>
                  <a:srgbClr val="C62828"/>
                </a:solidFill>
                <a:latin typeface="Arial"/>
              </a:rPr>
              <a:t>(2)</a:t>
            </a:r>
            <a:r>
              <a:rPr sz="1800" b="1" i="0">
                <a:solidFill>
                  <a:srgbClr val="1A1A1A"/>
                </a:solidFill>
                <a:latin typeface="Arial"/>
              </a:rPr>
              <a:t>, as for the ADL.</a:t>
            </a:r>
          </a:p>
        </p:txBody>
      </p:sp>
      <p:sp>
        <p:nvSpPr>
          <p:cNvPr id="10" name="Rectangle 9"/>
          <p:cNvSpPr/>
          <p:nvPr/>
        </p:nvSpPr>
        <p:spPr>
          <a:xfrm>
            <a:off x="7133691" y="1810512"/>
            <a:ext cx="4279392" cy="3749039"/>
          </a:xfrm>
          <a:prstGeom prst="rect">
            <a:avLst/>
          </a:prstGeom>
          <a:solidFill>
            <a:srgbClr val="FFFFFF"/>
          </a:solidFill>
          <a:ln w="12700">
            <a:solidFill>
              <a:srgbClr val="D7E0D9"/>
            </a:solidFill>
          </a:ln>
          <a:effectLst/>
        </p:spPr>
        <p:txBody>
          <a:bodyPr rtlCol="0" anchor="ctr"/>
          <a:lstStyle/>
          <a:p>
            <a:pPr algn="ctr"/>
          </a:p>
        </p:txBody>
      </p:sp>
      <p:pic>
        <p:nvPicPr>
          <p:cNvPr id="11" name="Picture 10" descr="chart-jm.png"/>
          <p:cNvPicPr>
            <a:picLocks noChangeAspect="1"/>
          </p:cNvPicPr>
          <p:nvPr/>
        </p:nvPicPr>
        <p:blipFill>
          <a:blip r:embed="rId2"/>
          <a:stretch>
            <a:fillRect/>
          </a:stretch>
        </p:blipFill>
        <p:spPr>
          <a:xfrm>
            <a:off x="7252563" y="1929384"/>
            <a:ext cx="4041648" cy="3511296"/>
          </a:xfrm>
          <a:prstGeom prst="rect">
            <a:avLst/>
          </a:prstGeom>
        </p:spPr>
      </p:pic>
      <p:sp>
        <p:nvSpPr>
          <p:cNvPr id="12" name="Oval 11"/>
          <p:cNvSpPr/>
          <p:nvPr/>
        </p:nvSpPr>
        <p:spPr>
          <a:xfrm>
            <a:off x="10485881" y="3614806"/>
            <a:ext cx="323331" cy="351129"/>
          </a:xfrm>
          <a:prstGeom prst="ellipse">
            <a:avLst/>
          </a:prstGeom>
          <a:noFill/>
          <a:ln w="44450">
            <a:solidFill>
              <a:srgbClr val="E09B00"/>
            </a:solidFill>
          </a:ln>
        </p:spPr>
        <p:txBody>
          <a:bodyPr rtlCol="0" anchor="ctr"/>
          <a:lstStyle/>
          <a:p>
            <a:pPr algn="ctr"/>
          </a:p>
        </p:txBody>
      </p:sp>
      <p:sp>
        <p:nvSpPr>
          <p:cNvPr id="13" name="Oval 12"/>
          <p:cNvSpPr/>
          <p:nvPr/>
        </p:nvSpPr>
        <p:spPr>
          <a:xfrm>
            <a:off x="10910254" y="2245400"/>
            <a:ext cx="323331" cy="421355"/>
          </a:xfrm>
          <a:prstGeom prst="ellipse">
            <a:avLst/>
          </a:prstGeom>
          <a:noFill/>
          <a:ln w="44450">
            <a:solidFill>
              <a:srgbClr val="C62828"/>
            </a:solidFill>
          </a:ln>
        </p:spPr>
        <p:txBody>
          <a:bodyPr rtlCol="0" anchor="ctr"/>
          <a:lstStyle/>
          <a:p>
            <a:pPr algn="ctr"/>
          </a:p>
        </p:txBody>
      </p:sp>
      <p:sp>
        <p:nvSpPr>
          <p:cNvPr id="14" name="Oval 13"/>
          <p:cNvSpPr/>
          <p:nvPr/>
        </p:nvSpPr>
        <p:spPr>
          <a:xfrm>
            <a:off x="10370850" y="349447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5" name="Oval 14"/>
          <p:cNvSpPr/>
          <p:nvPr/>
        </p:nvSpPr>
        <p:spPr>
          <a:xfrm>
            <a:off x="10795223" y="212506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6" name="TextBox 15"/>
          <p:cNvSpPr txBox="1"/>
          <p:nvPr/>
        </p:nvSpPr>
        <p:spPr>
          <a:xfrm>
            <a:off x="7132319" y="5650991"/>
            <a:ext cx="4282135" cy="274320"/>
          </a:xfrm>
          <a:prstGeom prst="rect">
            <a:avLst/>
          </a:prstGeom>
          <a:noFill/>
        </p:spPr>
        <p:txBody>
          <a:bodyPr wrap="square" anchor="t" lIns="0" rIns="0" tIns="0" bIns="0">
            <a:spAutoFit/>
          </a:bodyPr>
          <a:lstStyle/>
          <a:p>
            <a:pPr algn="l">
              <a:lnSpc>
                <a:spcPct val="100000"/>
              </a:lnSpc>
              <a:spcBef>
                <a:spcPts val="0"/>
              </a:spcBef>
              <a:spcAft>
                <a:spcPts val="0"/>
              </a:spcAft>
            </a:pPr>
            <a:r>
              <a:rPr sz="900" b="0" i="0">
                <a:solidFill>
                  <a:srgbClr val="818181"/>
                </a:solidFill>
                <a:latin typeface="Arial"/>
              </a:rPr>
              <a:t>Chart JM - FIN1209 teaching chart, drawn for this course. Illustrative data, not a real instrument.</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It does not define net or non-cash positions and gives no worked figures. The what-to-do line is ours, from p.205; the chart is ours, invented.</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6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volume with price is bullish volume; against price, bearish.</a:t>
            </a:r>
          </a:p>
          <a:p>
            <a:pPr algn="l">
              <a:lnSpc>
                <a:spcPct val="118000"/>
              </a:lnSpc>
              <a:spcBef>
                <a:spcPts val="0"/>
              </a:spcBef>
              <a:spcAft>
                <a:spcPts val="1300"/>
              </a:spcAft>
            </a:pPr>
            <a:r>
              <a:rPr sz="2100" b="0" i="0">
                <a:solidFill>
                  <a:srgbClr val="1A1A1A"/>
                </a:solidFill>
                <a:latin typeface="Arial"/>
              </a:rPr>
              <a:t>Part 1: falling volume is divergence, rising confirmation, whatever price does.</a:t>
            </a:r>
          </a:p>
          <a:p>
            <a:pPr algn="l">
              <a:lnSpc>
                <a:spcPct val="118000"/>
              </a:lnSpc>
              <a:spcBef>
                <a:spcPts val="0"/>
              </a:spcBef>
              <a:spcAft>
                <a:spcPts val="1300"/>
              </a:spcAft>
            </a:pPr>
            <a:r>
              <a:rPr sz="2100" b="0" i="0">
                <a:solidFill>
                  <a:srgbClr val="1A1A1A"/>
                </a:solidFill>
                <a:latin typeface="Arial"/>
              </a:rPr>
              <a:t>Parts 2, 5: minimum volume, extreme volume and reversal bars time the turns.</a:t>
            </a:r>
          </a:p>
          <a:p>
            <a:pPr algn="l">
              <a:lnSpc>
                <a:spcPct val="118000"/>
              </a:lnSpc>
              <a:spcBef>
                <a:spcPts val="0"/>
              </a:spcBef>
              <a:spcAft>
                <a:spcPts val="1300"/>
              </a:spcAft>
            </a:pPr>
            <a:r>
              <a:rPr sz="2100" b="0" i="0">
                <a:solidFill>
                  <a:srgbClr val="1A1A1A"/>
                </a:solidFill>
                <a:latin typeface="Arial"/>
              </a:rPr>
              <a:t>Parts 3, 4: filters pick out key volume; open interest reads like volume.</a:t>
            </a:r>
          </a:p>
          <a:p>
            <a:pPr algn="l">
              <a:lnSpc>
                <a:spcPct val="118000"/>
              </a:lnSpc>
              <a:spcBef>
                <a:spcPts val="0"/>
              </a:spcBef>
              <a:spcAft>
                <a:spcPts val="1300"/>
              </a:spcAft>
            </a:pPr>
            <a:r>
              <a:rPr sz="2100" b="0" i="0">
                <a:solidFill>
                  <a:srgbClr val="1A1A1A"/>
                </a:solidFill>
                <a:latin typeface="Arial"/>
              </a:rPr>
              <a:t>Part 6: price-based oscillators diverge by moving against price.</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book: price-based and non-price-based oscillators read differently.</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its summary is three sentences. These five are ours, of the whole chapter, each with the part that teaches it.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Volume and tick volume: what is the difference? Bearish and bullish volume?</a:t>
            </a:r>
          </a:p>
          <a:p>
            <a:pPr algn="l">
              <a:lnSpc>
                <a:spcPct val="118000"/>
              </a:lnSpc>
              <a:spcBef>
                <a:spcPts val="0"/>
              </a:spcBef>
              <a:spcAft>
                <a:spcPts val="1300"/>
              </a:spcAft>
            </a:pPr>
            <a:r>
              <a:rPr sz="2100" b="0" i="0">
                <a:solidFill>
                  <a:srgbClr val="1A1A1A"/>
                </a:solidFill>
                <a:latin typeface="Arial"/>
              </a:rPr>
              <a:t>How is volume divergence distinct from standard oscillator divergence?</a:t>
            </a:r>
          </a:p>
          <a:p>
            <a:pPr algn="l">
              <a:lnSpc>
                <a:spcPct val="118000"/>
              </a:lnSpc>
              <a:spcBef>
                <a:spcPts val="0"/>
              </a:spcBef>
              <a:spcAft>
                <a:spcPts val="1300"/>
              </a:spcAft>
            </a:pPr>
            <a:r>
              <a:rPr sz="2100" b="0" i="0">
                <a:solidFill>
                  <a:srgbClr val="1A1A1A"/>
                </a:solidFill>
                <a:latin typeface="Arial"/>
              </a:rPr>
              <a:t>How would you use volume as a timing indicator?</a:t>
            </a:r>
          </a:p>
          <a:p>
            <a:pPr algn="l">
              <a:lnSpc>
                <a:spcPct val="118000"/>
              </a:lnSpc>
              <a:spcBef>
                <a:spcPts val="0"/>
              </a:spcBef>
              <a:spcAft>
                <a:spcPts val="1300"/>
              </a:spcAft>
            </a:pPr>
            <a:r>
              <a:rPr sz="2100" b="0" i="0">
                <a:solidFill>
                  <a:srgbClr val="1A1A1A"/>
                </a:solidFill>
                <a:latin typeface="Arial"/>
              </a:rPr>
              <a:t>The various modes of volume filtering?</a:t>
            </a:r>
          </a:p>
          <a:p>
            <a:pPr algn="l">
              <a:lnSpc>
                <a:spcPct val="118000"/>
              </a:lnSpc>
              <a:spcBef>
                <a:spcPts val="0"/>
              </a:spcBef>
              <a:spcAft>
                <a:spcPts val="1300"/>
              </a:spcAft>
            </a:pPr>
            <a:r>
              <a:rPr sz="2100" b="0" i="0">
                <a:solidFill>
                  <a:srgbClr val="1A1A1A"/>
                </a:solidFill>
                <a:latin typeface="Arial"/>
              </a:rPr>
              <a:t>The relationship between volume, open interest and price?</a:t>
            </a:r>
          </a:p>
          <a:p>
            <a:pPr algn="l">
              <a:lnSpc>
                <a:spcPct val="118000"/>
              </a:lnSpc>
              <a:spcBef>
                <a:spcPts val="0"/>
              </a:spcBef>
              <a:spcAft>
                <a:spcPts val="1300"/>
              </a:spcAft>
            </a:pPr>
            <a:r>
              <a:rPr sz="2100" b="0" i="0">
                <a:solidFill>
                  <a:srgbClr val="1A1A1A"/>
                </a:solidFill>
                <a:latin typeface="Arial"/>
              </a:rPr>
              <a:t>Absolute or relative volume, which is more useful? Volume cycles: use, where?</a:t>
            </a:r>
          </a:p>
        </p:txBody>
      </p:sp>
      <p:sp>
        <p:nvSpPr>
          <p:cNvPr id="8" name="TextBox 7"/>
          <p:cNvSpPr txBox="1"/>
          <p:nvPr/>
        </p:nvSpPr>
        <p:spPr>
          <a:xfrm>
            <a:off x="777240" y="5262371"/>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book's eight, shortened to fit six lines. Its full wording, with where each is answered, is on the next two slides.</a:t>
            </a:r>
          </a:p>
        </p:txBody>
      </p:sp>
      <p:sp>
        <p:nvSpPr>
          <p:cNvPr id="9" name="TextBox 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in full: 1 to 4</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What is the difference between volume and tick volume? Part 4.</a:t>
            </a:r>
          </a:p>
          <a:p>
            <a:pPr algn="l">
              <a:lnSpc>
                <a:spcPct val="118000"/>
              </a:lnSpc>
              <a:spcBef>
                <a:spcPts val="0"/>
              </a:spcBef>
              <a:spcAft>
                <a:spcPts val="1300"/>
              </a:spcAft>
            </a:pPr>
            <a:r>
              <a:rPr sz="2100" b="0" i="0">
                <a:solidFill>
                  <a:srgbClr val="1A1A1A"/>
                </a:solidFill>
                <a:latin typeface="Arial"/>
              </a:rPr>
              <a:t>2  Describe bearish and bullish volume. Part 1.</a:t>
            </a:r>
          </a:p>
          <a:p>
            <a:pPr algn="l">
              <a:lnSpc>
                <a:spcPct val="118000"/>
              </a:lnSpc>
              <a:spcBef>
                <a:spcPts val="0"/>
              </a:spcBef>
              <a:spcAft>
                <a:spcPts val="1300"/>
              </a:spcAft>
            </a:pPr>
            <a:r>
              <a:rPr sz="2100" b="0" i="0">
                <a:solidFill>
                  <a:srgbClr val="1A1A1A"/>
                </a:solidFill>
                <a:latin typeface="Arial"/>
              </a:rPr>
              <a:t>3  How is volume divergence distinct from standard oscillator divergence? Part 1.</a:t>
            </a:r>
          </a:p>
          <a:p>
            <a:pPr algn="l">
              <a:lnSpc>
                <a:spcPct val="118000"/>
              </a:lnSpc>
              <a:spcBef>
                <a:spcPts val="0"/>
              </a:spcBef>
              <a:spcAft>
                <a:spcPts val="1300"/>
              </a:spcAft>
            </a:pPr>
            <a:r>
              <a:rPr sz="2100" b="0" i="0">
                <a:solidFill>
                  <a:srgbClr val="1A1A1A"/>
                </a:solidFill>
                <a:latin typeface="Arial"/>
              </a:rPr>
              <a:t>4  How would you use volume as a timing indicator? Part 2.</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part after each question is where its answer is taught.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the questions word for word. Where each is answered is this course's own map onto the parts of this deck.</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in full: 5 to 8</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5  Describe the various modes of volume filtering. Part 3.</a:t>
            </a:r>
          </a:p>
          <a:p>
            <a:pPr algn="l">
              <a:lnSpc>
                <a:spcPct val="118000"/>
              </a:lnSpc>
              <a:spcBef>
                <a:spcPts val="0"/>
              </a:spcBef>
              <a:spcAft>
                <a:spcPts val="1300"/>
              </a:spcAft>
            </a:pPr>
            <a:r>
              <a:rPr sz="2100" b="0" i="0">
                <a:solidFill>
                  <a:srgbClr val="1A1A1A"/>
                </a:solidFill>
                <a:latin typeface="Arial"/>
              </a:rPr>
              <a:t>6  Describe the relationship between volume, open interest, and price. Part 4.</a:t>
            </a:r>
          </a:p>
          <a:p>
            <a:pPr algn="l">
              <a:lnSpc>
                <a:spcPct val="118000"/>
              </a:lnSpc>
              <a:spcBef>
                <a:spcPts val="0"/>
              </a:spcBef>
              <a:spcAft>
                <a:spcPts val="1300"/>
              </a:spcAft>
            </a:pPr>
            <a:r>
              <a:rPr sz="2100" b="0" i="0">
                <a:solidFill>
                  <a:srgbClr val="1A1A1A"/>
                </a:solidFill>
                <a:latin typeface="Arial"/>
              </a:rPr>
              <a:t>7  Which is more useful, absolute or relative volume? Part 4.</a:t>
            </a:r>
          </a:p>
          <a:p>
            <a:pPr algn="l">
              <a:lnSpc>
                <a:spcPct val="118000"/>
              </a:lnSpc>
              <a:spcBef>
                <a:spcPts val="0"/>
              </a:spcBef>
              <a:spcAft>
                <a:spcPts val="1300"/>
              </a:spcAft>
            </a:pPr>
            <a:r>
              <a:rPr sz="2100" b="0" i="0">
                <a:solidFill>
                  <a:srgbClr val="1A1A1A"/>
                </a:solidFill>
                <a:latin typeface="Arial"/>
              </a:rPr>
              <a:t>8  How are volume cycles useful and where would you normally find them? Part 5.</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part after each question is where its answer is taught.</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Book p.208, the questions word for word. Where each is answered is this course's own map onto the parts of this deck.</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book uses here and teaches later, or never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Not explained in the book's chapter: overbought, oversold, the MACD, the EMA, the tick, the cycle-tuned stochastic, the Bollinger Band and Bandwidth (Part 3 gives the Band a one-line meaning).</a:t>
            </a:r>
          </a:p>
          <a:p>
            <a:pPr algn="l">
              <a:lnSpc>
                <a:spcPct val="118000"/>
              </a:lnSpc>
              <a:spcBef>
                <a:spcPts val="0"/>
              </a:spcBef>
              <a:spcAft>
                <a:spcPts val="1300"/>
              </a:spcAft>
            </a:pPr>
            <a:r>
              <a:rPr sz="2100" b="0" i="0">
                <a:solidFill>
                  <a:srgbClr val="1A1A1A"/>
                </a:solidFill>
                <a:latin typeface="Arial"/>
              </a:rPr>
              <a:t>Named only: the Demand Index, detrended volume, ROC volume, the PVO.</a:t>
            </a:r>
          </a:p>
          <a:p>
            <a:pPr algn="l">
              <a:lnSpc>
                <a:spcPct val="118000"/>
              </a:lnSpc>
              <a:spcBef>
                <a:spcPts val="0"/>
              </a:spcBef>
              <a:spcAft>
                <a:spcPts val="1300"/>
              </a:spcAft>
            </a:pPr>
            <a:r>
              <a:rPr sz="2100" b="0" i="0">
                <a:solidFill>
                  <a:srgbClr val="1A1A1A"/>
                </a:solidFill>
                <a:latin typeface="Arial"/>
              </a:rPr>
              <a:t>Sent ahead: oscillator analysis, Chapter 8 (p.203); the classification of divergence, Chapter 9 (p.176); the VWMA's calculation, Chapter 11 (p.181).</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Where a slide uses one of these, it says so on the slide.</a:t>
            </a:r>
          </a:p>
        </p:txBody>
      </p:sp>
      <p:sp>
        <p:nvSpPr>
          <p:cNvPr id="10" name="TextBox 9"/>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drawn from the chapter's slides. The chapter numbers and pages are the book's.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book says two different things: the VWMA</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Above the VWMA (Part 2): the text calls price potentially bullish, then, a paragraph later, overvalued, where institutions look to sell.</a:t>
            </a:r>
          </a:p>
          <a:p>
            <a:pPr algn="l">
              <a:lnSpc>
                <a:spcPct val="105000"/>
              </a:lnSpc>
              <a:spcBef>
                <a:spcPts val="0"/>
              </a:spcBef>
              <a:spcAft>
                <a:spcPts val="1100"/>
              </a:spcAft>
            </a:pPr>
            <a:r>
              <a:rPr sz="2000" b="0" i="0">
                <a:solidFill>
                  <a:srgbClr val="1A1A1A"/>
                </a:solidFill>
                <a:latin typeface="Arial"/>
              </a:rPr>
              <a:t>Figure 6.11, the book's VWMA picture, prints price above its line as bullish </a:t>
            </a:r>
            <a:r>
              <a:rPr sz="2000" b="1" i="0">
                <a:solidFill>
                  <a:srgbClr val="E09B00"/>
                </a:solidFill>
                <a:latin typeface="Arial"/>
              </a:rPr>
              <a:t>(1)</a:t>
            </a:r>
            <a:r>
              <a:rPr sz="2000" b="0" i="0">
                <a:solidFill>
                  <a:srgbClr val="1A1A1A"/>
                </a:solidFill>
                <a:latin typeface="Arial"/>
              </a:rPr>
              <a:t>.</a:t>
            </a:r>
          </a:p>
        </p:txBody>
      </p:sp>
      <p:sp>
        <p:nvSpPr>
          <p:cNvPr id="8" name="Rectangle 7"/>
          <p:cNvSpPr/>
          <p:nvPr/>
        </p:nvSpPr>
        <p:spPr>
          <a:xfrm>
            <a:off x="777240" y="473659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73168"/>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No check rests on either. If asked, give both readings.</a:t>
            </a:r>
          </a:p>
        </p:txBody>
      </p:sp>
      <p:sp>
        <p:nvSpPr>
          <p:cNvPr id="10" name="Rectangle 9"/>
          <p:cNvSpPr/>
          <p:nvPr/>
        </p:nvSpPr>
        <p:spPr>
          <a:xfrm>
            <a:off x="6217919" y="1810512"/>
            <a:ext cx="5196535" cy="259110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35335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189615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6.11</a:t>
            </a:r>
          </a:p>
          <a:p>
            <a:pPr algn="l">
              <a:lnSpc>
                <a:spcPct val="115000"/>
              </a:lnSpc>
              <a:spcBef>
                <a:spcPts val="0"/>
              </a:spcBef>
              <a:spcAft>
                <a:spcPts val="0"/>
              </a:spcAft>
            </a:pPr>
            <a:r>
              <a:rPr sz="1500" b="0" i="0">
                <a:solidFill>
                  <a:srgbClr val="1A1A1A"/>
                </a:solidFill>
                <a:latin typeface="Palatino"/>
              </a:rPr>
              <a:t>Part of Figure 6.11's price panel, enlarged: the label Price &gt; VWAP = Bullish over price bars above the dotted VWAP line.</a:t>
            </a:r>
          </a:p>
        </p:txBody>
      </p:sp>
      <p:sp>
        <p:nvSpPr>
          <p:cNvPr id="14" name="Rectangle 13"/>
          <p:cNvSpPr/>
          <p:nvPr/>
        </p:nvSpPr>
        <p:spPr>
          <a:xfrm>
            <a:off x="7725253" y="2376522"/>
            <a:ext cx="1636401" cy="353003"/>
          </a:xfrm>
          <a:prstGeom prst="rect">
            <a:avLst/>
          </a:prstGeom>
          <a:noFill/>
          <a:ln w="44450">
            <a:solidFill>
              <a:srgbClr val="E09B00"/>
            </a:solidFill>
          </a:ln>
        </p:spPr>
        <p:txBody>
          <a:bodyPr rtlCol="0" anchor="ctr"/>
          <a:lstStyle/>
          <a:p>
            <a:pPr algn="ctr"/>
          </a:p>
        </p:txBody>
      </p:sp>
      <p:sp>
        <p:nvSpPr>
          <p:cNvPr id="15" name="Oval 14"/>
          <p:cNvSpPr/>
          <p:nvPr/>
        </p:nvSpPr>
        <p:spPr>
          <a:xfrm>
            <a:off x="7371453" y="2221074"/>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TextBox 15"/>
          <p:cNvSpPr txBox="1"/>
          <p:nvPr/>
        </p:nvSpPr>
        <p:spPr>
          <a:xfrm>
            <a:off x="6217919" y="4493055"/>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6.11 -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Book p.181 and Figure 6.11 (Part 2), its price panel. Each is also named on its own slide.</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book says two different things: the TRIN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A bullish TRIN (Part 4): the text calls it overbought.</a:t>
            </a:r>
          </a:p>
          <a:p>
            <a:pPr algn="l">
              <a:lnSpc>
                <a:spcPct val="105000"/>
              </a:lnSpc>
              <a:spcBef>
                <a:spcPts val="0"/>
              </a:spcBef>
              <a:spcAft>
                <a:spcPts val="1100"/>
              </a:spcAft>
            </a:pPr>
            <a:r>
              <a:rPr sz="2000" b="0" i="0">
                <a:solidFill>
                  <a:srgbClr val="1A1A1A"/>
                </a:solidFill>
                <a:latin typeface="Arial"/>
              </a:rPr>
              <a:t>Figure 6.25 labels the same reading TRIN oversold </a:t>
            </a:r>
            <a:r>
              <a:rPr sz="2000" b="1" i="0">
                <a:solidFill>
                  <a:srgbClr val="E09B00"/>
                </a:solidFill>
                <a:latin typeface="Arial"/>
              </a:rPr>
              <a:t>(1)</a:t>
            </a:r>
            <a:r>
              <a:rPr sz="2000" b="0" i="0">
                <a:solidFill>
                  <a:srgbClr val="1A1A1A"/>
                </a:solidFill>
                <a:latin typeface="Arial"/>
              </a:rPr>
              <a:t>.</a:t>
            </a:r>
          </a:p>
        </p:txBody>
      </p:sp>
      <p:sp>
        <p:nvSpPr>
          <p:cNvPr id="8" name="Rectangle 7"/>
          <p:cNvSpPr/>
          <p:nvPr/>
        </p:nvSpPr>
        <p:spPr>
          <a:xfrm>
            <a:off x="777240" y="377647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No check rests on either. Name both.</a:t>
            </a:r>
          </a:p>
        </p:txBody>
      </p:sp>
      <p:sp>
        <p:nvSpPr>
          <p:cNvPr id="10" name="Rectangle 9"/>
          <p:cNvSpPr/>
          <p:nvPr/>
        </p:nvSpPr>
        <p:spPr>
          <a:xfrm>
            <a:off x="6217919" y="1810512"/>
            <a:ext cx="5196535" cy="3173483"/>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935739"/>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478539"/>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6.25</a:t>
            </a:r>
          </a:p>
          <a:p>
            <a:pPr algn="l">
              <a:lnSpc>
                <a:spcPct val="115000"/>
              </a:lnSpc>
              <a:spcBef>
                <a:spcPts val="0"/>
              </a:spcBef>
              <a:spcAft>
                <a:spcPts val="0"/>
              </a:spcAft>
            </a:pPr>
            <a:r>
              <a:rPr sz="1500" b="0" i="0">
                <a:solidFill>
                  <a:srgbClr val="1A1A1A"/>
                </a:solidFill>
                <a:latin typeface="Palatino"/>
              </a:rPr>
              <a:t>The tick and TRIN panels of Figure 6.25, enlarged: dotted arrows labelled TICK oversold and TRIN oversold.</a:t>
            </a:r>
          </a:p>
        </p:txBody>
      </p:sp>
      <p:sp>
        <p:nvSpPr>
          <p:cNvPr id="14" name="Rectangle 13"/>
          <p:cNvSpPr/>
          <p:nvPr/>
        </p:nvSpPr>
        <p:spPr>
          <a:xfrm>
            <a:off x="9411242" y="3573398"/>
            <a:ext cx="1388461" cy="322931"/>
          </a:xfrm>
          <a:prstGeom prst="rect">
            <a:avLst/>
          </a:prstGeom>
          <a:noFill/>
          <a:ln w="44450">
            <a:solidFill>
              <a:srgbClr val="E09B00"/>
            </a:solidFill>
          </a:ln>
        </p:spPr>
        <p:txBody>
          <a:bodyPr rtlCol="0" anchor="ctr"/>
          <a:lstStyle/>
          <a:p>
            <a:pPr algn="ctr"/>
          </a:p>
        </p:txBody>
      </p:sp>
      <p:sp>
        <p:nvSpPr>
          <p:cNvPr id="15" name="Oval 14"/>
          <p:cNvSpPr/>
          <p:nvPr/>
        </p:nvSpPr>
        <p:spPr>
          <a:xfrm>
            <a:off x="9057442" y="3564737"/>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TextBox 15"/>
          <p:cNvSpPr txBox="1"/>
          <p:nvPr/>
        </p:nvSpPr>
        <p:spPr>
          <a:xfrm>
            <a:off x="6217919" y="5075435"/>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6.25 -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Book p.193 and Figure 6.25 (Part 4), its tick and TRIN panels. Each is also named on its own slide.</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book says two different things: the NYSE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493776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NYSE Up/Down Volume (Part 6): the text calls it the ratio of advancing volume over declining volume.</a:t>
            </a:r>
          </a:p>
          <a:p>
            <a:pPr algn="l">
              <a:lnSpc>
                <a:spcPct val="105000"/>
              </a:lnSpc>
              <a:spcBef>
                <a:spcPts val="0"/>
              </a:spcBef>
              <a:spcAft>
                <a:spcPts val="1100"/>
              </a:spcAft>
            </a:pPr>
            <a:r>
              <a:rPr sz="2000" b="0" i="0">
                <a:solidFill>
                  <a:srgbClr val="1A1A1A"/>
                </a:solidFill>
                <a:latin typeface="Arial"/>
              </a:rPr>
              <a:t>Figure 6.44 labels its line Cumulative </a:t>
            </a:r>
            <a:r>
              <a:rPr sz="2000" b="1" i="0">
                <a:solidFill>
                  <a:srgbClr val="E09B00"/>
                </a:solidFill>
                <a:latin typeface="Arial"/>
              </a:rPr>
              <a:t>(1)</a:t>
            </a:r>
            <a:r>
              <a:rPr sz="2000" b="0" i="0">
                <a:solidFill>
                  <a:srgbClr val="1A1A1A"/>
                </a:solidFill>
                <a:latin typeface="Arial"/>
              </a:rPr>
              <a:t>, and the line runs below zero </a:t>
            </a:r>
            <a:r>
              <a:rPr sz="2000" b="1" i="0">
                <a:solidFill>
                  <a:srgbClr val="C62828"/>
                </a:solidFill>
                <a:latin typeface="Arial"/>
              </a:rPr>
              <a:t>(2)</a:t>
            </a:r>
            <a:r>
              <a:rPr sz="2000" b="0" i="0">
                <a:solidFill>
                  <a:srgbClr val="1A1A1A"/>
                </a:solidFill>
                <a:latin typeface="Arial"/>
              </a:rPr>
              <a:t>, to about -4,500 in March 2009, which a ratio of two volumes cannot.</a:t>
            </a:r>
          </a:p>
        </p:txBody>
      </p:sp>
      <p:sp>
        <p:nvSpPr>
          <p:cNvPr id="8" name="Rectangle 7"/>
          <p:cNvSpPr/>
          <p:nvPr/>
        </p:nvSpPr>
        <p:spPr>
          <a:xfrm>
            <a:off x="777240" y="473659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73168"/>
            <a:ext cx="464515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The book does not reconcile them. If asked, give both.</a:t>
            </a:r>
          </a:p>
        </p:txBody>
      </p:sp>
      <p:sp>
        <p:nvSpPr>
          <p:cNvPr id="10" name="Rectangle 9"/>
          <p:cNvSpPr/>
          <p:nvPr/>
        </p:nvSpPr>
        <p:spPr>
          <a:xfrm>
            <a:off x="6035040" y="1810512"/>
            <a:ext cx="5379414" cy="2610822"/>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153912" y="1929384"/>
            <a:ext cx="5141670" cy="2373078"/>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153912" y="1929384"/>
            <a:ext cx="5141670"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428231" y="2203703"/>
            <a:ext cx="4593031" cy="1915878"/>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6.44</a:t>
            </a:r>
          </a:p>
          <a:p>
            <a:pPr algn="l">
              <a:lnSpc>
                <a:spcPct val="115000"/>
              </a:lnSpc>
              <a:spcBef>
                <a:spcPts val="0"/>
              </a:spcBef>
              <a:spcAft>
                <a:spcPts val="0"/>
              </a:spcAft>
            </a:pPr>
            <a:r>
              <a:rPr sz="1500" b="0" i="0">
                <a:solidFill>
                  <a:srgbClr val="1A1A1A"/>
                </a:solidFill>
                <a:latin typeface="Palatino"/>
              </a:rPr>
              <a:t>The upper panel of Figure 6.44: the label $NYUD (Daily) Cumulative, and the line dipping below the zero of its scale in March 2009.</a:t>
            </a:r>
          </a:p>
        </p:txBody>
      </p:sp>
      <p:sp>
        <p:nvSpPr>
          <p:cNvPr id="14" name="Rectangle 13"/>
          <p:cNvSpPr/>
          <p:nvPr/>
        </p:nvSpPr>
        <p:spPr>
          <a:xfrm>
            <a:off x="6153912" y="2142961"/>
            <a:ext cx="2159501" cy="142384"/>
          </a:xfrm>
          <a:prstGeom prst="rect">
            <a:avLst/>
          </a:prstGeom>
          <a:noFill/>
          <a:ln w="44450">
            <a:solidFill>
              <a:srgbClr val="E09B00"/>
            </a:solidFill>
          </a:ln>
        </p:spPr>
        <p:txBody>
          <a:bodyPr rtlCol="0" anchor="ctr"/>
          <a:lstStyle/>
          <a:p>
            <a:pPr algn="ctr"/>
          </a:p>
        </p:txBody>
      </p:sp>
      <p:sp>
        <p:nvSpPr>
          <p:cNvPr id="15" name="Rectangle 14"/>
          <p:cNvSpPr/>
          <p:nvPr/>
        </p:nvSpPr>
        <p:spPr>
          <a:xfrm>
            <a:off x="6462412" y="3875308"/>
            <a:ext cx="359916" cy="284769"/>
          </a:xfrm>
          <a:prstGeom prst="rect">
            <a:avLst/>
          </a:prstGeom>
          <a:noFill/>
          <a:ln w="44450">
            <a:solidFill>
              <a:srgbClr val="C62828"/>
            </a:solidFill>
          </a:ln>
        </p:spPr>
        <p:txBody>
          <a:bodyPr rtlCol="0" anchor="ctr"/>
          <a:lstStyle/>
          <a:p>
            <a:pPr algn="ctr"/>
          </a:p>
        </p:txBody>
      </p:sp>
      <p:sp>
        <p:nvSpPr>
          <p:cNvPr id="16" name="Rectangle 15"/>
          <p:cNvSpPr/>
          <p:nvPr/>
        </p:nvSpPr>
        <p:spPr>
          <a:xfrm>
            <a:off x="10729999" y="3804116"/>
            <a:ext cx="385625" cy="355961"/>
          </a:xfrm>
          <a:prstGeom prst="rect">
            <a:avLst/>
          </a:prstGeom>
          <a:noFill/>
          <a:ln w="44450">
            <a:solidFill>
              <a:srgbClr val="C62828"/>
            </a:solidFill>
          </a:ln>
        </p:spPr>
        <p:txBody>
          <a:bodyPr rtlCol="0" anchor="ctr"/>
          <a:lstStyle/>
          <a:p>
            <a:pPr algn="ctr"/>
          </a:p>
        </p:txBody>
      </p:sp>
      <p:sp>
        <p:nvSpPr>
          <p:cNvPr id="17" name="Oval 16"/>
          <p:cNvSpPr/>
          <p:nvPr/>
        </p:nvSpPr>
        <p:spPr>
          <a:xfrm>
            <a:off x="8363632" y="205870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8" name="Oval 17"/>
          <p:cNvSpPr/>
          <p:nvPr/>
        </p:nvSpPr>
        <p:spPr>
          <a:xfrm>
            <a:off x="6872548" y="3672399"/>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9" name="Oval 18"/>
          <p:cNvSpPr/>
          <p:nvPr/>
        </p:nvSpPr>
        <p:spPr>
          <a:xfrm>
            <a:off x="10420301" y="3577475"/>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20" name="TextBox 19"/>
          <p:cNvSpPr txBox="1"/>
          <p:nvPr/>
        </p:nvSpPr>
        <p:spPr>
          <a:xfrm>
            <a:off x="6035040" y="4512774"/>
            <a:ext cx="5379414"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6.44 - Lim, The Handbook of Technical Analysis (Wiley, 2016)</a:t>
            </a:r>
          </a:p>
        </p:txBody>
      </p:sp>
      <p:sp>
        <p:nvSpPr>
          <p:cNvPr id="21" name="TextBox 20"/>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Book p.206 and Figure 6.44 (Part 6), its upper panel. Each is also named on its own slide.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the book says two different things: divergence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Bullish divergence (Part 1): the text says it can only occur in a downtrend.</a:t>
            </a:r>
          </a:p>
          <a:p>
            <a:pPr algn="l">
              <a:lnSpc>
                <a:spcPct val="105000"/>
              </a:lnSpc>
              <a:spcBef>
                <a:spcPts val="0"/>
              </a:spcBef>
              <a:spcAft>
                <a:spcPts val="1100"/>
              </a:spcAft>
            </a:pPr>
            <a:r>
              <a:rPr sz="2000" b="0" i="0">
                <a:solidFill>
                  <a:srgbClr val="1A1A1A"/>
                </a:solidFill>
                <a:latin typeface="Arial"/>
              </a:rPr>
              <a:t>Yet the book reads periods 4 </a:t>
            </a:r>
            <a:r>
              <a:rPr sz="2000" b="1" i="0">
                <a:solidFill>
                  <a:srgbClr val="E09B00"/>
                </a:solidFill>
                <a:latin typeface="Arial"/>
              </a:rPr>
              <a:t>(1)</a:t>
            </a:r>
            <a:r>
              <a:rPr sz="2000" b="0" i="0">
                <a:solidFill>
                  <a:srgbClr val="1A1A1A"/>
                </a:solidFill>
                <a:latin typeface="Arial"/>
              </a:rPr>
              <a:t> and 6 </a:t>
            </a:r>
            <a:r>
              <a:rPr sz="2000" b="1" i="0">
                <a:solidFill>
                  <a:srgbClr val="C62828"/>
                </a:solidFill>
                <a:latin typeface="Arial"/>
              </a:rPr>
              <a:t>(2)</a:t>
            </a:r>
            <a:r>
              <a:rPr sz="2000" b="0" i="0">
                <a:solidFill>
                  <a:srgbClr val="1A1A1A"/>
                </a:solidFill>
                <a:latin typeface="Arial"/>
              </a:rPr>
              <a:t> of Figure 6.6 as bullish divergence: dips inside a four-year uptrend.</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No check rests on either. If asked, give both readings.</a:t>
            </a:r>
          </a:p>
        </p:txBody>
      </p:sp>
      <p:sp>
        <p:nvSpPr>
          <p:cNvPr id="10" name="Rectangle 9"/>
          <p:cNvSpPr/>
          <p:nvPr/>
        </p:nvSpPr>
        <p:spPr>
          <a:xfrm>
            <a:off x="6217919" y="1810512"/>
            <a:ext cx="5196535" cy="338392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314618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68898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6.6</a:t>
            </a:r>
          </a:p>
          <a:p>
            <a:pPr algn="l">
              <a:lnSpc>
                <a:spcPct val="115000"/>
              </a:lnSpc>
              <a:spcBef>
                <a:spcPts val="0"/>
              </a:spcBef>
              <a:spcAft>
                <a:spcPts val="0"/>
              </a:spcAft>
            </a:pPr>
            <a:r>
              <a:rPr sz="1500" b="0" i="0">
                <a:solidFill>
                  <a:srgbClr val="1A1A1A"/>
                </a:solidFill>
                <a:latin typeface="Palatino"/>
              </a:rPr>
              <a:t>The price panel of Figure 6.6, enlarged: the SPDR Gold Trust rising over four years, with dotted lines dividing numbered periods; periods 4 and 6 are dips.</a:t>
            </a:r>
          </a:p>
        </p:txBody>
      </p:sp>
      <p:sp>
        <p:nvSpPr>
          <p:cNvPr id="14" name="Rectangle 13"/>
          <p:cNvSpPr/>
          <p:nvPr/>
        </p:nvSpPr>
        <p:spPr>
          <a:xfrm>
            <a:off x="10130267" y="2558620"/>
            <a:ext cx="347115" cy="2485484"/>
          </a:xfrm>
          <a:prstGeom prst="rect">
            <a:avLst/>
          </a:prstGeom>
          <a:noFill/>
          <a:ln w="44450">
            <a:solidFill>
              <a:srgbClr val="E09B00"/>
            </a:solidFill>
          </a:ln>
        </p:spPr>
        <p:txBody>
          <a:bodyPr rtlCol="0" anchor="ctr"/>
          <a:lstStyle/>
          <a:p>
            <a:pPr algn="ctr"/>
          </a:p>
        </p:txBody>
      </p:sp>
      <p:sp>
        <p:nvSpPr>
          <p:cNvPr id="15" name="Rectangle 14"/>
          <p:cNvSpPr/>
          <p:nvPr/>
        </p:nvSpPr>
        <p:spPr>
          <a:xfrm>
            <a:off x="10824497" y="2715929"/>
            <a:ext cx="371909" cy="2328175"/>
          </a:xfrm>
          <a:prstGeom prst="rect">
            <a:avLst/>
          </a:prstGeom>
          <a:noFill/>
          <a:ln w="44450">
            <a:solidFill>
              <a:srgbClr val="C62828"/>
            </a:solidFill>
          </a:ln>
        </p:spPr>
        <p:txBody>
          <a:bodyPr rtlCol="0" anchor="ctr"/>
          <a:lstStyle/>
          <a:p>
            <a:pPr algn="ctr"/>
          </a:p>
        </p:txBody>
      </p:sp>
      <p:sp>
        <p:nvSpPr>
          <p:cNvPr id="16" name="Oval 15"/>
          <p:cNvSpPr/>
          <p:nvPr/>
        </p:nvSpPr>
        <p:spPr>
          <a:xfrm>
            <a:off x="10148376" y="2245863"/>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10867401" y="2403172"/>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217919" y="5285879"/>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6.6 -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Book pp.176 and 178 and Figure 6.6 (Part 1), its price panel. Each is also named on its own slide.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captions that disagree: the VWMA</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Figure 6.11 (Part 2) is captioned a VWMA on a daily chart.</a:t>
            </a:r>
          </a:p>
          <a:p>
            <a:pPr algn="l">
              <a:lnSpc>
                <a:spcPct val="105000"/>
              </a:lnSpc>
              <a:spcBef>
                <a:spcPts val="0"/>
              </a:spcBef>
              <a:spcAft>
                <a:spcPts val="1100"/>
              </a:spcAft>
            </a:pPr>
            <a:r>
              <a:rPr sz="2000" b="0" i="0">
                <a:solidFill>
                  <a:srgbClr val="1A1A1A"/>
                </a:solidFill>
                <a:latin typeface="Arial"/>
              </a:rPr>
              <a:t>Its own label reads SPY (10 min), over a line labelled VWAP </a:t>
            </a:r>
            <a:r>
              <a:rPr sz="2000" b="1" i="0">
                <a:solidFill>
                  <a:srgbClr val="E09B00"/>
                </a:solidFill>
                <a:latin typeface="Arial"/>
              </a:rPr>
              <a:t>(1)</a:t>
            </a:r>
            <a:r>
              <a:rPr sz="2000" b="0" i="0">
                <a:solidFill>
                  <a:srgbClr val="1A1A1A"/>
                </a:solidFill>
                <a:latin typeface="Arial"/>
              </a:rPr>
              <a:t>: 10-minute bars and a VWAP.</a:t>
            </a:r>
          </a:p>
        </p:txBody>
      </p:sp>
      <p:sp>
        <p:nvSpPr>
          <p:cNvPr id="8" name="Rectangle 7"/>
          <p:cNvSpPr/>
          <p:nvPr/>
        </p:nvSpPr>
        <p:spPr>
          <a:xfrm>
            <a:off x="777240" y="4096511"/>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33087"/>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No check rests on it. Read the chart, and name both.</a:t>
            </a:r>
          </a:p>
        </p:txBody>
      </p:sp>
      <p:sp>
        <p:nvSpPr>
          <p:cNvPr id="10" name="Rectangle 9"/>
          <p:cNvSpPr/>
          <p:nvPr/>
        </p:nvSpPr>
        <p:spPr>
          <a:xfrm>
            <a:off x="6217919" y="1810512"/>
            <a:ext cx="5196535" cy="2251174"/>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013430"/>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155623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6.11</a:t>
            </a:r>
          </a:p>
          <a:p>
            <a:pPr algn="l">
              <a:lnSpc>
                <a:spcPct val="115000"/>
              </a:lnSpc>
              <a:spcBef>
                <a:spcPts val="0"/>
              </a:spcBef>
              <a:spcAft>
                <a:spcPts val="0"/>
              </a:spcAft>
            </a:pPr>
            <a:r>
              <a:rPr sz="1500" b="0" i="0">
                <a:solidFill>
                  <a:srgbClr val="1A1A1A"/>
                </a:solidFill>
                <a:latin typeface="Palatino"/>
              </a:rPr>
              <a:t>The top left corner of Figure 6.11, enlarged: the labels SPY (10 min) 141.56 and VWAP 142.40.</a:t>
            </a:r>
          </a:p>
        </p:txBody>
      </p:sp>
      <p:sp>
        <p:nvSpPr>
          <p:cNvPr id="14" name="Rectangle 13"/>
          <p:cNvSpPr/>
          <p:nvPr/>
        </p:nvSpPr>
        <p:spPr>
          <a:xfrm>
            <a:off x="6386379" y="2271667"/>
            <a:ext cx="1735576" cy="261745"/>
          </a:xfrm>
          <a:prstGeom prst="rect">
            <a:avLst/>
          </a:prstGeom>
          <a:noFill/>
          <a:ln w="44450">
            <a:solidFill>
              <a:srgbClr val="E09B00"/>
            </a:solidFill>
          </a:ln>
        </p:spPr>
        <p:txBody>
          <a:bodyPr rtlCol="0" anchor="ctr"/>
          <a:lstStyle/>
          <a:p>
            <a:pPr algn="ctr"/>
          </a:p>
        </p:txBody>
      </p:sp>
      <p:sp>
        <p:nvSpPr>
          <p:cNvPr id="15" name="Oval 14"/>
          <p:cNvSpPr/>
          <p:nvPr/>
        </p:nvSpPr>
        <p:spPr>
          <a:xfrm>
            <a:off x="8412799" y="189474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TextBox 15"/>
          <p:cNvSpPr txBox="1"/>
          <p:nvPr/>
        </p:nvSpPr>
        <p:spPr>
          <a:xfrm>
            <a:off x="6217919" y="4153126"/>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6.11 -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from the book's figures and their captions. Book p.181 and Figure 6.11 (Part 2), its top left corner.</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captions that disagree: Figure 6.25</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Figure 6.25 (Part 4) is captioned daily.</a:t>
            </a:r>
          </a:p>
          <a:p>
            <a:pPr algn="l">
              <a:lnSpc>
                <a:spcPct val="105000"/>
              </a:lnSpc>
              <a:spcBef>
                <a:spcPts val="0"/>
              </a:spcBef>
              <a:spcAft>
                <a:spcPts val="1100"/>
              </a:spcAft>
            </a:pPr>
            <a:r>
              <a:rPr sz="2000" b="0" i="0">
                <a:solidFill>
                  <a:srgbClr val="1A1A1A"/>
                </a:solidFill>
                <a:latin typeface="Arial"/>
              </a:rPr>
              <a:t>Its own label reads $SPX (1 min) </a:t>
            </a:r>
            <a:r>
              <a:rPr sz="2000" b="1" i="0">
                <a:solidFill>
                  <a:srgbClr val="E09B00"/>
                </a:solidFill>
                <a:latin typeface="Arial"/>
              </a:rPr>
              <a:t>(1)</a:t>
            </a:r>
            <a:r>
              <a:rPr sz="2000" b="0" i="0">
                <a:solidFill>
                  <a:srgbClr val="1A1A1A"/>
                </a:solidFill>
                <a:latin typeface="Arial"/>
              </a:rPr>
              <a:t>, and its time axis </a:t>
            </a:r>
            <a:r>
              <a:rPr sz="2000" b="1" i="0">
                <a:solidFill>
                  <a:srgbClr val="C62828"/>
                </a:solidFill>
                <a:latin typeface="Arial"/>
              </a:rPr>
              <a:t>(2)</a:t>
            </a:r>
            <a:r>
              <a:rPr sz="2000" b="0" i="0">
                <a:solidFill>
                  <a:srgbClr val="1A1A1A"/>
                </a:solidFill>
                <a:latin typeface="Arial"/>
              </a:rPr>
              <a:t> runs from 10:00 to 3:00 within one day: an intraday chart.</a:t>
            </a:r>
          </a:p>
        </p:txBody>
      </p:sp>
      <p:sp>
        <p:nvSpPr>
          <p:cNvPr id="8" name="Rectangle 7"/>
          <p:cNvSpPr/>
          <p:nvPr/>
        </p:nvSpPr>
        <p:spPr>
          <a:xfrm>
            <a:off x="777240" y="377647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No check rests on it. Read the chart, and name both.</a:t>
            </a:r>
          </a:p>
        </p:txBody>
      </p:sp>
      <p:sp>
        <p:nvSpPr>
          <p:cNvPr id="10" name="Rectangle 9"/>
          <p:cNvSpPr/>
          <p:nvPr/>
        </p:nvSpPr>
        <p:spPr>
          <a:xfrm>
            <a:off x="6991319" y="1810512"/>
            <a:ext cx="3649736" cy="3749039"/>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7110191" y="1929384"/>
            <a:ext cx="3411992" cy="3511296"/>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7110191" y="1929384"/>
            <a:ext cx="3411992"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7384511" y="2203703"/>
            <a:ext cx="2863352" cy="3054096"/>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6.25</a:t>
            </a:r>
          </a:p>
          <a:p>
            <a:pPr algn="l">
              <a:lnSpc>
                <a:spcPct val="115000"/>
              </a:lnSpc>
              <a:spcBef>
                <a:spcPts val="0"/>
              </a:spcBef>
              <a:spcAft>
                <a:spcPts val="0"/>
              </a:spcAft>
            </a:pPr>
            <a:r>
              <a:rPr sz="1500" b="0" i="0">
                <a:solidFill>
                  <a:srgbClr val="1A1A1A"/>
                </a:solidFill>
                <a:latin typeface="Palatino"/>
              </a:rPr>
              <a:t>The left half of Figure 6.25's price panel, enlarged: the label $SPX (1 min) 1400.42 and a time axis from 10:00 to 3:00.</a:t>
            </a:r>
          </a:p>
        </p:txBody>
      </p:sp>
      <p:sp>
        <p:nvSpPr>
          <p:cNvPr id="14" name="Rectangle 13"/>
          <p:cNvSpPr/>
          <p:nvPr/>
        </p:nvSpPr>
        <p:spPr>
          <a:xfrm>
            <a:off x="7314910" y="2192731"/>
            <a:ext cx="1262437" cy="140451"/>
          </a:xfrm>
          <a:prstGeom prst="rect">
            <a:avLst/>
          </a:prstGeom>
          <a:noFill/>
          <a:ln w="44450">
            <a:solidFill>
              <a:srgbClr val="E09B00"/>
            </a:solidFill>
          </a:ln>
        </p:spPr>
        <p:txBody>
          <a:bodyPr rtlCol="0" anchor="ctr"/>
          <a:lstStyle/>
          <a:p>
            <a:pPr algn="ctr"/>
          </a:p>
        </p:txBody>
      </p:sp>
      <p:sp>
        <p:nvSpPr>
          <p:cNvPr id="15" name="Rectangle 14"/>
          <p:cNvSpPr/>
          <p:nvPr/>
        </p:nvSpPr>
        <p:spPr>
          <a:xfrm>
            <a:off x="7110191" y="5282671"/>
            <a:ext cx="3377872" cy="154497"/>
          </a:xfrm>
          <a:prstGeom prst="rect">
            <a:avLst/>
          </a:prstGeom>
          <a:noFill/>
          <a:ln w="44450">
            <a:solidFill>
              <a:srgbClr val="C62828"/>
            </a:solidFill>
          </a:ln>
        </p:spPr>
        <p:txBody>
          <a:bodyPr rtlCol="0" anchor="ctr"/>
          <a:lstStyle/>
          <a:p>
            <a:pPr algn="ctr"/>
          </a:p>
        </p:txBody>
      </p:sp>
      <p:sp>
        <p:nvSpPr>
          <p:cNvPr id="16" name="Oval 15"/>
          <p:cNvSpPr/>
          <p:nvPr/>
        </p:nvSpPr>
        <p:spPr>
          <a:xfrm>
            <a:off x="7040043" y="2107509"/>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7" name="Oval 16"/>
          <p:cNvSpPr/>
          <p:nvPr/>
        </p:nvSpPr>
        <p:spPr>
          <a:xfrm>
            <a:off x="7057103" y="5004328"/>
            <a:ext cx="310896" cy="310896"/>
          </a:xfrm>
          <a:prstGeom prst="ellipse">
            <a:avLst/>
          </a:prstGeom>
          <a:solidFill>
            <a:srgbClr val="C62828"/>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2</a:t>
            </a:r>
          </a:p>
        </p:txBody>
      </p:sp>
      <p:sp>
        <p:nvSpPr>
          <p:cNvPr id="18" name="TextBox 17"/>
          <p:cNvSpPr txBox="1"/>
          <p:nvPr/>
        </p:nvSpPr>
        <p:spPr>
          <a:xfrm>
            <a:off x="6217919" y="5650991"/>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6.25 - Lim, The Handbook of Technical Analysis (Wiley, 2016)</a:t>
            </a:r>
          </a:p>
        </p:txBody>
      </p:sp>
      <p:sp>
        <p:nvSpPr>
          <p:cNvPr id="19" name="TextBox 18"/>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from the book's figures and their captions. Book p.193 and Figure 6.25 (Part 4), its left half.</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captions that disagree: silver or USDJPY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1900" b="0" i="0">
                <a:solidFill>
                  <a:srgbClr val="1A1A1A"/>
                </a:solidFill>
                <a:latin typeface="Arial"/>
              </a:rPr>
              <a:t>Figure 6.23 (Part 3) is captioned silver.</a:t>
            </a:r>
          </a:p>
          <a:p>
            <a:pPr algn="l">
              <a:lnSpc>
                <a:spcPct val="105000"/>
              </a:lnSpc>
              <a:spcBef>
                <a:spcPts val="0"/>
              </a:spcBef>
              <a:spcAft>
                <a:spcPts val="1100"/>
              </a:spcAft>
            </a:pPr>
            <a:r>
              <a:rPr sz="1900" b="0" i="0">
                <a:solidFill>
                  <a:srgbClr val="1A1A1A"/>
                </a:solidFill>
                <a:latin typeface="Arial"/>
              </a:rPr>
              <a:t>The text calls 6.23 the same daily chart of USDJPY, then, a sentence on, the Silver market.</a:t>
            </a:r>
          </a:p>
          <a:p>
            <a:pPr algn="l">
              <a:lnSpc>
                <a:spcPct val="105000"/>
              </a:lnSpc>
              <a:spcBef>
                <a:spcPts val="0"/>
              </a:spcBef>
              <a:spcAft>
                <a:spcPts val="1100"/>
              </a:spcAft>
            </a:pPr>
            <a:r>
              <a:rPr sz="1900" b="0" i="0">
                <a:solidFill>
                  <a:srgbClr val="1A1A1A"/>
                </a:solidFill>
                <a:latin typeface="Arial"/>
              </a:rPr>
              <a:t>The chart's own label </a:t>
            </a:r>
            <a:r>
              <a:rPr sz="1900" b="1" i="0">
                <a:solidFill>
                  <a:srgbClr val="E09B00"/>
                </a:solidFill>
                <a:latin typeface="Arial"/>
              </a:rPr>
              <a:t>(1)</a:t>
            </a:r>
            <a:r>
              <a:rPr sz="1900" b="0" i="0">
                <a:solidFill>
                  <a:srgbClr val="1A1A1A"/>
                </a:solidFill>
                <a:latin typeface="Arial"/>
              </a:rPr>
              <a:t> is too blurred in the book's print to read, so the figure cannot settle it.</a:t>
            </a:r>
          </a:p>
        </p:txBody>
      </p:sp>
      <p:sp>
        <p:nvSpPr>
          <p:cNvPr id="8" name="Rectangle 7"/>
          <p:cNvSpPr/>
          <p:nvPr/>
        </p:nvSpPr>
        <p:spPr>
          <a:xfrm>
            <a:off x="777240" y="4789170"/>
            <a:ext cx="82296" cy="75590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25746"/>
            <a:ext cx="4828032" cy="755904"/>
          </a:xfrm>
          <a:prstGeom prst="rect">
            <a:avLst/>
          </a:prstGeom>
          <a:noFill/>
        </p:spPr>
        <p:txBody>
          <a:bodyPr wrap="square" anchor="t" lIns="0" rIns="0" tIns="0" bIns="0">
            <a:spAutoFit/>
          </a:bodyPr>
          <a:lstStyle/>
          <a:p>
            <a:pPr algn="l">
              <a:lnSpc>
                <a:spcPct val="100000"/>
              </a:lnSpc>
              <a:spcBef>
                <a:spcPts val="0"/>
              </a:spcBef>
              <a:spcAft>
                <a:spcPts val="0"/>
              </a:spcAft>
            </a:pPr>
            <a:r>
              <a:rPr sz="2000" b="1" i="0">
                <a:solidFill>
                  <a:srgbClr val="1A1A1A"/>
                </a:solidFill>
                <a:latin typeface="Arial"/>
              </a:rPr>
              <a:t>No check rests on it. Name both readings.</a:t>
            </a:r>
          </a:p>
        </p:txBody>
      </p:sp>
      <p:sp>
        <p:nvSpPr>
          <p:cNvPr id="10" name="Rectangle 9"/>
          <p:cNvSpPr/>
          <p:nvPr/>
        </p:nvSpPr>
        <p:spPr>
          <a:xfrm>
            <a:off x="6217919" y="1810512"/>
            <a:ext cx="5196535" cy="2739656"/>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501912"/>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044712"/>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6.23</a:t>
            </a:r>
          </a:p>
          <a:p>
            <a:pPr algn="l">
              <a:lnSpc>
                <a:spcPct val="115000"/>
              </a:lnSpc>
              <a:spcBef>
                <a:spcPts val="0"/>
              </a:spcBef>
              <a:spcAft>
                <a:spcPts val="0"/>
              </a:spcAft>
            </a:pPr>
            <a:r>
              <a:rPr sz="1500" b="0" i="0">
                <a:solidFill>
                  <a:srgbClr val="1A1A1A"/>
                </a:solidFill>
                <a:latin typeface="Palatino"/>
              </a:rPr>
              <a:t>The top left of Figure 6.23, enlarged: its market label, blurred past reading, over the start of the price line.</a:t>
            </a:r>
          </a:p>
        </p:txBody>
      </p:sp>
      <p:sp>
        <p:nvSpPr>
          <p:cNvPr id="14" name="Rectangle 13"/>
          <p:cNvSpPr/>
          <p:nvPr/>
        </p:nvSpPr>
        <p:spPr>
          <a:xfrm>
            <a:off x="6386379" y="1929384"/>
            <a:ext cx="1636401" cy="225172"/>
          </a:xfrm>
          <a:prstGeom prst="rect">
            <a:avLst/>
          </a:prstGeom>
          <a:noFill/>
          <a:ln w="44450">
            <a:solidFill>
              <a:srgbClr val="E09B00"/>
            </a:solidFill>
          </a:ln>
        </p:spPr>
        <p:txBody>
          <a:bodyPr rtlCol="0" anchor="ctr"/>
          <a:lstStyle/>
          <a:p>
            <a:pPr algn="ctr"/>
          </a:p>
        </p:txBody>
      </p:sp>
      <p:sp>
        <p:nvSpPr>
          <p:cNvPr id="15" name="Oval 14"/>
          <p:cNvSpPr/>
          <p:nvPr/>
        </p:nvSpPr>
        <p:spPr>
          <a:xfrm>
            <a:off x="8065684" y="1899031"/>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TextBox 15"/>
          <p:cNvSpPr txBox="1"/>
          <p:nvPr/>
        </p:nvSpPr>
        <p:spPr>
          <a:xfrm>
            <a:off x="6217919" y="4641608"/>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6.23 -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from the book's figures and their captions. Book pp.189-190 and Figure 6.23 (Part 3), its top left corner.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Figure captions that disagree: Figure 6.26</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6 - Wrap up</a:t>
            </a:r>
          </a:p>
        </p:txBody>
      </p:sp>
      <p:sp>
        <p:nvSpPr>
          <p:cNvPr id="7" name="TextBox 6"/>
          <p:cNvSpPr txBox="1"/>
          <p:nvPr/>
        </p:nvSpPr>
        <p:spPr>
          <a:xfrm>
            <a:off x="777240" y="1965960"/>
            <a:ext cx="5120640" cy="3108960"/>
          </a:xfrm>
          <a:prstGeom prst="rect">
            <a:avLst/>
          </a:prstGeom>
          <a:noFill/>
        </p:spPr>
        <p:txBody>
          <a:bodyPr wrap="square" anchor="t" lIns="0" rIns="0" tIns="0" bIns="0">
            <a:spAutoFit/>
          </a:bodyPr>
          <a:lstStyle/>
          <a:p>
            <a:pPr algn="l">
              <a:lnSpc>
                <a:spcPct val="105000"/>
              </a:lnSpc>
              <a:spcBef>
                <a:spcPts val="0"/>
              </a:spcBef>
              <a:spcAft>
                <a:spcPts val="1100"/>
              </a:spcAft>
            </a:pPr>
            <a:r>
              <a:rPr sz="2000" b="0" i="0">
                <a:solidFill>
                  <a:srgbClr val="1A1A1A"/>
                </a:solidFill>
                <a:latin typeface="Arial"/>
              </a:rPr>
              <a:t>Figure 6.26 (Part 4) is captioned daily.</a:t>
            </a:r>
          </a:p>
          <a:p>
            <a:pPr algn="l">
              <a:lnSpc>
                <a:spcPct val="105000"/>
              </a:lnSpc>
              <a:spcBef>
                <a:spcPts val="0"/>
              </a:spcBef>
              <a:spcAft>
                <a:spcPts val="1100"/>
              </a:spcAft>
            </a:pPr>
            <a:r>
              <a:rPr sz="2000" b="0" i="0">
                <a:solidFill>
                  <a:srgbClr val="1A1A1A"/>
                </a:solidFill>
                <a:latin typeface="Arial"/>
              </a:rPr>
              <a:t>Its own label reads $SPX (1 min) </a:t>
            </a:r>
            <a:r>
              <a:rPr sz="2000" b="1" i="0">
                <a:solidFill>
                  <a:srgbClr val="E09B00"/>
                </a:solidFill>
                <a:latin typeface="Arial"/>
              </a:rPr>
              <a:t>(1)</a:t>
            </a:r>
            <a:r>
              <a:rPr sz="2000" b="0" i="0">
                <a:solidFill>
                  <a:srgbClr val="1A1A1A"/>
                </a:solidFill>
                <a:latin typeface="Arial"/>
              </a:rPr>
              <a:t>: 1-minute bars, the S&amp;P 500 within one afternoon, an intraday chart.</a:t>
            </a:r>
          </a:p>
        </p:txBody>
      </p:sp>
      <p:sp>
        <p:nvSpPr>
          <p:cNvPr id="8" name="Rectangle 7"/>
          <p:cNvSpPr/>
          <p:nvPr/>
        </p:nvSpPr>
        <p:spPr>
          <a:xfrm>
            <a:off x="777240" y="3776472"/>
            <a:ext cx="82296" cy="78638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13048"/>
            <a:ext cx="4828032" cy="786384"/>
          </a:xfrm>
          <a:prstGeom prst="rect">
            <a:avLst/>
          </a:prstGeom>
          <a:noFill/>
        </p:spPr>
        <p:txBody>
          <a:bodyPr wrap="square" anchor="t" lIns="0" rIns="0" tIns="0" bIns="0">
            <a:spAutoFit/>
          </a:bodyPr>
          <a:lstStyle/>
          <a:p>
            <a:pPr algn="l">
              <a:lnSpc>
                <a:spcPct val="100000"/>
              </a:lnSpc>
              <a:spcBef>
                <a:spcPts val="0"/>
              </a:spcBef>
              <a:spcAft>
                <a:spcPts val="0"/>
              </a:spcAft>
            </a:pPr>
            <a:r>
              <a:rPr sz="2100" b="1" i="0">
                <a:solidFill>
                  <a:srgbClr val="1A1A1A"/>
                </a:solidFill>
                <a:latin typeface="Arial"/>
              </a:rPr>
              <a:t>No check rests on it. Read the chart, and name both.</a:t>
            </a:r>
          </a:p>
        </p:txBody>
      </p:sp>
      <p:sp>
        <p:nvSpPr>
          <p:cNvPr id="10" name="Rectangle 9"/>
          <p:cNvSpPr/>
          <p:nvPr/>
        </p:nvSpPr>
        <p:spPr>
          <a:xfrm>
            <a:off x="6217919" y="1810512"/>
            <a:ext cx="5196535" cy="2927737"/>
          </a:xfrm>
          <a:prstGeom prst="rect">
            <a:avLst/>
          </a:prstGeom>
          <a:solidFill>
            <a:srgbClr val="FFFFFF"/>
          </a:solidFill>
          <a:ln w="12700">
            <a:solidFill>
              <a:srgbClr val="D7E0D9"/>
            </a:solidFill>
          </a:ln>
          <a:effectLst/>
        </p:spPr>
        <p:txBody>
          <a:bodyPr rtlCol="0" anchor="ctr"/>
          <a:lstStyle/>
          <a:p>
            <a:pPr algn="ctr"/>
          </a:p>
        </p:txBody>
      </p:sp>
      <p:sp>
        <p:nvSpPr>
          <p:cNvPr id="11" name="Rectangle 10"/>
          <p:cNvSpPr/>
          <p:nvPr/>
        </p:nvSpPr>
        <p:spPr>
          <a:xfrm>
            <a:off x="6336791" y="1929384"/>
            <a:ext cx="4958791" cy="2689993"/>
          </a:xfrm>
          <a:prstGeom prst="rect">
            <a:avLst/>
          </a:prstGeom>
          <a:solidFill>
            <a:srgbClr val="FFFFFF"/>
          </a:solidFill>
          <a:ln w="12700">
            <a:solidFill>
              <a:srgbClr val="D7E0D9"/>
            </a:solidFill>
          </a:ln>
          <a:effectLst/>
        </p:spPr>
        <p:txBody>
          <a:bodyPr rtlCol="0" anchor="ctr"/>
          <a:lstStyle/>
          <a:p>
            <a:pPr algn="ctr"/>
          </a:p>
        </p:txBody>
      </p:sp>
      <p:sp>
        <p:nvSpPr>
          <p:cNvPr id="12" name="Rectangle 11"/>
          <p:cNvSpPr/>
          <p:nvPr/>
        </p:nvSpPr>
        <p:spPr>
          <a:xfrm>
            <a:off x="6336791" y="1929384"/>
            <a:ext cx="4958791" cy="50800"/>
          </a:xfrm>
          <a:prstGeom prst="rect">
            <a:avLst/>
          </a:prstGeom>
          <a:solidFill>
            <a:srgbClr val="F2A900"/>
          </a:solidFill>
          <a:ln>
            <a:noFill/>
          </a:ln>
          <a:effectLst/>
        </p:spPr>
        <p:txBody>
          <a:bodyPr rtlCol="0" anchor="ctr"/>
          <a:lstStyle/>
          <a:p>
            <a:pPr algn="ctr"/>
          </a:p>
        </p:txBody>
      </p:sp>
      <p:sp>
        <p:nvSpPr>
          <p:cNvPr id="13" name="TextBox 12"/>
          <p:cNvSpPr txBox="1"/>
          <p:nvPr/>
        </p:nvSpPr>
        <p:spPr>
          <a:xfrm>
            <a:off x="6611111" y="2203703"/>
            <a:ext cx="4410151" cy="2232793"/>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FIGURE 6.26</a:t>
            </a:r>
          </a:p>
          <a:p>
            <a:pPr algn="l">
              <a:lnSpc>
                <a:spcPct val="115000"/>
              </a:lnSpc>
              <a:spcBef>
                <a:spcPts val="0"/>
              </a:spcBef>
              <a:spcAft>
                <a:spcPts val="0"/>
              </a:spcAft>
            </a:pPr>
            <a:r>
              <a:rPr sz="1500" b="0" i="0">
                <a:solidFill>
                  <a:srgbClr val="1A1A1A"/>
                </a:solidFill>
                <a:latin typeface="Palatino"/>
              </a:rPr>
              <a:t>The top left of Figure 6.26's price panel, enlarged: the label $SPX (1 min) 1414.20 over the falling S&amp;P 500.</a:t>
            </a:r>
          </a:p>
        </p:txBody>
      </p:sp>
      <p:sp>
        <p:nvSpPr>
          <p:cNvPr id="14" name="Rectangle 13"/>
          <p:cNvSpPr/>
          <p:nvPr/>
        </p:nvSpPr>
        <p:spPr>
          <a:xfrm>
            <a:off x="6584731" y="2225283"/>
            <a:ext cx="1636401" cy="147949"/>
          </a:xfrm>
          <a:prstGeom prst="rect">
            <a:avLst/>
          </a:prstGeom>
          <a:noFill/>
          <a:ln w="44450">
            <a:solidFill>
              <a:srgbClr val="E09B00"/>
            </a:solidFill>
          </a:ln>
        </p:spPr>
        <p:txBody>
          <a:bodyPr rtlCol="0" anchor="ctr"/>
          <a:lstStyle/>
          <a:p>
            <a:pPr algn="ctr"/>
          </a:p>
        </p:txBody>
      </p:sp>
      <p:sp>
        <p:nvSpPr>
          <p:cNvPr id="15" name="Oval 14"/>
          <p:cNvSpPr/>
          <p:nvPr/>
        </p:nvSpPr>
        <p:spPr>
          <a:xfrm>
            <a:off x="8264036" y="2150535"/>
            <a:ext cx="310896" cy="310896"/>
          </a:xfrm>
          <a:prstGeom prst="ellipse">
            <a:avLst/>
          </a:prstGeom>
          <a:solidFill>
            <a:srgbClr val="E09B00"/>
          </a:solidFill>
          <a:ln w="12700">
            <a:solidFill>
              <a:srgbClr val="FFFFFF"/>
            </a:solidFill>
          </a:ln>
          <a:effectLst/>
        </p:spPr>
        <p:txBody>
          <a:bodyPr rtlCol="0" anchor="ctr" wrap="none" lIns="0" rIns="0" tIns="0" bIns="0"/>
          <a:lstStyle/>
          <a:p>
            <a:pPr algn="ctr">
              <a:lnSpc>
                <a:spcPct val="100000"/>
              </a:lnSpc>
              <a:spcBef>
                <a:spcPts val="0"/>
              </a:spcBef>
              <a:spcAft>
                <a:spcPts val="0"/>
              </a:spcAft>
            </a:pPr>
            <a:r>
              <a:rPr sz="1300" b="1" i="0">
                <a:solidFill>
                  <a:srgbClr val="FFFFFF"/>
                </a:solidFill>
                <a:latin typeface="Arial"/>
              </a:rPr>
              <a:t>1</a:t>
            </a:r>
          </a:p>
        </p:txBody>
      </p:sp>
      <p:sp>
        <p:nvSpPr>
          <p:cNvPr id="16" name="TextBox 15"/>
          <p:cNvSpPr txBox="1"/>
          <p:nvPr/>
        </p:nvSpPr>
        <p:spPr>
          <a:xfrm>
            <a:off x="6217919" y="4829689"/>
            <a:ext cx="5196535" cy="27432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Figure 6.26 - Lim, The Handbook of Technical Analysis (Wiley, 2016)</a:t>
            </a:r>
          </a:p>
        </p:txBody>
      </p:sp>
      <p:sp>
        <p:nvSpPr>
          <p:cNvPr id="17" name="TextBox 16"/>
          <p:cNvSpPr txBox="1"/>
          <p:nvPr/>
        </p:nvSpPr>
        <p:spPr>
          <a:xfrm>
            <a:off x="5074920" y="6199632"/>
            <a:ext cx="6339535" cy="457200"/>
          </a:xfrm>
          <a:prstGeom prst="rect">
            <a:avLst/>
          </a:prstGeom>
          <a:noFill/>
        </p:spPr>
        <p:txBody>
          <a:bodyPr wrap="square" anchor="t" lIns="0" rIns="0" tIns="0" bIns="0">
            <a:spAutoFit/>
          </a:bodyPr>
          <a:lstStyle/>
          <a:p>
            <a:pPr algn="r">
              <a:lnSpc>
                <a:spcPct val="100000"/>
              </a:lnSpc>
              <a:spcBef>
                <a:spcPts val="0"/>
              </a:spcBef>
              <a:spcAft>
                <a:spcPts val="0"/>
              </a:spcAft>
            </a:pPr>
            <a:r>
              <a:rPr sz="1100" b="0" i="1">
                <a:solidFill>
                  <a:srgbClr val="818181"/>
                </a:solidFill>
                <a:latin typeface="Arial"/>
              </a:rPr>
              <a:t>This course's own list, from the book's figures and their captions. Book p.194 and Figure 6.26 (Part 4), its top left corner.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6 - Volume and Open Interest</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