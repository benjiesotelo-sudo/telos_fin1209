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lookback is how many bars the average covers. Short: hugs the bars closely, many signals, mostly false.</a:t>
            </a:r>
          </a:p>
          <a:p>
            <a:pPr algn="l">
              <a:lnSpc>
                <a:spcPct val="105000"/>
              </a:lnSpc>
              <a:spcBef>
                <a:spcPts val="0"/>
              </a:spcBef>
              <a:spcAft>
                <a:spcPts val="1100"/>
              </a:spcAft>
            </a:pPr>
            <a:r>
              <a:rPr sz="1600" b="0" i="0">
                <a:solidFill>
                  <a:srgbClr val="1A1A1A"/>
                </a:solidFill>
                <a:latin typeface="Arial"/>
              </a:rPr>
              <a:t>Long: slow and flat, few signals, and some turns missed. The right length sits in between.</a:t>
            </a:r>
          </a:p>
          <a:p>
            <a:pPr algn="l">
              <a:lnSpc>
                <a:spcPct val="105000"/>
              </a:lnSpc>
              <a:spcBef>
                <a:spcPts val="0"/>
              </a:spcBef>
              <a:spcAft>
                <a:spcPts val="1100"/>
              </a:spcAft>
            </a:pPr>
            <a:r>
              <a:rPr sz="1600" b="0" i="0">
                <a:solidFill>
                  <a:srgbClr val="1A1A1A"/>
                </a:solidFill>
                <a:latin typeface="Arial"/>
              </a:rPr>
              <a:t>Some set it to the dominant trading cycle period, or half of it; a simple backtest may be needed instead.</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book gives no number for the length.</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Backtest: run a method on past prices. Cycle period: how long a swing takes. Both Chapter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 Backtest: Chapter 5's gloss. Cycle period: a Chapter 5 term.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11</a:t>
            </a:r>
          </a:p>
        </p:txBody>
      </p:sp>
      <p:sp>
        <p:nvSpPr>
          <p:cNvPr id="8" name="Rectangle 7"/>
          <p:cNvSpPr/>
          <p:nvPr/>
        </p:nvSpPr>
        <p:spPr>
          <a:xfrm>
            <a:off x="777240" y="2258568"/>
            <a:ext cx="64008" cy="68884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7985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A rolling line: Upper = average + k x standard deviation, recomputed each bar from its last N bars.</a:t>
            </a:r>
          </a:p>
        </p:txBody>
      </p:sp>
      <p:sp>
        <p:nvSpPr>
          <p:cNvPr id="10" name="Rectangle 9"/>
          <p:cNvSpPr/>
          <p:nvPr/>
        </p:nvSpPr>
        <p:spPr>
          <a:xfrm>
            <a:off x="777240" y="320344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5772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Worked, ours, N=5: volumes 8, 10, 12, 9, 11 million. Average 10, standard deviation 1.41. Upper = 10 + 3x1.41 = 14.2 million: 15 crosses, 12 does not.</a:t>
            </a:r>
          </a:p>
        </p:txBody>
      </p:sp>
      <p:sp>
        <p:nvSpPr>
          <p:cNvPr id="12" name="Rectangle 11"/>
          <p:cNvSpPr/>
          <p:nvPr/>
        </p:nvSpPr>
        <p:spPr>
          <a:xfrm>
            <a:off x="777240" y="4392167"/>
            <a:ext cx="64008" cy="117652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346448"/>
            <a:ext cx="5760720" cy="12862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A 2- or 3-sigma filter, also a volatility filter, keeps only the most significant surges: a Bollinger Band on volume, upper band only. The book does not say N or N-1, or whether the bar is in its own window.</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Standard deviation, Chapter 5: how far values typically spread from their average. Bollinger Bands: named in Chapter 1, unexplained. Chart: ours, computed.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prefers the band: volume can be seen crossing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these rules no reasons, does not say how to read one value such as 2.0, and never says what this tick measures. No check rests on them.</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other tick labels, such as balanced tick action, are not explained by the book.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By time: the usual bars, one a period. By price: sideways bars, one per price level.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12 million at PHP 54 to 56. The longest sideways bar: PHP 48 to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oscillators. The figure's top panel is an oscillator the book does not discuss.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lot of volume turnover between $77 and $86 on the daily chart of 3M.</a:t>
            </a:r>
          </a:p>
          <a:p>
            <a:pPr algn="l">
              <a:lnSpc>
                <a:spcPct val="105000"/>
              </a:lnSpc>
              <a:spcBef>
                <a:spcPts val="0"/>
              </a:spcBef>
              <a:spcAft>
                <a:spcPts val="1100"/>
              </a:spcAft>
            </a:pPr>
            <a:r>
              <a:rPr sz="1900" b="0" i="0">
                <a:solidFill>
                  <a:srgbClr val="1A1A1A"/>
                </a:solidFill>
                <a:latin typeface="Arial"/>
              </a:rPr>
              <a:t>This is the most traded range, with some resistance at the $90 to $92 level.</a:t>
            </a:r>
          </a:p>
        </p:txBody>
      </p:sp>
      <p:sp>
        <p:nvSpPr>
          <p:cNvPr id="8" name="Rectangle 7"/>
          <p:cNvSpPr/>
          <p:nvPr/>
        </p:nvSpPr>
        <p:spPr>
          <a:xfrm>
            <a:off x="777240" y="3712463"/>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749039"/>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These price ranges are potential future support and resistance levels.</a:t>
            </a:r>
          </a:p>
        </p:txBody>
      </p:sp>
      <p:sp>
        <p:nvSpPr>
          <p:cNvPr id="10" name="TextBox 9"/>
          <p:cNvSpPr txBox="1"/>
          <p:nvPr/>
        </p:nvSpPr>
        <p:spPr>
          <a:xfrm>
            <a:off x="777240" y="4974336"/>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also marks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