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how to read volume and open interest against price, and the indicators built from them.</a:t>
            </a:r>
          </a:p>
          <a:p>
            <a:r>
              <a:rPr sz="1400"/>
              <a:t>- Say every idea today has a picture beside it. Where the book drew one it is the book's; the rest are 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book's six learning objectives. Say the first and the fifth, and that every one is examinable.</a:t>
            </a:r>
          </a:p>
          <a:p>
            <a:r>
              <a:rPr sz="1400"/>
              <a:t>- Be straight about the sixth: the chapter's text never comes back to contract months. Chapter 3's rollover slides are where it was taught.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Section 6.1 is thirty pages with twenty sub-headings, so it is five parts here. The marker at the bottom left of every slide says which one we are in.</a:t>
            </a:r>
          </a:p>
          <a:p>
            <a:r>
              <a:rPr sz="1400"/>
              <a:t>- Say the checks carry no marks. Each question slide is followed by its answers on a slide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opening paragraph, and the shape of every figure today: price on top, volume underneath, one volume bar under each price bar.</a:t>
            </a:r>
          </a:p>
          <a:p>
            <a:r>
              <a:rPr sz="1400"/>
              <a:t>- Point at the gold day. The price bar says where it traded; the volume bar under it says how much traded. Every figure in the chapter is read that way.</a:t>
            </a:r>
          </a:p>
          <a:p>
            <a:r>
              <a:rPr sz="1400"/>
              <a:t>- The novice error in the gold line is answered in Part 2: falling volume inside a consolidation is normal, and it times the breakout.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Chapter 2 gave this as its sixth tenet, with the same four conditions. Nothing in it changes.</a:t>
            </a:r>
          </a:p>
          <a:p>
            <a:r>
              <a:rPr sz="1400"/>
              <a:t>- Read the figure's two halves. In each, the tall volume bars sit under the move that goes with the trend, and the short ones under the retracement.</a:t>
            </a:r>
          </a:p>
          <a:p>
            <a:r>
              <a:rPr sz="1400"/>
              <a:t>- What is new today is the vocabulary on the next slides: volume is bullish or bearish, and it confirms or diverges.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word has been on our charts since Chapter 1, and Chapter 2 made a tenet of it, but this is the first slide that defines it.</a:t>
            </a:r>
          </a:p>
          <a:p>
            <a:r>
              <a:rPr sz="1400"/>
              <a:t>- Shares for a stock, contracts for a futures market. The interval is whatever the chart's bar is: a day, an hour, five minutes.</a:t>
            </a:r>
          </a:p>
          <a:p>
            <a:r>
              <a:rPr sz="1400"/>
              <a:t>- Keep the five trades in mind: in Part 4 the same five trades give a tick volume of five.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says to remember these two whenever volume is studied. Every reading later in the chapter comes back to them.</a:t>
            </a:r>
          </a:p>
          <a:p>
            <a:r>
              <a:rPr sz="1400"/>
              <a:t>- On the chart, 1 is a rally the market wants: volume grows as price rises. 2 is a rally fewer want: price still rises, on shrinking volume.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says it four times, trend by trend. Every one of the four is the same rule: together is bullish, opposite is bearish.</a:t>
            </a:r>
          </a:p>
          <a:p>
            <a:r>
              <a:rPr sz="1400"/>
              <a:t>- So the same falling volume is bullish under a falling price and bearish under a rising one. Volume alone says nothing until price's direction is known.</a:t>
            </a:r>
          </a:p>
          <a:p>
            <a:r>
              <a:rPr sz="1400"/>
              <a:t>- This answers review question 2, describe bullish and bearish volume.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end of the chart: price falls and volume falls with it. That is bullish volume in an uptrend, not a warning.</a:t>
            </a:r>
          </a:p>
          <a:p>
            <a:r>
              <a:rPr sz="1400"/>
              <a:t>- The mistake is reading volume alone: falling equals bad. Ask the room which way price was going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Set this beside Figure 6.1. The prices are the same shapes; only the volume is swapped.</a:t>
            </a:r>
          </a:p>
          <a:p>
            <a:r>
              <a:rPr sz="1400"/>
              <a:t>- Not confirming is still only a potential: the book says weak or bearish uptrend, not a reversal.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columns of the chart, not the rows: each column is one volume direction, with price going both ways.</a:t>
            </a:r>
          </a:p>
          <a:p>
            <a:r>
              <a:rPr sz="1400"/>
              <a:t>- Bullish or bearish volume needs price. Divergence or confirmation does not: it is volume's direction alone.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Confirmation is called convergence too: price and volume coming together in one direction. Both words mean volume rising.</a:t>
            </a:r>
          </a:p>
          <a:p>
            <a:r>
              <a:rPr sz="1400"/>
              <a:t>- The right-hand chart is one possible ending, drawn to show what potential reversal means. Divergence is an early warning, not a certainty.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example row is the book's own summary of all four scenarios, page 178. The formal row is its two sentences on where each divergence can occur.</a:t>
            </a:r>
          </a:p>
          <a:p>
            <a:r>
              <a:rPr sz="1400"/>
              <a:t>- Bullish or bearish comes from the last slide but one: together or apart. Divergence or confirmation from the last slide: volume down or up.</a:t>
            </a:r>
          </a:p>
          <a:p>
            <a:r>
              <a:rPr sz="1400"/>
              <a:t>- The figure lists four kinds of supporting series. Volume, its moving average and open interest are all in the text; the ATR is not mentioned anywhere in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word, different test. Standard divergence compares two peaks on two lines. Volume divergence asks one question: is volume falling?</a:t>
            </a:r>
          </a:p>
          <a:p>
            <a:r>
              <a:rPr sz="1400"/>
              <a:t>- This answers review question 3, how volume divergence differs from standard oscillator divergence.</a:t>
            </a:r>
          </a:p>
          <a:p>
            <a:r>
              <a:rPr sz="1400"/>
              <a:t>- Reverse divergence was named in Chapter 5 and left to Chapter 9. The book says there is no such classification for volume.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Price falling and volume falling together: bullish divergence, by the last slides. Point at the two dashed lines in the volume panel.</a:t>
            </a:r>
          </a:p>
          <a:p>
            <a:r>
              <a:rPr sz="1400"/>
              <a:t>- Evidence, not a signal: the pattern is the setup and the volume corroborates it, which is the chapter's first sentence again.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 period by period with the arrows on the volume panel. Up arrows with price rising: confirmation. Down arrows with price dipping: divergence.</a:t>
            </a:r>
          </a:p>
          <a:p>
            <a:r>
              <a:rPr sz="1400"/>
              <a:t>- The breakout timing in 2, 8 and 10 is Part 2's subject. Here it is enough that a consolidation's falling volume is not divergence.</a:t>
            </a:r>
          </a:p>
          <a:p>
            <a:r>
              <a:rPr sz="1400"/>
              <a:t>- Be plain about the gap: the book's sentence says downtrend, its figure says inside an uptrend. The slide gives our reading and says it is 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has ten periods on a real chart and they are hard to see. Here are four, one of each kind it names.</a:t>
            </a:r>
          </a:p>
          <a:p>
            <a:r>
              <a:rPr sz="1400"/>
              <a:t>- Ask the room for each period before reading the label: which way is price, which way is volume, together or apart.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Oscillator is the book's word for any indicator drawn in its own panel under the price. Chapter 8 is oscillators; nothing more about them is needed today.</a:t>
            </a:r>
          </a:p>
          <a:p>
            <a:r>
              <a:rPr sz="1400"/>
              <a:t>- The bottom line on the chart is the On Balance Volume, taught in Part 6. Here it only shows what price-based means: the close decides the sign.</a:t>
            </a:r>
          </a:p>
          <a:p>
            <a:r>
              <a:rPr sz="1400"/>
              <a:t>- Volume bars are on the book's non-price-based list, so plain volume counts as one of these oscillators.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these as two lists and no figure, so this slide has no picture. The next two slides show how the two kinds are read.</a:t>
            </a:r>
          </a:p>
          <a:p>
            <a:r>
              <a:rPr sz="1400"/>
              <a:t>- Do not explain the four the book never explains. Say they are names 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 box by box. Top left and top right differ only in the bullish divergence pair; bottom left and bottom right only in the bearish confirmation pair.</a:t>
            </a:r>
          </a:p>
          <a:p>
            <a:r>
              <a:rPr sz="1400"/>
              <a:t>- Why the price-based one differs: price is built into it, so when price falls it would fall too, unless buying is underneath. Ours, not the book's words: the book gives the figure and no reason.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Price rises across the arrow at the top. Two volume panels fall under it, bearish divergence; the ADL rises with it, bullish confirmation.</a:t>
            </a:r>
          </a:p>
          <a:p>
            <a:r>
              <a:rPr sz="1400"/>
              <a:t>- Do not resolve the disagreement. The book shows the figure to show each kind read by its own rule; it does not say which to believe.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answers the novice error from the first slide. Sideways price cannot diverge from anything, so shrinking volume inside a range is not a warning: it is the clock running down.</a:t>
            </a:r>
          </a:p>
          <a:p>
            <a:r>
              <a:rPr sz="1400"/>
              <a:t>- The stops are stop orders, Chapter 1 and Chapter 5: buy stops above the range, sell stops below it. Whichever side is hit first starts the move.</a:t>
            </a:r>
          </a:p>
          <a:p>
            <a:r>
              <a:rPr sz="1400"/>
              <a:t>- The book says either an upside or a downside breakout. Low volume does not say which way.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box at the bottom right of the price panel, then the circle under it where volume sits on the low volume level. The breakout follows.</a:t>
            </a:r>
          </a:p>
          <a:p>
            <a:r>
              <a:rPr sz="1400"/>
              <a:t>- The figure also labels a bearish divergence into the top and a bearish confirmation on the fall: Part 1's names on a real chart. The two circles at 1 and 2 are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uses of the same low volume: in a range it times a breakout, in a trend it marks a turn.</a:t>
            </a:r>
          </a:p>
          <a:p>
            <a:r>
              <a:rPr sz="1400"/>
              <a:t>- The book gives a tendency and no rule for where the low volume level goes. Figure 6.9 draws it by eye, and so does this chart.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shows the signal three times: an accumulation breakout up at 1, distribution breakouts down at 2 and 3. Each comes as volume touches the line.</a:t>
            </a:r>
          </a:p>
          <a:p>
            <a:r>
              <a:rPr sz="1400"/>
              <a:t>- Notice the breakout bars themselves carry more volume than the bars before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heading is Volume-Weighted Average Price/Moving Average, and its figure says VWAP. It treats the two names as one line here.</a:t>
            </a:r>
          </a:p>
          <a:p>
            <a:r>
              <a:rPr sz="1400"/>
              <a:t>- How the average is weighted is Chapter 11. Today it is a line over price, and what matters is which side of it price is on.</a:t>
            </a:r>
          </a:p>
          <a:p>
            <a:r>
              <a:rPr sz="1400"/>
              <a:t>- Moving averages were met in Chapters 4 and 5 and are taught in Chapter 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each dashed arrow from a circled volume peak up to a crossover. That is the book's point about timing.</a:t>
            </a:r>
          </a:p>
          <a:p>
            <a:r>
              <a:rPr sz="1400"/>
              <a:t>- Name the mismatch and move on: the caption says VWMA and daily, the figure says VWAP and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both sentences from the book. One says above the line is bullish; the next says above the line is overvalued, where institutions sell.</a:t>
            </a:r>
          </a:p>
          <a:p>
            <a:r>
              <a:rPr sz="1400"/>
              <a:t>- Do not invent a reconciliation. If a student asks, the answer is that the book gives both and the course teaches both.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climaxes are a recall: Chapter 4 told who buys and sells in them. What is new is the volume, and the two low volume names.</a:t>
            </a:r>
          </a:p>
          <a:p>
            <a:r>
              <a:rPr sz="1400"/>
              <a:t>- The low volume top and bottom get their own slide after the climax figures, in the book's order.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two spikes under the ellipse: each is a selling climax, and each reaches the upper line.</a:t>
            </a:r>
          </a:p>
          <a:p>
            <a:r>
              <a:rPr sz="1400"/>
              <a:t>- Upper for the big turns, lower for the corrections. Where to draw them is the slide after next.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mirror of the last figure: tops this time. Follow each arrow from BLOW-OFF to its spike and up to its top.</a:t>
            </a:r>
          </a:p>
          <a:p>
            <a:r>
              <a:rPr sz="1400"/>
              <a:t>- The second blow-off is on a much smaller spike than the first in absolute terms. Compare it with the volume around it, not with the first.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By eye is the book's method: there is no formula for the line. The 2-sigma level is a second, computed line, and Part 3 builds one.</a:t>
            </a:r>
          </a:p>
          <a:p>
            <a:r>
              <a:rPr sz="1400"/>
              <a:t>- Find the support break at the far right: price falls through a significant level on extreme volume.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numbers are the big turns and the letters the small ones. Ask the room which line they would draw to trade only the big ones.</a:t>
            </a:r>
          </a:p>
          <a:p>
            <a:r>
              <a:rPr sz="1400"/>
              <a:t>- Both lines were placed by eye, the way the book says to.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kinds of evidence agree at 1 and 2: volume overextended, and volatility spiking. The lower, wavy stretch is what the book calls noise.</a:t>
            </a:r>
          </a:p>
          <a:p>
            <a:r>
              <a:rPr sz="1400"/>
              <a:t>- Do not teach the bandwidth. Say it is a measure of volatility the book uses here and explains elsewhere.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low volume reversals of the part's start, now named by where they turn: at a top or at a bottom.</a:t>
            </a:r>
          </a:p>
          <a:p>
            <a:r>
              <a:rPr sz="1400"/>
              <a:t>- The threshold is again drawn by eye, and the circles are where volume tests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two volume bars are identical. Only what price did next tells you which one it was.</a:t>
            </a:r>
          </a:p>
          <a:p>
            <a:r>
              <a:rPr sz="1400"/>
              <a:t>- That is the book's reason for not calling volume overbought or oversold in advance.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circled spike in 2013 on the daily and weekly panels. Then find where monthly and above peak: 2011.</a:t>
            </a:r>
          </a:p>
          <a:p>
            <a:r>
              <a:rPr sz="1400"/>
              <a:t>- One day's spike dominates a daily panel. Added into a month or a year, it is outweighed by the busy months around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Nothing changes between the two panels but the length of the bar: the same shares, added up by day or by month.</a:t>
            </a:r>
          </a:p>
          <a:p>
            <a:r>
              <a:rPr sz="1400"/>
              <a:t>- So the daily chart reacts to one day; the monthly chart shows the broad shape of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question on the figure before answering it. Point at the touch in each sketch, then at the volume bar under it: tallest in the top row, shortest in the bottom row.</a:t>
            </a:r>
          </a:p>
          <a:p>
            <a:r>
              <a:rPr sz="1400"/>
              <a:t>- Barrier is Chapter 5's word, from barrier proximity: a support below price or a resistance above it. Retest was Chapter 5's too, price returning to a level it touched before.</a:t>
            </a:r>
          </a:p>
          <a:p>
            <a:r>
              <a:rPr sz="1400"/>
              <a:t>- Why the peak wins comes on the next slide,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 first: the biggest push of the move hit PHP 60 and still failed. Then B: nobody pushed, so the level was never really tested.</a:t>
            </a:r>
          </a:p>
          <a:p>
            <a:r>
              <a:rPr sz="1400"/>
              <a:t>- The chart does not draw what happens at the retest. The book says only which barrier is more reliable, not that B will break.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Peaking and bottoming are the two cases of Figure 6.18. Increasing, decreasing and flatlining are new.</a:t>
            </a:r>
          </a:p>
          <a:p>
            <a:r>
              <a:rPr sz="1400"/>
              <a:t>- In every sketch the price curve is the same; only the volume bars change. Read the bars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sentences on increasing and decreasing volume are hard going. This slide takes increasing alone: what volume does, then what price does next.</a:t>
            </a:r>
          </a:p>
          <a:p>
            <a:r>
              <a:rPr sz="1400"/>
              <a:t>- Price down with volume up is bearish confirmation, Part 1's name for it: at a resistance the rising volume is the selling that drives price down.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Decreasing volume across the barrier is the one to watch: the book says it tends to see a retest, and in more extreme circumstances price may return to penetrate it.</a:t>
            </a:r>
          </a:p>
          <a:p>
            <a:r>
              <a:rPr sz="1400"/>
              <a:t>- Figure 6.19 draws price turning cleanly in every case. The retests on our chart are drawn from the book's words, and the chart gives them no volume because the book gives none.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Peaking and bottoming are the volume peak and the volume dip of Figure 6.18, now with numbers. Flatlining is the only new one.</a:t>
            </a:r>
          </a:p>
          <a:p>
            <a:r>
              <a:rPr sz="1400"/>
              <a:t>- Flatlining is not a weak barrier or a strong one. The book says it gives too little information to tell.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answers review question 5, the modes of volume filtering. Four ways, and the book explains two of them in this passage: the smoothed volume filter, then the two- or three-sigma filter.</a:t>
            </a:r>
          </a:p>
          <a:p>
            <a:r>
              <a:rPr sz="1400"/>
              <a:t>- Prior volume peaks: the book names them on p.188 and never explains them. Part 2's upper overextended volume level was set at the volume of earlier climaxes, which is the nearest the book comes; that reading is ours and is not examinable.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twice rule is ours, to make the reading concrete. The book says only that a spike above the line is significant, and its own Figure 6.20 marks only the tallest spikes.</a:t>
            </a:r>
          </a:p>
          <a:p>
            <a:r>
              <a:rPr sz="1400"/>
              <a:t>- Filter 2's line here is a stand-in, the average plus a fixed amount. The real line, the two- or three-sigma filter, is computed on its own slides after the smoothed volume filter.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moving average is met again: Chapters 4 and 5 used them, Chapter 11 teaches them. Here it is an average of volume, not of price.</a:t>
            </a:r>
          </a:p>
          <a:p>
            <a:r>
              <a:rPr sz="1400"/>
              <a:t>- The book says a spike above the line is significant and gives no measure of how far above. On its own Figure 6.20 the arrows mark only the tallest spikes, and so does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Lookback is the number of bars averaged. A longer one smooths more.</a:t>
            </a:r>
          </a:p>
          <a:p>
            <a:r>
              <a:rPr sz="1400"/>
              <a:t>- Follow two or three of the dotted arrows from a spike to a turn in price.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it works through the book's two rules of thumb, not a new reading of a chart. Figure 6.20 was the last slide's.</a:t>
            </a:r>
          </a:p>
          <a:p>
            <a:r>
              <a:rPr sz="1400"/>
              <a:t>- Walk the backtest sentence slowly: try N = 10, 20 and 50 on last year's chart, and see which flagged the real turns.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Sigma is the Greek letter for a standard deviation: how far values typically spread from their average.</a:t>
            </a:r>
          </a:p>
          <a:p>
            <a:r>
              <a:rPr sz="1400"/>
              <a:t>- Bollinger Bands were named in Chapter 1, in the mean reverting approach, and are not explained there either. All this filter needs is the upper line.</a:t>
            </a:r>
          </a:p>
          <a:p>
            <a:r>
              <a:rPr sz="1400"/>
              <a:t>- Three sigma is stricter than two: fewer bars cross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closes the two gaps the review found: the divisor and the window. Both are read straight from the code that drew the chart.</a:t>
            </a:r>
          </a:p>
          <a:p>
            <a:r>
              <a:rPr sz="1400"/>
              <a:t>- The jump explanation matches the chart's own footnote, here given as the reason instead of just the fact.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with Figure 6.20, the same market. The threshold here is higher, so only the largest surges cross it.</a:t>
            </a:r>
          </a:p>
          <a:p>
            <a:r>
              <a:rPr sz="1400"/>
              <a:t>- Follow each of the three arrows down to the surge under it. Then find the April 2011 top: a dotted upright, and no arrow.</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 picture: this slide reads the book's one sentence on the oscillator, beside the two figures already shown.</a:t>
            </a:r>
          </a:p>
          <a:p>
            <a:r>
              <a:rPr sz="1400"/>
              <a:t>- Oscillator is Part 1's word: an indicator in a panel under price.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Trendlines and channels were Chapter 5, and so were inflection points. This adds one rule for which points to use: only the heavily traded ones.</a:t>
            </a:r>
          </a:p>
          <a:p>
            <a:r>
              <a:rPr sz="1400"/>
              <a:t>- The grey turns are real peaks and troughs too. They are skipped because too little traded at them.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steps against the chart: each bar number and price is printed on it.</a:t>
            </a:r>
          </a:p>
          <a:p>
            <a:r>
              <a:rPr sz="1400"/>
              <a:t>- A turn on 2.0 million would pass the book's definition and fail its example's line. The book does not settle that, and neither do we: our chart has no turn in between.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two arrows from the oval up to points 1 and 3, then 2. Those are the only points used.</a:t>
            </a:r>
          </a:p>
          <a:p>
            <a:r>
              <a:rPr sz="1400"/>
              <a:t>- Falls through it: the book says the market reversed downward, violating the rising channel.</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- 28 is the number of bars from trough 3, bar 44, to X, bar 72, on the step by step chart.</a:t>
            </a:r>
          </a:p>
          <a:p>
            <a:r>
              <a:rPr sz="1400"/>
              <a:t>- Why only heavily traded turns? The book says only that it shows the importance of significant inflection points; the next figure's slide quotes it. Part 3's first rule, a barrier formed at a volume peak is the most reliable, fits, and that link is ours.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the parallels: five lines, every one at the slope of the line from 1 to 2.</a:t>
            </a:r>
          </a:p>
          <a:p>
            <a:r>
              <a:rPr sz="1400"/>
              <a:t>- The book admits the line through X was found looking back. It still calls the channel valid.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 picture of its own: it reads Figure 6.23, on the slide before, as a whole.</a:t>
            </a:r>
          </a:p>
          <a:p>
            <a:r>
              <a:rPr sz="1400"/>
              <a:t>- Look at the three ovals on the volume panel: they sit under 1, under 2 and 3, and under 5 and 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Work the double out loud: 3 million today, 1.5 million usually, so twice the usual. That comparison is relative volume.</a:t>
            </a:r>
          </a:p>
          <a:p>
            <a:r>
              <a:rPr sz="1400"/>
              <a:t>- This is review question 7, which is more useful. The book's answer: relative, for reading trends; absolute has the uses two slides on.</a:t>
            </a:r>
          </a:p>
          <a:p>
            <a:r>
              <a:rPr sz="1400"/>
              <a:t>- The chart is the warning in the gold line: no change in volume, and the trend goes on anyway.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it ties the book's two sentences to Parts 1 and 2, which drew them.</a:t>
            </a:r>
          </a:p>
          <a:p>
            <a:r>
              <a:rPr sz="1400"/>
              <a:t>- Peaks and troughs both count: the book says historical volume peaks and troughs give the reference level.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1 listed loss aversion among behavioral biases in one line. This is the first slide that says what it is.</a:t>
            </a:r>
          </a:p>
          <a:p>
            <a:r>
              <a:rPr sz="1400"/>
              <a:t>- The book says many investors treat a paper loss as no loss, and so they hold. Breakeven is the price at which you neither gain nor lose.</a:t>
            </a:r>
          </a:p>
          <a:p>
            <a:r>
              <a:rPr sz="1400"/>
              <a:t>- Why it is in a chapter on volume: holding is not trading, so a bear market trades less.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says a variety of reasons, a few being these three. They are its list, not a complete one.</a:t>
            </a:r>
          </a:p>
          <a:p>
            <a:r>
              <a:rPr sz="1400"/>
              <a:t>- House money is the book's phrase for profit already made, spent again.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Absolute volume is the raw count of the first slide of this part. Work the turnover out loud: 5 million of 2,000 million is a quarter of one percent; 1 million of 40 million is two and a half percent.</a:t>
            </a:r>
          </a:p>
          <a:p>
            <a:r>
              <a:rPr sz="1400"/>
              <a:t>- Liquidity is the book's word, used here and not defined in this chapter. Do not define it for them.</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two sentences and no figure, so this slide has no picture.</a:t>
            </a:r>
          </a:p>
          <a:p>
            <a:r>
              <a:rPr sz="1400"/>
              <a:t>- The example is ours and only shows the size of the problem: the bar counts every share, whoever traded 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3 listed open interest as transaction data and Chapter 4 used it in a consolidation. This is the first slide that defines it.</a:t>
            </a:r>
          </a:p>
          <a:p>
            <a:r>
              <a:rPr sz="1400"/>
              <a:t>- Each contract is one long and one short, so a contract is open until both sides are out. Long and short are Chapter 1's go long and go short.</a:t>
            </a:r>
          </a:p>
          <a:p>
            <a:r>
              <a:rPr sz="1400"/>
              <a:t>- The chart is the next slide's four days, one column a day. Read its labels against the three rules in the example row.</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of its own: the chart beside the term is these four days, one column each.</a:t>
            </a:r>
          </a:p>
          <a:p>
            <a:r>
              <a:rPr sz="1400"/>
              <a:t>- On day 4, D buying back is covering and C selling is liquidating: Chapter 1's words for closing a short and a long.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rule as Part 1's bullish and bearish volume, with open interest moving alongside volume. Both words, both rules: the book says open interest divergence is read as for non-price-based volume oscillators.</a:t>
            </a:r>
          </a:p>
          <a:p>
            <a:r>
              <a:rPr sz="1400"/>
              <a:t>- The book's reason for the last case: participants are less interested in seeing the market decline further.</a:t>
            </a:r>
          </a:p>
          <a:p>
            <a:r>
              <a:rPr sz="1400"/>
              <a:t>- This is review question 6, the relationship between volume, open interest and price.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it puts numbers on the four sketches of the last slide. The names are Part 1's: bullish or bearish, confirmation or divergence.</a:t>
            </a:r>
          </a:p>
          <a:p>
            <a:r>
              <a:rPr sz="1400"/>
              <a:t>- Ask the room to name the case before you read the answer: price up, open interest down, volume down.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four actions are the four cases of the last slide, turned into what to do.</a:t>
            </a:r>
          </a:p>
          <a:p>
            <a:r>
              <a:rPr sz="1400"/>
              <a:t>- On the figure, volume and open interest disagree at the top: volume peaks at the highest price, open interest does not. The book reads the open interest: longs leaving.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4 said rising open interest in a consolidation makes the breakout more rapid. This is the same idea at a reversal.</a:t>
            </a:r>
          </a:p>
          <a:p>
            <a:r>
              <a:rPr sz="1400"/>
              <a:t>- May be, says the book: a tendency, not a rule.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1: volume counts what was traded, tick volume counts how many trades. One trade may be 1 contract or 1,000.</a:t>
            </a:r>
          </a:p>
          <a:p>
            <a:r>
              <a:rPr sz="1400"/>
              <a:t>- OTC fx and proxy are spelled out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the chart beside the term already counts the same trades both ways.</a:t>
            </a:r>
          </a:p>
          <a:p>
            <a:r>
              <a:rPr sz="1400"/>
              <a:t>- Relative levels is the book's phrase: higher or lower than before, as on the first slide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Advances and declines were listed in Chapter 3 as breadth data and never defined. The plain row reads them as the number of stocks rising and falling; that reading is ours.</a:t>
            </a:r>
          </a:p>
          <a:p>
            <a:r>
              <a:rPr sz="1400"/>
              <a:t>- Up volume and down volume: the volume in the rising stocks and in the falling ones, again our reading of the names.</a:t>
            </a:r>
          </a:p>
          <a:p>
            <a:r>
              <a:rPr sz="1400"/>
              <a:t>- Work the arithmetic slowly. The TRIN is a ratio of two ratios.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the chart beside the term is these three steps as columns.</a:t>
            </a:r>
          </a:p>
          <a:p>
            <a:r>
              <a:rPr sz="1400"/>
              <a:t>- Step 3 is only the same division rearranged. Check it on the board: 0.8 / 0.4 = 2.0.</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short-term rule, then point at the box: the tick dips and the TRIN rises, the opposite of the rule's bullish case. Say so; do not reconcile it.</a:t>
            </a:r>
          </a:p>
          <a:p>
            <a:r>
              <a:rPr sz="1400"/>
              <a:t>- The converse, the longer-term rule and the book's gaps are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it finishes the book's rules from the last slide's figure. Do not settle the gaps; name them.</a:t>
            </a:r>
          </a:p>
          <a:p>
            <a:r>
              <a:rPr sz="1400"/>
              <a:t>- No check rests on these rules. The check after this part tests only tick volume and the TRIN's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rising TRIN is bearish, by the short-term rule two slides back. Point at the boxed stretch, then at the shaded tick stretch labelled bearish after 1:45.</a:t>
            </a:r>
          </a:p>
          <a:p>
            <a:r>
              <a:rPr sz="1400"/>
              <a:t>- Uptick is the figure's word and is not defined by the book. Read it only as the label on the figure.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trades, added up two ways: by when they happened, and by the price they happened at.</a:t>
            </a:r>
          </a:p>
          <a:p>
            <a:r>
              <a:rPr sz="1400"/>
              <a:t>- Each sideways bar on the chart is the total of every day's volume while price sat in that band.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the chart beside the term is the same sum done over 100 days.</a:t>
            </a:r>
          </a:p>
          <a:p>
            <a:r>
              <a:rPr sz="1400"/>
              <a:t>- Do the sum on the board: which days closed between 48 and 50? Days 1, 2 and 4.</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longest sideways bars, near $17, and then find price returning to that level.</a:t>
            </a:r>
          </a:p>
          <a:p>
            <a:r>
              <a:rPr sz="1400"/>
              <a:t>- Clear up the word: Chapter 4's price-based volume is this, volume by price. Part 1's price-based oscillators are a different thing.</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bracket on the figure is the $77 to $86 range. Price later falls through it and returns.</a:t>
            </a:r>
          </a:p>
          <a:p>
            <a:r>
              <a:rPr sz="1400"/>
              <a:t>- The figure's own labels also mark bearish confirmation and bearish divergence on the volume panel: Part 1's names again.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numbers on the chart in order. The band is step 1, the shaded columns step 2, the boxes step 3, the two lines step 4.</a:t>
            </a:r>
          </a:p>
          <a:p>
            <a:r>
              <a:rPr sz="1400"/>
              <a:t>- The book takes the nearest turn either side of the intersection. The next slide says what our two levels then did.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has no picture: it reads the two lines of the chart on the last slide, after the step 4 prices were found.</a:t>
            </a:r>
          </a:p>
          <a:p>
            <a:r>
              <a:rPr sz="1400"/>
              <a:t>- Do not add a rule for the break. The book gives none.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figure with the last slide's numbers. The two white boxes are step 3.</a:t>
            </a:r>
          </a:p>
          <a:p>
            <a:r>
              <a:rPr sz="1400"/>
              <a:t>- The dashed arrows mark the two levels of step 4: resistance at about $80, at the top of the zone, and support at about $72.50, below it. The overextended volume level on the volume panel is Part 2's.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first: Chapter 5 drew these four as Chart R and called the second one the squat bar.</a:t>
            </a:r>
          </a:p>
          <a:p>
            <a:r>
              <a:rPr sz="1400"/>
              <a:t>- The figure is the book's whole picture of them: a box for the range, a box for the volume. The next slides put each in a trend.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example is the second of the four, the high volume reversal bar: Chapter 5's squat bar, now with a name.</a:t>
            </a:r>
          </a:p>
          <a:p>
            <a:r>
              <a:rPr sz="1400"/>
              <a:t>- Narrow and wide are against the trend's usual bars, as low and high are against its usual volume. The book gives no number for either.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reasoning for the first: in an uptrend, heavy buying would push the range wide. A narrow range on heavy volume means someone was selling into it.</a:t>
            </a:r>
          </a:p>
          <a:p>
            <a:r>
              <a:rPr sz="1400"/>
              <a:t>- The gold line is our one-line summary of the two, not the book's words.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first two cells are the same bar in two trends. The book's point is that the trend decides what it means.</a:t>
            </a:r>
          </a:p>
          <a:p>
            <a:r>
              <a:rPr sz="1400"/>
              <a:t>- The continuation bar is Chapter 5's trend promoting case, named.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1 is a reversal bar at a bottom, so the converse applies: bullish. Point 2 is at a top.</a:t>
            </a:r>
          </a:p>
          <a:p>
            <a:r>
              <a:rPr sz="1400"/>
              <a:t>- The triangle on the left is Part 2's low volume breakout signal again: volume falling into the apex, then surging.</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circle at the low. The volume bar under it is one of the tallest on the chart.</a:t>
            </a:r>
          </a:p>
          <a:p>
            <a:r>
              <a:rPr sz="1400"/>
              <a:t>- Converse is the book's word: in a downtrend the same bar means buyers taking control.</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Bearish divergence in volume is Part 1's: price rising into the bar while volume falls.</a:t>
            </a:r>
          </a:p>
          <a:p>
            <a:r>
              <a:rPr sz="1400"/>
              <a:t>- The MACD is an oscillator the book has not taught. Point at its falling line and leave it there.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overextended level is Part 2's upper overextended volume level, drawn by eye.</a:t>
            </a:r>
          </a:p>
          <a:p>
            <a:r>
              <a:rPr sz="1400"/>
              <a:t>- Two independent pieces of evidence at one bar is what the book keeps pointing to.</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Every bar holds the same volume, so a narrow bar is a lot of volume for the price moved, and a tall bar is little volume for it.</a:t>
            </a:r>
          </a:p>
          <a:p>
            <a:r>
              <a:rPr sz="1400"/>
              <a:t>- That is the last part's two reversal bars, read off a chart where volume never changes.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asks the question, does volume lead price, and answers both ways.</a:t>
            </a:r>
          </a:p>
          <a:p>
            <a:r>
              <a:rPr sz="1400"/>
              <a:t>- On the chart, the breakout at 1 comes first and the volume at 2 after it. That order is what price leading volume means.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8: volume cycles, and where you find them. The book's answer is intraday, with the peak at that hour.</a:t>
            </a:r>
          </a:p>
          <a:p>
            <a:r>
              <a:rPr sz="1400"/>
              <a:t>- The book does not say the hour holds for every market; its examples are the euro against the dollar.</a:t>
            </a:r>
          </a:p>
          <a:p>
            <a:r>
              <a:rPr sz="1400"/>
              <a:t>- Reverse or continue: the peak does not say which. It says something is about to happen.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Straddle is the book's second name for the bidirectional entry: orders above and below, so either move is caught.</a:t>
            </a:r>
          </a:p>
          <a:p>
            <a:r>
              <a:rPr sz="1400"/>
              <a:t>- The daily spikes in the volume panel are the cycle. Line a few of them up with turns in price.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Match each number to the shaded marks in the bottom panel. The successful retests had the oscillator oversold; the failures did not.</a:t>
            </a:r>
          </a:p>
          <a:p>
            <a:r>
              <a:rPr sz="1400"/>
              <a:t>- Do not teach the stochastic. Oversold is used as in Part 2: named, not defined here.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3 built these charts. The point here is only what a non-linear time axis does to a line drawn across it.</a:t>
            </a:r>
          </a:p>
          <a:p>
            <a:r>
              <a:rPr sz="1400"/>
              <a:t>- Wide bars on heavy days stretch the axis, so the line's angle changes and so does where price crosses it.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lists the book gives without a figure, so this slide has no picture. Say the names, and that Chapter 8 teaches the methods.</a:t>
            </a:r>
          </a:p>
          <a:p>
            <a:r>
              <a:rPr sz="1400"/>
              <a:t>- Divergence on a volume oscillator was Part 1: price-based ones read like standard divergence.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Work it with the room: day 2 closes up, add 2.0; day 3 down, take away 1.5; day 4 unchanged, nothing; day 5 up, add 3.0; day 6 down, take away 1.0.</a:t>
            </a:r>
          </a:p>
          <a:p>
            <a:r>
              <a:rPr sz="1400"/>
              <a:t>- Only the direction of the close matters, not how far it moved. That is the weakness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Left cell: shift the start and the whole line moves up or down, but every rise and fall stays the same. Divergence reads the rises and falls.</a:t>
            </a:r>
          </a:p>
          <a:p>
            <a:r>
              <a:rPr sz="1400"/>
              <a:t>- Right cell: the second bar went far higher and still counts as a down day, because it closed a little lower.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Part 1's rule for a price-based oscillator: bullish divergence is price falling while the oscillator rises. Point at the two lines.</a:t>
            </a:r>
          </a:p>
          <a:p>
            <a:r>
              <a:rPr sz="1400"/>
              <a:t>- Compare with plain volume, where bullish divergence is volume falling with price.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divergences, each an arrow up on price and an arrow down on the OBV.</a:t>
            </a:r>
          </a:p>
          <a:p>
            <a:r>
              <a:rPr sz="1400"/>
              <a:t>- After the second one, copper fell from about 4.5 to about 3.0.</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 H and L are the close, high and low: the OHLC of Chapter 1. Work the 49 close: (49 - 48) - (52 - 49) is 1 - 3, minus 2; over the range of 4, minus one half.</a:t>
            </a:r>
          </a:p>
          <a:p>
            <a:r>
              <a:rPr sz="1400"/>
              <a:t>- The name echoes the accumulation and distribution phases of Chapters 2 and 4. The book does not connect the two.</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line is the whole idea: the factor slides from minus one to plus one as the close moves from the low to the high.</a:t>
            </a:r>
          </a:p>
          <a:p>
            <a:r>
              <a:rPr sz="1400"/>
              <a:t>- No matter how wide the range, the maximum is the day's volume, not some multiple of it: the book's words.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two kinds again, disagreeing: the price-based ADL rises with price, plain volume falls.</a:t>
            </a:r>
          </a:p>
          <a:p>
            <a:r>
              <a:rPr sz="1400"/>
              <a:t>- The book does not pick one. It says wait for price to confirm before acting.</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Left ellipse: the OBV falls while the ADL rises, and price goes nowhere. Right ellipse: both rise, and price trends.</a:t>
            </a:r>
          </a:p>
          <a:p>
            <a:r>
              <a:rPr sz="1400"/>
              <a:t>- Regime is the book's word for the market's mode: trending or ranging, as in Chapter 4's phases.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 is the same signed volume as the ADL's. The CMF divides its total over N bars by the volume of those bars, so it stays between minus one and one.</a:t>
            </a:r>
          </a:p>
          <a:p>
            <a:r>
              <a:rPr sz="1400"/>
              <a:t>- The book says to make a running total of the CMF, as for the ADL, and take the oscillator from that. It gives no lengths for the two EMAs; its figure prints 3 and 10.</a:t>
            </a:r>
          </a:p>
          <a:p>
            <a:r>
              <a:rPr sz="1400"/>
              <a:t>- EMA is an exponential moving average: named here, taught in Chapter 11. N is the number of periods, as in Chapter 5.</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dashed arrows from each panel up to the top: the oscillator's arrow comes first.</a:t>
            </a:r>
          </a:p>
          <a:p>
            <a:r>
              <a:rPr sz="1400"/>
              <a:t>- Oversold again: used, not defined, as in Part 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it as the book does: the volume indicator breaks first, price confirms later.</a:t>
            </a:r>
          </a:p>
          <a:p>
            <a:r>
              <a:rPr sz="1400"/>
              <a:t>- Say the gap plainly: the text says ratio; the figure's line is cumulative and goes negative. The book does not reconcile them.</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Open interest was Part 4: only futures and options have it, which is why this index is limited to them.</a:t>
            </a:r>
          </a:p>
          <a:p>
            <a:r>
              <a:rPr sz="1400"/>
              <a:t>- It may be read with any or all of the eight methods of the part's first slide.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Traders use it to find potential tops and bottoms. The book says net position and does not define net; do not supply a formula.</a:t>
            </a:r>
          </a:p>
          <a:p>
            <a:r>
              <a:rPr sz="1400"/>
              <a:t>- Hedgers were named in Chapter 1 among the participants. Commercial and non-commercial are the report's own groups.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to copy down.</a:t>
            </a:r>
          </a:p>
          <a:p>
            <a:r>
              <a:rPr sz="1400"/>
              <a:t>- The book's summary adds that volume divergence and filtering are used throughout the rest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where each answer sits, line by line: Parts 4 and 1, Part 1, Part 2, Part 3, Part 4, then Parts 4 and 5.</a:t>
            </a:r>
          </a:p>
          <a:p>
            <a:r>
              <a:rPr sz="1400"/>
              <a:t>- Question 3 is the one most likely to be answered wrongly: volume divergence ignores price's direction.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straight with them: this chapter leans on oscillators the book teaches in Chapter 8.</a:t>
            </a:r>
          </a:p>
          <a:p>
            <a:r>
              <a:rPr sz="1400"/>
              <a:t>- Next is Chapter 7, Bar Chart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6</a:t>
            </a:r>
          </a:p>
          <a:p>
            <a:pPr algn="l">
              <a:lnSpc>
                <a:spcPct val="105000"/>
              </a:lnSpc>
              <a:spcBef>
                <a:spcPts val="1000"/>
              </a:spcBef>
              <a:spcAft>
                <a:spcPts val="0"/>
              </a:spcAft>
            </a:pPr>
            <a:r>
              <a:rPr sz="4400" b="0" i="0">
                <a:solidFill>
                  <a:srgbClr val="FFFFFF"/>
                </a:solidFill>
                <a:latin typeface="Palatino"/>
              </a:rPr>
              <a:t>Volume and Open Interest</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volume action and its implications for market action.</a:t>
            </a:r>
          </a:p>
          <a:p>
            <a:pPr algn="l">
              <a:lnSpc>
                <a:spcPct val="118000"/>
              </a:lnSpc>
              <a:spcBef>
                <a:spcPts val="0"/>
              </a:spcBef>
              <a:spcAft>
                <a:spcPts val="1300"/>
              </a:spcAft>
            </a:pPr>
            <a:r>
              <a:rPr sz="2100" b="0" i="0">
                <a:solidFill>
                  <a:srgbClr val="1A1A1A"/>
                </a:solidFill>
                <a:latin typeface="Arial"/>
              </a:rPr>
              <a:t>Recognize early trend weakness via volume and open interest divergence.</a:t>
            </a:r>
          </a:p>
          <a:p>
            <a:pPr algn="l">
              <a:lnSpc>
                <a:spcPct val="118000"/>
              </a:lnSpc>
              <a:spcBef>
                <a:spcPts val="0"/>
              </a:spcBef>
              <a:spcAft>
                <a:spcPts val="1300"/>
              </a:spcAft>
            </a:pPr>
            <a:r>
              <a:rPr sz="2100" b="0" i="0">
                <a:solidFill>
                  <a:srgbClr val="1A1A1A"/>
                </a:solidFill>
                <a:latin typeface="Arial"/>
              </a:rPr>
              <a:t>Identify bullish and bearish signals on volume and open interest indicators.</a:t>
            </a:r>
          </a:p>
          <a:p>
            <a:pPr algn="l">
              <a:lnSpc>
                <a:spcPct val="118000"/>
              </a:lnSpc>
              <a:spcBef>
                <a:spcPts val="0"/>
              </a:spcBef>
              <a:spcAft>
                <a:spcPts val="1300"/>
              </a:spcAft>
            </a:pPr>
            <a:r>
              <a:rPr sz="2100" b="0" i="0">
                <a:solidFill>
                  <a:srgbClr val="1A1A1A"/>
                </a:solidFill>
                <a:latin typeface="Arial"/>
              </a:rPr>
              <a:t>Forecast potential reversals and corrections via volume cycles.</a:t>
            </a:r>
          </a:p>
          <a:p>
            <a:pPr algn="l">
              <a:lnSpc>
                <a:spcPct val="118000"/>
              </a:lnSpc>
              <a:spcBef>
                <a:spcPts val="0"/>
              </a:spcBef>
              <a:spcAft>
                <a:spcPts val="1300"/>
              </a:spcAft>
            </a:pPr>
            <a:r>
              <a:rPr sz="2100" b="0" i="0">
                <a:solidFill>
                  <a:srgbClr val="1A1A1A"/>
                </a:solidFill>
                <a:latin typeface="Arial"/>
              </a:rPr>
              <a:t>Set up effective volume filtering, for better timed entries and exits.</a:t>
            </a:r>
          </a:p>
          <a:p>
            <a:pPr algn="l">
              <a:lnSpc>
                <a:spcPct val="118000"/>
              </a:lnSpc>
              <a:spcBef>
                <a:spcPts val="0"/>
              </a:spcBef>
              <a:spcAft>
                <a:spcPts val="1300"/>
              </a:spcAft>
            </a:pPr>
            <a:r>
              <a:rPr sz="2100" b="0" i="0">
                <a:solidFill>
                  <a:srgbClr val="1A1A1A"/>
                </a:solidFill>
                <a:latin typeface="Arial"/>
              </a:rPr>
              <a:t>Read volume across successive contract months in futures markets.</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last is not taught in this chapter's text. Chapter 3 read volume across contract months.</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p.173: its six learning objectives, nearly word for word.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Confirmation and divergence.  Part 2  Timing, the VWMA, climaxes.</a:t>
            </a:r>
          </a:p>
          <a:p>
            <a:pPr algn="l">
              <a:lnSpc>
                <a:spcPct val="118000"/>
              </a:lnSpc>
              <a:spcBef>
                <a:spcPts val="0"/>
              </a:spcBef>
              <a:spcAft>
                <a:spcPts val="1300"/>
              </a:spcAft>
            </a:pPr>
            <a:r>
              <a:rPr sz="2100" b="0" i="0">
                <a:solidFill>
                  <a:srgbClr val="1A1A1A"/>
                </a:solidFill>
                <a:latin typeface="Arial"/>
              </a:rPr>
              <a:t>Part 3  Price barriers and filtering.  Part 4  Open interest, tick volume, the TRIN.</a:t>
            </a:r>
          </a:p>
          <a:p>
            <a:pPr algn="l">
              <a:lnSpc>
                <a:spcPct val="118000"/>
              </a:lnSpc>
              <a:spcBef>
                <a:spcPts val="0"/>
              </a:spcBef>
              <a:spcAft>
                <a:spcPts val="1300"/>
              </a:spcAft>
            </a:pPr>
            <a:r>
              <a:rPr sz="2100" b="0" i="0">
                <a:solidFill>
                  <a:srgbClr val="1A1A1A"/>
                </a:solidFill>
                <a:latin typeface="Arial"/>
              </a:rPr>
              <a:t>Part 5  Bar range and volume cycles.  Part 6  The volume oscillators, section 6.2.</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Parts 1 to 5 are the book's section 6.1, in its order.</a:t>
            </a:r>
          </a:p>
        </p:txBody>
      </p:sp>
      <p:sp>
        <p:nvSpPr>
          <p:cNvPr id="10" name="TextBox 9"/>
          <p:cNvSpPr txBox="1"/>
          <p:nvPr/>
        </p:nvSpPr>
        <p:spPr>
          <a:xfrm>
            <a:off x="777240" y="478967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Bottom right of every teaching slide: the book page it comes from, and whose the numbers are. Lettered charts are ours, invented, drawn where the book gives only words, a sketch or a dense chart. Peso amounts are our examples.</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parts are the book's own sub-sections, pp.173 to 208, grouped in its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Price first: volume and open interest as evidence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Price is regarded as the best indicator of potential future price behavior.</a:t>
            </a:r>
          </a:p>
          <a:p>
            <a:pPr algn="l">
              <a:lnSpc>
                <a:spcPct val="105000"/>
              </a:lnSpc>
              <a:spcBef>
                <a:spcPts val="0"/>
              </a:spcBef>
              <a:spcAft>
                <a:spcPts val="1100"/>
              </a:spcAft>
            </a:pPr>
            <a:r>
              <a:rPr sz="1700" b="0" i="0">
                <a:solidFill>
                  <a:srgbClr val="1A1A1A"/>
                </a:solidFill>
                <a:latin typeface="Arial"/>
              </a:rPr>
              <a:t>Volume and open interest offer additional evidence to corroborate bullish or bearish setups.</a:t>
            </a:r>
          </a:p>
          <a:p>
            <a:pPr algn="l">
              <a:lnSpc>
                <a:spcPct val="105000"/>
              </a:lnSpc>
              <a:spcBef>
                <a:spcPts val="0"/>
              </a:spcBef>
              <a:spcAft>
                <a:spcPts val="1100"/>
              </a:spcAft>
            </a:pPr>
            <a:r>
              <a:rPr sz="1700" b="0" i="0">
                <a:solidFill>
                  <a:srgbClr val="1A1A1A"/>
                </a:solidFill>
                <a:latin typeface="Arial"/>
              </a:rPr>
              <a:t>They can show underlying weakness, and work as timing indicators for potential breakouts.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Many novices misread declining volume as a weakness in a consolidation.</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Why that is a misreading: Part 2. Volume is defined two slides on, open interest in Part 4.</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p.173, the chapter's opening paragraph. The chart is ours, on invented prices, to show how the book's figures draw volume.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2's tenet: volume confirms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 of 18</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2: under Dow Theory, volume should expand in the direction of the trend.</a:t>
            </a:r>
          </a:p>
          <a:p>
            <a:pPr algn="l">
              <a:lnSpc>
                <a:spcPct val="105000"/>
              </a:lnSpc>
              <a:spcBef>
                <a:spcPts val="0"/>
              </a:spcBef>
              <a:spcAft>
                <a:spcPts val="1100"/>
              </a:spcAft>
            </a:pPr>
            <a:r>
              <a:rPr sz="1700" b="0" i="0">
                <a:solidFill>
                  <a:srgbClr val="1A1A1A"/>
                </a:solidFill>
                <a:latin typeface="Arial"/>
              </a:rPr>
              <a:t>Uptrend: volume rises as price rises and falls in downside retracements: bullish volume action.</a:t>
            </a:r>
          </a:p>
          <a:p>
            <a:pPr algn="l">
              <a:lnSpc>
                <a:spcPct val="105000"/>
              </a:lnSpc>
              <a:spcBef>
                <a:spcPts val="0"/>
              </a:spcBef>
              <a:spcAft>
                <a:spcPts val="1100"/>
              </a:spcAft>
            </a:pPr>
            <a:r>
              <a:rPr sz="1700" b="0" i="0">
                <a:solidFill>
                  <a:srgbClr val="1A1A1A"/>
                </a:solidFill>
                <a:latin typeface="Arial"/>
              </a:rPr>
              <a:t>Downtrend: volume rises as price declines and falls in upside retracements: bearish volume action.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3766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Volume is a supporting, or secondary, indicator.</a:t>
            </a:r>
          </a:p>
        </p:txBody>
      </p:sp>
      <p:sp>
        <p:nvSpPr>
          <p:cNvPr id="10" name="TextBox 9"/>
          <p:cNvSpPr txBox="1"/>
          <p:nvPr/>
        </p:nvSpPr>
        <p:spPr>
          <a:xfrm>
            <a:off x="777240" y="5189220"/>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Volume action contrary to this: an uptrend may potentially be bearish, a downtrend bullish.</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a:t>
            </a:r>
          </a:p>
          <a:p>
            <a:pPr algn="l">
              <a:lnSpc>
                <a:spcPct val="120000"/>
              </a:lnSpc>
              <a:spcBef>
                <a:spcPts val="0"/>
              </a:spcBef>
              <a:spcAft>
                <a:spcPts val="1400"/>
              </a:spcAft>
            </a:pPr>
            <a:r>
              <a:rPr sz="1800" b="0" i="0">
                <a:solidFill>
                  <a:srgbClr val="1A1A1A"/>
                </a:solidFill>
                <a:latin typeface="Palatino"/>
              </a:rPr>
              <a:t>Two sketches of volume confirming a trend. Top: a rising price with volume bars that grow on the rise and shrink in the downside retracement, labelled bullish volume action in an uptrend. Bottom: a falling price with volume that grows on the fall and shrinks in the upside retracement, labelled bearish volume action in a downtrend.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pp.173-174 and Figure 6.1. The tenet was a Chapter 2 term, Volume must confirm the trend.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3 of 18</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much was traded in one period: the bar under each price bar. Used since Chapter 1, first defined here.</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Five trades in one day: 0.1, 0.6, 0.3, 1.2 and 0.2 million shares. That day's volume is 2.4 million shares.</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is an indication of market participation. It is the total number of shares or contracts traded over a specific time interval.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b.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gives the definition. The trades and the share counts in the example and on the chart are 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principles: rising and declining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4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1  Rising volume: participants want to see price go higher in an uptrend, lower in a downtrend, and will buy higher or sell lower to take part.</a:t>
            </a:r>
          </a:p>
          <a:p>
            <a:pPr algn="l">
              <a:lnSpc>
                <a:spcPct val="105000"/>
              </a:lnSpc>
              <a:spcBef>
                <a:spcPts val="0"/>
              </a:spcBef>
              <a:spcAft>
                <a:spcPts val="1100"/>
              </a:spcAft>
            </a:pPr>
            <a:r>
              <a:rPr sz="1900" b="0" i="0">
                <a:solidFill>
                  <a:srgbClr val="1A1A1A"/>
                </a:solidFill>
                <a:latin typeface="Arial"/>
              </a:rPr>
              <a:t>2  Declining volume: they are losing interest, would rather buy lower in an uptrend or sell higher in a downtrend, if not exiting.</a:t>
            </a:r>
          </a:p>
        </p:txBody>
      </p:sp>
      <p:sp>
        <p:nvSpPr>
          <p:cNvPr id="8" name="Rectangle 7"/>
          <p:cNvSpPr/>
          <p:nvPr/>
        </p:nvSpPr>
        <p:spPr>
          <a:xfrm>
            <a:off x="777240" y="4928616"/>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65192"/>
            <a:ext cx="482803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Volume measures participation: how many want to take part in the move.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c.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its two basic principles, nearly word for word. The chart is ours, on invented prices.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Bullish volume and bearish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5 of 18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Bullish volume moves with price. Bearish volume moves against it.</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rallies on rising volume and dips on falling volume: bullish both times. Falling on rising volume, bouncing on falling volume: bearish.</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Both rising and declining volume are regarded as bullish volume if volume and price rise and decline together, and as bearish volume if they move in opposite directions.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d.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pp.174-175 states it for an uptrend, then a downtrend. Joined into one line here: our summary of its four sentences.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Rising volume is not always bullish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6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Declining volume does not necessarily imply bearishness. Rising volume does not imply bullishness.</a:t>
            </a:r>
          </a:p>
          <a:p>
            <a:pPr algn="l">
              <a:lnSpc>
                <a:spcPct val="105000"/>
              </a:lnSpc>
              <a:spcBef>
                <a:spcPts val="0"/>
              </a:spcBef>
              <a:spcAft>
                <a:spcPts val="1100"/>
              </a:spcAft>
            </a:pPr>
            <a:r>
              <a:rPr sz="1800" b="0" i="0">
                <a:solidFill>
                  <a:srgbClr val="1A1A1A"/>
                </a:solidFill>
                <a:latin typeface="Arial"/>
              </a:rPr>
              <a:t>The bullish or bearish sentiment of volume depends on the direction of the price.</a:t>
            </a:r>
          </a:p>
          <a:p>
            <a:pPr algn="l">
              <a:lnSpc>
                <a:spcPct val="105000"/>
              </a:lnSpc>
              <a:spcBef>
                <a:spcPts val="0"/>
              </a:spcBef>
              <a:spcAft>
                <a:spcPts val="1100"/>
              </a:spcAft>
            </a:pPr>
            <a:r>
              <a:rPr sz="1800" b="0" i="0">
                <a:solidFill>
                  <a:srgbClr val="1A1A1A"/>
                </a:solidFill>
                <a:latin typeface="Arial"/>
              </a:rPr>
              <a:t>Figure 6.2: volume expands with gold's primary bull trend and declines in the retracement. Bullish, both times.</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book calls the opposite reading a simple mistake many novices make.</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a:t>
            </a:r>
          </a:p>
          <a:p>
            <a:pPr algn="l">
              <a:lnSpc>
                <a:spcPct val="120000"/>
              </a:lnSpc>
              <a:spcBef>
                <a:spcPts val="0"/>
              </a:spcBef>
              <a:spcAft>
                <a:spcPts val="1400"/>
              </a:spcAft>
            </a:pPr>
            <a:r>
              <a:rPr sz="1800" b="0" i="0">
                <a:solidFill>
                  <a:srgbClr val="1A1A1A"/>
                </a:solidFill>
                <a:latin typeface="Palatino"/>
              </a:rPr>
              <a:t>The continuous daily chart of gold from 1989 to 2013: a primary bull trend from 2001, its volume expanding in the direction of the trend, and volume declining in the retracement at the end, labelled bullish.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and Figure 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that does not confirm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7 of 18</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Uptrend: volume decreases as price rises and increases in downside retracements. Bearish volume: a potentially weak or bearish uptrend.</a:t>
            </a:r>
          </a:p>
          <a:p>
            <a:pPr algn="l">
              <a:lnSpc>
                <a:spcPct val="105000"/>
              </a:lnSpc>
              <a:spcBef>
                <a:spcPts val="0"/>
              </a:spcBef>
              <a:spcAft>
                <a:spcPts val="1100"/>
              </a:spcAft>
            </a:pPr>
            <a:r>
              <a:rPr sz="1900" b="0" i="0">
                <a:solidFill>
                  <a:srgbClr val="1A1A1A"/>
                </a:solidFill>
                <a:latin typeface="Arial"/>
              </a:rPr>
              <a:t>Downtrend: volume decreases as price falls and increases in upside retracements. Bullish volume: a potentially bullish downtrend.</a:t>
            </a:r>
          </a:p>
        </p:txBody>
      </p:sp>
      <p:sp>
        <p:nvSpPr>
          <p:cNvPr id="8" name="Rectangle 7"/>
          <p:cNvSpPr/>
          <p:nvPr/>
        </p:nvSpPr>
        <p:spPr>
          <a:xfrm>
            <a:off x="777240" y="4928616"/>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65192"/>
            <a:ext cx="501091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The trend goes one way and its volume says the other.</a:t>
            </a:r>
          </a:p>
        </p:txBody>
      </p:sp>
      <p:sp>
        <p:nvSpPr>
          <p:cNvPr id="10" name="Rectangle 9"/>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a:t>
            </a:r>
          </a:p>
          <a:p>
            <a:pPr algn="l">
              <a:lnSpc>
                <a:spcPct val="120000"/>
              </a:lnSpc>
              <a:spcBef>
                <a:spcPts val="0"/>
              </a:spcBef>
              <a:spcAft>
                <a:spcPts val="1400"/>
              </a:spcAft>
            </a:pPr>
            <a:r>
              <a:rPr sz="1800" b="0" i="0">
                <a:solidFill>
                  <a:srgbClr val="1A1A1A"/>
                </a:solidFill>
                <a:latin typeface="Palatino"/>
              </a:rPr>
              <a:t>Two sketches of volume not confirming a trend. Top: a rising price whose volume shrinks on the rise and grows in the retracement, labelled bearish volume action in an uptrend. Bottom: a falling price whose volume shrinks on the fall and grows in the upside retracement, labelled bullish volume action in a downtrend.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and Figure 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Bullish and bearish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an uptrend, price dips in a retracement and volume declines during the dip. That volume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 volume, because volume is falling</a:t>
            </a:r>
          </a:p>
          <a:p>
            <a:pPr algn="l">
              <a:lnSpc>
                <a:spcPct val="112000"/>
              </a:lnSpc>
              <a:spcBef>
                <a:spcPts val="0"/>
              </a:spcBef>
              <a:spcAft>
                <a:spcPts val="900"/>
              </a:spcAft>
            </a:pPr>
            <a:r>
              <a:rPr sz="1500" b="0" i="0">
                <a:solidFill>
                  <a:srgbClr val="FFFFFF"/>
                </a:solidFill>
                <a:latin typeface="Arial"/>
              </a:rPr>
              <a:t>B.  Bullish volume, because price and volume fall together</a:t>
            </a:r>
          </a:p>
          <a:p>
            <a:pPr algn="l">
              <a:lnSpc>
                <a:spcPct val="112000"/>
              </a:lnSpc>
              <a:spcBef>
                <a:spcPts val="0"/>
              </a:spcBef>
              <a:spcAft>
                <a:spcPts val="900"/>
              </a:spcAft>
            </a:pPr>
            <a:r>
              <a:rPr sz="1500" b="0" i="0">
                <a:solidFill>
                  <a:srgbClr val="FFFFFF"/>
                </a:solidFill>
                <a:latin typeface="Arial"/>
              </a:rPr>
              <a:t>C.  Neither, because the trend is up</a:t>
            </a:r>
          </a:p>
          <a:p>
            <a:pPr algn="l">
              <a:lnSpc>
                <a:spcPct val="112000"/>
              </a:lnSpc>
              <a:spcBef>
                <a:spcPts val="0"/>
              </a:spcBef>
              <a:spcAft>
                <a:spcPts val="900"/>
              </a:spcAft>
            </a:pPr>
            <a:r>
              <a:rPr sz="1500" b="0" i="0">
                <a:solidFill>
                  <a:srgbClr val="FFFFFF"/>
                </a:solidFill>
                <a:latin typeface="Arial"/>
              </a:rPr>
              <a:t>D.  Volume not confirming the uptrend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Volume rises while price declines in a preexisting downtrend. The book calls this: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Bullish volume action</a:t>
            </a:r>
          </a:p>
          <a:p>
            <a:pPr algn="l">
              <a:lnSpc>
                <a:spcPct val="112000"/>
              </a:lnSpc>
              <a:spcBef>
                <a:spcPts val="0"/>
              </a:spcBef>
              <a:spcAft>
                <a:spcPts val="900"/>
              </a:spcAft>
            </a:pPr>
            <a:r>
              <a:rPr sz="1500" b="0" i="0">
                <a:solidFill>
                  <a:srgbClr val="FFFFFF"/>
                </a:solidFill>
                <a:latin typeface="Arial"/>
              </a:rPr>
              <a:t>B.  A potentially bullish downtrend</a:t>
            </a:r>
          </a:p>
          <a:p>
            <a:pPr algn="l">
              <a:lnSpc>
                <a:spcPct val="112000"/>
              </a:lnSpc>
              <a:spcBef>
                <a:spcPts val="0"/>
              </a:spcBef>
              <a:spcAft>
                <a:spcPts val="900"/>
              </a:spcAft>
            </a:pPr>
            <a:r>
              <a:rPr sz="1500" b="0" i="0">
                <a:solidFill>
                  <a:srgbClr val="FFFFFF"/>
                </a:solidFill>
                <a:latin typeface="Arial"/>
              </a:rPr>
              <a:t>C.  Volume that does not confirm the trend</a:t>
            </a:r>
          </a:p>
          <a:p>
            <a:pPr algn="l">
              <a:lnSpc>
                <a:spcPct val="112000"/>
              </a:lnSpc>
              <a:spcBef>
                <a:spcPts val="0"/>
              </a:spcBef>
              <a:spcAft>
                <a:spcPts val="900"/>
              </a:spcAft>
            </a:pPr>
            <a:r>
              <a:rPr sz="1500" b="0" i="0">
                <a:solidFill>
                  <a:srgbClr val="FFFFFF"/>
                </a:solidFill>
                <a:latin typeface="Arial"/>
              </a:rPr>
              <a:t>D.  Bearish volume action, confirming the downtrend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6 - 6.1 Confirmation  |  Check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Bullish and bearish volume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an uptrend, price dips in a retracement and volume declines during the dip. That volume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Bullish volume, because price and volume fall together</a:t>
            </a:r>
          </a:p>
          <a:p>
            <a:pPr algn="l">
              <a:lnSpc>
                <a:spcPct val="115000"/>
              </a:lnSpc>
              <a:spcBef>
                <a:spcPts val="700"/>
              </a:spcBef>
              <a:spcAft>
                <a:spcPts val="0"/>
              </a:spcAft>
            </a:pPr>
            <a:r>
              <a:rPr sz="1600" b="0" i="0">
                <a:solidFill>
                  <a:srgbClr val="1A1A1A"/>
                </a:solidFill>
                <a:latin typeface="Arial"/>
              </a:rPr>
              <a:t>Volume and price declining together is bullish volume, whatever the volume does on its own.</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Volume rises while price declines in a preexisting downtrend. The book calls this: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Bearish volume action, confirming the downtrend</a:t>
            </a:r>
          </a:p>
          <a:p>
            <a:pPr algn="l">
              <a:lnSpc>
                <a:spcPct val="115000"/>
              </a:lnSpc>
              <a:spcBef>
                <a:spcPts val="700"/>
              </a:spcBef>
              <a:spcAft>
                <a:spcPts val="0"/>
              </a:spcAft>
            </a:pPr>
            <a:r>
              <a:rPr sz="1600" b="0" i="0">
                <a:solidFill>
                  <a:srgbClr val="1A1A1A"/>
                </a:solidFill>
                <a:latin typeface="Arial"/>
              </a:rPr>
              <a:t>Volume expanding in the direction of a downtrend is bearish volume action: it confirms the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Check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divergence and volume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8 of 18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Volume falling is divergence. Volume rising is confirmation, also called convergence.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Price rises from PHP 40 to PHP 46 as volume shrinks from 3 to 1 million a day: divergence. Had it grown to 5 million: confirmation.</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divergence occurs whenever volume declines, irrespective of the direction of price. Volume convergence or confirmation occurs whenever volume rises, irrespective of the direction of price.</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e.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defines both. The chart is ours: sketches, not prices.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divergence and confirmation say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9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Divergence: participants are not interested in seeing price go further. Bearish for an uptrend, bullish for a downtrend.</a:t>
            </a:r>
          </a:p>
          <a:p>
            <a:pPr algn="l">
              <a:lnSpc>
                <a:spcPct val="105000"/>
              </a:lnSpc>
              <a:spcBef>
                <a:spcPts val="0"/>
              </a:spcBef>
              <a:spcAft>
                <a:spcPts val="1100"/>
              </a:spcAft>
            </a:pPr>
            <a:r>
              <a:rPr sz="1800" b="0" i="0">
                <a:solidFill>
                  <a:srgbClr val="1A1A1A"/>
                </a:solidFill>
                <a:latin typeface="Arial"/>
              </a:rPr>
              <a:t>Confirmation: they are interested in taking part in the move. Bullish for an uptrend, bearish for a downtrend.</a:t>
            </a:r>
          </a:p>
        </p:txBody>
      </p:sp>
      <p:sp>
        <p:nvSpPr>
          <p:cNvPr id="8" name="Rectangle 7"/>
          <p:cNvSpPr/>
          <p:nvPr/>
        </p:nvSpPr>
        <p:spPr>
          <a:xfrm>
            <a:off x="777240" y="4224528"/>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61104"/>
            <a:ext cx="482803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Confirmation is an early indication of a potential continuation; divergence, of a potential reversal.</a:t>
            </a:r>
          </a:p>
        </p:txBody>
      </p:sp>
      <p:sp>
        <p:nvSpPr>
          <p:cNvPr id="10" name="TextBox 9"/>
          <p:cNvSpPr txBox="1"/>
          <p:nvPr/>
        </p:nvSpPr>
        <p:spPr>
          <a:xfrm>
            <a:off x="777240" y="544068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divergence always indicates potential weakness in an existing trend, confirmation always potential strength.</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f.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pp.175-176. The chart is ours, on invented prices.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Bullish and bearish divergence and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10 of 18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Four names: is volume falling or rising, and does it move with price or against it?</a:t>
            </a:r>
          </a:p>
        </p:txBody>
      </p:sp>
      <p:sp>
        <p:nvSpPr>
          <p:cNvPr id="10" name="Rectangle 9"/>
          <p:cNvSpPr/>
          <p:nvPr/>
        </p:nvSpPr>
        <p:spPr>
          <a:xfrm>
            <a:off x="777240" y="323392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94360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Both falling: bullish divergence. Both rising: bullish confirmation. Volume down, price up: bearish divergence. Volume up, price down: bearish confirmation.</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9436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Bullish divergence can only occur in a downtrend, a potential upside reversal; bearish divergence only in an uptrend, a potential downside reversal.</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a:t>
            </a:r>
          </a:p>
          <a:p>
            <a:pPr algn="l">
              <a:lnSpc>
                <a:spcPct val="120000"/>
              </a:lnSpc>
              <a:spcBef>
                <a:spcPts val="0"/>
              </a:spcBef>
              <a:spcAft>
                <a:spcPts val="1400"/>
              </a:spcAft>
            </a:pPr>
            <a:r>
              <a:rPr sz="1800" b="0" i="0">
                <a:solidFill>
                  <a:srgbClr val="1A1A1A"/>
                </a:solidFill>
                <a:latin typeface="Palatino"/>
              </a:rPr>
              <a:t>Four columns, each a price path over a supporting series. Bearish divergence: price rising, the supporting series falling. Bullish confirmation: both rising. Bearish confirmation: price falling, the supporting series rising. Bullish divergence: both falling. The supporting series is listed as volume bars, a volume moving average, open interest, and the ATR in brackets.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pp.176-178 and Figure 6.4. The four names are its p.178 summary. The ATR on the figure is in no sentence of the text.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Not the divergence Chapters 4 and 5 drew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11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Chapters 4 and 5: standard divergence. Price makes a higher peak while an oscillator, the MACD or the bar stochastic, makes a lower one.</a:t>
            </a:r>
          </a:p>
          <a:p>
            <a:pPr algn="l">
              <a:lnSpc>
                <a:spcPct val="105000"/>
              </a:lnSpc>
              <a:spcBef>
                <a:spcPts val="0"/>
              </a:spcBef>
              <a:spcAft>
                <a:spcPts val="1100"/>
              </a:spcAft>
            </a:pPr>
            <a:r>
              <a:rPr sz="1700" b="0" i="0">
                <a:solidFill>
                  <a:srgbClr val="1A1A1A"/>
                </a:solidFill>
                <a:latin typeface="Arial"/>
              </a:rPr>
              <a:t>Volume divergence is volume declining, whatever price does.</a:t>
            </a:r>
          </a:p>
          <a:p>
            <a:pPr algn="l">
              <a:lnSpc>
                <a:spcPct val="105000"/>
              </a:lnSpc>
              <a:spcBef>
                <a:spcPts val="0"/>
              </a:spcBef>
              <a:spcAft>
                <a:spcPts val="1100"/>
              </a:spcAft>
            </a:pPr>
            <a:r>
              <a:rPr sz="1700" b="0" i="0">
                <a:solidFill>
                  <a:srgbClr val="1A1A1A"/>
                </a:solidFill>
                <a:latin typeface="Arial"/>
              </a:rPr>
              <a:t>Price's direction still decides bullish or bearish.</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Volume has no reverse divergence classification.</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 gave the volume case: falling price on decreasing volume. Reverse divergence: Chapter 9.</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g.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A recall of this course's Chapters 4 and 5, against the book's p.176. The chart is ours, on invented prices.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volume divergence: Isis Pharmaceuticals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12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Isis Pharmaceuticals traces out a bullish rounding bottom.</a:t>
            </a:r>
          </a:p>
          <a:p>
            <a:pPr algn="l">
              <a:lnSpc>
                <a:spcPct val="105000"/>
              </a:lnSpc>
              <a:spcBef>
                <a:spcPts val="0"/>
              </a:spcBef>
              <a:spcAft>
                <a:spcPts val="1100"/>
              </a:spcAft>
            </a:pPr>
            <a:r>
              <a:rPr sz="2000" b="0" i="0">
                <a:solidFill>
                  <a:srgbClr val="1A1A1A"/>
                </a:solidFill>
                <a:latin typeface="Arial"/>
              </a:rPr>
              <a:t>As price falls, volume falls with it, twice: bullish volume divergence.</a:t>
            </a:r>
          </a:p>
        </p:txBody>
      </p:sp>
      <p:sp>
        <p:nvSpPr>
          <p:cNvPr id="8" name="Rectangle 7"/>
          <p:cNvSpPr/>
          <p:nvPr/>
        </p:nvSpPr>
        <p:spPr>
          <a:xfrm>
            <a:off x="777240" y="3776472"/>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82803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Divergence provides additional evidence of a bullish chart formation.</a:t>
            </a:r>
          </a:p>
        </p:txBody>
      </p:sp>
      <p:sp>
        <p:nvSpPr>
          <p:cNvPr id="10" name="TextBox 9"/>
          <p:cNvSpPr txBox="1"/>
          <p:nvPr/>
        </p:nvSpPr>
        <p:spPr>
          <a:xfrm>
            <a:off x="777240" y="508406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chart's own note: Isis penetrated the previous day's close though the Dow Jones Industrial Average fell 219 points.</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6.5</a:t>
            </a:r>
          </a:p>
          <a:p>
            <a:pPr algn="l">
              <a:lnSpc>
                <a:spcPct val="120000"/>
              </a:lnSpc>
              <a:spcBef>
                <a:spcPts val="0"/>
              </a:spcBef>
              <a:spcAft>
                <a:spcPts val="1400"/>
              </a:spcAft>
            </a:pPr>
            <a:r>
              <a:rPr sz="1800" b="0" i="0">
                <a:solidFill>
                  <a:srgbClr val="1A1A1A"/>
                </a:solidFill>
                <a:latin typeface="Palatino"/>
              </a:rPr>
              <a:t>An intraday chart of Isis Pharmaceuticals: price falls steeply and curves into a larger rounding bottom pattern, and the volume panel under it carries two dashed lines falling to the right, each labelled bullish volume divergence.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6.5 -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p.177 and Figure 6.5. Rounding bottom: named in Chapter 4. Chapter 4's Figure 4.18 was an intraday chart of this stock too.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Ten periods of bullish volume: gold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13 of 18</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Periods 1, 3, 7 and 9: bullish confirmation. 4 and 6: bullish divergence. 5: volume flat.</a:t>
            </a:r>
          </a:p>
          <a:p>
            <a:pPr algn="l">
              <a:lnSpc>
                <a:spcPct val="105000"/>
              </a:lnSpc>
              <a:spcBef>
                <a:spcPts val="0"/>
              </a:spcBef>
              <a:spcAft>
                <a:spcPts val="1100"/>
              </a:spcAft>
            </a:pPr>
            <a:r>
              <a:rPr sz="1700" b="0" i="0">
                <a:solidFill>
                  <a:srgbClr val="1A1A1A"/>
                </a:solidFill>
                <a:latin typeface="Arial"/>
              </a:rPr>
              <a:t>2, 8 and 10: volume declines in a consolidation, timing the breakout (why: Part 2).</a:t>
            </a:r>
          </a:p>
        </p:txBody>
      </p:sp>
      <p:sp>
        <p:nvSpPr>
          <p:cNvPr id="8" name="Rectangle 7"/>
          <p:cNvSpPr/>
          <p:nvPr/>
        </p:nvSpPr>
        <p:spPr>
          <a:xfrm>
            <a:off x="777240" y="385648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93058"/>
            <a:ext cx="46451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At the end of 2, 8 and 10, price breaks out as volume reaches its minimum.</a:t>
            </a:r>
          </a:p>
        </p:txBody>
      </p:sp>
      <p:sp>
        <p:nvSpPr>
          <p:cNvPr id="10" name="TextBox 9"/>
          <p:cNvSpPr txBox="1"/>
          <p:nvPr/>
        </p:nvSpPr>
        <p:spPr>
          <a:xfrm>
            <a:off x="777240" y="5026914"/>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bullish divergence occurs only in a downtrend; 4 and 6 are dips in this uptrend. Our reading, price falling for any stretch: no check rests on it.</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6.6</a:t>
            </a:r>
          </a:p>
          <a:p>
            <a:pPr algn="l">
              <a:lnSpc>
                <a:spcPct val="120000"/>
              </a:lnSpc>
              <a:spcBef>
                <a:spcPts val="0"/>
              </a:spcBef>
              <a:spcAft>
                <a:spcPts val="1400"/>
              </a:spcAft>
            </a:pPr>
            <a:r>
              <a:rPr sz="1800" b="0" i="0">
                <a:solidFill>
                  <a:srgbClr val="1A1A1A"/>
                </a:solidFill>
                <a:latin typeface="Palatino"/>
              </a:rPr>
              <a:t>The SPDR Gold Trust over about four years, split by dashed lines into ten numbered periods, with arrows on the volume panel showing volume rising or falling in each, under the label volume expanding in the direction of the existing 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p.178 and Figure 6.6. Its caption says a daily chart; the chart itself is labelled weekly.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uptrend, period by period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14 of 18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Price rises, volume rises: bullish confirmation.</a:t>
            </a:r>
          </a:p>
          <a:p>
            <a:pPr algn="l">
              <a:lnSpc>
                <a:spcPct val="105000"/>
              </a:lnSpc>
              <a:spcBef>
                <a:spcPts val="0"/>
              </a:spcBef>
              <a:spcAft>
                <a:spcPts val="1100"/>
              </a:spcAft>
            </a:pPr>
            <a:r>
              <a:rPr sz="1700" b="0" i="0">
                <a:solidFill>
                  <a:srgbClr val="1A1A1A"/>
                </a:solidFill>
                <a:latin typeface="Arial"/>
              </a:rPr>
              <a:t>2  Price dips, volume falls: bullish divergence.</a:t>
            </a:r>
          </a:p>
          <a:p>
            <a:pPr algn="l">
              <a:lnSpc>
                <a:spcPct val="105000"/>
              </a:lnSpc>
              <a:spcBef>
                <a:spcPts val="0"/>
              </a:spcBef>
              <a:spcAft>
                <a:spcPts val="1100"/>
              </a:spcAft>
            </a:pPr>
            <a:r>
              <a:rPr sz="1700" b="0" i="0">
                <a:solidFill>
                  <a:srgbClr val="1A1A1A"/>
                </a:solidFill>
                <a:latin typeface="Arial"/>
              </a:rPr>
              <a:t>3  Price moves sideways, volume falls to its minimum: a consolidation.</a:t>
            </a:r>
          </a:p>
          <a:p>
            <a:pPr algn="l">
              <a:lnSpc>
                <a:spcPct val="105000"/>
              </a:lnSpc>
              <a:spcBef>
                <a:spcPts val="0"/>
              </a:spcBef>
              <a:spcAft>
                <a:spcPts val="1100"/>
              </a:spcAft>
            </a:pPr>
            <a:r>
              <a:rPr sz="1700" b="0" i="0">
                <a:solidFill>
                  <a:srgbClr val="1A1A1A"/>
                </a:solidFill>
                <a:latin typeface="Arial"/>
              </a:rPr>
              <a:t>4  Price breaks out and rises, volume rises: bullish confirmation.</a:t>
            </a:r>
          </a:p>
        </p:txBody>
      </p:sp>
      <p:sp>
        <p:nvSpPr>
          <p:cNvPr id="8" name="Rectangle 7"/>
          <p:cNvSpPr/>
          <p:nvPr/>
        </p:nvSpPr>
        <p:spPr>
          <a:xfrm>
            <a:off x="777240" y="4729734"/>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66310"/>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1, 2 and 4 are bullish volume. In 3 price moves sideways: no reading, Part 2.</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Figure 6.6's readings on one invented uptrend, so each period can be seen. The periods' lengths and volumes are ours.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Divergence and confirmation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 and volume are declining together. By the book's summary this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 confirmation</a:t>
            </a:r>
          </a:p>
          <a:p>
            <a:pPr algn="l">
              <a:lnSpc>
                <a:spcPct val="112000"/>
              </a:lnSpc>
              <a:spcBef>
                <a:spcPts val="0"/>
              </a:spcBef>
              <a:spcAft>
                <a:spcPts val="900"/>
              </a:spcAft>
            </a:pPr>
            <a:r>
              <a:rPr sz="1500" b="0" i="0">
                <a:solidFill>
                  <a:srgbClr val="FFFFFF"/>
                </a:solidFill>
                <a:latin typeface="Arial"/>
              </a:rPr>
              <a:t>B.  Bearish divergence</a:t>
            </a:r>
          </a:p>
          <a:p>
            <a:pPr algn="l">
              <a:lnSpc>
                <a:spcPct val="112000"/>
              </a:lnSpc>
              <a:spcBef>
                <a:spcPts val="0"/>
              </a:spcBef>
              <a:spcAft>
                <a:spcPts val="900"/>
              </a:spcAft>
            </a:pPr>
            <a:r>
              <a:rPr sz="1500" b="0" i="0">
                <a:solidFill>
                  <a:srgbClr val="FFFFFF"/>
                </a:solidFill>
                <a:latin typeface="Arial"/>
              </a:rPr>
              <a:t>C.  Bullish divergence</a:t>
            </a:r>
          </a:p>
          <a:p>
            <a:pPr algn="l">
              <a:lnSpc>
                <a:spcPct val="112000"/>
              </a:lnSpc>
              <a:spcBef>
                <a:spcPts val="0"/>
              </a:spcBef>
              <a:spcAft>
                <a:spcPts val="900"/>
              </a:spcAft>
            </a:pPr>
            <a:r>
              <a:rPr sz="1500" b="0" i="0">
                <a:solidFill>
                  <a:srgbClr val="FFFFFF"/>
                </a:solidFill>
                <a:latin typeface="Arial"/>
              </a:rPr>
              <a:t>D.  Bullish confirmation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statement about volume divergence is the book's?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occurs whenever volume declines, irrespective of the direction of price</a:t>
            </a:r>
          </a:p>
          <a:p>
            <a:pPr algn="l">
              <a:lnSpc>
                <a:spcPct val="112000"/>
              </a:lnSpc>
              <a:spcBef>
                <a:spcPts val="0"/>
              </a:spcBef>
              <a:spcAft>
                <a:spcPts val="900"/>
              </a:spcAft>
            </a:pPr>
            <a:r>
              <a:rPr sz="1500" b="0" i="0">
                <a:solidFill>
                  <a:srgbClr val="FFFFFF"/>
                </a:solidFill>
                <a:latin typeface="Arial"/>
              </a:rPr>
              <a:t>B.  It needs price to make a higher peak while volume makes a lower one</a:t>
            </a:r>
          </a:p>
          <a:p>
            <a:pPr algn="l">
              <a:lnSpc>
                <a:spcPct val="112000"/>
              </a:lnSpc>
              <a:spcBef>
                <a:spcPts val="0"/>
              </a:spcBef>
              <a:spcAft>
                <a:spcPts val="900"/>
              </a:spcAft>
            </a:pPr>
            <a:r>
              <a:rPr sz="1500" b="0" i="0">
                <a:solidFill>
                  <a:srgbClr val="FFFFFF"/>
                </a:solidFill>
                <a:latin typeface="Arial"/>
              </a:rPr>
              <a:t>C.  It has a reverse divergence classification</a:t>
            </a:r>
          </a:p>
          <a:p>
            <a:pPr algn="l">
              <a:lnSpc>
                <a:spcPct val="112000"/>
              </a:lnSpc>
              <a:spcBef>
                <a:spcPts val="0"/>
              </a:spcBef>
              <a:spcAft>
                <a:spcPts val="900"/>
              </a:spcAft>
            </a:pPr>
            <a:r>
              <a:rPr sz="1500" b="0" i="0">
                <a:solidFill>
                  <a:srgbClr val="FFFFFF"/>
                </a:solidFill>
                <a:latin typeface="Arial"/>
              </a:rPr>
              <a:t>D.  It always indicates potential strength in a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6 - 6.1 Confirmation  |  Check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Divergence and confirmation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Price and volume are declining together. By the book's summary this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Bullish divergence</a:t>
            </a:r>
          </a:p>
          <a:p>
            <a:pPr algn="l">
              <a:lnSpc>
                <a:spcPct val="115000"/>
              </a:lnSpc>
              <a:spcBef>
                <a:spcPts val="700"/>
              </a:spcBef>
              <a:spcAft>
                <a:spcPts val="0"/>
              </a:spcAft>
            </a:pPr>
            <a:r>
              <a:rPr sz="1600" b="0" i="0">
                <a:solidFill>
                  <a:srgbClr val="1A1A1A"/>
                </a:solidFill>
                <a:latin typeface="Arial"/>
              </a:rPr>
              <a:t>Volume declining is divergence, and volume moving with price is bullish: bullish divergence.</a:t>
            </a:r>
          </a:p>
        </p:txBody>
      </p:sp>
      <p:sp>
        <p:nvSpPr>
          <p:cNvPr id="10" name="Rectangle 9"/>
          <p:cNvSpPr/>
          <p:nvPr/>
        </p:nvSpPr>
        <p:spPr>
          <a:xfrm>
            <a:off x="777240" y="3082036"/>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statement about volume divergence is the book's?</a:t>
            </a:r>
          </a:p>
        </p:txBody>
      </p:sp>
      <p:sp>
        <p:nvSpPr>
          <p:cNvPr id="13" name="TextBox 12"/>
          <p:cNvSpPr txBox="1"/>
          <p:nvPr/>
        </p:nvSpPr>
        <p:spPr>
          <a:xfrm>
            <a:off x="1143000" y="380949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It occurs whenever volume declines, irrespective of the direction of price</a:t>
            </a:r>
          </a:p>
          <a:p>
            <a:pPr algn="l">
              <a:lnSpc>
                <a:spcPct val="115000"/>
              </a:lnSpc>
              <a:spcBef>
                <a:spcPts val="700"/>
              </a:spcBef>
              <a:spcAft>
                <a:spcPts val="0"/>
              </a:spcAft>
            </a:pPr>
            <a:r>
              <a:rPr sz="1600" b="0" i="0">
                <a:solidFill>
                  <a:srgbClr val="1A1A1A"/>
                </a:solidFill>
                <a:latin typeface="Arial"/>
              </a:rPr>
              <a:t>Volume divergence is volume declining, whatever price does. No reverse classification, and it indicates weakness.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Check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Price-based and non-price-based volume oscillators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15 of 18</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Oscillator: an indicator in a panel under price. Non-price-based: volume only. Price-based: price built in.</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Volume bars count shares. A line adding volume on up closes, subtracting on down closes, uses price.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Price-based volume oscillators incorporate price data in their construction, whereas non-price-based volume oscillators only incorporate volume data in their construction.</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i.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pp.178-179 defines both. The chart is ours, on invented prices; its OBV line is computed by the rule taught in Part 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two lists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16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Price-based: On Balance Volume (OBV), Accumulation/Distribution Line (ADL), Chaikin Money Flow, Chaikin Oscillator, Demand Index, Herrick Payoff Index.</a:t>
            </a:r>
          </a:p>
          <a:p>
            <a:pPr algn="l">
              <a:lnSpc>
                <a:spcPct val="118000"/>
              </a:lnSpc>
              <a:spcBef>
                <a:spcPts val="0"/>
              </a:spcBef>
              <a:spcAft>
                <a:spcPts val="1300"/>
              </a:spcAft>
            </a:pPr>
            <a:r>
              <a:rPr sz="2100" b="0" i="0">
                <a:solidFill>
                  <a:srgbClr val="1A1A1A"/>
                </a:solidFill>
                <a:latin typeface="Arial"/>
              </a:rPr>
              <a:t>Non-price-based: standard volume bars, smoothed volume, detrended volume, rate of change of volume (ROC volume), percentage volume oscillator (PVO).</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Reading divergence on one kind differs from reading it on the other.</a:t>
            </a:r>
          </a:p>
        </p:txBody>
      </p:sp>
      <p:sp>
        <p:nvSpPr>
          <p:cNvPr id="10" name="TextBox 9"/>
          <p:cNvSpPr txBox="1"/>
          <p:nvPr/>
        </p:nvSpPr>
        <p:spPr>
          <a:xfrm>
            <a:off x="777240" y="460679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Taught later: OBV, ADL, the two Chaikin indicators and the Herrick index in Part 6, smoothed volume in Part 3. The Demand Index, detrended volume, ROC volume and the PVO are named and never explained.</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its two lists, as printed. Where each is taught is this course's note.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divergence on the two kinds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17 of 18</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Bearish divergence and bullish confirmation are read the same way on both kinds.</a:t>
            </a:r>
          </a:p>
          <a:p>
            <a:pPr algn="l">
              <a:lnSpc>
                <a:spcPct val="105000"/>
              </a:lnSpc>
              <a:spcBef>
                <a:spcPts val="0"/>
              </a:spcBef>
              <a:spcAft>
                <a:spcPts val="1100"/>
              </a:spcAft>
            </a:pPr>
            <a:r>
              <a:rPr sz="1700" b="0" i="0">
                <a:solidFill>
                  <a:srgbClr val="1A1A1A"/>
                </a:solidFill>
                <a:latin typeface="Arial"/>
              </a:rPr>
              <a:t>Bullish divergence: price falls. Volume falls on a non-price-based one; a price-based one rises.</a:t>
            </a:r>
          </a:p>
          <a:p>
            <a:pPr algn="l">
              <a:lnSpc>
                <a:spcPct val="105000"/>
              </a:lnSpc>
              <a:spcBef>
                <a:spcPts val="0"/>
              </a:spcBef>
              <a:spcAft>
                <a:spcPts val="1100"/>
              </a:spcAft>
            </a:pPr>
            <a:r>
              <a:rPr sz="1700" b="0" i="0">
                <a:solidFill>
                  <a:srgbClr val="1A1A1A"/>
                </a:solidFill>
                <a:latin typeface="Arial"/>
              </a:rPr>
              <a:t>Bearish confirmation: price falls. Volume rises on a non-price-based one; a price-based one falls.</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0109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price-based oscillator diverges by moving against price; plain volume, by falling.</a:t>
            </a:r>
          </a:p>
        </p:txBody>
      </p:sp>
      <p:sp>
        <p:nvSpPr>
          <p:cNvPr id="10" name="Rectangle 9"/>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6.7</a:t>
            </a:r>
          </a:p>
          <a:p>
            <a:pPr algn="l">
              <a:lnSpc>
                <a:spcPct val="120000"/>
              </a:lnSpc>
              <a:spcBef>
                <a:spcPts val="0"/>
              </a:spcBef>
              <a:spcAft>
                <a:spcPts val="1400"/>
              </a:spcAft>
            </a:pPr>
            <a:r>
              <a:rPr sz="1800" b="0" i="0">
                <a:solidFill>
                  <a:srgbClr val="1A1A1A"/>
                </a:solidFill>
                <a:latin typeface="Palatino"/>
              </a:rPr>
              <a:t>Eight pairs of arrows, a price arrow over a volume arrow, in four boxes: divergence and confirmation, each for non-price-based and price-based volume oscillators. The two kinds differ only in bullish divergence and bearish confirmation, where the price-based volume arrow points the other way.</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6.7 -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and Figure 6.7. The last line is our summary of the figure's eight arrows.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Both kinds on one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18 of 18</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Volume and smoothed volume, non-price-based: bearish divergence as the euro trust rises.</a:t>
            </a:r>
          </a:p>
          <a:p>
            <a:pPr algn="l">
              <a:lnSpc>
                <a:spcPct val="105000"/>
              </a:lnSpc>
              <a:spcBef>
                <a:spcPts val="0"/>
              </a:spcBef>
              <a:spcAft>
                <a:spcPts val="1100"/>
              </a:spcAft>
            </a:pPr>
            <a:r>
              <a:rPr sz="2000" b="0" i="0">
                <a:solidFill>
                  <a:srgbClr val="1A1A1A"/>
                </a:solidFill>
                <a:latin typeface="Arial"/>
              </a:rPr>
              <a:t>The detrended PVO, non-price-based: bearish divergence too.</a:t>
            </a:r>
          </a:p>
          <a:p>
            <a:pPr algn="l">
              <a:lnSpc>
                <a:spcPct val="105000"/>
              </a:lnSpc>
              <a:spcBef>
                <a:spcPts val="0"/>
              </a:spcBef>
              <a:spcAft>
                <a:spcPts val="1100"/>
              </a:spcAft>
            </a:pPr>
            <a:r>
              <a:rPr sz="2000" b="0" i="0">
                <a:solidFill>
                  <a:srgbClr val="1A1A1A"/>
                </a:solidFill>
                <a:latin typeface="Arial"/>
              </a:rPr>
              <a:t>The ADL, price-based: bullish confirmation, rising with price.</a:t>
            </a:r>
          </a:p>
        </p:txBody>
      </p:sp>
      <p:sp>
        <p:nvSpPr>
          <p:cNvPr id="8" name="Rectangle 7"/>
          <p:cNvSpPr/>
          <p:nvPr/>
        </p:nvSpPr>
        <p:spPr>
          <a:xfrm>
            <a:off x="777240" y="4581144"/>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7720"/>
            <a:ext cx="61081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same rise, read two ways: each kind by its own rule.</a:t>
            </a:r>
          </a:p>
        </p:txBody>
      </p:sp>
      <p:sp>
        <p:nvSpPr>
          <p:cNvPr id="10" name="Rectangle 9"/>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6.8</a:t>
            </a:r>
          </a:p>
          <a:p>
            <a:pPr algn="l">
              <a:lnSpc>
                <a:spcPct val="120000"/>
              </a:lnSpc>
              <a:spcBef>
                <a:spcPts val="0"/>
              </a:spcBef>
              <a:spcAft>
                <a:spcPts val="1400"/>
              </a:spcAft>
            </a:pPr>
            <a:r>
              <a:rPr sz="1800" b="0" i="0">
                <a:solidFill>
                  <a:srgbClr val="1A1A1A"/>
                </a:solidFill>
                <a:latin typeface="Palatino"/>
              </a:rPr>
              <a:t>A daily chart of the Currency Shares Euro Trust rising, with three panels under it: volume with a smoothed line, labelled bearish divergence; a detrended volume oscillator, the PVO, also labelled bearish divergence; and the accumulation distribution line, labelled bullish confirmation.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6.8 -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and Figure 6.8. PVO and detrending are on the figure and not explained by the book.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two kinds of volume oscillator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these is a non-price-based volume oscillator?</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 Balance Volume</a:t>
            </a:r>
          </a:p>
          <a:p>
            <a:pPr algn="l">
              <a:lnSpc>
                <a:spcPct val="112000"/>
              </a:lnSpc>
              <a:spcBef>
                <a:spcPts val="0"/>
              </a:spcBef>
              <a:spcAft>
                <a:spcPts val="900"/>
              </a:spcAft>
            </a:pPr>
            <a:r>
              <a:rPr sz="1500" b="0" i="0">
                <a:solidFill>
                  <a:srgbClr val="FFFFFF"/>
                </a:solidFill>
                <a:latin typeface="Arial"/>
              </a:rPr>
              <a:t>B.  Chaikin Money Flow</a:t>
            </a:r>
          </a:p>
          <a:p>
            <a:pPr algn="l">
              <a:lnSpc>
                <a:spcPct val="112000"/>
              </a:lnSpc>
              <a:spcBef>
                <a:spcPts val="0"/>
              </a:spcBef>
              <a:spcAft>
                <a:spcPts val="900"/>
              </a:spcAft>
            </a:pPr>
            <a:r>
              <a:rPr sz="1500" b="0" i="0">
                <a:solidFill>
                  <a:srgbClr val="FFFFFF"/>
                </a:solidFill>
                <a:latin typeface="Arial"/>
              </a:rPr>
              <a:t>C.  Smoothed volume</a:t>
            </a:r>
          </a:p>
          <a:p>
            <a:pPr algn="l">
              <a:lnSpc>
                <a:spcPct val="112000"/>
              </a:lnSpc>
              <a:spcBef>
                <a:spcPts val="0"/>
              </a:spcBef>
              <a:spcAft>
                <a:spcPts val="900"/>
              </a:spcAft>
            </a:pPr>
            <a:r>
              <a:rPr sz="1500" b="0" i="0">
                <a:solidFill>
                  <a:srgbClr val="FFFFFF"/>
                </a:solidFill>
                <a:latin typeface="Arial"/>
              </a:rPr>
              <a:t>D.  Accumulation/Distribution Line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 falls while a price-based volume oscillator rises. On the book's reading this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 confirmation</a:t>
            </a:r>
          </a:p>
          <a:p>
            <a:pPr algn="l">
              <a:lnSpc>
                <a:spcPct val="112000"/>
              </a:lnSpc>
              <a:spcBef>
                <a:spcPts val="0"/>
              </a:spcBef>
              <a:spcAft>
                <a:spcPts val="900"/>
              </a:spcAft>
            </a:pPr>
            <a:r>
              <a:rPr sz="1500" b="0" i="0">
                <a:solidFill>
                  <a:srgbClr val="FFFFFF"/>
                </a:solidFill>
                <a:latin typeface="Arial"/>
              </a:rPr>
              <a:t>B.  Bullish divergence</a:t>
            </a:r>
          </a:p>
          <a:p>
            <a:pPr algn="l">
              <a:lnSpc>
                <a:spcPct val="112000"/>
              </a:lnSpc>
              <a:spcBef>
                <a:spcPts val="0"/>
              </a:spcBef>
              <a:spcAft>
                <a:spcPts val="900"/>
              </a:spcAft>
            </a:pPr>
            <a:r>
              <a:rPr sz="1500" b="0" i="0">
                <a:solidFill>
                  <a:srgbClr val="FFFFFF"/>
                </a:solidFill>
                <a:latin typeface="Arial"/>
              </a:rPr>
              <a:t>C.  Bearish divergence</a:t>
            </a:r>
          </a:p>
          <a:p>
            <a:pPr algn="l">
              <a:lnSpc>
                <a:spcPct val="112000"/>
              </a:lnSpc>
              <a:spcBef>
                <a:spcPts val="0"/>
              </a:spcBef>
              <a:spcAft>
                <a:spcPts val="900"/>
              </a:spcAft>
            </a:pPr>
            <a:r>
              <a:rPr sz="1500" b="0" i="0">
                <a:solidFill>
                  <a:srgbClr val="FFFFFF"/>
                </a:solidFill>
                <a:latin typeface="Arial"/>
              </a:rPr>
              <a:t>D.  Bullish confirmation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6 - 6.1 Confirmation  |  Check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two kinds of volume oscillator</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of these is a non-price-based volume oscillator?</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Smoothed volume</a:t>
            </a:r>
          </a:p>
          <a:p>
            <a:pPr algn="l">
              <a:lnSpc>
                <a:spcPct val="115000"/>
              </a:lnSpc>
              <a:spcBef>
                <a:spcPts val="700"/>
              </a:spcBef>
              <a:spcAft>
                <a:spcPts val="0"/>
              </a:spcAft>
            </a:pPr>
            <a:r>
              <a:rPr sz="1600" b="0" i="0">
                <a:solidFill>
                  <a:srgbClr val="1A1A1A"/>
                </a:solidFill>
                <a:latin typeface="Arial"/>
              </a:rPr>
              <a:t>Smoothed volume uses volume data only. The other three incorporate price.</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Price falls while a price-based volume oscillator rises. On the book's reading this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Bullish divergence</a:t>
            </a:r>
          </a:p>
          <a:p>
            <a:pPr algn="l">
              <a:lnSpc>
                <a:spcPct val="115000"/>
              </a:lnSpc>
              <a:spcBef>
                <a:spcPts val="700"/>
              </a:spcBef>
              <a:spcAft>
                <a:spcPts val="0"/>
              </a:spcAft>
            </a:pPr>
            <a:r>
              <a:rPr sz="1600" b="0" i="0">
                <a:solidFill>
                  <a:srgbClr val="1A1A1A"/>
                </a:solidFill>
                <a:latin typeface="Arial"/>
              </a:rPr>
              <a:t>On a price-based oscillator, bullish divergence is price falling while the oscillator rises.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Check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as a timing indicator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When volume nears its lowest historical level, a breakout from the consolidation is expected.</a:t>
            </a:r>
          </a:p>
          <a:p>
            <a:pPr algn="l">
              <a:lnSpc>
                <a:spcPct val="105000"/>
              </a:lnSpc>
              <a:spcBef>
                <a:spcPts val="0"/>
              </a:spcBef>
              <a:spcAft>
                <a:spcPts val="1100"/>
              </a:spcAft>
            </a:pPr>
            <a:r>
              <a:rPr sz="1700" b="0" i="0">
                <a:solidFill>
                  <a:srgbClr val="1A1A1A"/>
                </a:solidFill>
                <a:latin typeface="Arial"/>
              </a:rPr>
              <a:t>Why: most who wanted to buy have bought; most who wanted to sell have sold.</a:t>
            </a:r>
          </a:p>
          <a:p>
            <a:pPr algn="l">
              <a:lnSpc>
                <a:spcPct val="105000"/>
              </a:lnSpc>
              <a:spcBef>
                <a:spcPts val="0"/>
              </a:spcBef>
              <a:spcAft>
                <a:spcPts val="1100"/>
              </a:spcAft>
            </a:pPr>
            <a:r>
              <a:rPr sz="1700" b="0" i="0">
                <a:solidFill>
                  <a:srgbClr val="1A1A1A"/>
                </a:solidFill>
                <a:latin typeface="Arial"/>
              </a:rPr>
              <a:t>Stop orders build up above and below the range: once triggered, the catalyst.</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No divergence reading in a range: price moves sideways.</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So falling volume in a range is not weakness. Breakout here: out of a range, as in Chapters 2 and 4.</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the reason is the book's. Stop orders: Chapters 1 and 5. The chart is ours, on invented prices; where the stops sit is our drawing of the book's sentence.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breakout signal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 of 17</a:t>
            </a:r>
          </a:p>
        </p:txBody>
      </p:sp>
      <p:sp>
        <p:nvSpPr>
          <p:cNvPr id="8" name="Rectangle 7"/>
          <p:cNvSpPr/>
          <p:nvPr/>
        </p:nvSpPr>
        <p:spPr>
          <a:xfrm>
            <a:off x="777240" y="2258568"/>
            <a:ext cx="64008" cy="7498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309360" cy="8595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800" b="1" i="0">
                <a:solidFill>
                  <a:srgbClr val="1A1A1A"/>
                </a:solidFill>
                <a:latin typeface="Arial"/>
              </a:rPr>
              <a:t>Volume sinks to its lowest level inside a range: expect price to leave the range soon, either way.</a:t>
            </a:r>
          </a:p>
        </p:txBody>
      </p:sp>
      <p:sp>
        <p:nvSpPr>
          <p:cNvPr id="10" name="Rectangle 9"/>
          <p:cNvSpPr/>
          <p:nvPr/>
        </p:nvSpPr>
        <p:spPr>
          <a:xfrm>
            <a:off x="777240" y="3264407"/>
            <a:ext cx="64008" cy="102412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218687"/>
            <a:ext cx="6309360" cy="11338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800" b="0" i="0">
                <a:solidFill>
                  <a:srgbClr val="1A1A1A"/>
                </a:solidFill>
                <a:latin typeface="Arial"/>
              </a:rPr>
              <a:t>Figure 6.9: Apple ranges in an accumulation, the box, while volume falls to its lowest level. Price then breaks out of the box, upward.</a:t>
            </a:r>
          </a:p>
        </p:txBody>
      </p:sp>
      <p:sp>
        <p:nvSpPr>
          <p:cNvPr id="12" name="Rectangle 11"/>
          <p:cNvSpPr/>
          <p:nvPr/>
        </p:nvSpPr>
        <p:spPr>
          <a:xfrm>
            <a:off x="777240" y="4544568"/>
            <a:ext cx="64008" cy="1024127"/>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6309360" cy="11338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800" b="0" i="0">
                <a:solidFill>
                  <a:srgbClr val="1A1A1A"/>
                </a:solidFill>
                <a:latin typeface="Arial"/>
              </a:rPr>
              <a:t>Whenever the volume is testing a significant minimum or its lowest historical levels, a breakout is expected. We refer to this as a low volume breakout signal.</a:t>
            </a:r>
          </a:p>
        </p:txBody>
      </p:sp>
      <p:sp>
        <p:nvSpPr>
          <p:cNvPr id="14" name="Rectangle 13"/>
          <p:cNvSpPr/>
          <p:nvPr/>
        </p:nvSpPr>
        <p:spPr>
          <a:xfrm>
            <a:off x="7680960" y="2157984"/>
            <a:ext cx="37334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680960" y="2157984"/>
            <a:ext cx="37334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8092440" y="2615184"/>
            <a:ext cx="29105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6.9</a:t>
            </a:r>
          </a:p>
          <a:p>
            <a:pPr algn="l">
              <a:lnSpc>
                <a:spcPct val="120000"/>
              </a:lnSpc>
              <a:spcBef>
                <a:spcPts val="0"/>
              </a:spcBef>
              <a:spcAft>
                <a:spcPts val="1400"/>
              </a:spcAft>
            </a:pPr>
            <a:r>
              <a:rPr sz="1800" b="0" i="0">
                <a:solidFill>
                  <a:srgbClr val="1A1A1A"/>
                </a:solidFill>
                <a:latin typeface="Palatino"/>
              </a:rPr>
              <a:t>A daily Apple chart with a low volume level drawn across its volume panel. Circles mark two low volume reversals at time lines 1 and 2, a bearish divergence and a bearish confirmation, and later an accumulation box that price leaves on a low volume breakout signal.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680960" y="5650992"/>
            <a:ext cx="37334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pp.180-181 and Figure 6.9.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reversal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3 of 17</a:t>
            </a:r>
          </a:p>
        </p:txBody>
      </p:sp>
      <p:sp>
        <p:nvSpPr>
          <p:cNvPr id="8" name="Rectangle 7"/>
          <p:cNvSpPr/>
          <p:nvPr/>
        </p:nvSpPr>
        <p:spPr>
          <a:xfrm>
            <a:off x="777240" y="2258568"/>
            <a:ext cx="64008" cy="4754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585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800" b="1" i="0">
                <a:solidFill>
                  <a:srgbClr val="1A1A1A"/>
                </a:solidFill>
                <a:latin typeface="Arial"/>
              </a:rPr>
              <a:t>Price turns while volume sits at its minimum.</a:t>
            </a:r>
          </a:p>
        </p:txBody>
      </p:sp>
      <p:sp>
        <p:nvSpPr>
          <p:cNvPr id="10" name="Rectangle 9"/>
          <p:cNvSpPr/>
          <p:nvPr/>
        </p:nvSpPr>
        <p:spPr>
          <a:xfrm>
            <a:off x="777240" y="2990087"/>
            <a:ext cx="64008" cy="102412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44368"/>
            <a:ext cx="5760720" cy="11338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800" b="0" i="0">
                <a:solidFill>
                  <a:srgbClr val="1A1A1A"/>
                </a:solidFill>
                <a:latin typeface="Arial"/>
              </a:rPr>
              <a:t>Figure 6.9 turns twice on low volume, at time lines 1 and 2. On our chart: at 1 a peak, at 2 a trough, each as volume touches its low level.</a:t>
            </a:r>
          </a:p>
        </p:txBody>
      </p:sp>
      <p:sp>
        <p:nvSpPr>
          <p:cNvPr id="12" name="Rectangle 11"/>
          <p:cNvSpPr/>
          <p:nvPr/>
        </p:nvSpPr>
        <p:spPr>
          <a:xfrm>
            <a:off x="777240" y="4270247"/>
            <a:ext cx="64008" cy="12984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224527"/>
            <a:ext cx="5760720" cy="14081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800" b="0" i="0">
                <a:solidFill>
                  <a:srgbClr val="1A1A1A"/>
                </a:solidFill>
                <a:latin typeface="Arial"/>
              </a:rPr>
              <a:t>There is a tendency for price to reverse when volume is at its minimum or lowest historical levels. We refer to such reversals as low volume reversals.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k.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gives the term; Figure 6.9 (p.181) has two. The chart is ours, on invented prices, because that figure is dense.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Breakouts at the lowest volume: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4 of 17</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Three consolidation breakouts, each as the lowest or minimum volume level is tested.</a:t>
            </a:r>
          </a:p>
          <a:p>
            <a:pPr algn="l">
              <a:lnSpc>
                <a:spcPct val="105000"/>
              </a:lnSpc>
              <a:spcBef>
                <a:spcPts val="0"/>
              </a:spcBef>
              <a:spcAft>
                <a:spcPts val="1100"/>
              </a:spcAft>
            </a:pPr>
            <a:r>
              <a:rPr sz="2000" b="0" i="0">
                <a:solidFill>
                  <a:srgbClr val="1A1A1A"/>
                </a:solidFill>
                <a:latin typeface="Arial"/>
              </a:rPr>
              <a:t>Volume increases on the breakout bars, bars 1, 2 and 3.</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6451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Volume falls into the breakout, then surges on it.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6.10</a:t>
            </a:r>
          </a:p>
          <a:p>
            <a:pPr algn="l">
              <a:lnSpc>
                <a:spcPct val="120000"/>
              </a:lnSpc>
              <a:spcBef>
                <a:spcPts val="0"/>
              </a:spcBef>
              <a:spcAft>
                <a:spcPts val="1400"/>
              </a:spcAft>
            </a:pPr>
            <a:r>
              <a:rPr sz="1800" b="0" i="0">
                <a:solidFill>
                  <a:srgbClr val="1A1A1A"/>
                </a:solidFill>
                <a:latin typeface="Palatino"/>
              </a:rPr>
              <a:t>The daily iShares Silver Trust with three consolidations boxed and a low volume threshold drawn across the volume panel. Dotted arrows show volume falling to the threshold in each box, and the breakouts at bars 1, 2 and 3 follow, with volume rising on each breakout bar.</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6.10 -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and Figure 6.10.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 as a timing indicator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Inside a consolidation, volume falls to its lowest level in a year. The book expects: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breakout, to the upside or the downside</a:t>
            </a:r>
          </a:p>
          <a:p>
            <a:pPr algn="l">
              <a:lnSpc>
                <a:spcPct val="112000"/>
              </a:lnSpc>
              <a:spcBef>
                <a:spcPts val="0"/>
              </a:spcBef>
              <a:spcAft>
                <a:spcPts val="900"/>
              </a:spcAft>
            </a:pPr>
            <a:r>
              <a:rPr sz="1500" b="0" i="0">
                <a:solidFill>
                  <a:srgbClr val="FFFFFF"/>
                </a:solidFill>
                <a:latin typeface="Arial"/>
              </a:rPr>
              <a:t>B.  An upside breakout only</a:t>
            </a:r>
          </a:p>
          <a:p>
            <a:pPr algn="l">
              <a:lnSpc>
                <a:spcPct val="112000"/>
              </a:lnSpc>
              <a:spcBef>
                <a:spcPts val="0"/>
              </a:spcBef>
              <a:spcAft>
                <a:spcPts val="900"/>
              </a:spcAft>
            </a:pPr>
            <a:r>
              <a:rPr sz="1500" b="0" i="0">
                <a:solidFill>
                  <a:srgbClr val="FFFFFF"/>
                </a:solidFill>
                <a:latin typeface="Arial"/>
              </a:rPr>
              <a:t>C.  Bearish divergence, so a decline</a:t>
            </a:r>
          </a:p>
          <a:p>
            <a:pPr algn="l">
              <a:lnSpc>
                <a:spcPct val="112000"/>
              </a:lnSpc>
              <a:spcBef>
                <a:spcPts val="0"/>
              </a:spcBef>
              <a:spcAft>
                <a:spcPts val="900"/>
              </a:spcAft>
            </a:pPr>
            <a:r>
              <a:rPr sz="1500" b="0" i="0">
                <a:solidFill>
                  <a:srgbClr val="FFFFFF"/>
                </a:solidFill>
                <a:latin typeface="Arial"/>
              </a:rPr>
              <a:t>D.  The consolidation to last longer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is there no divergence reading during a consolidation?</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Volume is always flat in a consolidation</a:t>
            </a:r>
          </a:p>
          <a:p>
            <a:pPr algn="l">
              <a:lnSpc>
                <a:spcPct val="112000"/>
              </a:lnSpc>
              <a:spcBef>
                <a:spcPts val="0"/>
              </a:spcBef>
              <a:spcAft>
                <a:spcPts val="900"/>
              </a:spcAft>
            </a:pPr>
            <a:r>
              <a:rPr sz="1500" b="0" i="0">
                <a:solidFill>
                  <a:srgbClr val="FFFFFF"/>
                </a:solidFill>
                <a:latin typeface="Arial"/>
              </a:rPr>
              <a:t>B.  Divergence needs open interest</a:t>
            </a:r>
          </a:p>
          <a:p>
            <a:pPr algn="l">
              <a:lnSpc>
                <a:spcPct val="112000"/>
              </a:lnSpc>
              <a:spcBef>
                <a:spcPts val="0"/>
              </a:spcBef>
              <a:spcAft>
                <a:spcPts val="900"/>
              </a:spcAft>
            </a:pPr>
            <a:r>
              <a:rPr sz="1500" b="0" i="0">
                <a:solidFill>
                  <a:srgbClr val="FFFFFF"/>
                </a:solidFill>
                <a:latin typeface="Arial"/>
              </a:rPr>
              <a:t>C.  Consolidations only occur on low volume</a:t>
            </a:r>
          </a:p>
          <a:p>
            <a:pPr algn="l">
              <a:lnSpc>
                <a:spcPct val="112000"/>
              </a:lnSpc>
              <a:spcBef>
                <a:spcPts val="0"/>
              </a:spcBef>
              <a:spcAft>
                <a:spcPts val="900"/>
              </a:spcAft>
            </a:pPr>
            <a:r>
              <a:rPr sz="1500" b="0" i="0">
                <a:solidFill>
                  <a:srgbClr val="FFFFFF"/>
                </a:solidFill>
                <a:latin typeface="Arial"/>
              </a:rPr>
              <a:t>D.  Price is moving sideways, so neither direction can be read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6 - 6.1 Timing  |  Check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 as a timing indicator</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Inside a consolidation, volume falls to its lowest level in a year. The book expects: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breakout, to the upside or the downside</a:t>
            </a:r>
          </a:p>
          <a:p>
            <a:pPr algn="l">
              <a:lnSpc>
                <a:spcPct val="115000"/>
              </a:lnSpc>
              <a:spcBef>
                <a:spcPts val="700"/>
              </a:spcBef>
              <a:spcAft>
                <a:spcPts val="0"/>
              </a:spcAft>
            </a:pPr>
            <a:r>
              <a:rPr sz="1600" b="0" i="0">
                <a:solidFill>
                  <a:srgbClr val="1A1A1A"/>
                </a:solidFill>
                <a:latin typeface="Arial"/>
              </a:rPr>
              <a:t>Volume testing its lowest historical level in a consolidation is a low volume breakout signal, either way.</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Why is there no divergence reading during a consolidation?</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Price is moving sideways, so neither direction can be read</a:t>
            </a:r>
          </a:p>
          <a:p>
            <a:pPr algn="l">
              <a:lnSpc>
                <a:spcPct val="115000"/>
              </a:lnSpc>
              <a:spcBef>
                <a:spcPts val="700"/>
              </a:spcBef>
              <a:spcAft>
                <a:spcPts val="0"/>
              </a:spcAft>
            </a:pPr>
            <a:r>
              <a:rPr sz="1600" b="0" i="0">
                <a:solidFill>
                  <a:srgbClr val="1A1A1A"/>
                </a:solidFill>
                <a:latin typeface="Arial"/>
              </a:rPr>
              <a:t>With price moving sideways it is not possible to tell divergence from convergence, let alone bullish from bearish.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Check 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Volume-weighted moving average, VWMA</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5 of 17</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line of average price on the chart, weighted by volume as its name says. Chapter 11 says how.</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at PHP 52, above its VWMA at PHP 50: potentially bullish. At PHP 48, below it: potentially bearish.</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VWMA may be created to track overvalued and undervalued stock. Typically, price is considered potentially bullish when it is above the VWMA, and bearish when below it.</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l.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It defers the calculation to Chapter 11. The chart is ours, on invented prices; its line is a 10-bar VWMA we computed.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VWMA on a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6 of 17</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Price rises decisively every time it crosses above the VWMA, and declines in a similar manner when it crosses below.</a:t>
            </a:r>
          </a:p>
          <a:p>
            <a:pPr algn="l">
              <a:lnSpc>
                <a:spcPct val="105000"/>
              </a:lnSpc>
              <a:spcBef>
                <a:spcPts val="0"/>
              </a:spcBef>
              <a:spcAft>
                <a:spcPts val="1100"/>
              </a:spcAft>
            </a:pPr>
            <a:r>
              <a:rPr sz="1800" b="0" i="0">
                <a:solidFill>
                  <a:srgbClr val="1A1A1A"/>
                </a:solidFill>
                <a:latin typeface="Arial"/>
              </a:rPr>
              <a:t>The crossovers occur at the daily volume cycle peaks.</a:t>
            </a:r>
          </a:p>
          <a:p>
            <a:pPr algn="l">
              <a:lnSpc>
                <a:spcPct val="105000"/>
              </a:lnSpc>
              <a:spcBef>
                <a:spcPts val="0"/>
              </a:spcBef>
              <a:spcAft>
                <a:spcPts val="1100"/>
              </a:spcAft>
            </a:pPr>
            <a:r>
              <a:rPr sz="1800" b="0" i="0">
                <a:solidFill>
                  <a:srgbClr val="1A1A1A"/>
                </a:solidFill>
                <a:latin typeface="Arial"/>
              </a:rPr>
              <a:t>The figure also marks the line acting as support and resistance.</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Above the line, bullish. Below it, bearish.</a:t>
            </a:r>
          </a:p>
        </p:txBody>
      </p:sp>
      <p:sp>
        <p:nvSpPr>
          <p:cNvPr id="10" name="TextBox 9"/>
          <p:cNvSpPr txBox="1"/>
          <p:nvPr/>
        </p:nvSpPr>
        <p:spPr>
          <a:xfrm>
            <a:off x="777240" y="5603748"/>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Volume cycles, and their peaks: Part 5.</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6.11</a:t>
            </a:r>
          </a:p>
          <a:p>
            <a:pPr algn="l">
              <a:lnSpc>
                <a:spcPct val="120000"/>
              </a:lnSpc>
              <a:spcBef>
                <a:spcPts val="0"/>
              </a:spcBef>
              <a:spcAft>
                <a:spcPts val="1400"/>
              </a:spcAft>
            </a:pPr>
            <a:r>
              <a:rPr sz="1800" b="0" i="0">
                <a:solidFill>
                  <a:srgbClr val="1A1A1A"/>
                </a:solidFill>
                <a:latin typeface="Palatino"/>
              </a:rPr>
              <a:t>A 10-minute chart of the S&amp;P 500 SPDR over four days with a dashed volume weighted average price line, labelled price above it bullish and below it bearish, and the line marked as support and as resistance. Circles on the volume panel mark the daily volume cycle peaks, with arrows from them to the crossovers.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and Figure 6.11. The figure is labelled VWAP on a 10-minute chart; the caption says VWMA, daily.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below, overvalued above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7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 also calls a stock undervalued below the VWMA and overvalued above it.</a:t>
            </a:r>
          </a:p>
          <a:p>
            <a:pPr algn="l">
              <a:lnSpc>
                <a:spcPct val="105000"/>
              </a:lnSpc>
              <a:spcBef>
                <a:spcPts val="0"/>
              </a:spcBef>
              <a:spcAft>
                <a:spcPts val="1100"/>
              </a:spcAft>
            </a:pPr>
            <a:r>
              <a:rPr sz="1700" b="0" i="0">
                <a:solidFill>
                  <a:srgbClr val="1A1A1A"/>
                </a:solidFill>
                <a:latin typeface="Arial"/>
              </a:rPr>
              <a:t>Many institutional traders look for buy signals only when it is undervalued, and sell signals only when it is above.</a:t>
            </a:r>
          </a:p>
          <a:p>
            <a:pPr algn="l">
              <a:lnSpc>
                <a:spcPct val="105000"/>
              </a:lnSpc>
              <a:spcBef>
                <a:spcPts val="0"/>
              </a:spcBef>
              <a:spcAft>
                <a:spcPts val="1100"/>
              </a:spcAft>
            </a:pPr>
            <a:r>
              <a:rPr sz="1700" b="0" i="0">
                <a:solidFill>
                  <a:srgbClr val="1A1A1A"/>
                </a:solidFill>
                <a:latin typeface="Arial"/>
              </a:rPr>
              <a:t>So above the line is potentially bullish, and also where institutions look to sell.</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Two readings of one line, both the book's.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Know both. The book leaves the tension between them unresolved, and so does this slide.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m.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Both readings are the book's, a paragraph apart; it does not reconcile them. The chart is ours, on invented prices.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Tops and bottoms: volume at the extremes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8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top or bottom usually comes on relatively large or extreme volume, or on relatively low or minimal volume.</a:t>
            </a:r>
          </a:p>
          <a:p>
            <a:pPr algn="l">
              <a:lnSpc>
                <a:spcPct val="105000"/>
              </a:lnSpc>
              <a:spcBef>
                <a:spcPts val="0"/>
              </a:spcBef>
              <a:spcAft>
                <a:spcPts val="1100"/>
              </a:spcAft>
            </a:pPr>
            <a:r>
              <a:rPr sz="1700" b="0" i="0">
                <a:solidFill>
                  <a:srgbClr val="1A1A1A"/>
                </a:solidFill>
                <a:latin typeface="Arial"/>
              </a:rPr>
              <a:t>Extreme volume: a top is a blow-off or buying climax, a bottom a sell-off or selling climax.</a:t>
            </a:r>
          </a:p>
          <a:p>
            <a:pPr algn="l">
              <a:lnSpc>
                <a:spcPct val="105000"/>
              </a:lnSpc>
              <a:spcBef>
                <a:spcPts val="0"/>
              </a:spcBef>
              <a:spcAft>
                <a:spcPts val="1100"/>
              </a:spcAft>
            </a:pPr>
            <a:r>
              <a:rPr sz="1700" b="0" i="0">
                <a:solidFill>
                  <a:srgbClr val="1A1A1A"/>
                </a:solidFill>
                <a:latin typeface="Arial"/>
              </a:rPr>
              <a:t>Extremely low volume: a low volume top, or a low volume bottom.</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Four turns, named by place and by volume.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 named the climaxes that end a trend. Chapter 6 adds their extreme volume.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n.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pp.182-183, its four scenarios. Chapter 4 named the climaxes by who trades. The chart is ours: sketches, not prices.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Upper and lower overextended volume levels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9 of 17</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line across the volume panel that only extreme volume reaches. A lower one catches smaller turns.</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Figure 6.12: Exxon Mobil bottoms on two selling climaxes, and both spikes reach the upper level.</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extreme volume level is the upper overextended volume level, a signal for potential bottoms or tops. A lower overextended volume level forecasts less significant corrections.</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6.12</a:t>
            </a:r>
          </a:p>
          <a:p>
            <a:pPr algn="l">
              <a:lnSpc>
                <a:spcPct val="120000"/>
              </a:lnSpc>
              <a:spcBef>
                <a:spcPts val="0"/>
              </a:spcBef>
              <a:spcAft>
                <a:spcPts val="1400"/>
              </a:spcAft>
            </a:pPr>
            <a:r>
              <a:rPr sz="1800" b="0" i="0">
                <a:solidFill>
                  <a:srgbClr val="1A1A1A"/>
                </a:solidFill>
                <a:latin typeface="Palatino"/>
              </a:rPr>
              <a:t>The daily chart of Exxon Mobil from 2006 to 2013: an ellipse around a market bottom made by two selling climaxes, with arrows down to two volume spikes. Across the volume panel run two lines, upper level volume overextension and lower level volume overextension.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6.12 -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and Figure 6.12. Exxon Mobil is spelt Exxon Mobile by the book.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Blow-offs: buying climaxes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10 of 17</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couple of blow-offs, or buying climaxes, at relatively high volume.</a:t>
            </a:r>
          </a:p>
          <a:p>
            <a:pPr algn="l">
              <a:lnSpc>
                <a:spcPct val="105000"/>
              </a:lnSpc>
              <a:spcBef>
                <a:spcPts val="0"/>
              </a:spcBef>
              <a:spcAft>
                <a:spcPts val="1100"/>
              </a:spcAft>
            </a:pPr>
            <a:r>
              <a:rPr sz="2000" b="0" i="0">
                <a:solidFill>
                  <a:srgbClr val="1A1A1A"/>
                </a:solidFill>
                <a:latin typeface="Arial"/>
              </a:rPr>
              <a:t>Each is a market top on a volume spike, and price falls after it.</a:t>
            </a:r>
          </a:p>
        </p:txBody>
      </p:sp>
      <p:sp>
        <p:nvSpPr>
          <p:cNvPr id="8" name="Rectangle 7"/>
          <p:cNvSpPr/>
          <p:nvPr/>
        </p:nvSpPr>
        <p:spPr>
          <a:xfrm>
            <a:off x="777240" y="3776472"/>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same overextension that marks a selling climax marks a buying one.</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6.13</a:t>
            </a:r>
          </a:p>
          <a:p>
            <a:pPr algn="l">
              <a:lnSpc>
                <a:spcPct val="120000"/>
              </a:lnSpc>
              <a:spcBef>
                <a:spcPts val="0"/>
              </a:spcBef>
              <a:spcAft>
                <a:spcPts val="1400"/>
              </a:spcAft>
            </a:pPr>
            <a:r>
              <a:rPr sz="1800" b="0" i="0">
                <a:solidFill>
                  <a:srgbClr val="1A1A1A"/>
                </a:solidFill>
                <a:latin typeface="Palatino"/>
              </a:rPr>
              <a:t>The daily chart of the E-TRACS UBS Bloomberg CMCI Food ETN with two circled volume spikes labelled blow-off, each under a market top.</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and Figure 6.13.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to set the overextension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11 of 17</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Set by visual inspection, where only the most significant tops or bottoms are found.</a:t>
            </a:r>
          </a:p>
          <a:p>
            <a:pPr algn="l">
              <a:lnSpc>
                <a:spcPct val="105000"/>
              </a:lnSpc>
              <a:spcBef>
                <a:spcPts val="0"/>
              </a:spcBef>
              <a:spcAft>
                <a:spcPts val="1100"/>
              </a:spcAft>
            </a:pPr>
            <a:r>
              <a:rPr sz="1800" b="0" i="0">
                <a:solidFill>
                  <a:srgbClr val="1A1A1A"/>
                </a:solidFill>
                <a:latin typeface="Arial"/>
              </a:rPr>
              <a:t>Set lower, it signals more often, at less significant tops and bottoms.</a:t>
            </a:r>
          </a:p>
          <a:p>
            <a:pPr algn="l">
              <a:lnSpc>
                <a:spcPct val="105000"/>
              </a:lnSpc>
              <a:spcBef>
                <a:spcPts val="0"/>
              </a:spcBef>
              <a:spcAft>
                <a:spcPts val="1100"/>
              </a:spcAft>
            </a:pPr>
            <a:r>
              <a:rPr sz="1800" b="0" i="0">
                <a:solidFill>
                  <a:srgbClr val="1A1A1A"/>
                </a:solidFill>
                <a:latin typeface="Arial"/>
              </a:rPr>
              <a:t>Figure 6.14: the spikes are all above the rolling 100-day 2-sigma level; one breaks a significant support.</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Higher level, fewer and bigger turns.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6.14</a:t>
            </a:r>
          </a:p>
          <a:p>
            <a:pPr algn="l">
              <a:lnSpc>
                <a:spcPct val="120000"/>
              </a:lnSpc>
              <a:spcBef>
                <a:spcPts val="0"/>
              </a:spcBef>
              <a:spcAft>
                <a:spcPts val="1400"/>
              </a:spcAft>
            </a:pPr>
            <a:r>
              <a:rPr sz="1800" b="0" i="0">
                <a:solidFill>
                  <a:srgbClr val="1A1A1A"/>
                </a:solidFill>
                <a:latin typeface="Palatino"/>
              </a:rPr>
              <a:t>The daily SPDR Gold Trust: a dashed volume overextension line across the volume panel with circled spikes above it, and a dashed support line on the price that is broken at the right on extreme volume, labelled above the rolling 100-day 2-sigma level.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6.14 -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pp.183-184 and Figure 6.14. Sigma, a standard deviation, is taught in Part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a higher level and a lower 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12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Upper level: only two spikes reach it, at the two major turns, 1 and 2.</a:t>
            </a:r>
          </a:p>
          <a:p>
            <a:pPr algn="l">
              <a:lnSpc>
                <a:spcPct val="105000"/>
              </a:lnSpc>
              <a:spcBef>
                <a:spcPts val="0"/>
              </a:spcBef>
              <a:spcAft>
                <a:spcPts val="1100"/>
              </a:spcAft>
            </a:pPr>
            <a:r>
              <a:rPr sz="2000" b="0" i="0">
                <a:solidFill>
                  <a:srgbClr val="1A1A1A"/>
                </a:solidFill>
                <a:latin typeface="Arial"/>
              </a:rPr>
              <a:t>Lower level: three more spikes reach it, at smaller corrections, a, b and c.</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Where the line goes decides which turns it signals.</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o.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drawing the book's p.183 rule on one invented chart. Both levels and every price are ours.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Volatility spikes at the same turns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13 of 17</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Bollinger Bandwidth oscillator times volatility in silver.</a:t>
            </a:r>
          </a:p>
          <a:p>
            <a:pPr algn="l">
              <a:lnSpc>
                <a:spcPct val="105000"/>
              </a:lnSpc>
              <a:spcBef>
                <a:spcPts val="0"/>
              </a:spcBef>
              <a:spcAft>
                <a:spcPts val="1100"/>
              </a:spcAft>
            </a:pPr>
            <a:r>
              <a:rPr sz="2000" b="0" i="0">
                <a:solidFill>
                  <a:srgbClr val="1A1A1A"/>
                </a:solidFill>
                <a:latin typeface="Arial"/>
              </a:rPr>
              <a:t>The volatility spikes coincide with the volume overextensions, signaling tops and bottoms.</a:t>
            </a:r>
          </a:p>
        </p:txBody>
      </p:sp>
      <p:sp>
        <p:nvSpPr>
          <p:cNvPr id="8" name="Rectangle 7"/>
          <p:cNvSpPr/>
          <p:nvPr/>
        </p:nvSpPr>
        <p:spPr>
          <a:xfrm>
            <a:off x="777240" y="4096511"/>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Many practitioners filter out volatility below a threshold and regard it as noise.</a:t>
            </a:r>
          </a:p>
        </p:txBody>
      </p:sp>
      <p:sp>
        <p:nvSpPr>
          <p:cNvPr id="10" name="TextBox 9"/>
          <p:cNvSpPr txBox="1"/>
          <p:nvPr/>
        </p:nvSpPr>
        <p:spPr>
          <a:xfrm>
            <a:off x="777240" y="5404103"/>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Bandwidth and Bollinger Bands are named and not explained in this chapter.</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6.15</a:t>
            </a:r>
          </a:p>
          <a:p>
            <a:pPr algn="l">
              <a:lnSpc>
                <a:spcPct val="120000"/>
              </a:lnSpc>
              <a:spcBef>
                <a:spcPts val="0"/>
              </a:spcBef>
              <a:spcAft>
                <a:spcPts val="1400"/>
              </a:spcAft>
            </a:pPr>
            <a:r>
              <a:rPr sz="1800" b="0" i="0">
                <a:solidFill>
                  <a:srgbClr val="1A1A1A"/>
                </a:solidFill>
                <a:latin typeface="Palatino"/>
              </a:rPr>
              <a:t>The continuous daily chart of silver with an upper and a lower volume overextension line, and under it a bandwidth oscillator labelled volatility, with its own historical volatility level. Thin lines join circled volatility spikes to volume overextensions and to a top at 1 and a bottom at 2.</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6.15 -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and Figure 6.15. The book does not explain the Bollinger Bandwidth here.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Climaxes and overextension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market top forms on extreme volume. The book calls it: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low volume top</a:t>
            </a:r>
          </a:p>
          <a:p>
            <a:pPr algn="l">
              <a:lnSpc>
                <a:spcPct val="112000"/>
              </a:lnSpc>
              <a:spcBef>
                <a:spcPts val="0"/>
              </a:spcBef>
              <a:spcAft>
                <a:spcPts val="900"/>
              </a:spcAft>
            </a:pPr>
            <a:r>
              <a:rPr sz="1500" b="0" i="0">
                <a:solidFill>
                  <a:srgbClr val="FFFFFF"/>
                </a:solidFill>
                <a:latin typeface="Arial"/>
              </a:rPr>
              <a:t>B.  A selling climax</a:t>
            </a:r>
          </a:p>
          <a:p>
            <a:pPr algn="l">
              <a:lnSpc>
                <a:spcPct val="112000"/>
              </a:lnSpc>
              <a:spcBef>
                <a:spcPts val="0"/>
              </a:spcBef>
              <a:spcAft>
                <a:spcPts val="900"/>
              </a:spcAft>
            </a:pPr>
            <a:r>
              <a:rPr sz="1500" b="0" i="0">
                <a:solidFill>
                  <a:srgbClr val="FFFFFF"/>
                </a:solidFill>
                <a:latin typeface="Arial"/>
              </a:rPr>
              <a:t>C.  A low volume breakout signal</a:t>
            </a:r>
          </a:p>
          <a:p>
            <a:pPr algn="l">
              <a:lnSpc>
                <a:spcPct val="112000"/>
              </a:lnSpc>
              <a:spcBef>
                <a:spcPts val="0"/>
              </a:spcBef>
              <a:spcAft>
                <a:spcPts val="900"/>
              </a:spcAft>
            </a:pPr>
            <a:r>
              <a:rPr sz="1500" b="0" i="0">
                <a:solidFill>
                  <a:srgbClr val="FFFFFF"/>
                </a:solidFill>
                <a:latin typeface="Arial"/>
              </a:rPr>
              <a:t>D.  A blow-off or buying climax</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lowers the volume overextension level on a chart. The signals will be: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Fewer, at more significant tops and bottoms</a:t>
            </a:r>
          </a:p>
          <a:p>
            <a:pPr algn="l">
              <a:lnSpc>
                <a:spcPct val="112000"/>
              </a:lnSpc>
              <a:spcBef>
                <a:spcPts val="0"/>
              </a:spcBef>
              <a:spcAft>
                <a:spcPts val="900"/>
              </a:spcAft>
            </a:pPr>
            <a:r>
              <a:rPr sz="1500" b="0" i="0">
                <a:solidFill>
                  <a:srgbClr val="FFFFFF"/>
                </a:solidFill>
                <a:latin typeface="Arial"/>
              </a:rPr>
              <a:t>B.  More frequent, at less significant tops and bottoms</a:t>
            </a:r>
          </a:p>
          <a:p>
            <a:pPr algn="l">
              <a:lnSpc>
                <a:spcPct val="112000"/>
              </a:lnSpc>
              <a:spcBef>
                <a:spcPts val="0"/>
              </a:spcBef>
              <a:spcAft>
                <a:spcPts val="900"/>
              </a:spcAft>
            </a:pPr>
            <a:r>
              <a:rPr sz="1500" b="0" i="0">
                <a:solidFill>
                  <a:srgbClr val="FFFFFF"/>
                </a:solidFill>
                <a:latin typeface="Arial"/>
              </a:rPr>
              <a:t>C.  Unchanged, because the level is set by eye</a:t>
            </a:r>
          </a:p>
          <a:p>
            <a:pPr algn="l">
              <a:lnSpc>
                <a:spcPct val="112000"/>
              </a:lnSpc>
              <a:spcBef>
                <a:spcPts val="0"/>
              </a:spcBef>
              <a:spcAft>
                <a:spcPts val="900"/>
              </a:spcAft>
            </a:pPr>
            <a:r>
              <a:rPr sz="1500" b="0" i="0">
                <a:solidFill>
                  <a:srgbClr val="FFFFFF"/>
                </a:solidFill>
                <a:latin typeface="Arial"/>
              </a:rPr>
              <a:t>D.  Limited to selling climaxes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6 - 6.1 Timing  |  Check 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Climaxes and overextension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market top forms on extreme volume. The book calls it: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blow-off or buying climax</a:t>
            </a:r>
          </a:p>
          <a:p>
            <a:pPr algn="l">
              <a:lnSpc>
                <a:spcPct val="115000"/>
              </a:lnSpc>
              <a:spcBef>
                <a:spcPts val="700"/>
              </a:spcBef>
              <a:spcAft>
                <a:spcPts val="0"/>
              </a:spcAft>
            </a:pPr>
            <a:r>
              <a:rPr sz="1600" b="0" i="0">
                <a:solidFill>
                  <a:srgbClr val="1A1A1A"/>
                </a:solidFill>
                <a:latin typeface="Arial"/>
              </a:rPr>
              <a:t>A market top associated with extreme volume is a blow-off or buying climax.</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trader lowers the volume overextension level on a chart. The signals will be: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More frequent, at less significant tops and bottoms</a:t>
            </a:r>
          </a:p>
          <a:p>
            <a:pPr algn="l">
              <a:lnSpc>
                <a:spcPct val="115000"/>
              </a:lnSpc>
              <a:spcBef>
                <a:spcPts val="700"/>
              </a:spcBef>
              <a:spcAft>
                <a:spcPts val="0"/>
              </a:spcAft>
            </a:pPr>
            <a:r>
              <a:rPr sz="1600" b="0" i="0">
                <a:solidFill>
                  <a:srgbClr val="1A1A1A"/>
                </a:solidFill>
                <a:latin typeface="Arial"/>
              </a:rPr>
              <a:t>Setting the level lower tends to signal less significant tops or bottoms more frequently.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Check 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top and low volume bottom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14 of 17</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top, or a bottom, made on very little volume.</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Figure 6.16: Apple turns at seven time lines, each where volume tests a lower volume threshold, circled. Some are tops and some are bottoms.</a:t>
            </a:r>
          </a:p>
        </p:txBody>
      </p:sp>
      <p:sp>
        <p:nvSpPr>
          <p:cNvPr id="12" name="Rectangle 11"/>
          <p:cNvSpPr/>
          <p:nvPr/>
        </p:nvSpPr>
        <p:spPr>
          <a:xfrm>
            <a:off x="777240" y="420928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market top associated with extremely low or minimal volume is called a low volume top. A market bottom associated with extremely low volume is called a low volume bottom.</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6.16</a:t>
            </a:r>
          </a:p>
          <a:p>
            <a:pPr algn="l">
              <a:lnSpc>
                <a:spcPct val="120000"/>
              </a:lnSpc>
              <a:spcBef>
                <a:spcPts val="0"/>
              </a:spcBef>
              <a:spcAft>
                <a:spcPts val="1400"/>
              </a:spcAft>
            </a:pPr>
            <a:r>
              <a:rPr sz="1800" b="0" i="0">
                <a:solidFill>
                  <a:srgbClr val="1A1A1A"/>
                </a:solidFill>
                <a:latin typeface="Palatino"/>
              </a:rPr>
              <a:t>A daily Apple chart with a low volume threshold drawn across its volume panel and circled wherever volume tests it. Dashed time lines run up from each circle to a top or a bottom in price, labelled low volume reversals.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6.16 -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pp.183, 185 and Figure 6.16.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Overbought or oversold? Only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15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Overextended volume can signal either a top or a bottom: extreme buying and selling both generate volume.</a:t>
            </a:r>
          </a:p>
          <a:p>
            <a:pPr algn="l">
              <a:lnSpc>
                <a:spcPct val="105000"/>
              </a:lnSpc>
              <a:spcBef>
                <a:spcPts val="0"/>
              </a:spcBef>
              <a:spcAft>
                <a:spcPts val="1100"/>
              </a:spcAft>
            </a:pPr>
            <a:r>
              <a:rPr sz="1800" b="0" i="0">
                <a:solidFill>
                  <a:srgbClr val="1A1A1A"/>
                </a:solidFill>
                <a:latin typeface="Arial"/>
              </a:rPr>
              <a:t>So a volume extreme is not overbought or oversold until it is tied to a top or a bottom.</a:t>
            </a:r>
          </a:p>
        </p:txBody>
      </p:sp>
      <p:sp>
        <p:nvSpPr>
          <p:cNvPr id="8" name="Rectangle 7"/>
          <p:cNvSpPr/>
          <p:nvPr/>
        </p:nvSpPr>
        <p:spPr>
          <a:xfrm>
            <a:off x="777240" y="4224528"/>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61104"/>
            <a:ext cx="482803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We can pinpoint the overextension now. Overbought or oversold, only in retrospect.</a:t>
            </a:r>
          </a:p>
        </p:txBody>
      </p:sp>
      <p:sp>
        <p:nvSpPr>
          <p:cNvPr id="10" name="TextBox 9"/>
          <p:cNvSpPr txBox="1"/>
          <p:nvPr/>
        </p:nvSpPr>
        <p:spPr>
          <a:xfrm>
            <a:off x="777240" y="544068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Overbought and oversold: met in Chapters 1 and 5, never defined there or here. Oscillators are Chapter 8.</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p.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 The chart is ours: sketches, not prices. Overbought and oversold are used and not defined in this chapter.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Lower timeframes are more sensitive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16 of 17</a:t>
            </a:r>
          </a:p>
        </p:txBody>
      </p:sp>
      <p:sp>
        <p:nvSpPr>
          <p:cNvPr id="7" name="TextBox 6"/>
          <p:cNvSpPr txBox="1"/>
          <p:nvPr/>
        </p:nvSpPr>
        <p:spPr>
          <a:xfrm>
            <a:off x="777240" y="1965960"/>
            <a:ext cx="65836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same gold volume, on five timeframes: daily, weekly, monthly, quarterly, yearly.</a:t>
            </a:r>
          </a:p>
          <a:p>
            <a:pPr algn="l">
              <a:lnSpc>
                <a:spcPct val="105000"/>
              </a:lnSpc>
              <a:spcBef>
                <a:spcPts val="0"/>
              </a:spcBef>
              <a:spcAft>
                <a:spcPts val="1100"/>
              </a:spcAft>
            </a:pPr>
            <a:r>
              <a:rPr sz="2000" b="0" i="0">
                <a:solidFill>
                  <a:srgbClr val="1A1A1A"/>
                </a:solidFill>
                <a:latin typeface="Arial"/>
              </a:rPr>
              <a:t>Daily and weekly volume peak in 2013. Monthly and higher peak in 2011.</a:t>
            </a:r>
          </a:p>
          <a:p>
            <a:pPr algn="l">
              <a:lnSpc>
                <a:spcPct val="105000"/>
              </a:lnSpc>
              <a:spcBef>
                <a:spcPts val="0"/>
              </a:spcBef>
              <a:spcAft>
                <a:spcPts val="1100"/>
              </a:spcAft>
            </a:pPr>
            <a:r>
              <a:rPr sz="2000" b="0" i="0">
                <a:solidFill>
                  <a:srgbClr val="1A1A1A"/>
                </a:solidFill>
                <a:latin typeface="Arial"/>
              </a:rPr>
              <a:t>Lower timeframe charts are more sensitive to volume action.</a:t>
            </a:r>
          </a:p>
        </p:txBody>
      </p:sp>
      <p:sp>
        <p:nvSpPr>
          <p:cNvPr id="8" name="Rectangle 7"/>
          <p:cNvSpPr/>
          <p:nvPr/>
        </p:nvSpPr>
        <p:spPr>
          <a:xfrm>
            <a:off x="777240" y="4581144"/>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7720"/>
            <a:ext cx="629107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At higher timeframes, the overall trend or behavior of volume is more obvious.</a:t>
            </a:r>
          </a:p>
        </p:txBody>
      </p:sp>
      <p:sp>
        <p:nvSpPr>
          <p:cNvPr id="10" name="Rectangle 9"/>
          <p:cNvSpPr/>
          <p:nvPr/>
        </p:nvSpPr>
        <p:spPr>
          <a:xfrm>
            <a:off x="7680960" y="1810512"/>
            <a:ext cx="37334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680960" y="1810512"/>
            <a:ext cx="37334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8092440" y="2267712"/>
            <a:ext cx="29105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6.17</a:t>
            </a:r>
          </a:p>
          <a:p>
            <a:pPr algn="l">
              <a:lnSpc>
                <a:spcPct val="120000"/>
              </a:lnSpc>
              <a:spcBef>
                <a:spcPts val="0"/>
              </a:spcBef>
              <a:spcAft>
                <a:spcPts val="1400"/>
              </a:spcAft>
            </a:pPr>
            <a:r>
              <a:rPr sz="1800" b="0" i="0">
                <a:solidFill>
                  <a:srgbClr val="1A1A1A"/>
                </a:solidFill>
                <a:latin typeface="Palatino"/>
              </a:rPr>
              <a:t>The continuous chart of gold with five volume panels under it: daily, weekly, monthly, quarterly and yearly. Lines over each mark where its volume peaks: in 2013 on the daily and weekly panels, in 2011 on the monthly, quarterly and yearly ones.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680960" y="5650992"/>
            <a:ext cx="37334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6.17 -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 and Figure 6.17.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record, two timeframes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17 of 17</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Daily: the tallest bar is one spike, late in the record, at 1.</a:t>
            </a:r>
          </a:p>
          <a:p>
            <a:pPr algn="l">
              <a:lnSpc>
                <a:spcPct val="105000"/>
              </a:lnSpc>
              <a:spcBef>
                <a:spcPts val="0"/>
              </a:spcBef>
              <a:spcAft>
                <a:spcPts val="1100"/>
              </a:spcAft>
            </a:pPr>
            <a:r>
              <a:rPr sz="2000" b="0" i="0">
                <a:solidFill>
                  <a:srgbClr val="1A1A1A"/>
                </a:solidFill>
                <a:latin typeface="Arial"/>
              </a:rPr>
              <a:t>Monthly: the same days added up by month. The busiest month, 2, comes earlier.</a:t>
            </a:r>
          </a:p>
        </p:txBody>
      </p:sp>
      <p:sp>
        <p:nvSpPr>
          <p:cNvPr id="8" name="Rectangle 7"/>
          <p:cNvSpPr/>
          <p:nvPr/>
        </p:nvSpPr>
        <p:spPr>
          <a:xfrm>
            <a:off x="777240" y="4096511"/>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82803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One volume record, two different peaks: it depends on the timeframe.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q.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p.186 point on one invented volume record. The days, the spike and the months are ours.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Low volume turns and timeframes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market bottom forms on extremely low volume. The book calls it: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sell-off</a:t>
            </a:r>
          </a:p>
          <a:p>
            <a:pPr algn="l">
              <a:lnSpc>
                <a:spcPct val="112000"/>
              </a:lnSpc>
              <a:spcBef>
                <a:spcPts val="0"/>
              </a:spcBef>
              <a:spcAft>
                <a:spcPts val="900"/>
              </a:spcAft>
            </a:pPr>
            <a:r>
              <a:rPr sz="1500" b="0" i="0">
                <a:solidFill>
                  <a:srgbClr val="FFFFFF"/>
                </a:solidFill>
                <a:latin typeface="Arial"/>
              </a:rPr>
              <a:t>B.  A low volume bottom</a:t>
            </a:r>
          </a:p>
          <a:p>
            <a:pPr algn="l">
              <a:lnSpc>
                <a:spcPct val="112000"/>
              </a:lnSpc>
              <a:spcBef>
                <a:spcPts val="0"/>
              </a:spcBef>
              <a:spcAft>
                <a:spcPts val="900"/>
              </a:spcAft>
            </a:pPr>
            <a:r>
              <a:rPr sz="1500" b="0" i="0">
                <a:solidFill>
                  <a:srgbClr val="FFFFFF"/>
                </a:solidFill>
                <a:latin typeface="Arial"/>
              </a:rPr>
              <a:t>C.  A selling climax</a:t>
            </a:r>
          </a:p>
          <a:p>
            <a:pPr algn="l">
              <a:lnSpc>
                <a:spcPct val="112000"/>
              </a:lnSpc>
              <a:spcBef>
                <a:spcPts val="0"/>
              </a:spcBef>
              <a:spcAft>
                <a:spcPts val="900"/>
              </a:spcAft>
            </a:pPr>
            <a:r>
              <a:rPr sz="1500" b="0" i="0">
                <a:solidFill>
                  <a:srgbClr val="FFFFFF"/>
                </a:solidFill>
                <a:latin typeface="Arial"/>
              </a:rPr>
              <a:t>D.  An upper overextended volume level</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does the book say volume extremes can be called overbought or oversold only in retrospect?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Volume is not an oscillator</a:t>
            </a:r>
          </a:p>
          <a:p>
            <a:pPr algn="l">
              <a:lnSpc>
                <a:spcPct val="112000"/>
              </a:lnSpc>
              <a:spcBef>
                <a:spcPts val="0"/>
              </a:spcBef>
              <a:spcAft>
                <a:spcPts val="900"/>
              </a:spcAft>
            </a:pPr>
            <a:r>
              <a:rPr sz="1500" b="0" i="0">
                <a:solidFill>
                  <a:srgbClr val="FFFFFF"/>
                </a:solidFill>
                <a:latin typeface="Arial"/>
              </a:rPr>
              <a:t>B.  Volume extremes only occur at bottoms</a:t>
            </a:r>
          </a:p>
          <a:p>
            <a:pPr algn="l">
              <a:lnSpc>
                <a:spcPct val="112000"/>
              </a:lnSpc>
              <a:spcBef>
                <a:spcPts val="0"/>
              </a:spcBef>
              <a:spcAft>
                <a:spcPts val="900"/>
              </a:spcAft>
            </a:pPr>
            <a:r>
              <a:rPr sz="1500" b="0" i="0">
                <a:solidFill>
                  <a:srgbClr val="FFFFFF"/>
                </a:solidFill>
                <a:latin typeface="Arial"/>
              </a:rPr>
              <a:t>C.  An overextension can signal either a top or a bottom</a:t>
            </a:r>
          </a:p>
          <a:p>
            <a:pPr algn="l">
              <a:lnSpc>
                <a:spcPct val="112000"/>
              </a:lnSpc>
              <a:spcBef>
                <a:spcPts val="0"/>
              </a:spcBef>
              <a:spcAft>
                <a:spcPts val="900"/>
              </a:spcAft>
            </a:pPr>
            <a:r>
              <a:rPr sz="1500" b="0" i="0">
                <a:solidFill>
                  <a:srgbClr val="FFFFFF"/>
                </a:solidFill>
                <a:latin typeface="Arial"/>
              </a:rPr>
              <a:t>D.  Overbought levels are set by eye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6 - 6.1 Timing  |  Check 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Low volume turns and timeframes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market bottom forms on extremely low volume. The book calls it: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low volume bottom</a:t>
            </a:r>
          </a:p>
          <a:p>
            <a:pPr algn="l">
              <a:lnSpc>
                <a:spcPct val="115000"/>
              </a:lnSpc>
              <a:spcBef>
                <a:spcPts val="700"/>
              </a:spcBef>
              <a:spcAft>
                <a:spcPts val="0"/>
              </a:spcAft>
            </a:pPr>
            <a:r>
              <a:rPr sz="1600" b="0" i="0">
                <a:solidFill>
                  <a:srgbClr val="1A1A1A"/>
                </a:solidFill>
                <a:latin typeface="Arial"/>
              </a:rPr>
              <a:t>A market bottom associated with extremely low volume is a low volume bottom.</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Why does the book say volume extremes can be called overbought or oversold only in retrospect?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An overextension can signal either a top or a bottom</a:t>
            </a:r>
          </a:p>
          <a:p>
            <a:pPr algn="l">
              <a:lnSpc>
                <a:spcPct val="115000"/>
              </a:lnSpc>
              <a:spcBef>
                <a:spcPts val="700"/>
              </a:spcBef>
              <a:spcAft>
                <a:spcPts val="0"/>
              </a:spcAft>
            </a:pPr>
            <a:r>
              <a:rPr sz="1600" b="0" i="0">
                <a:solidFill>
                  <a:srgbClr val="1A1A1A"/>
                </a:solidFill>
                <a:latin typeface="Arial"/>
              </a:rPr>
              <a:t>Extreme buying and selling both generate volume, so only the top or bottom that follows tells which it was.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Check 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and the strength of a price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 of 21</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Barrier (Chapter 5): a resistance above price stops a rise; a support below price stops a fall.</a:t>
            </a:r>
          </a:p>
          <a:p>
            <a:pPr algn="l">
              <a:lnSpc>
                <a:spcPct val="105000"/>
              </a:lnSpc>
              <a:spcBef>
                <a:spcPts val="0"/>
              </a:spcBef>
              <a:spcAft>
                <a:spcPts val="1100"/>
              </a:spcAft>
            </a:pPr>
            <a:r>
              <a:rPr sz="1700" b="0" i="0">
                <a:solidFill>
                  <a:srgbClr val="1A1A1A"/>
                </a:solidFill>
                <a:latin typeface="Arial"/>
              </a:rPr>
              <a:t>Retest (Chapter 5): price coming back later to a barrier it touched before.</a:t>
            </a:r>
          </a:p>
          <a:p>
            <a:pPr algn="l">
              <a:lnSpc>
                <a:spcPct val="105000"/>
              </a:lnSpc>
              <a:spcBef>
                <a:spcPts val="0"/>
              </a:spcBef>
              <a:spcAft>
                <a:spcPts val="1100"/>
              </a:spcAft>
            </a:pPr>
            <a:r>
              <a:rPr sz="1700" b="0" i="0">
                <a:solidFill>
                  <a:srgbClr val="1A1A1A"/>
                </a:solidFill>
                <a:latin typeface="Arial"/>
              </a:rPr>
              <a:t>Volume peak: the tallest bar comes at the touch, the bar where price meets the barrier. Resistance 1, Support 1.</a:t>
            </a:r>
          </a:p>
          <a:p>
            <a:pPr algn="l">
              <a:lnSpc>
                <a:spcPct val="105000"/>
              </a:lnSpc>
              <a:spcBef>
                <a:spcPts val="0"/>
              </a:spcBef>
              <a:spcAft>
                <a:spcPts val="1100"/>
              </a:spcAft>
            </a:pPr>
            <a:r>
              <a:rPr sz="1700" b="0" i="0">
                <a:solidFill>
                  <a:srgbClr val="1A1A1A"/>
                </a:solidFill>
                <a:latin typeface="Arial"/>
              </a:rPr>
              <a:t>Volume dip or trough: the shortest bar comes at the touch. Resistance 2, Support 2.</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519379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the peak is the most reliable.</a:t>
            </a:r>
          </a:p>
        </p:txBody>
      </p:sp>
      <p:sp>
        <p:nvSpPr>
          <p:cNvPr id="10" name="Rectangle 9"/>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6.18</a:t>
            </a:r>
          </a:p>
          <a:p>
            <a:pPr algn="l">
              <a:lnSpc>
                <a:spcPct val="120000"/>
              </a:lnSpc>
              <a:spcBef>
                <a:spcPts val="0"/>
              </a:spcBef>
              <a:spcAft>
                <a:spcPts val="1400"/>
              </a:spcAft>
            </a:pPr>
            <a:r>
              <a:rPr sz="1800" b="0" i="0">
                <a:solidFill>
                  <a:srgbClr val="1A1A1A"/>
                </a:solidFill>
                <a:latin typeface="Palatino"/>
              </a:rPr>
              <a:t>Four sketches under the question which price barrier is more reliable. Resistance 1 and Support 1 are each touched as volume peaks; Resistance 2 and Support 2 are each touched as volume dips to its lowest.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6.18 -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p.187 and Figure 6.18. Barrier and retest: Chapter 5's words. The book gives no volume number for a peak or a dip.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 volume peak makes the stronger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twice, price rises to PHP 60 and turns down. Volume in millions of shares.</a:t>
            </a:r>
          </a:p>
          <a:p>
            <a:pPr algn="l">
              <a:lnSpc>
                <a:spcPct val="105000"/>
              </a:lnSpc>
              <a:spcBef>
                <a:spcPts val="0"/>
              </a:spcBef>
              <a:spcAft>
                <a:spcPts val="1100"/>
              </a:spcAft>
            </a:pPr>
            <a:r>
              <a:rPr sz="1700" b="0" i="0">
                <a:solidFill>
                  <a:srgbClr val="1A1A1A"/>
                </a:solidFill>
                <a:latin typeface="Arial"/>
              </a:rPr>
              <a:t>A: 9 million at the touch, more than any other bar. Even that surge could not get through, so traders expect PHP 60 to hold.</a:t>
            </a:r>
          </a:p>
          <a:p>
            <a:pPr algn="l">
              <a:lnSpc>
                <a:spcPct val="105000"/>
              </a:lnSpc>
              <a:spcBef>
                <a:spcPts val="0"/>
              </a:spcBef>
              <a:spcAft>
                <a:spcPts val="1100"/>
              </a:spcAft>
            </a:pPr>
            <a:r>
              <a:rPr sz="1700" b="0" i="0">
                <a:solidFill>
                  <a:srgbClr val="1A1A1A"/>
                </a:solidFill>
                <a:latin typeface="Arial"/>
              </a:rPr>
              <a:t>B: 0.5 million at the touch, less than any other bar. It held only for lack of buying: hardly anyone tried.</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 a retest, A is the stronger barrier.</a:t>
            </a:r>
          </a:p>
        </p:txBody>
      </p:sp>
      <p:sp>
        <p:nvSpPr>
          <p:cNvPr id="10" name="TextBox 9"/>
          <p:cNvSpPr txBox="1"/>
          <p:nvPr/>
        </p:nvSpPr>
        <p:spPr>
          <a:xfrm>
            <a:off x="777240" y="545896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since expectation is everything in the market, that confidence goes a long way.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ra.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p.187: the reasons are the book's. Ours: PHP 60 and every volume number, invented to show the two shapes.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kinds of volume action at a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3 of 21</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Across: the bars before, at and after the touch, which the dashed arrow marks. Only the volume differs between sketches.</a:t>
            </a:r>
          </a:p>
          <a:p>
            <a:pPr algn="l">
              <a:lnSpc>
                <a:spcPct val="105000"/>
              </a:lnSpc>
              <a:spcBef>
                <a:spcPts val="0"/>
              </a:spcBef>
              <a:spcAft>
                <a:spcPts val="1100"/>
              </a:spcAft>
            </a:pPr>
            <a:r>
              <a:rPr sz="1700" b="0" i="0">
                <a:solidFill>
                  <a:srgbClr val="1A1A1A"/>
                </a:solidFill>
                <a:latin typeface="Arial"/>
              </a:rPr>
              <a:t>1 Increasing: each bar taller. 2 Decreasing: each shorter. 3 Peaking: tallest at the touch.</a:t>
            </a:r>
          </a:p>
          <a:p>
            <a:pPr algn="l">
              <a:lnSpc>
                <a:spcPct val="105000"/>
              </a:lnSpc>
              <a:spcBef>
                <a:spcPts val="0"/>
              </a:spcBef>
              <a:spcAft>
                <a:spcPts val="1100"/>
              </a:spcAft>
            </a:pPr>
            <a:r>
              <a:rPr sz="1700" b="0" i="0">
                <a:solidFill>
                  <a:srgbClr val="1A1A1A"/>
                </a:solidFill>
                <a:latin typeface="Arial"/>
              </a:rPr>
              <a:t>4 Bottoming: shortest at the touch. 5 Flatlining: all alike.</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46227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Top: resistance. Bottom: support.</a:t>
            </a:r>
          </a:p>
        </p:txBody>
      </p:sp>
      <p:sp>
        <p:nvSpPr>
          <p:cNvPr id="10" name="TextBox 9"/>
          <p:cNvSpPr txBox="1"/>
          <p:nvPr/>
        </p:nvSpPr>
        <p:spPr>
          <a:xfrm>
            <a:off x="777240" y="5458968"/>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increasing or decreasing volume there signifies a change in sentiment, the crowd's mood (Chapter 1).</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6.19</a:t>
            </a:r>
          </a:p>
          <a:p>
            <a:pPr algn="l">
              <a:lnSpc>
                <a:spcPct val="120000"/>
              </a:lnSpc>
              <a:spcBef>
                <a:spcPts val="0"/>
              </a:spcBef>
              <a:spcAft>
                <a:spcPts val="1400"/>
              </a:spcAft>
            </a:pPr>
            <a:r>
              <a:rPr sz="1800" b="0" i="0">
                <a:solidFill>
                  <a:srgbClr val="1A1A1A"/>
                </a:solidFill>
                <a:latin typeface="Palatino"/>
              </a:rPr>
              <a:t>Ten sketches in two rows, five at a resistance and five at a support, each with volume bars under the turn: increasing, decreasing, peaking, bottoming and flatlining across the barrier.</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6.19 -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pp.187-188 and Figure 6.19. Across: the book does not define it; this reading is ours, from the figure.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Increasing volume: price driven away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4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Increasing, ours: 1, 2, 3 million on the way in, 4 at the touch, 5, 6, 7 on the way out.</a:t>
            </a:r>
          </a:p>
          <a:p>
            <a:pPr algn="l">
              <a:lnSpc>
                <a:spcPct val="105000"/>
              </a:lnSpc>
              <a:spcBef>
                <a:spcPts val="0"/>
              </a:spcBef>
              <a:spcAft>
                <a:spcPts val="1100"/>
              </a:spcAft>
            </a:pPr>
            <a:r>
              <a:rPr sz="1700" b="0" i="0">
                <a:solidFill>
                  <a:srgbClr val="1A1A1A"/>
                </a:solidFill>
                <a:latin typeface="Arial"/>
              </a:rPr>
              <a:t>The book: rising volume on the way in looks strong enough to break through. Instead price turns, and the rising volume drives it away.</a:t>
            </a:r>
          </a:p>
          <a:p>
            <a:pPr algn="l">
              <a:lnSpc>
                <a:spcPct val="105000"/>
              </a:lnSpc>
              <a:spcBef>
                <a:spcPts val="0"/>
              </a:spcBef>
              <a:spcAft>
                <a:spcPts val="1100"/>
              </a:spcAft>
            </a:pPr>
            <a:r>
              <a:rPr sz="1700" b="0" i="0">
                <a:solidFill>
                  <a:srgbClr val="1A1A1A"/>
                </a:solidFill>
                <a:latin typeface="Arial"/>
              </a:rPr>
              <a:t>At a resistance price falls as volume rises: Part 1's bearish confirmation. At a support both rise: bullish confirmation.</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Rising volume across a barrier confirms the turn away from it.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Confirmation, bullish and bearish: Part 1. The chart is ours: sketches and invented volume.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Decreasing volume: a retest is likely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5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Decreasing, ours: 7, 6, 5 million on the way in, 4 at the touch, 3, 2, 1 on the way out.</a:t>
            </a:r>
          </a:p>
          <a:p>
            <a:pPr algn="l">
              <a:lnSpc>
                <a:spcPct val="105000"/>
              </a:lnSpc>
              <a:spcBef>
                <a:spcPts val="0"/>
              </a:spcBef>
              <a:spcAft>
                <a:spcPts val="1100"/>
              </a:spcAft>
            </a:pPr>
            <a:r>
              <a:rPr sz="1700" b="0" i="0">
                <a:solidFill>
                  <a:srgbClr val="1A1A1A"/>
                </a:solidFill>
                <a:latin typeface="Arial"/>
              </a:rPr>
              <a:t>The book: falling volume on the way in looks like too little force to take price through.</a:t>
            </a:r>
          </a:p>
          <a:p>
            <a:pPr algn="l">
              <a:lnSpc>
                <a:spcPct val="105000"/>
              </a:lnSpc>
              <a:spcBef>
                <a:spcPts val="0"/>
              </a:spcBef>
              <a:spcAft>
                <a:spcPts val="1100"/>
              </a:spcAft>
            </a:pPr>
            <a:r>
              <a:rPr sz="1700" b="0" i="0">
                <a:solidFill>
                  <a:srgbClr val="1A1A1A"/>
                </a:solidFill>
                <a:latin typeface="Arial"/>
              </a:rPr>
              <a:t>Price turns, and volume falls even further: little force is driving price away.</a:t>
            </a:r>
          </a:p>
          <a:p>
            <a:pPr algn="l">
              <a:lnSpc>
                <a:spcPct val="105000"/>
              </a:lnSpc>
              <a:spcBef>
                <a:spcPts val="0"/>
              </a:spcBef>
              <a:spcAft>
                <a:spcPts val="1100"/>
              </a:spcAft>
            </a:pPr>
            <a:r>
              <a:rPr sz="1700" b="0" i="0">
                <a:solidFill>
                  <a:srgbClr val="1A1A1A"/>
                </a:solidFill>
                <a:latin typeface="Arial"/>
              </a:rPr>
              <a:t>So a retest is likely; in extreme cases price goes through, a penetration (Chapter 2).</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Falling volume across a barrier invites a retest.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b.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RB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Penetration: Chapter 2. The chart is ours: sketches and invented volume, its retests drawn from the book's words.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Peaking, bottoming and flatlining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6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Peaking, ours: 1, 2, 4, 7 at the touch, 4, 2, 1. Figure 6.18's peak: most reliable.</a:t>
            </a:r>
          </a:p>
          <a:p>
            <a:pPr algn="l">
              <a:lnSpc>
                <a:spcPct val="105000"/>
              </a:lnSpc>
              <a:spcBef>
                <a:spcPts val="0"/>
              </a:spcBef>
              <a:spcAft>
                <a:spcPts val="1100"/>
              </a:spcAft>
            </a:pPr>
            <a:r>
              <a:rPr sz="1700" b="0" i="0">
                <a:solidFill>
                  <a:srgbClr val="1A1A1A"/>
                </a:solidFill>
                <a:latin typeface="Arial"/>
              </a:rPr>
              <a:t>Bottoming: 7, 4, 2, 1 at the touch, 2, 4, 7. Figure 6.18's dip: less reliable.</a:t>
            </a:r>
          </a:p>
          <a:p>
            <a:pPr algn="l">
              <a:lnSpc>
                <a:spcPct val="105000"/>
              </a:lnSpc>
              <a:spcBef>
                <a:spcPts val="0"/>
              </a:spcBef>
              <a:spcAft>
                <a:spcPts val="1100"/>
              </a:spcAft>
            </a:pPr>
            <a:r>
              <a:rPr sz="1700" b="0" i="0">
                <a:solidFill>
                  <a:srgbClr val="1A1A1A"/>
                </a:solidFill>
                <a:latin typeface="Arial"/>
              </a:rPr>
              <a:t>Flatlining: 4 on every bar. The book: not enough information about price's next move.</a:t>
            </a:r>
          </a:p>
          <a:p>
            <a:pPr algn="l">
              <a:lnSpc>
                <a:spcPct val="105000"/>
              </a:lnSpc>
              <a:spcBef>
                <a:spcPts val="0"/>
              </a:spcBef>
              <a:spcAft>
                <a:spcPts val="1100"/>
              </a:spcAft>
            </a:pPr>
            <a:r>
              <a:rPr sz="1700" b="0" i="0">
                <a:solidFill>
                  <a:srgbClr val="1A1A1A"/>
                </a:solidFill>
                <a:latin typeface="Arial"/>
              </a:rPr>
              <a:t>The other two: increasing confirms the turn, decreasing invites a retest.</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peak is the most reliable; the book does not rank it against increasing.</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c.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RC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pp.187-188. The chart is ours: sketches and invented volume.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 at a price barrier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support is regarded as the most reliable barrier to future retests?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One formed at a volume peak</a:t>
            </a:r>
          </a:p>
          <a:p>
            <a:pPr algn="l">
              <a:lnSpc>
                <a:spcPct val="112000"/>
              </a:lnSpc>
              <a:spcBef>
                <a:spcPts val="0"/>
              </a:spcBef>
              <a:spcAft>
                <a:spcPts val="900"/>
              </a:spcAft>
            </a:pPr>
            <a:r>
              <a:rPr sz="1500" b="0" i="0">
                <a:solidFill>
                  <a:srgbClr val="FFFFFF"/>
                </a:solidFill>
                <a:latin typeface="Arial"/>
              </a:rPr>
              <a:t>B.  One formed across a volume trough</a:t>
            </a:r>
          </a:p>
          <a:p>
            <a:pPr algn="l">
              <a:lnSpc>
                <a:spcPct val="112000"/>
              </a:lnSpc>
              <a:spcBef>
                <a:spcPts val="0"/>
              </a:spcBef>
              <a:spcAft>
                <a:spcPts val="900"/>
              </a:spcAft>
            </a:pPr>
            <a:r>
              <a:rPr sz="1500" b="0" i="0">
                <a:solidFill>
                  <a:srgbClr val="FFFFFF"/>
                </a:solidFill>
                <a:latin typeface="Arial"/>
              </a:rPr>
              <a:t>C.  One formed on flatlining volume</a:t>
            </a:r>
          </a:p>
          <a:p>
            <a:pPr algn="l">
              <a:lnSpc>
                <a:spcPct val="112000"/>
              </a:lnSpc>
              <a:spcBef>
                <a:spcPts val="0"/>
              </a:spcBef>
              <a:spcAft>
                <a:spcPts val="900"/>
              </a:spcAft>
            </a:pPr>
            <a:r>
              <a:rPr sz="1500" b="0" i="0">
                <a:solidFill>
                  <a:srgbClr val="FFFFFF"/>
                </a:solidFill>
                <a:latin typeface="Arial"/>
              </a:rPr>
              <a:t>D.  One formed on decreasing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Volume decreases across a support as price touches it and turns. The book says this tends to see: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Price driven away with bullish confirmation</a:t>
            </a:r>
          </a:p>
          <a:p>
            <a:pPr algn="l">
              <a:lnSpc>
                <a:spcPct val="112000"/>
              </a:lnSpc>
              <a:spcBef>
                <a:spcPts val="0"/>
              </a:spcBef>
              <a:spcAft>
                <a:spcPts val="900"/>
              </a:spcAft>
            </a:pPr>
            <a:r>
              <a:rPr sz="1500" b="0" i="0">
                <a:solidFill>
                  <a:srgbClr val="FFFFFF"/>
                </a:solidFill>
                <a:latin typeface="Arial"/>
              </a:rPr>
              <a:t>B.  Not enough information to say</a:t>
            </a:r>
          </a:p>
          <a:p>
            <a:pPr algn="l">
              <a:lnSpc>
                <a:spcPct val="112000"/>
              </a:lnSpc>
              <a:spcBef>
                <a:spcPts val="0"/>
              </a:spcBef>
              <a:spcAft>
                <a:spcPts val="900"/>
              </a:spcAft>
            </a:pPr>
            <a:r>
              <a:rPr sz="1500" b="0" i="0">
                <a:solidFill>
                  <a:srgbClr val="FFFFFF"/>
                </a:solidFill>
                <a:latin typeface="Arial"/>
              </a:rPr>
              <a:t>C.  The strongest possible barrier</a:t>
            </a:r>
          </a:p>
          <a:p>
            <a:pPr algn="l">
              <a:lnSpc>
                <a:spcPct val="112000"/>
              </a:lnSpc>
              <a:spcBef>
                <a:spcPts val="0"/>
              </a:spcBef>
              <a:spcAft>
                <a:spcPts val="900"/>
              </a:spcAft>
            </a:pPr>
            <a:r>
              <a:rPr sz="1500" b="0" i="0">
                <a:solidFill>
                  <a:srgbClr val="FFFFFF"/>
                </a:solidFill>
                <a:latin typeface="Arial"/>
              </a:rPr>
              <a:t>D.  A retest of the barrier, or even a penetration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6 - 6.1 Filtering  |  Check 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 at a price barrier</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support is regarded as the most reliable barrier to future retests?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One formed at a volume peak</a:t>
            </a:r>
          </a:p>
          <a:p>
            <a:pPr algn="l">
              <a:lnSpc>
                <a:spcPct val="115000"/>
              </a:lnSpc>
              <a:spcBef>
                <a:spcPts val="700"/>
              </a:spcBef>
              <a:spcAft>
                <a:spcPts val="0"/>
              </a:spcAft>
            </a:pPr>
            <a:r>
              <a:rPr sz="1600" b="0" i="0">
                <a:solidFill>
                  <a:srgbClr val="1A1A1A"/>
                </a:solidFill>
                <a:latin typeface="Arial"/>
              </a:rPr>
              <a:t>Support formed at a volume peak held against a large surge in volume, so traders expect it to hold.</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Volume decreases across a support as price touches it and turns. The book says this tends to see:</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retest of the barrier, or even a penetration</a:t>
            </a:r>
          </a:p>
          <a:p>
            <a:pPr algn="l">
              <a:lnSpc>
                <a:spcPct val="115000"/>
              </a:lnSpc>
              <a:spcBef>
                <a:spcPts val="700"/>
              </a:spcBef>
              <a:spcAft>
                <a:spcPts val="0"/>
              </a:spcAft>
            </a:pPr>
            <a:r>
              <a:rPr sz="1600" b="0" i="0">
                <a:solidFill>
                  <a:srgbClr val="1A1A1A"/>
                </a:solidFill>
                <a:latin typeface="Arial"/>
              </a:rPr>
              <a:t>Decreasing volume across support or resistance tends to see a retest, and in extreme cases a penetration.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Check 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Filtering volume action: four ways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7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Filtering picks out the most significant volume: what may lead to a top or bottom.</a:t>
            </a:r>
          </a:p>
          <a:p>
            <a:pPr algn="l">
              <a:lnSpc>
                <a:spcPct val="105000"/>
              </a:lnSpc>
              <a:spcBef>
                <a:spcPts val="0"/>
              </a:spcBef>
              <a:spcAft>
                <a:spcPts val="1100"/>
              </a:spcAft>
            </a:pPr>
            <a:r>
              <a:rPr sz="1700" b="0" i="0">
                <a:solidFill>
                  <a:srgbClr val="1A1A1A"/>
                </a:solidFill>
                <a:latin typeface="Arial"/>
              </a:rPr>
              <a:t>Four of the book's numerous ways: 1 a moving average filter, which it calls the smoothed volume filter, 2 a volatility filter, 3 prior volume peaks, 4 volume cycles.</a:t>
            </a:r>
          </a:p>
          <a:p>
            <a:pPr algn="l">
              <a:lnSpc>
                <a:spcPct val="105000"/>
              </a:lnSpc>
              <a:spcBef>
                <a:spcPts val="0"/>
              </a:spcBef>
              <a:spcAft>
                <a:spcPts val="1100"/>
              </a:spcAft>
            </a:pPr>
            <a:r>
              <a:rPr sz="1700" b="0" i="0">
                <a:solidFill>
                  <a:srgbClr val="1A1A1A"/>
                </a:solidFill>
                <a:latin typeface="Arial"/>
              </a:rPr>
              <a:t>1 and 2 are worked next. 3 is named and never explained. 4 comes in Part 5.</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Gold: the volume each filter keeps.</a:t>
            </a:r>
          </a:p>
        </p:txBody>
      </p:sp>
      <p:sp>
        <p:nvSpPr>
          <p:cNvPr id="10" name="TextBox 9"/>
          <p:cNvSpPr txBox="1"/>
          <p:nvPr/>
        </p:nvSpPr>
        <p:spPr>
          <a:xfrm>
            <a:off x="777240" y="545896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Panel 3 is our reading, not examinable: like Part 2's upper overextended volume level, set at earlier climax volume.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the four are the book's, from among numerous ways. Prior volume peaks: named on p.188 only. The chart is ours, on invented volume.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Filters 1 and 2 in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8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filter 1: the line is the average of the last 8 bars, about 1 million.</a:t>
            </a:r>
          </a:p>
          <a:p>
            <a:pPr algn="l">
              <a:lnSpc>
                <a:spcPct val="105000"/>
              </a:lnSpc>
              <a:spcBef>
                <a:spcPts val="0"/>
              </a:spcBef>
              <a:spcAft>
                <a:spcPts val="1100"/>
              </a:spcAft>
            </a:pPr>
            <a:r>
              <a:rPr sz="1700" b="0" i="0">
                <a:solidFill>
                  <a:srgbClr val="1A1A1A"/>
                </a:solidFill>
                <a:latin typeface="Arial"/>
              </a:rPr>
              <a:t>How far above counts? The book gives no measure. Our rule: over twice the average.</a:t>
            </a:r>
          </a:p>
          <a:p>
            <a:pPr algn="l">
              <a:lnSpc>
                <a:spcPct val="105000"/>
              </a:lnSpc>
              <a:spcBef>
                <a:spcPts val="0"/>
              </a:spcBef>
              <a:spcAft>
                <a:spcPts val="1100"/>
              </a:spcAft>
            </a:pPr>
            <a:r>
              <a:rPr sz="1700" b="0" i="0">
                <a:solidFill>
                  <a:srgbClr val="1A1A1A"/>
                </a:solidFill>
                <a:latin typeface="Arial"/>
              </a:rPr>
              <a:t>1.4 million is just over the line: ordinary. The 3.0 and 2.8 million spikes: kept.</a:t>
            </a:r>
          </a:p>
          <a:p>
            <a:pPr algn="l">
              <a:lnSpc>
                <a:spcPct val="105000"/>
              </a:lnSpc>
              <a:spcBef>
                <a:spcPts val="0"/>
              </a:spcBef>
              <a:spcAft>
                <a:spcPts val="1100"/>
              </a:spcAft>
            </a:pPr>
            <a:r>
              <a:rPr sz="1700" b="0" i="0">
                <a:solidFill>
                  <a:srgbClr val="1A1A1A"/>
                </a:solidFill>
                <a:latin typeface="Arial"/>
              </a:rPr>
              <a:t>Filter 2: only the 3.2 bar crosses its higher line; the 1.9 bar is dropped.</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Filter 1 is the book's smoothed volume filter: next.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sa.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SA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a spike above the line is significant; no measure of how far. Ours: the volume, the 8 bars, the twice rule and filter 2's stand-in line.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Smoothed volume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9 of 21</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An average of recent volume, drawn over the volume bars. A spike well above it stands out.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 chart: each point is the average of the last 20 volume bars. Four spikes stand well above it.</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smoothed volume filter is simply a moving average based on volume, instead of price. Volume spiking above this overextended moving average line is considered significant, and may lead to a top or bottom.</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t.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T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The chart is ours, on invented volume; its line is a 20-bar simple average of volume we computed.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Choosing the average's length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10 of 21</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The average is slide 57's smoothed volume filter, over the last N bars. N, the lookback, is how many bars go into it.</a:t>
            </a:r>
          </a:p>
          <a:p>
            <a:pPr algn="l">
              <a:lnSpc>
                <a:spcPct val="105000"/>
              </a:lnSpc>
              <a:spcBef>
                <a:spcPts val="0"/>
              </a:spcBef>
              <a:spcAft>
                <a:spcPts val="1100"/>
              </a:spcAft>
            </a:pPr>
            <a:r>
              <a:rPr sz="1600" b="0" i="0">
                <a:solidFill>
                  <a:srgbClr val="1A1A1A"/>
                </a:solidFill>
                <a:latin typeface="Arial"/>
              </a:rPr>
              <a:t>Short N, 5 bars say: hugs the bars closely, ordinary ones cross it too, many false signals.</a:t>
            </a:r>
          </a:p>
          <a:p>
            <a:pPr algn="l">
              <a:lnSpc>
                <a:spcPct val="105000"/>
              </a:lnSpc>
              <a:spcBef>
                <a:spcPts val="0"/>
              </a:spcBef>
              <a:spcAft>
                <a:spcPts val="1100"/>
              </a:spcAft>
            </a:pPr>
            <a:r>
              <a:rPr sz="1600" b="0" i="0">
                <a:solidFill>
                  <a:srgbClr val="1A1A1A"/>
                </a:solidFill>
                <a:latin typeface="Arial"/>
              </a:rPr>
              <a:t>Long N, 100 bars say: slow and flat, only huge spikes cross it, few signals, some turns missed.</a:t>
            </a:r>
          </a:p>
        </p:txBody>
      </p:sp>
      <p:sp>
        <p:nvSpPr>
          <p:cNvPr id="8" name="Rectangle 7"/>
          <p:cNvSpPr/>
          <p:nvPr/>
        </p:nvSpPr>
        <p:spPr>
          <a:xfrm>
            <a:off x="777240" y="4453128"/>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89704"/>
            <a:ext cx="464515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The right N sits in between. How to find it: next slide.</a:t>
            </a:r>
          </a:p>
        </p:txBody>
      </p:sp>
      <p:sp>
        <p:nvSpPr>
          <p:cNvPr id="10" name="TextBox 9"/>
          <p:cNvSpPr txBox="1"/>
          <p:nvPr/>
        </p:nvSpPr>
        <p:spPr>
          <a:xfrm>
            <a:off x="777240" y="5318760"/>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6.20: each dotted arrow runs from a spike crossing the line up to a top or a bottom.</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6.20</a:t>
            </a:r>
          </a:p>
          <a:p>
            <a:pPr algn="l">
              <a:lnSpc>
                <a:spcPct val="120000"/>
              </a:lnSpc>
              <a:spcBef>
                <a:spcPts val="0"/>
              </a:spcBef>
              <a:spcAft>
                <a:spcPts val="1400"/>
              </a:spcAft>
            </a:pPr>
            <a:r>
              <a:rPr sz="1800" b="0" i="0">
                <a:solidFill>
                  <a:srgbClr val="1A1A1A"/>
                </a:solidFill>
                <a:latin typeface="Palatino"/>
              </a:rPr>
              <a:t>The daily USDJPY chart with a smoothed volume line across its volume panel, labelled moving average overextension threshold. Dotted arrows rise from the overextensions in volume to tops and bottoms in price.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6.20 -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and Figure 6.20.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Choosing the length,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11 of 21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Backtest: run the filter on past prices with a few different N, and see which one actually caught the real tops and bottoms. Keep that N.</a:t>
            </a:r>
          </a:p>
          <a:p>
            <a:pPr algn="l">
              <a:lnSpc>
                <a:spcPct val="118000"/>
              </a:lnSpc>
              <a:spcBef>
                <a:spcPts val="0"/>
              </a:spcBef>
              <a:spcAft>
                <a:spcPts val="1300"/>
              </a:spcAft>
            </a:pPr>
            <a:r>
              <a:rPr sz="2100" b="0" i="0">
                <a:solidFill>
                  <a:srgbClr val="1A1A1A"/>
                </a:solidFill>
                <a:latin typeface="Arial"/>
              </a:rPr>
              <a:t>Rule of thumb: set N to the dominant trading cycle period, or half of it. Ours, invented: swings about 40 bars peak to peak give N = 40, or N = 20.</a:t>
            </a:r>
          </a:p>
          <a:p>
            <a:pPr algn="l">
              <a:lnSpc>
                <a:spcPct val="118000"/>
              </a:lnSpc>
              <a:spcBef>
                <a:spcPts val="0"/>
              </a:spcBef>
              <a:spcAft>
                <a:spcPts val="1300"/>
              </a:spcAft>
            </a:pPr>
            <a:r>
              <a:rPr sz="2100" b="0" i="0">
                <a:solidFill>
                  <a:srgbClr val="1A1A1A"/>
                </a:solidFill>
                <a:latin typeface="Arial"/>
              </a:rPr>
              <a:t>The book gives no fixed N. Not that any N works: the right N is found for each market, by backtest or by this rule of thumb.</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 universal lookback. A method for finding one, for this market.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Ours: the worked cycle number and the actionable backtest description.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Two- or three-sigma volume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12 of 21</a:t>
            </a:r>
          </a:p>
        </p:txBody>
      </p:sp>
      <p:sp>
        <p:nvSpPr>
          <p:cNvPr id="8" name="Rectangle 7"/>
          <p:cNvSpPr/>
          <p:nvPr/>
        </p:nvSpPr>
        <p:spPr>
          <a:xfrm>
            <a:off x="777240" y="2258568"/>
            <a:ext cx="64008" cy="841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950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Sigma is the standard deviation: how far volume typically strays from its own mean, over the same N bars. The line: Upper = mean + k x sigma, k = 3 here, or 2.</a:t>
            </a:r>
          </a:p>
        </p:txBody>
      </p:sp>
      <p:sp>
        <p:nvSpPr>
          <p:cNvPr id="10" name="Rectangle 9"/>
          <p:cNvSpPr/>
          <p:nvPr/>
        </p:nvSpPr>
        <p:spPr>
          <a:xfrm>
            <a:off x="777240" y="3355848"/>
            <a:ext cx="64008" cy="10546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10128"/>
            <a:ext cx="576072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Worked, ours: the last 20 bars average 10 million shares, sigma 2 million. 3-sigma line = 10 + 3x2 = 16 million: 12 million does not cross, 18 million does. 2-sigma line = 14 million, so it flags more bars.</a:t>
            </a:r>
          </a:p>
        </p:txBody>
      </p:sp>
      <p:sp>
        <p:nvSpPr>
          <p:cNvPr id="12" name="Rectangle 11"/>
          <p:cNvSpPr/>
          <p:nvPr/>
        </p:nvSpPr>
        <p:spPr>
          <a:xfrm>
            <a:off x="777240" y="4666488"/>
            <a:ext cx="64008" cy="10546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20768"/>
            <a:ext cx="576072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A 2- or 3-sigma filter, also a volatility filter, keeps only the most significant surges: a Bollinger Band on volume, lines a set number of standard deviations above and below a moving average, upper band only, since only surges matter here.</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u.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U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Chart: ours, computed; divisor and window read from build/charts_chapter06.py, not guessed.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dotted line is drawn, bar by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13 of 21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At each bar: take its last 20 volume bars, this one included. Mean, then sigma. Plot mean + 3 x sigma. Move forward one bar, repeat.</a:t>
            </a:r>
          </a:p>
          <a:p>
            <a:pPr algn="l">
              <a:lnSpc>
                <a:spcPct val="118000"/>
              </a:lnSpc>
              <a:spcBef>
                <a:spcPts val="0"/>
              </a:spcBef>
              <a:spcAft>
                <a:spcPts val="1300"/>
              </a:spcAft>
            </a:pPr>
            <a:r>
              <a:rPr sz="2100" b="0" i="0">
                <a:solidFill>
                  <a:srgbClr val="1A1A1A"/>
                </a:solidFill>
                <a:latin typeface="Arial"/>
              </a:rPr>
              <a:t>That is why it jumps: a spike entering the window raises both at once, so the line leaps up, staying high until the spike leaves 20 bars later.</a:t>
            </a:r>
          </a:p>
          <a:p>
            <a:pPr algn="l">
              <a:lnSpc>
                <a:spcPct val="118000"/>
              </a:lnSpc>
              <a:spcBef>
                <a:spcPts val="0"/>
              </a:spcBef>
              <a:spcAft>
                <a:spcPts val="1300"/>
              </a:spcAft>
            </a:pPr>
            <a:r>
              <a:rPr sz="2100" b="0" i="0">
                <a:solidFill>
                  <a:srgbClr val="1A1A1A"/>
                </a:solidFill>
                <a:latin typeface="Arial"/>
              </a:rPr>
              <a:t>The book never says if sigma divides by 20 or 19, or if the bar sits in its own window. Our code divides by 20 and includes the bar.</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Recomputed from nothing at every bar: no memory beyond its window.</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gives only the words. Ours: how build/charts_chapter06.py actually computes it, read from the code, not guessed.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three-sigma filter on USDJPY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14 of 21</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Stepped line: the three-sigma filter, on daily USDJPY. The book marks three surges over it, arrows up to price.</a:t>
            </a:r>
          </a:p>
          <a:p>
            <a:pPr algn="l">
              <a:lnSpc>
                <a:spcPct val="105000"/>
              </a:lnSpc>
              <a:spcBef>
                <a:spcPts val="0"/>
              </a:spcBef>
              <a:spcAft>
                <a:spcPts val="1100"/>
              </a:spcAft>
            </a:pPr>
            <a:r>
              <a:rPr sz="1700" b="0" i="0">
                <a:solidFill>
                  <a:srgbClr val="1A1A1A"/>
                </a:solidFill>
                <a:latin typeface="Arial"/>
              </a:rPr>
              <a:t>Figure 6.20, same market, marked six. Stricter, this line skips the April 2011 top, the highest price, that 6.20 caught.</a:t>
            </a:r>
          </a:p>
          <a:p>
            <a:pPr algn="l">
              <a:lnSpc>
                <a:spcPct val="105000"/>
              </a:lnSpc>
              <a:spcBef>
                <a:spcPts val="0"/>
              </a:spcBef>
              <a:spcAft>
                <a:spcPts val="1100"/>
              </a:spcAft>
            </a:pPr>
            <a:r>
              <a:rPr sz="1700" b="0" i="0">
                <a:solidFill>
                  <a:srgbClr val="1A1A1A"/>
                </a:solidFill>
                <a:latin typeface="Arial"/>
              </a:rPr>
              <a:t>The two lower lines are drawn and not named by the book; only the top one is the filter.</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such surges tend to come at the most significant tops and bottoms.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6.21</a:t>
            </a:r>
          </a:p>
          <a:p>
            <a:pPr algn="l">
              <a:lnSpc>
                <a:spcPct val="120000"/>
              </a:lnSpc>
              <a:spcBef>
                <a:spcPts val="0"/>
              </a:spcBef>
              <a:spcAft>
                <a:spcPts val="1400"/>
              </a:spcAft>
            </a:pPr>
            <a:r>
              <a:rPr sz="1800" b="0" i="0">
                <a:solidFill>
                  <a:srgbClr val="1A1A1A"/>
                </a:solidFill>
                <a:latin typeface="Palatino"/>
              </a:rPr>
              <a:t>The daily USDJPY chart with a stepped line across its volume panel labelled 3-sigma volume overextension threshold, and dotted arrows from the few overextensions in volume above it to tops and bottoms in price.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6.21 -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and Figure 6.21. Ours: the counts of arrows and the April top, read off Figures 6.20 and 6.21.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draws the line on the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15 of 21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also names a standard deviation oscillator: an indicator in its own panel, as Part 1 used the word. It does not describe or draw one.</a:t>
            </a:r>
          </a:p>
          <a:p>
            <a:pPr algn="l">
              <a:lnSpc>
                <a:spcPct val="118000"/>
              </a:lnSpc>
              <a:spcBef>
                <a:spcPts val="0"/>
              </a:spcBef>
              <a:spcAft>
                <a:spcPts val="1300"/>
              </a:spcAft>
            </a:pPr>
            <a:r>
              <a:rPr sz="2100" b="0" i="0">
                <a:solidFill>
                  <a:srgbClr val="1A1A1A"/>
                </a:solidFill>
                <a:latin typeface="Arial"/>
              </a:rPr>
              <a:t>It is less useful, the book says, because it gives no overlay: a line drawn over the volume bars themselves, so a bar can be seen crossing it.</a:t>
            </a:r>
          </a:p>
          <a:p>
            <a:pPr algn="l">
              <a:lnSpc>
                <a:spcPct val="118000"/>
              </a:lnSpc>
              <a:spcBef>
                <a:spcPts val="0"/>
              </a:spcBef>
              <a:spcAft>
                <a:spcPts val="1300"/>
              </a:spcAft>
            </a:pPr>
            <a:r>
              <a:rPr sz="2100" b="0" i="0">
                <a:solidFill>
                  <a:srgbClr val="1A1A1A"/>
                </a:solidFill>
                <a:latin typeface="Arial"/>
              </a:rPr>
              <a:t>Figure 6.21's line stays high for months after the March spike, far beyond our 20 bars. The book never gives its N.</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to do: pick N as for the smoothed filter, then draw the 3-sigma line over the bars. A bar above it may mark a top or bottom.</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It names the oscillator and does not describe 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Filtering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smoothed volume filter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Bollinger Band on price</a:t>
            </a:r>
          </a:p>
          <a:p>
            <a:pPr algn="l">
              <a:lnSpc>
                <a:spcPct val="112000"/>
              </a:lnSpc>
              <a:spcBef>
                <a:spcPts val="0"/>
              </a:spcBef>
              <a:spcAft>
                <a:spcPts val="900"/>
              </a:spcAft>
            </a:pPr>
            <a:r>
              <a:rPr sz="1500" b="0" i="0">
                <a:solidFill>
                  <a:srgbClr val="FFFFFF"/>
                </a:solidFill>
                <a:latin typeface="Arial"/>
              </a:rPr>
              <a:t>B.  A moving average based on volume, instead of price</a:t>
            </a:r>
          </a:p>
          <a:p>
            <a:pPr algn="l">
              <a:lnSpc>
                <a:spcPct val="112000"/>
              </a:lnSpc>
              <a:spcBef>
                <a:spcPts val="0"/>
              </a:spcBef>
              <a:spcAft>
                <a:spcPts val="900"/>
              </a:spcAft>
            </a:pPr>
            <a:r>
              <a:rPr sz="1500" b="0" i="0">
                <a:solidFill>
                  <a:srgbClr val="FFFFFF"/>
                </a:solidFill>
                <a:latin typeface="Arial"/>
              </a:rPr>
              <a:t>C.  The lowest historical volume level</a:t>
            </a:r>
          </a:p>
          <a:p>
            <a:pPr algn="l">
              <a:lnSpc>
                <a:spcPct val="112000"/>
              </a:lnSpc>
              <a:spcBef>
                <a:spcPts val="0"/>
              </a:spcBef>
              <a:spcAft>
                <a:spcPts val="900"/>
              </a:spcAft>
            </a:pPr>
            <a:r>
              <a:rPr sz="1500" b="0" i="0">
                <a:solidFill>
                  <a:srgbClr val="FFFFFF"/>
                </a:solidFill>
                <a:latin typeface="Arial"/>
              </a:rPr>
              <a:t>D.  A count of trades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two- or three-sigma volume filter, which part of the Bollinger Band is used?</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lower band only</a:t>
            </a:r>
          </a:p>
          <a:p>
            <a:pPr algn="l">
              <a:lnSpc>
                <a:spcPct val="112000"/>
              </a:lnSpc>
              <a:spcBef>
                <a:spcPts val="0"/>
              </a:spcBef>
              <a:spcAft>
                <a:spcPts val="900"/>
              </a:spcAft>
            </a:pPr>
            <a:r>
              <a:rPr sz="1500" b="0" i="0">
                <a:solidFill>
                  <a:srgbClr val="FFFFFF"/>
                </a:solidFill>
                <a:latin typeface="Arial"/>
              </a:rPr>
              <a:t>B.  Both bands</a:t>
            </a:r>
          </a:p>
          <a:p>
            <a:pPr algn="l">
              <a:lnSpc>
                <a:spcPct val="112000"/>
              </a:lnSpc>
              <a:spcBef>
                <a:spcPts val="0"/>
              </a:spcBef>
              <a:spcAft>
                <a:spcPts val="900"/>
              </a:spcAft>
            </a:pPr>
            <a:r>
              <a:rPr sz="1500" b="0" i="0">
                <a:solidFill>
                  <a:srgbClr val="FFFFFF"/>
                </a:solidFill>
                <a:latin typeface="Arial"/>
              </a:rPr>
              <a:t>C.  The upper band only</a:t>
            </a:r>
          </a:p>
          <a:p>
            <a:pPr algn="l">
              <a:lnSpc>
                <a:spcPct val="112000"/>
              </a:lnSpc>
              <a:spcBef>
                <a:spcPts val="0"/>
              </a:spcBef>
              <a:spcAft>
                <a:spcPts val="900"/>
              </a:spcAft>
            </a:pPr>
            <a:r>
              <a:rPr sz="1500" b="0" i="0">
                <a:solidFill>
                  <a:srgbClr val="FFFFFF"/>
                </a:solidFill>
                <a:latin typeface="Arial"/>
              </a:rPr>
              <a:t>D.  The middle line only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6 - 6.1 Filtering  |  Check 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Filtering volume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smoothed volume filter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moving average based on volume, instead of price</a:t>
            </a:r>
          </a:p>
          <a:p>
            <a:pPr algn="l">
              <a:lnSpc>
                <a:spcPct val="115000"/>
              </a:lnSpc>
              <a:spcBef>
                <a:spcPts val="700"/>
              </a:spcBef>
              <a:spcAft>
                <a:spcPts val="0"/>
              </a:spcAft>
            </a:pPr>
            <a:r>
              <a:rPr sz="1600" b="0" i="0">
                <a:solidFill>
                  <a:srgbClr val="1A1A1A"/>
                </a:solidFill>
                <a:latin typeface="Arial"/>
              </a:rPr>
              <a:t>The book: a smoothed volume filter is simply a moving average based on volume, instead of price.</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a two- or three-sigma volume filter, which part of the Bollinger Band is used?</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upper band only</a:t>
            </a:r>
          </a:p>
          <a:p>
            <a:pPr algn="l">
              <a:lnSpc>
                <a:spcPct val="115000"/>
              </a:lnSpc>
              <a:spcBef>
                <a:spcPts val="700"/>
              </a:spcBef>
              <a:spcAft>
                <a:spcPts val="0"/>
              </a:spcAft>
            </a:pPr>
            <a:r>
              <a:rPr sz="1600" b="0" i="0">
                <a:solidFill>
                  <a:srgbClr val="1A1A1A"/>
                </a:solidFill>
                <a:latin typeface="Arial"/>
              </a:rPr>
              <a:t>Only the Bollinger upper band is used: the filter keeps the most significant surges.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Check 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filtered inflection points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16 of 21</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Only peaks and troughs (Chapter 5's inflection points) that came on heavy volume are used to draw lines.</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in millions: 1, 2, 3 came on 3.0, above our 2.5 line. Seven grey turns came on 1.0: dropped.</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Many practitioners use only peaks and troughs that are considered significant, that is, associated with above average volume, to construct trendlines and channels.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v.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Inflection point: Chapter 5. The chart is ours, invented.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Drawing a volume filtered channel,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17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Step 1. Mark every peak and trough.</a:t>
            </a:r>
          </a:p>
          <a:p>
            <a:pPr algn="l">
              <a:lnSpc>
                <a:spcPct val="105000"/>
              </a:lnSpc>
              <a:spcBef>
                <a:spcPts val="0"/>
              </a:spcBef>
              <a:spcAft>
                <a:spcPts val="1100"/>
              </a:spcAft>
            </a:pPr>
            <a:r>
              <a:rPr sz="1800" b="0" i="0">
                <a:solidFill>
                  <a:srgbClr val="1A1A1A"/>
                </a:solidFill>
                <a:latin typeface="Arial"/>
              </a:rPr>
              <a:t>Step 2. The book's rule: above average volume, 1.3 here. Its example draws a higher line by eye, and it never says which governs. Ours: 2.5. Only 1, 2, 3 reach it.</a:t>
            </a:r>
          </a:p>
          <a:p>
            <a:pPr algn="l">
              <a:lnSpc>
                <a:spcPct val="105000"/>
              </a:lnSpc>
              <a:spcBef>
                <a:spcPts val="0"/>
              </a:spcBef>
              <a:spcAft>
                <a:spcPts val="1100"/>
              </a:spcAft>
            </a:pPr>
            <a:r>
              <a:rPr sz="1800" b="0" i="0">
                <a:solidFill>
                  <a:srgbClr val="1A1A1A"/>
                </a:solidFill>
                <a:latin typeface="Arial"/>
              </a:rPr>
              <a:t>Step 3. Join peaks 1 (bar 22, PHP 52.00) and 2 (bar 62, PHP 56.00): PHP 4.00 in 40 bars, 0.10 a bar.</a:t>
            </a:r>
          </a:p>
          <a:p>
            <a:pPr algn="l">
              <a:lnSpc>
                <a:spcPct val="105000"/>
              </a:lnSpc>
              <a:spcBef>
                <a:spcPts val="0"/>
              </a:spcBef>
              <a:spcAft>
                <a:spcPts val="1100"/>
              </a:spcAft>
            </a:pPr>
            <a:r>
              <a:rPr sz="1800" b="0" i="0">
                <a:solidFill>
                  <a:srgbClr val="1A1A1A"/>
                </a:solidFill>
                <a:latin typeface="Arial"/>
              </a:rPr>
              <a:t>Step 4. The same slope through trough 3 (bar 44, PHP 49.00): the channel.</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va.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VA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steps and every number, invented. The method and both rules for the threshold are the book's, p.189.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channel from filtered points: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18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book's example: daily silver, with tick volume, the number of trades (Part 4).</a:t>
            </a:r>
          </a:p>
          <a:p>
            <a:pPr algn="l">
              <a:lnSpc>
                <a:spcPct val="105000"/>
              </a:lnSpc>
              <a:spcBef>
                <a:spcPts val="0"/>
              </a:spcBef>
              <a:spcAft>
                <a:spcPts val="1100"/>
              </a:spcAft>
            </a:pPr>
            <a:r>
              <a:rPr sz="1700" b="0" i="0">
                <a:solidFill>
                  <a:srgbClr val="1A1A1A"/>
                </a:solidFill>
                <a:latin typeface="Arial"/>
              </a:rPr>
              <a:t>A threshold drawn by visual inspection, so only the most significant peaks reach it. The oval rings July to August.</a:t>
            </a:r>
          </a:p>
          <a:p>
            <a:pPr algn="l">
              <a:lnSpc>
                <a:spcPct val="105000"/>
              </a:lnSpc>
              <a:spcBef>
                <a:spcPts val="0"/>
              </a:spcBef>
              <a:spcAft>
                <a:spcPts val="1100"/>
              </a:spcAft>
            </a:pPr>
            <a:r>
              <a:rPr sz="1700" b="0" i="0">
                <a:solidFill>
                  <a:srgbClr val="1A1A1A"/>
                </a:solidFill>
                <a:latin typeface="Arial"/>
              </a:rPr>
              <a:t>Two arrows: under Points 1 and 3, days apart, and under 2. Trendline 1 to 2, parallel from 3.</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At X price bounces off the lower line, a short-term buy, then falls through it.</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6.22</a:t>
            </a:r>
          </a:p>
          <a:p>
            <a:pPr algn="l">
              <a:lnSpc>
                <a:spcPct val="120000"/>
              </a:lnSpc>
              <a:spcBef>
                <a:spcPts val="0"/>
              </a:spcBef>
              <a:spcAft>
                <a:spcPts val="1400"/>
              </a:spcAft>
            </a:pPr>
            <a:r>
              <a:rPr sz="1800" b="0" i="0">
                <a:solidFill>
                  <a:srgbClr val="1A1A1A"/>
                </a:solidFill>
                <a:latin typeface="Palatino"/>
              </a:rPr>
              <a:t>The daily silver chart, XAGUSD, with a tick volume overextension threshold across its volume panel. Arrows rise from the circled tick volume peaks to points 1, 2 and 3; a channel is drawn from 1 and 2 with a parallel from 3, and price reacts at X.</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and Figure 6.22.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channel is for, and what the book leaves open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19 of 21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X is bar 72, 28 bars after trough 3 at bar 44. The lower line is there at 49.00 + 28 x 0.10 = PHP 51.80; price touches it and turns up.</a:t>
            </a:r>
          </a:p>
          <a:p>
            <a:pPr algn="l">
              <a:lnSpc>
                <a:spcPct val="118000"/>
              </a:lnSpc>
              <a:spcBef>
                <a:spcPts val="0"/>
              </a:spcBef>
              <a:spcAft>
                <a:spcPts val="1300"/>
              </a:spcAft>
            </a:pPr>
            <a:r>
              <a:rPr sz="2100" b="0" i="0">
                <a:solidFill>
                  <a:srgbClr val="1A1A1A"/>
                </a:solidFill>
                <a:latin typeface="Arial"/>
              </a:rPr>
              <a:t>Silver's April bars (labelled High tick volume level) and late September bars reach the line too; the channel uses only July to August, unexplained.</a:t>
            </a:r>
          </a:p>
          <a:p>
            <a:pPr algn="l">
              <a:lnSpc>
                <a:spcPct val="118000"/>
              </a:lnSpc>
              <a:spcBef>
                <a:spcPts val="0"/>
              </a:spcBef>
              <a:spcAft>
                <a:spcPts val="1300"/>
              </a:spcAft>
            </a:pPr>
            <a:r>
              <a:rPr sz="2100" b="0" i="0">
                <a:solidFill>
                  <a:srgbClr val="1A1A1A"/>
                </a:solidFill>
                <a:latin typeface="Arial"/>
              </a:rPr>
              <a:t>Chapter 5's uptrend line joined troughs; here the book joins two peaks and gives no reason. Either way, two parallels make the channel.</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to do: at the lower line, look for a short-term buy, as at silver's X. Falling through it violates the channel.</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6.22. Ours: the arithmetic at X, and what the figure's volume panel shows.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More channels from filtered points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20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Points numbered afresh. Ovals ring heavy volume under 1, under 3 and 2, under 5 and 6.</a:t>
            </a:r>
          </a:p>
          <a:p>
            <a:pPr algn="l">
              <a:lnSpc>
                <a:spcPct val="105000"/>
              </a:lnSpc>
              <a:spcBef>
                <a:spcPts val="0"/>
              </a:spcBef>
              <a:spcAft>
                <a:spcPts val="1100"/>
              </a:spcAft>
            </a:pPr>
            <a:r>
              <a:rPr sz="1700" b="0" i="0">
                <a:solidFill>
                  <a:srgbClr val="1A1A1A"/>
                </a:solidFill>
                <a:latin typeface="Arial"/>
              </a:rPr>
              <a:t>Trendline 1 to 2, parallel from 3: a large bearish candlestick, closing far below its open, breaks it.</a:t>
            </a:r>
          </a:p>
          <a:p>
            <a:pPr algn="l">
              <a:lnSpc>
                <a:spcPct val="105000"/>
              </a:lnSpc>
              <a:spcBef>
                <a:spcPts val="0"/>
              </a:spcBef>
              <a:spcAft>
                <a:spcPts val="1100"/>
              </a:spcAft>
            </a:pPr>
            <a:r>
              <a:rPr sz="1700" b="0" i="0">
                <a:solidFill>
                  <a:srgbClr val="1A1A1A"/>
                </a:solidFill>
                <a:latin typeface="Arial"/>
              </a:rPr>
              <a:t>A parallel from 4, carried back, meets the trough at X, January 2011: valid, the book says, with no third touch (Chapter 5).</a:t>
            </a:r>
          </a:p>
          <a:p>
            <a:pPr algn="l">
              <a:lnSpc>
                <a:spcPct val="105000"/>
              </a:lnSpc>
              <a:spcBef>
                <a:spcPts val="0"/>
              </a:spcBef>
              <a:spcAft>
                <a:spcPts val="1100"/>
              </a:spcAft>
            </a:pPr>
            <a:r>
              <a:rPr sz="1700" b="0" i="0">
                <a:solidFill>
                  <a:srgbClr val="1A1A1A"/>
                </a:solidFill>
                <a:latin typeface="Arial"/>
              </a:rPr>
              <a:t>Parallels from 5 and 6: a new channel.</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Every line runs parallel to 1 to 2.</a:t>
            </a:r>
          </a:p>
        </p:txBody>
      </p:sp>
      <p:sp>
        <p:nvSpPr>
          <p:cNvPr id="10" name="Rectangle 9"/>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6.23</a:t>
            </a:r>
          </a:p>
          <a:p>
            <a:pPr algn="l">
              <a:lnSpc>
                <a:spcPct val="120000"/>
              </a:lnSpc>
              <a:spcBef>
                <a:spcPts val="0"/>
              </a:spcBef>
              <a:spcAft>
                <a:spcPts val="1400"/>
              </a:spcAft>
            </a:pPr>
            <a:r>
              <a:rPr sz="1800" b="0" i="0">
                <a:solidFill>
                  <a:srgbClr val="1A1A1A"/>
                </a:solidFill>
                <a:latin typeface="Palatino"/>
              </a:rPr>
              <a:t>The same silver chart with more volume filtered points, numbered 1 to 6 and X. Several parallel rising lines are drawn through them, each from a point that came on overextended volume, forming channels that contain price.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6.23. Candlestick and valid: Chapters 3 and 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Figure 6.23 shows, and two things it leaves open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21 of 21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Every line has the slope of trendline 1 to 2, January to November 2011: one steady angle, which the book calls near perfect angular symmetry (Chapter 5).</a:t>
            </a:r>
          </a:p>
          <a:p>
            <a:pPr algn="l">
              <a:lnSpc>
                <a:spcPct val="118000"/>
              </a:lnSpc>
              <a:spcBef>
                <a:spcPts val="0"/>
              </a:spcBef>
              <a:spcAft>
                <a:spcPts val="1300"/>
              </a:spcAft>
            </a:pPr>
            <a:r>
              <a:rPr sz="2100" b="0" i="0">
                <a:solidFill>
                  <a:srgbClr val="1A1A1A"/>
                </a:solidFill>
                <a:latin typeface="Arial"/>
              </a:rPr>
              <a:t>The 5 and 6 channel: resistance at its top, support at its bottom. The book's lesson: build patterns on significant inflection points.</a:t>
            </a:r>
          </a:p>
          <a:p>
            <a:pPr algn="l">
              <a:lnSpc>
                <a:spcPct val="118000"/>
              </a:lnSpc>
              <a:spcBef>
                <a:spcPts val="0"/>
              </a:spcBef>
              <a:spcAft>
                <a:spcPts val="1300"/>
              </a:spcAft>
            </a:pPr>
            <a:r>
              <a:rPr sz="2100" b="0" i="0">
                <a:solidFill>
                  <a:srgbClr val="1A1A1A"/>
                </a:solidFill>
                <a:latin typeface="Arial"/>
              </a:rPr>
              <a:t>Open: the text calls it the same chart of USDJPY; caption and chart say silver.</a:t>
            </a:r>
          </a:p>
          <a:p>
            <a:pPr algn="l">
              <a:lnSpc>
                <a:spcPct val="118000"/>
              </a:lnSpc>
              <a:spcBef>
                <a:spcPts val="0"/>
              </a:spcBef>
              <a:spcAft>
                <a:spcPts val="1300"/>
              </a:spcAft>
            </a:pPr>
            <a:r>
              <a:rPr sz="2100" b="0" i="0">
                <a:solidFill>
                  <a:srgbClr val="1A1A1A"/>
                </a:solidFill>
                <a:latin typeface="Arial"/>
              </a:rPr>
              <a:t>Open: the figure rings no heavy volume under 4 or X, though both anchor lines.</a:t>
            </a:r>
          </a:p>
        </p:txBody>
      </p:sp>
      <p:sp>
        <p:nvSpPr>
          <p:cNvPr id="8" name="Rectangle 7"/>
          <p:cNvSpPr/>
          <p:nvPr/>
        </p:nvSpPr>
        <p:spPr>
          <a:xfrm>
            <a:off x="777240" y="489661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3318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Draw from heavily traded turns; watch the parallels for resistance and support.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6.23. Angular symmetry: Chapter 5. Ours: what the figure rings and what it does not.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Filtered inflection points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peaks and troughs are used to construct volume filtered trendlines and channels?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Every peak and trough on the chart</a:t>
            </a:r>
          </a:p>
          <a:p>
            <a:pPr algn="l">
              <a:lnSpc>
                <a:spcPct val="112000"/>
              </a:lnSpc>
              <a:spcBef>
                <a:spcPts val="0"/>
              </a:spcBef>
              <a:spcAft>
                <a:spcPts val="900"/>
              </a:spcAft>
            </a:pPr>
            <a:r>
              <a:rPr sz="1500" b="0" i="0">
                <a:solidFill>
                  <a:srgbClr val="FFFFFF"/>
                </a:solidFill>
                <a:latin typeface="Arial"/>
              </a:rPr>
              <a:t>B.  Only those associated with above average volume</a:t>
            </a:r>
          </a:p>
          <a:p>
            <a:pPr algn="l">
              <a:lnSpc>
                <a:spcPct val="112000"/>
              </a:lnSpc>
              <a:spcBef>
                <a:spcPts val="0"/>
              </a:spcBef>
              <a:spcAft>
                <a:spcPts val="900"/>
              </a:spcAft>
            </a:pPr>
            <a:r>
              <a:rPr sz="1500" b="0" i="0">
                <a:solidFill>
                  <a:srgbClr val="FFFFFF"/>
                </a:solidFill>
                <a:latin typeface="Arial"/>
              </a:rPr>
              <a:t>C.  Only those formed on minimal volume</a:t>
            </a:r>
          </a:p>
          <a:p>
            <a:pPr algn="l">
              <a:lnSpc>
                <a:spcPct val="112000"/>
              </a:lnSpc>
              <a:spcBef>
                <a:spcPts val="0"/>
              </a:spcBef>
              <a:spcAft>
                <a:spcPts val="900"/>
              </a:spcAft>
            </a:pPr>
            <a:r>
              <a:rPr sz="1500" b="0" i="0">
                <a:solidFill>
                  <a:srgbClr val="FFFFFF"/>
                </a:solidFill>
                <a:latin typeface="Arial"/>
              </a:rPr>
              <a:t>D.  Only those within a consolidation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Figure 6.22, how is the volume threshold drawn?</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By visual inspection, so only the most significant peaks reach it</a:t>
            </a:r>
          </a:p>
          <a:p>
            <a:pPr algn="l">
              <a:lnSpc>
                <a:spcPct val="112000"/>
              </a:lnSpc>
              <a:spcBef>
                <a:spcPts val="0"/>
              </a:spcBef>
              <a:spcAft>
                <a:spcPts val="900"/>
              </a:spcAft>
            </a:pPr>
            <a:r>
              <a:rPr sz="1500" b="0" i="0">
                <a:solidFill>
                  <a:srgbClr val="FFFFFF"/>
                </a:solidFill>
                <a:latin typeface="Arial"/>
              </a:rPr>
              <a:t>B.  As a 100-day moving average</a:t>
            </a:r>
          </a:p>
          <a:p>
            <a:pPr algn="l">
              <a:lnSpc>
                <a:spcPct val="112000"/>
              </a:lnSpc>
              <a:spcBef>
                <a:spcPts val="0"/>
              </a:spcBef>
              <a:spcAft>
                <a:spcPts val="900"/>
              </a:spcAft>
            </a:pPr>
            <a:r>
              <a:rPr sz="1500" b="0" i="0">
                <a:solidFill>
                  <a:srgbClr val="FFFFFF"/>
                </a:solidFill>
                <a:latin typeface="Arial"/>
              </a:rPr>
              <a:t>C.  At three standard deviations</a:t>
            </a:r>
          </a:p>
          <a:p>
            <a:pPr algn="l">
              <a:lnSpc>
                <a:spcPct val="112000"/>
              </a:lnSpc>
              <a:spcBef>
                <a:spcPts val="0"/>
              </a:spcBef>
              <a:spcAft>
                <a:spcPts val="900"/>
              </a:spcAft>
            </a:pPr>
            <a:r>
              <a:rPr sz="1500" b="0" i="0">
                <a:solidFill>
                  <a:srgbClr val="FFFFFF"/>
                </a:solidFill>
                <a:latin typeface="Arial"/>
              </a:rPr>
              <a:t>D.  At the lowest historical volume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6 - 6.1 Filtering  |  Check 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Filtered inflection points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peaks and troughs are used to construct volume filtered trendlines and channels?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Only those associated with above average volume</a:t>
            </a:r>
          </a:p>
          <a:p>
            <a:pPr algn="l">
              <a:lnSpc>
                <a:spcPct val="115000"/>
              </a:lnSpc>
              <a:spcBef>
                <a:spcPts val="700"/>
              </a:spcBef>
              <a:spcAft>
                <a:spcPts val="0"/>
              </a:spcAft>
            </a:pPr>
            <a:r>
              <a:rPr sz="1600" b="0" i="0">
                <a:solidFill>
                  <a:srgbClr val="1A1A1A"/>
                </a:solidFill>
                <a:latin typeface="Arial"/>
              </a:rPr>
              <a:t>Only significant inflection points are used: those associated with above average volume.</a:t>
            </a:r>
          </a:p>
        </p:txBody>
      </p:sp>
      <p:sp>
        <p:nvSpPr>
          <p:cNvPr id="10" name="Rectangle 9"/>
          <p:cNvSpPr/>
          <p:nvPr/>
        </p:nvSpPr>
        <p:spPr>
          <a:xfrm>
            <a:off x="777240" y="3082036"/>
            <a:ext cx="10637215" cy="19202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92023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Figure 6.22, how is the volume threshold drawn?</a:t>
            </a:r>
          </a:p>
        </p:txBody>
      </p:sp>
      <p:sp>
        <p:nvSpPr>
          <p:cNvPr id="13" name="TextBox 12"/>
          <p:cNvSpPr txBox="1"/>
          <p:nvPr/>
        </p:nvSpPr>
        <p:spPr>
          <a:xfrm>
            <a:off x="1143000" y="380949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By visual inspection, so only the most significant peaks reach it</a:t>
            </a:r>
          </a:p>
          <a:p>
            <a:pPr algn="l">
              <a:lnSpc>
                <a:spcPct val="115000"/>
              </a:lnSpc>
              <a:spcBef>
                <a:spcPts val="700"/>
              </a:spcBef>
              <a:spcAft>
                <a:spcPts val="0"/>
              </a:spcAft>
            </a:pPr>
            <a:r>
              <a:rPr sz="1600" b="0" i="0">
                <a:solidFill>
                  <a:srgbClr val="1A1A1A"/>
                </a:solidFill>
                <a:latin typeface="Arial"/>
              </a:rPr>
              <a:t>The book draws a simple tick volume overextension level by visual inspection.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Check 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Relative and absolute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Absolute volume is the raw count: today, 3 million shares traded.</a:t>
            </a:r>
          </a:p>
          <a:p>
            <a:pPr algn="l">
              <a:lnSpc>
                <a:spcPct val="105000"/>
              </a:lnSpc>
              <a:spcBef>
                <a:spcPts val="0"/>
              </a:spcBef>
              <a:spcAft>
                <a:spcPts val="1100"/>
              </a:spcAft>
            </a:pPr>
            <a:r>
              <a:rPr sz="1800" b="0" i="0">
                <a:solidFill>
                  <a:srgbClr val="1A1A1A"/>
                </a:solidFill>
                <a:latin typeface="Arial"/>
              </a:rPr>
              <a:t>Relative volume compares it with its own past: 3 million against a usual 1.5 million is double.</a:t>
            </a:r>
          </a:p>
          <a:p>
            <a:pPr algn="l">
              <a:lnSpc>
                <a:spcPct val="105000"/>
              </a:lnSpc>
              <a:spcBef>
                <a:spcPts val="0"/>
              </a:spcBef>
              <a:spcAft>
                <a:spcPts val="1100"/>
              </a:spcAft>
            </a:pPr>
            <a:r>
              <a:rPr sz="1800" b="0" i="0">
                <a:solidFill>
                  <a:srgbClr val="1A1A1A"/>
                </a:solidFill>
                <a:latin typeface="Arial"/>
              </a:rPr>
              <a:t>The book: absolute volume is not as important as relative. The change in volume tells the most about price.</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Yet a trend can persist for long periods on flat volume.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w.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W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pp.190-191. It never defines the two names; these readings are ours, from its contrast. The share counts and the chart are ours, on invented prices.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change in volume tells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Rising and falling volume show interest at each price. Part 1's tests: rising is confirmation, falling divergence; with price bullish, against bearish.</a:t>
            </a:r>
          </a:p>
          <a:p>
            <a:pPr algn="l">
              <a:lnSpc>
                <a:spcPct val="118000"/>
              </a:lnSpc>
              <a:spcBef>
                <a:spcPts val="0"/>
              </a:spcBef>
              <a:spcAft>
                <a:spcPts val="1300"/>
              </a:spcAft>
            </a:pPr>
            <a:r>
              <a:rPr sz="2100" b="0" i="0">
                <a:solidFill>
                  <a:srgbClr val="1A1A1A"/>
                </a:solidFill>
                <a:latin typeface="Arial"/>
              </a:rPr>
              <a:t>Past extremes, Part 2's overextended levels, are a reference. Ours: busiest day 9 million, quietest 0.4 million; volume reaching either again warns of a top or bottom.</a:t>
            </a:r>
          </a:p>
          <a:p>
            <a:pPr algn="l">
              <a:lnSpc>
                <a:spcPct val="118000"/>
              </a:lnSpc>
              <a:spcBef>
                <a:spcPts val="0"/>
              </a:spcBef>
              <a:spcAft>
                <a:spcPts val="1300"/>
              </a:spcAft>
            </a:pPr>
            <a:r>
              <a:rPr sz="2100" b="0" i="0">
                <a:solidFill>
                  <a:srgbClr val="1A1A1A"/>
                </a:solidFill>
                <a:latin typeface="Arial"/>
              </a:rPr>
              <a:t>Flat volume is no sign a trend is ending; the book gives no rule for it.</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the change in volume for the trend, and past extremes for the turns.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The share counts in the example are ours.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Loss aversion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3 of 26</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Holding a losing position rather than selling at a loss, hoping it comes back. Holding is not trading: it adds no volume.</a:t>
            </a:r>
          </a:p>
        </p:txBody>
      </p:sp>
      <p:sp>
        <p:nvSpPr>
          <p:cNvPr id="10" name="Rectangle 9"/>
          <p:cNvSpPr/>
          <p:nvPr/>
        </p:nvSpPr>
        <p:spPr>
          <a:xfrm>
            <a:off x="777240" y="34015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Bought at PHP 50, now PHP 38: an unrealized loss of PHP 12, on paper only, as you have not sold. You hold for breakeven, PHP 50.</a:t>
            </a:r>
          </a:p>
        </p:txBody>
      </p:sp>
      <p:sp>
        <p:nvSpPr>
          <p:cNvPr id="12" name="Rectangle 11"/>
          <p:cNvSpPr/>
          <p:nvPr/>
        </p:nvSpPr>
        <p:spPr>
          <a:xfrm>
            <a:off x="777240" y="4544568"/>
            <a:ext cx="64008" cy="1115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76072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Many investors hold on to losing positions in a falling market, hoping they rebound to breakeven or profitability, believing unrealized losses are not real losses: loss aversion bias.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x.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X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names the bias. The pesos, the share and the chart are ours, on invented prices.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 market volume outweighs bear market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4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1  Loss aversion: losing positions held in a falling, bear market add nothing to its trading.</a:t>
            </a:r>
          </a:p>
          <a:p>
            <a:pPr algn="l">
              <a:lnSpc>
                <a:spcPct val="105000"/>
              </a:lnSpc>
              <a:spcBef>
                <a:spcPts val="0"/>
              </a:spcBef>
              <a:spcAft>
                <a:spcPts val="1100"/>
              </a:spcAft>
            </a:pPr>
            <a:r>
              <a:rPr sz="1600" b="0" i="0">
                <a:solidFill>
                  <a:srgbClr val="1A1A1A"/>
                </a:solidFill>
                <a:latin typeface="Arial"/>
              </a:rPr>
              <a:t>2  In a rising, bull market, traders can fund new positions with house money: profit already made.</a:t>
            </a:r>
          </a:p>
          <a:p>
            <a:pPr algn="l">
              <a:lnSpc>
                <a:spcPct val="105000"/>
              </a:lnSpc>
              <a:spcBef>
                <a:spcPts val="0"/>
              </a:spcBef>
              <a:spcAft>
                <a:spcPts val="1100"/>
              </a:spcAft>
            </a:pPr>
            <a:r>
              <a:rPr sz="1600" b="0" i="0">
                <a:solidFill>
                  <a:srgbClr val="1A1A1A"/>
                </a:solidFill>
                <a:latin typeface="Arial"/>
              </a:rPr>
              <a:t>3  More investment funds market their services in a bull market, drawing in investors.</a:t>
            </a:r>
          </a:p>
        </p:txBody>
      </p:sp>
      <p:sp>
        <p:nvSpPr>
          <p:cNvPr id="8" name="Rectangle 7"/>
          <p:cNvSpPr/>
          <p:nvPr/>
        </p:nvSpPr>
        <p:spPr>
          <a:xfrm>
            <a:off x="777240" y="4197096"/>
            <a:ext cx="82296" cy="9235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4828032" cy="92354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So bull market volume tends to outweigh bear market volume. Ours: 2.8 million shares a day rising, 1.3 million falling.</a:t>
            </a:r>
          </a:p>
        </p:txBody>
      </p:sp>
      <p:sp>
        <p:nvSpPr>
          <p:cNvPr id="10" name="TextBox 9"/>
          <p:cNvSpPr txBox="1"/>
          <p:nvPr/>
        </p:nvSpPr>
        <p:spPr>
          <a:xfrm>
            <a:off x="777240" y="532180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few of the book's reasons; it draws no trading rule from them.</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y.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Y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its three reasons, nearly word for word. The chart and its share counts are ours, on invented prices.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absolute volume is good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5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1  Price rejection levels, Chapter 3: prices the market was pushed back from. The book gives no method.</a:t>
            </a:r>
          </a:p>
          <a:p>
            <a:pPr algn="l">
              <a:lnSpc>
                <a:spcPct val="105000"/>
              </a:lnSpc>
              <a:spcBef>
                <a:spcPts val="0"/>
              </a:spcBef>
              <a:spcAft>
                <a:spcPts val="1100"/>
              </a:spcAft>
            </a:pPr>
            <a:r>
              <a:rPr sz="1600" b="0" i="0">
                <a:solidFill>
                  <a:srgbClr val="1A1A1A"/>
                </a:solidFill>
                <a:latin typeface="Arial"/>
              </a:rPr>
              <a:t>2  Comparing participation in stocks, sectors or commodities, seeking liquidity: the book's word, not defined.</a:t>
            </a:r>
          </a:p>
          <a:p>
            <a:pPr algn="l">
              <a:lnSpc>
                <a:spcPct val="105000"/>
              </a:lnSpc>
              <a:spcBef>
                <a:spcPts val="0"/>
              </a:spcBef>
              <a:spcAft>
                <a:spcPts val="1100"/>
              </a:spcAft>
            </a:pPr>
            <a:r>
              <a:rPr sz="1600" b="0" i="0">
                <a:solidFill>
                  <a:srgbClr val="1A1A1A"/>
                </a:solidFill>
                <a:latin typeface="Arial"/>
              </a:rPr>
              <a:t>3  Turnover: shares traded / shares outstanding, all the company's shares. A: 5m / 2,000m = 0.25%. B: 1m / 40m = 2.5%.</a:t>
            </a:r>
          </a:p>
        </p:txBody>
      </p:sp>
      <p:sp>
        <p:nvSpPr>
          <p:cNvPr id="8" name="Rectangle 7"/>
          <p:cNvSpPr/>
          <p:nvPr/>
        </p:nvSpPr>
        <p:spPr>
          <a:xfrm>
            <a:off x="777240" y="496519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A trades five times the shares; B has ten times the participation.</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z.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Z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The two shares, their volumes and their shares outstanding are ours: a share-count example of turnover.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distortions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surge in arbitrage, program trading and high frequency trading (HFT) may distort volume's traditional meaning: traders' interest in a rise or fall.</a:t>
            </a:r>
          </a:p>
          <a:p>
            <a:pPr algn="l">
              <a:lnSpc>
                <a:spcPct val="118000"/>
              </a:lnSpc>
              <a:spcBef>
                <a:spcPts val="0"/>
              </a:spcBef>
              <a:spcAft>
                <a:spcPts val="1300"/>
              </a:spcAft>
            </a:pPr>
            <a:r>
              <a:rPr sz="2100" b="0" i="0">
                <a:solidFill>
                  <a:srgbClr val="1A1A1A"/>
                </a:solidFill>
                <a:latin typeface="Arial"/>
              </a:rPr>
              <a:t>Chapter 1: program trading is machines trading in ways humans cannot replicate. Chapter 1 named arbitrage and HFT without defining them; so does this chapter.</a:t>
            </a:r>
          </a:p>
          <a:p>
            <a:pPr algn="l">
              <a:lnSpc>
                <a:spcPct val="118000"/>
              </a:lnSpc>
              <a:spcBef>
                <a:spcPts val="0"/>
              </a:spcBef>
              <a:spcAft>
                <a:spcPts val="1300"/>
              </a:spcAft>
            </a:pPr>
            <a:r>
              <a:rPr sz="2100" b="0" i="0">
                <a:solidFill>
                  <a:srgbClr val="1A1A1A"/>
                </a:solidFill>
                <a:latin typeface="Arial"/>
              </a:rPr>
              <a:t>Ours: a day trades 4 million shares, 3 million of them program trades. The bar reads 4 million; traders taking part in the move traded 1 million.</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So a volume bar may count machine trades as well as interest: here only 1 of 4 million. The book gives no way to separate them.</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Chapter 1 named arbitrage, program trading and HFT. The share counts in the example are ours.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Relative and absolute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According to the book, which gives the most information about potential price action?</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Absolute volume</a:t>
            </a:r>
          </a:p>
          <a:p>
            <a:pPr algn="l">
              <a:lnSpc>
                <a:spcPct val="112000"/>
              </a:lnSpc>
              <a:spcBef>
                <a:spcPts val="0"/>
              </a:spcBef>
              <a:spcAft>
                <a:spcPts val="900"/>
              </a:spcAft>
            </a:pPr>
            <a:r>
              <a:rPr sz="1500" b="0" i="0">
                <a:solidFill>
                  <a:srgbClr val="FFFFFF"/>
                </a:solidFill>
                <a:latin typeface="Arial"/>
              </a:rPr>
              <a:t>B.  The change in volume</a:t>
            </a:r>
          </a:p>
          <a:p>
            <a:pPr algn="l">
              <a:lnSpc>
                <a:spcPct val="112000"/>
              </a:lnSpc>
              <a:spcBef>
                <a:spcPts val="0"/>
              </a:spcBef>
              <a:spcAft>
                <a:spcPts val="900"/>
              </a:spcAft>
            </a:pPr>
            <a:r>
              <a:rPr sz="1500" b="0" i="0">
                <a:solidFill>
                  <a:srgbClr val="FFFFFF"/>
                </a:solidFill>
                <a:latin typeface="Arial"/>
              </a:rPr>
              <a:t>C.  Turnover against shares outstanding</a:t>
            </a:r>
          </a:p>
          <a:p>
            <a:pPr algn="l">
              <a:lnSpc>
                <a:spcPct val="112000"/>
              </a:lnSpc>
              <a:spcBef>
                <a:spcPts val="0"/>
              </a:spcBef>
              <a:spcAft>
                <a:spcPts val="900"/>
              </a:spcAft>
            </a:pPr>
            <a:r>
              <a:rPr sz="1500" b="0" i="0">
                <a:solidFill>
                  <a:srgbClr val="FFFFFF"/>
                </a:solidFill>
                <a:latin typeface="Arial"/>
              </a:rPr>
              <a:t>D.  Tick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investor holds a losing share, believing an unrealized loss is not a real loss. The book calls this: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House money</a:t>
            </a:r>
          </a:p>
          <a:p>
            <a:pPr algn="l">
              <a:lnSpc>
                <a:spcPct val="112000"/>
              </a:lnSpc>
              <a:spcBef>
                <a:spcPts val="0"/>
              </a:spcBef>
              <a:spcAft>
                <a:spcPts val="900"/>
              </a:spcAft>
            </a:pPr>
            <a:r>
              <a:rPr sz="1500" b="0" i="0">
                <a:solidFill>
                  <a:srgbClr val="FFFFFF"/>
                </a:solidFill>
                <a:latin typeface="Arial"/>
              </a:rPr>
              <a:t>B.  A low volume reversal</a:t>
            </a:r>
          </a:p>
          <a:p>
            <a:pPr algn="l">
              <a:lnSpc>
                <a:spcPct val="112000"/>
              </a:lnSpc>
              <a:spcBef>
                <a:spcPts val="0"/>
              </a:spcBef>
              <a:spcAft>
                <a:spcPts val="900"/>
              </a:spcAft>
            </a:pPr>
            <a:r>
              <a:rPr sz="1500" b="0" i="0">
                <a:solidFill>
                  <a:srgbClr val="FFFFFF"/>
                </a:solidFill>
                <a:latin typeface="Arial"/>
              </a:rPr>
              <a:t>C.  A volume distortion</a:t>
            </a:r>
          </a:p>
          <a:p>
            <a:pPr algn="l">
              <a:lnSpc>
                <a:spcPct val="112000"/>
              </a:lnSpc>
              <a:spcBef>
                <a:spcPts val="0"/>
              </a:spcBef>
              <a:spcAft>
                <a:spcPts val="900"/>
              </a:spcAft>
            </a:pPr>
            <a:r>
              <a:rPr sz="1500" b="0" i="0">
                <a:solidFill>
                  <a:srgbClr val="FFFFFF"/>
                </a:solidFill>
                <a:latin typeface="Arial"/>
              </a:rPr>
              <a:t>D.  Loss aversion bias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6 - 6.1 Open interest  |  Check 10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Relative and absolute volume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According to the book, which gives the most information about potential price action?</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change in volume</a:t>
            </a:r>
          </a:p>
          <a:p>
            <a:pPr algn="l">
              <a:lnSpc>
                <a:spcPct val="115000"/>
              </a:lnSpc>
              <a:spcBef>
                <a:spcPts val="700"/>
              </a:spcBef>
              <a:spcAft>
                <a:spcPts val="0"/>
              </a:spcAft>
            </a:pPr>
            <a:r>
              <a:rPr sz="1600" b="0" i="0">
                <a:solidFill>
                  <a:srgbClr val="1A1A1A"/>
                </a:solidFill>
                <a:latin typeface="Arial"/>
              </a:rPr>
              <a:t>Absolute volume is not as important as relative volume: it is the change in volume that gives the most information.</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An investor holds a losing share, believing an unrealized loss is not a real loss. The book calls this: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Loss aversion bias</a:t>
            </a:r>
          </a:p>
          <a:p>
            <a:pPr algn="l">
              <a:lnSpc>
                <a:spcPct val="115000"/>
              </a:lnSpc>
              <a:spcBef>
                <a:spcPts val="700"/>
              </a:spcBef>
              <a:spcAft>
                <a:spcPts val="0"/>
              </a:spcAft>
            </a:pPr>
            <a:r>
              <a:rPr sz="1600" b="0" i="0">
                <a:solidFill>
                  <a:srgbClr val="1A1A1A"/>
                </a:solidFill>
                <a:latin typeface="Arial"/>
              </a:rPr>
              <a:t>Holding losing positions in hope of breakeven, treating unrealized losses as not real, is loss aversion bias.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Check 10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Open interest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7 of 26</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Every futures or options contract has a buyer, the long, and a seller, the short. Open interest counts the contracts still open.</a:t>
            </a:r>
          </a:p>
        </p:txBody>
      </p:sp>
      <p:sp>
        <p:nvSpPr>
          <p:cNvPr id="10" name="Rectangle 9"/>
          <p:cNvSpPr/>
          <p:nvPr/>
        </p:nvSpPr>
        <p:spPr>
          <a:xfrm>
            <a:off x="777240" y="34015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Plus 1 a contract when a new long and short both open; minus 1 when both close; no change when one side is replaced. Worked: next slide.</a:t>
            </a:r>
          </a:p>
        </p:txBody>
      </p:sp>
      <p:sp>
        <p:nvSpPr>
          <p:cNvPr id="12" name="Rectangle 11"/>
          <p:cNvSpPr/>
          <p:nvPr/>
        </p:nvSpPr>
        <p:spPr>
          <a:xfrm>
            <a:off x="777240" y="4544568"/>
            <a:ext cx="64008" cy="1115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76072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The total amount of outstanding contracts in the futures and options markets. It increases when a new long and short are initiated, decreases when both exit, and is unchanged when one is replaced.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a.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AA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gives the definition and the three rules. The traders and contract counts are ours.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day by day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Day 1: A buys 1 from B, both new, A long and B short: plus 1. Open interest 1.</a:t>
            </a:r>
          </a:p>
          <a:p>
            <a:pPr algn="l">
              <a:lnSpc>
                <a:spcPct val="118000"/>
              </a:lnSpc>
              <a:spcBef>
                <a:spcPts val="0"/>
              </a:spcBef>
              <a:spcAft>
                <a:spcPts val="1300"/>
              </a:spcAft>
            </a:pPr>
            <a:r>
              <a:rPr sz="2100" b="0" i="0">
                <a:solidFill>
                  <a:srgbClr val="1A1A1A"/>
                </a:solidFill>
                <a:latin typeface="Arial"/>
              </a:rPr>
              <a:t>Day 2: C buys 2 from D, both new: plus 2. Open interest 3.</a:t>
            </a:r>
          </a:p>
          <a:p>
            <a:pPr algn="l">
              <a:lnSpc>
                <a:spcPct val="118000"/>
              </a:lnSpc>
              <a:spcBef>
                <a:spcPts val="0"/>
              </a:spcBef>
              <a:spcAft>
                <a:spcPts val="1300"/>
              </a:spcAft>
            </a:pPr>
            <a:r>
              <a:rPr sz="2100" b="0" i="0">
                <a:solidFill>
                  <a:srgbClr val="1A1A1A"/>
                </a:solidFill>
                <a:latin typeface="Arial"/>
              </a:rPr>
              <a:t>Day 3: A sells that 1 to E, the new long; B is still short: no change. Still 3.</a:t>
            </a:r>
          </a:p>
          <a:p>
            <a:pPr algn="l">
              <a:lnSpc>
                <a:spcPct val="118000"/>
              </a:lnSpc>
              <a:spcBef>
                <a:spcPts val="0"/>
              </a:spcBef>
              <a:spcAft>
                <a:spcPts val="1300"/>
              </a:spcAft>
            </a:pPr>
            <a:r>
              <a:rPr sz="2100" b="0" i="0">
                <a:solidFill>
                  <a:srgbClr val="1A1A1A"/>
                </a:solidFill>
                <a:latin typeface="Arial"/>
              </a:rPr>
              <a:t>Day 4: D buys back 2 from C: D's short and C's long close: minus 2. Now 1.</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Only both sides opening, or both closing, moves the count.</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reason to count: unlike stocks, all futures and options contracts eventually expire.</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gives the three rules and the reason. The traders and contract counts are ours.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is read like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9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Like volume, open interest shows interest in seeing price rise or fall. With price: bullish. Against: bearish.</a:t>
            </a:r>
          </a:p>
          <a:p>
            <a:pPr algn="l">
              <a:lnSpc>
                <a:spcPct val="105000"/>
              </a:lnSpc>
              <a:spcBef>
                <a:spcPts val="0"/>
              </a:spcBef>
              <a:spcAft>
                <a:spcPts val="1100"/>
              </a:spcAft>
            </a:pPr>
            <a:r>
              <a:rPr sz="1600" b="0" i="0">
                <a:solidFill>
                  <a:srgbClr val="1A1A1A"/>
                </a:solidFill>
                <a:latin typeface="Arial"/>
              </a:rPr>
              <a:t>Price rising. Both rising: bullish, buying pressure. Both falling: bearish, shorts covering (buying back) and longs leaving.</a:t>
            </a:r>
          </a:p>
          <a:p>
            <a:pPr algn="l">
              <a:lnSpc>
                <a:spcPct val="105000"/>
              </a:lnSpc>
              <a:spcBef>
                <a:spcPts val="0"/>
              </a:spcBef>
              <a:spcAft>
                <a:spcPts val="1100"/>
              </a:spcAft>
            </a:pPr>
            <a:r>
              <a:rPr sz="1600" b="0" i="0">
                <a:solidFill>
                  <a:srgbClr val="1A1A1A"/>
                </a:solidFill>
                <a:latin typeface="Arial"/>
              </a:rPr>
              <a:t>Price falling. Both rising: bearish, short selling. Both falling: bullish, fewer longs liquidating, fewer new shorts.</a:t>
            </a:r>
          </a:p>
        </p:txBody>
      </p:sp>
      <p:sp>
        <p:nvSpPr>
          <p:cNvPr id="8" name="Rectangle 7"/>
          <p:cNvSpPr/>
          <p:nvPr/>
        </p:nvSpPr>
        <p:spPr>
          <a:xfrm>
            <a:off x="777240" y="496519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Rising is confirmation, falling is divergence: as for non-price-based volume.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b.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AB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the reading and its reasons are the book's. The chart is ours: arrows, not prices.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readings, worked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a futures contract rises from PHP 100 to PHP 110.</a:t>
            </a:r>
          </a:p>
          <a:p>
            <a:pPr algn="l">
              <a:lnSpc>
                <a:spcPct val="118000"/>
              </a:lnSpc>
              <a:spcBef>
                <a:spcPts val="0"/>
              </a:spcBef>
              <a:spcAft>
                <a:spcPts val="1300"/>
              </a:spcAft>
            </a:pPr>
            <a:r>
              <a:rPr sz="2100" b="0" i="0">
                <a:solidFill>
                  <a:srgbClr val="1A1A1A"/>
                </a:solidFill>
                <a:latin typeface="Arial"/>
              </a:rPr>
              <a:t>Open interest 50,000 to 60,000 contracts, volume 8,000 to 12,000 a day: both rise with price. Bullish confirmation, buying pressure.</a:t>
            </a:r>
          </a:p>
          <a:p>
            <a:pPr algn="l">
              <a:lnSpc>
                <a:spcPct val="118000"/>
              </a:lnSpc>
              <a:spcBef>
                <a:spcPts val="0"/>
              </a:spcBef>
              <a:spcAft>
                <a:spcPts val="1300"/>
              </a:spcAft>
            </a:pPr>
            <a:r>
              <a:rPr sz="2100" b="0" i="0">
                <a:solidFill>
                  <a:srgbClr val="1A1A1A"/>
                </a:solidFill>
                <a:latin typeface="Arial"/>
              </a:rPr>
              <a:t>Open interest 50,000 to 40,000, volume 8,000 to 5,000: both fall as price rises. Bearish divergence: shorts covering, longs leaving.</a:t>
            </a:r>
          </a:p>
          <a:p>
            <a:pPr algn="l">
              <a:lnSpc>
                <a:spcPct val="118000"/>
              </a:lnSpc>
              <a:spcBef>
                <a:spcPts val="0"/>
              </a:spcBef>
              <a:spcAft>
                <a:spcPts val="1300"/>
              </a:spcAft>
            </a:pPr>
            <a:r>
              <a:rPr sz="2100" b="0" i="0">
                <a:solidFill>
                  <a:srgbClr val="1A1A1A"/>
                </a:solidFill>
                <a:latin typeface="Arial"/>
              </a:rPr>
              <a:t>Falling from PHP 110 to PHP 100 instead: both rising is bearish confirmation, short selling; both falling, bullish divergence.</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price move, opposite readings: volume and open interest decide.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gives the four readings and their reasons. The contract, its prices and its counts are ours, invented.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trader does with the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11 of 26</a:t>
            </a:r>
          </a:p>
        </p:txBody>
      </p:sp>
      <p:sp>
        <p:nvSpPr>
          <p:cNvPr id="7" name="TextBox 6"/>
          <p:cNvSpPr txBox="1"/>
          <p:nvPr/>
        </p:nvSpPr>
        <p:spPr>
          <a:xfrm>
            <a:off x="777240" y="1965960"/>
            <a:ext cx="67665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All three rising, bullish: look for buy signals.</a:t>
            </a:r>
          </a:p>
          <a:p>
            <a:pPr algn="l">
              <a:lnSpc>
                <a:spcPct val="105000"/>
              </a:lnSpc>
              <a:spcBef>
                <a:spcPts val="0"/>
              </a:spcBef>
              <a:spcAft>
                <a:spcPts val="1100"/>
              </a:spcAft>
            </a:pPr>
            <a:r>
              <a:rPr sz="1600" b="0" i="0">
                <a:solidFill>
                  <a:srgbClr val="1A1A1A"/>
                </a:solidFill>
                <a:latin typeface="Arial"/>
              </a:rPr>
              <a:t>Price rising, open interest and volume falling, bearish: look to exit, liquidating (selling) your longs.</a:t>
            </a:r>
          </a:p>
          <a:p>
            <a:pPr algn="l">
              <a:lnSpc>
                <a:spcPct val="105000"/>
              </a:lnSpc>
              <a:spcBef>
                <a:spcPts val="0"/>
              </a:spcBef>
              <a:spcAft>
                <a:spcPts val="1100"/>
              </a:spcAft>
            </a:pPr>
            <a:r>
              <a:rPr sz="1600" b="0" i="0">
                <a:solidFill>
                  <a:srgbClr val="1A1A1A"/>
                </a:solidFill>
                <a:latin typeface="Arial"/>
              </a:rPr>
              <a:t>Price falling, both rising, bearish: look to go short. Once both start to fall together, bullish: rapidly cover (buy back) all shorts.</a:t>
            </a:r>
          </a:p>
        </p:txBody>
      </p:sp>
      <p:sp>
        <p:nvSpPr>
          <p:cNvPr id="8" name="Rectangle 7"/>
          <p:cNvSpPr/>
          <p:nvPr/>
        </p:nvSpPr>
        <p:spPr>
          <a:xfrm>
            <a:off x="777240" y="4197096"/>
            <a:ext cx="82296" cy="1441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6473952" cy="144170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Figure 6.24, silver, A to B: volume peaks higher at 1, bullish confirmation; open interest peaks lower at 2, bearish divergence. They disagree; the book reads open interest: longs liquidating, early. Silver then fell from about $49 to under $30.</a:t>
            </a:r>
          </a:p>
        </p:txBody>
      </p:sp>
      <p:sp>
        <p:nvSpPr>
          <p:cNvPr id="10" name="Rectangle 9"/>
          <p:cNvSpPr/>
          <p:nvPr/>
        </p:nvSpPr>
        <p:spPr>
          <a:xfrm>
            <a:off x="7863840" y="1810512"/>
            <a:ext cx="35506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863840" y="1810512"/>
            <a:ext cx="35506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8275319" y="2267712"/>
            <a:ext cx="27276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6.24</a:t>
            </a:r>
          </a:p>
          <a:p>
            <a:pPr algn="l">
              <a:lnSpc>
                <a:spcPct val="120000"/>
              </a:lnSpc>
              <a:spcBef>
                <a:spcPts val="0"/>
              </a:spcBef>
              <a:spcAft>
                <a:spcPts val="1400"/>
              </a:spcAft>
            </a:pPr>
            <a:r>
              <a:rPr sz="1800" b="0" i="0">
                <a:solidFill>
                  <a:srgbClr val="1A1A1A"/>
                </a:solidFill>
                <a:latin typeface="Palatino"/>
              </a:rPr>
              <a:t>The continuous daily chart of silver rising from A to B, with an open interest panel showing a lower peak at 2, labelled bearish divergence, and a volume panel showing a higher peak at 1, labelled bullish confirmation.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863840" y="5650992"/>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6.24 -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and Figure 6.24; the prices are read off the figure by eye. Go long, liquidate, go short and cover are Chapter 1 terms.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Very high open interest: a faster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12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The level of open interest may indicate the nature of a reversal or breakout: here, its speed.</a:t>
            </a:r>
          </a:p>
          <a:p>
            <a:pPr algn="l">
              <a:lnSpc>
                <a:spcPct val="105000"/>
              </a:lnSpc>
              <a:spcBef>
                <a:spcPts val="0"/>
              </a:spcBef>
              <a:spcAft>
                <a:spcPts val="1100"/>
              </a:spcAft>
            </a:pPr>
            <a:r>
              <a:rPr sz="1600" b="0" i="0">
                <a:solidFill>
                  <a:srgbClr val="1A1A1A"/>
                </a:solidFill>
                <a:latin typeface="Arial"/>
              </a:rPr>
              <a:t>If open interest is very high, the reversal may be significantly more rapid.</a:t>
            </a:r>
          </a:p>
          <a:p>
            <a:pPr algn="l">
              <a:lnSpc>
                <a:spcPct val="105000"/>
              </a:lnSpc>
              <a:spcBef>
                <a:spcPts val="0"/>
              </a:spcBef>
              <a:spcAft>
                <a:spcPts val="1100"/>
              </a:spcAft>
            </a:pPr>
            <a:r>
              <a:rPr sz="1600" b="0" i="0">
                <a:solidFill>
                  <a:srgbClr val="1A1A1A"/>
                </a:solidFill>
                <a:latin typeface="Arial"/>
              </a:rPr>
              <a:t>Ours: about 85,000 open contracts against 20,000. After the same top, the first falls steeply.</a:t>
            </a:r>
          </a:p>
        </p:txBody>
      </p:sp>
      <p:sp>
        <p:nvSpPr>
          <p:cNvPr id="8" name="Rectangle 7"/>
          <p:cNvSpPr/>
          <p:nvPr/>
        </p:nvSpPr>
        <p:spPr>
          <a:xfrm>
            <a:off x="777240" y="4197096"/>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482803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The reason: many open contracts liquidating and covering at once.</a:t>
            </a:r>
          </a:p>
        </p:txBody>
      </p:sp>
      <p:sp>
        <p:nvSpPr>
          <p:cNvPr id="10" name="TextBox 9"/>
          <p:cNvSpPr txBox="1"/>
          <p:nvPr/>
        </p:nvSpPr>
        <p:spPr>
          <a:xfrm>
            <a:off x="777240" y="506272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Liquidating: longs selling to close. Covering: shorts buying back. The book sets no number for very high.</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c.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AC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one sentence and its reason. The chart is ours: two invented reversals, the open interest in each made up to show the point.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Open interest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with a long futures contract sells it to a new buyer, who takes over the long. Open interest: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Increases by one</a:t>
            </a:r>
          </a:p>
          <a:p>
            <a:pPr algn="l">
              <a:lnSpc>
                <a:spcPct val="112000"/>
              </a:lnSpc>
              <a:spcBef>
                <a:spcPts val="0"/>
              </a:spcBef>
              <a:spcAft>
                <a:spcPts val="900"/>
              </a:spcAft>
            </a:pPr>
            <a:r>
              <a:rPr sz="1500" b="0" i="0">
                <a:solidFill>
                  <a:srgbClr val="FFFFFF"/>
                </a:solidFill>
                <a:latin typeface="Arial"/>
              </a:rPr>
              <a:t>B.  Decreases by one</a:t>
            </a:r>
          </a:p>
          <a:p>
            <a:pPr algn="l">
              <a:lnSpc>
                <a:spcPct val="112000"/>
              </a:lnSpc>
              <a:spcBef>
                <a:spcPts val="0"/>
              </a:spcBef>
              <a:spcAft>
                <a:spcPts val="900"/>
              </a:spcAft>
            </a:pPr>
            <a:r>
              <a:rPr sz="1500" b="0" i="0">
                <a:solidFill>
                  <a:srgbClr val="FFFFFF"/>
                </a:solidFill>
                <a:latin typeface="Arial"/>
              </a:rPr>
              <a:t>C.  Stays unchanged</a:t>
            </a:r>
          </a:p>
          <a:p>
            <a:pPr algn="l">
              <a:lnSpc>
                <a:spcPct val="112000"/>
              </a:lnSpc>
              <a:spcBef>
                <a:spcPts val="0"/>
              </a:spcBef>
              <a:spcAft>
                <a:spcPts val="900"/>
              </a:spcAft>
            </a:pPr>
            <a:r>
              <a:rPr sz="1500" b="0" i="0">
                <a:solidFill>
                  <a:srgbClr val="FFFFFF"/>
                </a:solidFill>
                <a:latin typeface="Arial"/>
              </a:rPr>
              <a:t>D.  Doubles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Prices are rising while volume and open interest are both declining. The book reads this as: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 shorts covering and longs leaving the market</a:t>
            </a:r>
          </a:p>
          <a:p>
            <a:pPr algn="l">
              <a:lnSpc>
                <a:spcPct val="112000"/>
              </a:lnSpc>
              <a:spcBef>
                <a:spcPts val="0"/>
              </a:spcBef>
              <a:spcAft>
                <a:spcPts val="900"/>
              </a:spcAft>
            </a:pPr>
            <a:r>
              <a:rPr sz="1500" b="0" i="0">
                <a:solidFill>
                  <a:srgbClr val="FFFFFF"/>
                </a:solidFill>
                <a:latin typeface="Arial"/>
              </a:rPr>
              <a:t>B.  Bullish: buying pressure</a:t>
            </a:r>
          </a:p>
          <a:p>
            <a:pPr algn="l">
              <a:lnSpc>
                <a:spcPct val="112000"/>
              </a:lnSpc>
              <a:spcBef>
                <a:spcPts val="0"/>
              </a:spcBef>
              <a:spcAft>
                <a:spcPts val="900"/>
              </a:spcAft>
            </a:pPr>
            <a:r>
              <a:rPr sz="1500" b="0" i="0">
                <a:solidFill>
                  <a:srgbClr val="FFFFFF"/>
                </a:solidFill>
                <a:latin typeface="Arial"/>
              </a:rPr>
              <a:t>C.  Bearish: short selling</a:t>
            </a:r>
          </a:p>
          <a:p>
            <a:pPr algn="l">
              <a:lnSpc>
                <a:spcPct val="112000"/>
              </a:lnSpc>
              <a:spcBef>
                <a:spcPts val="0"/>
              </a:spcBef>
              <a:spcAft>
                <a:spcPts val="900"/>
              </a:spcAft>
            </a:pPr>
            <a:r>
              <a:rPr sz="1500" b="0" i="0">
                <a:solidFill>
                  <a:srgbClr val="FFFFFF"/>
                </a:solidFill>
                <a:latin typeface="Arial"/>
              </a:rPr>
              <a:t>D.  Bullish: liquidation drying up</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6 - 6.1 Open interest  |  Check 11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Open interest</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trader with a long futures contract sells it to a new buyer, who takes over the long. Open interest:</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Stays unchanged</a:t>
            </a:r>
          </a:p>
          <a:p>
            <a:pPr algn="l">
              <a:lnSpc>
                <a:spcPct val="115000"/>
              </a:lnSpc>
              <a:spcBef>
                <a:spcPts val="700"/>
              </a:spcBef>
              <a:spcAft>
                <a:spcPts val="0"/>
              </a:spcAft>
            </a:pPr>
            <a:r>
              <a:rPr sz="1600" b="0" i="0">
                <a:solidFill>
                  <a:srgbClr val="1A1A1A"/>
                </a:solidFill>
                <a:latin typeface="Arial"/>
              </a:rPr>
              <a:t>Open interest is unchanged when one side is replaced by a new position, but not both.</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Prices are rising while volume and open interest are both declining. The book reads this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Bearish: shorts covering and longs leaving the market</a:t>
            </a:r>
          </a:p>
          <a:p>
            <a:pPr algn="l">
              <a:lnSpc>
                <a:spcPct val="115000"/>
              </a:lnSpc>
              <a:spcBef>
                <a:spcPts val="700"/>
              </a:spcBef>
              <a:spcAft>
                <a:spcPts val="0"/>
              </a:spcAft>
            </a:pPr>
            <a:r>
              <a:rPr sz="1600" b="0" i="0">
                <a:solidFill>
                  <a:srgbClr val="1A1A1A"/>
                </a:solidFill>
                <a:latin typeface="Arial"/>
              </a:rPr>
              <a:t>Rising prices on declining volume and open interest are bearish, driven by shorts covering and longs leaving.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Check 11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Tick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13 of 26</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count of trades, not shares: one tick is one trade, of any size. Met in Chapter 1's caption and Chapter 3's tick chart.</a:t>
            </a:r>
          </a:p>
        </p:txBody>
      </p:sp>
      <p:sp>
        <p:nvSpPr>
          <p:cNvPr id="10" name="Rectangle 9"/>
          <p:cNvSpPr/>
          <p:nvPr/>
        </p:nvSpPr>
        <p:spPr>
          <a:xfrm>
            <a:off x="777240" y="3401568"/>
            <a:ext cx="64008" cy="6583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760720" cy="7680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Part 1's five trades of 0.1, 0.6, 0.3, 1.2 and 0.2 million shares: volume 2.4 million shares, tick volume 5.</a:t>
            </a:r>
          </a:p>
        </p:txBody>
      </p:sp>
      <p:sp>
        <p:nvSpPr>
          <p:cNvPr id="12" name="Rectangle 11"/>
          <p:cNvSpPr/>
          <p:nvPr/>
        </p:nvSpPr>
        <p:spPr>
          <a:xfrm>
            <a:off x="777240" y="4315968"/>
            <a:ext cx="64008" cy="1115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270248"/>
            <a:ext cx="576072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One tick represents one trade: tick volume is transaction volume. Many OTC fx brokers offer it instead of actual volume; strongly correlated with it, it may be used as a proxy.</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d.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pp.192-193. OTC fx is the book's over the counter foreign exchange market. The five trades are Part 1's, ours. Chapter 3's tick chart counts trades the same way.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Tick volume as a stand-in for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14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Where: the over the counter (OTC) foreign exchange (fx) market, where many brokers offer tick volume instead of actual volume. The book does not say why.</a:t>
            </a:r>
          </a:p>
          <a:p>
            <a:pPr algn="l">
              <a:lnSpc>
                <a:spcPct val="118000"/>
              </a:lnSpc>
              <a:spcBef>
                <a:spcPts val="0"/>
              </a:spcBef>
              <a:spcAft>
                <a:spcPts val="1300"/>
              </a:spcAft>
            </a:pPr>
            <a:r>
              <a:rPr sz="2100" b="0" i="0">
                <a:solidFill>
                  <a:srgbClr val="1A1A1A"/>
                </a:solidFill>
                <a:latin typeface="Arial"/>
              </a:rPr>
              <a:t>Strongly correlated: the two rise and fall together. Ours: a busy hour, 900 trades and 60 million in currency; a quiet hour, 200 trades and 14 million.</a:t>
            </a:r>
          </a:p>
          <a:p>
            <a:pPr algn="l">
              <a:lnSpc>
                <a:spcPct val="118000"/>
              </a:lnSpc>
              <a:spcBef>
                <a:spcPts val="0"/>
              </a:spcBef>
              <a:spcAft>
                <a:spcPts val="1300"/>
              </a:spcAft>
            </a:pPr>
            <a:r>
              <a:rPr sz="2100" b="0" i="0">
                <a:solidFill>
                  <a:srgbClr val="1A1A1A"/>
                </a:solidFill>
                <a:latin typeface="Arial"/>
              </a:rPr>
              <a:t>So tick volume may be a proxy, a stand-in, for actual volume, for comparing relative levels of overbought and oversold: Part 2's words, never defined.</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Compare tick volume with its own past: 900 trades does not say how much changed hands.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pp.192-193. The trade counts and amounts in the example are ours, invented.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Arms Index, or TRIN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15 of 26</a:t>
            </a:r>
          </a:p>
        </p:txBody>
      </p:sp>
      <p:sp>
        <p:nvSpPr>
          <p:cNvPr id="8" name="Rectangle 7"/>
          <p:cNvSpPr/>
          <p:nvPr/>
        </p:nvSpPr>
        <p:spPr>
          <a:xfrm>
            <a:off x="777240" y="2258568"/>
            <a:ext cx="64008" cy="9326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600" b="1" i="0">
                <a:solidFill>
                  <a:srgbClr val="1A1A1A"/>
                </a:solidFill>
                <a:latin typeface="Arial"/>
              </a:rPr>
              <a:t>Breadth: advances, stocks that rose, over declines, stocks that fell. Divided by up volume over down volume, the shares each side traded. Our readings.</a:t>
            </a:r>
          </a:p>
        </p:txBody>
      </p:sp>
      <p:sp>
        <p:nvSpPr>
          <p:cNvPr id="10" name="Rectangle 9"/>
          <p:cNvSpPr/>
          <p:nvPr/>
        </p:nvSpPr>
        <p:spPr>
          <a:xfrm>
            <a:off x="777240" y="3447287"/>
            <a:ext cx="64008" cy="9326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0156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600" b="0" i="0">
                <a:solidFill>
                  <a:srgbClr val="1A1A1A"/>
                </a:solidFill>
                <a:latin typeface="Arial"/>
              </a:rPr>
              <a:t>1,500 advances / 1,000 declines = 1.5. Up volume 600 million / down volume 800 million = 0.75. TRIN = 1.5 / 0.75 = 2.0.</a:t>
            </a:r>
          </a:p>
        </p:txBody>
      </p:sp>
      <p:sp>
        <p:nvSpPr>
          <p:cNvPr id="12" name="Rectangle 11"/>
          <p:cNvSpPr/>
          <p:nvPr/>
        </p:nvSpPr>
        <p:spPr>
          <a:xfrm>
            <a:off x="777240" y="4636007"/>
            <a:ext cx="64008" cy="9326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59028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600" b="0" i="0">
                <a:solidFill>
                  <a:srgbClr val="1A1A1A"/>
                </a:solidFill>
                <a:latin typeface="Arial"/>
              </a:rPr>
              <a:t>The Arms Index, or TRIN, incorporates breadth volume, advances and declines: TRIN = (advances / declines) / (up volume / down volume).</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e.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gives the ratio. The counts and volumes in the example are ours. Advances and declines: Chapter 3's breadth data, never defined.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TRIN,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Advances / declines = 1,500 / 1,000 = 1.5 rising stocks for each falling one.</a:t>
            </a:r>
          </a:p>
          <a:p>
            <a:pPr algn="l">
              <a:lnSpc>
                <a:spcPct val="118000"/>
              </a:lnSpc>
              <a:spcBef>
                <a:spcPts val="0"/>
              </a:spcBef>
              <a:spcAft>
                <a:spcPts val="1300"/>
              </a:spcAft>
            </a:pPr>
            <a:r>
              <a:rPr sz="2100" b="0" i="0">
                <a:solidFill>
                  <a:srgbClr val="1A1A1A"/>
                </a:solidFill>
                <a:latin typeface="Arial"/>
              </a:rPr>
              <a:t>2  Up volume / down volume = 600m / 800m = 0.75: the falling stocks traded more shares.</a:t>
            </a:r>
          </a:p>
          <a:p>
            <a:pPr algn="l">
              <a:lnSpc>
                <a:spcPct val="118000"/>
              </a:lnSpc>
              <a:spcBef>
                <a:spcPts val="0"/>
              </a:spcBef>
              <a:spcAft>
                <a:spcPts val="1300"/>
              </a:spcAft>
            </a:pPr>
            <a:r>
              <a:rPr sz="2100" b="0" i="0">
                <a:solidFill>
                  <a:srgbClr val="1A1A1A"/>
                </a:solidFill>
                <a:latin typeface="Arial"/>
              </a:rPr>
              <a:t>3  TRIN = 1.5 / 0.75 = 2.0. Rearranged: down volume per falling stock, 800m / 1,000 = 0.8m, over up volume per rising stock, 600m / 1,500 = 0.4m.</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TRIN of 2.0: each falling stock traded, on average, twice the volume of each rising stock.</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Step 3 and the gold line are our arithmetic; the book never reads one value such as 2.0.</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gives the ratio. It names breadth volume, advances, declines, up and down volume and never defines them; our readings. The numbers are ours.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the tick and the TRIN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17 of 26</a:t>
            </a:r>
          </a:p>
        </p:txBody>
      </p:sp>
      <p:sp>
        <p:nvSpPr>
          <p:cNvPr id="7" name="TextBox 6"/>
          <p:cNvSpPr txBox="1"/>
          <p:nvPr/>
        </p:nvSpPr>
        <p:spPr>
          <a:xfrm>
            <a:off x="777240" y="1965960"/>
            <a:ext cx="65836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The tick: the book never says what it measures. On Figure 6.25 it goes below zero, so it is not tick volume, a count of trades.</a:t>
            </a:r>
          </a:p>
          <a:p>
            <a:pPr algn="l">
              <a:lnSpc>
                <a:spcPct val="105000"/>
              </a:lnSpc>
              <a:spcBef>
                <a:spcPts val="0"/>
              </a:spcBef>
              <a:spcAft>
                <a:spcPts val="1100"/>
              </a:spcAft>
            </a:pPr>
            <a:r>
              <a:rPr sz="1600" b="0" i="0">
                <a:solidFill>
                  <a:srgbClr val="1A1A1A"/>
                </a:solidFill>
                <a:latin typeface="Arial"/>
              </a:rPr>
              <a:t>Short term, the book's rule: tick rising but not overbought, TRIN falling but not oversold: bullish, look for a long entry.</a:t>
            </a:r>
          </a:p>
          <a:p>
            <a:pPr algn="l">
              <a:lnSpc>
                <a:spcPct val="105000"/>
              </a:lnSpc>
              <a:spcBef>
                <a:spcPts val="0"/>
              </a:spcBef>
              <a:spcAft>
                <a:spcPts val="1100"/>
              </a:spcAft>
            </a:pPr>
            <a:r>
              <a:rPr sz="1600" b="0" i="0">
                <a:solidFill>
                  <a:srgbClr val="1A1A1A"/>
                </a:solidFill>
                <a:latin typeface="Arial"/>
              </a:rPr>
              <a:t>Figure 6.25 shows something else: tick down to about -1,000, TRIN up to about 2.2, both at levels it labels oversold. The index then rose.</a:t>
            </a:r>
          </a:p>
        </p:txBody>
      </p:sp>
      <p:sp>
        <p:nvSpPr>
          <p:cNvPr id="8" name="Rectangle 7"/>
          <p:cNvSpPr/>
          <p:nvPr/>
        </p:nvSpPr>
        <p:spPr>
          <a:xfrm>
            <a:off x="777240" y="4453128"/>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89704"/>
            <a:ext cx="629107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Both at the labelled oversold extremes: the book reads short-term bullish, look for a long entry.</a:t>
            </a:r>
          </a:p>
        </p:txBody>
      </p:sp>
      <p:sp>
        <p:nvSpPr>
          <p:cNvPr id="10" name="TextBox 9"/>
          <p:cNvSpPr txBox="1"/>
          <p:nvPr/>
        </p:nvSpPr>
        <p:spPr>
          <a:xfrm>
            <a:off x="777240" y="5318760"/>
            <a:ext cx="65836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does not say why its figure departs from its short-term rule.</a:t>
            </a:r>
          </a:p>
        </p:txBody>
      </p:sp>
      <p:sp>
        <p:nvSpPr>
          <p:cNvPr id="11" name="Rectangle 10"/>
          <p:cNvSpPr/>
          <p:nvPr/>
        </p:nvSpPr>
        <p:spPr>
          <a:xfrm>
            <a:off x="7680960" y="1810512"/>
            <a:ext cx="37334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680960" y="1810512"/>
            <a:ext cx="37334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8092440" y="2267712"/>
            <a:ext cx="29105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6.25</a:t>
            </a:r>
          </a:p>
          <a:p>
            <a:pPr algn="l">
              <a:lnSpc>
                <a:spcPct val="120000"/>
              </a:lnSpc>
              <a:spcBef>
                <a:spcPts val="0"/>
              </a:spcBef>
              <a:spcAft>
                <a:spcPts val="1400"/>
              </a:spcAft>
            </a:pPr>
            <a:r>
              <a:rPr sz="1800" b="0" i="0">
                <a:solidFill>
                  <a:srgbClr val="1A1A1A"/>
                </a:solidFill>
                <a:latin typeface="Palatino"/>
              </a:rPr>
              <a:t>A 1-minute chart of the S&amp;P 500 index falling and then rising, with a $TICK panel and a $TRIN panel under it. A box around the low marks both labelled oversold, with the note that short-term bullishness was predicated on the confluence of oversold signals.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680960" y="5650992"/>
            <a:ext cx="37334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6.25 -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and Figure 6.25; the levels are read off the figure by eye. The caption says daily; the chart and the text say 1-minute.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longer-term rule, and the book's gaps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Short term, the converse: tick falling but not oversold, TRIN rising but not overbought: bearish, look for a short entry.</a:t>
            </a:r>
          </a:p>
          <a:p>
            <a:pPr algn="l">
              <a:lnSpc>
                <a:spcPct val="118000"/>
              </a:lnSpc>
              <a:spcBef>
                <a:spcPts val="0"/>
              </a:spcBef>
              <a:spcAft>
                <a:spcPts val="1300"/>
              </a:spcAft>
            </a:pPr>
            <a:r>
              <a:rPr sz="2100" b="0" i="0">
                <a:solidFill>
                  <a:srgbClr val="1A1A1A"/>
                </a:solidFill>
                <a:latin typeface="Arial"/>
              </a:rPr>
              <a:t>Longer term: tick oversold, above its weekly two-sigma level, and TRIN overbought, near or above 3.0 daily: bullish, long. Reverse: bearish, short.</a:t>
            </a:r>
          </a:p>
          <a:p>
            <a:pPr algn="l">
              <a:lnSpc>
                <a:spcPct val="118000"/>
              </a:lnSpc>
              <a:spcBef>
                <a:spcPts val="0"/>
              </a:spcBef>
              <a:spcAft>
                <a:spcPts val="1300"/>
              </a:spcAft>
            </a:pPr>
            <a:r>
              <a:rPr sz="2100" b="0" i="0">
                <a:solidFill>
                  <a:srgbClr val="1A1A1A"/>
                </a:solidFill>
                <a:latin typeface="Arial"/>
              </a:rPr>
              <a:t>Two sigma: Part 3's line, k = 2. Ours: weekly tick mean 200, sigma 300, line 200 + 2 x 300 = 800; above it, oversold. A daily TRIN of 3.2: overbought.</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Bullish TRIN: overbought in the text, oversold in Figure 6.25.</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No reasons for either rule. Figure 6.25's oversold tick sits at its low, not above two sigma.</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and Figure 6.25. The weekly tick numbers are ours, in invented units; the book never says what the tick measures.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bearish day on the tick and the TRIN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19 of 26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Figure 6.26: the S&amp;P 500 falls all afternoon. The boxed TRIN rises from about 0.9 to 1.34: bearish, by the short-term rule.</a:t>
            </a:r>
          </a:p>
          <a:p>
            <a:pPr algn="l">
              <a:lnSpc>
                <a:spcPct val="105000"/>
              </a:lnSpc>
              <a:spcBef>
                <a:spcPts val="0"/>
              </a:spcBef>
              <a:spcAft>
                <a:spcPts val="1100"/>
              </a:spcAft>
            </a:pPr>
            <a:r>
              <a:rPr sz="1600" b="0" i="0">
                <a:solidFill>
                  <a:srgbClr val="1A1A1A"/>
                </a:solidFill>
                <a:latin typeface="Arial"/>
              </a:rPr>
              <a:t>1:45 to 2:45 p.m.: the text says largely absent of activity; the figure says absent of uptick action. In its shaded box the tick barely rises above zero and twice drops to about -1,000, circled as extreme bearish ticks.</a:t>
            </a:r>
          </a:p>
        </p:txBody>
      </p:sp>
      <p:sp>
        <p:nvSpPr>
          <p:cNvPr id="8" name="Rectangle 7"/>
          <p:cNvSpPr/>
          <p:nvPr/>
        </p:nvSpPr>
        <p:spPr>
          <a:xfrm>
            <a:off x="777240" y="4544568"/>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81144"/>
            <a:ext cx="464515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Together, a short-term bearish signal: look for a short entry.</a:t>
            </a:r>
          </a:p>
        </p:txBody>
      </p:sp>
      <p:sp>
        <p:nvSpPr>
          <p:cNvPr id="10" name="TextBox 9"/>
          <p:cNvSpPr txBox="1"/>
          <p:nvPr/>
        </p:nvSpPr>
        <p:spPr>
          <a:xfrm>
            <a:off x="777240" y="5410199"/>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gives no reason this is bearish, and does not define uptick.</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6.26</a:t>
            </a:r>
          </a:p>
          <a:p>
            <a:pPr algn="l">
              <a:lnSpc>
                <a:spcPct val="120000"/>
              </a:lnSpc>
              <a:spcBef>
                <a:spcPts val="0"/>
              </a:spcBef>
              <a:spcAft>
                <a:spcPts val="1400"/>
              </a:spcAft>
            </a:pPr>
            <a:r>
              <a:rPr sz="1800" b="0" i="0">
                <a:solidFill>
                  <a:srgbClr val="1A1A1A"/>
                </a:solidFill>
                <a:latin typeface="Palatino"/>
              </a:rPr>
              <a:t>A 1-minute chart of the S&amp;P 500 index on an intraday decline, with a $TICK panel showing stretches marked bearish and balanced tick action, and a $TRIN panel whose last stretch is boxed and labelled rising TRIN, bearish.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6.26; the TRIN values are read off the figure. Its caption says daily; the times show a 1-minute chart.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Tick volume and the TRIN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One trade of 1,000 contracts and one trade of 1 contract are made. Tick volume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1,001</a:t>
            </a:r>
          </a:p>
          <a:p>
            <a:pPr algn="l">
              <a:lnSpc>
                <a:spcPct val="112000"/>
              </a:lnSpc>
              <a:spcBef>
                <a:spcPts val="0"/>
              </a:spcBef>
              <a:spcAft>
                <a:spcPts val="900"/>
              </a:spcAft>
            </a:pPr>
            <a:r>
              <a:rPr sz="1500" b="0" i="0">
                <a:solidFill>
                  <a:srgbClr val="FFFFFF"/>
                </a:solidFill>
                <a:latin typeface="Arial"/>
              </a:rPr>
              <a:t>B.  1,000</a:t>
            </a:r>
          </a:p>
          <a:p>
            <a:pPr algn="l">
              <a:lnSpc>
                <a:spcPct val="112000"/>
              </a:lnSpc>
              <a:spcBef>
                <a:spcPts val="0"/>
              </a:spcBef>
              <a:spcAft>
                <a:spcPts val="900"/>
              </a:spcAft>
            </a:pPr>
            <a:r>
              <a:rPr sz="1500" b="0" i="0">
                <a:solidFill>
                  <a:srgbClr val="FFFFFF"/>
                </a:solidFill>
                <a:latin typeface="Arial"/>
              </a:rPr>
              <a:t>C.  1</a:t>
            </a:r>
          </a:p>
          <a:p>
            <a:pPr algn="l">
              <a:lnSpc>
                <a:spcPct val="112000"/>
              </a:lnSpc>
              <a:spcBef>
                <a:spcPts val="0"/>
              </a:spcBef>
              <a:spcAft>
                <a:spcPts val="900"/>
              </a:spcAft>
            </a:pPr>
            <a:r>
              <a:rPr sz="1500" b="0" i="0">
                <a:solidFill>
                  <a:srgbClr val="FFFFFF"/>
                </a:solidFill>
                <a:latin typeface="Arial"/>
              </a:rPr>
              <a:t>D.  2</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Advances 1,200, declines 800, up volume 900 million, down volume 600 million. The TRIN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1.0</a:t>
            </a:r>
          </a:p>
          <a:p>
            <a:pPr algn="l">
              <a:lnSpc>
                <a:spcPct val="112000"/>
              </a:lnSpc>
              <a:spcBef>
                <a:spcPts val="0"/>
              </a:spcBef>
              <a:spcAft>
                <a:spcPts val="900"/>
              </a:spcAft>
            </a:pPr>
            <a:r>
              <a:rPr sz="1500" b="0" i="0">
                <a:solidFill>
                  <a:srgbClr val="FFFFFF"/>
                </a:solidFill>
                <a:latin typeface="Arial"/>
              </a:rPr>
              <a:t>B.  1.5</a:t>
            </a:r>
          </a:p>
          <a:p>
            <a:pPr algn="l">
              <a:lnSpc>
                <a:spcPct val="112000"/>
              </a:lnSpc>
              <a:spcBef>
                <a:spcPts val="0"/>
              </a:spcBef>
              <a:spcAft>
                <a:spcPts val="900"/>
              </a:spcAft>
            </a:pPr>
            <a:r>
              <a:rPr sz="1500" b="0" i="0">
                <a:solidFill>
                  <a:srgbClr val="FFFFFF"/>
                </a:solidFill>
                <a:latin typeface="Arial"/>
              </a:rPr>
              <a:t>C.  2.25</a:t>
            </a:r>
          </a:p>
          <a:p>
            <a:pPr algn="l">
              <a:lnSpc>
                <a:spcPct val="112000"/>
              </a:lnSpc>
              <a:spcBef>
                <a:spcPts val="0"/>
              </a:spcBef>
              <a:spcAft>
                <a:spcPts val="900"/>
              </a:spcAft>
            </a:pPr>
            <a:r>
              <a:rPr sz="1500" b="0" i="0">
                <a:solidFill>
                  <a:srgbClr val="FFFFFF"/>
                </a:solidFill>
                <a:latin typeface="Arial"/>
              </a:rPr>
              <a:t>D.  0.67</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6 - 6.1 Open interest  |  Check 12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Tick volume and the TRIN</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One trade of 1,000 contracts and one trade of 1 contract are made. Tick volume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2</a:t>
            </a:r>
          </a:p>
          <a:p>
            <a:pPr algn="l">
              <a:lnSpc>
                <a:spcPct val="115000"/>
              </a:lnSpc>
              <a:spcBef>
                <a:spcPts val="700"/>
              </a:spcBef>
              <a:spcAft>
                <a:spcPts val="0"/>
              </a:spcAft>
            </a:pPr>
            <a:r>
              <a:rPr sz="1600" b="0" i="0">
                <a:solidFill>
                  <a:srgbClr val="1A1A1A"/>
                </a:solidFill>
                <a:latin typeface="Arial"/>
              </a:rPr>
              <a:t>One tick represents one trade, whatever its size: two trades, a tick volume of 2.</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Advances 1,200, declines 800, up volume 900 million, down volume 600 million. The TRIN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1.0</a:t>
            </a:r>
          </a:p>
          <a:p>
            <a:pPr algn="l">
              <a:lnSpc>
                <a:spcPct val="115000"/>
              </a:lnSpc>
              <a:spcBef>
                <a:spcPts val="700"/>
              </a:spcBef>
              <a:spcAft>
                <a:spcPts val="0"/>
              </a:spcAft>
            </a:pPr>
            <a:r>
              <a:rPr sz="1600" b="0" i="0">
                <a:solidFill>
                  <a:srgbClr val="1A1A1A"/>
                </a:solidFill>
                <a:latin typeface="Arial"/>
              </a:rPr>
              <a:t>(1,200 / 800) / (900 / 600) = 1.5 / 1.5 = 1.0.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Check 12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by price and volume by time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20 of 26</a:t>
            </a:r>
          </a:p>
        </p:txBody>
      </p:sp>
      <p:sp>
        <p:nvSpPr>
          <p:cNvPr id="8" name="Rectangle 7"/>
          <p:cNvSpPr/>
          <p:nvPr/>
        </p:nvSpPr>
        <p:spPr>
          <a:xfrm>
            <a:off x="777240" y="2258568"/>
            <a:ext cx="64008" cy="9326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600" b="1" i="0">
                <a:solidFill>
                  <a:srgbClr val="1A1A1A"/>
                </a:solidFill>
                <a:latin typeface="Arial"/>
              </a:rPr>
              <a:t>One volume record added up two ways. By time: the usual bars, one a day. By price: sideways bars, one per price band.</a:t>
            </a:r>
          </a:p>
        </p:txBody>
      </p:sp>
      <p:sp>
        <p:nvSpPr>
          <p:cNvPr id="10" name="Rectangle 9"/>
          <p:cNvSpPr/>
          <p:nvPr/>
        </p:nvSpPr>
        <p:spPr>
          <a:xfrm>
            <a:off x="777240" y="3447287"/>
            <a:ext cx="64008" cy="9326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0156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600" b="0" i="0">
                <a:solidFill>
                  <a:srgbClr val="1A1A1A"/>
                </a:solidFill>
                <a:latin typeface="Arial"/>
              </a:rPr>
              <a:t>Our chart, 100 days: 68 million shares at PHP 48 to 50, the longest sideways bar; 12 million at PHP 54 to 56. Five days worked: next slide.</a:t>
            </a:r>
          </a:p>
        </p:txBody>
      </p:sp>
      <p:sp>
        <p:nvSpPr>
          <p:cNvPr id="12" name="Rectangle 11"/>
          <p:cNvSpPr/>
          <p:nvPr/>
        </p:nvSpPr>
        <p:spPr>
          <a:xfrm>
            <a:off x="777240" y="4636007"/>
            <a:ext cx="64008" cy="9326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590288"/>
            <a:ext cx="5760720" cy="104241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600" b="0" i="0">
                <a:solidFill>
                  <a:srgbClr val="1A1A1A"/>
                </a:solidFill>
                <a:latin typeface="Arial"/>
              </a:rPr>
              <a:t>Volume by time represents the total volume traded over a specified time interval or period. Volume by price identifies the total volume traded at each price level.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f.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AF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defines both. The chart is ours: the volume by price is added up from its own invented bars and volume.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Adding up volume by price, worked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five days: closes of PHP 49.10, 49.80, 51.20, 48.60 and 50.50, on 2, 3, 1, 4 and 2 million shares.</a:t>
            </a:r>
          </a:p>
          <a:p>
            <a:pPr algn="l">
              <a:lnSpc>
                <a:spcPct val="118000"/>
              </a:lnSpc>
              <a:spcBef>
                <a:spcPts val="0"/>
              </a:spcBef>
              <a:spcAft>
                <a:spcPts val="1300"/>
              </a:spcAft>
            </a:pPr>
            <a:r>
              <a:rPr sz="2100" b="0" i="0">
                <a:solidFill>
                  <a:srgbClr val="1A1A1A"/>
                </a:solidFill>
                <a:latin typeface="Arial"/>
              </a:rPr>
              <a:t>By time: one bar a day, 2, 3, 1, 4, 2 million: the usual volume panel.</a:t>
            </a:r>
          </a:p>
          <a:p>
            <a:pPr algn="l">
              <a:lnSpc>
                <a:spcPct val="118000"/>
              </a:lnSpc>
              <a:spcBef>
                <a:spcPts val="0"/>
              </a:spcBef>
              <a:spcAft>
                <a:spcPts val="1300"/>
              </a:spcAft>
            </a:pPr>
            <a:r>
              <a:rPr sz="2100" b="0" i="0">
                <a:solidFill>
                  <a:srgbClr val="1A1A1A"/>
                </a:solidFill>
                <a:latin typeface="Arial"/>
              </a:rPr>
              <a:t>By price: each day's volume goes in the band of its close. PHP 48 to 50: 2 + 3 + 4 = 9 million. PHP 50 to 52: 1 + 2 = 3 million.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same 12 million shares: most traded between PHP 48 and 50. Using both splits: two-dimensional volume analysis.</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does not say how a day's volume is split across its prices; ours puts it all at the close.</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defines both. The five days, their closes and their volumes are ours, invented.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by price marks a support: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22 of 26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Figure 6.27, iShares Silver Trust: sideways bars longest around $17. The book's volume turnover here is shares traded, not the turnover ratio.</a:t>
            </a:r>
          </a:p>
          <a:p>
            <a:pPr algn="l">
              <a:lnSpc>
                <a:spcPct val="105000"/>
              </a:lnSpc>
              <a:spcBef>
                <a:spcPts val="0"/>
              </a:spcBef>
              <a:spcAft>
                <a:spcPts val="1100"/>
              </a:spcAft>
            </a:pPr>
            <a:r>
              <a:rPr sz="1600" b="0" i="0">
                <a:solidFill>
                  <a:srgbClr val="1A1A1A"/>
                </a:solidFill>
                <a:latin typeface="Arial"/>
              </a:rPr>
              <a:t>So $17 represents a significant support: a floor where a fall may stop. The figure: significant capital commitment.</a:t>
            </a:r>
          </a:p>
          <a:p>
            <a:pPr algn="l">
              <a:lnSpc>
                <a:spcPct val="105000"/>
              </a:lnSpc>
              <a:spcBef>
                <a:spcPts val="0"/>
              </a:spcBef>
              <a:spcAft>
                <a:spcPts val="1100"/>
              </a:spcAft>
            </a:pPr>
            <a:r>
              <a:rPr sz="1600" b="0" i="0">
                <a:solidFill>
                  <a:srgbClr val="1A1A1A"/>
                </a:solidFill>
                <a:latin typeface="Arial"/>
              </a:rPr>
              <a:t>Also marked: high volume at about $35, a new consolidation level, not in the text.</a:t>
            </a:r>
          </a:p>
        </p:txBody>
      </p:sp>
      <p:sp>
        <p:nvSpPr>
          <p:cNvPr id="8" name="Rectangle 7"/>
          <p:cNvSpPr/>
          <p:nvPr/>
        </p:nvSpPr>
        <p:spPr>
          <a:xfrm>
            <a:off x="777240" y="4709160"/>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45736"/>
            <a:ext cx="464515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Ordinary volume bars show when, not at what price.</a:t>
            </a:r>
          </a:p>
        </p:txBody>
      </p:sp>
      <p:sp>
        <p:nvSpPr>
          <p:cNvPr id="10" name="TextBox 9"/>
          <p:cNvSpPr txBox="1"/>
          <p:nvPr/>
        </p:nvSpPr>
        <p:spPr>
          <a:xfrm>
            <a:off x="777240" y="5574792"/>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4's price-based volume; not Part 1's oscillators.</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6.27</a:t>
            </a:r>
          </a:p>
          <a:p>
            <a:pPr algn="l">
              <a:lnSpc>
                <a:spcPct val="120000"/>
              </a:lnSpc>
              <a:spcBef>
                <a:spcPts val="0"/>
              </a:spcBef>
              <a:spcAft>
                <a:spcPts val="1400"/>
              </a:spcAft>
            </a:pPr>
            <a:r>
              <a:rPr sz="1800" b="0" i="0">
                <a:solidFill>
                  <a:srgbClr val="1A1A1A"/>
                </a:solidFill>
                <a:latin typeface="Palatino"/>
              </a:rPr>
              <a:t>The daily iShares Silver Trust with volume by price drawn as horizontal bars from the left edge. The longest bars sit around the $17 level, labelled significant capital commitment, strong support, and another cluster at the newer consolidation level higher up.</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6.27. Chapter 4's Figure 4.19 showed the same thing and called it price-based volume.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most traded range: 3M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23 of 26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Figure 6.28, 3M: the longest sideways bars, bracketed, $77 to $86: the most traded range, more shares than at any other price.</a:t>
            </a:r>
          </a:p>
          <a:p>
            <a:pPr algn="l">
              <a:lnSpc>
                <a:spcPct val="105000"/>
              </a:lnSpc>
              <a:spcBef>
                <a:spcPts val="0"/>
              </a:spcBef>
              <a:spcAft>
                <a:spcPts val="1100"/>
              </a:spcAft>
            </a:pPr>
            <a:r>
              <a:rPr sz="1500" b="0" i="0">
                <a:solidFill>
                  <a:srgbClr val="1A1A1A"/>
                </a:solidFill>
                <a:latin typeface="Arial"/>
              </a:rPr>
              <a:t>With 3M last at about $88, $77 to $86 lies below: potential support, the figure's label. $90 to $92 above: some resistance, says the book, not how it was found.</a:t>
            </a:r>
          </a:p>
          <a:p>
            <a:pPr algn="l">
              <a:lnSpc>
                <a:spcPct val="105000"/>
              </a:lnSpc>
              <a:spcBef>
                <a:spcPts val="0"/>
              </a:spcBef>
              <a:spcAft>
                <a:spcPts val="1100"/>
              </a:spcAft>
            </a:pPr>
            <a:r>
              <a:rPr sz="1500" b="0" i="0">
                <a:solidFill>
                  <a:srgbClr val="1A1A1A"/>
                </a:solidFill>
                <a:latin typeface="Arial"/>
              </a:rPr>
              <a:t>Volume panel lines, Part 1's names: bearish confirmation, price falling on rising volume; bearish divergence, price rising on falling volume.</a:t>
            </a:r>
          </a:p>
        </p:txBody>
      </p:sp>
      <p:sp>
        <p:nvSpPr>
          <p:cNvPr id="8" name="Rectangle 7"/>
          <p:cNvSpPr/>
          <p:nvPr/>
        </p:nvSpPr>
        <p:spPr>
          <a:xfrm>
            <a:off x="777240" y="5061204"/>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97780"/>
            <a:ext cx="464515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These price ranges are potential future support and resistance levels.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6.28</a:t>
            </a:r>
          </a:p>
          <a:p>
            <a:pPr algn="l">
              <a:lnSpc>
                <a:spcPct val="120000"/>
              </a:lnSpc>
              <a:spcBef>
                <a:spcPts val="0"/>
              </a:spcBef>
              <a:spcAft>
                <a:spcPts val="1400"/>
              </a:spcAft>
            </a:pPr>
            <a:r>
              <a:rPr sz="1800" b="0" i="0">
                <a:solidFill>
                  <a:srgbClr val="1A1A1A"/>
                </a:solidFill>
                <a:latin typeface="Palatino"/>
              </a:rPr>
              <a:t>The daily chart of 3M with volume by price as horizontal bars, the longest bracketed between about $77 and $86 and labelled maximum capital commitment in this range, an important support zone in the future.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6.28 -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6.28.</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Support and resistance in four steps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24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1  Largest volume by price range: ours, PHP 48 to 50.</a:t>
            </a:r>
          </a:p>
          <a:p>
            <a:pPr algn="l">
              <a:lnSpc>
                <a:spcPct val="105000"/>
              </a:lnSpc>
              <a:spcBef>
                <a:spcPts val="0"/>
              </a:spcBef>
              <a:spcAft>
                <a:spcPts val="1100"/>
              </a:spcAft>
            </a:pPr>
            <a:r>
              <a:rPr sz="1500" b="0" i="0">
                <a:solidFill>
                  <a:srgbClr val="1A1A1A"/>
                </a:solidFill>
                <a:latin typeface="Arial"/>
              </a:rPr>
              <a:t>2  Largest volume by time intervals: ours, two bursts of 3.4 to 4.1 million a day.</a:t>
            </a:r>
          </a:p>
          <a:p>
            <a:pPr algn="l">
              <a:lnSpc>
                <a:spcPct val="105000"/>
              </a:lnSpc>
              <a:spcBef>
                <a:spcPts val="0"/>
              </a:spcBef>
              <a:spcAft>
                <a:spcPts val="1100"/>
              </a:spcAft>
            </a:pPr>
            <a:r>
              <a:rPr sz="1500" b="0" i="0">
                <a:solidFill>
                  <a:srgbClr val="1A1A1A"/>
                </a:solidFill>
                <a:latin typeface="Arial"/>
              </a:rPr>
              <a:t>3  Intersection, the boxes: most shares at one price, step 1's band, in one stretch, step 2's days.</a:t>
            </a:r>
          </a:p>
          <a:p>
            <a:pPr algn="l">
              <a:lnSpc>
                <a:spcPct val="105000"/>
              </a:lnSpc>
              <a:spcBef>
                <a:spcPts val="0"/>
              </a:spcBef>
              <a:spcAft>
                <a:spcPts val="1100"/>
              </a:spcAft>
            </a:pPr>
            <a:r>
              <a:rPr sz="1500" b="0" i="0">
                <a:solidFill>
                  <a:srgbClr val="1A1A1A"/>
                </a:solidFill>
                <a:latin typeface="Arial"/>
              </a:rPr>
              <a:t>4  Closest peak above the intersection: resistance, PHP 50.80. Closest trough below: support, PHP 47.50.</a:t>
            </a:r>
          </a:p>
        </p:txBody>
      </p:sp>
      <p:sp>
        <p:nvSpPr>
          <p:cNvPr id="8" name="Rectangle 7"/>
          <p:cNvSpPr/>
          <p:nvPr/>
        </p:nvSpPr>
        <p:spPr>
          <a:xfrm>
            <a:off x="777240" y="4505705"/>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2281"/>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Potentially the most significant and reliable support and resistance.</a:t>
            </a:r>
          </a:p>
        </p:txBody>
      </p:sp>
      <p:sp>
        <p:nvSpPr>
          <p:cNvPr id="10" name="TextBox 9"/>
          <p:cNvSpPr txBox="1"/>
          <p:nvPr/>
        </p:nvSpPr>
        <p:spPr>
          <a:xfrm>
            <a:off x="777240" y="5340857"/>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No reason given; largest is picked by eye.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g.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its steps. The chart is ours, on invented prices, with the steps numbered in the book's order.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two levels did on our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Support at PHP 47.50: price turned up near it twice, at PHP 47.40 and PHP 47.50.</a:t>
            </a:r>
          </a:p>
          <a:p>
            <a:pPr algn="l">
              <a:lnSpc>
                <a:spcPct val="118000"/>
              </a:lnSpc>
              <a:spcBef>
                <a:spcPts val="0"/>
              </a:spcBef>
              <a:spcAft>
                <a:spcPts val="1300"/>
              </a:spcAft>
            </a:pPr>
            <a:r>
              <a:rPr sz="2100" b="0" i="0">
                <a:solidFill>
                  <a:srgbClr val="1A1A1A"/>
                </a:solidFill>
                <a:latin typeface="Arial"/>
              </a:rPr>
              <a:t>Resistance at PHP 50.80: price turned down near it twice, at PHP 50.90 and PHP 50.80, then broke above it and rose to about PHP 58.60.</a:t>
            </a:r>
          </a:p>
          <a:p>
            <a:pPr algn="l">
              <a:lnSpc>
                <a:spcPct val="118000"/>
              </a:lnSpc>
              <a:spcBef>
                <a:spcPts val="0"/>
              </a:spcBef>
              <a:spcAft>
                <a:spcPts val="1300"/>
              </a:spcAft>
            </a:pPr>
            <a:r>
              <a:rPr sz="2100" b="0" i="0">
                <a:solidFill>
                  <a:srgbClr val="1A1A1A"/>
                </a:solidFill>
                <a:latin typeface="Arial"/>
              </a:rPr>
              <a:t>The book says potentially: likely levels, not certain ones. It does not say what a break through one means.</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level from the four steps is potential: ours held twice, then broke.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The prices are our chart's, read from the series that drew it.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steps on 3M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26 of 26</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$74 to $80: the book's largest volume by price range, the dark sideways bars.</a:t>
            </a:r>
          </a:p>
          <a:p>
            <a:pPr algn="l">
              <a:lnSpc>
                <a:spcPct val="105000"/>
              </a:lnSpc>
              <a:spcBef>
                <a:spcPts val="0"/>
              </a:spcBef>
              <a:spcAft>
                <a:spcPts val="1100"/>
              </a:spcAft>
            </a:pPr>
            <a:r>
              <a:rPr sz="1700" b="0" i="0">
                <a:solidFill>
                  <a:srgbClr val="1A1A1A"/>
                </a:solidFill>
                <a:latin typeface="Arial"/>
              </a:rPr>
              <a:t>2 and 3  The dark columns, where volume reaches the dotted overextended volume level (Part 2), cross it in two white boxes.</a:t>
            </a:r>
          </a:p>
          <a:p>
            <a:pPr algn="l">
              <a:lnSpc>
                <a:spcPct val="105000"/>
              </a:lnSpc>
              <a:spcBef>
                <a:spcPts val="0"/>
              </a:spcBef>
              <a:spcAft>
                <a:spcPts val="1100"/>
              </a:spcAft>
            </a:pPr>
            <a:r>
              <a:rPr sz="1700" b="0" i="0">
                <a:solidFill>
                  <a:srgbClr val="1A1A1A"/>
                </a:solidFill>
                <a:latin typeface="Arial"/>
              </a:rPr>
              <a:t>4  Closest peak above, about $80: resistance. Closest trough below, about $72.50: support.</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Both act as effective barriers to price on the daily chart of 3M.</a:t>
            </a:r>
          </a:p>
        </p:txBody>
      </p:sp>
      <p:sp>
        <p:nvSpPr>
          <p:cNvPr id="10" name="TextBox 9"/>
          <p:cNvSpPr txBox="1"/>
          <p:nvPr/>
        </p:nvSpPr>
        <p:spPr>
          <a:xfrm>
            <a:off x="777240" y="5461254"/>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6.28 gave 3M's most traded range as $77 to $86. The book does not say why they differ.</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6.29</a:t>
            </a:r>
          </a:p>
          <a:p>
            <a:pPr algn="l">
              <a:lnSpc>
                <a:spcPct val="120000"/>
              </a:lnSpc>
              <a:spcBef>
                <a:spcPts val="0"/>
              </a:spcBef>
              <a:spcAft>
                <a:spcPts val="1400"/>
              </a:spcAft>
            </a:pPr>
            <a:r>
              <a:rPr sz="1800" b="0" i="0">
                <a:solidFill>
                  <a:srgbClr val="1A1A1A"/>
                </a:solidFill>
                <a:latin typeface="Palatino"/>
              </a:rPr>
              <a:t>The daily chart of 3M with the $74 to $80 volume by price band and two dark time columns over the high volume intervals; where they cross are two white boxes. Dashed lines mark the closest resistance above and the closest support below, and an overextended volume level runs across the volume panel.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6.29 -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and Figure 6.29; the two levels are read off the figure by eye.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Two-dimensional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Volume by price identifies:</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total volume over a time interval</a:t>
            </a:r>
          </a:p>
          <a:p>
            <a:pPr algn="l">
              <a:lnSpc>
                <a:spcPct val="112000"/>
              </a:lnSpc>
              <a:spcBef>
                <a:spcPts val="0"/>
              </a:spcBef>
              <a:spcAft>
                <a:spcPts val="900"/>
              </a:spcAft>
            </a:pPr>
            <a:r>
              <a:rPr sz="1500" b="0" i="0">
                <a:solidFill>
                  <a:srgbClr val="FFFFFF"/>
                </a:solidFill>
                <a:latin typeface="Arial"/>
              </a:rPr>
              <a:t>B.  The number of trades at each price</a:t>
            </a:r>
          </a:p>
          <a:p>
            <a:pPr algn="l">
              <a:lnSpc>
                <a:spcPct val="112000"/>
              </a:lnSpc>
              <a:spcBef>
                <a:spcPts val="0"/>
              </a:spcBef>
              <a:spcAft>
                <a:spcPts val="900"/>
              </a:spcAft>
            </a:pPr>
            <a:r>
              <a:rPr sz="1500" b="0" i="0">
                <a:solidFill>
                  <a:srgbClr val="FFFFFF"/>
                </a:solidFill>
                <a:latin typeface="Arial"/>
              </a:rPr>
              <a:t>C.  The total volume traded at each price level</a:t>
            </a:r>
          </a:p>
          <a:p>
            <a:pPr algn="l">
              <a:lnSpc>
                <a:spcPct val="112000"/>
              </a:lnSpc>
              <a:spcBef>
                <a:spcPts val="0"/>
              </a:spcBef>
              <a:spcAft>
                <a:spcPts val="900"/>
              </a:spcAft>
            </a:pPr>
            <a:r>
              <a:rPr sz="1500" b="0" i="0">
                <a:solidFill>
                  <a:srgbClr val="FFFFFF"/>
                </a:solidFill>
                <a:latin typeface="Arial"/>
              </a:rPr>
              <a:t>D.  The open interest at each price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the book's two-dimensional method, the most significant resistance is: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highest price on the chart</a:t>
            </a:r>
          </a:p>
          <a:p>
            <a:pPr algn="l">
              <a:lnSpc>
                <a:spcPct val="112000"/>
              </a:lnSpc>
              <a:spcBef>
                <a:spcPts val="0"/>
              </a:spcBef>
              <a:spcAft>
                <a:spcPts val="900"/>
              </a:spcAft>
            </a:pPr>
            <a:r>
              <a:rPr sz="1500" b="0" i="0">
                <a:solidFill>
                  <a:srgbClr val="FFFFFF"/>
                </a:solidFill>
                <a:latin typeface="Arial"/>
              </a:rPr>
              <a:t>B.  The top of the largest volume by price range</a:t>
            </a:r>
          </a:p>
          <a:p>
            <a:pPr algn="l">
              <a:lnSpc>
                <a:spcPct val="112000"/>
              </a:lnSpc>
              <a:spcBef>
                <a:spcPts val="0"/>
              </a:spcBef>
              <a:spcAft>
                <a:spcPts val="900"/>
              </a:spcAft>
            </a:pPr>
            <a:r>
              <a:rPr sz="1500" b="0" i="0">
                <a:solidFill>
                  <a:srgbClr val="FFFFFF"/>
                </a:solidFill>
                <a:latin typeface="Arial"/>
              </a:rPr>
              <a:t>C.  The level of the largest volume by time bar</a:t>
            </a:r>
          </a:p>
          <a:p>
            <a:pPr algn="l">
              <a:lnSpc>
                <a:spcPct val="112000"/>
              </a:lnSpc>
              <a:spcBef>
                <a:spcPts val="0"/>
              </a:spcBef>
              <a:spcAft>
                <a:spcPts val="900"/>
              </a:spcAft>
            </a:pPr>
            <a:r>
              <a:rPr sz="1500" b="0" i="0">
                <a:solidFill>
                  <a:srgbClr val="FFFFFF"/>
                </a:solidFill>
                <a:latin typeface="Arial"/>
              </a:rPr>
              <a:t>D.  The closest peak above the area of intersection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6 - 6.1 Open interest  |  Check 13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Two-dimensional volume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Volume by price identifies: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total volume traded at each price level</a:t>
            </a:r>
          </a:p>
          <a:p>
            <a:pPr algn="l">
              <a:lnSpc>
                <a:spcPct val="115000"/>
              </a:lnSpc>
              <a:spcBef>
                <a:spcPts val="700"/>
              </a:spcBef>
              <a:spcAft>
                <a:spcPts val="0"/>
              </a:spcAft>
            </a:pPr>
            <a:r>
              <a:rPr sz="1600" b="0" i="0">
                <a:solidFill>
                  <a:srgbClr val="1A1A1A"/>
                </a:solidFill>
                <a:latin typeface="Arial"/>
              </a:rPr>
              <a:t>Volume by price identifies the total volume traded at each price level.</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the book's two-dimensional method, the most significant resistance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closest peak above the area of intersection</a:t>
            </a:r>
          </a:p>
          <a:p>
            <a:pPr algn="l">
              <a:lnSpc>
                <a:spcPct val="115000"/>
              </a:lnSpc>
              <a:spcBef>
                <a:spcPts val="700"/>
              </a:spcBef>
              <a:spcAft>
                <a:spcPts val="0"/>
              </a:spcAft>
            </a:pPr>
            <a:r>
              <a:rPr sz="1600" b="0" i="0">
                <a:solidFill>
                  <a:srgbClr val="1A1A1A"/>
                </a:solidFill>
                <a:latin typeface="Arial"/>
              </a:rPr>
              <a:t>Locate the intersection of the largest volume by price and by time; the closest peak above it is the resistance.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Check 13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and bar range: Chapter 5's four cases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 of 14</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Chapter 5's characteristic 15, volume spread action, set bar range against volume four ways.</a:t>
            </a:r>
          </a:p>
          <a:p>
            <a:pPr algn="l">
              <a:lnSpc>
                <a:spcPct val="105000"/>
              </a:lnSpc>
              <a:spcBef>
                <a:spcPts val="0"/>
              </a:spcBef>
              <a:spcAft>
                <a:spcPts val="1100"/>
              </a:spcAft>
            </a:pPr>
            <a:r>
              <a:rPr sz="1900" b="0" i="0">
                <a:solidFill>
                  <a:srgbClr val="1A1A1A"/>
                </a:solidFill>
                <a:latin typeface="Arial"/>
              </a:rPr>
              <a:t>Here the book uses the four to forecast potential breakouts and reversals, and names each bar.</a:t>
            </a:r>
          </a:p>
          <a:p>
            <a:pPr algn="l">
              <a:lnSpc>
                <a:spcPct val="105000"/>
              </a:lnSpc>
              <a:spcBef>
                <a:spcPts val="0"/>
              </a:spcBef>
              <a:spcAft>
                <a:spcPts val="1100"/>
              </a:spcAft>
            </a:pPr>
            <a:r>
              <a:rPr sz="1900" b="0" i="0">
                <a:solidFill>
                  <a:srgbClr val="1A1A1A"/>
                </a:solidFill>
                <a:latin typeface="Arial"/>
              </a:rPr>
              <a:t>Spread means bar range, as in Chapter 5: not Chapter 3's bid-ask spread.</a:t>
            </a:r>
          </a:p>
        </p:txBody>
      </p:sp>
      <p:sp>
        <p:nvSpPr>
          <p:cNvPr id="8" name="Rectangle 7"/>
          <p:cNvSpPr/>
          <p:nvPr/>
        </p:nvSpPr>
        <p:spPr>
          <a:xfrm>
            <a:off x="777240" y="4485132"/>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610819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Chapter 5's squat bar is the High Volume Reversal Bar.</a:t>
            </a:r>
          </a:p>
        </p:txBody>
      </p:sp>
      <p:sp>
        <p:nvSpPr>
          <p:cNvPr id="10" name="TextBox 9"/>
          <p:cNvSpPr txBox="1"/>
          <p:nvPr/>
        </p:nvSpPr>
        <p:spPr>
          <a:xfrm>
            <a:off x="777240" y="5442204"/>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6 reads two cases more strongly: both reversal bars. Chapter 5 called the large range on low volume only trend inhibiting.</a:t>
            </a:r>
          </a:p>
        </p:txBody>
      </p:sp>
      <p:sp>
        <p:nvSpPr>
          <p:cNvPr id="11" name="Rectangle 10"/>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6.30</a:t>
            </a:r>
          </a:p>
          <a:p>
            <a:pPr algn="l">
              <a:lnSpc>
                <a:spcPct val="120000"/>
              </a:lnSpc>
              <a:spcBef>
                <a:spcPts val="0"/>
              </a:spcBef>
              <a:spcAft>
                <a:spcPts val="1400"/>
              </a:spcAft>
            </a:pPr>
            <a:r>
              <a:rPr sz="1800" b="0" i="0">
                <a:solidFill>
                  <a:srgbClr val="1A1A1A"/>
                </a:solidFill>
                <a:latin typeface="Palatino"/>
              </a:rPr>
              <a:t>Four numbered pairs, each an empty box for the bar range above a black box for the volume: 1 a short range on low volume, 2 a short range on high volume, 3 a tall range on low volume, 4 a tall range on high volume.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6.30 -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and Figure 6.30, against this course's Chapter 5, characteristic 15. Spread is the book's word for bar range here.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Rest, reversal and continuation bars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Four names for a bar's range against its volume: narrow or wide, on low or high volume.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fast uptrend's usual bar is PHP 1.00 on 2 million shares. A PHP 0.20 bar on 5 million: narrow range on high volume.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Narrow range on low volume: Low Volume Rest Bar. Narrow, high volume: High Volume Reversal Bar. Wide, low volume: Low Volume Reversal Bar. Wide, high volume: High Volume Continuation Bar.</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h.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AH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four names. The pesos and share counts in the example are ours. The chart is ours: sketches, not prices.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two reversal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3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High Volume Reversal Bar: strong reversal potential. Were the volume buying, the range would be wider: sellers are in control. Bearish in an uptrend, the converse in a downtrend.</a:t>
            </a:r>
          </a:p>
          <a:p>
            <a:pPr algn="l">
              <a:lnSpc>
                <a:spcPct val="105000"/>
              </a:lnSpc>
              <a:spcBef>
                <a:spcPts val="0"/>
              </a:spcBef>
              <a:spcAft>
                <a:spcPts val="1100"/>
              </a:spcAft>
            </a:pPr>
            <a:r>
              <a:rPr sz="1700" b="0" i="0">
                <a:solidFill>
                  <a:srgbClr val="1A1A1A"/>
                </a:solidFill>
                <a:latin typeface="Arial"/>
              </a:rPr>
              <a:t>Low Volume Reversal Bar: a big move on little participation. The longer the bar, the more bearish in an uptrend, bullish in a downtrend.</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Too little movement for the volume, or too little volume for the move.</a:t>
            </a:r>
          </a:p>
        </p:txBody>
      </p:sp>
      <p:sp>
        <p:nvSpPr>
          <p:cNvPr id="10" name="TextBox 9"/>
          <p:cNvSpPr txBox="1"/>
          <p:nvPr/>
        </p:nvSpPr>
        <p:spPr>
          <a:xfrm>
            <a:off x="777240" y="529666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5 called a large range on low volume only trend inhibiting.</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i.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AI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readings and reasons are the book's. The chart is ours: sketches, not prices.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rest bar and the continuation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4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Low Volume Rest Bar: a lack of participation. In a strong, rapid trend, a potential reversal; in a weak to average one, a point of rest.</a:t>
            </a:r>
          </a:p>
          <a:p>
            <a:pPr algn="l">
              <a:lnSpc>
                <a:spcPct val="105000"/>
              </a:lnSpc>
              <a:spcBef>
                <a:spcPts val="0"/>
              </a:spcBef>
              <a:spcAft>
                <a:spcPts val="1100"/>
              </a:spcAft>
            </a:pPr>
            <a:r>
              <a:rPr sz="1700" b="0" i="0">
                <a:solidFill>
                  <a:srgbClr val="1A1A1A"/>
                </a:solidFill>
                <a:latin typeface="Arial"/>
              </a:rPr>
              <a:t>High Volume Continuation Bar: a big move on very large participation. Bullish in an uptrend, bearish in a downtrend.</a:t>
            </a:r>
          </a:p>
        </p:txBody>
      </p:sp>
      <p:sp>
        <p:nvSpPr>
          <p:cNvPr id="8" name="Rectangle 7"/>
          <p:cNvSpPr/>
          <p:nvPr/>
        </p:nvSpPr>
        <p:spPr>
          <a:xfrm>
            <a:off x="777240" y="4128516"/>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rest bar's meaning depends on the trend's speed; the continuation bar continues whichever trend it is in.</a:t>
            </a:r>
          </a:p>
        </p:txBody>
      </p:sp>
      <p:sp>
        <p:nvSpPr>
          <p:cNvPr id="10" name="TextBox 9"/>
          <p:cNvSpPr txBox="1"/>
          <p:nvPr/>
        </p:nvSpPr>
        <p:spPr>
          <a:xfrm>
            <a:off x="777240" y="529894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5: small range, low volume, trend inhibiting; large range, large volume, trend promoting.</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readings and reasons are the book's. The chart is ours: sketches, not prices.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Bar range and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an uptrend, a bar has a narrow range on very large volume. The book calls it: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High Volume Continuation Bar</a:t>
            </a:r>
          </a:p>
          <a:p>
            <a:pPr algn="l">
              <a:lnSpc>
                <a:spcPct val="112000"/>
              </a:lnSpc>
              <a:spcBef>
                <a:spcPts val="0"/>
              </a:spcBef>
              <a:spcAft>
                <a:spcPts val="900"/>
              </a:spcAft>
            </a:pPr>
            <a:r>
              <a:rPr sz="1500" b="0" i="0">
                <a:solidFill>
                  <a:srgbClr val="FFFFFF"/>
                </a:solidFill>
                <a:latin typeface="Arial"/>
              </a:rPr>
              <a:t>B.  A Low Volume Rest Bar</a:t>
            </a:r>
          </a:p>
          <a:p>
            <a:pPr algn="l">
              <a:lnSpc>
                <a:spcPct val="112000"/>
              </a:lnSpc>
              <a:spcBef>
                <a:spcPts val="0"/>
              </a:spcBef>
              <a:spcAft>
                <a:spcPts val="900"/>
              </a:spcAft>
            </a:pPr>
            <a:r>
              <a:rPr sz="1500" b="0" i="0">
                <a:solidFill>
                  <a:srgbClr val="FFFFFF"/>
                </a:solidFill>
                <a:latin typeface="Arial"/>
              </a:rPr>
              <a:t>C.  A High Volume Reversal Bar</a:t>
            </a:r>
          </a:p>
          <a:p>
            <a:pPr algn="l">
              <a:lnSpc>
                <a:spcPct val="112000"/>
              </a:lnSpc>
              <a:spcBef>
                <a:spcPts val="0"/>
              </a:spcBef>
              <a:spcAft>
                <a:spcPts val="900"/>
              </a:spcAft>
            </a:pPr>
            <a:r>
              <a:rPr sz="1500" b="0" i="0">
                <a:solidFill>
                  <a:srgbClr val="FFFFFF"/>
                </a:solidFill>
                <a:latin typeface="Arial"/>
              </a:rPr>
              <a:t>D.  A Low Volume Reversal Bar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Low Volume Rest Bar appears in a weak to average trend. It tends to indicate: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point of rest</a:t>
            </a:r>
          </a:p>
          <a:p>
            <a:pPr algn="l">
              <a:lnSpc>
                <a:spcPct val="112000"/>
              </a:lnSpc>
              <a:spcBef>
                <a:spcPts val="0"/>
              </a:spcBef>
              <a:spcAft>
                <a:spcPts val="900"/>
              </a:spcAft>
            </a:pPr>
            <a:r>
              <a:rPr sz="1500" b="0" i="0">
                <a:solidFill>
                  <a:srgbClr val="FFFFFF"/>
                </a:solidFill>
                <a:latin typeface="Arial"/>
              </a:rPr>
              <a:t>B.  A strong reversal</a:t>
            </a:r>
          </a:p>
          <a:p>
            <a:pPr algn="l">
              <a:lnSpc>
                <a:spcPct val="112000"/>
              </a:lnSpc>
              <a:spcBef>
                <a:spcPts val="0"/>
              </a:spcBef>
              <a:spcAft>
                <a:spcPts val="900"/>
              </a:spcAft>
            </a:pPr>
            <a:r>
              <a:rPr sz="1500" b="0" i="0">
                <a:solidFill>
                  <a:srgbClr val="FFFFFF"/>
                </a:solidFill>
                <a:latin typeface="Arial"/>
              </a:rPr>
              <a:t>C.  A continuation on heavy buying</a:t>
            </a:r>
          </a:p>
          <a:p>
            <a:pPr algn="l">
              <a:lnSpc>
                <a:spcPct val="112000"/>
              </a:lnSpc>
              <a:spcBef>
                <a:spcPts val="0"/>
              </a:spcBef>
              <a:spcAft>
                <a:spcPts val="900"/>
              </a:spcAft>
            </a:pPr>
            <a:r>
              <a:rPr sz="1500" b="0" i="0">
                <a:solidFill>
                  <a:srgbClr val="FFFFFF"/>
                </a:solidFill>
                <a:latin typeface="Arial"/>
              </a:rPr>
              <a:t>D.  A selling climax</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6 - 6.1 Bar range  |  Check 14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Bar range and volume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an uptrend, a bar has a narrow range on very large volume. The book calls it: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High Volume Reversal Bar</a:t>
            </a:r>
          </a:p>
          <a:p>
            <a:pPr algn="l">
              <a:lnSpc>
                <a:spcPct val="115000"/>
              </a:lnSpc>
              <a:spcBef>
                <a:spcPts val="700"/>
              </a:spcBef>
              <a:spcAft>
                <a:spcPts val="0"/>
              </a:spcAft>
            </a:pPr>
            <a:r>
              <a:rPr sz="1600" b="0" i="0">
                <a:solidFill>
                  <a:srgbClr val="1A1A1A"/>
                </a:solidFill>
                <a:latin typeface="Arial"/>
              </a:rPr>
              <a:t>Narrow range on high volume is the High Volume Reversal Bar: sellers taking control, bearish in an uptrend.</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Low Volume Rest Bar appears in a weak to average trend. It tends to indicate: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point of rest</a:t>
            </a:r>
          </a:p>
          <a:p>
            <a:pPr algn="l">
              <a:lnSpc>
                <a:spcPct val="115000"/>
              </a:lnSpc>
              <a:spcBef>
                <a:spcPts val="700"/>
              </a:spcBef>
              <a:spcAft>
                <a:spcPts val="0"/>
              </a:spcAft>
            </a:pPr>
            <a:r>
              <a:rPr sz="1600" b="0" i="0">
                <a:solidFill>
                  <a:srgbClr val="1A1A1A"/>
                </a:solidFill>
                <a:latin typeface="Arial"/>
              </a:rPr>
              <a:t>In weak to average trends the rest bar tends to indicate a point of rest; in strong, rapid trends, a potential reversal.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Check 14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High volume reversal bars: a dollar fund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5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Two narrow range candlesticks on high volume, at Points 1 and 2.</a:t>
            </a:r>
          </a:p>
          <a:p>
            <a:pPr algn="l">
              <a:lnSpc>
                <a:spcPct val="105000"/>
              </a:lnSpc>
              <a:spcBef>
                <a:spcPts val="0"/>
              </a:spcBef>
              <a:spcAft>
                <a:spcPts val="1100"/>
              </a:spcAft>
            </a:pPr>
            <a:r>
              <a:rPr sz="1800" b="0" i="0">
                <a:solidFill>
                  <a:srgbClr val="1A1A1A"/>
                </a:solidFill>
                <a:latin typeface="Arial"/>
              </a:rPr>
              <a:t>After each, price reverses rapidly.</a:t>
            </a:r>
          </a:p>
          <a:p>
            <a:pPr algn="l">
              <a:lnSpc>
                <a:spcPct val="105000"/>
              </a:lnSpc>
              <a:spcBef>
                <a:spcPts val="0"/>
              </a:spcBef>
              <a:spcAft>
                <a:spcPts val="1100"/>
              </a:spcAft>
            </a:pPr>
            <a:r>
              <a:rPr sz="1800" b="0" i="0">
                <a:solidFill>
                  <a:srgbClr val="1A1A1A"/>
                </a:solidFill>
                <a:latin typeface="Arial"/>
              </a:rPr>
              <a:t>Also: in August a low volume breakout signal at a descending triangle's apex, then a volume surge.</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Narrow bar, heavy volume, rapid reversal.</a:t>
            </a:r>
          </a:p>
        </p:txBody>
      </p:sp>
      <p:sp>
        <p:nvSpPr>
          <p:cNvPr id="10" name="TextBox 9"/>
          <p:cNvSpPr txBox="1"/>
          <p:nvPr/>
        </p:nvSpPr>
        <p:spPr>
          <a:xfrm>
            <a:off x="777240" y="5315712"/>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Apex: where the triangle's lines meet. The curved lines are Bollinger Bands, not discussed. After Point 2 the reversal runs past the chart's edge.</a:t>
            </a:r>
          </a:p>
        </p:txBody>
      </p:sp>
      <p:sp>
        <p:nvSpPr>
          <p:cNvPr id="11" name="Rectangle 10"/>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6.31</a:t>
            </a:r>
          </a:p>
          <a:p>
            <a:pPr algn="l">
              <a:lnSpc>
                <a:spcPct val="120000"/>
              </a:lnSpc>
              <a:spcBef>
                <a:spcPts val="0"/>
              </a:spcBef>
              <a:spcAft>
                <a:spcPts val="1400"/>
              </a:spcAft>
            </a:pPr>
            <a:r>
              <a:rPr sz="1800" b="0" i="0">
                <a:solidFill>
                  <a:srgbClr val="1A1A1A"/>
                </a:solidFill>
                <a:latin typeface="Palatino"/>
              </a:rPr>
              <a:t>The daily PowerShares DB U.S. Dollar Bullish Fund. Narrow range candlesticks on high volume are circled at 1, near a low, and at 2, near a high, with lines down to their tall volume bars. At the left a triangle narrows into a low volume breakout signal.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p.198 and Figure 6.31. Descending triangle: named in Chapter 4; its shape is in the book's Chapter 13.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reversal bar at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6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narrow range candlestick on high volume, around the beginning of November.</a:t>
            </a:r>
          </a:p>
          <a:p>
            <a:pPr algn="l">
              <a:lnSpc>
                <a:spcPct val="105000"/>
              </a:lnSpc>
              <a:spcBef>
                <a:spcPts val="0"/>
              </a:spcBef>
              <a:spcAft>
                <a:spcPts val="1100"/>
              </a:spcAft>
            </a:pPr>
            <a:r>
              <a:rPr sz="2000" b="0" i="0">
                <a:solidFill>
                  <a:srgbClr val="1A1A1A"/>
                </a:solidFill>
                <a:latin typeface="Arial"/>
              </a:rPr>
              <a:t>It led to a significant rebound in price.</a:t>
            </a:r>
          </a:p>
        </p:txBody>
      </p:sp>
      <p:sp>
        <p:nvSpPr>
          <p:cNvPr id="8" name="Rectangle 7"/>
          <p:cNvSpPr/>
          <p:nvPr/>
        </p:nvSpPr>
        <p:spPr>
          <a:xfrm>
            <a:off x="777240" y="4096511"/>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converse case: a high volume reversal bar in a decline is bullish.</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6.32</a:t>
            </a:r>
          </a:p>
          <a:p>
            <a:pPr algn="l">
              <a:lnSpc>
                <a:spcPct val="120000"/>
              </a:lnSpc>
              <a:spcBef>
                <a:spcPts val="0"/>
              </a:spcBef>
              <a:spcAft>
                <a:spcPts val="1400"/>
              </a:spcAft>
            </a:pPr>
            <a:r>
              <a:rPr sz="1800" b="0" i="0">
                <a:solidFill>
                  <a:srgbClr val="1A1A1A"/>
                </a:solidFill>
                <a:latin typeface="Palatino"/>
              </a:rPr>
              <a:t>The daily PowerShares DB U.S. Dollar Bullish Fund with a narrow range candlestick on high volume circled at a low at the start of November, followed by a strong rise.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p.198 and Figure 6.32.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More reliable inside the larger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7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 high volume reversal bar around May 23, 2011, after bearish divergence in volume and on the MACD.</a:t>
            </a:r>
          </a:p>
          <a:p>
            <a:pPr algn="l">
              <a:lnSpc>
                <a:spcPct val="105000"/>
              </a:lnSpc>
              <a:spcBef>
                <a:spcPts val="0"/>
              </a:spcBef>
              <a:spcAft>
                <a:spcPts val="1100"/>
              </a:spcAft>
            </a:pPr>
            <a:r>
              <a:rPr sz="1800" b="0" i="0">
                <a:solidFill>
                  <a:srgbClr val="1A1A1A"/>
                </a:solidFill>
                <a:latin typeface="Arial"/>
              </a:rPr>
              <a:t>It is potentially more reliable because it formed within a larger downtrend.</a:t>
            </a:r>
          </a:p>
          <a:p>
            <a:pPr algn="l">
              <a:lnSpc>
                <a:spcPct val="105000"/>
              </a:lnSpc>
              <a:spcBef>
                <a:spcPts val="0"/>
              </a:spcBef>
              <a:spcAft>
                <a:spcPts val="1100"/>
              </a:spcAft>
            </a:pPr>
            <a:r>
              <a:rPr sz="1800" b="0" i="0">
                <a:solidFill>
                  <a:srgbClr val="1A1A1A"/>
                </a:solidFill>
                <a:latin typeface="Arial"/>
              </a:rPr>
              <a:t>At Point X, a high volume continuation bar. Continuation bars too are more reliable in the direction of the predominant trend.</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 bar that agrees with the larger trend is the more reliable.</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6.33</a:t>
            </a:r>
          </a:p>
          <a:p>
            <a:pPr algn="l">
              <a:lnSpc>
                <a:spcPct val="120000"/>
              </a:lnSpc>
              <a:spcBef>
                <a:spcPts val="0"/>
              </a:spcBef>
              <a:spcAft>
                <a:spcPts val="1400"/>
              </a:spcAft>
            </a:pPr>
            <a:r>
              <a:rPr sz="1800" b="0" i="0">
                <a:solidFill>
                  <a:srgbClr val="1A1A1A"/>
                </a:solidFill>
                <a:latin typeface="Palatino"/>
              </a:rPr>
              <a:t>The daily PowerShares DB U.S. Dollar Bullish Fund in a long decline under its moving averages, with a circled high volume reversal bar at a short rally's top in late May, a falling line over volume and the MACD leading up to it, and a high volume continuation bar marked X.</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6.33. The MACD is used here and not taught; Chapter 4 met it. The figure's RSI panel and two moving averages are not discussed.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reversal bar at an overextended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8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high volume reversal bar around the end of October 2011.</a:t>
            </a:r>
          </a:p>
          <a:p>
            <a:pPr algn="l">
              <a:lnSpc>
                <a:spcPct val="105000"/>
              </a:lnSpc>
              <a:spcBef>
                <a:spcPts val="0"/>
              </a:spcBef>
              <a:spcAft>
                <a:spcPts val="1100"/>
              </a:spcAft>
            </a:pPr>
            <a:r>
              <a:rPr sz="2000" b="0" i="0">
                <a:solidFill>
                  <a:srgbClr val="1A1A1A"/>
                </a:solidFill>
                <a:latin typeface="Arial"/>
              </a:rPr>
              <a:t>It occurred at a historically overextended volume level, drawn on the chart.</a:t>
            </a:r>
          </a:p>
        </p:txBody>
      </p:sp>
      <p:sp>
        <p:nvSpPr>
          <p:cNvPr id="8" name="Rectangle 7"/>
          <p:cNvSpPr/>
          <p:nvPr/>
        </p:nvSpPr>
        <p:spPr>
          <a:xfrm>
            <a:off x="777240" y="4096511"/>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Two signals agree: the reversal bar, and Part 2's overextended volume.</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6.34</a:t>
            </a:r>
          </a:p>
          <a:p>
            <a:pPr algn="l">
              <a:lnSpc>
                <a:spcPct val="120000"/>
              </a:lnSpc>
              <a:spcBef>
                <a:spcPts val="0"/>
              </a:spcBef>
              <a:spcAft>
                <a:spcPts val="1400"/>
              </a:spcAft>
            </a:pPr>
            <a:r>
              <a:rPr sz="1800" b="0" i="0">
                <a:solidFill>
                  <a:srgbClr val="1A1A1A"/>
                </a:solidFill>
                <a:latin typeface="Palatino"/>
              </a:rPr>
              <a:t>The daily PowerShares DB U.S. Dollar Bullish Fund with a line across the volume panel labelled historically overextended volume level, and a circled reversal bar at the end of October whose volume reaches that 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6.34 -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6.34.</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Constant volume charts find reversal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9 of 14</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Chapter 3: a constant volume chart draws a new bar once a set volume has traded.</a:t>
            </a:r>
          </a:p>
          <a:p>
            <a:pPr algn="l">
              <a:lnSpc>
                <a:spcPct val="105000"/>
              </a:lnSpc>
              <a:spcBef>
                <a:spcPts val="0"/>
              </a:spcBef>
              <a:spcAft>
                <a:spcPts val="1100"/>
              </a:spcAft>
            </a:pPr>
            <a:r>
              <a:rPr sz="1800" b="0" i="0">
                <a:solidFill>
                  <a:srgbClr val="1A1A1A"/>
                </a:solidFill>
                <a:latin typeface="Arial"/>
              </a:rPr>
              <a:t>Volume is fixed per bar, so a reversal bar is found from its range and height alone.</a:t>
            </a:r>
          </a:p>
          <a:p>
            <a:pPr algn="l">
              <a:lnSpc>
                <a:spcPct val="105000"/>
              </a:lnSpc>
              <a:spcBef>
                <a:spcPts val="0"/>
              </a:spcBef>
              <a:spcAft>
                <a:spcPts val="1100"/>
              </a:spcAft>
            </a:pPr>
            <a:r>
              <a:rPr sz="1800" b="0" i="0">
                <a:solidFill>
                  <a:srgbClr val="1A1A1A"/>
                </a:solidFill>
                <a:latin typeface="Arial"/>
              </a:rPr>
              <a:t>Figure 6.35: a narrow bar, bearish, sellers in control; a tall bar, no interest in the rise.</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501091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Especially useful for reversal bars on high or low volume.</a:t>
            </a:r>
          </a:p>
        </p:txBody>
      </p:sp>
      <p:sp>
        <p:nvSpPr>
          <p:cNvPr id="10" name="TextBox 9"/>
          <p:cNvSpPr txBox="1"/>
          <p:nvPr/>
        </p:nvSpPr>
        <p:spPr>
          <a:xfrm>
            <a:off x="777240" y="5315712"/>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High and low against the range: a narrow bar packs the fixed volume into little movement, a tall bar spreads it over a big one.</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6.35</a:t>
            </a:r>
          </a:p>
          <a:p>
            <a:pPr algn="l">
              <a:lnSpc>
                <a:spcPct val="120000"/>
              </a:lnSpc>
              <a:spcBef>
                <a:spcPts val="0"/>
              </a:spcBef>
              <a:spcAft>
                <a:spcPts val="1400"/>
              </a:spcAft>
            </a:pPr>
            <a:r>
              <a:rPr sz="1800" b="0" i="0">
                <a:solidFill>
                  <a:srgbClr val="1A1A1A"/>
                </a:solidFill>
                <a:latin typeface="Palatino"/>
              </a:rPr>
              <a:t>Two sketches of a constant volume bar chart, every volume bar the same height. Left: a rise topped by a narrow range bar on relatively high volume, bearish. Right: a rise topped by one overextended, very tall bar on relatively low volume, bearish.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6.35 -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6.35. The constant volume chart was a Chapter 3 term.</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Reversal bars on charts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is the high volume reversal bar of Figure 6.33 regarded as potentially more reliable?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formed on a constant volume chart</a:t>
            </a:r>
          </a:p>
          <a:p>
            <a:pPr algn="l">
              <a:lnSpc>
                <a:spcPct val="112000"/>
              </a:lnSpc>
              <a:spcBef>
                <a:spcPts val="0"/>
              </a:spcBef>
              <a:spcAft>
                <a:spcPts val="900"/>
              </a:spcAft>
            </a:pPr>
            <a:r>
              <a:rPr sz="1500" b="0" i="0">
                <a:solidFill>
                  <a:srgbClr val="FFFFFF"/>
                </a:solidFill>
                <a:latin typeface="Arial"/>
              </a:rPr>
              <a:t>B.  It formed within a larger downtrend</a:t>
            </a:r>
          </a:p>
          <a:p>
            <a:pPr algn="l">
              <a:lnSpc>
                <a:spcPct val="112000"/>
              </a:lnSpc>
              <a:spcBef>
                <a:spcPts val="0"/>
              </a:spcBef>
              <a:spcAft>
                <a:spcPts val="900"/>
              </a:spcAft>
            </a:pPr>
            <a:r>
              <a:rPr sz="1500" b="0" i="0">
                <a:solidFill>
                  <a:srgbClr val="FFFFFF"/>
                </a:solidFill>
                <a:latin typeface="Arial"/>
              </a:rPr>
              <a:t>C.  Its volume was the lowest of the year</a:t>
            </a:r>
          </a:p>
          <a:p>
            <a:pPr algn="l">
              <a:lnSpc>
                <a:spcPct val="112000"/>
              </a:lnSpc>
              <a:spcBef>
                <a:spcPts val="0"/>
              </a:spcBef>
              <a:spcAft>
                <a:spcPts val="900"/>
              </a:spcAft>
            </a:pPr>
            <a:r>
              <a:rPr sz="1500" b="0" i="0">
                <a:solidFill>
                  <a:srgbClr val="FFFFFF"/>
                </a:solidFill>
                <a:latin typeface="Arial"/>
              </a:rPr>
              <a:t>D.  It formed on flat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constant volume chart, potential reversal bars are found from:</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volume bars alone</a:t>
            </a:r>
          </a:p>
          <a:p>
            <a:pPr algn="l">
              <a:lnSpc>
                <a:spcPct val="112000"/>
              </a:lnSpc>
              <a:spcBef>
                <a:spcPts val="0"/>
              </a:spcBef>
              <a:spcAft>
                <a:spcPts val="900"/>
              </a:spcAft>
            </a:pPr>
            <a:r>
              <a:rPr sz="1500" b="0" i="0">
                <a:solidFill>
                  <a:srgbClr val="FFFFFF"/>
                </a:solidFill>
                <a:latin typeface="Arial"/>
              </a:rPr>
              <a:t>B.  The time axis</a:t>
            </a:r>
          </a:p>
          <a:p>
            <a:pPr algn="l">
              <a:lnSpc>
                <a:spcPct val="112000"/>
              </a:lnSpc>
              <a:spcBef>
                <a:spcPts val="0"/>
              </a:spcBef>
              <a:spcAft>
                <a:spcPts val="900"/>
              </a:spcAft>
            </a:pPr>
            <a:r>
              <a:rPr sz="1500" b="0" i="0">
                <a:solidFill>
                  <a:srgbClr val="FFFFFF"/>
                </a:solidFill>
                <a:latin typeface="Arial"/>
              </a:rPr>
              <a:t>C.  The open interest</a:t>
            </a:r>
          </a:p>
          <a:p>
            <a:pPr algn="l">
              <a:lnSpc>
                <a:spcPct val="112000"/>
              </a:lnSpc>
              <a:spcBef>
                <a:spcPts val="0"/>
              </a:spcBef>
              <a:spcAft>
                <a:spcPts val="900"/>
              </a:spcAft>
            </a:pPr>
            <a:r>
              <a:rPr sz="1500" b="0" i="0">
                <a:solidFill>
                  <a:srgbClr val="FFFFFF"/>
                </a:solidFill>
                <a:latin typeface="Arial"/>
              </a:rPr>
              <a:t>D.  The bar range alone and its height against the rest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6 - 6.1 Bar range  |  Check 15</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Reversal bars on charts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Why is the high volume reversal bar of Figure 6.33 regarded as potentially more reliable?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It formed within a larger downtrend</a:t>
            </a:r>
          </a:p>
          <a:p>
            <a:pPr algn="l">
              <a:lnSpc>
                <a:spcPct val="115000"/>
              </a:lnSpc>
              <a:spcBef>
                <a:spcPts val="700"/>
              </a:spcBef>
              <a:spcAft>
                <a:spcPts val="0"/>
              </a:spcAft>
            </a:pPr>
            <a:r>
              <a:rPr sz="1600" b="0" i="0">
                <a:solidFill>
                  <a:srgbClr val="1A1A1A"/>
                </a:solidFill>
                <a:latin typeface="Arial"/>
              </a:rPr>
              <a:t>The bearish reversal bar occurred within a larger downtrend, the direction of the predominant trend.</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a constant volume chart, potential reversal bars are found from:</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bar range alone and its height against the rest</a:t>
            </a:r>
          </a:p>
          <a:p>
            <a:pPr algn="l">
              <a:lnSpc>
                <a:spcPct val="115000"/>
              </a:lnSpc>
              <a:spcBef>
                <a:spcPts val="700"/>
              </a:spcBef>
              <a:spcAft>
                <a:spcPts val="0"/>
              </a:spcAft>
            </a:pPr>
            <a:r>
              <a:rPr sz="1600" b="0" i="0">
                <a:solidFill>
                  <a:srgbClr val="1A1A1A"/>
                </a:solidFill>
                <a:latin typeface="Arial"/>
              </a:rPr>
              <a:t>Volume is fixed for each bar, so reversal bars are identified by bar range and height alone.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Check 15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leading price, or price leading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10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Most practitioners agree that without participation, volume, price cannot move significantly.</a:t>
            </a:r>
          </a:p>
          <a:p>
            <a:pPr algn="l">
              <a:lnSpc>
                <a:spcPct val="105000"/>
              </a:lnSpc>
              <a:spcBef>
                <a:spcPts val="0"/>
              </a:spcBef>
              <a:spcAft>
                <a:spcPts val="1100"/>
              </a:spcAft>
            </a:pPr>
            <a:r>
              <a:rPr sz="1800" b="0" i="0">
                <a:solidFill>
                  <a:srgbClr val="1A1A1A"/>
                </a:solidFill>
                <a:latin typeface="Arial"/>
              </a:rPr>
              <a:t>Yet buy and sell signals need not have much volume to appear on the chart.</a:t>
            </a:r>
          </a:p>
          <a:p>
            <a:pPr algn="l">
              <a:lnSpc>
                <a:spcPct val="105000"/>
              </a:lnSpc>
              <a:spcBef>
                <a:spcPts val="0"/>
              </a:spcBef>
              <a:spcAft>
                <a:spcPts val="1100"/>
              </a:spcAft>
            </a:pPr>
            <a:r>
              <a:rPr sz="1800" b="0" i="0">
                <a:solidFill>
                  <a:srgbClr val="1A1A1A"/>
                </a:solidFill>
                <a:latin typeface="Arial"/>
              </a:rPr>
              <a:t>A small breakout of a very significant trendline may set off a larger one, inviting tremendous volume.</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Then price leads volume: more often now, the book says.</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k.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AK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p.200. The chart is ours, on invented prices. Breakout of a trendline: Chapter 5's use of the word.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Intraday volume cycle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11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Volume rises and falls on a daily rhythm, peaking at about the same hour each day.</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1:30 to 2:30 p.m. GMT is 9:30 to 10:30 p.m. in Manila. On our chart, price turns or breaks away at each peak.</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intraday volume cycle normally peaks around 1:30 p.m. to 2:30 p.m. GMT. At these volume peaks, price will either reverse or continue, but very rarely remain unchanged.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l.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AL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p.200. The hours are the book's; its examples are EURUSD. The chart and the Manila time are ours.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cycle peaks at support and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12 of 14</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Almost every reversal on the 30-minute EURUSD comes at an intraday tick volume peak.</a:t>
            </a:r>
          </a:p>
          <a:p>
            <a:pPr algn="l">
              <a:lnSpc>
                <a:spcPct val="105000"/>
              </a:lnSpc>
              <a:spcBef>
                <a:spcPts val="0"/>
              </a:spcBef>
              <a:spcAft>
                <a:spcPts val="1100"/>
              </a:spcAft>
            </a:pPr>
            <a:r>
              <a:rPr sz="1700" b="0" i="0">
                <a:solidFill>
                  <a:srgbClr val="1A1A1A"/>
                </a:solidFill>
                <a:latin typeface="Arial"/>
              </a:rPr>
              <a:t>Especially useful when price retests a previous support or resistance level.</a:t>
            </a:r>
          </a:p>
          <a:p>
            <a:pPr algn="l">
              <a:lnSpc>
                <a:spcPct val="105000"/>
              </a:lnSpc>
              <a:spcBef>
                <a:spcPts val="0"/>
              </a:spcBef>
              <a:spcAft>
                <a:spcPts val="1100"/>
              </a:spcAft>
            </a:pPr>
            <a:r>
              <a:rPr sz="1700" b="0" i="0">
                <a:solidFill>
                  <a:srgbClr val="1A1A1A"/>
                </a:solidFill>
                <a:latin typeface="Arial"/>
              </a:rPr>
              <a:t>Many use a bidirectional, or straddle, entry at the peak, since price rarely stays unchanged.</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Know when the peak comes; catch price either way.</a:t>
            </a:r>
          </a:p>
        </p:txBody>
      </p:sp>
      <p:sp>
        <p:nvSpPr>
          <p:cNvPr id="10" name="TextBox 9"/>
          <p:cNvSpPr txBox="1"/>
          <p:nvPr/>
        </p:nvSpPr>
        <p:spPr>
          <a:xfrm>
            <a:off x="777240" y="5189220"/>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5's bidirectional entry: a trade either way, depending on the breakout.</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6.36</a:t>
            </a:r>
          </a:p>
          <a:p>
            <a:pPr algn="l">
              <a:lnSpc>
                <a:spcPct val="120000"/>
              </a:lnSpc>
              <a:spcBef>
                <a:spcPts val="0"/>
              </a:spcBef>
              <a:spcAft>
                <a:spcPts val="1400"/>
              </a:spcAft>
            </a:pPr>
            <a:r>
              <a:rPr sz="1800" b="0" i="0">
                <a:solidFill>
                  <a:srgbClr val="1A1A1A"/>
                </a:solidFill>
                <a:latin typeface="Palatino"/>
              </a:rPr>
              <a:t>A 30-minute EURUSD chart over several weeks with support and resistance lines, a triangle and a channel, and daily volume cycles in the volume panel; price reverses at the volume peaks.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pp.200-201 and Figure 6.36. Bidirectional entry: a Chapter 5 term.</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Trendline retests at volume peaks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13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On hourly EURUSD, price rebounds off trendline retests at Points 1, 4 and 5, each during a tick volume cycle peak.</a:t>
            </a:r>
          </a:p>
          <a:p>
            <a:pPr algn="l">
              <a:lnSpc>
                <a:spcPct val="105000"/>
              </a:lnSpc>
              <a:spcBef>
                <a:spcPts val="0"/>
              </a:spcBef>
              <a:spcAft>
                <a:spcPts val="1100"/>
              </a:spcAft>
            </a:pPr>
            <a:r>
              <a:rPr sz="1800" b="0" i="0">
                <a:solidFill>
                  <a:srgbClr val="1A1A1A"/>
                </a:solidFill>
                <a:latin typeface="Arial"/>
              </a:rPr>
              <a:t>A cycle-tuned stochastic oscillator showed oversold conditions there too.</a:t>
            </a:r>
          </a:p>
          <a:p>
            <a:pPr algn="l">
              <a:lnSpc>
                <a:spcPct val="105000"/>
              </a:lnSpc>
              <a:spcBef>
                <a:spcPts val="0"/>
              </a:spcBef>
              <a:spcAft>
                <a:spcPts val="1100"/>
              </a:spcAft>
            </a:pPr>
            <a:r>
              <a:rPr sz="1800" b="0" i="0">
                <a:solidFill>
                  <a:srgbClr val="1A1A1A"/>
                </a:solidFill>
                <a:latin typeface="Arial"/>
              </a:rPr>
              <a:t>At Points 2 and 3 the trendline failed. There the stochastic showed no clear oversold condition, at X and Y.</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6451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volume peak times the retest; the oscillator confirms it.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6.37</a:t>
            </a:r>
          </a:p>
          <a:p>
            <a:pPr algn="l">
              <a:lnSpc>
                <a:spcPct val="120000"/>
              </a:lnSpc>
              <a:spcBef>
                <a:spcPts val="0"/>
              </a:spcBef>
              <a:spcAft>
                <a:spcPts val="1400"/>
              </a:spcAft>
            </a:pPr>
            <a:r>
              <a:rPr sz="1800" b="0" i="0">
                <a:solidFill>
                  <a:srgbClr val="1A1A1A"/>
                </a:solidFill>
                <a:latin typeface="Palatino"/>
              </a:rPr>
              <a:t>An hourly EURUSD chart with three rising trendlines, retests marked at 1 to 5, a volume panel with daily volume cycles, and a stochastic panel whose oversold readings are marked under 1, 4 and 5, with circles at X and Y where it was not clearly oversold.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6.37 -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pp.201-202 and Figure 6.37. The cycle-tuned stochastic: named in Chapter 5; oscillators are Chapter 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non-constant time charts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14 of 14</a:t>
            </a:r>
          </a:p>
        </p:txBody>
      </p:sp>
      <p:sp>
        <p:nvSpPr>
          <p:cNvPr id="7" name="TextBox 6"/>
          <p:cNvSpPr txBox="1"/>
          <p:nvPr/>
        </p:nvSpPr>
        <p:spPr>
          <a:xfrm>
            <a:off x="777240" y="1965960"/>
            <a:ext cx="65836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Point and figure, Renko and three line break charts, Chapter 3: the time axis is not plotted in a linear fashion.</a:t>
            </a:r>
          </a:p>
          <a:p>
            <a:pPr algn="l">
              <a:lnSpc>
                <a:spcPct val="105000"/>
              </a:lnSpc>
              <a:spcBef>
                <a:spcPts val="0"/>
              </a:spcBef>
              <a:spcAft>
                <a:spcPts val="1100"/>
              </a:spcAft>
            </a:pPr>
            <a:r>
              <a:rPr sz="1800" b="0" i="0">
                <a:solidFill>
                  <a:srgbClr val="1A1A1A"/>
                </a:solidFill>
                <a:latin typeface="Arial"/>
              </a:rPr>
              <a:t>That affects the angle of trendlines, channels and chart patterns.</a:t>
            </a:r>
          </a:p>
          <a:p>
            <a:pPr algn="l">
              <a:lnSpc>
                <a:spcPct val="105000"/>
              </a:lnSpc>
              <a:spcBef>
                <a:spcPts val="0"/>
              </a:spcBef>
              <a:spcAft>
                <a:spcPts val="1100"/>
              </a:spcAft>
            </a:pPr>
            <a:r>
              <a:rPr sz="1800" b="0" i="0">
                <a:solidFill>
                  <a:srgbClr val="1A1A1A"/>
                </a:solidFill>
                <a:latin typeface="Arial"/>
              </a:rPr>
              <a:t>Equivolume charts are unique: constant time bars, but bar width varies with volume, so the time axis is non-linear too.</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629107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Figure 6.38: the same trendline is violated at different points on the two charts.</a:t>
            </a:r>
          </a:p>
        </p:txBody>
      </p:sp>
      <p:sp>
        <p:nvSpPr>
          <p:cNvPr id="10" name="Rectangle 9"/>
          <p:cNvSpPr/>
          <p:nvPr/>
        </p:nvSpPr>
        <p:spPr>
          <a:xfrm>
            <a:off x="7680960" y="1810512"/>
            <a:ext cx="37334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680960" y="1810512"/>
            <a:ext cx="37334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8092440" y="2267712"/>
            <a:ext cx="29105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6.38</a:t>
            </a:r>
          </a:p>
          <a:p>
            <a:pPr algn="l">
              <a:lnSpc>
                <a:spcPct val="120000"/>
              </a:lnSpc>
              <a:spcBef>
                <a:spcPts val="0"/>
              </a:spcBef>
              <a:spcAft>
                <a:spcPts val="1400"/>
              </a:spcAft>
            </a:pPr>
            <a:r>
              <a:rPr sz="1800" b="0" i="0">
                <a:solidFill>
                  <a:srgbClr val="1A1A1A"/>
                </a:solidFill>
                <a:latin typeface="Palatino"/>
              </a:rPr>
              <a:t>Two daily Apple charts of the same months, a standard chart with a linear time axis above and an equivolume chart with a non-linear time axis below. The same rising trendline is drawn on both, and circles mark where each is violated, at different places.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680960" y="5650992"/>
            <a:ext cx="37334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6.38 -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p.202 and Figure 6.38. Point and figure, Renko, three line break and equivolume charts were Chapter 3 terms.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 cycles and the time axis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book says the intraday volume cycle normally peaks around: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market open</a:t>
            </a:r>
          </a:p>
          <a:p>
            <a:pPr algn="l">
              <a:lnSpc>
                <a:spcPct val="112000"/>
              </a:lnSpc>
              <a:spcBef>
                <a:spcPts val="0"/>
              </a:spcBef>
              <a:spcAft>
                <a:spcPts val="900"/>
              </a:spcAft>
            </a:pPr>
            <a:r>
              <a:rPr sz="1500" b="0" i="0">
                <a:solidFill>
                  <a:srgbClr val="FFFFFF"/>
                </a:solidFill>
                <a:latin typeface="Arial"/>
              </a:rPr>
              <a:t>B.  1:30 p.m. to 2:30 p.m. GMT</a:t>
            </a:r>
          </a:p>
          <a:p>
            <a:pPr algn="l">
              <a:lnSpc>
                <a:spcPct val="112000"/>
              </a:lnSpc>
              <a:spcBef>
                <a:spcPts val="0"/>
              </a:spcBef>
              <a:spcAft>
                <a:spcPts val="900"/>
              </a:spcAft>
            </a:pPr>
            <a:r>
              <a:rPr sz="1500" b="0" i="0">
                <a:solidFill>
                  <a:srgbClr val="FFFFFF"/>
                </a:solidFill>
                <a:latin typeface="Arial"/>
              </a:rPr>
              <a:t>C.  The market close</a:t>
            </a:r>
          </a:p>
          <a:p>
            <a:pPr algn="l">
              <a:lnSpc>
                <a:spcPct val="112000"/>
              </a:lnSpc>
              <a:spcBef>
                <a:spcPts val="0"/>
              </a:spcBef>
              <a:spcAft>
                <a:spcPts val="900"/>
              </a:spcAft>
            </a:pPr>
            <a:r>
              <a:rPr sz="1500" b="0" i="0">
                <a:solidFill>
                  <a:srgbClr val="FFFFFF"/>
                </a:solidFill>
                <a:latin typeface="Arial"/>
              </a:rPr>
              <a:t>D.  Midnight GMT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may a trendline be violated at a different point on an equivolume chart than on a standard chart?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Equivolume charts ignore volume</a:t>
            </a:r>
          </a:p>
          <a:p>
            <a:pPr algn="l">
              <a:lnSpc>
                <a:spcPct val="112000"/>
              </a:lnSpc>
              <a:spcBef>
                <a:spcPts val="0"/>
              </a:spcBef>
              <a:spcAft>
                <a:spcPts val="900"/>
              </a:spcAft>
            </a:pPr>
            <a:r>
              <a:rPr sz="1500" b="0" i="0">
                <a:solidFill>
                  <a:srgbClr val="FFFFFF"/>
                </a:solidFill>
                <a:latin typeface="Arial"/>
              </a:rPr>
              <a:t>B.  Equivolume charts use closing prices only</a:t>
            </a:r>
          </a:p>
          <a:p>
            <a:pPr algn="l">
              <a:lnSpc>
                <a:spcPct val="112000"/>
              </a:lnSpc>
              <a:spcBef>
                <a:spcPts val="0"/>
              </a:spcBef>
              <a:spcAft>
                <a:spcPts val="900"/>
              </a:spcAft>
            </a:pPr>
            <a:r>
              <a:rPr sz="1500" b="0" i="0">
                <a:solidFill>
                  <a:srgbClr val="FFFFFF"/>
                </a:solidFill>
                <a:latin typeface="Arial"/>
              </a:rPr>
              <a:t>C.  Bar width varies with volume, so the time axis is non-linear</a:t>
            </a:r>
          </a:p>
          <a:p>
            <a:pPr algn="l">
              <a:lnSpc>
                <a:spcPct val="112000"/>
              </a:lnSpc>
              <a:spcBef>
                <a:spcPts val="0"/>
              </a:spcBef>
              <a:spcAft>
                <a:spcPts val="900"/>
              </a:spcAft>
            </a:pPr>
            <a:r>
              <a:rPr sz="1500" b="0" i="0">
                <a:solidFill>
                  <a:srgbClr val="FFFFFF"/>
                </a:solidFill>
                <a:latin typeface="Arial"/>
              </a:rPr>
              <a:t>D.  Equivolume charts are not constant time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6 - 6.1 Bar range  |  Check 16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 cycles and the time axis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book says the intraday volume cycle normally peaks around: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1:30 p.m. to 2:30 p.m. GMT</a:t>
            </a:r>
          </a:p>
          <a:p>
            <a:pPr algn="l">
              <a:lnSpc>
                <a:spcPct val="115000"/>
              </a:lnSpc>
              <a:spcBef>
                <a:spcPts val="700"/>
              </a:spcBef>
              <a:spcAft>
                <a:spcPts val="0"/>
              </a:spcAft>
            </a:pPr>
            <a:r>
              <a:rPr sz="1600" b="0" i="0">
                <a:solidFill>
                  <a:srgbClr val="1A1A1A"/>
                </a:solidFill>
                <a:latin typeface="Arial"/>
              </a:rPr>
              <a:t>The intraday volume cycle normally peaks around 1:30 p.m. to 2:30 p.m. GMT.</a:t>
            </a:r>
          </a:p>
        </p:txBody>
      </p:sp>
      <p:sp>
        <p:nvSpPr>
          <p:cNvPr id="10" name="Rectangle 9"/>
          <p:cNvSpPr/>
          <p:nvPr/>
        </p:nvSpPr>
        <p:spPr>
          <a:xfrm>
            <a:off x="777240" y="308203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Why may a trendline be violated at a different point on an equivolume chart than on a standard chart?</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Bar width varies with volume, so the time axis is non-linear</a:t>
            </a:r>
          </a:p>
          <a:p>
            <a:pPr algn="l">
              <a:lnSpc>
                <a:spcPct val="115000"/>
              </a:lnSpc>
              <a:spcBef>
                <a:spcPts val="700"/>
              </a:spcBef>
              <a:spcAft>
                <a:spcPts val="0"/>
              </a:spcAft>
            </a:pPr>
            <a:r>
              <a:rPr sz="1600" b="0" i="0">
                <a:solidFill>
                  <a:srgbClr val="1A1A1A"/>
                </a:solidFill>
                <a:latin typeface="Arial"/>
              </a:rPr>
              <a:t>Bars are constant time but their width varies with volume, so the time axis is non-linear and a line's angle changes.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Check 16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6.2  Volume oscillators, and how they are read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book's eight: the VWMA, the Accumulation Distribution Line (ADL),</a:t>
            </a:r>
          </a:p>
          <a:p>
            <a:pPr algn="l">
              <a:lnSpc>
                <a:spcPct val="118000"/>
              </a:lnSpc>
              <a:spcBef>
                <a:spcPts val="0"/>
              </a:spcBef>
              <a:spcAft>
                <a:spcPts val="1300"/>
              </a:spcAft>
            </a:pPr>
            <a:r>
              <a:rPr sz="2100" b="0" i="0">
                <a:solidFill>
                  <a:srgbClr val="1A1A1A"/>
                </a:solidFill>
                <a:latin typeface="Arial"/>
              </a:rPr>
              <a:t>On Balance Volume (OBV), the Chaikin Money Flow and Chaikin Oscillator,</a:t>
            </a:r>
          </a:p>
          <a:p>
            <a:pPr algn="l">
              <a:lnSpc>
                <a:spcPct val="118000"/>
              </a:lnSpc>
              <a:spcBef>
                <a:spcPts val="0"/>
              </a:spcBef>
              <a:spcAft>
                <a:spcPts val="1300"/>
              </a:spcAft>
            </a:pPr>
            <a:r>
              <a:rPr sz="2100" b="0" i="0">
                <a:solidFill>
                  <a:srgbClr val="1A1A1A"/>
                </a:solidFill>
                <a:latin typeface="Arial"/>
              </a:rPr>
              <a:t>the Demand Index, the Herrick Payoff Index, the NYSE Up/Down Volume Line.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Each is read by eight standard methods. Here: mostly divergence, plus oversold levels and trendlines on the indicator.</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eight methods, Chapter 8: 1 OBOS overextended levels, 2 equilibrium and zero line crossovers, 3 signal line crossovers, 4 price-oscillator divergence, 5 to 7 geometrically, numerically and horizontally based oscillator pattern analysis, 8 oscillator-on-oscillator analysis. OBOS: overbought and oversold. The VWMA was Part 2; the Demand Index is never explained.</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both lists, as printed. It refers the eight methods to Chapter 8.</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On Balance Volume, OBV</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running total of volume: add the day's volume if the close rose, subtract it if the close fell.</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Closes PHP 50.00, 50.50, 50.20, 50.20, 50.80, 50.60; volumes after day 1: 2.0, 1.5, 1.0, 3.0, 1.0 million. OBV: 0, 2.0, 0.5, 0.5, 3.5, 2.5.</a:t>
            </a:r>
          </a:p>
        </p:txBody>
      </p:sp>
      <p:sp>
        <p:nvSpPr>
          <p:cNvPr id="12" name="Rectangle 11"/>
          <p:cNvSpPr/>
          <p:nvPr/>
        </p:nvSpPr>
        <p:spPr>
          <a:xfrm>
            <a:off x="777240" y="446836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cumulative running total of each period's volume: added if the close is higher than the preceding close, subtracted if lower, and nothing if unchanged.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m.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AM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gives the rule. The closes and volumes in the example and on the chart are ours.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OBV: a disadvantage and a weakness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3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Disadvantage: its absolute value depends on the start date. Its relative changes do not, so the eight methods still work.</a:t>
            </a:r>
          </a:p>
          <a:p>
            <a:pPr algn="l">
              <a:lnSpc>
                <a:spcPct val="105000"/>
              </a:lnSpc>
              <a:spcBef>
                <a:spcPts val="0"/>
              </a:spcBef>
              <a:spcAft>
                <a:spcPts val="1100"/>
              </a:spcAft>
            </a:pPr>
            <a:r>
              <a:rPr sz="1800" b="0" i="0">
                <a:solidFill>
                  <a:srgbClr val="1A1A1A"/>
                </a:solidFill>
                <a:latin typeface="Arial"/>
              </a:rPr>
              <a:t>Weakness: volume is added or subtracted regardless of the bar's own behavior.</a:t>
            </a:r>
          </a:p>
          <a:p>
            <a:pPr algn="l">
              <a:lnSpc>
                <a:spcPct val="105000"/>
              </a:lnSpc>
              <a:spcBef>
                <a:spcPts val="0"/>
              </a:spcBef>
              <a:spcAft>
                <a:spcPts val="1100"/>
              </a:spcAft>
            </a:pPr>
            <a:r>
              <a:rPr sz="1800" b="0" i="0">
                <a:solidFill>
                  <a:srgbClr val="1A1A1A"/>
                </a:solidFill>
                <a:latin typeface="Arial"/>
              </a:rPr>
              <a:t>A bar closing just below the last close is subtracted, even after a new high far above the last bar's.</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To redress it, many prefer the ADL or the two Chaikin indicators.</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n.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AN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pp.203-204: the disadvantage, the weakness and its example are the book's. The chart is ours, on invented bars.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bullish divergence: Citigroup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4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Citigroup's price falls to a lower low while the OBV makes a higher one.</a:t>
            </a:r>
          </a:p>
          <a:p>
            <a:pPr algn="l">
              <a:lnSpc>
                <a:spcPct val="105000"/>
              </a:lnSpc>
              <a:spcBef>
                <a:spcPts val="0"/>
              </a:spcBef>
              <a:spcAft>
                <a:spcPts val="1100"/>
              </a:spcAft>
            </a:pPr>
            <a:r>
              <a:rPr sz="2000" b="0" i="0">
                <a:solidFill>
                  <a:srgbClr val="1A1A1A"/>
                </a:solidFill>
                <a:latin typeface="Arial"/>
              </a:rPr>
              <a:t>Prices rebound strongly thereafter.</a:t>
            </a:r>
          </a:p>
        </p:txBody>
      </p:sp>
      <p:sp>
        <p:nvSpPr>
          <p:cNvPr id="8" name="Rectangle 7"/>
          <p:cNvSpPr/>
          <p:nvPr/>
        </p:nvSpPr>
        <p:spPr>
          <a:xfrm>
            <a:off x="777240" y="3456432"/>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493008"/>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OBV is price-based: bullish divergence is price falling while it rises.</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6.39</a:t>
            </a:r>
          </a:p>
          <a:p>
            <a:pPr algn="l">
              <a:lnSpc>
                <a:spcPct val="120000"/>
              </a:lnSpc>
              <a:spcBef>
                <a:spcPts val="0"/>
              </a:spcBef>
              <a:spcAft>
                <a:spcPts val="1400"/>
              </a:spcAft>
            </a:pPr>
            <a:r>
              <a:rPr sz="1800" b="0" i="0">
                <a:solidFill>
                  <a:srgbClr val="1A1A1A"/>
                </a:solidFill>
                <a:latin typeface="Palatino"/>
              </a:rPr>
              <a:t>The daily chart of Citigroup with an On Balance Volume panel under it. A falling line marks price's lower lows in August to October 2011, and a rising line under the OBV, labelled bullish divergence, marks its higher lows.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6.39 -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p.204 and Figure 6.39.</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bearish divergence: copper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5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Copper's price rises, twice, while the OBV falls.</a:t>
            </a:r>
          </a:p>
          <a:p>
            <a:pPr algn="l">
              <a:lnSpc>
                <a:spcPct val="105000"/>
              </a:lnSpc>
              <a:spcBef>
                <a:spcPts val="0"/>
              </a:spcBef>
              <a:spcAft>
                <a:spcPts val="1100"/>
              </a:spcAft>
            </a:pPr>
            <a:r>
              <a:rPr sz="2000" b="0" i="0">
                <a:solidFill>
                  <a:srgbClr val="1A1A1A"/>
                </a:solidFill>
                <a:latin typeface="Arial"/>
              </a:rPr>
              <a:t>Prices fell strongly thereafter.</a:t>
            </a:r>
          </a:p>
        </p:txBody>
      </p:sp>
      <p:sp>
        <p:nvSpPr>
          <p:cNvPr id="8" name="Rectangle 7"/>
          <p:cNvSpPr/>
          <p:nvPr/>
        </p:nvSpPr>
        <p:spPr>
          <a:xfrm>
            <a:off x="777240" y="3456432"/>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493008"/>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Bearish divergence reads the same on both kinds: price up, the indicator down.</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6.40</a:t>
            </a:r>
          </a:p>
          <a:p>
            <a:pPr algn="l">
              <a:lnSpc>
                <a:spcPct val="120000"/>
              </a:lnSpc>
              <a:spcBef>
                <a:spcPts val="0"/>
              </a:spcBef>
              <a:spcAft>
                <a:spcPts val="1400"/>
              </a:spcAft>
            </a:pPr>
            <a:r>
              <a:rPr sz="1800" b="0" i="0">
                <a:solidFill>
                  <a:srgbClr val="1A1A1A"/>
                </a:solidFill>
                <a:latin typeface="Palatino"/>
              </a:rPr>
              <a:t>The daily chart of copper with an On Balance Volume panel under it. Two arrows mark price rising to higher peaks in 2011 while two arrows under the OBV fall, labelled bearish divergence.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6.40 -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p.204 and Figure 6.40.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On Balance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Today's close is lower than yesterday's, on volume of 3 million shares. The OBV:</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Is unchanged</a:t>
            </a:r>
          </a:p>
          <a:p>
            <a:pPr algn="l">
              <a:lnSpc>
                <a:spcPct val="112000"/>
              </a:lnSpc>
              <a:spcBef>
                <a:spcPts val="0"/>
              </a:spcBef>
              <a:spcAft>
                <a:spcPts val="900"/>
              </a:spcAft>
            </a:pPr>
            <a:r>
              <a:rPr sz="1500" b="0" i="0">
                <a:solidFill>
                  <a:srgbClr val="FFFFFF"/>
                </a:solidFill>
                <a:latin typeface="Arial"/>
              </a:rPr>
              <a:t>B.  Rises by 3 million</a:t>
            </a:r>
          </a:p>
          <a:p>
            <a:pPr algn="l">
              <a:lnSpc>
                <a:spcPct val="112000"/>
              </a:lnSpc>
              <a:spcBef>
                <a:spcPts val="0"/>
              </a:spcBef>
              <a:spcAft>
                <a:spcPts val="900"/>
              </a:spcAft>
            </a:pPr>
            <a:r>
              <a:rPr sz="1500" b="0" i="0">
                <a:solidFill>
                  <a:srgbClr val="FFFFFF"/>
                </a:solidFill>
                <a:latin typeface="Arial"/>
              </a:rPr>
              <a:t>C.  Rises by part of 3 million</a:t>
            </a:r>
          </a:p>
          <a:p>
            <a:pPr algn="l">
              <a:lnSpc>
                <a:spcPct val="112000"/>
              </a:lnSpc>
              <a:spcBef>
                <a:spcPts val="0"/>
              </a:spcBef>
              <a:spcAft>
                <a:spcPts val="900"/>
              </a:spcAft>
            </a:pPr>
            <a:r>
              <a:rPr sz="1500" b="0" i="0">
                <a:solidFill>
                  <a:srgbClr val="FFFFFF"/>
                </a:solidFill>
                <a:latin typeface="Arial"/>
              </a:rPr>
              <a:t>D.  Falls by 3 million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book's disadvantage of the OBV is that: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Its absolute value depends on the start date</a:t>
            </a:r>
          </a:p>
          <a:p>
            <a:pPr algn="l">
              <a:lnSpc>
                <a:spcPct val="112000"/>
              </a:lnSpc>
              <a:spcBef>
                <a:spcPts val="0"/>
              </a:spcBef>
              <a:spcAft>
                <a:spcPts val="900"/>
              </a:spcAft>
            </a:pPr>
            <a:r>
              <a:rPr sz="1500" b="0" i="0">
                <a:solidFill>
                  <a:srgbClr val="FFFFFF"/>
                </a:solidFill>
                <a:latin typeface="Arial"/>
              </a:rPr>
              <a:t>B.  It cannot show divergence</a:t>
            </a:r>
          </a:p>
          <a:p>
            <a:pPr algn="l">
              <a:lnSpc>
                <a:spcPct val="112000"/>
              </a:lnSpc>
              <a:spcBef>
                <a:spcPts val="0"/>
              </a:spcBef>
              <a:spcAft>
                <a:spcPts val="900"/>
              </a:spcAft>
            </a:pPr>
            <a:r>
              <a:rPr sz="1500" b="0" i="0">
                <a:solidFill>
                  <a:srgbClr val="FFFFFF"/>
                </a:solidFill>
                <a:latin typeface="Arial"/>
              </a:rPr>
              <a:t>C.  It uses open interest</a:t>
            </a:r>
          </a:p>
          <a:p>
            <a:pPr algn="l">
              <a:lnSpc>
                <a:spcPct val="112000"/>
              </a:lnSpc>
              <a:spcBef>
                <a:spcPts val="0"/>
              </a:spcBef>
              <a:spcAft>
                <a:spcPts val="900"/>
              </a:spcAft>
            </a:pPr>
            <a:r>
              <a:rPr sz="1500" b="0" i="0">
                <a:solidFill>
                  <a:srgbClr val="FFFFFF"/>
                </a:solidFill>
                <a:latin typeface="Arial"/>
              </a:rPr>
              <a:t>D.  It ignores volume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6 - 6.2 Oscillators  |  Check 17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On Balance Volume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Today's close is lower than yesterday's, on volume of 3 million shares. The OBV:</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Falls by 3 million</a:t>
            </a:r>
          </a:p>
          <a:p>
            <a:pPr algn="l">
              <a:lnSpc>
                <a:spcPct val="115000"/>
              </a:lnSpc>
              <a:spcBef>
                <a:spcPts val="700"/>
              </a:spcBef>
              <a:spcAft>
                <a:spcPts val="0"/>
              </a:spcAft>
            </a:pPr>
            <a:r>
              <a:rPr sz="1600" b="0" i="0">
                <a:solidFill>
                  <a:srgbClr val="1A1A1A"/>
                </a:solidFill>
                <a:latin typeface="Arial"/>
              </a:rPr>
              <a:t>If the close is lower than the preceding close, the period's whole volume is subtracted from the running total.</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book's disadvantage of the OBV is that:</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Its absolute value depends on the start date</a:t>
            </a:r>
          </a:p>
          <a:p>
            <a:pPr algn="l">
              <a:lnSpc>
                <a:spcPct val="115000"/>
              </a:lnSpc>
              <a:spcBef>
                <a:spcPts val="700"/>
              </a:spcBef>
              <a:spcAft>
                <a:spcPts val="0"/>
              </a:spcAft>
            </a:pPr>
            <a:r>
              <a:rPr sz="1600" b="0" i="0">
                <a:solidFill>
                  <a:srgbClr val="1A1A1A"/>
                </a:solidFill>
                <a:latin typeface="Arial"/>
              </a:rPr>
              <a:t>Its absolute reading depends on the start date; its relative changes do not, so the eight methods still work.</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Check 17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Accumulation Distribution Line, ADL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6 of 14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running total of volume, each bar adding or subtracting a share of its volume by where it closed.</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High PHP 52, low PHP 48, 2 million shares. Close 52: add 2.0 million. Close 50, the middle: add nothing. Close 49: subtract 1.0 million.</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Calculate the multiplying factor [(C - L) - (H - C)] / (H - L) times the period's volume, and add it to its running total: the ADL.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o.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AO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pp.204-205 gives the calculation. C, H and L: the close, high and low of the bar, Chapter 1's OHLC. The bars and their volume are ours.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ADL redresses the OBV</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7 of 14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 close at the midpoint adds nothing: if C - L = H - C, then C = (H + L) / 2.</a:t>
            </a:r>
          </a:p>
          <a:p>
            <a:pPr algn="l">
              <a:lnSpc>
                <a:spcPct val="105000"/>
              </a:lnSpc>
              <a:spcBef>
                <a:spcPts val="0"/>
              </a:spcBef>
              <a:spcAft>
                <a:spcPts val="1100"/>
              </a:spcAft>
            </a:pPr>
            <a:r>
              <a:rPr sz="1800" b="0" i="0">
                <a:solidFill>
                  <a:srgbClr val="1A1A1A"/>
                </a:solidFill>
                <a:latin typeface="Arial"/>
              </a:rPr>
              <a:t>The further above the midpoint price closes, the more volume is added; below, the more subtracted.</a:t>
            </a:r>
          </a:p>
          <a:p>
            <a:pPr algn="l">
              <a:lnSpc>
                <a:spcPct val="105000"/>
              </a:lnSpc>
              <a:spcBef>
                <a:spcPts val="0"/>
              </a:spcBef>
              <a:spcAft>
                <a:spcPts val="1100"/>
              </a:spcAft>
            </a:pPr>
            <a:r>
              <a:rPr sz="1800" b="0" i="0">
                <a:solidFill>
                  <a:srgbClr val="1A1A1A"/>
                </a:solidFill>
                <a:latin typeface="Arial"/>
              </a:rPr>
              <a:t>At most the day's total volume is added: a close at the high makes the factor exactly 1.</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ADL accounts for the current bar's price action. The OBV does not.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p.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AP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p.205: the algebra is the book's. The chart is ours: the factor drawn against where the close sits.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ADL confirms, volume diverges: EURUSD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8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ADL shows bullish confirmation, rising with price.</a:t>
            </a:r>
          </a:p>
          <a:p>
            <a:pPr algn="l">
              <a:lnSpc>
                <a:spcPct val="105000"/>
              </a:lnSpc>
              <a:spcBef>
                <a:spcPts val="0"/>
              </a:spcBef>
              <a:spcAft>
                <a:spcPts val="1100"/>
              </a:spcAft>
            </a:pPr>
            <a:r>
              <a:rPr sz="2000" b="0" i="0">
                <a:solidFill>
                  <a:srgbClr val="1A1A1A"/>
                </a:solidFill>
                <a:latin typeface="Arial"/>
              </a:rPr>
              <a:t>The volume bars show bearish divergence: an underlying weakness in the uptrend.</a:t>
            </a:r>
          </a:p>
        </p:txBody>
      </p:sp>
      <p:sp>
        <p:nvSpPr>
          <p:cNvPr id="8" name="Rectangle 7"/>
          <p:cNvSpPr/>
          <p:nvPr/>
        </p:nvSpPr>
        <p:spPr>
          <a:xfrm>
            <a:off x="777240" y="4096511"/>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64515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trader should wait for price confirmation of a reversal before taking part.</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6.41</a:t>
            </a:r>
          </a:p>
          <a:p>
            <a:pPr algn="l">
              <a:lnSpc>
                <a:spcPct val="120000"/>
              </a:lnSpc>
              <a:spcBef>
                <a:spcPts val="0"/>
              </a:spcBef>
              <a:spcAft>
                <a:spcPts val="1400"/>
              </a:spcAft>
            </a:pPr>
            <a:r>
              <a:rPr sz="1800" b="0" i="0">
                <a:solidFill>
                  <a:srgbClr val="1A1A1A"/>
                </a:solidFill>
                <a:latin typeface="Palatino"/>
              </a:rPr>
              <a:t>An hourly EURUSD chart rising to a top, with an A/D line panel rising alongside it, labelled bullish confirmation, and a volume panel falling, labelled bearish divergence, under the heading divergence between volume and ADL.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6.41 -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p.205 and Figure 6.41.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and ADL together: trend or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9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When the OBV and the ADL rise or fall together, price trends in a decisive manner.</a:t>
            </a:r>
          </a:p>
          <a:p>
            <a:pPr algn="l">
              <a:lnSpc>
                <a:spcPct val="105000"/>
              </a:lnSpc>
              <a:spcBef>
                <a:spcPts val="0"/>
              </a:spcBef>
              <a:spcAft>
                <a:spcPts val="1100"/>
              </a:spcAft>
            </a:pPr>
            <a:r>
              <a:rPr sz="1800" b="0" i="0">
                <a:solidFill>
                  <a:srgbClr val="1A1A1A"/>
                </a:solidFill>
                <a:latin typeface="Arial"/>
              </a:rPr>
              <a:t>When they move in opposite directions, price tends to range or consolidate.</a:t>
            </a:r>
          </a:p>
          <a:p>
            <a:pPr algn="l">
              <a:lnSpc>
                <a:spcPct val="105000"/>
              </a:lnSpc>
              <a:spcBef>
                <a:spcPts val="0"/>
              </a:spcBef>
              <a:spcAft>
                <a:spcPts val="1100"/>
              </a:spcAft>
            </a:pPr>
            <a:r>
              <a:rPr sz="1800" b="0" i="0">
                <a:solidFill>
                  <a:srgbClr val="1A1A1A"/>
                </a:solidFill>
                <a:latin typeface="Arial"/>
              </a:rPr>
              <a:t>Useful for gauging behavioral or regime changes in the market.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It may help decide between a trend-following and a range-bound strategy.</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6.42</a:t>
            </a:r>
          </a:p>
          <a:p>
            <a:pPr algn="l">
              <a:lnSpc>
                <a:spcPct val="120000"/>
              </a:lnSpc>
              <a:spcBef>
                <a:spcPts val="0"/>
              </a:spcBef>
              <a:spcAft>
                <a:spcPts val="1400"/>
              </a:spcAft>
            </a:pPr>
            <a:r>
              <a:rPr sz="1800" b="0" i="0">
                <a:solidFill>
                  <a:srgbClr val="1A1A1A"/>
                </a:solidFill>
                <a:latin typeface="Palatino"/>
              </a:rPr>
              <a:t>The daily chart of Exxon Mobil with OBV and ADL panels. On the left the two move apart, non-confirmation, under an erratic and volatile price; on the right they rise together, confirmation, under a pronounced 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pp.205-206 and Figure 6.42.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ADL</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bar closes exactly at the midpoint of its range. What does it add to the ADL?</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Its whole volume</a:t>
            </a:r>
          </a:p>
          <a:p>
            <a:pPr algn="l">
              <a:lnSpc>
                <a:spcPct val="112000"/>
              </a:lnSpc>
              <a:spcBef>
                <a:spcPts val="0"/>
              </a:spcBef>
              <a:spcAft>
                <a:spcPts val="900"/>
              </a:spcAft>
            </a:pPr>
            <a:r>
              <a:rPr sz="1500" b="0" i="0">
                <a:solidFill>
                  <a:srgbClr val="FFFFFF"/>
                </a:solidFill>
                <a:latin typeface="Arial"/>
              </a:rPr>
              <a:t>B.  Half its volume</a:t>
            </a:r>
          </a:p>
          <a:p>
            <a:pPr algn="l">
              <a:lnSpc>
                <a:spcPct val="112000"/>
              </a:lnSpc>
              <a:spcBef>
                <a:spcPts val="0"/>
              </a:spcBef>
              <a:spcAft>
                <a:spcPts val="900"/>
              </a:spcAft>
            </a:pPr>
            <a:r>
              <a:rPr sz="1500" b="0" i="0">
                <a:solidFill>
                  <a:srgbClr val="FFFFFF"/>
                </a:solidFill>
                <a:latin typeface="Arial"/>
              </a:rPr>
              <a:t>C.  Nothing</a:t>
            </a:r>
          </a:p>
          <a:p>
            <a:pPr algn="l">
              <a:lnSpc>
                <a:spcPct val="112000"/>
              </a:lnSpc>
              <a:spcBef>
                <a:spcPts val="0"/>
              </a:spcBef>
              <a:spcAft>
                <a:spcPts val="900"/>
              </a:spcAft>
            </a:pPr>
            <a:r>
              <a:rPr sz="1500" b="0" i="0">
                <a:solidFill>
                  <a:srgbClr val="FFFFFF"/>
                </a:solidFill>
                <a:latin typeface="Arial"/>
              </a:rPr>
              <a:t>D.  Minus its whole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OBV and the ADL move in opposite directions. Price tends to:</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Trend decisively</a:t>
            </a:r>
          </a:p>
          <a:p>
            <a:pPr algn="l">
              <a:lnSpc>
                <a:spcPct val="112000"/>
              </a:lnSpc>
              <a:spcBef>
                <a:spcPts val="0"/>
              </a:spcBef>
              <a:spcAft>
                <a:spcPts val="900"/>
              </a:spcAft>
            </a:pPr>
            <a:r>
              <a:rPr sz="1500" b="0" i="0">
                <a:solidFill>
                  <a:srgbClr val="FFFFFF"/>
                </a:solidFill>
                <a:latin typeface="Arial"/>
              </a:rPr>
              <a:t>B.  Range or consolidate</a:t>
            </a:r>
          </a:p>
          <a:p>
            <a:pPr algn="l">
              <a:lnSpc>
                <a:spcPct val="112000"/>
              </a:lnSpc>
              <a:spcBef>
                <a:spcPts val="0"/>
              </a:spcBef>
              <a:spcAft>
                <a:spcPts val="900"/>
              </a:spcAft>
            </a:pPr>
            <a:r>
              <a:rPr sz="1500" b="0" i="0">
                <a:solidFill>
                  <a:srgbClr val="FFFFFF"/>
                </a:solidFill>
                <a:latin typeface="Arial"/>
              </a:rPr>
              <a:t>C.  Make a buying climax</a:t>
            </a:r>
          </a:p>
          <a:p>
            <a:pPr algn="l">
              <a:lnSpc>
                <a:spcPct val="112000"/>
              </a:lnSpc>
              <a:spcBef>
                <a:spcPts val="0"/>
              </a:spcBef>
              <a:spcAft>
                <a:spcPts val="900"/>
              </a:spcAft>
            </a:pPr>
            <a:r>
              <a:rPr sz="1500" b="0" i="0">
                <a:solidFill>
                  <a:srgbClr val="FFFFFF"/>
                </a:solidFill>
                <a:latin typeface="Arial"/>
              </a:rPr>
              <a:t>D.  Gap</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6 - 6.2 Oscillators  |  Check 18</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ADL</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bar closes exactly at the midpoint of its range. What does it add to the ADL?</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Nothing</a:t>
            </a:r>
          </a:p>
          <a:p>
            <a:pPr algn="l">
              <a:lnSpc>
                <a:spcPct val="115000"/>
              </a:lnSpc>
              <a:spcBef>
                <a:spcPts val="700"/>
              </a:spcBef>
              <a:spcAft>
                <a:spcPts val="0"/>
              </a:spcAft>
            </a:pPr>
            <a:r>
              <a:rPr sz="1600" b="0" i="0">
                <a:solidFill>
                  <a:srgbClr val="1A1A1A"/>
                </a:solidFill>
                <a:latin typeface="Arial"/>
              </a:rPr>
              <a:t>When C = (H + L) / 2, the factor (C - L) - (H - C) is zero, so nothing is added or subtracted.</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OBV and the ADL move in opposite directions. Price tends to:</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Range or consolidate</a:t>
            </a:r>
          </a:p>
          <a:p>
            <a:pPr algn="l">
              <a:lnSpc>
                <a:spcPct val="115000"/>
              </a:lnSpc>
              <a:spcBef>
                <a:spcPts val="700"/>
              </a:spcBef>
              <a:spcAft>
                <a:spcPts val="0"/>
              </a:spcAft>
            </a:pPr>
            <a:r>
              <a:rPr sz="1600" b="0" i="0">
                <a:solidFill>
                  <a:srgbClr val="1A1A1A"/>
                </a:solidFill>
                <a:latin typeface="Arial"/>
              </a:rPr>
              <a:t>When the two move in opposite directions there is a tendency for price to range or consolidate.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Check 18</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Chaikin Money Flow and Chaikin Oscillator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10 of 14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CMF: the ADL's signed volume over N bars, over their volume. The oscillator: two averages of its running total.</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Signed volumes 2.0, 0 and -0.5 million on volumes 2.0, 1.0 and 1.0 million: CMF = 1.5 / 4.0 = 0.375.</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S is the multiplying factor times volume. N-period CMF: the N-period sum of S over the N-period sum of volume. Chaikin oscillator: a shorter-term EMA less a longer-term EMA of the CMF's running total.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q.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AQ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gives the calculation, not the two EMA lengths. EMA: an exponential moving average, Chapter 11. N: a number of periods. The bars and volumes are ours.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Chaikin pair on copper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11 of 14</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sell, or bearish, signal: each breaks the rising line drawn under it. The Chaikin oscillator breaks first, the CMF later.</a:t>
            </a:r>
          </a:p>
          <a:p>
            <a:pPr algn="l">
              <a:lnSpc>
                <a:spcPct val="105000"/>
              </a:lnSpc>
              <a:spcBef>
                <a:spcPts val="0"/>
              </a:spcBef>
              <a:spcAft>
                <a:spcPts val="1100"/>
              </a:spcAft>
            </a:pPr>
            <a:r>
              <a:rPr sz="2000" b="0" i="0">
                <a:solidFill>
                  <a:srgbClr val="1A1A1A"/>
                </a:solidFill>
                <a:latin typeface="Arial"/>
              </a:rPr>
              <a:t>Oversold levels on both point to a potential market bottom in copper around October 2011.</a:t>
            </a:r>
          </a:p>
        </p:txBody>
      </p:sp>
      <p:sp>
        <p:nvSpPr>
          <p:cNvPr id="8" name="Rectangle 7"/>
          <p:cNvSpPr/>
          <p:nvPr/>
        </p:nvSpPr>
        <p:spPr>
          <a:xfrm>
            <a:off x="777240" y="473659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73168"/>
            <a:ext cx="46451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Chaikin oscillator gives the earlier signal.</a:t>
            </a:r>
          </a:p>
        </p:txBody>
      </p:sp>
      <p:sp>
        <p:nvSpPr>
          <p:cNvPr id="10" name="Rectangle 9"/>
          <p:cNvSpPr/>
          <p:nvPr/>
        </p:nvSpPr>
        <p:spPr>
          <a:xfrm>
            <a:off x="6035040" y="1810512"/>
            <a:ext cx="537941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035040" y="1810512"/>
            <a:ext cx="53794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446520" y="2267712"/>
            <a:ext cx="45564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6.43</a:t>
            </a:r>
          </a:p>
          <a:p>
            <a:pPr algn="l">
              <a:lnSpc>
                <a:spcPct val="120000"/>
              </a:lnSpc>
              <a:spcBef>
                <a:spcPts val="0"/>
              </a:spcBef>
              <a:spcAft>
                <a:spcPts val="1400"/>
              </a:spcAft>
            </a:pPr>
            <a:r>
              <a:rPr sz="1800" b="0" i="0">
                <a:solidFill>
                  <a:srgbClr val="1A1A1A"/>
                </a:solidFill>
                <a:latin typeface="Palatino"/>
              </a:rPr>
              <a:t>The daily chart of copper with a Chaikin oscillator panel and a Chaikin Money Flow panel. Rising lines mark both before a top in August, with dashed arrows to the top, and both panels carry a line labelled oversold that both touch near the October low.</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and Figure 6.43. The figure prints CMF(20) and ChiOsc(3,10); the text gives no settings.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NYSE Up/Down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12 of 14</a:t>
            </a:r>
          </a:p>
        </p:txBody>
      </p:sp>
      <p:sp>
        <p:nvSpPr>
          <p:cNvPr id="8" name="Rectangle 7"/>
          <p:cNvSpPr/>
          <p:nvPr/>
        </p:nvSpPr>
        <p:spPr>
          <a:xfrm>
            <a:off x="777240" y="2258568"/>
            <a:ext cx="64008" cy="7498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595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800" b="1" i="0">
                <a:solidFill>
                  <a:srgbClr val="1A1A1A"/>
                </a:solidFill>
                <a:latin typeface="Arial"/>
              </a:rPr>
              <a:t>Volume in the NYSE's rising stocks set against volume in its falling ones.</a:t>
            </a:r>
          </a:p>
        </p:txBody>
      </p:sp>
      <p:sp>
        <p:nvSpPr>
          <p:cNvPr id="10" name="Rectangle 9"/>
          <p:cNvSpPr/>
          <p:nvPr/>
        </p:nvSpPr>
        <p:spPr>
          <a:xfrm>
            <a:off x="777240" y="3264407"/>
            <a:ext cx="64008" cy="102412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218687"/>
            <a:ext cx="5943600" cy="11338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800" b="0" i="0">
                <a:solidFill>
                  <a:srgbClr val="1A1A1A"/>
                </a:solidFill>
                <a:latin typeface="Arial"/>
              </a:rPr>
              <a:t>Figure 6.44: the indicator breaks its rising trendline first, an early bearish signal; the NYSE Composite breaks later.</a:t>
            </a:r>
          </a:p>
        </p:txBody>
      </p:sp>
      <p:sp>
        <p:nvSpPr>
          <p:cNvPr id="12" name="Rectangle 11"/>
          <p:cNvSpPr/>
          <p:nvPr/>
        </p:nvSpPr>
        <p:spPr>
          <a:xfrm>
            <a:off x="777240" y="4544568"/>
            <a:ext cx="64008" cy="1024127"/>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943600" cy="11338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800" b="0" i="0">
                <a:solidFill>
                  <a:srgbClr val="1A1A1A"/>
                </a:solidFill>
                <a:latin typeface="Arial"/>
              </a:rPr>
              <a:t>The ratio of advancing volume over declining volume. Being non-price-based, its divergence is read like volume bars and smoothed and detrended volume.</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6.44</a:t>
            </a:r>
          </a:p>
          <a:p>
            <a:pPr algn="l">
              <a:lnSpc>
                <a:spcPct val="120000"/>
              </a:lnSpc>
              <a:spcBef>
                <a:spcPts val="0"/>
              </a:spcBef>
              <a:spcAft>
                <a:spcPts val="1400"/>
              </a:spcAft>
            </a:pPr>
            <a:r>
              <a:rPr sz="1800" b="0" i="0">
                <a:solidFill>
                  <a:srgbClr val="1A1A1A"/>
                </a:solidFill>
                <a:latin typeface="Palatino"/>
              </a:rPr>
              <a:t>Two daily panels, 2009 to 2011: the NYSE Advance-Decline Volume line above, labelled cumulative, breaking its rising trendline at a point marked early bearish signal; and the NYSE Composite Index below, breaking its own trendline later, circled as price confirmation.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6.44 -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and Figure 6.44. Its line is labelled cumulative and runs below zero, which a ratio cannot; the book does not explain.</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Herrick Payoff Index</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price-based volume oscillator that also uses open interest, so it can only be used where there is open interest: futures and options.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 a gold futures chart it can be read. On a PSE share, which has no open interest, it cannot.</a:t>
            </a:r>
          </a:p>
        </p:txBody>
      </p:sp>
      <p:sp>
        <p:nvSpPr>
          <p:cNvPr id="11" name="Rectangle 10"/>
          <p:cNvSpPr/>
          <p:nvPr/>
        </p:nvSpPr>
        <p:spPr>
          <a:xfrm>
            <a:off x="777240" y="457555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Herrick Payoff Index uses open interest in its calculations, so it may only be used with futures and options. It incorporates price, so its divergence is read as for all price-based volume oscillators. Bearish signals: money flowing out; bullish signals: money flowing in.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13 of 14</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pp.207-208. The book gives no formula and no figure for it, so this slide has no picture.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Commitment of Traders, COT, report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14 of 14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weekly report of who holds the open positions in a futures market, group by group.</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Traders look for changes in the net commercial or non-commercial positions, and for a test of a significant or historical open interest level.</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Released every Friday, it reports all open positions held by commercials (hedgers, non-cash positions), non-commercials (hedge funds, financial institutions, large traders) and, in aggregate, small traders.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r.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AR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gives the report and its two uses; it does not define net. The chart is ours, on invented prices and open interest.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19</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other volume oscillators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may the Herrick Payoff Index only be used with futures and options?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uses tick volume</a:t>
            </a:r>
          </a:p>
          <a:p>
            <a:pPr algn="l">
              <a:lnSpc>
                <a:spcPct val="112000"/>
              </a:lnSpc>
              <a:spcBef>
                <a:spcPts val="0"/>
              </a:spcBef>
              <a:spcAft>
                <a:spcPts val="900"/>
              </a:spcAft>
            </a:pPr>
            <a:r>
              <a:rPr sz="1500" b="0" i="0">
                <a:solidFill>
                  <a:srgbClr val="FFFFFF"/>
                </a:solidFill>
                <a:latin typeface="Arial"/>
              </a:rPr>
              <a:t>B.  It is non-price-based</a:t>
            </a:r>
          </a:p>
          <a:p>
            <a:pPr algn="l">
              <a:lnSpc>
                <a:spcPct val="112000"/>
              </a:lnSpc>
              <a:spcBef>
                <a:spcPts val="0"/>
              </a:spcBef>
              <a:spcAft>
                <a:spcPts val="900"/>
              </a:spcAft>
            </a:pPr>
            <a:r>
              <a:rPr sz="1500" b="0" i="0">
                <a:solidFill>
                  <a:srgbClr val="FFFFFF"/>
                </a:solidFill>
                <a:latin typeface="Arial"/>
              </a:rPr>
              <a:t>C.  It uses open interest in its calculations</a:t>
            </a:r>
          </a:p>
          <a:p>
            <a:pPr algn="l">
              <a:lnSpc>
                <a:spcPct val="112000"/>
              </a:lnSpc>
              <a:spcBef>
                <a:spcPts val="0"/>
              </a:spcBef>
              <a:spcAft>
                <a:spcPts val="900"/>
              </a:spcAft>
            </a:pPr>
            <a:r>
              <a:rPr sz="1500" b="0" i="0">
                <a:solidFill>
                  <a:srgbClr val="FFFFFF"/>
                </a:solidFill>
                <a:latin typeface="Arial"/>
              </a:rPr>
              <a:t>D.  It is released every Friday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the Chaikin Money Flow, three bars have signed volumes of 3.0, 1.0 and -2.0 million on volumes of 4.0, 2.0 and 2.0 million. The CMF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0.25</a:t>
            </a:r>
          </a:p>
          <a:p>
            <a:pPr algn="l">
              <a:lnSpc>
                <a:spcPct val="112000"/>
              </a:lnSpc>
              <a:spcBef>
                <a:spcPts val="0"/>
              </a:spcBef>
              <a:spcAft>
                <a:spcPts val="900"/>
              </a:spcAft>
            </a:pPr>
            <a:r>
              <a:rPr sz="1500" b="0" i="0">
                <a:solidFill>
                  <a:srgbClr val="FFFFFF"/>
                </a:solidFill>
                <a:latin typeface="Arial"/>
              </a:rPr>
              <a:t>B.  2.0</a:t>
            </a:r>
          </a:p>
          <a:p>
            <a:pPr algn="l">
              <a:lnSpc>
                <a:spcPct val="112000"/>
              </a:lnSpc>
              <a:spcBef>
                <a:spcPts val="0"/>
              </a:spcBef>
              <a:spcAft>
                <a:spcPts val="900"/>
              </a:spcAft>
            </a:pPr>
            <a:r>
              <a:rPr sz="1500" b="0" i="0">
                <a:solidFill>
                  <a:srgbClr val="FFFFFF"/>
                </a:solidFill>
                <a:latin typeface="Arial"/>
              </a:rPr>
              <a:t>C.  0.5</a:t>
            </a:r>
          </a:p>
          <a:p>
            <a:pPr algn="l">
              <a:lnSpc>
                <a:spcPct val="112000"/>
              </a:lnSpc>
              <a:spcBef>
                <a:spcPts val="0"/>
              </a:spcBef>
              <a:spcAft>
                <a:spcPts val="900"/>
              </a:spcAft>
            </a:pPr>
            <a:r>
              <a:rPr sz="1500" b="0" i="0">
                <a:solidFill>
                  <a:srgbClr val="FFFFFF"/>
                </a:solidFill>
                <a:latin typeface="Arial"/>
              </a:rPr>
              <a:t>D.  -2.0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6 - 6.2 Oscillators  |  Check 19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other volume oscillators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Why may the Herrick Payoff Index only be used with futures and options?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It uses open interest in its calculations</a:t>
            </a:r>
          </a:p>
          <a:p>
            <a:pPr algn="l">
              <a:lnSpc>
                <a:spcPct val="115000"/>
              </a:lnSpc>
              <a:spcBef>
                <a:spcPts val="700"/>
              </a:spcBef>
              <a:spcAft>
                <a:spcPts val="0"/>
              </a:spcAft>
            </a:pPr>
            <a:r>
              <a:rPr sz="1600" b="0" i="0">
                <a:solidFill>
                  <a:srgbClr val="1A1A1A"/>
                </a:solidFill>
                <a:latin typeface="Arial"/>
              </a:rPr>
              <a:t>The Herrick Payoff Index uses open interest, which only futures and options have.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the Chaikin Money Flow, three bars have signed volumes of 3.0, 1.0 and -2.0 million on volumes of 4.0, 2.0 and 2.0 million. The CMF is: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0.25</a:t>
            </a:r>
          </a:p>
          <a:p>
            <a:pPr algn="l">
              <a:lnSpc>
                <a:spcPct val="115000"/>
              </a:lnSpc>
              <a:spcBef>
                <a:spcPts val="700"/>
              </a:spcBef>
              <a:spcAft>
                <a:spcPts val="0"/>
              </a:spcAft>
            </a:pPr>
            <a:r>
              <a:rPr sz="1600" b="0" i="0">
                <a:solidFill>
                  <a:srgbClr val="1A1A1A"/>
                </a:solidFill>
                <a:latin typeface="Arial"/>
              </a:rPr>
              <a:t>The sum of S, 2.0, divided by the sum of volume, 8.0, is 0.25.</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Check 19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6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Volume is participation: moving with price, bullish; against it, bearish.</a:t>
            </a:r>
          </a:p>
          <a:p>
            <a:pPr algn="l">
              <a:lnSpc>
                <a:spcPct val="118000"/>
              </a:lnSpc>
              <a:spcBef>
                <a:spcPts val="0"/>
              </a:spcBef>
              <a:spcAft>
                <a:spcPts val="1300"/>
              </a:spcAft>
            </a:pPr>
            <a:r>
              <a:rPr sz="2100" b="0" i="0">
                <a:solidFill>
                  <a:srgbClr val="1A1A1A"/>
                </a:solidFill>
                <a:latin typeface="Arial"/>
              </a:rPr>
              <a:t>Volume falling is divergence, rising is confirmation, whatever price does.</a:t>
            </a:r>
          </a:p>
          <a:p>
            <a:pPr algn="l">
              <a:lnSpc>
                <a:spcPct val="118000"/>
              </a:lnSpc>
              <a:spcBef>
                <a:spcPts val="0"/>
              </a:spcBef>
              <a:spcAft>
                <a:spcPts val="1300"/>
              </a:spcAft>
            </a:pPr>
            <a:r>
              <a:rPr sz="2100" b="0" i="0">
                <a:solidFill>
                  <a:srgbClr val="1A1A1A"/>
                </a:solidFill>
                <a:latin typeface="Arial"/>
              </a:rPr>
              <a:t>Minimum volume times breakouts and reversals; extreme volume, climaxes.</a:t>
            </a:r>
          </a:p>
          <a:p>
            <a:pPr algn="l">
              <a:lnSpc>
                <a:spcPct val="118000"/>
              </a:lnSpc>
              <a:spcBef>
                <a:spcPts val="0"/>
              </a:spcBef>
              <a:spcAft>
                <a:spcPts val="1300"/>
              </a:spcAft>
            </a:pPr>
            <a:r>
              <a:rPr sz="2100" b="0" i="0">
                <a:solidFill>
                  <a:srgbClr val="1A1A1A"/>
                </a:solidFill>
                <a:latin typeface="Arial"/>
              </a:rPr>
              <a:t>Barriers, filters and volume by price pick out the volume that matters.</a:t>
            </a:r>
          </a:p>
          <a:p>
            <a:pPr algn="l">
              <a:lnSpc>
                <a:spcPct val="118000"/>
              </a:lnSpc>
              <a:spcBef>
                <a:spcPts val="0"/>
              </a:spcBef>
              <a:spcAft>
                <a:spcPts val="1300"/>
              </a:spcAft>
            </a:pPr>
            <a:r>
              <a:rPr sz="2100" b="0" i="0">
                <a:solidFill>
                  <a:srgbClr val="1A1A1A"/>
                </a:solidFill>
                <a:latin typeface="Arial"/>
              </a:rPr>
              <a:t>Open interest reads like volume; the OBV, ADL and Chaikin pair use price.</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book's summary: price-based volume oscillators read differently.</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its summary is three sentences. These five are ours, of the whole chapter.</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Volume against tick volume? Bearish and bullish volume?</a:t>
            </a:r>
          </a:p>
          <a:p>
            <a:pPr algn="l">
              <a:lnSpc>
                <a:spcPct val="118000"/>
              </a:lnSpc>
              <a:spcBef>
                <a:spcPts val="0"/>
              </a:spcBef>
              <a:spcAft>
                <a:spcPts val="1300"/>
              </a:spcAft>
            </a:pPr>
            <a:r>
              <a:rPr sz="2100" b="0" i="0">
                <a:solidFill>
                  <a:srgbClr val="1A1A1A"/>
                </a:solidFill>
                <a:latin typeface="Arial"/>
              </a:rPr>
              <a:t>How is volume divergence distinct from standard oscillator divergence?</a:t>
            </a:r>
          </a:p>
          <a:p>
            <a:pPr algn="l">
              <a:lnSpc>
                <a:spcPct val="118000"/>
              </a:lnSpc>
              <a:spcBef>
                <a:spcPts val="0"/>
              </a:spcBef>
              <a:spcAft>
                <a:spcPts val="1300"/>
              </a:spcAft>
            </a:pPr>
            <a:r>
              <a:rPr sz="2100" b="0" i="0">
                <a:solidFill>
                  <a:srgbClr val="1A1A1A"/>
                </a:solidFill>
                <a:latin typeface="Arial"/>
              </a:rPr>
              <a:t>How would you use volume as a timing indicator?</a:t>
            </a:r>
          </a:p>
          <a:p>
            <a:pPr algn="l">
              <a:lnSpc>
                <a:spcPct val="118000"/>
              </a:lnSpc>
              <a:spcBef>
                <a:spcPts val="0"/>
              </a:spcBef>
              <a:spcAft>
                <a:spcPts val="1300"/>
              </a:spcAft>
            </a:pPr>
            <a:r>
              <a:rPr sz="2100" b="0" i="0">
                <a:solidFill>
                  <a:srgbClr val="1A1A1A"/>
                </a:solidFill>
                <a:latin typeface="Arial"/>
              </a:rPr>
              <a:t>The various modes of volume filtering?</a:t>
            </a:r>
          </a:p>
          <a:p>
            <a:pPr algn="l">
              <a:lnSpc>
                <a:spcPct val="118000"/>
              </a:lnSpc>
              <a:spcBef>
                <a:spcPts val="0"/>
              </a:spcBef>
              <a:spcAft>
                <a:spcPts val="1300"/>
              </a:spcAft>
            </a:pPr>
            <a:r>
              <a:rPr sz="2100" b="0" i="0">
                <a:solidFill>
                  <a:srgbClr val="1A1A1A"/>
                </a:solidFill>
                <a:latin typeface="Arial"/>
              </a:rPr>
              <a:t>The relationship between volume, open interest and price?</a:t>
            </a:r>
          </a:p>
          <a:p>
            <a:pPr algn="l">
              <a:lnSpc>
                <a:spcPct val="118000"/>
              </a:lnSpc>
              <a:spcBef>
                <a:spcPts val="0"/>
              </a:spcBef>
              <a:spcAft>
                <a:spcPts val="1300"/>
              </a:spcAft>
            </a:pPr>
            <a:r>
              <a:rPr sz="2100" b="0" i="0">
                <a:solidFill>
                  <a:srgbClr val="1A1A1A"/>
                </a:solidFill>
                <a:latin typeface="Arial"/>
              </a:rPr>
              <a:t>Absolute or relative volume? Volume cycles: their use, and where?</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eight questions, on six lines: the first and last lines carry two each.</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uses, and where it says two things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Used, not explained: overbought, oversold, Bollinger Bands and Bandwidth, MACD, EMA, the tick, the cycle-tuned stochastic.</a:t>
            </a:r>
          </a:p>
          <a:p>
            <a:pPr algn="l">
              <a:lnSpc>
                <a:spcPct val="118000"/>
              </a:lnSpc>
              <a:spcBef>
                <a:spcPts val="0"/>
              </a:spcBef>
              <a:spcAft>
                <a:spcPts val="1300"/>
              </a:spcAft>
            </a:pPr>
            <a:r>
              <a:rPr sz="2100" b="0" i="0">
                <a:solidFill>
                  <a:srgbClr val="1A1A1A"/>
                </a:solidFill>
                <a:latin typeface="Arial"/>
              </a:rPr>
              <a:t>Named only: the Demand Index, detrended volume, ROC volume, the PVO.</a:t>
            </a:r>
          </a:p>
          <a:p>
            <a:pPr algn="l">
              <a:lnSpc>
                <a:spcPct val="118000"/>
              </a:lnSpc>
              <a:spcBef>
                <a:spcPts val="0"/>
              </a:spcBef>
              <a:spcAft>
                <a:spcPts val="1300"/>
              </a:spcAft>
            </a:pPr>
            <a:r>
              <a:rPr sz="2100" b="0" i="0">
                <a:solidFill>
                  <a:srgbClr val="1A1A1A"/>
                </a:solidFill>
                <a:latin typeface="Arial"/>
              </a:rPr>
              <a:t>Sent ahead, by chapter: oscillators 8, divergence 9, moving averages and the VWMA's calculation 11.</a:t>
            </a:r>
          </a:p>
          <a:p>
            <a:pPr algn="l">
              <a:lnSpc>
                <a:spcPct val="118000"/>
              </a:lnSpc>
              <a:spcBef>
                <a:spcPts val="0"/>
              </a:spcBef>
              <a:spcAft>
                <a:spcPts val="1300"/>
              </a:spcAft>
            </a:pPr>
            <a:r>
              <a:rPr sz="2100" b="0" i="0">
                <a:solidFill>
                  <a:srgbClr val="1A1A1A"/>
                </a:solidFill>
                <a:latin typeface="Arial"/>
              </a:rPr>
              <a:t>Two answers: above the VWMA, bullish or overvalued; a bullish TRIN, overbought or oversold; the up/down line, ratio or cumulative.</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Where the book disagrees with itself, the slide says so.</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drawn from the chapter's slides. The numbers after Sent ahead are the book's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6 - Volume and Open Interest</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