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point for today is that the eye-drawn line and the computed one agree on Figure 6.14: the circled spikes clear both.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dashed line is what the figure labels noise. Point at the two small circles on the historical volatility level, under 1 and 2.</a:t>
            </a:r>
          </a:p>
          <a:p>
            <a:r>
              <a:rPr sz="1400"/>
              <a:t>- This slide goes with the one before: drop both or neither.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Work the two sums on the board: 67 million for the record day's month against 120 million for the busy month.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reads the book's one sentence on the oscillator against Figure 6.21 again: the line sits on the bars, which is what an oscillator in its own panel would not give.</a:t>
            </a:r>
          </a:p>
          <a:p>
            <a:r>
              <a:rPr sz="1400"/>
              <a:t>- Point at mark 1, the stepped line on the volume bars, then at mark 2, the March spike, and follow the line along: it stays high for months.</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finishes the book's rules on the last slide's figure, with its marks numbered as there.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28273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88930" y="293266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22</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22</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a:t>
            </a:r>
            <a:r>
              <a:rPr sz="1600" b="1" i="0">
                <a:solidFill>
                  <a:srgbClr val="E09B00"/>
                </a:solidFill>
                <a:latin typeface="Arial"/>
              </a:rPr>
              <a:t>(1)</a:t>
            </a:r>
            <a:r>
              <a:rPr sz="16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035040" y="1810512"/>
            <a:ext cx="5379414" cy="303669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279894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428231" y="2203703"/>
            <a:ext cx="4593031" cy="23417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256745" y="4406454"/>
            <a:ext cx="4010503" cy="0"/>
          </a:xfrm>
          <a:prstGeom prst="line">
            <a:avLst/>
          </a:prstGeom>
          <a:ln w="44450">
            <a:solidFill>
              <a:srgbClr val="E09B00"/>
            </a:solidFill>
          </a:ln>
        </p:spPr>
      </p:cxnSp>
      <p:sp>
        <p:nvSpPr>
          <p:cNvPr id="16" name="Rectangle 15"/>
          <p:cNvSpPr/>
          <p:nvPr/>
        </p:nvSpPr>
        <p:spPr>
          <a:xfrm>
            <a:off x="7413621" y="4056585"/>
            <a:ext cx="231375" cy="391852"/>
          </a:xfrm>
          <a:prstGeom prst="rect">
            <a:avLst/>
          </a:prstGeom>
          <a:noFill/>
          <a:ln w="44450">
            <a:solidFill>
              <a:srgbClr val="C62828"/>
            </a:solidFill>
          </a:ln>
        </p:spPr>
        <p:txBody>
          <a:bodyPr rtlCol="0" anchor="ctr"/>
          <a:lstStyle/>
          <a:p>
            <a:pPr algn="ctr"/>
          </a:p>
        </p:txBody>
      </p:sp>
      <p:sp>
        <p:nvSpPr>
          <p:cNvPr id="17" name="Oval 16"/>
          <p:cNvSpPr/>
          <p:nvPr/>
        </p:nvSpPr>
        <p:spPr>
          <a:xfrm>
            <a:off x="7362204" y="2853037"/>
            <a:ext cx="308500" cy="391852"/>
          </a:xfrm>
          <a:prstGeom prst="ellipse">
            <a:avLst/>
          </a:prstGeom>
          <a:noFill/>
          <a:ln w="44450">
            <a:solidFill>
              <a:srgbClr val="1F5FAD"/>
            </a:solidFill>
          </a:ln>
        </p:spPr>
        <p:txBody>
          <a:bodyPr rtlCol="0" anchor="ctr"/>
          <a:lstStyle/>
          <a:p>
            <a:pPr algn="ctr"/>
          </a:p>
        </p:txBody>
      </p:sp>
      <p:sp>
        <p:nvSpPr>
          <p:cNvPr id="18" name="Oval 17"/>
          <p:cNvSpPr/>
          <p:nvPr/>
        </p:nvSpPr>
        <p:spPr>
          <a:xfrm>
            <a:off x="6101297" y="42510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258173" y="390113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206756" y="269758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035040" y="4938645"/>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22</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600" b="0" i="0">
                <a:solidFill>
                  <a:srgbClr val="1A1A1A"/>
                </a:solidFill>
                <a:latin typeface="Arial"/>
              </a:rPr>
              <a:t>That is why it jumps, at 1: a spike entering the window raises both at once, so the line leaps up. It stays high until the spike leaves 20 bars later, at 2.</a:t>
            </a:r>
          </a:p>
          <a:p>
            <a:pPr algn="l">
              <a:lnSpc>
                <a:spcPct val="105000"/>
              </a:lnSpc>
              <a:spcBef>
                <a:spcPts val="0"/>
              </a:spcBef>
              <a:spcAft>
                <a:spcPts val="1100"/>
              </a:spcAft>
            </a:pPr>
            <a:r>
              <a:rPr sz="16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a:t>
            </a:r>
            <a:r>
              <a:rPr sz="1700" b="1" i="0">
                <a:solidFill>
                  <a:srgbClr val="E09B00"/>
                </a:solidFill>
                <a:latin typeface="Arial"/>
              </a:rPr>
              <a:t>(1)</a:t>
            </a:r>
            <a:r>
              <a:rPr sz="1700" b="0" i="0">
                <a:solidFill>
                  <a:srgbClr val="1A1A1A"/>
                </a:solidFill>
                <a:latin typeface="Arial"/>
              </a:rPr>
              <a:t>: the three-sigma filter, on daily USDJPY. The book marks three surges over it, </a:t>
            </a:r>
            <a:r>
              <a:rPr sz="1700" b="1" i="0">
                <a:solidFill>
                  <a:srgbClr val="C62828"/>
                </a:solidFill>
                <a:latin typeface="Arial"/>
              </a:rPr>
              <a:t>(2)</a:t>
            </a:r>
            <a:r>
              <a:rPr sz="1700" b="0" i="0">
                <a:solidFill>
                  <a:srgbClr val="1A1A1A"/>
                </a:solidFill>
                <a:latin typeface="Arial"/>
              </a:rPr>
              <a:t> </a:t>
            </a:r>
            <a:r>
              <a:rPr sz="1700" b="1" i="0">
                <a:solidFill>
                  <a:srgbClr val="1F5FAD"/>
                </a:solidFill>
                <a:latin typeface="Arial"/>
              </a:rPr>
              <a:t>(3)</a:t>
            </a:r>
            <a:r>
              <a:rPr sz="1700" b="0" i="0">
                <a:solidFill>
                  <a:srgbClr val="1A1A1A"/>
                </a:solidFill>
                <a:latin typeface="Arial"/>
              </a:rPr>
              <a:t> </a:t>
            </a:r>
            <a:r>
              <a:rPr sz="1700" b="1" i="0">
                <a:solidFill>
                  <a:srgbClr val="007A33"/>
                </a:solidFill>
                <a:latin typeface="Arial"/>
              </a:rPr>
              <a:t>(4)</a:t>
            </a:r>
            <a:r>
              <a:rPr sz="1700" b="0" i="0">
                <a:solidFill>
                  <a:srgbClr val="1A1A1A"/>
                </a:solidFill>
                <a:latin typeface="Arial"/>
              </a:rPr>
              <a: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a:t>
            </a:r>
            <a:r>
              <a:rPr sz="1700" b="1" i="0">
                <a:solidFill>
                  <a:srgbClr val="7B3FA0"/>
                </a:solidFill>
                <a:latin typeface="Arial"/>
              </a:rPr>
              <a:t>(5)</a:t>
            </a:r>
            <a:r>
              <a:rPr sz="1700" b="0" i="0">
                <a:solidFill>
                  <a:srgbClr val="1A1A1A"/>
                </a:solidFill>
                <a:latin typeface="Arial"/>
              </a:rPr>
              <a:t>, the highest price, that 6.20 caught.</a:t>
            </a:r>
          </a:p>
          <a:p>
            <a:pPr algn="l">
              <a:lnSpc>
                <a:spcPct val="105000"/>
              </a:lnSpc>
              <a:spcBef>
                <a:spcPts val="0"/>
              </a:spcBef>
              <a:spcAft>
                <a:spcPts val="1100"/>
              </a:spcAft>
            </a:pPr>
            <a:r>
              <a:rPr sz="1700" b="0" i="0">
                <a:solidFill>
                  <a:srgbClr val="1A1A1A"/>
                </a:solidFill>
                <a:latin typeface="Arial"/>
              </a:rPr>
              <a:t>The two lower lines </a:t>
            </a:r>
            <a:r>
              <a:rPr sz="1700" b="1" i="0">
                <a:solidFill>
                  <a:srgbClr val="E09B00"/>
                </a:solidFill>
                <a:latin typeface="Arial"/>
              </a:rPr>
              <a:t>(6)</a:t>
            </a:r>
            <a:r>
              <a:rPr sz="1700" b="0" i="0">
                <a:solidFill>
                  <a:srgbClr val="1A1A1A"/>
                </a:solidFill>
                <a:latin typeface="Arial"/>
              </a:rPr>
              <a:t>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217919" y="1810512"/>
            <a:ext cx="5196535" cy="32303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926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3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p:txBody>
      </p:sp>
      <p:cxnSp>
        <p:nvCxnSpPr>
          <p:cNvPr id="14" name="Connector 13"/>
          <p:cNvCxnSpPr/>
          <p:nvPr/>
        </p:nvCxnSpPr>
        <p:spPr>
          <a:xfrm>
            <a:off x="8121956" y="4419253"/>
            <a:ext cx="1289286" cy="0"/>
          </a:xfrm>
          <a:prstGeom prst="line">
            <a:avLst/>
          </a:prstGeom>
          <a:ln w="44450">
            <a:solidFill>
              <a:srgbClr val="E09B00"/>
            </a:solidFill>
          </a:ln>
        </p:spPr>
      </p:cxnSp>
      <p:sp>
        <p:nvSpPr>
          <p:cNvPr id="15" name="Oval 14"/>
          <p:cNvSpPr/>
          <p:nvPr/>
        </p:nvSpPr>
        <p:spPr>
          <a:xfrm>
            <a:off x="7824429" y="4203784"/>
            <a:ext cx="247939" cy="418968"/>
          </a:xfrm>
          <a:prstGeom prst="ellipse">
            <a:avLst/>
          </a:prstGeom>
          <a:noFill/>
          <a:ln w="44450">
            <a:solidFill>
              <a:srgbClr val="C62828"/>
            </a:solidFill>
          </a:ln>
        </p:spPr>
        <p:txBody>
          <a:bodyPr rtlCol="0" anchor="ctr"/>
          <a:lstStyle/>
          <a:p>
            <a:pPr algn="ctr"/>
          </a:p>
        </p:txBody>
      </p:sp>
      <p:sp>
        <p:nvSpPr>
          <p:cNvPr id="16" name="Oval 15"/>
          <p:cNvSpPr/>
          <p:nvPr/>
        </p:nvSpPr>
        <p:spPr>
          <a:xfrm>
            <a:off x="9411242" y="4203784"/>
            <a:ext cx="247939" cy="418968"/>
          </a:xfrm>
          <a:prstGeom prst="ellipse">
            <a:avLst/>
          </a:prstGeom>
          <a:noFill/>
          <a:ln w="44450">
            <a:solidFill>
              <a:srgbClr val="1F5FAD"/>
            </a:solidFill>
          </a:ln>
        </p:spPr>
        <p:txBody>
          <a:bodyPr rtlCol="0" anchor="ctr"/>
          <a:lstStyle/>
          <a:p>
            <a:pPr algn="ctr"/>
          </a:p>
        </p:txBody>
      </p:sp>
      <p:sp>
        <p:nvSpPr>
          <p:cNvPr id="17" name="Oval 16"/>
          <p:cNvSpPr/>
          <p:nvPr/>
        </p:nvSpPr>
        <p:spPr>
          <a:xfrm>
            <a:off x="10378206" y="4203784"/>
            <a:ext cx="247939" cy="418968"/>
          </a:xfrm>
          <a:prstGeom prst="ellipse">
            <a:avLst/>
          </a:prstGeom>
          <a:noFill/>
          <a:ln w="44450">
            <a:solidFill>
              <a:srgbClr val="007A33"/>
            </a:solidFill>
          </a:ln>
        </p:spPr>
        <p:txBody>
          <a:bodyPr rtlCol="0" anchor="ctr"/>
          <a:lstStyle/>
          <a:p>
            <a:pPr algn="ctr"/>
          </a:p>
        </p:txBody>
      </p:sp>
      <p:sp>
        <p:nvSpPr>
          <p:cNvPr id="18" name="Oval 17"/>
          <p:cNvSpPr/>
          <p:nvPr/>
        </p:nvSpPr>
        <p:spPr>
          <a:xfrm>
            <a:off x="8047574" y="1929384"/>
            <a:ext cx="297527" cy="389042"/>
          </a:xfrm>
          <a:prstGeom prst="ellipse">
            <a:avLst/>
          </a:prstGeom>
          <a:noFill/>
          <a:ln w="44450">
            <a:solidFill>
              <a:srgbClr val="7B3FA0"/>
            </a:solidFill>
          </a:ln>
        </p:spPr>
        <p:txBody>
          <a:bodyPr rtlCol="0" anchor="ctr"/>
          <a:lstStyle/>
          <a:p>
            <a:pPr algn="ctr"/>
          </a:p>
        </p:txBody>
      </p:sp>
      <p:cxnSp>
        <p:nvCxnSpPr>
          <p:cNvPr id="19" name="Connector 18"/>
          <p:cNvCxnSpPr/>
          <p:nvPr/>
        </p:nvCxnSpPr>
        <p:spPr>
          <a:xfrm>
            <a:off x="8320308" y="4637715"/>
            <a:ext cx="2380220" cy="0"/>
          </a:xfrm>
          <a:prstGeom prst="line">
            <a:avLst/>
          </a:prstGeom>
          <a:ln w="44450">
            <a:solidFill>
              <a:srgbClr val="E09B00"/>
            </a:solidFill>
          </a:ln>
        </p:spPr>
      </p:cxnSp>
      <p:sp>
        <p:nvSpPr>
          <p:cNvPr id="20" name="Oval 19"/>
          <p:cNvSpPr/>
          <p:nvPr/>
        </p:nvSpPr>
        <p:spPr>
          <a:xfrm>
            <a:off x="8660739" y="42638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7668981" y="404833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255794" y="40483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2758" y="404833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7892126" y="177393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0545080" y="44822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217919" y="513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names a standard deviation oscillator: an indicator in its own panel (Part 1). It does not describe or draw one.</a:t>
            </a:r>
          </a:p>
          <a:p>
            <a:pPr algn="l">
              <a:lnSpc>
                <a:spcPct val="105000"/>
              </a:lnSpc>
              <a:spcBef>
                <a:spcPts val="0"/>
              </a:spcBef>
              <a:spcAft>
                <a:spcPts val="1100"/>
              </a:spcAft>
            </a:pPr>
            <a:r>
              <a:rPr sz="1600" b="0" i="0">
                <a:solidFill>
                  <a:srgbClr val="1A1A1A"/>
                </a:solidFill>
                <a:latin typeface="Arial"/>
              </a:rPr>
              <a:t>It is less useful, the book says, because it gives no overlay: a line drawn over the volume bars themselves </a:t>
            </a:r>
            <a:r>
              <a:rPr sz="1600" b="1" i="0">
                <a:solidFill>
                  <a:srgbClr val="E09B00"/>
                </a:solidFill>
                <a:latin typeface="Arial"/>
              </a:rPr>
              <a:t>(1)</a:t>
            </a:r>
            <a:r>
              <a:rPr sz="1600" b="0" i="0">
                <a:solidFill>
                  <a:srgbClr val="1A1A1A"/>
                </a:solidFill>
                <a:latin typeface="Arial"/>
              </a:rPr>
              <a:t>, so a bar can be seen crossing it.</a:t>
            </a:r>
          </a:p>
          <a:p>
            <a:pPr algn="l">
              <a:lnSpc>
                <a:spcPct val="105000"/>
              </a:lnSpc>
              <a:spcBef>
                <a:spcPts val="0"/>
              </a:spcBef>
              <a:spcAft>
                <a:spcPts val="1100"/>
              </a:spcAft>
            </a:pPr>
            <a:r>
              <a:rPr sz="1600" b="0" i="0">
                <a:solidFill>
                  <a:srgbClr val="1A1A1A"/>
                </a:solidFill>
                <a:latin typeface="Arial"/>
              </a:rPr>
              <a:t>Its line stays high for months after the March spike </a:t>
            </a:r>
            <a:r>
              <a:rPr sz="1600" b="1" i="0">
                <a:solidFill>
                  <a:srgbClr val="C62828"/>
                </a:solidFill>
                <a:latin typeface="Arial"/>
              </a:rPr>
              <a:t>(2)</a:t>
            </a:r>
            <a:r>
              <a:rPr sz="1600" b="0" i="0">
                <a:solidFill>
                  <a:srgbClr val="1A1A1A"/>
                </a:solidFill>
                <a:latin typeface="Arial"/>
              </a:rPr>
              <a:t>: far beyond our 20 bars. The book never gives its N.</a:t>
            </a:r>
          </a:p>
        </p:txBody>
      </p:sp>
      <p:sp>
        <p:nvSpPr>
          <p:cNvPr id="8" name="Rectangle 7"/>
          <p:cNvSpPr/>
          <p:nvPr/>
        </p:nvSpPr>
        <p:spPr>
          <a:xfrm>
            <a:off x="777240" y="4709160"/>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55955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What to do: pick N as for the smoothed filter, and draw the 3-sigma line over the bars; a bar above it may mark a top or bottom.</a:t>
            </a:r>
          </a:p>
        </p:txBody>
      </p:sp>
      <p:sp>
        <p:nvSpPr>
          <p:cNvPr id="10" name="Rectangle 9"/>
          <p:cNvSpPr/>
          <p:nvPr/>
        </p:nvSpPr>
        <p:spPr>
          <a:xfrm>
            <a:off x="6949440" y="1810512"/>
            <a:ext cx="4465014" cy="278890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55115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09395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drawn over the volume bars themselves, and staying high for months after the March 2011 spike.</a:t>
            </a:r>
          </a:p>
        </p:txBody>
      </p:sp>
      <p:cxnSp>
        <p:nvCxnSpPr>
          <p:cNvPr id="14" name="Connector 13"/>
          <p:cNvCxnSpPr/>
          <p:nvPr/>
        </p:nvCxnSpPr>
        <p:spPr>
          <a:xfrm>
            <a:off x="8484447" y="4051948"/>
            <a:ext cx="1289318" cy="0"/>
          </a:xfrm>
          <a:prstGeom prst="line">
            <a:avLst/>
          </a:prstGeom>
          <a:ln w="44450">
            <a:solidFill>
              <a:srgbClr val="E09B00"/>
            </a:solidFill>
          </a:ln>
        </p:spPr>
      </p:cxnSp>
      <p:sp>
        <p:nvSpPr>
          <p:cNvPr id="15" name="Oval 14"/>
          <p:cNvSpPr/>
          <p:nvPr/>
        </p:nvSpPr>
        <p:spPr>
          <a:xfrm>
            <a:off x="8336493" y="3868265"/>
            <a:ext cx="211363" cy="357162"/>
          </a:xfrm>
          <a:prstGeom prst="ellipse">
            <a:avLst/>
          </a:prstGeom>
          <a:noFill/>
          <a:ln w="44450">
            <a:solidFill>
              <a:srgbClr val="C62828"/>
            </a:solidFill>
          </a:ln>
        </p:spPr>
        <p:txBody>
          <a:bodyPr rtlCol="0" anchor="ctr"/>
          <a:lstStyle/>
          <a:p>
            <a:pPr algn="ctr"/>
          </a:p>
        </p:txBody>
      </p:sp>
      <p:sp>
        <p:nvSpPr>
          <p:cNvPr id="16" name="Oval 15"/>
          <p:cNvSpPr/>
          <p:nvPr/>
        </p:nvSpPr>
        <p:spPr>
          <a:xfrm>
            <a:off x="9618317" y="3896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81045" y="371281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69085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 names the oscillator and does not describe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933473" y="27686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354970" y="27686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7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What to do: at the lower line, look for a short-term buy. Falling through it violates the channel, the book's word.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v.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channel uses only the July to August peaks in tick volume </a:t>
            </a:r>
            <a:r>
              <a:rPr sz="1600" b="1" i="0">
                <a:solidFill>
                  <a:srgbClr val="E09B00"/>
                </a:solidFill>
                <a:latin typeface="Arial"/>
              </a:rPr>
              <a:t>(4)</a:t>
            </a:r>
            <a:r>
              <a:rPr sz="1600" b="0" i="0">
                <a:solidFill>
                  <a:srgbClr val="1A1A1A"/>
                </a:solidFill>
                <a:latin typeface="Arial"/>
              </a:rPr>
              <a:t>, under Points 1, 2 and 3.</a:t>
            </a:r>
          </a:p>
          <a:p>
            <a:pPr algn="l">
              <a:lnSpc>
                <a:spcPct val="105000"/>
              </a:lnSpc>
              <a:spcBef>
                <a:spcPts val="0"/>
              </a:spcBef>
              <a:spcAft>
                <a:spcPts val="1100"/>
              </a:spcAft>
            </a:pPr>
            <a:r>
              <a:rPr sz="1600" b="0" i="0">
                <a:solidFill>
                  <a:srgbClr val="1A1A1A"/>
                </a:solidFill>
                <a:latin typeface="Arial"/>
              </a:rPr>
              <a:t>Yet silver's April bars </a:t>
            </a:r>
            <a:r>
              <a:rPr sz="1600" b="1" i="0">
                <a:solidFill>
                  <a:srgbClr val="C62828"/>
                </a:solidFill>
                <a:latin typeface="Arial"/>
              </a:rPr>
              <a:t>(5)</a:t>
            </a:r>
            <a:r>
              <a:rPr sz="1600" b="0" i="0">
                <a:solidFill>
                  <a:srgbClr val="1A1A1A"/>
                </a:solidFill>
                <a:latin typeface="Arial"/>
              </a:rPr>
              <a:t>, at the line labelled High tick volume level, and late September bars </a:t>
            </a:r>
            <a:r>
              <a:rPr sz="1600" b="1" i="0">
                <a:solidFill>
                  <a:srgbClr val="1F5FAD"/>
                </a:solidFill>
                <a:latin typeface="Arial"/>
              </a:rPr>
              <a:t>(6)</a:t>
            </a:r>
            <a:r>
              <a:rPr sz="1600" b="0" i="0">
                <a:solidFill>
                  <a:srgbClr val="1A1A1A"/>
                </a:solidFill>
                <a:latin typeface="Arial"/>
              </a:rPr>
              <a:t>, reach the threshold too; the book does not say why it skips them.</a:t>
            </a:r>
          </a:p>
          <a:p>
            <a:pPr algn="l">
              <a:lnSpc>
                <a:spcPct val="105000"/>
              </a:lnSpc>
              <a:spcBef>
                <a:spcPts val="0"/>
              </a:spcBef>
              <a:spcAft>
                <a:spcPts val="1100"/>
              </a:spcAft>
            </a:pPr>
            <a:r>
              <a:rPr sz="1600" b="0" i="0">
                <a:solidFill>
                  <a:srgbClr val="1A1A1A"/>
                </a:solidFill>
                <a:latin typeface="Arial"/>
              </a:rPr>
              <a:t>Chapter 5's uptrend line joined troughs; here the book joins two peaks, Points 1 and 2, and gives no reason.</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Use heavily traded turns; which of them is left to the eye.</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791393" y="3894000"/>
            <a:ext cx="595054" cy="348159"/>
          </a:xfrm>
          <a:prstGeom prst="rect">
            <a:avLst/>
          </a:prstGeom>
          <a:noFill/>
          <a:ln w="44450">
            <a:solidFill>
              <a:srgbClr val="E09B00"/>
            </a:solidFill>
          </a:ln>
        </p:spPr>
        <p:txBody>
          <a:bodyPr rtlCol="0" anchor="ctr"/>
          <a:lstStyle/>
          <a:p>
            <a:pPr algn="ctr"/>
          </a:p>
        </p:txBody>
      </p:sp>
      <p:sp>
        <p:nvSpPr>
          <p:cNvPr id="15" name="Rectangle 14"/>
          <p:cNvSpPr/>
          <p:nvPr/>
        </p:nvSpPr>
        <p:spPr>
          <a:xfrm>
            <a:off x="7601283" y="4018343"/>
            <a:ext cx="396703" cy="223817"/>
          </a:xfrm>
          <a:prstGeom prst="rect">
            <a:avLst/>
          </a:prstGeom>
          <a:noFill/>
          <a:ln w="44450">
            <a:solidFill>
              <a:srgbClr val="C62828"/>
            </a:solidFill>
          </a:ln>
        </p:spPr>
        <p:txBody>
          <a:bodyPr rtlCol="0" anchor="ctr"/>
          <a:lstStyle/>
          <a:p>
            <a:pPr algn="ctr"/>
          </a:p>
        </p:txBody>
      </p:sp>
      <p:sp>
        <p:nvSpPr>
          <p:cNvPr id="16" name="Rectangle 15"/>
          <p:cNvSpPr/>
          <p:nvPr/>
        </p:nvSpPr>
        <p:spPr>
          <a:xfrm>
            <a:off x="9535212" y="4018343"/>
            <a:ext cx="396703" cy="223817"/>
          </a:xfrm>
          <a:prstGeom prst="rect">
            <a:avLst/>
          </a:prstGeom>
          <a:noFill/>
          <a:ln w="44450">
            <a:solidFill>
              <a:srgbClr val="1F5FAD"/>
            </a:solidFill>
          </a:ln>
        </p:spPr>
        <p:txBody>
          <a:bodyPr rtlCol="0" anchor="ctr"/>
          <a:lstStyle/>
          <a:p>
            <a:pPr algn="ctr"/>
          </a:p>
        </p:txBody>
      </p:sp>
      <p:sp>
        <p:nvSpPr>
          <p:cNvPr id="17" name="Oval 16"/>
          <p:cNvSpPr/>
          <p:nvPr/>
        </p:nvSpPr>
        <p:spPr>
          <a:xfrm>
            <a:off x="8635945" y="37385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445835" y="38628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379764" y="386289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02017" y="40882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379764"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131699" y="275881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6035040" cy="2205482"/>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371600"/>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618488"/>
            <a:ext cx="5577840" cy="471169"/>
          </a:xfrm>
          <a:prstGeom prst="rect">
            <a:avLst/>
          </a:prstGeom>
          <a:noFill/>
        </p:spPr>
        <p:txBody>
          <a:bodyPr wrap="square" anchor="t" lIns="0" rIns="0" tIns="0" bIns="0">
            <a:spAutoFit/>
          </a:bodyPr>
          <a:lstStyle/>
          <a:p>
            <a:pPr algn="l">
              <a:lnSpc>
                <a:spcPct val="115000"/>
              </a:lnSpc>
              <a:spcBef>
                <a:spcPts val="0"/>
              </a:spcBef>
              <a:spcAft>
                <a:spcPts val="0"/>
              </a:spcAft>
            </a:pPr>
            <a:r>
              <a:rPr sz="1300" b="1" i="0">
                <a:solidFill>
                  <a:srgbClr val="FFFFFF"/>
                </a:solidFill>
                <a:latin typeface="Arial"/>
              </a:rPr>
              <a:t>Which peaks and troughs are used to construct volume filtered trendlines and channels?</a:t>
            </a:r>
          </a:p>
        </p:txBody>
      </p:sp>
      <p:sp>
        <p:nvSpPr>
          <p:cNvPr id="9" name="TextBox 8"/>
          <p:cNvSpPr txBox="1"/>
          <p:nvPr/>
        </p:nvSpPr>
        <p:spPr>
          <a:xfrm>
            <a:off x="1005840" y="2162810"/>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Every peak and trough on the chart</a:t>
            </a:r>
          </a:p>
          <a:p>
            <a:pPr algn="l">
              <a:lnSpc>
                <a:spcPct val="112000"/>
              </a:lnSpc>
              <a:spcBef>
                <a:spcPts val="0"/>
              </a:spcBef>
              <a:spcAft>
                <a:spcPts val="600"/>
              </a:spcAft>
            </a:pPr>
            <a:r>
              <a:rPr sz="1200" b="0" i="0">
                <a:solidFill>
                  <a:srgbClr val="FFFFFF"/>
                </a:solidFill>
                <a:latin typeface="Arial"/>
              </a:rPr>
              <a:t>B.  Only those associated with above average volume</a:t>
            </a:r>
          </a:p>
          <a:p>
            <a:pPr algn="l">
              <a:lnSpc>
                <a:spcPct val="112000"/>
              </a:lnSpc>
              <a:spcBef>
                <a:spcPts val="0"/>
              </a:spcBef>
              <a:spcAft>
                <a:spcPts val="600"/>
              </a:spcAft>
            </a:pPr>
            <a:r>
              <a:rPr sz="1200" b="0" i="0">
                <a:solidFill>
                  <a:srgbClr val="FFFFFF"/>
                </a:solidFill>
                <a:latin typeface="Arial"/>
              </a:rPr>
              <a:t>C.  Only those formed on minimal volume</a:t>
            </a:r>
          </a:p>
          <a:p>
            <a:pPr algn="l">
              <a:lnSpc>
                <a:spcPct val="112000"/>
              </a:lnSpc>
              <a:spcBef>
                <a:spcPts val="0"/>
              </a:spcBef>
              <a:spcAft>
                <a:spcPts val="600"/>
              </a:spcAft>
            </a:pPr>
            <a:r>
              <a:rPr sz="1200" b="0" i="0">
                <a:solidFill>
                  <a:srgbClr val="FFFFFF"/>
                </a:solidFill>
                <a:latin typeface="Arial"/>
              </a:rPr>
              <a:t>D.  Only those within a consolidation</a:t>
            </a:r>
          </a:p>
        </p:txBody>
      </p:sp>
      <p:sp>
        <p:nvSpPr>
          <p:cNvPr id="10" name="Rectangle 9"/>
          <p:cNvSpPr/>
          <p:nvPr/>
        </p:nvSpPr>
        <p:spPr>
          <a:xfrm>
            <a:off x="777240" y="3577082"/>
            <a:ext cx="6035040" cy="2015617"/>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741674"/>
            <a:ext cx="557784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988562"/>
            <a:ext cx="5577840" cy="281305"/>
          </a:xfrm>
          <a:prstGeom prst="rect">
            <a:avLst/>
          </a:prstGeom>
          <a:noFill/>
        </p:spPr>
        <p:txBody>
          <a:bodyPr wrap="square" anchor="t" lIns="0" rIns="0" tIns="0" bIns="0">
            <a:spAutoFit/>
          </a:bodyPr>
          <a:lstStyle/>
          <a:p>
            <a:pPr algn="l">
              <a:lnSpc>
                <a:spcPct val="115000"/>
              </a:lnSpc>
              <a:spcBef>
                <a:spcPts val="0"/>
              </a:spcBef>
              <a:spcAft>
                <a:spcPts val="0"/>
              </a:spcAft>
            </a:pPr>
            <a:r>
              <a:rPr sz="1300" b="1" i="0">
                <a:solidFill>
                  <a:srgbClr val="FFFFFF"/>
                </a:solidFill>
                <a:latin typeface="Arial"/>
              </a:rPr>
              <a:t>On Figure 6.22, how is the volume threshold drawn?</a:t>
            </a:r>
          </a:p>
        </p:txBody>
      </p:sp>
      <p:sp>
        <p:nvSpPr>
          <p:cNvPr id="13" name="TextBox 12"/>
          <p:cNvSpPr txBox="1"/>
          <p:nvPr/>
        </p:nvSpPr>
        <p:spPr>
          <a:xfrm>
            <a:off x="1005840" y="4343019"/>
            <a:ext cx="5577840" cy="1277111"/>
          </a:xfrm>
          <a:prstGeom prst="rect">
            <a:avLst/>
          </a:prstGeom>
          <a:noFill/>
        </p:spPr>
        <p:txBody>
          <a:bodyPr wrap="square" anchor="t" lIns="0" rIns="0" tIns="0" bIns="0">
            <a:spAutoFit/>
          </a:bodyPr>
          <a:lstStyle/>
          <a:p>
            <a:pPr algn="l">
              <a:lnSpc>
                <a:spcPct val="112000"/>
              </a:lnSpc>
              <a:spcBef>
                <a:spcPts val="0"/>
              </a:spcBef>
              <a:spcAft>
                <a:spcPts val="600"/>
              </a:spcAft>
            </a:pPr>
            <a:r>
              <a:rPr sz="1200" b="0" i="0">
                <a:solidFill>
                  <a:srgbClr val="FFFFFF"/>
                </a:solidFill>
                <a:latin typeface="Arial"/>
              </a:rPr>
              <a:t>A.  By visual inspection, so only the most significant peaks reach it</a:t>
            </a:r>
          </a:p>
          <a:p>
            <a:pPr algn="l">
              <a:lnSpc>
                <a:spcPct val="112000"/>
              </a:lnSpc>
              <a:spcBef>
                <a:spcPts val="0"/>
              </a:spcBef>
              <a:spcAft>
                <a:spcPts val="600"/>
              </a:spcAft>
            </a:pPr>
            <a:r>
              <a:rPr sz="1200" b="0" i="0">
                <a:solidFill>
                  <a:srgbClr val="FFFFFF"/>
                </a:solidFill>
                <a:latin typeface="Arial"/>
              </a:rPr>
              <a:t>B.  As a 100-day moving average</a:t>
            </a:r>
          </a:p>
          <a:p>
            <a:pPr algn="l">
              <a:lnSpc>
                <a:spcPct val="112000"/>
              </a:lnSpc>
              <a:spcBef>
                <a:spcPts val="0"/>
              </a:spcBef>
              <a:spcAft>
                <a:spcPts val="600"/>
              </a:spcAft>
            </a:pPr>
            <a:r>
              <a:rPr sz="1200" b="0" i="0">
                <a:solidFill>
                  <a:srgbClr val="FFFFFF"/>
                </a:solidFill>
                <a:latin typeface="Arial"/>
              </a:rPr>
              <a:t>C.  At three standard deviations</a:t>
            </a:r>
          </a:p>
          <a:p>
            <a:pPr algn="l">
              <a:lnSpc>
                <a:spcPct val="112000"/>
              </a:lnSpc>
              <a:spcBef>
                <a:spcPts val="0"/>
              </a:spcBef>
              <a:spcAft>
                <a:spcPts val="600"/>
              </a:spcAft>
            </a:pPr>
            <a:r>
              <a:rPr sz="1200" b="0" i="0">
                <a:solidFill>
                  <a:srgbClr val="FFFFFF"/>
                </a:solidFill>
                <a:latin typeface="Arial"/>
              </a:rPr>
              <a:t>D.  At the lowest historical volume</a:t>
            </a:r>
          </a:p>
        </p:txBody>
      </p:sp>
      <p:sp>
        <p:nvSpPr>
          <p:cNvPr id="14" name="Rectangle 13"/>
          <p:cNvSpPr/>
          <p:nvPr/>
        </p:nvSpPr>
        <p:spPr>
          <a:xfrm>
            <a:off x="7132319" y="1207008"/>
            <a:ext cx="4282135" cy="226602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202828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15710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8" name="Connector 17"/>
          <p:cNvCxnSpPr/>
          <p:nvPr/>
        </p:nvCxnSpPr>
        <p:spPr>
          <a:xfrm>
            <a:off x="7655631" y="3155388"/>
            <a:ext cx="3518620" cy="0"/>
          </a:xfrm>
          <a:prstGeom prst="line">
            <a:avLst/>
          </a:prstGeom>
          <a:ln w="44450">
            <a:solidFill>
              <a:srgbClr val="E09B00"/>
            </a:solidFill>
          </a:ln>
        </p:spPr>
      </p:cxnSp>
      <p:sp>
        <p:nvSpPr>
          <p:cNvPr id="19" name="Oval 18"/>
          <p:cNvSpPr/>
          <p:nvPr/>
        </p:nvSpPr>
        <p:spPr>
          <a:xfrm>
            <a:off x="7500183" y="29999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356447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6.22 -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6035040" cy="22504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5486400"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097280" y="2040128"/>
            <a:ext cx="5486400" cy="141732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640328"/>
            <a:ext cx="6035040" cy="201676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8"/>
            <a:ext cx="91440" cy="201676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5486400"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097280" y="4239768"/>
            <a:ext cx="5486400" cy="141732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14" name="Rectangle 13"/>
          <p:cNvSpPr/>
          <p:nvPr/>
        </p:nvSpPr>
        <p:spPr>
          <a:xfrm>
            <a:off x="7132319" y="1207008"/>
            <a:ext cx="4282135" cy="226602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1325880"/>
            <a:ext cx="4044391" cy="202828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1325880"/>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1600200"/>
            <a:ext cx="3495751" cy="157108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8" name="Connector 17"/>
          <p:cNvCxnSpPr/>
          <p:nvPr/>
        </p:nvCxnSpPr>
        <p:spPr>
          <a:xfrm>
            <a:off x="7655631" y="3155388"/>
            <a:ext cx="3518620" cy="0"/>
          </a:xfrm>
          <a:prstGeom prst="line">
            <a:avLst/>
          </a:prstGeom>
          <a:ln w="44450">
            <a:solidFill>
              <a:srgbClr val="E09B00"/>
            </a:solidFill>
          </a:ln>
        </p:spPr>
      </p:cxnSp>
      <p:sp>
        <p:nvSpPr>
          <p:cNvPr id="19" name="Oval 18"/>
          <p:cNvSpPr/>
          <p:nvPr/>
        </p:nvSpPr>
        <p:spPr>
          <a:xfrm>
            <a:off x="7500183" y="29999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356447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6.22 -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600" b="0" i="0">
                <a:solidFill>
                  <a:srgbClr val="1A1A1A"/>
                </a:solidFill>
                <a:latin typeface="Arial"/>
              </a:rPr>
              <a:t>Day 2: C buys 2 from D, both new: plus 2. Open interest 3.</a:t>
            </a:r>
          </a:p>
          <a:p>
            <a:pPr algn="l">
              <a:lnSpc>
                <a:spcPct val="105000"/>
              </a:lnSpc>
              <a:spcBef>
                <a:spcPts val="0"/>
              </a:spcBef>
              <a:spcAft>
                <a:spcPts val="1100"/>
              </a:spcAft>
            </a:pPr>
            <a:r>
              <a:rPr sz="16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600" b="0" i="0">
                <a:solidFill>
                  <a:srgbClr val="1A1A1A"/>
                </a:solidFill>
                <a:latin typeface="Arial"/>
              </a:rPr>
              <a:t>Day 4: D buys back 2 from C: D's short and C's long close: minus 2. Now 1.</a:t>
            </a:r>
          </a:p>
        </p:txBody>
      </p:sp>
      <p:sp>
        <p:nvSpPr>
          <p:cNvPr id="8" name="Rectangle 7"/>
          <p:cNvSpPr/>
          <p:nvPr/>
        </p:nvSpPr>
        <p:spPr>
          <a:xfrm>
            <a:off x="777240" y="461772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4296"/>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Only both sides opening, or both closing, moves the count.</a:t>
            </a:r>
          </a:p>
        </p:txBody>
      </p:sp>
      <p:sp>
        <p:nvSpPr>
          <p:cNvPr id="10" name="TextBox 9"/>
          <p:cNvSpPr txBox="1"/>
          <p:nvPr/>
        </p:nvSpPr>
        <p:spPr>
          <a:xfrm>
            <a:off x="777240" y="5483351"/>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reason to count: unlike stocks, all futures and options contracts eventually expire.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a.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Ours: a futures contract rises from PHP 100 to PHP 110. Open interest 50,000 to 60,000 contracts, volume 8,000 to 12,000 a day: bullish confirmation, buying pressure.</a:t>
            </a:r>
          </a:p>
          <a:p>
            <a:pPr algn="l">
              <a:lnSpc>
                <a:spcPct val="105000"/>
              </a:lnSpc>
              <a:spcBef>
                <a:spcPts val="0"/>
              </a:spcBef>
              <a:spcAft>
                <a:spcPts val="1100"/>
              </a:spcAft>
            </a:pPr>
            <a:r>
              <a:rPr sz="1600" b="0" i="0">
                <a:solidFill>
                  <a:srgbClr val="1A1A1A"/>
                </a:solidFill>
                <a:latin typeface="Arial"/>
              </a:rPr>
              <a:t>2  The same rise; open interest 50,000 to 40,000, volume 8,000 to 5,000: bearish divergence, shorts covering, longs leaving.</a:t>
            </a:r>
          </a:p>
          <a:p>
            <a:pPr algn="l">
              <a:lnSpc>
                <a:spcPct val="105000"/>
              </a:lnSpc>
              <a:spcBef>
                <a:spcPts val="0"/>
              </a:spcBef>
              <a:spcAft>
                <a:spcPts val="1100"/>
              </a:spcAft>
            </a:pPr>
            <a:r>
              <a:rPr sz="1600" b="0" i="0">
                <a:solidFill>
                  <a:srgbClr val="1A1A1A"/>
                </a:solidFill>
                <a:latin typeface="Arial"/>
              </a:rPr>
              <a:t>Falling, PHP 110 to PHP 100: 3, both rising, is bearish confirmation, short selling; 4, both falling, bullish divergence.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Same price move, opposite readings: volume and open interest decide.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27</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953995" y="1810512"/>
            <a:ext cx="337030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8072867" y="1929384"/>
            <a:ext cx="313256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8072867" y="1929384"/>
            <a:ext cx="313256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347187" y="2203703"/>
            <a:ext cx="25839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79858" y="2203265"/>
            <a:ext cx="1710378" cy="2148913"/>
          </a:xfrm>
          <a:prstGeom prst="line">
            <a:avLst/>
          </a:prstGeom>
          <a:ln w="44450">
            <a:solidFill>
              <a:srgbClr val="E09B00"/>
            </a:solidFill>
            <a:tailEnd type="triangle" w="med" len="med"/>
          </a:ln>
        </p:spPr>
      </p:cxnSp>
      <p:cxnSp>
        <p:nvCxnSpPr>
          <p:cNvPr id="15" name="Connector 14"/>
          <p:cNvCxnSpPr/>
          <p:nvPr/>
        </p:nvCxnSpPr>
        <p:spPr>
          <a:xfrm>
            <a:off x="10184213" y="2291047"/>
            <a:ext cx="379039" cy="1393984"/>
          </a:xfrm>
          <a:prstGeom prst="line">
            <a:avLst/>
          </a:prstGeom>
          <a:ln w="44450">
            <a:solidFill>
              <a:srgbClr val="C62828"/>
            </a:solidFill>
            <a:tailEnd type="triangle" w="med" len="med"/>
          </a:ln>
        </p:spPr>
      </p:cxnSp>
      <p:sp>
        <p:nvSpPr>
          <p:cNvPr id="16" name="Oval 15"/>
          <p:cNvSpPr/>
          <p:nvPr/>
        </p:nvSpPr>
        <p:spPr>
          <a:xfrm>
            <a:off x="8224410" y="41967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028765" y="21355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Volume peaks higher at B than at A </a:t>
            </a:r>
            <a:r>
              <a:rPr sz="1600" b="1" i="0">
                <a:solidFill>
                  <a:srgbClr val="E09B00"/>
                </a:solidFill>
                <a:latin typeface="Arial"/>
              </a:rPr>
              <a:t>(1)</a:t>
            </a:r>
            <a:r>
              <a:rPr sz="1600" b="0" i="0">
                <a:solidFill>
                  <a:srgbClr val="1A1A1A"/>
                </a:solidFill>
                <a:latin typeface="Arial"/>
              </a:rPr>
              <a:t>: price and volume rise together, bullish confirmation.</a:t>
            </a:r>
          </a:p>
          <a:p>
            <a:pPr algn="l">
              <a:lnSpc>
                <a:spcPct val="105000"/>
              </a:lnSpc>
              <a:spcBef>
                <a:spcPts val="0"/>
              </a:spcBef>
              <a:spcAft>
                <a:spcPts val="1100"/>
              </a:spcAft>
            </a:pPr>
            <a:r>
              <a:rPr sz="1600" b="0" i="0">
                <a:solidFill>
                  <a:srgbClr val="1A1A1A"/>
                </a:solidFill>
                <a:latin typeface="Arial"/>
              </a:rPr>
              <a:t>Open interest peaks lower at B than at A </a:t>
            </a:r>
            <a:r>
              <a:rPr sz="1600" b="1" i="0">
                <a:solidFill>
                  <a:srgbClr val="C62828"/>
                </a:solidFill>
                <a:latin typeface="Arial"/>
              </a:rPr>
              <a:t>(2)</a:t>
            </a:r>
            <a:r>
              <a:rPr sz="1600" b="0" i="0">
                <a:solidFill>
                  <a:srgbClr val="1A1A1A"/>
                </a:solidFill>
                <a:latin typeface="Arial"/>
              </a:rPr>
              <a:t>: price rises as open interest falls, bearish divergence.</a:t>
            </a:r>
          </a:p>
          <a:p>
            <a:pPr algn="l">
              <a:lnSpc>
                <a:spcPct val="105000"/>
              </a:lnSpc>
              <a:spcBef>
                <a:spcPts val="0"/>
              </a:spcBef>
              <a:spcAft>
                <a:spcPts val="1100"/>
              </a:spcAft>
            </a:pPr>
            <a:r>
              <a:rPr sz="16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When the two disagree, the book reads open interest.</a:t>
            </a:r>
          </a:p>
        </p:txBody>
      </p:sp>
      <p:sp>
        <p:nvSpPr>
          <p:cNvPr id="10" name="Rectangle 9"/>
          <p:cNvSpPr/>
          <p:nvPr/>
        </p:nvSpPr>
        <p:spPr>
          <a:xfrm>
            <a:off x="6334769" y="1810512"/>
            <a:ext cx="477995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53641" y="1929384"/>
            <a:ext cx="454221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53641" y="1929384"/>
            <a:ext cx="454221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7961" y="2203703"/>
            <a:ext cx="399357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069955" y="3509467"/>
            <a:ext cx="826682" cy="744394"/>
          </a:xfrm>
          <a:prstGeom prst="ellipse">
            <a:avLst/>
          </a:prstGeom>
          <a:noFill/>
          <a:ln w="44450">
            <a:solidFill>
              <a:srgbClr val="E09B00"/>
            </a:solidFill>
          </a:ln>
        </p:spPr>
        <p:txBody>
          <a:bodyPr rtlCol="0" anchor="ctr"/>
          <a:lstStyle/>
          <a:p>
            <a:pPr algn="ctr"/>
          </a:p>
        </p:txBody>
      </p:sp>
      <p:sp>
        <p:nvSpPr>
          <p:cNvPr id="15" name="Oval 14"/>
          <p:cNvSpPr/>
          <p:nvPr/>
        </p:nvSpPr>
        <p:spPr>
          <a:xfrm>
            <a:off x="9069955" y="2501725"/>
            <a:ext cx="826682" cy="656612"/>
          </a:xfrm>
          <a:prstGeom prst="ellipse">
            <a:avLst/>
          </a:prstGeom>
          <a:noFill/>
          <a:ln w="44450">
            <a:solidFill>
              <a:srgbClr val="C62828"/>
            </a:solidFill>
          </a:ln>
        </p:spPr>
        <p:txBody>
          <a:bodyPr rtlCol="0" anchor="ctr"/>
          <a:lstStyle/>
          <a:p>
            <a:pPr algn="ctr"/>
          </a:p>
        </p:txBody>
      </p:sp>
      <p:sp>
        <p:nvSpPr>
          <p:cNvPr id="16" name="Oval 15"/>
          <p:cNvSpPr/>
          <p:nvPr/>
        </p:nvSpPr>
        <p:spPr>
          <a:xfrm>
            <a:off x="8914507" y="335401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14507" y="23462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27</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27</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a:t>
            </a:r>
            <a:r>
              <a:rPr sz="1600" b="1" i="0">
                <a:solidFill>
                  <a:srgbClr val="E09B00"/>
                </a:solidFill>
                <a:latin typeface="Arial"/>
              </a:rPr>
              <a:t>(1)</a:t>
            </a:r>
            <a:r>
              <a:rPr sz="1600" b="0" i="0">
                <a:solidFill>
                  <a:srgbClr val="1A1A1A"/>
                </a:solidFill>
                <a:latin typeface="Arial"/>
              </a:rPr>
              <a:t>,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a:t>
            </a:r>
            <a:r>
              <a:rPr sz="1600" b="1" i="0">
                <a:solidFill>
                  <a:srgbClr val="E09B00"/>
                </a:solidFill>
                <a:latin typeface="Arial"/>
              </a:rPr>
              <a:t>(1)</a:t>
            </a:r>
            <a:r>
              <a:rPr sz="1600" b="0" i="0">
                <a:solidFill>
                  <a:srgbClr val="1A1A1A"/>
                </a:solidFill>
                <a:latin typeface="Arial"/>
              </a:rPr>
              <a:t>, TRIN up to about 2.2 </a:t>
            </a:r>
            <a:r>
              <a:rPr sz="1600" b="1" i="0">
                <a:solidFill>
                  <a:srgbClr val="C62828"/>
                </a:solidFill>
                <a:latin typeface="Arial"/>
              </a:rPr>
              <a:t>(2)</a:t>
            </a:r>
            <a:r>
              <a:rPr sz="1600" b="0" i="0">
                <a:solidFill>
                  <a:srgbClr val="1A1A1A"/>
                </a:solidFill>
                <a:latin typeface="Arial"/>
              </a:rPr>
              <a:t>, both at levels it labels oversold. The index then rose </a:t>
            </a:r>
            <a:r>
              <a:rPr sz="1600" b="1" i="0">
                <a:solidFill>
                  <a:srgbClr val="1F5FAD"/>
                </a:solidFill>
                <a:latin typeface="Arial"/>
              </a:rPr>
              <a:t>(3)</a:t>
            </a:r>
            <a:r>
              <a:rPr sz="1600" b="0" i="0">
                <a:solidFill>
                  <a:srgbClr val="1A1A1A"/>
                </a:solidFill>
                <a:latin typeface="Arial"/>
              </a:rPr>
              <a: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57479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73042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29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293" y="1929384"/>
            <a:ext cx="339682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361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606786" y="4211726"/>
            <a:ext cx="577460" cy="547762"/>
          </a:xfrm>
          <a:prstGeom prst="rect">
            <a:avLst/>
          </a:prstGeom>
          <a:noFill/>
          <a:ln w="44450">
            <a:solidFill>
              <a:srgbClr val="E09B00"/>
            </a:solidFill>
          </a:ln>
        </p:spPr>
        <p:txBody>
          <a:bodyPr rtlCol="0" anchor="ctr"/>
          <a:lstStyle/>
          <a:p>
            <a:pPr algn="ctr"/>
          </a:p>
        </p:txBody>
      </p:sp>
      <p:sp>
        <p:nvSpPr>
          <p:cNvPr id="16" name="Rectangle 15"/>
          <p:cNvSpPr/>
          <p:nvPr/>
        </p:nvSpPr>
        <p:spPr>
          <a:xfrm>
            <a:off x="8606786" y="4784067"/>
            <a:ext cx="577460" cy="284414"/>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061961" y="3333902"/>
            <a:ext cx="1093778" cy="526694"/>
          </a:xfrm>
          <a:prstGeom prst="line">
            <a:avLst/>
          </a:prstGeom>
          <a:ln w="44450">
            <a:solidFill>
              <a:srgbClr val="1F5FAD"/>
            </a:solidFill>
            <a:tailEnd type="triangle" w="med" len="med"/>
          </a:ln>
        </p:spPr>
      </p:cxnSp>
      <p:sp>
        <p:nvSpPr>
          <p:cNvPr id="18" name="Oval 17"/>
          <p:cNvSpPr/>
          <p:nvPr/>
        </p:nvSpPr>
        <p:spPr>
          <a:xfrm>
            <a:off x="845133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28798" y="46286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906513" y="370514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Short term, the converse: tick falling but not oversold, TRIN rising but not overbought: bearish, look for a short entry.</a:t>
            </a:r>
          </a:p>
          <a:p>
            <a:pPr algn="l">
              <a:lnSpc>
                <a:spcPct val="105000"/>
              </a:lnSpc>
              <a:spcBef>
                <a:spcPts val="0"/>
              </a:spcBef>
              <a:spcAft>
                <a:spcPts val="1100"/>
              </a:spcAft>
            </a:pPr>
            <a:r>
              <a:rPr sz="1600" b="0" i="0">
                <a:solidFill>
                  <a:srgbClr val="1A1A1A"/>
                </a:solidFill>
                <a:latin typeface="Arial"/>
              </a:rPr>
              <a:t>Longer term: tick oversold, above its weekly two-sigma level, and TRIN overbought, near or above 3.0 daily: bullish, long. Reverse: bearish, short.</a:t>
            </a:r>
          </a:p>
          <a:p>
            <a:pPr algn="l">
              <a:lnSpc>
                <a:spcPct val="105000"/>
              </a:lnSpc>
              <a:spcBef>
                <a:spcPts val="0"/>
              </a:spcBef>
              <a:spcAft>
                <a:spcPts val="1100"/>
              </a:spcAft>
            </a:pPr>
            <a:r>
              <a:rPr sz="16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629107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Bullish TRIN: overbought in the text, oversold at </a:t>
            </a:r>
            <a:r>
              <a:rPr sz="1700" b="1" i="0">
                <a:solidFill>
                  <a:srgbClr val="C62828"/>
                </a:solidFill>
                <a:latin typeface="Arial"/>
              </a:rPr>
              <a:t>(2)</a:t>
            </a:r>
            <a:r>
              <a:rPr sz="1700" b="1" i="0">
                <a:solidFill>
                  <a:srgbClr val="1A1A1A"/>
                </a:solidFill>
                <a:latin typeface="Arial"/>
              </a:rPr>
              <a:t>.</a:t>
            </a:r>
          </a:p>
        </p:txBody>
      </p:sp>
      <p:sp>
        <p:nvSpPr>
          <p:cNvPr id="10" name="TextBox 9"/>
          <p:cNvSpPr txBox="1"/>
          <p:nvPr/>
        </p:nvSpPr>
        <p:spPr>
          <a:xfrm>
            <a:off x="777240" y="5315712"/>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reasons for either rule. The oversold tick </a:t>
            </a:r>
            <a:r>
              <a:rPr sz="1300" b="1" i="1">
                <a:solidFill>
                  <a:srgbClr val="E09B00"/>
                </a:solidFill>
                <a:latin typeface="Arial"/>
              </a:rPr>
              <a:t>(1)</a:t>
            </a:r>
            <a:r>
              <a:rPr sz="1300" b="0" i="1">
                <a:solidFill>
                  <a:srgbClr val="818181"/>
                </a:solidFill>
                <a:latin typeface="Arial"/>
              </a:rPr>
              <a:t> sits at its low, not above two sigma.</a:t>
            </a:r>
          </a:p>
        </p:txBody>
      </p:sp>
      <p:sp>
        <p:nvSpPr>
          <p:cNvPr id="11" name="Rectangle 10"/>
          <p:cNvSpPr/>
          <p:nvPr/>
        </p:nvSpPr>
        <p:spPr>
          <a:xfrm>
            <a:off x="773042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84929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849293" y="1929384"/>
            <a:ext cx="3396827"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12361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 In the box at the low, the TRIN reaches about 2.2 at the line the figure labels TRIN oversold, and the tick drops to about -1,000 at the line it labels TICK oversold: both at the bottom of their swing, not above a two-sigma level.</a:t>
            </a:r>
          </a:p>
        </p:txBody>
      </p:sp>
      <p:sp>
        <p:nvSpPr>
          <p:cNvPr id="15" name="Rectangle 14"/>
          <p:cNvSpPr/>
          <p:nvPr/>
        </p:nvSpPr>
        <p:spPr>
          <a:xfrm>
            <a:off x="8606786" y="4211726"/>
            <a:ext cx="577460" cy="547762"/>
          </a:xfrm>
          <a:prstGeom prst="rect">
            <a:avLst/>
          </a:prstGeom>
          <a:noFill/>
          <a:ln w="44450">
            <a:solidFill>
              <a:srgbClr val="E09B00"/>
            </a:solidFill>
          </a:ln>
        </p:spPr>
        <p:txBody>
          <a:bodyPr rtlCol="0" anchor="ctr"/>
          <a:lstStyle/>
          <a:p>
            <a:pPr algn="ctr"/>
          </a:p>
        </p:txBody>
      </p:sp>
      <p:sp>
        <p:nvSpPr>
          <p:cNvPr id="16" name="Rectangle 15"/>
          <p:cNvSpPr/>
          <p:nvPr/>
        </p:nvSpPr>
        <p:spPr>
          <a:xfrm>
            <a:off x="8606786" y="4784067"/>
            <a:ext cx="577460" cy="284414"/>
          </a:xfrm>
          <a:prstGeom prst="rect">
            <a:avLst/>
          </a:prstGeom>
          <a:noFill/>
          <a:ln w="44450">
            <a:solidFill>
              <a:srgbClr val="C62828"/>
            </a:solidFill>
          </a:ln>
        </p:spPr>
        <p:txBody>
          <a:bodyPr rtlCol="0" anchor="ctr"/>
          <a:lstStyle/>
          <a:p>
            <a:pPr algn="ctr"/>
          </a:p>
        </p:txBody>
      </p:sp>
      <p:sp>
        <p:nvSpPr>
          <p:cNvPr id="17" name="Oval 16"/>
          <p:cNvSpPr/>
          <p:nvPr/>
        </p:nvSpPr>
        <p:spPr>
          <a:xfrm>
            <a:off x="845133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28798" y="46286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7680960" y="5650991"/>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a:t>
            </a:r>
            <a:r>
              <a:rPr sz="1600" b="1" i="0">
                <a:solidFill>
                  <a:srgbClr val="E09B00"/>
                </a:solidFill>
                <a:latin typeface="Arial"/>
              </a:rPr>
              <a:t>(1)</a:t>
            </a:r>
            <a:r>
              <a:rPr sz="1600" b="0" i="0">
                <a:solidFill>
                  <a:srgbClr val="1A1A1A"/>
                </a:solidFill>
                <a:latin typeface="Arial"/>
              </a:rPr>
              <a:t>: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a:t>
            </a:r>
            <a:r>
              <a:rPr sz="1600" b="1" i="0">
                <a:solidFill>
                  <a:srgbClr val="C62828"/>
                </a:solidFill>
                <a:latin typeface="Arial"/>
              </a:rPr>
              <a:t>(2)</a:t>
            </a:r>
            <a:r>
              <a:rPr sz="1600" b="0" i="0">
                <a:solidFill>
                  <a:srgbClr val="1A1A1A"/>
                </a:solidFill>
                <a:latin typeface="Arial"/>
              </a:rPr>
              <a:t> the tick barely rises above zero and twice drops to about -1,000 </a:t>
            </a:r>
            <a:r>
              <a:rPr sz="1600" b="1" i="0">
                <a:solidFill>
                  <a:srgbClr val="1F5FAD"/>
                </a:solidFill>
                <a:latin typeface="Arial"/>
              </a:rPr>
              <a:t>(3)</a:t>
            </a:r>
            <a:r>
              <a:rPr sz="1600" b="0" i="0">
                <a:solidFill>
                  <a:srgbClr val="1A1A1A"/>
                </a:solidFill>
                <a:latin typeface="Arial"/>
              </a:rPr>
              <a:t>,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146212" y="1810512"/>
            <a:ext cx="515706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65084" y="1929384"/>
            <a:ext cx="491932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65084" y="1929384"/>
            <a:ext cx="491932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39404" y="2203703"/>
            <a:ext cx="437068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9438049" y="4738420"/>
            <a:ext cx="1402008" cy="403799"/>
          </a:xfrm>
          <a:prstGeom prst="line">
            <a:avLst/>
          </a:prstGeom>
          <a:ln w="44450">
            <a:solidFill>
              <a:srgbClr val="E09B00"/>
            </a:solidFill>
            <a:tailEnd type="triangle" w="med" len="med"/>
          </a:ln>
        </p:spPr>
      </p:cxnSp>
      <p:sp>
        <p:nvSpPr>
          <p:cNvPr id="16" name="Rectangle 15"/>
          <p:cNvSpPr/>
          <p:nvPr/>
        </p:nvSpPr>
        <p:spPr>
          <a:xfrm>
            <a:off x="9241276" y="4194169"/>
            <a:ext cx="860881" cy="421355"/>
          </a:xfrm>
          <a:prstGeom prst="rect">
            <a:avLst/>
          </a:prstGeom>
          <a:noFill/>
          <a:ln w="44450">
            <a:solidFill>
              <a:srgbClr val="C62828"/>
            </a:solidFill>
          </a:ln>
        </p:spPr>
        <p:txBody>
          <a:bodyPr rtlCol="0" anchor="ctr"/>
          <a:lstStyle/>
          <a:p>
            <a:pPr algn="ctr"/>
          </a:p>
        </p:txBody>
      </p:sp>
      <p:sp>
        <p:nvSpPr>
          <p:cNvPr id="17" name="Oval 16"/>
          <p:cNvSpPr/>
          <p:nvPr/>
        </p:nvSpPr>
        <p:spPr>
          <a:xfrm>
            <a:off x="9315066" y="4545299"/>
            <a:ext cx="737898" cy="175564"/>
          </a:xfrm>
          <a:prstGeom prst="ellipse">
            <a:avLst/>
          </a:prstGeom>
          <a:noFill/>
          <a:ln w="44450">
            <a:solidFill>
              <a:srgbClr val="1F5FAD"/>
            </a:solidFill>
          </a:ln>
        </p:spPr>
        <p:txBody>
          <a:bodyPr rtlCol="0" anchor="ctr"/>
          <a:lstStyle/>
          <a:p>
            <a:pPr algn="ctr"/>
          </a:p>
        </p:txBody>
      </p:sp>
      <p:sp>
        <p:nvSpPr>
          <p:cNvPr id="18" name="Oval 17"/>
          <p:cNvSpPr/>
          <p:nvPr/>
        </p:nvSpPr>
        <p:spPr>
          <a:xfrm>
            <a:off x="9282601" y="49867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85828" y="40387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897517" y="447763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27</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843619" y="41304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27</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6.28, 3M: the longest sideways bars, bracketed, $77 to $86 </a:t>
            </a:r>
            <a:r>
              <a:rPr sz="1600" b="1" i="0">
                <a:solidFill>
                  <a:srgbClr val="E09B00"/>
                </a:solidFill>
                <a:latin typeface="Arial"/>
              </a:rPr>
              <a:t>(1)</a:t>
            </a:r>
            <a:r>
              <a:rPr sz="1600" b="0" i="0">
                <a:solidFill>
                  <a:srgbClr val="1A1A1A"/>
                </a:solidFill>
                <a:latin typeface="Arial"/>
              </a:rPr>
              <a:t>: the most traded range, more shares than at any other price.</a:t>
            </a:r>
          </a:p>
          <a:p>
            <a:pPr algn="l">
              <a:lnSpc>
                <a:spcPct val="105000"/>
              </a:lnSpc>
              <a:spcBef>
                <a:spcPts val="0"/>
              </a:spcBef>
              <a:spcAft>
                <a:spcPts val="1100"/>
              </a:spcAft>
            </a:pPr>
            <a:r>
              <a:rPr sz="1600" b="0" i="0">
                <a:solidFill>
                  <a:srgbClr val="1A1A1A"/>
                </a:solidFill>
                <a:latin typeface="Arial"/>
              </a:rPr>
              <a:t>With 3M last at about $88 </a:t>
            </a:r>
            <a:r>
              <a:rPr sz="1600" b="1" i="0">
                <a:solidFill>
                  <a:srgbClr val="C62828"/>
                </a:solidFill>
                <a:latin typeface="Arial"/>
              </a:rPr>
              <a:t>(2)</a:t>
            </a:r>
            <a:r>
              <a:rPr sz="1600" b="0" i="0">
                <a:solidFill>
                  <a:srgbClr val="1A1A1A"/>
                </a:solidFill>
                <a:latin typeface="Arial"/>
              </a:rPr>
              <a:t>, $77 to $86 lies below: potential support, the figure's label. $90 to $92 above </a:t>
            </a:r>
            <a:r>
              <a:rPr sz="1600" b="1" i="0">
                <a:solidFill>
                  <a:srgbClr val="1F5FAD"/>
                </a:solidFill>
                <a:latin typeface="Arial"/>
              </a:rPr>
              <a:t>(3)</a:t>
            </a:r>
            <a:r>
              <a:rPr sz="1600" b="0" i="0">
                <a:solidFill>
                  <a:srgbClr val="1A1A1A"/>
                </a:solidFill>
                <a:latin typeface="Arial"/>
              </a:rPr>
              <a:t>: some resistance, says the book, not how it was found.</a:t>
            </a:r>
          </a:p>
          <a:p>
            <a:pPr algn="l">
              <a:lnSpc>
                <a:spcPct val="105000"/>
              </a:lnSpc>
              <a:spcBef>
                <a:spcPts val="0"/>
              </a:spcBef>
              <a:spcAft>
                <a:spcPts val="1100"/>
              </a:spcAft>
            </a:pPr>
            <a:r>
              <a:rPr sz="1600" b="0" i="0">
                <a:solidFill>
                  <a:srgbClr val="1A1A1A"/>
                </a:solidFill>
                <a:latin typeface="Arial"/>
              </a:rPr>
              <a:t>Volume panel lines, Part 1's names: bearish confirmation </a:t>
            </a:r>
            <a:r>
              <a:rPr sz="1600" b="1" i="0">
                <a:solidFill>
                  <a:srgbClr val="007A33"/>
                </a:solidFill>
                <a:latin typeface="Arial"/>
              </a:rPr>
              <a:t>(4)</a:t>
            </a:r>
            <a:r>
              <a:rPr sz="1600" b="0" i="0">
                <a:solidFill>
                  <a:srgbClr val="1A1A1A"/>
                </a:solidFill>
                <a:latin typeface="Arial"/>
              </a:rPr>
              <a:t>, price falling on rising volume; bearish divergence </a:t>
            </a:r>
            <a:r>
              <a:rPr sz="1600" b="1" i="0">
                <a:solidFill>
                  <a:srgbClr val="7B3FA0"/>
                </a:solidFill>
                <a:latin typeface="Arial"/>
              </a:rPr>
              <a:t>(5)</a:t>
            </a:r>
            <a:r>
              <a:rPr sz="1600" b="0" i="0">
                <a:solidFill>
                  <a:srgbClr val="1A1A1A"/>
                </a:solidFill>
                <a:latin typeface="Arial"/>
              </a:rPr>
              <a:t>, price rising on falling volume.</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7424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These price ranges are potential future support and resistance levels.</a:t>
            </a:r>
          </a:p>
        </p:txBody>
      </p:sp>
      <p:sp>
        <p:nvSpPr>
          <p:cNvPr id="10" name="Rectangle 9"/>
          <p:cNvSpPr/>
          <p:nvPr/>
        </p:nvSpPr>
        <p:spPr>
          <a:xfrm>
            <a:off x="7132319" y="1810512"/>
            <a:ext cx="4282135" cy="274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251191" y="1929384"/>
            <a:ext cx="4044391" cy="250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251191" y="1929384"/>
            <a:ext cx="40443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25511" y="2203703"/>
            <a:ext cx="3495751" cy="205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p:txBody>
      </p:sp>
      <p:sp>
        <p:nvSpPr>
          <p:cNvPr id="14" name="Rectangle 13"/>
          <p:cNvSpPr/>
          <p:nvPr/>
        </p:nvSpPr>
        <p:spPr>
          <a:xfrm>
            <a:off x="7271413" y="2681595"/>
            <a:ext cx="1880641" cy="476400"/>
          </a:xfrm>
          <a:prstGeom prst="rect">
            <a:avLst/>
          </a:prstGeom>
          <a:noFill/>
          <a:ln w="44450">
            <a:solidFill>
              <a:srgbClr val="E09B00"/>
            </a:solidFill>
          </a:ln>
        </p:spPr>
        <p:txBody>
          <a:bodyPr rtlCol="0" anchor="ctr"/>
          <a:lstStyle/>
          <a:p>
            <a:pPr algn="ctr"/>
          </a:p>
        </p:txBody>
      </p:sp>
      <p:sp>
        <p:nvSpPr>
          <p:cNvPr id="15" name="Oval 14"/>
          <p:cNvSpPr/>
          <p:nvPr/>
        </p:nvSpPr>
        <p:spPr>
          <a:xfrm>
            <a:off x="10830478" y="2518616"/>
            <a:ext cx="283107" cy="188052"/>
          </a:xfrm>
          <a:prstGeom prst="ellipse">
            <a:avLst/>
          </a:prstGeom>
          <a:noFill/>
          <a:ln w="44450">
            <a:solidFill>
              <a:srgbClr val="C62828"/>
            </a:solidFill>
          </a:ln>
        </p:spPr>
        <p:txBody>
          <a:bodyPr rtlCol="0" anchor="ctr"/>
          <a:lstStyle/>
          <a:p>
            <a:pPr algn="ctr"/>
          </a:p>
        </p:txBody>
      </p:sp>
      <p:sp>
        <p:nvSpPr>
          <p:cNvPr id="16" name="Rectangle 15"/>
          <p:cNvSpPr/>
          <p:nvPr/>
        </p:nvSpPr>
        <p:spPr>
          <a:xfrm>
            <a:off x="7271413" y="2318026"/>
            <a:ext cx="1395314" cy="175516"/>
          </a:xfrm>
          <a:prstGeom prst="rect">
            <a:avLst/>
          </a:prstGeom>
          <a:noFill/>
          <a:ln w="44450">
            <a:solidFill>
              <a:srgbClr val="1F5FAD"/>
            </a:solidFill>
          </a:ln>
        </p:spPr>
        <p:txBody>
          <a:bodyPr rtlCol="0" anchor="ctr"/>
          <a:lstStyle/>
          <a:p>
            <a:pPr algn="ctr"/>
          </a:p>
        </p:txBody>
      </p:sp>
      <p:cxnSp>
        <p:nvCxnSpPr>
          <p:cNvPr id="17" name="Connector 16"/>
          <p:cNvCxnSpPr/>
          <p:nvPr/>
        </p:nvCxnSpPr>
        <p:spPr>
          <a:xfrm flipV="1">
            <a:off x="8686950" y="3759765"/>
            <a:ext cx="1253762" cy="200590"/>
          </a:xfrm>
          <a:prstGeom prst="line">
            <a:avLst/>
          </a:prstGeom>
          <a:ln w="44450">
            <a:solidFill>
              <a:srgbClr val="007A33"/>
            </a:solidFill>
          </a:ln>
        </p:spPr>
      </p:cxnSp>
      <p:cxnSp>
        <p:nvCxnSpPr>
          <p:cNvPr id="18" name="Connector 17"/>
          <p:cNvCxnSpPr/>
          <p:nvPr/>
        </p:nvCxnSpPr>
        <p:spPr>
          <a:xfrm>
            <a:off x="10163153" y="3797376"/>
            <a:ext cx="849322" cy="313421"/>
          </a:xfrm>
          <a:prstGeom prst="line">
            <a:avLst/>
          </a:prstGeom>
          <a:ln w="44450">
            <a:solidFill>
              <a:srgbClr val="7B3FA0"/>
            </a:solidFill>
          </a:ln>
        </p:spPr>
      </p:cxnSp>
      <p:sp>
        <p:nvSpPr>
          <p:cNvPr id="19" name="Oval 18"/>
          <p:cNvSpPr/>
          <p:nvPr/>
        </p:nvSpPr>
        <p:spPr>
          <a:xfrm>
            <a:off x="7115965" y="25261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675030" y="25512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7115965" y="216257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531502" y="3804907"/>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10007705" y="3641928"/>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7132319" y="4647067"/>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6.28 -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600" b="0" i="0">
                <a:solidFill>
                  <a:srgbClr val="1A1A1A"/>
                </a:solidFill>
                <a:latin typeface="Arial"/>
              </a:rPr>
              <a:t>Resistance at PHP 50.80: price turned down near it twice, at 3, PHP 50.90, and 4, PHP 50.80, then broke above it and rose to about PHP 58.60, at 5.</a:t>
            </a:r>
          </a:p>
          <a:p>
            <a:pPr algn="l">
              <a:lnSpc>
                <a:spcPct val="105000"/>
              </a:lnSpc>
              <a:spcBef>
                <a:spcPts val="0"/>
              </a:spcBef>
              <a:spcAft>
                <a:spcPts val="1100"/>
              </a:spcAft>
            </a:pPr>
            <a:r>
              <a:rPr sz="16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level from the four steps is potential: ours held twice, then broke.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1" i="0">
                <a:solidFill>
                  <a:srgbClr val="E09B00"/>
                </a:solidFill>
                <a:latin typeface="Arial"/>
              </a:rPr>
              <a:t>(1)</a:t>
            </a:r>
            <a:r>
              <a:rPr sz="16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The dark columns, where volume reaches the dotted overextended volume level (Part 2), </a:t>
            </a:r>
            <a:r>
              <a:rPr sz="1600" b="1" i="0">
                <a:solidFill>
                  <a:srgbClr val="1F5FAD"/>
                </a:solidFill>
                <a:latin typeface="Arial"/>
              </a:rPr>
              <a:t>(3)</a:t>
            </a:r>
            <a:r>
              <a:rPr sz="1600" b="0" i="0">
                <a:solidFill>
                  <a:srgbClr val="1A1A1A"/>
                </a:solidFill>
                <a:latin typeface="Arial"/>
              </a:rPr>
              <a:t> cross it in two white boxes.</a:t>
            </a:r>
          </a:p>
          <a:p>
            <a:pPr algn="l">
              <a:lnSpc>
                <a:spcPct val="105000"/>
              </a:lnSpc>
              <a:spcBef>
                <a:spcPts val="0"/>
              </a:spcBef>
              <a:spcAft>
                <a:spcPts val="1100"/>
              </a:spcAft>
            </a:pPr>
            <a:r>
              <a:rPr sz="1600" b="1" i="0">
                <a:solidFill>
                  <a:srgbClr val="007A33"/>
                </a:solidFill>
                <a:latin typeface="Arial"/>
              </a:rPr>
              <a:t>(4)</a:t>
            </a:r>
            <a:r>
              <a:rPr sz="1600" b="0" i="0">
                <a:solidFill>
                  <a:srgbClr val="1A1A1A"/>
                </a:solidFill>
                <a:latin typeface="Arial"/>
              </a:rPr>
              <a:t>  Closest peak above, about $80: resistance. Closest trough below, about $72.50: support.</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act as effective barriers to price on the daily chart of 3M.</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34261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3104873"/>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428231" y="2203703"/>
            <a:ext cx="4593031" cy="26476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179620" y="2953992"/>
            <a:ext cx="2288043" cy="527828"/>
          </a:xfrm>
          <a:prstGeom prst="rect">
            <a:avLst/>
          </a:prstGeom>
          <a:noFill/>
          <a:ln w="44450">
            <a:solidFill>
              <a:srgbClr val="E09B00"/>
            </a:solidFill>
          </a:ln>
        </p:spPr>
        <p:txBody>
          <a:bodyPr rtlCol="0" anchor="ctr"/>
          <a:lstStyle/>
          <a:p>
            <a:pPr algn="ctr"/>
          </a:p>
        </p:txBody>
      </p:sp>
      <p:sp>
        <p:nvSpPr>
          <p:cNvPr id="16" name="Rectangle 15"/>
          <p:cNvSpPr/>
          <p:nvPr/>
        </p:nvSpPr>
        <p:spPr>
          <a:xfrm>
            <a:off x="9007539" y="4289088"/>
            <a:ext cx="1079750" cy="652023"/>
          </a:xfrm>
          <a:prstGeom prst="rect">
            <a:avLst/>
          </a:prstGeom>
          <a:noFill/>
          <a:ln w="44450">
            <a:solidFill>
              <a:srgbClr val="C62828"/>
            </a:solidFill>
          </a:ln>
        </p:spPr>
        <p:txBody>
          <a:bodyPr rtlCol="0" anchor="ctr"/>
          <a:lstStyle/>
          <a:p>
            <a:pPr algn="ctr"/>
          </a:p>
        </p:txBody>
      </p:sp>
      <p:sp>
        <p:nvSpPr>
          <p:cNvPr id="17" name="Rectangle 16"/>
          <p:cNvSpPr/>
          <p:nvPr/>
        </p:nvSpPr>
        <p:spPr>
          <a:xfrm>
            <a:off x="9007539" y="2953992"/>
            <a:ext cx="1079750" cy="248389"/>
          </a:xfrm>
          <a:prstGeom prst="rect">
            <a:avLst/>
          </a:prstGeom>
          <a:noFill/>
          <a:ln w="44450">
            <a:solidFill>
              <a:srgbClr val="1F5FAD"/>
            </a:solidFill>
          </a:ln>
        </p:spPr>
        <p:txBody>
          <a:bodyPr rtlCol="0" anchor="ctr"/>
          <a:lstStyle/>
          <a:p>
            <a:pPr algn="ctr"/>
          </a:p>
        </p:txBody>
      </p:sp>
      <p:sp>
        <p:nvSpPr>
          <p:cNvPr id="18" name="Rectangle 17"/>
          <p:cNvSpPr/>
          <p:nvPr/>
        </p:nvSpPr>
        <p:spPr>
          <a:xfrm>
            <a:off x="10215832" y="3016089"/>
            <a:ext cx="796959" cy="652023"/>
          </a:xfrm>
          <a:prstGeom prst="rect">
            <a:avLst/>
          </a:prstGeom>
          <a:noFill/>
          <a:ln w="44450">
            <a:solidFill>
              <a:srgbClr val="007A33"/>
            </a:solidFill>
          </a:ln>
        </p:spPr>
        <p:txBody>
          <a:bodyPr rtlCol="0" anchor="ctr"/>
          <a:lstStyle/>
          <a:p>
            <a:pPr algn="ctr"/>
          </a:p>
        </p:txBody>
      </p:sp>
      <p:sp>
        <p:nvSpPr>
          <p:cNvPr id="19" name="Oval 18"/>
          <p:cNvSpPr/>
          <p:nvPr/>
        </p:nvSpPr>
        <p:spPr>
          <a:xfrm>
            <a:off x="6024172" y="27985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852091" y="41336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8852091" y="279854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0060384" y="286064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244569"/>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sp>
        <p:nvSpPr>
          <p:cNvPr id="14" name="Rectangle 13"/>
          <p:cNvSpPr/>
          <p:nvPr/>
        </p:nvSpPr>
        <p:spPr>
          <a:xfrm>
            <a:off x="9125652" y="2550194"/>
            <a:ext cx="265029" cy="1805994"/>
          </a:xfrm>
          <a:prstGeom prst="rect">
            <a:avLst/>
          </a:prstGeom>
          <a:noFill/>
          <a:ln w="44450">
            <a:solidFill>
              <a:srgbClr val="E09B00"/>
            </a:solidFill>
          </a:ln>
        </p:spPr>
        <p:txBody>
          <a:bodyPr rtlCol="0" anchor="ctr"/>
          <a:lstStyle/>
          <a:p>
            <a:pPr algn="ctr"/>
          </a:p>
        </p:txBody>
      </p:sp>
      <p:sp>
        <p:nvSpPr>
          <p:cNvPr id="15" name="Rectangle 14"/>
          <p:cNvSpPr/>
          <p:nvPr/>
        </p:nvSpPr>
        <p:spPr>
          <a:xfrm>
            <a:off x="9755097" y="2550194"/>
            <a:ext cx="265029" cy="1805994"/>
          </a:xfrm>
          <a:prstGeom prst="rect">
            <a:avLst/>
          </a:prstGeom>
          <a:noFill/>
          <a:ln w="44450">
            <a:solidFill>
              <a:srgbClr val="C62828"/>
            </a:solidFill>
          </a:ln>
        </p:spPr>
        <p:txBody>
          <a:bodyPr rtlCol="0" anchor="ctr"/>
          <a:lstStyle/>
          <a:p>
            <a:pPr algn="ctr"/>
          </a:p>
        </p:txBody>
      </p:sp>
      <p:sp>
        <p:nvSpPr>
          <p:cNvPr id="16" name="Rectangle 15"/>
          <p:cNvSpPr/>
          <p:nvPr/>
        </p:nvSpPr>
        <p:spPr>
          <a:xfrm>
            <a:off x="10384543" y="1943493"/>
            <a:ext cx="265029" cy="2412695"/>
          </a:xfrm>
          <a:prstGeom prst="rect">
            <a:avLst/>
          </a:prstGeom>
          <a:noFill/>
          <a:ln w="44450">
            <a:solidFill>
              <a:srgbClr val="1F5FAD"/>
            </a:solidFill>
          </a:ln>
        </p:spPr>
        <p:txBody>
          <a:bodyPr rtlCol="0" anchor="ctr"/>
          <a:lstStyle/>
          <a:p>
            <a:pPr algn="ctr"/>
          </a:p>
        </p:txBody>
      </p:sp>
      <p:sp>
        <p:nvSpPr>
          <p:cNvPr id="17" name="Rectangle 16"/>
          <p:cNvSpPr/>
          <p:nvPr/>
        </p:nvSpPr>
        <p:spPr>
          <a:xfrm>
            <a:off x="11013988" y="1943493"/>
            <a:ext cx="265029" cy="2412695"/>
          </a:xfrm>
          <a:prstGeom prst="rect">
            <a:avLst/>
          </a:prstGeom>
          <a:noFill/>
          <a:ln w="44450">
            <a:solidFill>
              <a:srgbClr val="007A33"/>
            </a:solidFill>
          </a:ln>
        </p:spPr>
        <p:txBody>
          <a:bodyPr rtlCol="0" anchor="ctr"/>
          <a:lstStyle/>
          <a:p>
            <a:pPr algn="ctr"/>
          </a:p>
        </p:txBody>
      </p:sp>
      <p:sp>
        <p:nvSpPr>
          <p:cNvPr id="18" name="Oval 17"/>
          <p:cNvSpPr/>
          <p:nvPr/>
        </p:nvSpPr>
        <p:spPr>
          <a:xfrm>
            <a:off x="8970204" y="42007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99649" y="42007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229095" y="420074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58540" y="420074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