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both lines with the numbers. In each trend the big volume is on the move with the trend and the small volume on the move against it.</a:t>
            </a:r>
          </a:p>
          <a:p>
            <a:r>
              <a:rPr sz="1400"/>
              <a:t>- The trap the room falls into: price falling on rising volume sounds bullish. It is not. Name it now and the next two slides explain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question the room asks: more volume as price falls, is that not more demand? No. Each of those shares was sold by someone as well as bought.</a:t>
            </a:r>
          </a:p>
          <a:p>
            <a:r>
              <a:rPr sz="1400"/>
              <a:t>- Volume says how many take part. Price says which way they are pushing. Together they say whether the push has backing.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layers. The first is mechanical and needs only two arrows. The second brings in the trend, and asks whether the volume backs it.</a:t>
            </a:r>
          </a:p>
          <a:p>
            <a:r>
              <a:rPr sz="1400"/>
              <a:t>- Volume that does not confirm is the other kind: bearish volume in an uptrend, bullish volume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room will try to map bullish onto confirmation and bearish onto divergence. The second example breaks that mapping.</a:t>
            </a:r>
          </a:p>
          <a:p>
            <a:r>
              <a:rPr sz="1400"/>
              <a:t>- Keep both answers. The next slides put them together into one name.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phrases share a word. The tenet looks at the whole trend; volume confirmation looks at one stretch of volume.</a:t>
            </a:r>
          </a:p>
          <a:p>
            <a:r>
              <a:rPr sz="1400"/>
              <a:t>- So the uptrend dip on falling volume is bullish volume that confirms the trend, and on its own it is a bullish divergence. Both are the book's.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Trace the gold arrow, mark 1, across the volume panel: bigger volume as the trend rises. Then the two circles, marks 2 and 3, the dips.</a:t>
            </a:r>
          </a:p>
          <a:p>
            <a:r>
              <a:rPr sz="1400"/>
              <a:t>- Both readings are the book's, on one chart: the whole trend confirmed, and each dip a bullish divergence.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formal row is the book's own summary of all four scenarios, page 178. The next slide is what each one warns of.</a:t>
            </a:r>
          </a:p>
          <a:p>
            <a:r>
              <a:rPr sz="1400"/>
              <a:t>- Bullish or bearish comes from the term Bullish volume and bearish volume: together or apart. Divergence or confirmation from the term before this one: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name says something about participation, which is the two principles again: more or fewer want to take part in the move price is making.</a:t>
            </a:r>
          </a:p>
          <a:p>
            <a:r>
              <a:rPr sz="1400"/>
              <a:t>- Where each can occur is the next slide, and there the book's sentence and its figure disagree.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Downtrend and uptrend are the book's words for where each divergence can occur. Mark 1 is the uptrend, mark 2 the dips the book calls bullish divergence inside it.</a:t>
            </a:r>
          </a:p>
          <a:p>
            <a:r>
              <a:rPr sz="1400"/>
              <a:t>- Be plain that the reading is ours: the book's sentence says downtrend, its figure says inside an uptrend. No check rests on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The oscillators there were the MACD and the bar stochastic. Reverse divergence was named in Chapter 5 and left to Chapter 9; the book says volume has no such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a:p>
            <a:r>
              <a:rPr sz="1400"/>
              <a:t>- Chapter 4's Figure 4.18 was an intraday chart of this stock too.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a:p>
            <a:r>
              <a:rPr sz="1400"/>
              <a:t>- Period 3: the book says there is no divergence reading in a consolidation, because price moves sideways. Part 2 is where that page is taught.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here means an indicator drawn in its own panel under the price. That gloss is ours: this chapter never defines the word, and Chapter 8 is oscillators.</a:t>
            </a:r>
          </a:p>
          <a:p>
            <a:r>
              <a:rPr sz="1400"/>
              <a:t>- The example's second line starts at 0, adds 3 on the higher close, subtracts 1 on the lower: 0, 3, 2. It cannot be drawn without the closes. Part 6 names it the On Balance Volume.</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Read a price-based line the way you read price itself: up is bullish, down is bearish. Then compare it with price for divergence or confirmation.</a:t>
            </a:r>
          </a:p>
          <a:p>
            <a:r>
              <a:rPr sz="1400"/>
              <a:t>- Why the two kinds differ: the book gives the figure and no reason, so give none.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Only two of the eight cases change between the kinds, and they are both with price falling. Read those two lines slowly.</a:t>
            </a:r>
          </a:p>
          <a:p>
            <a:r>
              <a:rPr sz="1400"/>
              <a:t>- Plain volume: up is confirmation, down is divergence. A price-based line: with price is confirmation, against price is divergence.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boxes first: price rising, the two kinds agree. Then red, then blue: the two cases where the price-based arrow points the other way.</a:t>
            </a:r>
          </a:p>
          <a:p>
            <a:r>
              <a:rPr sz="1400"/>
              <a:t>- The numbers on the slide before are these arrows: 3 to 1 million falling, the OBV 5 to 7 rising.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mark 1. The volume panel under it falls, mark 2: non-price-based and falling, so bearish divergence.</a:t>
            </a:r>
          </a:p>
          <a:p>
            <a:r>
              <a:rPr sz="1400"/>
              <a:t>- The figure is cut in two so each panel can be read; the PVO and the ADL under it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PVO falls, mark 1, bearish divergence; the ADL rises with price, mark 2,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Read the numbers off the chart with the room: the earlier low of 0.45 that sets the line, 0.42 at 1 where volume tests it, 3.6 on the breakout bar at 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four steps in order. Step 2 is the one students miss: the orders that start the move were placed during the quiet range.</a:t>
            </a:r>
          </a:p>
          <a:p>
            <a:r>
              <a:rPr sz="1400"/>
              <a:t>- Step 4 is the book's either an upside or downside breakout. The signal is about timing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number on the chart is the step of the same number on the slide before. Walk them in order.</a:t>
            </a:r>
          </a:p>
          <a:p>
            <a:r>
              <a:rPr sz="1400"/>
              <a:t>- This one broke up. The same range could have broken down through the sell stops: price decides.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 Figure 6.9 has two, at its time lines 1 and 2.</a:t>
            </a:r>
          </a:p>
          <a:p>
            <a:r>
              <a:rPr sz="1400"/>
              <a:t>- The book gives a tendency and no rule for where the low volume level goes. Figure 6.9 draws it at earlier lows, and this chart draws it at the low set at 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The arithmetic is the next slide, and it is ours: the book leaves its own calculation to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the plain average first, then the weighted one, and ask why the second is higher. The answer is the heavy day.</a:t>
            </a:r>
          </a:p>
          <a:p>
            <a:r>
              <a:rPr sz="1400"/>
              <a:t>- Say plainly this is our computation, the one the two VWMA charts use. The book's own is in Chapter 11 and is not examined here.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Ask for the two choices that make the four names: where the turn is, and whether volume is huge or tiny.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question a student asks first: if every share sold was bought, why call it a sell-off? Because of who is rushing, and which way price had been going.</a:t>
            </a:r>
          </a:p>
          <a:p>
            <a:r>
              <a:rPr sz="1400"/>
              <a:t>- The heavy volume of a selling climax is the panicked selling, and the informed buyers absorbing it. The quiet turns get their own figure after the climaxes,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arrows from the ellipse down to the volume panel: each joins a selling climax to its spike.</a:t>
            </a:r>
          </a:p>
          <a:p>
            <a:r>
              <a:rPr sz="1400"/>
              <a:t>- Upper for the big turns, lower for the corrections. What each tells, with the figure's numbers,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scale with the room: the gold box is an ordinary day, the red line the lower level, the blue line the upper.</a:t>
            </a:r>
          </a:p>
          <a:p>
            <a:r>
              <a:rPr sz="1400"/>
              <a:t>- The two green circles are the selling climaxes from the term slide, the only spikes to reach the upper level.</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trap is the word lower. A lower overextended level is still high volume, only less extreme.</a:t>
            </a:r>
          </a:p>
          <a:p>
            <a:r>
              <a:rPr sz="1400"/>
              <a:t>- Which way the turn goes is the book's caution at the end of this part: overbought or oversold, only in retrospect.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Ask the room where they would draw it on this chart to catch only the circled spikes.</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it to the arithmetic. Part 3 teaches the sigma filter properly, with its own worked example and the bar-by-bar method.</a:t>
            </a:r>
          </a:p>
          <a:p>
            <a:r>
              <a:rPr sz="1400"/>
              <a:t>- The next slide finds this line on the gold chart and shows it moving.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solid line first, mark 1. Then the step up under the August 2011 spikes, mark 2, and where it drops back, mark 3.</a:t>
            </a:r>
          </a:p>
          <a:p>
            <a:r>
              <a:rPr sz="1400"/>
              <a:t>- A fixed line, drawn by eye, does not move; this one does, because only the latest 100 days count.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wavy stretch under the gold line is what the figure labels noise. Then the red line: only two spikes reach it.</a:t>
            </a:r>
          </a:p>
          <a:p>
            <a:r>
              <a:rPr sz="1400"/>
              <a:t>- The book's own labels 1 and 2 on the price are the two lows; the coloured numbers are ours.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Volume and volatility are two separate measures. When both cross their high lines on the same day, two kinds of evidence agree.</a:t>
            </a:r>
          </a:p>
          <a:p>
            <a:r>
              <a:rPr sz="1400"/>
              <a:t>- This slide goes with the two before: drop all three or none.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tops are in late 2007, the clearest bottom in March 2009. The book says only that the threshold is tested.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quiet mirror of the climaxes: a turn on silence. The catch is the same as for the spikes on the next slide: volume does not say which way.</a:t>
            </a:r>
          </a:p>
          <a:p>
            <a:r>
              <a:rPr sz="1400"/>
              <a:t>- Be plain that the reason is borrowed from the breakout passage, and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This slide is where it is because the book puts the caution here, after the low volume tops and bottoms. Say so, and point back to the climaxes it is about.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answers why the deck goes back to high volume: it is the book's order, and the caution is about the spikes.</a:t>
            </a:r>
          </a:p>
          <a:p>
            <a:r>
              <a:rPr sz="1400"/>
              <a:t>- Do not extend the caution to the low volume turns. The book does not, so the course does not.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Lower timeframes are more sensitive: the one-day burst shows on daily and weekly bars and vanishes into the monthly ones.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two sums on the board: 67 million for the record day's month against 120 million for the busy month.</a:t>
            </a:r>
          </a:p>
          <a:p>
            <a:r>
              <a:rPr sz="1400"/>
              <a:t>- One big day cannot outweigh twenty busy ones once the days are added up.</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Point at the touch in each sketch, then at the volume bar under it: tallest in the top row, shortest in the bottom row.</a:t>
            </a:r>
          </a:p>
          <a:p>
            <a:r>
              <a:rPr sz="1400"/>
              <a:t>- Barrier is Chapter 5's word, from barrier proximity: a support below price or a resistance above it. Retest was Chapter 5's too, price returning to a level it touched before.</a:t>
            </a:r>
          </a:p>
          <a:p>
            <a:r>
              <a:rPr sz="1400"/>
              <a:t>- Why the peak wins comes on the next slide,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 first: the biggest push of the move hit PHP 60 and still failed. Then B: nobody pushed, so the level was never really tested.</a:t>
            </a:r>
          </a:p>
          <a:p>
            <a:r>
              <a:rPr sz="1400"/>
              <a:t>- The chart does not draw what happens at the retest. The book says only which barrier is more reliable, not that B will break.</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two cases of Figure 6.18. Increasing, decreasing and flatlining are new.</a:t>
            </a:r>
          </a:p>
          <a:p>
            <a:r>
              <a:rPr sz="1400"/>
              <a:t>- In every sketch the price curve is the same; only the volume bars change. Read the bars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This slide takes increasing alone: what volume does, then what price does next.</a:t>
            </a:r>
          </a:p>
          <a:p>
            <a:r>
              <a:rPr sz="1400"/>
              <a:t>- Price down with volume up is bearish confirmation, Part 1's name for it: at a resistance the rising volume is the selling that drives price down.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Decreasing volume across the barrier is the one to watch: the book says it tends to see a retest, and in more extreme circumstances price may return to penetrate it.</a:t>
            </a:r>
          </a:p>
          <a:p>
            <a:r>
              <a:rPr sz="1400"/>
              <a:t>- Figure 6.19 draws price turning cleanly in every case. The retests on our chart are drawn from the book's words, and the chart gives them no volume because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volume peak and the volume dip of Figure 6.18, now with numbers. Flatlining is the only new one.</a:t>
            </a:r>
          </a:p>
          <a:p>
            <a:r>
              <a:rPr sz="1400"/>
              <a:t>- Flatlining is not a weak barrier or a strong one. The book says it gives too little information to tell.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 the smoothed volume filter, then the two- or three-sigma filter.</a:t>
            </a:r>
          </a:p>
          <a:p>
            <a:r>
              <a:rPr sz="1400"/>
              <a:t>- Prior volume peaks: the book names them on p.188 and never explains them. Part 2's upper overextended volume level was set at the volume of earlier climaxes, which is the nearest the book comes; that reading is ours and is not examinable.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twice rule is ours, to make the reading concrete. The book says only that a spike above the line is significant, and its own Figure 6.20 marks only the tallest spikes.</a:t>
            </a:r>
          </a:p>
          <a:p>
            <a:r>
              <a:rPr sz="1400"/>
              <a:t>- Filter 2's line here is a stand-in, the average plus a fixed amount. The real line, the two- or three-sigma filter, is computed on its own slides after the smoothed volume filter.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1, where the line leaps as the spike comes in, then count along twenty bars to 2, where it drops as the spike goes out.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No picture: nothing here is read off a chart.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of the three arrows down to the surge under it: marks 1, 2 and 3 ring where they reach price. Then find the April 2011 top, mark 4: a dotted upright, and no arrow.</a:t>
            </a:r>
          </a:p>
          <a:p>
            <a:r>
              <a:rPr sz="1400"/>
              <a:t>- The smoothed filter on the same market, Figure 6.20, marked six; this stricter line marks three.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stepped line, and follow it from the March spike, mark 2: it stays up for months, then steps.</a:t>
            </a:r>
          </a:p>
          <a:p>
            <a:r>
              <a:rPr sz="1400"/>
              <a:t>- Marks 5 and 6 are the two lines under it. The book draws them and never says what they are.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not a chart. The overlay it praises is the line on the last slide.</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steps against the chart: each bar number and price is printed on it.</a:t>
            </a:r>
          </a:p>
          <a:p>
            <a:r>
              <a:rPr sz="1400"/>
              <a:t>- A turn on 2.0 million would pass the book's definition and fail its example's line. The book does not settle that, and neither do we: our chart has no turn in between.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two arrows from the oval up to points 1 and 3, then 2.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along the shaded stretch: trough 3 at bar 44 to X at bar 72 is 28 bars, and 28 times 0.10 is 2.80 on top of 49.00.</a:t>
            </a:r>
          </a:p>
          <a:p>
            <a:r>
              <a:rPr sz="1400"/>
              <a:t>- The buy at the lower line is the book's reading of silver's X on the last slide's figure; here it is worked on our own numbers.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ringed July to August bars, then at marks 5 and 6: both reach the threshold, and neither is used. The marks start at 4 so they are not taken for the figure's own Points 1 to 3.</a:t>
            </a:r>
          </a:p>
          <a:p>
            <a:r>
              <a:rPr sz="1400"/>
              <a:t>- Why only heavily traded turns? The book says only that it shows the importance of significant inflection points; the next figure's slide quotes it. Part 3's first rule, a barrier formed at a volume peak is the most reliable, fits, and that link is ours.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7, the line from 1 to 2, and lay a ruler along it: every other line has its angle. The marks start at 7 so they are not taken for the figure's own points 1 to 6.</a:t>
            </a:r>
          </a:p>
          <a:p>
            <a:r>
              <a:rPr sz="1400"/>
              <a:t>- Then mark 8, the channel from 5 and 6, and mark 9: no oval under 4, and none under X at the far left either, though each anchors a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double out loud: 3 million today, 1.5 million usually, so twice the usual. That comparison is relative volume.</a:t>
            </a:r>
          </a:p>
          <a:p>
            <a:r>
              <a:rPr sz="1400"/>
              <a:t>- This is review question 7, which is more useful. The book's answer: relative, for reading trends; absolute has the uses two slides on.</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ties the book's two sentences to Parts 1 and 2, which drew them.</a:t>
            </a:r>
          </a:p>
          <a:p>
            <a:r>
              <a:rPr sz="1400"/>
              <a:t>- Peaks and troughs both count: the book says historical volume peaks and troughs give the reference level.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The book says many investors treat a paper loss as no loss, and so they hold. Breakeven is the price at which you neither gain nor lose.</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Absolute volume is the raw count of the first slide of this part. Work the turnover out loud: 5 million of 2,000 million is a quarter of one percent; 1 million of 40 million is two and a half percent.</a:t>
            </a:r>
          </a:p>
          <a:p>
            <a:r>
              <a:rPr sz="1400"/>
              <a:t>- Liquidity is the book's word, used here and not defined in this chapter. Do not define it for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example is ours and only shows the size of the problem: the bar counts every share, whoever traded 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Long and short are Chapter 1's go long and go short.</a:t>
            </a:r>
          </a:p>
          <a:p>
            <a:r>
              <a:rPr sz="1400"/>
              <a:t>- The chart is the next slide's four days, one column a day. Read its labels against the three rules in the example row.</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day's line, then its column: the label under the column is the line's rule.</a:t>
            </a:r>
          </a:p>
          <a:p>
            <a:r>
              <a:rPr sz="1400"/>
              <a:t>- On day 4, D buying back is covering and C selling is liquidating: Chapter 1's words for closing a short and a long.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 Both words, both rules: the book says open interest divergence is read as for non-price-based volume oscillators.</a:t>
            </a:r>
          </a:p>
          <a:p>
            <a:r>
              <a:rPr sz="1400"/>
              <a:t>- The book's reason for the last case: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puts numbers on the four sketches of the last slide. The names are Part 1's: bullish or bearish, confirmation or divergence.</a:t>
            </a:r>
          </a:p>
          <a:p>
            <a:r>
              <a:rPr sz="1400"/>
              <a:t>- Ask the room to name the case before you read the answer: price up, open interest down, volume down.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Mark 1 is the rise from A to B; mark 2 the fall after it. The next slide reads the two panels under this one at B.</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1, the volume peak at B, taller than the one at A; then mark 2, the open interest peak at B, lower than the one at A.</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fx and proxy are spelled out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already counts the same trades both ways.</a:t>
            </a:r>
          </a:p>
          <a:p>
            <a:r>
              <a:rPr sz="1400"/>
              <a:t>- Relative levels is the book's phrase: higher or lower than before, as on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step on the slide is the cell with its number on the chart: read the columns, then the division under them.</a:t>
            </a:r>
          </a:p>
          <a:p>
            <a:r>
              <a:rPr sz="1400"/>
              <a:t>- Step 3 is only the same division rearranged. Check it on the board: 0.8 / 0.4 = 2.0.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short-term rule, then point at the box: the tick dips and the TRIN rises, the opposite of the rule's bullish case. Say so; do not reconcile it.</a:t>
            </a:r>
          </a:p>
          <a:p>
            <a:r>
              <a:rPr sz="1400"/>
              <a:t>- The converse, the longer-term rule and the book's gaps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states the book's rules; the next one sets them against its figure.</a:t>
            </a:r>
          </a:p>
          <a:p>
            <a:r>
              <a:rPr sz="1400"/>
              <a:t>- No check rests on these rules. The check after this part tests only tick volume and the TRIN's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numbered as on the slide before last. Point at mark 2, the TRIN the figure calls oversold, then read the text's rule: a bullish TRIN is overbought. Do not settle the gap; name it.</a:t>
            </a:r>
          </a:p>
          <a:p>
            <a:r>
              <a:rPr sz="1400"/>
              <a:t>- Then mark 1, the tick at its low. The text's longer-term oversold tick is above a two-sigma level, so the figure is not that rule either.</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short-term rule two slides back. Point at the boxed stretch, then at the shaded tick stretch labelled bearish after 1:45.</a:t>
            </a:r>
          </a:p>
          <a:p>
            <a:r>
              <a:rPr sz="1400"/>
              <a:t>- Uptick is the figure's word and is not defined by the book. Read it only as the label on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the chart beside the term is the same sum done over 100 days.</a:t>
            </a:r>
          </a:p>
          <a:p>
            <a:r>
              <a:rPr sz="1400"/>
              <a:t>- Do the sum on the board: which days closed between 48 and 50? Days 1, 2 and 4.</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Read the price axis on the right: $88 now, the bracket below it, $90 to $92 above.</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mark 4, the volume line rising under the falling price, then mark 5, the volume line falling under the rising price.</a:t>
            </a:r>
          </a:p>
          <a:p>
            <a:r>
              <a:rPr sz="1400"/>
              <a:t>- The figure's own labels name both: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book takes the nearest turn either side of the intersection. The next slide says what our two levels then did.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five numbers in order: two turns up at support, two turns down at resistance, then the break.</a:t>
            </a:r>
          </a:p>
          <a:p>
            <a:r>
              <a:rPr sz="1400"/>
              <a:t>- Do not add a rule for the break. The book gives none.</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at about $80, at the top of the zone, and support at about $72.50, below it. The overextended volume level on the volume panel is Part 2's.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Do the subtraction out loud: 52.00 minus 51.20 is 0.80. That is all bar range means.</a:t>
            </a:r>
          </a:p>
          <a:p>
            <a:r>
              <a:rPr sz="1400"/>
              <a:t>- The figure is the book's whole picture of them: a box for the range, a box for the volume. The next slides name each and put it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next slide works all four with numbers.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round the chart 1 to 4. For each, say the range against the grey bars, then the volume against the grey columns, then the name.</a:t>
            </a:r>
          </a:p>
          <a:p>
            <a:r>
              <a:rPr sz="1400"/>
              <a:t>- Ask the room for a fifth: PHP 0.90 on 2.1 million. Neither narrow nor wide, neither low nor high: an ordinary bar, no name.</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find the tall gold volume bar, then the tiny price bar above it. Right cell: the short gold volume bar, then the long price bar above it.</a:t>
            </a:r>
          </a:p>
          <a:p>
            <a:r>
              <a:rPr sz="1400"/>
              <a:t>- In both cells price falls after the named bar, because both are drawn in an uptrend, where both are bearish.</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tall gold volume column, then the tiny boxed bar above it: a lot of volume, almost no movement.</a:t>
            </a:r>
          </a:p>
          <a:p>
            <a:r>
              <a:rPr sz="1400"/>
              <a:t>- Participation is the book's word for volume: how many shares changed hands.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short gold volume column, then the long boxed bar above it: a big move that few shares paid for.</a:t>
            </a:r>
          </a:p>
          <a:p>
            <a:r>
              <a:rPr sz="1400"/>
              <a:t>- Both reversal bars warn of a turn; neither is a signal to trade on its own, the book gives no entry rule.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kind of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boxed bar in both cells; only the slope before it differs. Point at the slope first, then the bar.</a:t>
            </a:r>
          </a:p>
          <a:p>
            <a:r>
              <a:rPr sz="1400"/>
              <a:t>- The change from Chapter 5 is the one to say twice: a quiet bar was only a brake there. Here it can be a turn.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points are reversal bars after a fall, so the converse applies: bullish. Point 1 ends a decline, Point 2 a short dip near the highs; price turns up after each, as the book says.</a:t>
            </a:r>
          </a:p>
          <a:p>
            <a:r>
              <a:rPr sz="1400"/>
              <a:t>- The triangle on the left is Part 2's low volume breakout signal again: volume falling into the apex, then surging. The book calls it a descending triangle; its shape is the book's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bars under it are some of the tallest on the chart.</a:t>
            </a:r>
          </a:p>
          <a:p>
            <a:r>
              <a:rPr sz="1400"/>
              <a:t>- Converse is the book's word: in a downtrend the same bar is bullish.</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figure as the last slide, read for its one sentence of reason: trace the fall at 1 with a finger, then the circle at 2.</a:t>
            </a:r>
          </a:p>
          <a:p>
            <a:r>
              <a:rPr sz="1400"/>
              <a:t>- The reversal bar points down, the same way as the six-month fall. That agreement is all the book means by more reliable.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X: a wide bar up on heavy volume, but inside a decline. The book gives no reading of it; this one is ours.</a:t>
            </a:r>
          </a:p>
          <a:p>
            <a:r>
              <a:rPr sz="1400"/>
              <a:t>- The rally after X ran about two and a half weeks, then the decline resumed: the less reliable kind, as the rule would say.</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 Here it runs through the September peaks.</a:t>
            </a:r>
          </a:p>
          <a:p>
            <a:r>
              <a:rPr sz="1400"/>
              <a:t>- The book says only that the bar sat at the level; which way price went is read off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this part's two reversal bars, read off a chart where volume never changes. The next slide puts numbers on it.</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again, for its two labels: 1 is the narrow bar on the left, 2 the tall bar on the right. Every volume bar under them is the same height.</a:t>
            </a:r>
          </a:p>
          <a:p>
            <a:r>
              <a:rPr sz="1400"/>
              <a:t>- Divide shares by pesos of range, three times: 100,000 over 1.00, over 0.20, over 4.00.</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chart in the slide's order: the close above the line at 1, the ordinary column under it at 2, the tall gold columns at 3.</a:t>
            </a:r>
          </a:p>
          <a:p>
            <a:r>
              <a:rPr sz="1400"/>
              <a:t>- Do not turn this into a rule. The book describes the case and gives no test for when a light volume break will draw volume in.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is the book's use of the cycle, with the straddle worked in one market.</a:t>
            </a:r>
          </a:p>
          <a:p>
            <a:r>
              <a:rPr sz="1400"/>
              <a:t>- The 20-point distance is ours. The book gives no distance for the two orders, and does not say what is done with the one not filled.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grey box to the retest above it on the last slide: 1, 4 and 5. The failures, Y and X, had the oscillator mid-panel.</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This is the top half of the book's figure. Find the line first, then the circle: price holds above it.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prices, same line as the last slide. Point at the wide bars in early May: heavy days, so wide.</a:t>
            </a:r>
          </a:p>
          <a:p>
            <a:r>
              <a:rPr sz="1400"/>
              <a:t>- On top price held above the line in late May; here it cuts through. The next slide puts numbers on why.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steps on the chart: 15 on the daily chart at 1, 10 plus 10 on the equivolume chart at 2. The grey boxes are the five heavy days.</a:t>
            </a:r>
          </a:p>
          <a:p>
            <a:r>
              <a:rPr sz="1400"/>
              <a:t>- If heavy days fell between the two lows instead, the line's angle itself would change, which is the book's word: angle.</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list without a figure, so this slide has no picture. Say the names and the kind of each.</a:t>
            </a:r>
          </a:p>
          <a:p>
            <a:r>
              <a:rPr sz="1400"/>
              <a:t>- Part 1's rule: on plain volume, divergence is volume falling; on a price-based oscillator, it is the oscillator moving against price.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letters in order on the chart. A is Part 1's divergence; B and C are the two other readings Figures 6.43 and 6.44 use.</a:t>
            </a:r>
          </a:p>
          <a:p>
            <a:r>
              <a:rPr sz="1400"/>
              <a:t>- Do not teach the other five methods: the book sends them to Chapter 8.</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by day, pointing at the middle panel: the sign comes from the close, the size from the volume.</a:t>
            </a:r>
          </a:p>
          <a:p>
            <a:r>
              <a:rPr sz="1400"/>
              <a:t>- Only the direction of the close matters, not how far it moved. That is the weakness a few slides on.</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gold columns for 1, the grey ones for 2, and the last point of the line for 3. Ask the room what day 6 would read had it closed up.</a:t>
            </a:r>
          </a:p>
          <a:p>
            <a:r>
              <a:rPr sz="1400"/>
              <a:t>- Day 6 closing up would add 1.0 instead of taking it away: 3.5 + 1.0 = 4.5.</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Shift the start and the whole line moves up or down, but every rise and fall stays the same.</a:t>
            </a:r>
          </a:p>
          <a:p>
            <a:r>
              <a:rPr sz="1400"/>
              <a:t>- Absolute value and relative value are the book's words; level and changes are the plain ones.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second bar went far higher and still counts as a down day, because it closed a little lower.</a:t>
            </a:r>
          </a:p>
          <a:p>
            <a:r>
              <a:rPr sz="1400"/>
              <a:t>- Redress is the book's word: to put right.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lower low is a low below the last one; a higher low, above it. Point at the two lines: same weeks, opposite directions.</a:t>
            </a:r>
          </a:p>
          <a:p>
            <a:r>
              <a:rPr sz="1400"/>
              <a:t>- Part 1: divergence is an early indication of a potential reversal. Here the fall did reverse.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on price and an arrow down on the OBV. The first price arrow, March to April, holds level.</a:t>
            </a:r>
          </a:p>
          <a:p>
            <a:r>
              <a:rPr sz="1400"/>
              <a:t>- Plain volume falling as price rises would also be bearish divergence: this is the case the two kinds read alike.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The next slide works all three bars.</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bar 3 off the chart: the green measure is C - L, 1; the gold one H - C, 3. So (1 - 3) / 4 = -0.5.</a:t>
            </a:r>
          </a:p>
          <a:p>
            <a:r>
              <a:rPr sz="1400"/>
              <a:t>- Ask the room for a close at 51: (3 - 1) / 4 = 0.5, so add 1.0 million.</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Today closed near the top of its own range, which the ADL counts as buying. The OBV counts only the tiny fall from 50.00, the dashed line.</a:t>
            </a:r>
          </a:p>
          <a:p>
            <a:r>
              <a:rPr sz="1400"/>
              <a:t>- The two columns are the whole point: one bar, minus 2.0 by one rule, plus 1.0 by the other.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Taking part, its word, means trading on the signal.</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the figure calls it a lack of clarity and strength. Right ellipse: both rise, and price trends.</a:t>
            </a:r>
          </a:p>
          <a:p>
            <a:r>
              <a:rPr sz="1400"/>
              <a:t>- Range or consolidate, the book's words: Chapter 4's consolidation, price going sideways between a high and a low.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factor times the bar's volume. N is the number of bars, as in Part 3's lookback.</a:t>
            </a:r>
          </a:p>
          <a:p>
            <a:r>
              <a:rPr sz="1400"/>
              <a:t>- What the CMF's number means comes next, then the oscillator step by step.</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Our 0.17 sits just above the 0 column: a little more volume counted as added than taken away. Ask what the CMF would be had all three bars closed at their highs: 6.0 / 6.0 = 1.</a:t>
            </a:r>
          </a:p>
          <a:p>
            <a:r>
              <a:rPr sz="1400"/>
              <a:t>- Do not call a positive CMF bullish on the book's authority: the book does not say so.</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steps down the chart: the black total, the two averages that trail it, and their gap in the bottom panel.</a:t>
            </a:r>
          </a:p>
          <a:p>
            <a:r>
              <a:rPr sz="1400"/>
              <a:t>- The gold average follows the total closely, the green one slowly. When the total turns down, gold crosses below green and the oscillator goes negative.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gold line hugging the black and the green one lagging. Where gold is above green, the columns below are gold, 1; where below, grey, 2.</a:t>
            </a:r>
          </a:p>
          <a:p>
            <a:r>
              <a:rPr sz="1400"/>
              <a:t>- A rising total means the CMFs being added are positive, by the last slides'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near 4.5 in early August: the oscillator's comes first.</a:t>
            </a:r>
          </a:p>
          <a:p>
            <a:r>
              <a:rPr sz="1400"/>
              <a:t>- Readings B and C of the part's second slide: a line on the indicator, and an oversold level, used and not defined.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as the last slide, cut to its two indicator panels so the labels can be read.</a:t>
            </a:r>
          </a:p>
          <a:p>
            <a:r>
              <a:rPr sz="1400"/>
              <a:t>- The 3 and 10 are the two EMAs of the oscillator slides; the 20 is the CMF's N. The book's text never states them.</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 ratio and no example; the numbers are ours. Up and down volume were read the same way for the TRIN in Part 4.</a:t>
            </a:r>
          </a:p>
          <a:p>
            <a:r>
              <a:rPr sz="1400"/>
              <a:t>- Non-price-based: it holds no price of its own, so it is read like plain volume: falling is divergence, rising confirmation; with price, bullish.</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NYSE Composite Index is the price the indicator is read against. The arrow joins the two breaks.</a:t>
            </a:r>
          </a:p>
          <a:p>
            <a:r>
              <a:rPr sz="1400"/>
              <a:t>- Say the gap plainly: a ratio of two volumes cannot be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Price-based, so Part 1's rule: rising is bullish, falling bearish; against price, divergence. It may be read with any or all of the eight methods.</a:t>
            </a:r>
          </a:p>
          <a:p>
            <a:r>
              <a:rPr sz="1400"/>
              <a:t>- Money flowing out and in are the book's words for what a bearish and a bullish signal indicate.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Hedgers were named in Chapter 1 among the participants. Commercial and non-commercial are the report's own groups.</a:t>
            </a:r>
          </a:p>
          <a:p>
            <a:r>
              <a:rPr sz="1400"/>
              <a:t>- A test means open interest coming back to a level it reached before, the way price retests a barrier in Part 3.</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1 has no picture because the book never says what net is. Use 2 is on the chart: open interest back at the dashed line.</a:t>
            </a:r>
          </a:p>
          <a:p>
            <a:r>
              <a:rPr sz="1400"/>
              <a:t>- Commercials are hedgers, Chapter 1's participants; non-commercials are hedge funds, financial institutions and large traders.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them through. The next slide says where in the deck each is answered.</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each part's name as you read its line, so the room can find the slides again.</a:t>
            </a:r>
          </a:p>
          <a:p>
            <a:r>
              <a:rPr sz="1400"/>
              <a:t>- Question 3's answer is the slide on standard divergence against volume divergence, in Part 1.</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Question 5 is the four filters of Part 3; question 8 is the intraday volume cycle of Part 5.</a:t>
            </a:r>
          </a:p>
          <a:p>
            <a:r>
              <a:rPr sz="1400"/>
              <a:t>- Question 7 is Part 4's opening: relative volume compares, absolute volume measures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Do not teach any of these today. Each is named where it appears.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pick a side for the book. Say both readings and move on.</a:t>
            </a:r>
          </a:p>
          <a:p>
            <a:r>
              <a:rPr sz="1400"/>
              <a:t>- The label in box 1 is the book's own, on its own figure.</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words are opposites. The book uses both for the same reading and never reconciles them.</a:t>
            </a:r>
          </a:p>
          <a:p>
            <a:r>
              <a:rPr sz="1400"/>
              <a:t>- The caption's own slip on this figure is on a later slide.</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ratio of two volumes is never negative. Point at the two boxes 2: the low, and the scale beside it reading below 0.</a:t>
            </a:r>
          </a:p>
          <a:p>
            <a:r>
              <a:rPr sz="1400"/>
              <a:t>- Cumulative, box 1, suggests a running total. The book never says it is one.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boxed dips: price falls for a while, inside a rise of several years.</a:t>
            </a:r>
          </a:p>
          <a:p>
            <a:r>
              <a:rPr sz="1400"/>
              <a:t>- Our reading in Part 1 was a downtrend as price falling, for any stretch, and we said that reading was ours.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A VWAP is not a VWMA; the chapter names the VWAP only here, on the book's own figure.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Read the time axis aloud: 10:00, 11:00, 12:00. That is one day, not a daily chart.</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The label is unreadable in the book itself, not only on the slide; do not guess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labelling slips in the book, not ideas to learn.</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Price and volume fall together: bullish volume. In an uptrend bullish volume is the confirming kind, so D is wrong too.</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Price down, volume up: opposite ways, bearish volume. In a downtrend that is the confirming kind: volume expanding with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rising is bullish and moving against price is divergence: bullish divergence.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3157432" y="987552"/>
            <a:ext cx="5876829"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276304" y="1106424"/>
            <a:ext cx="5639085"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276304" y="1106424"/>
            <a:ext cx="563908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550624" y="1380744"/>
            <a:ext cx="5090445"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8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3445477" y="1958546"/>
            <a:ext cx="5300740" cy="0"/>
          </a:xfrm>
          <a:prstGeom prst="line">
            <a:avLst/>
          </a:prstGeom>
          <a:ln w="44450">
            <a:solidFill>
              <a:srgbClr val="E09B00"/>
            </a:solidFill>
          </a:ln>
        </p:spPr>
      </p:cxnSp>
      <p:sp>
        <p:nvSpPr>
          <p:cNvPr id="11" name="Oval 10"/>
          <p:cNvSpPr/>
          <p:nvPr/>
        </p:nvSpPr>
        <p:spPr>
          <a:xfrm>
            <a:off x="3290029" y="18030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Every peak and trough on the chart</a:t>
            </a:r>
          </a:p>
          <a:p>
            <a:pPr algn="l">
              <a:lnSpc>
                <a:spcPct val="112000"/>
              </a:lnSpc>
              <a:spcBef>
                <a:spcPts val="0"/>
              </a:spcBef>
              <a:spcAft>
                <a:spcPts val="600"/>
              </a:spcAft>
            </a:pPr>
            <a:r>
              <a:rPr sz="1400" b="0" i="0">
                <a:solidFill>
                  <a:srgbClr val="FFFFFF"/>
                </a:solidFill>
                <a:latin typeface="Arial"/>
              </a:rPr>
              <a:t>B.  Only those associated with above average volume</a:t>
            </a:r>
          </a:p>
          <a:p>
            <a:pPr algn="l">
              <a:lnSpc>
                <a:spcPct val="112000"/>
              </a:lnSpc>
              <a:spcBef>
                <a:spcPts val="0"/>
              </a:spcBef>
              <a:spcAft>
                <a:spcPts val="600"/>
              </a:spcAft>
            </a:pPr>
            <a:r>
              <a:rPr sz="1400" b="0" i="0">
                <a:solidFill>
                  <a:srgbClr val="FFFFFF"/>
                </a:solidFill>
                <a:latin typeface="Arial"/>
              </a:rPr>
              <a:t>C.  Only those formed on minimal volume</a:t>
            </a:r>
          </a:p>
          <a:p>
            <a:pPr algn="l">
              <a:lnSpc>
                <a:spcPct val="112000"/>
              </a:lnSpc>
              <a:spcBef>
                <a:spcPts val="0"/>
              </a:spcBef>
              <a:spcAft>
                <a:spcPts val="600"/>
              </a:spcAft>
            </a:pPr>
            <a:r>
              <a:rPr sz="1400" b="0" i="0">
                <a:solidFill>
                  <a:srgbClr val="FFFFFF"/>
                </a:solidFill>
                <a:latin typeface="Arial"/>
              </a:rPr>
              <a:t>D.  Only those within a consolidation</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By visual inspection, so only the most significant peaks reach it</a:t>
            </a:r>
          </a:p>
          <a:p>
            <a:pPr algn="l">
              <a:lnSpc>
                <a:spcPct val="112000"/>
              </a:lnSpc>
              <a:spcBef>
                <a:spcPts val="0"/>
              </a:spcBef>
              <a:spcAft>
                <a:spcPts val="600"/>
              </a:spcAft>
            </a:pPr>
            <a:r>
              <a:rPr sz="1400" b="0" i="0">
                <a:solidFill>
                  <a:srgbClr val="FFFFFF"/>
                </a:solidFill>
                <a:latin typeface="Arial"/>
              </a:rPr>
              <a:t>B.  As a 100-day moving average</a:t>
            </a:r>
          </a:p>
          <a:p>
            <a:pPr algn="l">
              <a:lnSpc>
                <a:spcPct val="112000"/>
              </a:lnSpc>
              <a:spcBef>
                <a:spcPts val="0"/>
              </a:spcBef>
              <a:spcAft>
                <a:spcPts val="600"/>
              </a:spcAft>
            </a:pPr>
            <a:r>
              <a:rPr sz="1400" b="0" i="0">
                <a:solidFill>
                  <a:srgbClr val="FFFFFF"/>
                </a:solidFill>
                <a:latin typeface="Arial"/>
              </a:rPr>
              <a:t>C.  At three standard deviations</a:t>
            </a:r>
          </a:p>
          <a:p>
            <a:pPr algn="l">
              <a:lnSpc>
                <a:spcPct val="112000"/>
              </a:lnSpc>
              <a:spcBef>
                <a:spcPts val="0"/>
              </a:spcBef>
              <a:spcAft>
                <a:spcPts val="600"/>
              </a:spcAft>
            </a:pPr>
            <a:r>
              <a:rPr sz="1400" b="0" i="0">
                <a:solidFill>
                  <a:srgbClr val="FFFFFF"/>
                </a:solidFill>
                <a:latin typeface="Arial"/>
              </a:rPr>
              <a:t>D.  At the lowest historical volume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1714636" y="987552"/>
            <a:ext cx="8762422" cy="202437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1833508" y="1106424"/>
            <a:ext cx="8524678" cy="1786635"/>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833508" y="1106424"/>
            <a:ext cx="8524678"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107828" y="1380744"/>
            <a:ext cx="7976038" cy="13294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drawn across its volume panel by eye; the tick volume peaks that reach it are ringed under points 1, 2 and 3.</a:t>
            </a:r>
          </a:p>
        </p:txBody>
      </p:sp>
      <p:cxnSp>
        <p:nvCxnSpPr>
          <p:cNvPr id="10" name="Connector 9"/>
          <p:cNvCxnSpPr/>
          <p:nvPr/>
        </p:nvCxnSpPr>
        <p:spPr>
          <a:xfrm>
            <a:off x="2089248" y="2394588"/>
            <a:ext cx="8013198" cy="0"/>
          </a:xfrm>
          <a:prstGeom prst="line">
            <a:avLst/>
          </a:prstGeom>
          <a:ln w="44450">
            <a:solidFill>
              <a:srgbClr val="E09B00"/>
            </a:solidFill>
          </a:ln>
        </p:spPr>
      </p:cxnSp>
      <p:sp>
        <p:nvSpPr>
          <p:cNvPr id="11" name="Oval 10"/>
          <p:cNvSpPr/>
          <p:nvPr/>
        </p:nvSpPr>
        <p:spPr>
          <a:xfrm>
            <a:off x="1933800" y="223914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03371"/>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3" name="Rectangle 12"/>
          <p:cNvSpPr/>
          <p:nvPr/>
        </p:nvSpPr>
        <p:spPr>
          <a:xfrm>
            <a:off x="777240"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377691"/>
            <a:ext cx="91440" cy="261162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56057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16" name="TextBox 15"/>
          <p:cNvSpPr txBox="1"/>
          <p:nvPr/>
        </p:nvSpPr>
        <p:spPr>
          <a:xfrm>
            <a:off x="1097280" y="4426204"/>
            <a:ext cx="4541367" cy="154482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500"/>
              </a:spcBef>
              <a:spcAft>
                <a:spcPts val="0"/>
              </a:spcAft>
            </a:pPr>
            <a:r>
              <a:rPr sz="1600" b="0" i="0">
                <a:solidFill>
                  <a:srgbClr val="1A1A1A"/>
                </a:solidFill>
                <a:latin typeface="Arial"/>
              </a:rPr>
              <a:t>Only significant inflection points are used: those associated with above average volume.</a:t>
            </a:r>
          </a:p>
        </p:txBody>
      </p:sp>
      <p:sp>
        <p:nvSpPr>
          <p:cNvPr id="17" name="Rectangle 16"/>
          <p:cNvSpPr/>
          <p:nvPr/>
        </p:nvSpPr>
        <p:spPr>
          <a:xfrm>
            <a:off x="6324447" y="3377691"/>
            <a:ext cx="5090007" cy="261162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377691"/>
            <a:ext cx="91440" cy="261162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56057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20" name="TextBox 19"/>
          <p:cNvSpPr txBox="1"/>
          <p:nvPr/>
        </p:nvSpPr>
        <p:spPr>
          <a:xfrm>
            <a:off x="6644487" y="4192523"/>
            <a:ext cx="4541367" cy="17785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500"/>
              </a:spcBef>
              <a:spcAft>
                <a:spcPts val="0"/>
              </a:spcAft>
            </a:pPr>
            <a:r>
              <a:rPr sz="1600" b="0" i="0">
                <a:solidFill>
                  <a:srgbClr val="1A1A1A"/>
                </a:solidFill>
                <a:latin typeface="Arial"/>
              </a:rPr>
              <a:t>The book draws a simple tick volume overextension level </a:t>
            </a:r>
            <a:r>
              <a:rPr sz="1600" b="1" i="0">
                <a:solidFill>
                  <a:srgbClr val="E09B00"/>
                </a:solidFill>
                <a:latin typeface="Arial"/>
              </a:rPr>
              <a:t>(1)</a:t>
            </a:r>
            <a:r>
              <a:rPr sz="1600" b="0" i="0">
                <a:solidFill>
                  <a:srgbClr val="1A1A1A"/>
                </a:solidFill>
                <a:latin typeface="Arial"/>
              </a:rPr>
              <a:t> by visual inspection.</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26</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the usual bar, grey: about PHP 1.00 high to low, on 2 million shares; ours, as the book gives no number.</a:t>
            </a:r>
          </a:p>
          <a:p>
            <a:pPr algn="l">
              <a:lnSpc>
                <a:spcPct val="105000"/>
              </a:lnSpc>
              <a:spcBef>
                <a:spcPts val="0"/>
              </a:spcBef>
              <a:spcAft>
                <a:spcPts val="1100"/>
              </a:spcAft>
            </a:pPr>
            <a:r>
              <a:rPr sz="1800" b="0" i="0">
                <a:solidFill>
                  <a:srgbClr val="1A1A1A"/>
                </a:solidFill>
                <a:latin typeface="Arial"/>
              </a:rPr>
              <a:t>Step 2, compare. </a:t>
            </a:r>
            <a:r>
              <a:rPr sz="1800" b="1" i="0">
                <a:solidFill>
                  <a:srgbClr val="E09B00"/>
                </a:solidFill>
                <a:latin typeface="Arial"/>
              </a:rPr>
              <a:t>(1)</a:t>
            </a:r>
            <a:r>
              <a:rPr sz="1800" b="0" i="0">
                <a:solidFill>
                  <a:srgbClr val="1A1A1A"/>
                </a:solidFill>
                <a:latin typeface="Arial"/>
              </a:rPr>
              <a:t> PHP 0.20 on 1 million: narrow, low: Low Volume Rest Bar. </a:t>
            </a:r>
            <a:r>
              <a:rPr sz="1800" b="1" i="0">
                <a:solidFill>
                  <a:srgbClr val="C62828"/>
                </a:solidFill>
                <a:latin typeface="Arial"/>
              </a:rPr>
              <a:t>(2)</a:t>
            </a:r>
            <a:r>
              <a:rPr sz="1800" b="0" i="0">
                <a:solidFill>
                  <a:srgbClr val="1A1A1A"/>
                </a:solidFill>
                <a:latin typeface="Arial"/>
              </a:rPr>
              <a:t> PHP 0.20 on 5 million: narrow, high: High Volume Reversal Bar.</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PHP 2.50 on 1 million: wide, low: Low Volume Reversal Bar. </a:t>
            </a:r>
            <a:r>
              <a:rPr sz="1800" b="1" i="0">
                <a:solidFill>
                  <a:srgbClr val="007A33"/>
                </a:solidFill>
                <a:latin typeface="Arial"/>
              </a:rPr>
              <a:t>(4)</a:t>
            </a:r>
            <a:r>
              <a:rPr sz="1800" b="0" i="0">
                <a:solidFill>
                  <a:srgbClr val="1A1A1A"/>
                </a:solidFill>
                <a:latin typeface="Arial"/>
              </a:rPr>
              <a:t> PHP 2.50 on 5 million: wide, high: High Volume Continuation Bar.</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Judge each bar against the bars around it.</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a.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725698" y="2350739"/>
            <a:ext cx="257696" cy="1088501"/>
          </a:xfrm>
          <a:prstGeom prst="rect">
            <a:avLst/>
          </a:prstGeom>
          <a:noFill/>
          <a:ln w="44450">
            <a:solidFill>
              <a:srgbClr val="E09B00"/>
            </a:solidFill>
          </a:ln>
        </p:spPr>
        <p:txBody>
          <a:bodyPr rtlCol="0" anchor="ctr"/>
          <a:lstStyle/>
          <a:p>
            <a:pPr algn="ctr"/>
          </a:p>
        </p:txBody>
      </p:sp>
      <p:sp>
        <p:nvSpPr>
          <p:cNvPr id="13" name="Rectangle 12"/>
          <p:cNvSpPr/>
          <p:nvPr/>
        </p:nvSpPr>
        <p:spPr>
          <a:xfrm>
            <a:off x="10804166" y="2350739"/>
            <a:ext cx="253471" cy="1088501"/>
          </a:xfrm>
          <a:prstGeom prst="rect">
            <a:avLst/>
          </a:prstGeom>
          <a:noFill/>
          <a:ln w="44450">
            <a:solidFill>
              <a:srgbClr val="C62828"/>
            </a:solidFill>
          </a:ln>
        </p:spPr>
        <p:txBody>
          <a:bodyPr rtlCol="0" anchor="ctr"/>
          <a:lstStyle/>
          <a:p>
            <a:pPr algn="ctr"/>
          </a:p>
        </p:txBody>
      </p:sp>
      <p:sp>
        <p:nvSpPr>
          <p:cNvPr id="14" name="Rectangle 13"/>
          <p:cNvSpPr/>
          <p:nvPr/>
        </p:nvSpPr>
        <p:spPr>
          <a:xfrm>
            <a:off x="8725698" y="3930822"/>
            <a:ext cx="257696" cy="1018275"/>
          </a:xfrm>
          <a:prstGeom prst="rect">
            <a:avLst/>
          </a:prstGeom>
          <a:noFill/>
          <a:ln w="44450">
            <a:solidFill>
              <a:srgbClr val="1F5FAD"/>
            </a:solidFill>
          </a:ln>
        </p:spPr>
        <p:txBody>
          <a:bodyPr rtlCol="0" anchor="ctr"/>
          <a:lstStyle/>
          <a:p>
            <a:pPr algn="ctr"/>
          </a:p>
        </p:txBody>
      </p:sp>
      <p:sp>
        <p:nvSpPr>
          <p:cNvPr id="15" name="Rectangle 14"/>
          <p:cNvSpPr/>
          <p:nvPr/>
        </p:nvSpPr>
        <p:spPr>
          <a:xfrm>
            <a:off x="10804166" y="3930822"/>
            <a:ext cx="253471" cy="1018275"/>
          </a:xfrm>
          <a:prstGeom prst="rect">
            <a:avLst/>
          </a:prstGeom>
          <a:noFill/>
          <a:ln w="44450">
            <a:solidFill>
              <a:srgbClr val="007A33"/>
            </a:solidFill>
          </a:ln>
        </p:spPr>
        <p:txBody>
          <a:bodyPr rtlCol="0" anchor="ctr"/>
          <a:lstStyle/>
          <a:p>
            <a:pPr algn="ctr"/>
          </a:p>
        </p:txBody>
      </p:sp>
      <p:sp>
        <p:nvSpPr>
          <p:cNvPr id="16" name="Oval 15"/>
          <p:cNvSpPr/>
          <p:nvPr/>
        </p:nvSpPr>
        <p:spPr>
          <a:xfrm>
            <a:off x="8392820" y="265176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3961" y="26517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392820"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10483961" y="430206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JA - FIN1209 teaching chart, drawn for this course. Illustrative data, not a real instrument.</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the comparison with the usual bar, which the book does not put a number on, and the chart: sketches, not prices.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519671" y="1929384"/>
            <a:ext cx="4775910" cy="3383671"/>
          </a:xfrm>
          <a:prstGeom prst="rect">
            <a:avLst/>
          </a:prstGeom>
        </p:spPr>
      </p:pic>
      <p:sp>
        <p:nvSpPr>
          <p:cNvPr id="12" name="Rectangle 11"/>
          <p:cNvSpPr/>
          <p:nvPr/>
        </p:nvSpPr>
        <p:spPr>
          <a:xfrm>
            <a:off x="7880806" y="2369261"/>
            <a:ext cx="186260" cy="2706937"/>
          </a:xfrm>
          <a:prstGeom prst="rect">
            <a:avLst/>
          </a:prstGeom>
          <a:noFill/>
          <a:ln w="44450">
            <a:solidFill>
              <a:srgbClr val="E09B00"/>
            </a:solidFill>
          </a:ln>
        </p:spPr>
        <p:txBody>
          <a:bodyPr rtlCol="0" anchor="ctr"/>
          <a:lstStyle/>
          <a:p>
            <a:pPr algn="ctr"/>
          </a:p>
        </p:txBody>
      </p:sp>
      <p:sp>
        <p:nvSpPr>
          <p:cNvPr id="13" name="Rectangle 12"/>
          <p:cNvSpPr/>
          <p:nvPr/>
        </p:nvSpPr>
        <p:spPr>
          <a:xfrm>
            <a:off x="10235330" y="2369261"/>
            <a:ext cx="186260" cy="2706937"/>
          </a:xfrm>
          <a:prstGeom prst="rect">
            <a:avLst/>
          </a:prstGeom>
          <a:noFill/>
          <a:ln w="44450">
            <a:solidFill>
              <a:srgbClr val="C62828"/>
            </a:solidFill>
          </a:ln>
        </p:spPr>
        <p:txBody>
          <a:bodyPr rtlCol="0" anchor="ctr"/>
          <a:lstStyle/>
          <a:p>
            <a:pPr algn="ctr"/>
          </a:p>
        </p:txBody>
      </p:sp>
      <p:sp>
        <p:nvSpPr>
          <p:cNvPr id="14" name="Oval 13"/>
          <p:cNvSpPr/>
          <p:nvPr/>
        </p:nvSpPr>
        <p:spPr>
          <a:xfrm>
            <a:off x="8131311" y="363495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19266" y="35334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the usual bar moves PHP 1.00 on 2 million shares. Today 5 million trade, 2.5 times usual, and price moves only PHP 0.20.</a:t>
            </a:r>
          </a:p>
          <a:p>
            <a:pPr algn="l">
              <a:lnSpc>
                <a:spcPct val="105000"/>
              </a:lnSpc>
              <a:spcBef>
                <a:spcPts val="0"/>
              </a:spcBef>
              <a:spcAft>
                <a:spcPts val="1100"/>
              </a:spcAft>
            </a:pPr>
            <a:r>
              <a:rPr sz="2000" b="0" i="0">
                <a:solidFill>
                  <a:srgbClr val="1A1A1A"/>
                </a:solidFill>
                <a:latin typeface="Arial"/>
              </a:rPr>
              <a:t>The book: were that volume buying, the range would be much wider. So sellers are attempting to take control. In a downtrend, the converse.</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warning of a potential turn, not a certainty: the book gives no entry rule.</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b.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650376" y="2420965"/>
            <a:ext cx="246961"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JB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and the converse is its word for the downtrend case. Ours: every number, and the chart: a sketch, not prices.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 volume reversal bar warns,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Ours: price jumps PHP 3.00 on 0.7 million shares, a third of the usual 2 million.</a:t>
            </a:r>
          </a:p>
          <a:p>
            <a:pPr algn="l">
              <a:lnSpc>
                <a:spcPct val="105000"/>
              </a:lnSpc>
              <a:spcBef>
                <a:spcPts val="0"/>
              </a:spcBef>
              <a:spcAft>
                <a:spcPts val="1100"/>
              </a:spcAft>
            </a:pPr>
            <a:r>
              <a:rPr sz="2000" b="0" i="0">
                <a:solidFill>
                  <a:srgbClr val="1A1A1A"/>
                </a:solidFill>
                <a:latin typeface="Arial"/>
              </a:rPr>
              <a:t>The book: a large move on little participation, its word for volume: a lack of interest. Bearish in an uptrend, bullish in a downtrend.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92531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Too little volume for the move: a potential reversal.</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n.png"/>
          <p:cNvPicPr>
            <a:picLocks noChangeAspect="1"/>
          </p:cNvPicPr>
          <p:nvPr/>
        </p:nvPicPr>
        <p:blipFill>
          <a:blip r:embed="rId2"/>
          <a:stretch>
            <a:fillRect/>
          </a:stretch>
        </p:blipFill>
        <p:spPr>
          <a:xfrm>
            <a:off x="7435443" y="1929384"/>
            <a:ext cx="3858768" cy="3511296"/>
          </a:xfrm>
          <a:prstGeom prst="rect">
            <a:avLst/>
          </a:prstGeom>
        </p:spPr>
      </p:pic>
      <p:sp>
        <p:nvSpPr>
          <p:cNvPr id="12" name="Rectangle 11"/>
          <p:cNvSpPr/>
          <p:nvPr/>
        </p:nvSpPr>
        <p:spPr>
          <a:xfrm>
            <a:off x="9650376" y="2420965"/>
            <a:ext cx="246961" cy="2580802"/>
          </a:xfrm>
          <a:prstGeom prst="rect">
            <a:avLst/>
          </a:prstGeom>
          <a:noFill/>
          <a:ln w="44450">
            <a:solidFill>
              <a:srgbClr val="E09B00"/>
            </a:solidFill>
          </a:ln>
        </p:spPr>
        <p:txBody>
          <a:bodyPr rtlCol="0" anchor="ctr"/>
          <a:lstStyle/>
          <a:p>
            <a:pPr algn="ctr"/>
          </a:p>
        </p:txBody>
      </p:sp>
      <p:sp>
        <p:nvSpPr>
          <p:cNvPr id="13" name="Oval 12"/>
          <p:cNvSpPr/>
          <p:nvPr/>
        </p:nvSpPr>
        <p:spPr>
          <a:xfrm>
            <a:off x="9942545" y="352958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TextBox 13"/>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JN - FIN1209 teaching chart, drawn for this course. Illustrative data, not a real instrument.</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reason is the book's. Ours: every number, and the chart: a sketch, not prices.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a:t>
            </a:r>
            <a:r>
              <a:rPr sz="1700" b="1" i="0">
                <a:solidFill>
                  <a:srgbClr val="E09B00"/>
                </a:solidFill>
                <a:latin typeface="Arial"/>
              </a:rPr>
              <a:t>(1)</a:t>
            </a:r>
            <a:r>
              <a:rPr sz="1700" b="0" i="0">
                <a:solidFill>
                  <a:srgbClr val="1A1A1A"/>
                </a:solidFill>
                <a:latin typeface="Arial"/>
              </a:rPr>
              <a:t>, a potential reversal; in a weak to average one </a:t>
            </a:r>
            <a:r>
              <a:rPr sz="1700" b="1" i="0">
                <a:solidFill>
                  <a:srgbClr val="C62828"/>
                </a:solidFill>
                <a:latin typeface="Arial"/>
              </a:rPr>
              <a:t>(2)</a:t>
            </a:r>
            <a:r>
              <a:rPr sz="1700" b="0" i="0">
                <a:solidFill>
                  <a:srgbClr val="1A1A1A"/>
                </a:solidFill>
                <a:latin typeface="Arial"/>
              </a:rPr>
              <a:t>, a point of rest.</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High Volume Continuation Bar, wide on high volume: backed by very large participation. Bullish in an uptrend, bearish in a downtrend.</a:t>
            </a:r>
          </a:p>
        </p:txBody>
      </p:sp>
      <p:sp>
        <p:nvSpPr>
          <p:cNvPr id="8" name="Rectangle 7"/>
          <p:cNvSpPr/>
          <p:nvPr/>
        </p:nvSpPr>
        <p:spPr>
          <a:xfrm>
            <a:off x="777240" y="4400550"/>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Rectangle 11"/>
          <p:cNvSpPr/>
          <p:nvPr/>
        </p:nvSpPr>
        <p:spPr>
          <a:xfrm>
            <a:off x="7220340" y="2561417"/>
            <a:ext cx="163549" cy="2633472"/>
          </a:xfrm>
          <a:prstGeom prst="rect">
            <a:avLst/>
          </a:prstGeom>
          <a:noFill/>
          <a:ln w="44450">
            <a:solidFill>
              <a:srgbClr val="E09B00"/>
            </a:solidFill>
          </a:ln>
        </p:spPr>
        <p:txBody>
          <a:bodyPr rtlCol="0" anchor="ctr"/>
          <a:lstStyle/>
          <a:p>
            <a:pPr algn="ctr"/>
          </a:p>
        </p:txBody>
      </p:sp>
      <p:sp>
        <p:nvSpPr>
          <p:cNvPr id="13" name="Rectangle 12"/>
          <p:cNvSpPr/>
          <p:nvPr/>
        </p:nvSpPr>
        <p:spPr>
          <a:xfrm>
            <a:off x="8796363" y="2877433"/>
            <a:ext cx="153637" cy="2317455"/>
          </a:xfrm>
          <a:prstGeom prst="rect">
            <a:avLst/>
          </a:prstGeom>
          <a:noFill/>
          <a:ln w="44450">
            <a:solidFill>
              <a:srgbClr val="C62828"/>
            </a:solidFill>
          </a:ln>
        </p:spPr>
        <p:txBody>
          <a:bodyPr rtlCol="0" anchor="ctr"/>
          <a:lstStyle/>
          <a:p>
            <a:pPr algn="ctr"/>
          </a:p>
        </p:txBody>
      </p:sp>
      <p:sp>
        <p:nvSpPr>
          <p:cNvPr id="14" name="Rectangle 13"/>
          <p:cNvSpPr/>
          <p:nvPr/>
        </p:nvSpPr>
        <p:spPr>
          <a:xfrm>
            <a:off x="10481419" y="2947659"/>
            <a:ext cx="158593" cy="2247229"/>
          </a:xfrm>
          <a:prstGeom prst="rect">
            <a:avLst/>
          </a:prstGeom>
          <a:noFill/>
          <a:ln w="44450">
            <a:solidFill>
              <a:srgbClr val="1F5FAD"/>
            </a:solidFill>
          </a:ln>
        </p:spPr>
        <p:txBody>
          <a:bodyPr rtlCol="0" anchor="ctr"/>
          <a:lstStyle/>
          <a:p>
            <a:pPr algn="ctr"/>
          </a:p>
        </p:txBody>
      </p:sp>
      <p:sp>
        <p:nvSpPr>
          <p:cNvPr id="15" name="Oval 14"/>
          <p:cNvSpPr/>
          <p:nvPr/>
        </p:nvSpPr>
        <p:spPr>
          <a:xfrm>
            <a:off x="7421727" y="35998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12937"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73213" y="265176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Ours: a rise of PHP 1.60 a bar stalls on a PHP 0.30 bar with a quarter of the usual volume. That fast, then that quiet: a potential reversal.</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The same quiet bar in a rise of PHP 0.45 a bar: a point of rest, a pause before the rise goes on. The book gives no speed for strong and rapid.</a:t>
            </a:r>
          </a:p>
          <a:p>
            <a:pPr algn="l">
              <a:lnSpc>
                <a:spcPct val="105000"/>
              </a:lnSpc>
              <a:spcBef>
                <a:spcPts val="0"/>
              </a:spcBef>
              <a:spcAft>
                <a:spcPts val="1100"/>
              </a:spcAft>
            </a:pPr>
            <a:r>
              <a:rPr sz="18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555955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the rest bar with the trend's speed.</a:t>
            </a:r>
          </a:p>
        </p:txBody>
      </p:sp>
      <p:sp>
        <p:nvSpPr>
          <p:cNvPr id="10" name="Rectangle 9"/>
          <p:cNvSpPr/>
          <p:nvPr/>
        </p:nvSpPr>
        <p:spPr>
          <a:xfrm>
            <a:off x="6950811" y="1810512"/>
            <a:ext cx="44622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c.png"/>
          <p:cNvPicPr>
            <a:picLocks noChangeAspect="1"/>
          </p:cNvPicPr>
          <p:nvPr/>
        </p:nvPicPr>
        <p:blipFill>
          <a:blip r:embed="rId2"/>
          <a:stretch>
            <a:fillRect/>
          </a:stretch>
        </p:blipFill>
        <p:spPr>
          <a:xfrm>
            <a:off x="7069683" y="1929384"/>
            <a:ext cx="4224528" cy="3511296"/>
          </a:xfrm>
          <a:prstGeom prst="rect">
            <a:avLst/>
          </a:prstGeom>
        </p:spPr>
      </p:pic>
      <p:sp>
        <p:nvSpPr>
          <p:cNvPr id="12" name="Rectangle 11"/>
          <p:cNvSpPr/>
          <p:nvPr/>
        </p:nvSpPr>
        <p:spPr>
          <a:xfrm>
            <a:off x="8210306" y="2561417"/>
            <a:ext cx="173205" cy="2563246"/>
          </a:xfrm>
          <a:prstGeom prst="rect">
            <a:avLst/>
          </a:prstGeom>
          <a:noFill/>
          <a:ln w="44450">
            <a:solidFill>
              <a:srgbClr val="E09B00"/>
            </a:solidFill>
          </a:ln>
        </p:spPr>
        <p:txBody>
          <a:bodyPr rtlCol="0" anchor="ctr"/>
          <a:lstStyle/>
          <a:p>
            <a:pPr algn="ctr"/>
          </a:p>
        </p:txBody>
      </p:sp>
      <p:sp>
        <p:nvSpPr>
          <p:cNvPr id="13" name="Rectangle 12"/>
          <p:cNvSpPr/>
          <p:nvPr/>
        </p:nvSpPr>
        <p:spPr>
          <a:xfrm>
            <a:off x="10208507" y="2947659"/>
            <a:ext cx="164756" cy="2177003"/>
          </a:xfrm>
          <a:prstGeom prst="rect">
            <a:avLst/>
          </a:prstGeom>
          <a:noFill/>
          <a:ln w="44450">
            <a:solidFill>
              <a:srgbClr val="C62828"/>
            </a:solidFill>
          </a:ln>
        </p:spPr>
        <p:txBody>
          <a:bodyPr rtlCol="0" anchor="ctr"/>
          <a:lstStyle/>
          <a:p>
            <a:pPr algn="ctr"/>
          </a:p>
        </p:txBody>
      </p:sp>
      <p:sp>
        <p:nvSpPr>
          <p:cNvPr id="14" name="Oval 13"/>
          <p:cNvSpPr/>
          <p:nvPr/>
        </p:nvSpPr>
        <p:spPr>
          <a:xfrm>
            <a:off x="8392820" y="34242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871405" y="258153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949440" y="5650991"/>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the chart, and a pause as the plain reading of point of rest. The book gives no reason speed matters.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a:t>
            </a:r>
            <a:r>
              <a:rPr sz="1700" b="1" i="0">
                <a:solidFill>
                  <a:srgbClr val="E09B00"/>
                </a:solidFill>
                <a:latin typeface="Arial"/>
              </a:rPr>
              <a:t>(1)</a:t>
            </a:r>
            <a:r>
              <a:rPr sz="1700" b="0" i="0">
                <a:solidFill>
                  <a:srgbClr val="1A1A1A"/>
                </a:solidFill>
                <a:latin typeface="Arial"/>
              </a:rPr>
              <a:t> and </a:t>
            </a:r>
            <a:r>
              <a:rPr sz="1700" b="1" i="0">
                <a:solidFill>
                  <a:srgbClr val="C62828"/>
                </a:solidFill>
                <a:latin typeface="Arial"/>
              </a:rPr>
              <a:t>(2)</a:t>
            </a:r>
            <a:r>
              <a:rPr sz="1700" b="0" i="0">
                <a:solidFill>
                  <a:srgbClr val="1A1A1A"/>
                </a:solidFill>
                <a:latin typeface="Arial"/>
              </a:rPr>
              <a:t>: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04008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02337"/>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4513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6.31</a:t>
            </a:r>
          </a:p>
          <a:p>
            <a:pPr algn="l">
              <a:lnSpc>
                <a:spcPct val="115000"/>
              </a:lnSpc>
              <a:spcBef>
                <a:spcPts val="0"/>
              </a:spcBef>
              <a:spcAft>
                <a:spcPts val="0"/>
              </a:spcAft>
            </a:pPr>
            <a:r>
              <a:rPr sz="1500" b="0" i="0">
                <a:solidFill>
                  <a:srgbClr val="1A1A1A"/>
                </a:solidFill>
                <a:latin typeface="Palatino"/>
              </a:rPr>
              <a:t>The daily dollar fund: narrow range candlesticks on high volume circled at 1, at a low, and 2, at a dip near the highs, lined to tall volume bars; a triangle at the left.</a:t>
            </a:r>
          </a:p>
        </p:txBody>
      </p:sp>
      <p:sp>
        <p:nvSpPr>
          <p:cNvPr id="14" name="Oval 13"/>
          <p:cNvSpPr/>
          <p:nvPr/>
        </p:nvSpPr>
        <p:spPr>
          <a:xfrm>
            <a:off x="9044997" y="3302529"/>
            <a:ext cx="505233" cy="476397"/>
          </a:xfrm>
          <a:prstGeom prst="ellipse">
            <a:avLst/>
          </a:prstGeom>
          <a:noFill/>
          <a:ln w="44450">
            <a:solidFill>
              <a:srgbClr val="E09B00"/>
            </a:solidFill>
          </a:ln>
        </p:spPr>
        <p:txBody>
          <a:bodyPr rtlCol="0" anchor="ctr"/>
          <a:lstStyle/>
          <a:p>
            <a:pPr algn="ctr"/>
          </a:p>
        </p:txBody>
      </p:sp>
      <p:sp>
        <p:nvSpPr>
          <p:cNvPr id="15" name="Oval 14"/>
          <p:cNvSpPr/>
          <p:nvPr/>
        </p:nvSpPr>
        <p:spPr>
          <a:xfrm>
            <a:off x="10629593" y="2377757"/>
            <a:ext cx="390407" cy="364303"/>
          </a:xfrm>
          <a:prstGeom prst="ellipse">
            <a:avLst/>
          </a:prstGeom>
          <a:noFill/>
          <a:ln w="44450">
            <a:solidFill>
              <a:srgbClr val="C62828"/>
            </a:solidFill>
          </a:ln>
        </p:spPr>
        <p:txBody>
          <a:bodyPr rtlCol="0" anchor="ctr"/>
          <a:lstStyle/>
          <a:p>
            <a:pPr algn="ctr"/>
          </a:p>
        </p:txBody>
      </p:sp>
      <p:sp>
        <p:nvSpPr>
          <p:cNvPr id="16" name="Rectangle 15"/>
          <p:cNvSpPr/>
          <p:nvPr/>
        </p:nvSpPr>
        <p:spPr>
          <a:xfrm>
            <a:off x="7299646" y="3274505"/>
            <a:ext cx="826745" cy="1317098"/>
          </a:xfrm>
          <a:prstGeom prst="rect">
            <a:avLst/>
          </a:prstGeom>
          <a:noFill/>
          <a:ln w="44450">
            <a:solidFill>
              <a:srgbClr val="1F5FAD"/>
            </a:solidFill>
          </a:ln>
        </p:spPr>
        <p:txBody>
          <a:bodyPr rtlCol="0" anchor="ctr"/>
          <a:lstStyle/>
          <a:p>
            <a:pPr algn="ctr"/>
          </a:p>
        </p:txBody>
      </p:sp>
      <p:sp>
        <p:nvSpPr>
          <p:cNvPr id="17" name="Oval 16"/>
          <p:cNvSpPr/>
          <p:nvPr/>
        </p:nvSpPr>
        <p:spPr>
          <a:xfrm>
            <a:off x="8843619" y="30349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359319" y="21382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60476" y="309103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42033"/>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 </a:t>
            </a:r>
            <a:r>
              <a:rPr sz="1900" b="1" i="0">
                <a:solidFill>
                  <a:srgbClr val="E09B00"/>
                </a:solidFill>
                <a:latin typeface="Arial"/>
              </a:rPr>
              <a:t>(1)</a:t>
            </a:r>
            <a:r>
              <a:rPr sz="1900" b="0" i="0">
                <a:solidFill>
                  <a:srgbClr val="1A1A1A"/>
                </a:solidFill>
                <a:latin typeface="Arial"/>
              </a:rPr>
              <a:t>.</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a:t>
            </a:r>
            <a:r>
              <a:rPr sz="1900" b="1" i="0">
                <a:solidFill>
                  <a:srgbClr val="C62828"/>
                </a:solidFill>
                <a:latin typeface="Arial"/>
              </a:rPr>
              <a:t>(2)</a:t>
            </a:r>
            <a:r>
              <a:rPr sz="1900" b="0" i="0">
                <a:solidFill>
                  <a:srgbClr val="1A1A1A"/>
                </a:solidFill>
                <a:latin typeface="Arial"/>
              </a:rPr>
              <a:t>,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24642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22653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7693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6.32</a:t>
            </a:r>
          </a:p>
          <a:p>
            <a:pPr algn="l">
              <a:lnSpc>
                <a:spcPct val="115000"/>
              </a:lnSpc>
              <a:spcBef>
                <a:spcPts val="0"/>
              </a:spcBef>
              <a:spcAft>
                <a:spcPts val="0"/>
              </a:spcAft>
            </a:pPr>
            <a:r>
              <a:rPr sz="1500" b="0" i="0">
                <a:solidFill>
                  <a:srgbClr val="1A1A1A"/>
                </a:solidFill>
                <a:latin typeface="Palatino"/>
              </a:rPr>
              <a:t>The daily PowerShares DB U.S. Dollar Bullish Fund with a narrow range candlestick on high volume circled at a low at the start of November, followed by a strong rise.</a:t>
            </a:r>
          </a:p>
        </p:txBody>
      </p:sp>
      <p:sp>
        <p:nvSpPr>
          <p:cNvPr id="14" name="Oval 13"/>
          <p:cNvSpPr/>
          <p:nvPr/>
        </p:nvSpPr>
        <p:spPr>
          <a:xfrm>
            <a:off x="6997263" y="3688344"/>
            <a:ext cx="549229" cy="445306"/>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474854" y="2307894"/>
            <a:ext cx="740266" cy="1269123"/>
          </a:xfrm>
          <a:prstGeom prst="line">
            <a:avLst/>
          </a:prstGeom>
          <a:ln w="44450">
            <a:solidFill>
              <a:srgbClr val="C62828"/>
            </a:solidFill>
            <a:tailEnd type="triangle" w="med" len="med"/>
          </a:ln>
        </p:spPr>
      </p:cxnSp>
      <p:sp>
        <p:nvSpPr>
          <p:cNvPr id="16" name="Oval 15"/>
          <p:cNvSpPr/>
          <p:nvPr/>
        </p:nvSpPr>
        <p:spPr>
          <a:xfrm>
            <a:off x="6889574" y="355516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319406" y="32879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436622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t>
            </a:r>
            <a:r>
              <a:rPr sz="1700" b="1" i="0">
                <a:solidFill>
                  <a:srgbClr val="E09B00"/>
                </a:solidFill>
                <a:latin typeface="Arial"/>
              </a:rPr>
              <a:t>(1)</a:t>
            </a:r>
            <a:r>
              <a:rPr sz="1700" b="0" i="0">
                <a:solidFill>
                  <a:srgbClr val="1A1A1A"/>
                </a:solidFill>
                <a:latin typeface="Arial"/>
              </a:rPr>
              <a:t>, about 23.4 in January to 21.0 in May. A short rally ends at a circled high volume reversal bar </a:t>
            </a:r>
            <a:r>
              <a:rPr sz="1700" b="1" i="0">
                <a:solidFill>
                  <a:srgbClr val="C62828"/>
                </a:solidFill>
                <a:latin typeface="Arial"/>
              </a:rPr>
              <a:t>(2)</a:t>
            </a:r>
            <a:r>
              <a:rPr sz="1700" b="0" i="0">
                <a:solidFill>
                  <a:srgbClr val="1A1A1A"/>
                </a:solidFill>
                <a:latin typeface="Arial"/>
              </a:rPr>
              <a:t>, May 23.</a:t>
            </a:r>
          </a:p>
          <a:p>
            <a:pPr algn="l">
              <a:lnSpc>
                <a:spcPct val="105000"/>
              </a:lnSpc>
              <a:spcBef>
                <a:spcPts val="0"/>
              </a:spcBef>
              <a:spcAft>
                <a:spcPts val="1100"/>
              </a:spcAft>
            </a:pPr>
            <a:r>
              <a:rPr sz="1700" b="0" i="0">
                <a:solidFill>
                  <a:srgbClr val="1A1A1A"/>
                </a:solidFill>
                <a:latin typeface="Arial"/>
              </a:rPr>
              <a:t>Before it, bearish divergence </a:t>
            </a:r>
            <a:r>
              <a:rPr sz="1700" b="1" i="0">
                <a:solidFill>
                  <a:srgbClr val="1F5FAD"/>
                </a:solidFill>
                <a:latin typeface="Arial"/>
              </a:rPr>
              <a:t>(3)</a:t>
            </a:r>
            <a:r>
              <a:rPr sz="1700" b="0" i="0">
                <a:solidFill>
                  <a:srgbClr val="1A1A1A"/>
                </a:solidFill>
                <a:latin typeface="Arial"/>
              </a:rPr>
              <a:t>: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a circled high volume reversal bar at a short rally's top in late May, falling lines over volume and the MACD before it, and a continuation bar at X.</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Rectangle 15"/>
          <p:cNvSpPr/>
          <p:nvPr/>
        </p:nvSpPr>
        <p:spPr>
          <a:xfrm>
            <a:off x="10281037" y="3964988"/>
            <a:ext cx="634090" cy="407120"/>
          </a:xfrm>
          <a:prstGeom prst="rect">
            <a:avLst/>
          </a:prstGeom>
          <a:noFill/>
          <a:ln w="44450">
            <a:solidFill>
              <a:srgbClr val="1F5FAD"/>
            </a:solidFill>
          </a:ln>
        </p:spPr>
        <p:txBody>
          <a:bodyPr rtlCol="0" anchor="ctr"/>
          <a:lstStyle/>
          <a:p>
            <a:pPr algn="ctr"/>
          </a:p>
        </p:txBody>
      </p:sp>
      <p:sp>
        <p:nvSpPr>
          <p:cNvPr id="17" name="Oval 16"/>
          <p:cNvSpPr/>
          <p:nvPr/>
        </p:nvSpPr>
        <p:spPr>
          <a:xfrm>
            <a:off x="9985128" y="3863207"/>
            <a:ext cx="317045" cy="339267"/>
          </a:xfrm>
          <a:prstGeom prst="ellipse">
            <a:avLst/>
          </a:prstGeom>
          <a:noFill/>
          <a:ln w="44450">
            <a:solidFill>
              <a:srgbClr val="007A33"/>
            </a:solidFill>
          </a:ln>
        </p:spPr>
        <p:txBody>
          <a:bodyPr rtlCol="0" anchor="ctr"/>
          <a:lstStyle/>
          <a:p>
            <a:pPr algn="ctr"/>
          </a:p>
        </p:txBody>
      </p:sp>
      <p:sp>
        <p:nvSpPr>
          <p:cNvPr id="18" name="Oval 17"/>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21498" y="43693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02862" y="357205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Larger, or predominant, trend: the whole move, our reading, as the book gives none. </a:t>
            </a:r>
            <a:r>
              <a:rPr sz="2000" b="1" i="0">
                <a:solidFill>
                  <a:srgbClr val="E09B00"/>
                </a:solidFill>
                <a:latin typeface="Arial"/>
              </a:rPr>
              <a:t>(1)</a:t>
            </a:r>
            <a:r>
              <a:rPr sz="2000" b="0" i="0">
                <a:solidFill>
                  <a:srgbClr val="1A1A1A"/>
                </a:solidFill>
                <a:latin typeface="Arial"/>
              </a:rPr>
              <a:t> Here, about 23.4 in January down to 21.0 in May.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circled high volume reversal bar is bearish, with that fall: potentially more reliable, the book says.</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Ask which way the larger trend runs. The book gives no further reason.</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from about 23.4 in January to 21.0 in May, with a circled high volume reversal bar at a short rally's top in late May.</a:t>
            </a:r>
          </a:p>
        </p:txBody>
      </p:sp>
      <p:cxnSp>
        <p:nvCxnSpPr>
          <p:cNvPr id="14" name="Connector 13"/>
          <p:cNvCxnSpPr/>
          <p:nvPr/>
        </p:nvCxnSpPr>
        <p:spPr>
          <a:xfrm>
            <a:off x="7786948" y="2777552"/>
            <a:ext cx="2240453" cy="1390996"/>
          </a:xfrm>
          <a:prstGeom prst="line">
            <a:avLst/>
          </a:prstGeom>
          <a:ln w="44450">
            <a:solidFill>
              <a:srgbClr val="E09B00"/>
            </a:solidFill>
            <a:tailEnd type="triangle" w="med" len="med"/>
          </a:ln>
        </p:spPr>
      </p:cxnSp>
      <p:sp>
        <p:nvSpPr>
          <p:cNvPr id="15" name="Oval 14"/>
          <p:cNvSpPr/>
          <p:nvPr/>
        </p:nvSpPr>
        <p:spPr>
          <a:xfrm>
            <a:off x="10450128" y="3523940"/>
            <a:ext cx="507272" cy="407120"/>
          </a:xfrm>
          <a:prstGeom prst="ellipse">
            <a:avLst/>
          </a:prstGeom>
          <a:noFill/>
          <a:ln w="44450">
            <a:solidFill>
              <a:srgbClr val="C62828"/>
            </a:solidFill>
          </a:ln>
        </p:spPr>
        <p:txBody>
          <a:bodyPr rtlCol="0" anchor="ctr"/>
          <a:lstStyle/>
          <a:p>
            <a:pPr algn="ctr"/>
          </a:p>
        </p:txBody>
      </p:sp>
      <p:sp>
        <p:nvSpPr>
          <p:cNvPr id="16" name="Oval 15"/>
          <p:cNvSpPr/>
          <p:nvPr/>
        </p:nvSpPr>
        <p:spPr>
          <a:xfrm>
            <a:off x="7631500" y="24185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336953" y="340241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levels read by eye, and the larger trend read as the whole move. The book does not define the larger trend.</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X: a continuation bar against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continuation bars, too, are more reliable in the direction of the predominant trend.</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X, our reading, as the book does not say: a high volume continuation bar rising against the larger downtrend, so the less reliable kind.</a:t>
            </a:r>
          </a:p>
          <a:p>
            <a:pPr algn="l">
              <a:lnSpc>
                <a:spcPct val="105000"/>
              </a:lnSpc>
              <a:spcBef>
                <a:spcPts val="0"/>
              </a:spcBef>
              <a:spcAft>
                <a:spcPts val="1100"/>
              </a:spcAft>
            </a:pPr>
            <a:r>
              <a:rPr sz="1800" b="0" i="0">
                <a:solidFill>
                  <a:srgbClr val="1A1A1A"/>
                </a:solidFill>
                <a:latin typeface="Arial"/>
              </a:rPr>
              <a:t>Its rally lasted about two and a half weeks before the fall went on.</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5595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the larger trend: more reliable. Against it: less.</a:t>
            </a:r>
          </a:p>
        </p:txBody>
      </p:sp>
      <p:sp>
        <p:nvSpPr>
          <p:cNvPr id="10" name="Rectangle 9"/>
          <p:cNvSpPr/>
          <p:nvPr/>
        </p:nvSpPr>
        <p:spPr>
          <a:xfrm>
            <a:off x="6949440" y="1810512"/>
            <a:ext cx="4465014" cy="363041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339267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93547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The daily dollar fund in a long decline, with X marking a high volume continuation bar in early May that rises against the decline.</a:t>
            </a:r>
          </a:p>
        </p:txBody>
      </p:sp>
      <p:sp>
        <p:nvSpPr>
          <p:cNvPr id="14" name="Oval 13"/>
          <p:cNvSpPr/>
          <p:nvPr/>
        </p:nvSpPr>
        <p:spPr>
          <a:xfrm>
            <a:off x="9985128" y="3863207"/>
            <a:ext cx="317045" cy="339267"/>
          </a:xfrm>
          <a:prstGeom prst="ellipse">
            <a:avLst/>
          </a:prstGeom>
          <a:noFill/>
          <a:ln w="44450">
            <a:solidFill>
              <a:srgbClr val="E09B00"/>
            </a:solidFill>
          </a:ln>
        </p:spPr>
        <p:txBody>
          <a:bodyPr rtlCol="0" anchor="ctr"/>
          <a:lstStyle/>
          <a:p>
            <a:pPr algn="ctr"/>
          </a:p>
        </p:txBody>
      </p:sp>
      <p:sp>
        <p:nvSpPr>
          <p:cNvPr id="15" name="Oval 14"/>
          <p:cNvSpPr/>
          <p:nvPr/>
        </p:nvSpPr>
        <p:spPr>
          <a:xfrm>
            <a:off x="9702862" y="357205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949440" y="5532369"/>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Ours: the reading of X, and its length read by eye. The book does not discuss X.</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Its volume reaches the line across the volume panel </a:t>
            </a:r>
            <a:r>
              <a:rPr sz="1700" b="1" i="0">
                <a:solidFill>
                  <a:srgbClr val="C62828"/>
                </a:solidFill>
                <a:latin typeface="Arial"/>
              </a:rPr>
              <a:t>(2)</a:t>
            </a:r>
            <a:r>
              <a:rPr sz="1700" b="0" i="0">
                <a:solidFill>
                  <a:srgbClr val="1A1A1A"/>
                </a:solidFill>
                <a:latin typeface="Arial"/>
              </a:rPr>
              <a:t>,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a:t>
            </a:r>
            <a:r>
              <a:rPr sz="1700" b="1" i="0">
                <a:solidFill>
                  <a:srgbClr val="1F5FAD"/>
                </a:solidFill>
                <a:latin typeface="Arial"/>
              </a:rPr>
              <a:t>(3)</a:t>
            </a:r>
            <a:r>
              <a:rPr sz="1700" b="0" i="0">
                <a:solidFill>
                  <a:srgbClr val="1A1A1A"/>
                </a:solidFill>
                <a:latin typeface="Arial"/>
              </a:rPr>
              <a:t>.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766559" y="1810512"/>
            <a:ext cx="4647895" cy="23053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06758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161038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6.34</a:t>
            </a:r>
          </a:p>
          <a:p>
            <a:pPr algn="l">
              <a:lnSpc>
                <a:spcPct val="115000"/>
              </a:lnSpc>
              <a:spcBef>
                <a:spcPts val="0"/>
              </a:spcBef>
              <a:spcAft>
                <a:spcPts val="0"/>
              </a:spcAft>
            </a:pPr>
            <a:r>
              <a:rPr sz="13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p:txBody>
      </p:sp>
      <p:sp>
        <p:nvSpPr>
          <p:cNvPr id="14" name="Oval 13"/>
          <p:cNvSpPr/>
          <p:nvPr/>
        </p:nvSpPr>
        <p:spPr>
          <a:xfrm>
            <a:off x="10215096" y="3293987"/>
            <a:ext cx="396913" cy="537571"/>
          </a:xfrm>
          <a:prstGeom prst="ellipse">
            <a:avLst/>
          </a:prstGeom>
          <a:noFill/>
          <a:ln w="44450">
            <a:solidFill>
              <a:srgbClr val="E09B00"/>
            </a:solidFill>
          </a:ln>
        </p:spPr>
        <p:txBody>
          <a:bodyPr rtlCol="0" anchor="ctr"/>
          <a:lstStyle/>
          <a:p>
            <a:pPr algn="ctr"/>
          </a:p>
        </p:txBody>
      </p:sp>
      <p:cxnSp>
        <p:nvCxnSpPr>
          <p:cNvPr id="15" name="Connector 14"/>
          <p:cNvCxnSpPr/>
          <p:nvPr/>
        </p:nvCxnSpPr>
        <p:spPr>
          <a:xfrm>
            <a:off x="8825898" y="3387028"/>
            <a:ext cx="2160974" cy="0"/>
          </a:xfrm>
          <a:prstGeom prst="line">
            <a:avLst/>
          </a:prstGeom>
          <a:ln w="44450">
            <a:solidFill>
              <a:srgbClr val="C62828"/>
            </a:solidFill>
          </a:ln>
        </p:spPr>
      </p:cxnSp>
      <p:sp>
        <p:nvSpPr>
          <p:cNvPr id="16" name="Oval 15"/>
          <p:cNvSpPr/>
          <p:nvPr/>
        </p:nvSpPr>
        <p:spPr>
          <a:xfrm>
            <a:off x="9134609" y="3211284"/>
            <a:ext cx="926131" cy="392840"/>
          </a:xfrm>
          <a:prstGeom prst="ellipse">
            <a:avLst/>
          </a:prstGeom>
          <a:noFill/>
          <a:ln w="44450">
            <a:solidFill>
              <a:srgbClr val="1F5FAD"/>
            </a:solidFill>
          </a:ln>
        </p:spPr>
        <p:txBody>
          <a:bodyPr rtlCol="0" anchor="ctr"/>
          <a:lstStyle/>
          <a:p>
            <a:pPr algn="ctr"/>
          </a:p>
        </p:txBody>
      </p:sp>
      <p:sp>
        <p:nvSpPr>
          <p:cNvPr id="17" name="Oval 16"/>
          <p:cNvSpPr/>
          <p:nvPr/>
        </p:nvSpPr>
        <p:spPr>
          <a:xfrm>
            <a:off x="10103749" y="315921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831424" y="32315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023262" y="3076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766559" y="420727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a:t>
            </a:r>
            <a:r>
              <a:rPr sz="1700" b="1" i="0">
                <a:solidFill>
                  <a:srgbClr val="E09B00"/>
                </a:solidFill>
                <a:latin typeface="Arial"/>
              </a:rPr>
              <a:t>(1)</a:t>
            </a:r>
            <a:r>
              <a:rPr sz="1700" b="0" i="0">
                <a:solidFill>
                  <a:srgbClr val="1A1A1A"/>
                </a:solidFill>
                <a:latin typeface="Arial"/>
              </a:rPr>
              <a:t>, sellers taking control; a very tall bar </a:t>
            </a:r>
            <a:r>
              <a:rPr sz="1700" b="1" i="0">
                <a:solidFill>
                  <a:srgbClr val="C62828"/>
                </a:solidFill>
                <a:latin typeface="Arial"/>
              </a:rPr>
              <a:t>(2)</a:t>
            </a:r>
            <a:r>
              <a:rPr sz="1700" b="0" i="0">
                <a:solidFill>
                  <a:srgbClr val="1A1A1A"/>
                </a:solidFill>
                <a:latin typeface="Arial"/>
              </a:rPr>
              <a:t>,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2377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0000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5428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Left: a rise topped by a narrow bar on relatively high volume. Right: by a very tall bar on relatively low volume. Both bearish.</a:t>
            </a:r>
          </a:p>
        </p:txBody>
      </p:sp>
      <p:sp>
        <p:nvSpPr>
          <p:cNvPr id="14" name="Rectangle 13"/>
          <p:cNvSpPr/>
          <p:nvPr/>
        </p:nvSpPr>
        <p:spPr>
          <a:xfrm>
            <a:off x="7919705" y="2319386"/>
            <a:ext cx="344477" cy="345002"/>
          </a:xfrm>
          <a:prstGeom prst="rect">
            <a:avLst/>
          </a:prstGeom>
          <a:noFill/>
          <a:ln w="44450">
            <a:solidFill>
              <a:srgbClr val="E09B00"/>
            </a:solidFill>
          </a:ln>
        </p:spPr>
        <p:txBody>
          <a:bodyPr rtlCol="0" anchor="ctr"/>
          <a:lstStyle/>
          <a:p>
            <a:pPr algn="ctr"/>
          </a:p>
        </p:txBody>
      </p:sp>
      <p:sp>
        <p:nvSpPr>
          <p:cNvPr id="15" name="Rectangle 14"/>
          <p:cNvSpPr/>
          <p:nvPr/>
        </p:nvSpPr>
        <p:spPr>
          <a:xfrm>
            <a:off x="10537732" y="2079385"/>
            <a:ext cx="275581" cy="1650011"/>
          </a:xfrm>
          <a:prstGeom prst="rect">
            <a:avLst/>
          </a:prstGeom>
          <a:noFill/>
          <a:ln w="44450">
            <a:solidFill>
              <a:srgbClr val="C62828"/>
            </a:solidFill>
          </a:ln>
        </p:spPr>
        <p:txBody>
          <a:bodyPr rtlCol="0" anchor="ctr"/>
          <a:lstStyle/>
          <a:p>
            <a:pPr algn="ctr"/>
          </a:p>
        </p:txBody>
      </p:sp>
      <p:sp>
        <p:nvSpPr>
          <p:cNvPr id="16" name="Rectangle 15"/>
          <p:cNvSpPr/>
          <p:nvPr/>
        </p:nvSpPr>
        <p:spPr>
          <a:xfrm>
            <a:off x="7207785" y="4419400"/>
            <a:ext cx="1584595" cy="495003"/>
          </a:xfrm>
          <a:prstGeom prst="rect">
            <a:avLst/>
          </a:prstGeom>
          <a:noFill/>
          <a:ln w="44450">
            <a:solidFill>
              <a:srgbClr val="1F5FAD"/>
            </a:solidFill>
          </a:ln>
        </p:spPr>
        <p:txBody>
          <a:bodyPr rtlCol="0" anchor="ctr"/>
          <a:lstStyle/>
          <a:p>
            <a:pPr algn="ctr"/>
          </a:p>
        </p:txBody>
      </p:sp>
      <p:sp>
        <p:nvSpPr>
          <p:cNvPr id="17" name="Oval 16"/>
          <p:cNvSpPr/>
          <p:nvPr/>
        </p:nvSpPr>
        <p:spPr>
          <a:xfrm>
            <a:off x="8269490" y="234393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1528" y="267394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914546" y="414395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1397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26</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every bar holds 100,000 shares; a usual bar spans PHP 1.00: 100,000 shares a peso of range.</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 PHP 0.20 bar: 100,000 shares moved price 20 centavos, 500,000 a peso, five times usual. Figure 6.35's label: relatively high volume.</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 PHP 4.00 bar: 100,000 shares over 4 pesos, 25,000 a peso, a quarter of usual. Its label: relatively low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3766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is fixed, so the range alone says if it was a lot or a little.</a:t>
            </a:r>
          </a:p>
        </p:txBody>
      </p:sp>
      <p:sp>
        <p:nvSpPr>
          <p:cNvPr id="10" name="Rectangle 9"/>
          <p:cNvSpPr/>
          <p:nvPr/>
        </p:nvSpPr>
        <p:spPr>
          <a:xfrm>
            <a:off x="6766559" y="1810512"/>
            <a:ext cx="4647894" cy="311831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288056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42336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6.35</a:t>
            </a:r>
          </a:p>
          <a:p>
            <a:pPr algn="l">
              <a:lnSpc>
                <a:spcPct val="115000"/>
              </a:lnSpc>
              <a:spcBef>
                <a:spcPts val="0"/>
              </a:spcBef>
              <a:spcAft>
                <a:spcPts val="0"/>
              </a:spcAft>
            </a:pPr>
            <a:r>
              <a:rPr sz="1500" b="0" i="0">
                <a:solidFill>
                  <a:srgbClr val="1A1A1A"/>
                </a:solidFill>
                <a:latin typeface="Palatino"/>
              </a:rPr>
              <a:t>Two sketches of a constant volume chart, all volume bars equal. 1, left: a rise topped by a narrow bar labelled relatively high volume. 2, right: a rise topped by a very tall bar labelled relatively low volume.</a:t>
            </a:r>
          </a:p>
        </p:txBody>
      </p:sp>
      <p:sp>
        <p:nvSpPr>
          <p:cNvPr id="14" name="Rectangle 13"/>
          <p:cNvSpPr/>
          <p:nvPr/>
        </p:nvSpPr>
        <p:spPr>
          <a:xfrm>
            <a:off x="8054122" y="2303857"/>
            <a:ext cx="330761" cy="331265"/>
          </a:xfrm>
          <a:prstGeom prst="rect">
            <a:avLst/>
          </a:prstGeom>
          <a:noFill/>
          <a:ln w="44450">
            <a:solidFill>
              <a:srgbClr val="E09B00"/>
            </a:solidFill>
          </a:ln>
        </p:spPr>
        <p:txBody>
          <a:bodyPr rtlCol="0" anchor="ctr"/>
          <a:lstStyle/>
          <a:p>
            <a:pPr algn="ctr"/>
          </a:p>
        </p:txBody>
      </p:sp>
      <p:sp>
        <p:nvSpPr>
          <p:cNvPr id="15" name="Rectangle 14"/>
          <p:cNvSpPr/>
          <p:nvPr/>
        </p:nvSpPr>
        <p:spPr>
          <a:xfrm>
            <a:off x="10567908" y="2073412"/>
            <a:ext cx="264609" cy="1584312"/>
          </a:xfrm>
          <a:prstGeom prst="rect">
            <a:avLst/>
          </a:prstGeom>
          <a:noFill/>
          <a:ln w="44450">
            <a:solidFill>
              <a:srgbClr val="C62828"/>
            </a:solidFill>
          </a:ln>
        </p:spPr>
        <p:txBody>
          <a:bodyPr rtlCol="0" anchor="ctr"/>
          <a:lstStyle/>
          <a:p>
            <a:pPr algn="ctr"/>
          </a:p>
        </p:txBody>
      </p:sp>
      <p:sp>
        <p:nvSpPr>
          <p:cNvPr id="16" name="Oval 15"/>
          <p:cNvSpPr/>
          <p:nvPr/>
        </p:nvSpPr>
        <p:spPr>
          <a:xfrm>
            <a:off x="8383790" y="232124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58104" y="263810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020264"/>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4340753" y="987552"/>
            <a:ext cx="3510188" cy="14196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4459625" y="1106424"/>
            <a:ext cx="3272444" cy="118186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459625" y="1106424"/>
            <a:ext cx="3272444"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4733945" y="1380744"/>
            <a:ext cx="2723804" cy="7246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800" b="0" i="0">
                <a:solidFill>
                  <a:srgbClr val="1A1A1A"/>
                </a:solidFill>
                <a:latin typeface="Palatino"/>
              </a:rPr>
              <a:t>Part of the price panel of the daily dollar fund, March to June: the decline, and a circled high volume reversal bar at a short rally's top in late May.</a:t>
            </a:r>
          </a:p>
        </p:txBody>
      </p:sp>
      <p:sp>
        <p:nvSpPr>
          <p:cNvPr id="10" name="Oval 9"/>
          <p:cNvSpPr/>
          <p:nvPr/>
        </p:nvSpPr>
        <p:spPr>
          <a:xfrm>
            <a:off x="6783060" y="1366433"/>
            <a:ext cx="458142" cy="543656"/>
          </a:xfrm>
          <a:prstGeom prst="ellipse">
            <a:avLst/>
          </a:prstGeom>
          <a:noFill/>
          <a:ln w="44450">
            <a:solidFill>
              <a:srgbClr val="E09B00"/>
            </a:solidFill>
          </a:ln>
        </p:spPr>
        <p:txBody>
          <a:bodyPr rtlCol="0" anchor="ctr"/>
          <a:lstStyle/>
          <a:p>
            <a:pPr algn="ctr"/>
          </a:p>
        </p:txBody>
      </p:sp>
      <p:sp>
        <p:nvSpPr>
          <p:cNvPr id="11" name="Oval 10"/>
          <p:cNvSpPr/>
          <p:nvPr/>
        </p:nvSpPr>
        <p:spPr>
          <a:xfrm>
            <a:off x="6431266" y="12346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2498597"/>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3" name="Rectangle 12"/>
          <p:cNvSpPr/>
          <p:nvPr/>
        </p:nvSpPr>
        <p:spPr>
          <a:xfrm>
            <a:off x="777240" y="2772918"/>
            <a:ext cx="4998567" cy="3216402"/>
          </a:xfrm>
          <a:prstGeom prst="rect">
            <a:avLst/>
          </a:prstGeom>
          <a:solidFill>
            <a:srgbClr val="007A33"/>
          </a:solidFill>
          <a:ln>
            <a:noFill/>
          </a:ln>
          <a:effectLst/>
        </p:spPr>
        <p:txBody>
          <a:bodyPr rtlCol="0" anchor="ctr"/>
          <a:lstStyle/>
          <a:p>
            <a:pPr algn="ctr"/>
          </a:p>
        </p:txBody>
      </p:sp>
      <p:sp>
        <p:nvSpPr>
          <p:cNvPr id="14" name="TextBox 13"/>
          <p:cNvSpPr txBox="1"/>
          <p:nvPr/>
        </p:nvSpPr>
        <p:spPr>
          <a:xfrm>
            <a:off x="1051560"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15" name="TextBox 14"/>
          <p:cNvSpPr txBox="1"/>
          <p:nvPr/>
        </p:nvSpPr>
        <p:spPr>
          <a:xfrm>
            <a:off x="1051560" y="3248406"/>
            <a:ext cx="4449927" cy="98526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16" name="TextBox 15"/>
          <p:cNvSpPr txBox="1"/>
          <p:nvPr/>
        </p:nvSpPr>
        <p:spPr>
          <a:xfrm>
            <a:off x="1051560"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It formed on a constant volume chart</a:t>
            </a:r>
          </a:p>
          <a:p>
            <a:pPr algn="l">
              <a:lnSpc>
                <a:spcPct val="112000"/>
              </a:lnSpc>
              <a:spcBef>
                <a:spcPts val="0"/>
              </a:spcBef>
              <a:spcAft>
                <a:spcPts val="600"/>
              </a:spcAft>
            </a:pPr>
            <a:r>
              <a:rPr sz="1400" b="0" i="0">
                <a:solidFill>
                  <a:srgbClr val="FFFFFF"/>
                </a:solidFill>
                <a:latin typeface="Arial"/>
              </a:rPr>
              <a:t>B.  It formed within a larger downtrend</a:t>
            </a:r>
          </a:p>
          <a:p>
            <a:pPr algn="l">
              <a:lnSpc>
                <a:spcPct val="112000"/>
              </a:lnSpc>
              <a:spcBef>
                <a:spcPts val="0"/>
              </a:spcBef>
              <a:spcAft>
                <a:spcPts val="600"/>
              </a:spcAft>
            </a:pPr>
            <a:r>
              <a:rPr sz="1400" b="0" i="0">
                <a:solidFill>
                  <a:srgbClr val="FFFFFF"/>
                </a:solidFill>
                <a:latin typeface="Arial"/>
              </a:rPr>
              <a:t>C.  Its volume was the lowest of the year</a:t>
            </a:r>
          </a:p>
          <a:p>
            <a:pPr algn="l">
              <a:lnSpc>
                <a:spcPct val="112000"/>
              </a:lnSpc>
              <a:spcBef>
                <a:spcPts val="0"/>
              </a:spcBef>
              <a:spcAft>
                <a:spcPts val="600"/>
              </a:spcAft>
            </a:pPr>
            <a:r>
              <a:rPr sz="1400" b="0" i="0">
                <a:solidFill>
                  <a:srgbClr val="FFFFFF"/>
                </a:solidFill>
                <a:latin typeface="Arial"/>
              </a:rPr>
              <a:t>D.  It formed on flat volume</a:t>
            </a:r>
          </a:p>
        </p:txBody>
      </p:sp>
      <p:sp>
        <p:nvSpPr>
          <p:cNvPr id="17" name="Rectangle 16"/>
          <p:cNvSpPr/>
          <p:nvPr/>
        </p:nvSpPr>
        <p:spPr>
          <a:xfrm>
            <a:off x="6415887" y="2772918"/>
            <a:ext cx="4998567" cy="3216402"/>
          </a:xfrm>
          <a:prstGeom prst="rect">
            <a:avLst/>
          </a:prstGeom>
          <a:solidFill>
            <a:srgbClr val="007A33"/>
          </a:solidFill>
          <a:ln>
            <a:noFill/>
          </a:ln>
          <a:effectLst/>
        </p:spPr>
        <p:txBody>
          <a:bodyPr rtlCol="0" anchor="ctr"/>
          <a:lstStyle/>
          <a:p>
            <a:pPr algn="ctr"/>
          </a:p>
        </p:txBody>
      </p:sp>
      <p:sp>
        <p:nvSpPr>
          <p:cNvPr id="18" name="TextBox 17"/>
          <p:cNvSpPr txBox="1"/>
          <p:nvPr/>
        </p:nvSpPr>
        <p:spPr>
          <a:xfrm>
            <a:off x="6690207" y="297408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9" name="TextBox 18"/>
          <p:cNvSpPr txBox="1"/>
          <p:nvPr/>
        </p:nvSpPr>
        <p:spPr>
          <a:xfrm>
            <a:off x="6690207" y="3248406"/>
            <a:ext cx="4449927" cy="687323"/>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20" name="TextBox 19"/>
          <p:cNvSpPr txBox="1"/>
          <p:nvPr/>
        </p:nvSpPr>
        <p:spPr>
          <a:xfrm>
            <a:off x="6690207" y="4306823"/>
            <a:ext cx="4449927" cy="2926080"/>
          </a:xfrm>
          <a:prstGeom prst="rect">
            <a:avLst/>
          </a:prstGeom>
          <a:noFill/>
        </p:spPr>
        <p:txBody>
          <a:bodyPr wrap="square" anchor="t" lIns="0" rIns="0" tIns="0" bIns="0">
            <a:spAutoFit/>
          </a:bodyPr>
          <a:lstStyle/>
          <a:p>
            <a:pPr algn="l">
              <a:lnSpc>
                <a:spcPct val="112000"/>
              </a:lnSpc>
              <a:spcBef>
                <a:spcPts val="0"/>
              </a:spcBef>
              <a:spcAft>
                <a:spcPts val="600"/>
              </a:spcAft>
            </a:pPr>
            <a:r>
              <a:rPr sz="1400" b="0" i="0">
                <a:solidFill>
                  <a:srgbClr val="FFFFFF"/>
                </a:solidFill>
                <a:latin typeface="Arial"/>
              </a:rPr>
              <a:t>A.  The volume bars alone</a:t>
            </a:r>
          </a:p>
          <a:p>
            <a:pPr algn="l">
              <a:lnSpc>
                <a:spcPct val="112000"/>
              </a:lnSpc>
              <a:spcBef>
                <a:spcPts val="0"/>
              </a:spcBef>
              <a:spcAft>
                <a:spcPts val="600"/>
              </a:spcAft>
            </a:pPr>
            <a:r>
              <a:rPr sz="1400" b="0" i="0">
                <a:solidFill>
                  <a:srgbClr val="FFFFFF"/>
                </a:solidFill>
                <a:latin typeface="Arial"/>
              </a:rPr>
              <a:t>B.  The time axis</a:t>
            </a:r>
          </a:p>
          <a:p>
            <a:pPr algn="l">
              <a:lnSpc>
                <a:spcPct val="112000"/>
              </a:lnSpc>
              <a:spcBef>
                <a:spcPts val="0"/>
              </a:spcBef>
              <a:spcAft>
                <a:spcPts val="600"/>
              </a:spcAft>
            </a:pPr>
            <a:r>
              <a:rPr sz="1400" b="0" i="0">
                <a:solidFill>
                  <a:srgbClr val="FFFFFF"/>
                </a:solidFill>
                <a:latin typeface="Arial"/>
              </a:rPr>
              <a:t>C.  The open interest</a:t>
            </a:r>
          </a:p>
          <a:p>
            <a:pPr algn="l">
              <a:lnSpc>
                <a:spcPct val="112000"/>
              </a:lnSpc>
              <a:spcBef>
                <a:spcPts val="0"/>
              </a:spcBef>
              <a:spcAft>
                <a:spcPts val="600"/>
              </a:spcAft>
            </a:pPr>
            <a:r>
              <a:rPr sz="1400" b="0" i="0">
                <a:solidFill>
                  <a:srgbClr val="FFFFFF"/>
                </a:solidFill>
                <a:latin typeface="Arial"/>
              </a:rPr>
              <a:t>D.  The bar range alone and its height against the rest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3422597" y="987552"/>
            <a:ext cx="5346499" cy="208280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3541469" y="1106424"/>
            <a:ext cx="5108755" cy="184505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3541469" y="1106424"/>
            <a:ext cx="5108755"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3815789" y="1380744"/>
            <a:ext cx="4560115" cy="13878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6.33</a:t>
            </a:r>
          </a:p>
          <a:p>
            <a:pPr algn="l">
              <a:lnSpc>
                <a:spcPct val="115000"/>
              </a:lnSpc>
              <a:spcBef>
                <a:spcPts val="0"/>
              </a:spcBef>
              <a:spcAft>
                <a:spcPts val="0"/>
              </a:spcAft>
            </a:pPr>
            <a:r>
              <a:rPr sz="1500" b="0" i="0">
                <a:solidFill>
                  <a:srgbClr val="1A1A1A"/>
                </a:solidFill>
                <a:latin typeface="Palatino"/>
              </a:rPr>
              <a:t>Part of the price panel of the daily dollar fund, March to June: the decline, and a circled high volume reversal bar at a short rally's top in late May.</a:t>
            </a:r>
          </a:p>
        </p:txBody>
      </p:sp>
      <p:sp>
        <p:nvSpPr>
          <p:cNvPr id="10" name="Oval 9"/>
          <p:cNvSpPr/>
          <p:nvPr/>
        </p:nvSpPr>
        <p:spPr>
          <a:xfrm>
            <a:off x="7168686" y="1512336"/>
            <a:ext cx="715225" cy="848725"/>
          </a:xfrm>
          <a:prstGeom prst="ellipse">
            <a:avLst/>
          </a:prstGeom>
          <a:noFill/>
          <a:ln w="44450">
            <a:solidFill>
              <a:srgbClr val="E09B00"/>
            </a:solidFill>
          </a:ln>
        </p:spPr>
        <p:txBody>
          <a:bodyPr rtlCol="0" anchor="ctr"/>
          <a:lstStyle/>
          <a:p>
            <a:pPr algn="ctr"/>
          </a:p>
        </p:txBody>
      </p:sp>
      <p:sp>
        <p:nvSpPr>
          <p:cNvPr id="11" name="Oval 10"/>
          <p:cNvSpPr/>
          <p:nvPr/>
        </p:nvSpPr>
        <p:spPr>
          <a:xfrm>
            <a:off x="6706712" y="13937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TextBox 11"/>
          <p:cNvSpPr txBox="1"/>
          <p:nvPr/>
        </p:nvSpPr>
        <p:spPr>
          <a:xfrm>
            <a:off x="777240" y="3161792"/>
            <a:ext cx="106372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3" name="Rectangle 12"/>
          <p:cNvSpPr/>
          <p:nvPr/>
        </p:nvSpPr>
        <p:spPr>
          <a:xfrm>
            <a:off x="777240" y="3436112"/>
            <a:ext cx="5090007" cy="2553208"/>
          </a:xfrm>
          <a:prstGeom prst="rect">
            <a:avLst/>
          </a:prstGeom>
          <a:solidFill>
            <a:srgbClr val="FFFFFF"/>
          </a:solidFill>
          <a:ln w="12700">
            <a:solidFill>
              <a:srgbClr val="D7E0D9"/>
            </a:solidFill>
          </a:ln>
          <a:effectLst/>
        </p:spPr>
        <p:txBody>
          <a:bodyPr rtlCol="0" anchor="ctr"/>
          <a:lstStyle/>
          <a:p>
            <a:pPr algn="ctr"/>
          </a:p>
        </p:txBody>
      </p:sp>
      <p:sp>
        <p:nvSpPr>
          <p:cNvPr id="14" name="Rectangle 13"/>
          <p:cNvSpPr/>
          <p:nvPr/>
        </p:nvSpPr>
        <p:spPr>
          <a:xfrm>
            <a:off x="777240" y="3436112"/>
            <a:ext cx="91440" cy="2553208"/>
          </a:xfrm>
          <a:prstGeom prst="rect">
            <a:avLst/>
          </a:prstGeom>
          <a:solidFill>
            <a:srgbClr val="F2A900"/>
          </a:solidFill>
          <a:ln>
            <a:noFill/>
          </a:ln>
          <a:effectLst/>
        </p:spPr>
        <p:txBody>
          <a:bodyPr rtlCol="0" anchor="ctr"/>
          <a:lstStyle/>
          <a:p>
            <a:pPr algn="ctr"/>
          </a:p>
        </p:txBody>
      </p:sp>
      <p:sp>
        <p:nvSpPr>
          <p:cNvPr id="15" name="TextBox 14"/>
          <p:cNvSpPr txBox="1"/>
          <p:nvPr/>
        </p:nvSpPr>
        <p:spPr>
          <a:xfrm>
            <a:off x="1097280" y="3618992"/>
            <a:ext cx="4541367" cy="79247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16" name="TextBox 15"/>
          <p:cNvSpPr txBox="1"/>
          <p:nvPr/>
        </p:nvSpPr>
        <p:spPr>
          <a:xfrm>
            <a:off x="1097280" y="4484623"/>
            <a:ext cx="4541367" cy="148640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500"/>
              </a:spcBef>
              <a:spcAft>
                <a:spcPts val="0"/>
              </a:spcAft>
            </a:pPr>
            <a:r>
              <a:rPr sz="1600" b="0" i="0">
                <a:solidFill>
                  <a:srgbClr val="1A1A1A"/>
                </a:solidFill>
                <a:latin typeface="Arial"/>
              </a:rPr>
              <a:t>The bearish reversal bar occurred within a larger downtrend, the direction of the predominant trend.</a:t>
            </a:r>
          </a:p>
        </p:txBody>
      </p:sp>
      <p:sp>
        <p:nvSpPr>
          <p:cNvPr id="17" name="Rectangle 16"/>
          <p:cNvSpPr/>
          <p:nvPr/>
        </p:nvSpPr>
        <p:spPr>
          <a:xfrm>
            <a:off x="6324447" y="3436112"/>
            <a:ext cx="5090007" cy="2553208"/>
          </a:xfrm>
          <a:prstGeom prst="rect">
            <a:avLst/>
          </a:prstGeom>
          <a:solidFill>
            <a:srgbClr val="FFFFFF"/>
          </a:solidFill>
          <a:ln w="12700">
            <a:solidFill>
              <a:srgbClr val="D7E0D9"/>
            </a:solidFill>
          </a:ln>
          <a:effectLst/>
        </p:spPr>
        <p:txBody>
          <a:bodyPr rtlCol="0" anchor="ctr"/>
          <a:lstStyle/>
          <a:p>
            <a:pPr algn="ctr"/>
          </a:p>
        </p:txBody>
      </p:sp>
      <p:sp>
        <p:nvSpPr>
          <p:cNvPr id="18" name="Rectangle 17"/>
          <p:cNvSpPr/>
          <p:nvPr/>
        </p:nvSpPr>
        <p:spPr>
          <a:xfrm>
            <a:off x="6324447" y="3436112"/>
            <a:ext cx="91440" cy="2553208"/>
          </a:xfrm>
          <a:prstGeom prst="rect">
            <a:avLst/>
          </a:prstGeom>
          <a:solidFill>
            <a:srgbClr val="F2A900"/>
          </a:solidFill>
          <a:ln>
            <a:noFill/>
          </a:ln>
          <a:effectLst/>
        </p:spPr>
        <p:txBody>
          <a:bodyPr rtlCol="0" anchor="ctr"/>
          <a:lstStyle/>
          <a:p>
            <a:pPr algn="ctr"/>
          </a:p>
        </p:txBody>
      </p:sp>
      <p:sp>
        <p:nvSpPr>
          <p:cNvPr id="19" name="TextBox 18"/>
          <p:cNvSpPr txBox="1"/>
          <p:nvPr/>
        </p:nvSpPr>
        <p:spPr>
          <a:xfrm>
            <a:off x="6644487" y="3618992"/>
            <a:ext cx="4541367"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20" name="TextBox 19"/>
          <p:cNvSpPr txBox="1"/>
          <p:nvPr/>
        </p:nvSpPr>
        <p:spPr>
          <a:xfrm>
            <a:off x="6644487" y="4250944"/>
            <a:ext cx="4541367" cy="1720088"/>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500"/>
              </a:spcBef>
              <a:spcAft>
                <a:spcPts val="0"/>
              </a:spcAft>
            </a:pPr>
            <a:r>
              <a:rPr sz="1600" b="0" i="0">
                <a:solidFill>
                  <a:srgbClr val="1A1A1A"/>
                </a:solidFill>
                <a:latin typeface="Arial"/>
              </a:rPr>
              <a:t>Volume is fixed for each bar, so reversal bars are identified by bar range and height alone.</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a:t>
            </a:r>
            <a:r>
              <a:rPr sz="1700" b="1" i="0">
                <a:solidFill>
                  <a:srgbClr val="E09B00"/>
                </a:solidFill>
                <a:latin typeface="Arial"/>
              </a:rPr>
              <a:t>(1)</a:t>
            </a:r>
            <a:r>
              <a:rPr sz="1700" b="0" i="0">
                <a:solidFill>
                  <a:srgbClr val="1A1A1A"/>
                </a:solidFill>
                <a:latin typeface="Arial"/>
              </a:rPr>
              <a:t>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a:t>
            </a:r>
            <a:r>
              <a:rPr sz="1700" b="1" i="0">
                <a:solidFill>
                  <a:srgbClr val="C62828"/>
                </a:solidFill>
                <a:latin typeface="Arial"/>
              </a:rPr>
              <a:t>(2)</a:t>
            </a:r>
            <a:r>
              <a:rPr sz="1700" b="0" i="0">
                <a:solidFill>
                  <a:srgbClr val="1A1A1A"/>
                </a:solidFill>
                <a:latin typeface="Arial"/>
              </a:rPr>
              <a:t>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9633935" y="3088111"/>
            <a:ext cx="396483" cy="316016"/>
          </a:xfrm>
          <a:prstGeom prst="ellipse">
            <a:avLst/>
          </a:prstGeom>
          <a:noFill/>
          <a:ln w="44450">
            <a:solidFill>
              <a:srgbClr val="E09B00"/>
            </a:solidFill>
          </a:ln>
        </p:spPr>
        <p:txBody>
          <a:bodyPr rtlCol="0" anchor="ctr"/>
          <a:lstStyle/>
          <a:p>
            <a:pPr algn="ctr"/>
          </a:p>
        </p:txBody>
      </p:sp>
      <p:sp>
        <p:nvSpPr>
          <p:cNvPr id="13" name="Rectangle 12"/>
          <p:cNvSpPr/>
          <p:nvPr/>
        </p:nvSpPr>
        <p:spPr>
          <a:xfrm>
            <a:off x="10278221" y="4229282"/>
            <a:ext cx="892088" cy="807598"/>
          </a:xfrm>
          <a:prstGeom prst="rect">
            <a:avLst/>
          </a:prstGeom>
          <a:noFill/>
          <a:ln w="44450">
            <a:solidFill>
              <a:srgbClr val="C62828"/>
            </a:solidFill>
          </a:ln>
        </p:spPr>
        <p:txBody>
          <a:bodyPr rtlCol="0" anchor="ctr"/>
          <a:lstStyle/>
          <a:p>
            <a:pPr algn="ctr"/>
          </a:p>
        </p:txBody>
      </p:sp>
      <p:sp>
        <p:nvSpPr>
          <p:cNvPr id="14" name="Oval 13"/>
          <p:cNvSpPr/>
          <p:nvPr/>
        </p:nvSpPr>
        <p:spPr>
          <a:xfrm>
            <a:off x="9651949" y="272198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14862" y="38807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a usual day trades 1.3 million. </a:t>
            </a:r>
            <a:r>
              <a:rPr sz="1700" b="1" i="0">
                <a:solidFill>
                  <a:srgbClr val="E09B00"/>
                </a:solidFill>
                <a:latin typeface="Arial"/>
              </a:rPr>
              <a:t>(1)</a:t>
            </a:r>
            <a:r>
              <a:rPr sz="1700" b="0" i="0">
                <a:solidFill>
                  <a:srgbClr val="1A1A1A"/>
                </a:solidFill>
                <a:latin typeface="Arial"/>
              </a:rPr>
              <a:t> Price closes PHP 0.80 above a two-month falling trendline, </a:t>
            </a:r>
            <a:r>
              <a:rPr sz="1700" b="1" i="0">
                <a:solidFill>
                  <a:srgbClr val="C62828"/>
                </a:solidFill>
                <a:latin typeface="Arial"/>
              </a:rPr>
              <a:t>(2)</a:t>
            </a:r>
            <a:r>
              <a:rPr sz="1700" b="0" i="0">
                <a:solidFill>
                  <a:srgbClr val="1A1A1A"/>
                </a:solidFill>
                <a:latin typeface="Arial"/>
              </a:rPr>
              <a:t> on 1.3 million: an ordinary day.</a:t>
            </a:r>
          </a:p>
          <a:p>
            <a:pPr algn="l">
              <a:lnSpc>
                <a:spcPct val="105000"/>
              </a:lnSpc>
              <a:spcBef>
                <a:spcPts val="0"/>
              </a:spcBef>
              <a:spcAft>
                <a:spcPts val="1100"/>
              </a:spcAft>
            </a:pPr>
            <a:r>
              <a:rPr sz="1700" b="0" i="0">
                <a:solidFill>
                  <a:srgbClr val="1A1A1A"/>
                </a:solidFill>
                <a:latin typeface="Arial"/>
              </a:rPr>
              <a:t>By volume alone, nothing happened. But the break shows on every chart: </a:t>
            </a:r>
            <a:r>
              <a:rPr sz="1700" b="1" i="0">
                <a:solidFill>
                  <a:srgbClr val="1F5FAD"/>
                </a:solidFill>
                <a:latin typeface="Arial"/>
              </a:rPr>
              <a:t>(3)</a:t>
            </a:r>
            <a:r>
              <a:rPr sz="1700" b="0" i="0">
                <a:solidFill>
                  <a:srgbClr val="1A1A1A"/>
                </a:solidFill>
                <a:latin typeface="Arial"/>
              </a:rPr>
              <a:t> days later, 3 million trade.</a:t>
            </a:r>
          </a:p>
          <a:p>
            <a:pPr algn="l">
              <a:lnSpc>
                <a:spcPct val="105000"/>
              </a:lnSpc>
              <a:spcBef>
                <a:spcPts val="0"/>
              </a:spcBef>
              <a:spcAft>
                <a:spcPts val="1100"/>
              </a:spcAft>
            </a:pPr>
            <a:r>
              <a:rPr sz="1700" b="0" i="0">
                <a:solidFill>
                  <a:srgbClr val="1A1A1A"/>
                </a:solidFill>
                <a:latin typeface="Arial"/>
              </a:rPr>
              <a:t>Light volume on a break does not cancel it: watch whether volume follows. The book does not say for how long.</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can follow the signal: more often now, the book says, as technical analysis is widely used.</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e.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040111" y="3105668"/>
            <a:ext cx="308701" cy="351129"/>
          </a:xfrm>
          <a:prstGeom prst="ellipse">
            <a:avLst/>
          </a:prstGeom>
          <a:noFill/>
          <a:ln w="44450">
            <a:solidFill>
              <a:srgbClr val="E09B00"/>
            </a:solidFill>
          </a:ln>
        </p:spPr>
        <p:txBody>
          <a:bodyPr rtlCol="0" anchor="ctr"/>
          <a:lstStyle/>
          <a:p>
            <a:pPr algn="ctr"/>
          </a:p>
        </p:txBody>
      </p:sp>
      <p:sp>
        <p:nvSpPr>
          <p:cNvPr id="13" name="Rectangle 12"/>
          <p:cNvSpPr/>
          <p:nvPr/>
        </p:nvSpPr>
        <p:spPr>
          <a:xfrm>
            <a:off x="10136581" y="4562856"/>
            <a:ext cx="135056" cy="456468"/>
          </a:xfrm>
          <a:prstGeom prst="rect">
            <a:avLst/>
          </a:prstGeom>
          <a:noFill/>
          <a:ln w="44450">
            <a:solidFill>
              <a:srgbClr val="C62828"/>
            </a:solidFill>
          </a:ln>
        </p:spPr>
        <p:txBody>
          <a:bodyPr rtlCol="0" anchor="ctr"/>
          <a:lstStyle/>
          <a:p>
            <a:pPr algn="ctr"/>
          </a:p>
        </p:txBody>
      </p:sp>
      <p:sp>
        <p:nvSpPr>
          <p:cNvPr id="14" name="Rectangle 13"/>
          <p:cNvSpPr/>
          <p:nvPr/>
        </p:nvSpPr>
        <p:spPr>
          <a:xfrm>
            <a:off x="10503164" y="4036161"/>
            <a:ext cx="694578" cy="1000719"/>
          </a:xfrm>
          <a:prstGeom prst="rect">
            <a:avLst/>
          </a:prstGeom>
          <a:noFill/>
          <a:ln w="44450">
            <a:solidFill>
              <a:srgbClr val="1F5FAD"/>
            </a:solidFill>
          </a:ln>
        </p:spPr>
        <p:txBody>
          <a:bodyPr rtlCol="0" anchor="ctr"/>
          <a:lstStyle/>
          <a:p>
            <a:pPr algn="ctr"/>
          </a:p>
        </p:txBody>
      </p:sp>
      <p:sp>
        <p:nvSpPr>
          <p:cNvPr id="15" name="Oval 14"/>
          <p:cNvSpPr/>
          <p:nvPr/>
        </p:nvSpPr>
        <p:spPr>
          <a:xfrm>
            <a:off x="10058308" y="351202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826782" y="47234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1080881" y="402116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JE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and the chart, Chart AK's line with its numbers. The book gives no test for when a light volume signal will draw volume in.</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26</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a:t>
            </a:r>
            <a:r>
              <a:rPr sz="1700" b="1" i="0">
                <a:solidFill>
                  <a:srgbClr val="E09B00"/>
                </a:solidFill>
                <a:latin typeface="Arial"/>
              </a:rPr>
              <a:t>(1)</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a continuation at </a:t>
            </a:r>
            <a:r>
              <a:rPr sz="1700" b="1" i="0">
                <a:solidFill>
                  <a:srgbClr val="C62828"/>
                </a:solidFill>
                <a:latin typeface="Arial"/>
              </a:rPr>
              <a:t>(2)</a:t>
            </a:r>
            <a:r>
              <a:rPr sz="1700" b="0" i="0">
                <a:solidFill>
                  <a:srgbClr val="1A1A1A"/>
                </a:solidFill>
                <a:latin typeface="Arial"/>
              </a:rPr>
              <a:t>.</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Oval 15"/>
          <p:cNvSpPr/>
          <p:nvPr/>
        </p:nvSpPr>
        <p:spPr>
          <a:xfrm>
            <a:off x="8202350" y="3400013"/>
            <a:ext cx="323331" cy="348020"/>
          </a:xfrm>
          <a:prstGeom prst="ellipse">
            <a:avLst/>
          </a:prstGeom>
          <a:noFill/>
          <a:ln w="44450">
            <a:solidFill>
              <a:srgbClr val="E09B00"/>
            </a:solidFill>
          </a:ln>
        </p:spPr>
        <p:txBody>
          <a:bodyPr rtlCol="0" anchor="ctr"/>
          <a:lstStyle/>
          <a:p>
            <a:pPr algn="ctr"/>
          </a:p>
        </p:txBody>
      </p:sp>
      <p:sp>
        <p:nvSpPr>
          <p:cNvPr id="17" name="Oval 16"/>
          <p:cNvSpPr/>
          <p:nvPr/>
        </p:nvSpPr>
        <p:spPr>
          <a:xfrm>
            <a:off x="9374428" y="2846344"/>
            <a:ext cx="323331" cy="348020"/>
          </a:xfrm>
          <a:prstGeom prst="ellipse">
            <a:avLst/>
          </a:prstGeom>
          <a:noFill/>
          <a:ln w="44450">
            <a:solidFill>
              <a:srgbClr val="C62828"/>
            </a:solidFill>
          </a:ln>
        </p:spPr>
        <p:txBody>
          <a:bodyPr rtlCol="0" anchor="ctr"/>
          <a:lstStyle/>
          <a:p>
            <a:pPr algn="ctr"/>
          </a:p>
        </p:txBody>
      </p:sp>
      <p:sp>
        <p:nvSpPr>
          <p:cNvPr id="18" name="Oval 17"/>
          <p:cNvSpPr/>
          <p:nvPr/>
        </p:nvSpPr>
        <p:spPr>
          <a:xfrm>
            <a:off x="10526298" y="2545781"/>
            <a:ext cx="323331" cy="348020"/>
          </a:xfrm>
          <a:prstGeom prst="ellipse">
            <a:avLst/>
          </a:prstGeom>
          <a:noFill/>
          <a:ln w="44450">
            <a:solidFill>
              <a:srgbClr val="1F5FAD"/>
            </a:solidFill>
          </a:ln>
        </p:spPr>
        <p:txBody>
          <a:bodyPr rtlCol="0" anchor="ctr"/>
          <a:lstStyle/>
          <a:p>
            <a:pPr algn="ctr"/>
          </a:p>
        </p:txBody>
      </p:sp>
      <p:sp>
        <p:nvSpPr>
          <p:cNvPr id="19" name="Oval 18"/>
          <p:cNvSpPr/>
          <p:nvPr/>
        </p:nvSpPr>
        <p:spPr>
          <a:xfrm>
            <a:off x="7905445" y="36400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9077523" y="307055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55848" y="23428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TextBox 2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26</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30-minute EURUSD: almost every reversal comes at a peak in tick volume, Part 4's count of trades: the daily spikes in the bottom panel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Follow the solid line down from Market bottom </a:t>
            </a:r>
            <a:r>
              <a:rPr sz="1700" b="1" i="0">
                <a:solidFill>
                  <a:srgbClr val="E09B00"/>
                </a:solidFill>
                <a:latin typeface="Arial"/>
              </a:rPr>
              <a:t>(1)</a:t>
            </a:r>
            <a:r>
              <a:rPr sz="1700" b="0" i="0">
                <a:solidFill>
                  <a:srgbClr val="1A1A1A"/>
                </a:solidFill>
                <a:latin typeface="Arial"/>
              </a:rPr>
              <a:t>: it lands on one of the tallest spikes </a:t>
            </a:r>
            <a:r>
              <a:rPr sz="1700" b="1" i="0">
                <a:solidFill>
                  <a:srgbClr val="007A33"/>
                </a:solidFill>
                <a:latin typeface="Arial"/>
              </a:rPr>
              <a:t>(4)</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Especially useful when price retests a support or resistance level </a:t>
            </a:r>
            <a:r>
              <a:rPr sz="1700" b="1" i="0">
                <a:solidFill>
                  <a:srgbClr val="1F5FAD"/>
                </a:solidFill>
                <a:latin typeface="Arial"/>
              </a:rPr>
              <a:t>(3)</a:t>
            </a:r>
            <a:r>
              <a:rPr sz="1700" b="0" i="0">
                <a:solidFill>
                  <a:srgbClr val="1A1A1A"/>
                </a:solidFill>
                <a:latin typeface="Arial"/>
              </a:rPr>
              <a:t>: comes back to one it turned at before.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straddle the peak: catch price either way.</a:t>
            </a:r>
          </a:p>
        </p:txBody>
      </p:sp>
      <p:sp>
        <p:nvSpPr>
          <p:cNvPr id="10" name="Rectangle 9"/>
          <p:cNvSpPr/>
          <p:nvPr/>
        </p:nvSpPr>
        <p:spPr>
          <a:xfrm>
            <a:off x="6400799" y="1810512"/>
            <a:ext cx="5013655" cy="268944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19671" y="1929384"/>
            <a:ext cx="4775911" cy="245169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19671" y="1929384"/>
            <a:ext cx="477591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93991" y="2203703"/>
            <a:ext cx="4227271" cy="199449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6.36</a:t>
            </a:r>
          </a:p>
          <a:p>
            <a:pPr algn="l">
              <a:lnSpc>
                <a:spcPct val="115000"/>
              </a:lnSpc>
              <a:spcBef>
                <a:spcPts val="0"/>
              </a:spcBef>
              <a:spcAft>
                <a:spcPts val="0"/>
              </a:spcAft>
            </a:pPr>
            <a:r>
              <a:rPr sz="1500" b="0" i="0">
                <a:solidFill>
                  <a:srgbClr val="1A1A1A"/>
                </a:solidFill>
                <a:latin typeface="Palatino"/>
              </a:rPr>
              <a:t>A 30-minute EURUSD chart over weeks, with support and resistance lines, a triangle and a channel, over daily volume cycles; price turns at the peaks.</a:t>
            </a:r>
          </a:p>
        </p:txBody>
      </p:sp>
      <p:sp>
        <p:nvSpPr>
          <p:cNvPr id="14" name="Oval 13"/>
          <p:cNvSpPr/>
          <p:nvPr/>
        </p:nvSpPr>
        <p:spPr>
          <a:xfrm>
            <a:off x="8119602" y="3559764"/>
            <a:ext cx="262675" cy="208394"/>
          </a:xfrm>
          <a:prstGeom prst="ellipse">
            <a:avLst/>
          </a:prstGeom>
          <a:noFill/>
          <a:ln w="44450">
            <a:solidFill>
              <a:srgbClr val="E09B00"/>
            </a:solidFill>
          </a:ln>
        </p:spPr>
        <p:txBody>
          <a:bodyPr rtlCol="0" anchor="ctr"/>
          <a:lstStyle/>
          <a:p>
            <a:pPr algn="ctr"/>
          </a:p>
        </p:txBody>
      </p:sp>
      <p:sp>
        <p:nvSpPr>
          <p:cNvPr id="15" name="Rectangle 14"/>
          <p:cNvSpPr/>
          <p:nvPr/>
        </p:nvSpPr>
        <p:spPr>
          <a:xfrm>
            <a:off x="6615190" y="4050104"/>
            <a:ext cx="4584874" cy="269686"/>
          </a:xfrm>
          <a:prstGeom prst="rect">
            <a:avLst/>
          </a:prstGeom>
          <a:noFill/>
          <a:ln w="44450">
            <a:solidFill>
              <a:srgbClr val="C62828"/>
            </a:solidFill>
          </a:ln>
        </p:spPr>
        <p:txBody>
          <a:bodyPr rtlCol="0" anchor="ctr"/>
          <a:lstStyle/>
          <a:p>
            <a:pPr algn="ctr"/>
          </a:p>
        </p:txBody>
      </p:sp>
      <p:sp>
        <p:nvSpPr>
          <p:cNvPr id="16" name="Rectangle 15"/>
          <p:cNvSpPr/>
          <p:nvPr/>
        </p:nvSpPr>
        <p:spPr>
          <a:xfrm>
            <a:off x="8668831" y="2713927"/>
            <a:ext cx="859663" cy="588407"/>
          </a:xfrm>
          <a:prstGeom prst="rect">
            <a:avLst/>
          </a:prstGeom>
          <a:noFill/>
          <a:ln w="44450">
            <a:solidFill>
              <a:srgbClr val="1F5FAD"/>
            </a:solidFill>
          </a:ln>
        </p:spPr>
        <p:txBody>
          <a:bodyPr rtlCol="0" anchor="ctr"/>
          <a:lstStyle/>
          <a:p>
            <a:pPr algn="ctr"/>
          </a:p>
        </p:txBody>
      </p:sp>
      <p:cxnSp>
        <p:nvCxnSpPr>
          <p:cNvPr id="17" name="Connector 16"/>
          <p:cNvCxnSpPr/>
          <p:nvPr/>
        </p:nvCxnSpPr>
        <p:spPr>
          <a:xfrm flipH="1">
            <a:off x="8296310" y="3890743"/>
            <a:ext cx="372521" cy="208395"/>
          </a:xfrm>
          <a:prstGeom prst="line">
            <a:avLst/>
          </a:prstGeom>
          <a:ln w="44450">
            <a:solidFill>
              <a:srgbClr val="007A33"/>
            </a:solidFill>
            <a:tailEnd type="triangle" w="med" len="med"/>
          </a:ln>
        </p:spPr>
      </p:cxnSp>
      <p:sp>
        <p:nvSpPr>
          <p:cNvPr id="18" name="Oval 17"/>
          <p:cNvSpPr/>
          <p:nvPr/>
        </p:nvSpPr>
        <p:spPr>
          <a:xfrm>
            <a:off x="7844756" y="34410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1068496" y="40294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417865" y="25094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8608902" y="37107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400799" y="4591395"/>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Hourly EURUSD: price rebounds off a rising trendline at the book's 1 </a:t>
            </a:r>
            <a:r>
              <a:rPr sz="2000" b="1" i="0">
                <a:solidFill>
                  <a:srgbClr val="E09B00"/>
                </a:solidFill>
                <a:latin typeface="Arial"/>
              </a:rPr>
              <a:t>(1)</a:t>
            </a:r>
            <a:r>
              <a:rPr sz="2000" b="0" i="0">
                <a:solidFill>
                  <a:srgbClr val="1A1A1A"/>
                </a:solidFill>
                <a:latin typeface="Arial"/>
              </a:rPr>
              <a:t> and at its 4 and 5 </a:t>
            </a:r>
            <a:r>
              <a:rPr sz="2000" b="1" i="0">
                <a:solidFill>
                  <a:srgbClr val="C62828"/>
                </a:solidFill>
                <a:latin typeface="Arial"/>
              </a:rPr>
              <a:t>(2)</a:t>
            </a:r>
            <a:r>
              <a:rPr sz="2000" b="0" i="0">
                <a:solidFill>
                  <a:srgbClr val="1A1A1A"/>
                </a:solidFill>
                <a:latin typeface="Arial"/>
              </a:rPr>
              <a:t>, each time at a tick volume peak </a:t>
            </a:r>
            <a:r>
              <a:rPr sz="2000" b="1" i="0">
                <a:solidFill>
                  <a:srgbClr val="1F5FAD"/>
                </a:solidFill>
                <a:latin typeface="Arial"/>
              </a:rPr>
              <a:t>(3)</a:t>
            </a:r>
            <a:r>
              <a:rPr sz="2000" b="0" i="0">
                <a:solidFill>
                  <a:srgbClr val="1A1A1A"/>
                </a:solidFill>
                <a:latin typeface="Arial"/>
              </a:rPr>
              <a:t>.</a:t>
            </a:r>
          </a:p>
          <a:p>
            <a:pPr algn="l">
              <a:lnSpc>
                <a:spcPct val="105000"/>
              </a:lnSpc>
              <a:spcBef>
                <a:spcPts val="0"/>
              </a:spcBef>
              <a:spcAft>
                <a:spcPts val="1100"/>
              </a:spcAft>
            </a:pPr>
            <a:r>
              <a:rPr sz="2000" b="0" i="0">
                <a:solidFill>
                  <a:srgbClr val="1A1A1A"/>
                </a:solidFill>
                <a:latin typeface="Arial"/>
              </a:rPr>
              <a:t>At the book's 2 and 3, the trendline failed.</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2793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Retests at a volume peak: the line held three times of five.</a:t>
            </a:r>
          </a:p>
        </p:txBody>
      </p:sp>
      <p:sp>
        <p:nvSpPr>
          <p:cNvPr id="10" name="Rectangle 9"/>
          <p:cNvSpPr/>
          <p:nvPr/>
        </p:nvSpPr>
        <p:spPr>
          <a:xfrm>
            <a:off x="5669279" y="1810512"/>
            <a:ext cx="5745175" cy="294276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270502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2478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1500" b="0" i="0">
                <a:solidFill>
                  <a:srgbClr val="1A1A1A"/>
                </a:solidFill>
                <a:latin typeface="Palatino"/>
              </a:rPr>
              <a:t>Hourly EURUSD with rising trendlines and retests 1 to 5, daily volume cycles below, and a stochastic panel: oversold under 1, 4 and 5, not at X and Y.</a:t>
            </a:r>
          </a:p>
        </p:txBody>
      </p:sp>
      <p:cxnSp>
        <p:nvCxnSpPr>
          <p:cNvPr id="14" name="Connector 13"/>
          <p:cNvCxnSpPr/>
          <p:nvPr/>
        </p:nvCxnSpPr>
        <p:spPr>
          <a:xfrm flipV="1">
            <a:off x="5870763" y="2294562"/>
            <a:ext cx="1569618" cy="459854"/>
          </a:xfrm>
          <a:prstGeom prst="line">
            <a:avLst/>
          </a:prstGeom>
          <a:ln w="44450">
            <a:solidFill>
              <a:srgbClr val="E09B00"/>
            </a:solidFill>
          </a:ln>
        </p:spPr>
      </p:cxnSp>
      <p:cxnSp>
        <p:nvCxnSpPr>
          <p:cNvPr id="15" name="Connector 14"/>
          <p:cNvCxnSpPr/>
          <p:nvPr/>
        </p:nvCxnSpPr>
        <p:spPr>
          <a:xfrm flipV="1">
            <a:off x="9340444" y="2835567"/>
            <a:ext cx="1707304" cy="459854"/>
          </a:xfrm>
          <a:prstGeom prst="line">
            <a:avLst/>
          </a:prstGeom>
          <a:ln w="44450">
            <a:solidFill>
              <a:srgbClr val="C62828"/>
            </a:solidFill>
          </a:ln>
        </p:spPr>
      </p:cxnSp>
      <p:sp>
        <p:nvSpPr>
          <p:cNvPr id="16" name="Rectangle 15"/>
          <p:cNvSpPr/>
          <p:nvPr/>
        </p:nvSpPr>
        <p:spPr>
          <a:xfrm>
            <a:off x="5815689" y="3620024"/>
            <a:ext cx="5452356" cy="270502"/>
          </a:xfrm>
          <a:prstGeom prst="rect">
            <a:avLst/>
          </a:prstGeom>
          <a:noFill/>
          <a:ln w="44450">
            <a:solidFill>
              <a:srgbClr val="1F5FAD"/>
            </a:solidFill>
          </a:ln>
        </p:spPr>
        <p:txBody>
          <a:bodyPr rtlCol="0" anchor="ctr"/>
          <a:lstStyle/>
          <a:p>
            <a:pPr algn="ctr"/>
          </a:p>
        </p:txBody>
      </p:sp>
      <p:sp>
        <p:nvSpPr>
          <p:cNvPr id="17" name="Oval 16"/>
          <p:cNvSpPr/>
          <p:nvPr/>
        </p:nvSpPr>
        <p:spPr>
          <a:xfrm>
            <a:off x="5715315" y="27477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047311" y="32075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1057523" y="335637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5669279" y="4844721"/>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Retests and the stochastic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23 of 26</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Bottom panel: a cycle-tuned stochastic. At the book's 1, 4 and 5 it read oversold: its line on the lower line, the grey boxes </a:t>
            </a:r>
            <a:r>
              <a:rPr sz="1700" b="1" i="0">
                <a:solidFill>
                  <a:srgbClr val="E09B00"/>
                </a:solidFill>
                <a:latin typeface="Arial"/>
              </a:rPr>
              <a:t>(1)</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At 2 and 3 the trendline failed: at circles Y </a:t>
            </a:r>
            <a:r>
              <a:rPr sz="1700" b="1" i="0">
                <a:solidFill>
                  <a:srgbClr val="C62828"/>
                </a:solidFill>
                <a:latin typeface="Arial"/>
              </a:rPr>
              <a:t>(2)</a:t>
            </a:r>
            <a:r>
              <a:rPr sz="1700" b="0" i="0">
                <a:solidFill>
                  <a:srgbClr val="1A1A1A"/>
                </a:solidFill>
                <a:latin typeface="Arial"/>
              </a:rPr>
              <a:t> and X </a:t>
            </a:r>
            <a:r>
              <a:rPr sz="1700" b="1" i="0">
                <a:solidFill>
                  <a:srgbClr val="1F5FAD"/>
                </a:solidFill>
                <a:latin typeface="Arial"/>
              </a:rPr>
              <a:t>(3)</a:t>
            </a:r>
            <a:r>
              <a:rPr sz="1700" b="0" i="0">
                <a:solidFill>
                  <a:srgbClr val="1A1A1A"/>
                </a:solidFill>
                <a:latin typeface="Arial"/>
              </a:rPr>
              <a:t> the stochastic was still mid-panel, not clearly oversold.</a:t>
            </a:r>
          </a:p>
          <a:p>
            <a:pPr algn="l">
              <a:lnSpc>
                <a:spcPct val="105000"/>
              </a:lnSpc>
              <a:spcBef>
                <a:spcPts val="0"/>
              </a:spcBef>
              <a:spcAft>
                <a:spcPts val="1100"/>
              </a:spcAft>
            </a:pPr>
            <a:r>
              <a:rPr sz="1700" b="0" i="0">
                <a:solidFill>
                  <a:srgbClr val="1A1A1A"/>
                </a:solidFill>
                <a:latin typeface="Arial"/>
              </a:rPr>
              <a:t>The book never defines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2793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5669279" y="1810512"/>
            <a:ext cx="5745175" cy="145500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121726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76006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6.37</a:t>
            </a:r>
          </a:p>
          <a:p>
            <a:pPr algn="l">
              <a:lnSpc>
                <a:spcPct val="115000"/>
              </a:lnSpc>
              <a:spcBef>
                <a:spcPts val="0"/>
              </a:spcBef>
              <a:spcAft>
                <a:spcPts val="0"/>
              </a:spcAft>
            </a:pPr>
            <a:r>
              <a:rPr sz="900" b="0" i="0">
                <a:solidFill>
                  <a:srgbClr val="1A1A1A"/>
                </a:solidFill>
                <a:latin typeface="Palatino"/>
              </a:rPr>
              <a:t>The volume and stochastic panels of Figure 6.37, enlarged: grey boxes where its line sits on the lower line, under the book's retests 1, 4 and 5, and circles Y and X where it does not.</a:t>
            </a:r>
          </a:p>
        </p:txBody>
      </p:sp>
      <p:sp>
        <p:nvSpPr>
          <p:cNvPr id="14" name="Rectangle 13"/>
          <p:cNvSpPr/>
          <p:nvPr/>
        </p:nvSpPr>
        <p:spPr>
          <a:xfrm>
            <a:off x="6228746" y="2854502"/>
            <a:ext cx="4791464" cy="146071"/>
          </a:xfrm>
          <a:prstGeom prst="rect">
            <a:avLst/>
          </a:prstGeom>
          <a:noFill/>
          <a:ln w="44450">
            <a:solidFill>
              <a:srgbClr val="E09B00"/>
            </a:solidFill>
          </a:ln>
        </p:spPr>
        <p:txBody>
          <a:bodyPr rtlCol="0" anchor="ctr"/>
          <a:lstStyle/>
          <a:p>
            <a:pPr algn="ctr"/>
          </a:p>
        </p:txBody>
      </p:sp>
      <p:sp>
        <p:nvSpPr>
          <p:cNvPr id="15" name="Oval 14"/>
          <p:cNvSpPr/>
          <p:nvPr/>
        </p:nvSpPr>
        <p:spPr>
          <a:xfrm>
            <a:off x="7054861" y="2635395"/>
            <a:ext cx="385520" cy="243452"/>
          </a:xfrm>
          <a:prstGeom prst="ellipse">
            <a:avLst/>
          </a:prstGeom>
          <a:noFill/>
          <a:ln w="44450">
            <a:solidFill>
              <a:srgbClr val="C62828"/>
            </a:solidFill>
          </a:ln>
        </p:spPr>
        <p:txBody>
          <a:bodyPr rtlCol="0" anchor="ctr"/>
          <a:lstStyle/>
          <a:p>
            <a:pPr algn="ctr"/>
          </a:p>
        </p:txBody>
      </p:sp>
      <p:sp>
        <p:nvSpPr>
          <p:cNvPr id="16" name="Oval 15"/>
          <p:cNvSpPr/>
          <p:nvPr/>
        </p:nvSpPr>
        <p:spPr>
          <a:xfrm>
            <a:off x="8652016" y="2635395"/>
            <a:ext cx="385520" cy="243452"/>
          </a:xfrm>
          <a:prstGeom prst="ellipse">
            <a:avLst/>
          </a:prstGeom>
          <a:noFill/>
          <a:ln w="44450">
            <a:solidFill>
              <a:srgbClr val="1F5FAD"/>
            </a:solidFill>
          </a:ln>
        </p:spPr>
        <p:txBody>
          <a:bodyPr rtlCol="0" anchor="ctr"/>
          <a:lstStyle/>
          <a:p>
            <a:pPr algn="ctr"/>
          </a:p>
        </p:txBody>
      </p:sp>
      <p:sp>
        <p:nvSpPr>
          <p:cNvPr id="17" name="Oval 16"/>
          <p:cNvSpPr/>
          <p:nvPr/>
        </p:nvSpPr>
        <p:spPr>
          <a:xfrm>
            <a:off x="5853001" y="277209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734190" y="24556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331345" y="24556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5669279" y="3356957"/>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its volume and stochastic panels. Oversold and the cycle-tuned stochastic are named, not taught: oscillators are the book's Chapter 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24 of 26</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2000" b="0" i="0">
                <a:solidFill>
                  <a:srgbClr val="1A1A1A"/>
                </a:solidFill>
                <a:latin typeface="Arial"/>
              </a:rPr>
              <a:t>That changes the angle of trendlines, channels and chart patterns. Figure 6.38, top: Apple on a standard daily chart, with a trendline </a:t>
            </a:r>
            <a:r>
              <a:rPr sz="2000" b="1" i="0">
                <a:solidFill>
                  <a:srgbClr val="C62828"/>
                </a:solidFill>
                <a:latin typeface="Arial"/>
              </a:rPr>
              <a:t>(2)</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55595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E09B00"/>
                </a:solidFill>
                <a:latin typeface="Arial"/>
              </a:rPr>
              <a:t>(1)</a:t>
            </a:r>
            <a:r>
              <a:rPr sz="2100" b="1" i="0">
                <a:solidFill>
                  <a:srgbClr val="1A1A1A"/>
                </a:solidFill>
                <a:latin typeface="Arial"/>
              </a:rPr>
              <a:t> Circled, late May: on the standard chart, price stays above the line.</a:t>
            </a:r>
          </a:p>
        </p:txBody>
      </p:sp>
      <p:sp>
        <p:nvSpPr>
          <p:cNvPr id="10" name="Rectangle 9"/>
          <p:cNvSpPr/>
          <p:nvPr/>
        </p:nvSpPr>
        <p:spPr>
          <a:xfrm>
            <a:off x="6949440" y="1810512"/>
            <a:ext cx="4465014" cy="286321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068312" y="1929384"/>
            <a:ext cx="4227270" cy="262546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068312" y="1929384"/>
            <a:ext cx="42272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42631" y="2203703"/>
            <a:ext cx="3678631" cy="216826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upper panel of Figure 6.38: Apple on a standard daily chart, a rising trendline under it, and a circle in late May where price stays above the line.</a:t>
            </a:r>
          </a:p>
        </p:txBody>
      </p:sp>
      <p:sp>
        <p:nvSpPr>
          <p:cNvPr id="14" name="Oval 13"/>
          <p:cNvSpPr/>
          <p:nvPr/>
        </p:nvSpPr>
        <p:spPr>
          <a:xfrm>
            <a:off x="9942856" y="3084590"/>
            <a:ext cx="464999" cy="498839"/>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8040584" y="3176481"/>
            <a:ext cx="2916817" cy="1128952"/>
          </a:xfrm>
          <a:prstGeom prst="line">
            <a:avLst/>
          </a:prstGeom>
          <a:ln w="44450">
            <a:solidFill>
              <a:srgbClr val="C62828"/>
            </a:solidFill>
          </a:ln>
        </p:spPr>
      </p:cxnSp>
      <p:sp>
        <p:nvSpPr>
          <p:cNvPr id="16" name="Oval 15"/>
          <p:cNvSpPr/>
          <p:nvPr/>
        </p:nvSpPr>
        <p:spPr>
          <a:xfrm>
            <a:off x="9956499" y="290288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85136" y="399245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949440" y="4765165"/>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upper panel. Point and figure, Renko, three line break and equivolume charts were Chapter 3 terms.</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line on the equivolume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25 of 26</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800" b="0" i="0">
                <a:solidFill>
                  <a:srgbClr val="1A1A1A"/>
                </a:solidFill>
                <a:latin typeface="Arial"/>
              </a:rPr>
              <a:t>Figure 6.38, bottom: the same Apple prices on an equivolume chart, and the same trendline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So the same line meets late May at a different place.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E09B00"/>
                </a:solidFill>
                <a:latin typeface="Arial"/>
              </a:rPr>
              <a:t>(1)</a:t>
            </a:r>
            <a:r>
              <a:rPr sz="1900" b="1" i="0">
                <a:solidFill>
                  <a:srgbClr val="1A1A1A"/>
                </a:solidFill>
                <a:latin typeface="Arial"/>
              </a:rPr>
              <a:t> Circled, late May: on the equivolume chart, price cuts through the line.</a:t>
            </a:r>
          </a:p>
        </p:txBody>
      </p:sp>
      <p:sp>
        <p:nvSpPr>
          <p:cNvPr id="10" name="Rectangle 9"/>
          <p:cNvSpPr/>
          <p:nvPr/>
        </p:nvSpPr>
        <p:spPr>
          <a:xfrm>
            <a:off x="6583679" y="1810512"/>
            <a:ext cx="4830775" cy="306156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82382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666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6.38</a:t>
            </a:r>
          </a:p>
          <a:p>
            <a:pPr algn="l">
              <a:lnSpc>
                <a:spcPct val="115000"/>
              </a:lnSpc>
              <a:spcBef>
                <a:spcPts val="0"/>
              </a:spcBef>
              <a:spcAft>
                <a:spcPts val="0"/>
              </a:spcAft>
            </a:pPr>
            <a:r>
              <a:rPr sz="1500" b="0" i="0">
                <a:solidFill>
                  <a:srgbClr val="1A1A1A"/>
                </a:solidFill>
                <a:latin typeface="Palatino"/>
              </a:rPr>
              <a:t>The lower panel of Figure 6.38: the same Apple prices on an equivolume chart, the same trendline, and a circle in late May where price cuts through the line.</a:t>
            </a:r>
          </a:p>
        </p:txBody>
      </p:sp>
      <p:sp>
        <p:nvSpPr>
          <p:cNvPr id="14" name="Oval 13"/>
          <p:cNvSpPr/>
          <p:nvPr/>
        </p:nvSpPr>
        <p:spPr>
          <a:xfrm>
            <a:off x="9917673" y="2917721"/>
            <a:ext cx="551163" cy="564764"/>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7850809" y="3016555"/>
            <a:ext cx="2709889" cy="1468386"/>
          </a:xfrm>
          <a:prstGeom prst="line">
            <a:avLst/>
          </a:prstGeom>
          <a:ln w="44450">
            <a:solidFill>
              <a:srgbClr val="C62828"/>
            </a:solidFill>
          </a:ln>
        </p:spPr>
      </p:cxnSp>
      <p:sp>
        <p:nvSpPr>
          <p:cNvPr id="16" name="Oval 15"/>
          <p:cNvSpPr/>
          <p:nvPr/>
        </p:nvSpPr>
        <p:spPr>
          <a:xfrm>
            <a:off x="9808156" y="279051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695361" y="41600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96351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its lower panel: the same prices and the same line as the slide before, on an equivolume chart.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26 of 26</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lows of PHP 100 and 110, ten ordinary days apart, one step a day on both charts: the line rises PHP 1.00 a step.</a:t>
            </a:r>
          </a:p>
          <a:p>
            <a:pPr algn="l">
              <a:lnSpc>
                <a:spcPct val="105000"/>
              </a:lnSpc>
              <a:spcBef>
                <a:spcPts val="0"/>
              </a:spcBef>
              <a:spcAft>
                <a:spcPts val="1100"/>
              </a:spcAft>
            </a:pPr>
            <a:r>
              <a:rPr sz="1700" b="0" i="0">
                <a:solidFill>
                  <a:srgbClr val="1A1A1A"/>
                </a:solidFill>
                <a:latin typeface="Arial"/>
              </a:rPr>
              <a:t>Then five heavy days: </a:t>
            </a:r>
            <a:r>
              <a:rPr sz="1700" b="1" i="0">
                <a:solidFill>
                  <a:srgbClr val="E09B00"/>
                </a:solidFill>
                <a:latin typeface="Arial"/>
              </a:rPr>
              <a:t>(1)</a:t>
            </a:r>
            <a:r>
              <a:rPr sz="1700" b="0" i="0">
                <a:solidFill>
                  <a:srgbClr val="1A1A1A"/>
                </a:solidFill>
                <a:latin typeface="Arial"/>
              </a:rPr>
              <a:t> one step each on the daily chart, </a:t>
            </a:r>
            <a:r>
              <a:rPr sz="1700" b="1" i="0">
                <a:solidFill>
                  <a:srgbClr val="C62828"/>
                </a:solidFill>
                <a:latin typeface="Arial"/>
              </a:rPr>
              <a:t>(2)</a:t>
            </a:r>
            <a:r>
              <a:rPr sz="1700" b="0" i="0">
                <a:solidFill>
                  <a:srgbClr val="1A1A1A"/>
                </a:solidFill>
                <a:latin typeface="Arial"/>
              </a:rPr>
              <a:t> two each on the equivolume one. The lines reach PHP 115 and PHP 120.</a:t>
            </a:r>
          </a:p>
          <a:p>
            <a:pPr algn="l">
              <a:lnSpc>
                <a:spcPct val="105000"/>
              </a:lnSpc>
              <a:spcBef>
                <a:spcPts val="0"/>
              </a:spcBef>
              <a:spcAft>
                <a:spcPts val="1100"/>
              </a:spcAft>
            </a:pPr>
            <a:r>
              <a:rPr sz="1700" b="0" i="0">
                <a:solidFill>
                  <a:srgbClr val="1A1A1A"/>
                </a:solidFill>
                <a:latin typeface="Arial"/>
              </a:rPr>
              <a:t>That day's low of PHP 117 holds above the daily line and cuts the equivolume one. Equal widths would move nothing.</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shows the discrepancy, not which break to trust.</a:t>
            </a:r>
          </a:p>
        </p:txBody>
      </p:sp>
      <p:sp>
        <p:nvSpPr>
          <p:cNvPr id="10" name="Rectangle 9"/>
          <p:cNvSpPr/>
          <p:nvPr/>
        </p:nvSpPr>
        <p:spPr>
          <a:xfrm>
            <a:off x="7316571" y="1810512"/>
            <a:ext cx="4096511"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g.png"/>
          <p:cNvPicPr>
            <a:picLocks noChangeAspect="1"/>
          </p:cNvPicPr>
          <p:nvPr/>
        </p:nvPicPr>
        <p:blipFill>
          <a:blip r:embed="rId2"/>
          <a:stretch>
            <a:fillRect/>
          </a:stretch>
        </p:blipFill>
        <p:spPr>
          <a:xfrm>
            <a:off x="7435443" y="1929384"/>
            <a:ext cx="3858768" cy="3511296"/>
          </a:xfrm>
          <a:prstGeom prst="rect">
            <a:avLst/>
          </a:prstGeom>
        </p:spPr>
      </p:pic>
      <p:sp>
        <p:nvSpPr>
          <p:cNvPr id="12" name="Oval 11"/>
          <p:cNvSpPr/>
          <p:nvPr/>
        </p:nvSpPr>
        <p:spPr>
          <a:xfrm>
            <a:off x="10117287" y="2298070"/>
            <a:ext cx="27011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850453" y="3807927"/>
            <a:ext cx="270113" cy="351129"/>
          </a:xfrm>
          <a:prstGeom prst="ellipse">
            <a:avLst/>
          </a:prstGeom>
          <a:noFill/>
          <a:ln w="44450">
            <a:solidFill>
              <a:srgbClr val="C62828"/>
            </a:solidFill>
          </a:ln>
        </p:spPr>
        <p:txBody>
          <a:bodyPr rtlCol="0" anchor="ctr"/>
          <a:lstStyle/>
          <a:p>
            <a:pPr algn="ctr"/>
          </a:p>
        </p:txBody>
      </p:sp>
      <p:sp>
        <p:nvSpPr>
          <p:cNvPr id="14" name="Oval 13"/>
          <p:cNvSpPr/>
          <p:nvPr/>
        </p:nvSpPr>
        <p:spPr>
          <a:xfrm>
            <a:off x="10521360"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1003706" y="414406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315199" y="5650991"/>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and the chart. The book says the angle is affected and shows the result in Figure 6.38; it does not work the arithmetic.</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25</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(the Chaikin pair, later).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sets no start; we start at 0 on day 1, with no day before it. </a:t>
            </a:r>
            <a:r>
              <a:rPr sz="1700" b="1" i="0">
                <a:solidFill>
                  <a:srgbClr val="E09B00"/>
                </a:solidFill>
                <a:latin typeface="Arial"/>
              </a:rPr>
              <a:t>(1)</a:t>
            </a:r>
            <a:r>
              <a:rPr sz="1700" b="0" i="0">
                <a:solidFill>
                  <a:srgbClr val="1A1A1A"/>
                </a:solidFill>
                <a:latin typeface="Arial"/>
              </a:rPr>
              <a:t> Up days: 2.0 + 3.0 = 5.0 million; </a:t>
            </a:r>
            <a:r>
              <a:rPr sz="1700" b="1" i="0">
                <a:solidFill>
                  <a:srgbClr val="C62828"/>
                </a:solidFill>
                <a:latin typeface="Arial"/>
              </a:rPr>
              <a:t>(2)</a:t>
            </a:r>
            <a:r>
              <a:rPr sz="1700" b="0" i="0">
                <a:solidFill>
                  <a:srgbClr val="1A1A1A"/>
                </a:solidFill>
                <a:latin typeface="Arial"/>
              </a:rPr>
              <a:t> down days: 1.5 + 1.0 = 2.5. </a:t>
            </a:r>
            <a:r>
              <a:rPr sz="1700" b="1" i="0">
                <a:solidFill>
                  <a:srgbClr val="1F5FAD"/>
                </a:solidFill>
                <a:latin typeface="Arial"/>
              </a:rPr>
              <a:t>(3)</a:t>
            </a:r>
            <a:r>
              <a:rPr sz="1700" b="0" i="0">
                <a:solidFill>
                  <a:srgbClr val="1A1A1A"/>
                </a:solidFill>
                <a:latin typeface="Arial"/>
              </a:rPr>
              <a:t> OBV: 2.5.</a:t>
            </a:r>
          </a:p>
          <a:p>
            <a:pPr algn="l">
              <a:lnSpc>
                <a:spcPct val="105000"/>
              </a:lnSpc>
              <a:spcBef>
                <a:spcPts val="0"/>
              </a:spcBef>
              <a:spcAft>
                <a:spcPts val="1100"/>
              </a:spcAft>
            </a:pPr>
            <a:r>
              <a:rPr sz="1700" b="0" i="0">
                <a:solidFill>
                  <a:srgbClr val="1A1A1A"/>
                </a:solidFill>
                <a:latin typeface="Arial"/>
              </a:rPr>
              <a:t>Rising OBV: more volume on up closes than down closes. Falling: the reverse.</a:t>
            </a:r>
          </a:p>
          <a:p>
            <a:pPr algn="l">
              <a:lnSpc>
                <a:spcPct val="105000"/>
              </a:lnSpc>
              <a:spcBef>
                <a:spcPts val="0"/>
              </a:spcBef>
              <a:spcAft>
                <a:spcPts val="1100"/>
              </a:spcAft>
            </a:pPr>
            <a:r>
              <a:rPr sz="17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it by rises and falls against price, not by level: next slide.</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h.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081101" y="2210287"/>
            <a:ext cx="1454993" cy="228234"/>
          </a:xfrm>
          <a:prstGeom prst="rect">
            <a:avLst/>
          </a:prstGeom>
          <a:noFill/>
          <a:ln w="44450">
            <a:solidFill>
              <a:srgbClr val="E09B00"/>
            </a:solidFill>
          </a:ln>
        </p:spPr>
        <p:txBody>
          <a:bodyPr rtlCol="0" anchor="ctr"/>
          <a:lstStyle/>
          <a:p>
            <a:pPr algn="ctr"/>
          </a:p>
        </p:txBody>
      </p:sp>
      <p:sp>
        <p:nvSpPr>
          <p:cNvPr id="13" name="Rectangle 12"/>
          <p:cNvSpPr/>
          <p:nvPr/>
        </p:nvSpPr>
        <p:spPr>
          <a:xfrm>
            <a:off x="9495678" y="3491910"/>
            <a:ext cx="1657075" cy="228234"/>
          </a:xfrm>
          <a:prstGeom prst="rect">
            <a:avLst/>
          </a:prstGeom>
          <a:noFill/>
          <a:ln w="44450">
            <a:solidFill>
              <a:srgbClr val="C62828"/>
            </a:solidFill>
          </a:ln>
        </p:spPr>
        <p:txBody>
          <a:bodyPr rtlCol="0" anchor="ctr"/>
          <a:lstStyle/>
          <a:p>
            <a:pPr algn="ctr"/>
          </a:p>
        </p:txBody>
      </p:sp>
      <p:sp>
        <p:nvSpPr>
          <p:cNvPr id="14" name="Oval 13"/>
          <p:cNvSpPr/>
          <p:nvPr/>
        </p:nvSpPr>
        <p:spPr>
          <a:xfrm>
            <a:off x="10344424" y="4088831"/>
            <a:ext cx="282915" cy="316016"/>
          </a:xfrm>
          <a:prstGeom prst="ellipse">
            <a:avLst/>
          </a:prstGeom>
          <a:noFill/>
          <a:ln w="44450">
            <a:solidFill>
              <a:srgbClr val="1F5FAD"/>
            </a:solidFill>
          </a:ln>
        </p:spPr>
        <p:txBody>
          <a:bodyPr rtlCol="0" anchor="ctr"/>
          <a:lstStyle/>
          <a:p>
            <a:pPr algn="ctr"/>
          </a:p>
        </p:txBody>
      </p:sp>
      <p:sp>
        <p:nvSpPr>
          <p:cNvPr id="15" name="Oval 14"/>
          <p:cNvSpPr/>
          <p:nvPr/>
        </p:nvSpPr>
        <p:spPr>
          <a:xfrm>
            <a:off x="9522104" y="21601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8980" y="344180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613349" y="4302069"/>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JH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and the chart are ours, on Chart AM's six days. The reading rule is Part 1's, Figure 6.7.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a:t>
            </a:r>
            <a:r>
              <a:rPr sz="1800" b="1" i="0">
                <a:solidFill>
                  <a:srgbClr val="C62828"/>
                </a:solidFill>
                <a:latin typeface="Arial"/>
              </a:rPr>
              <a:t>(2)</a:t>
            </a:r>
            <a:r>
              <a:rPr sz="1800" b="0" i="0">
                <a:solidFill>
                  <a:srgbClr val="1A1A1A"/>
                </a:solidFill>
                <a:latin typeface="Arial"/>
              </a:rPr>
              <a:t>, not 2.5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Its changes, the relative value, do not. From day 3 </a:t>
            </a:r>
            <a:r>
              <a:rPr sz="1800" b="1" i="0">
                <a:solidFill>
                  <a:srgbClr val="1F5FAD"/>
                </a:solidFill>
                <a:latin typeface="Arial"/>
              </a:rPr>
              <a:t>(3)</a:t>
            </a:r>
            <a:r>
              <a:rPr sz="1800" b="0" i="0">
                <a:solidFill>
                  <a:srgbClr val="1A1A1A"/>
                </a:solidFill>
                <a:latin typeface="Arial"/>
              </a:rPr>
              <a:t>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400799" y="1810512"/>
            <a:ext cx="5013654" cy="3621415"/>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519671" y="1929384"/>
            <a:ext cx="4775910" cy="3383671"/>
          </a:xfrm>
          <a:prstGeom prst="rect">
            <a:avLst/>
          </a:prstGeom>
        </p:spPr>
      </p:pic>
      <p:sp>
        <p:nvSpPr>
          <p:cNvPr id="12" name="Oval 11"/>
          <p:cNvSpPr/>
          <p:nvPr/>
        </p:nvSpPr>
        <p:spPr>
          <a:xfrm>
            <a:off x="10197123" y="2741465"/>
            <a:ext cx="286554" cy="406040"/>
          </a:xfrm>
          <a:prstGeom prst="ellipse">
            <a:avLst/>
          </a:prstGeom>
          <a:noFill/>
          <a:ln w="44450">
            <a:solidFill>
              <a:srgbClr val="E09B00"/>
            </a:solidFill>
          </a:ln>
        </p:spPr>
        <p:txBody>
          <a:bodyPr rtlCol="0" anchor="ctr"/>
          <a:lstStyle/>
          <a:p>
            <a:pPr algn="ctr"/>
          </a:p>
        </p:txBody>
      </p:sp>
      <p:sp>
        <p:nvSpPr>
          <p:cNvPr id="13" name="Oval 12"/>
          <p:cNvSpPr/>
          <p:nvPr/>
        </p:nvSpPr>
        <p:spPr>
          <a:xfrm>
            <a:off x="10197123" y="3181342"/>
            <a:ext cx="286554" cy="270693"/>
          </a:xfrm>
          <a:prstGeom prst="ellipse">
            <a:avLst/>
          </a:prstGeom>
          <a:noFill/>
          <a:ln w="44450">
            <a:solidFill>
              <a:srgbClr val="C62828"/>
            </a:solidFill>
          </a:ln>
        </p:spPr>
        <p:txBody>
          <a:bodyPr rtlCol="0" anchor="ctr"/>
          <a:lstStyle/>
          <a:p>
            <a:pPr algn="ctr"/>
          </a:p>
        </p:txBody>
      </p:sp>
      <p:sp>
        <p:nvSpPr>
          <p:cNvPr id="14" name="Rectangle 13"/>
          <p:cNvSpPr/>
          <p:nvPr/>
        </p:nvSpPr>
        <p:spPr>
          <a:xfrm>
            <a:off x="8191240" y="3756566"/>
            <a:ext cx="620868" cy="710570"/>
          </a:xfrm>
          <a:prstGeom prst="rect">
            <a:avLst/>
          </a:prstGeom>
          <a:noFill/>
          <a:ln w="44450">
            <a:solidFill>
              <a:srgbClr val="1F5FAD"/>
            </a:solidFill>
          </a:ln>
        </p:spPr>
        <p:txBody>
          <a:bodyPr rtlCol="0" anchor="ctr"/>
          <a:lstStyle/>
          <a:p>
            <a:pPr algn="ctr"/>
          </a:p>
        </p:txBody>
      </p:sp>
      <p:sp>
        <p:nvSpPr>
          <p:cNvPr id="15" name="Oval 14"/>
          <p:cNvSpPr/>
          <p:nvPr/>
        </p:nvSpPr>
        <p:spPr>
          <a:xfrm>
            <a:off x="10519266" y="25183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519266" y="336426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7697" y="444703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400799" y="552336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Volume is added or subtracted regardless of the bar's own behavior.</a:t>
            </a:r>
          </a:p>
          <a:p>
            <a:pPr algn="l">
              <a:lnSpc>
                <a:spcPct val="105000"/>
              </a:lnSpc>
              <a:spcBef>
                <a:spcPts val="0"/>
              </a:spcBef>
              <a:spcAft>
                <a:spcPts val="1100"/>
              </a:spcAft>
            </a:pPr>
            <a:r>
              <a:rPr sz="1800" b="0" i="0">
                <a:solidFill>
                  <a:srgbClr val="1A1A1A"/>
                </a:solidFill>
                <a:latin typeface="Arial"/>
              </a:rPr>
              <a:t>Ours: bar 1 has a high of 51.00 and closes 50.80. Bar 2 rallies to a new high of 54.00 </a:t>
            </a:r>
            <a:r>
              <a:rPr sz="1800" b="1" i="0">
                <a:solidFill>
                  <a:srgbClr val="E09B00"/>
                </a:solidFill>
                <a:latin typeface="Arial"/>
              </a:rPr>
              <a:t>(1)</a:t>
            </a:r>
            <a:r>
              <a:rPr sz="1800" b="0" i="0">
                <a:solidFill>
                  <a:srgbClr val="1A1A1A"/>
                </a:solidFill>
                <a:latin typeface="Arial"/>
              </a:rPr>
              <a:t>, far above, and closes 50.70 </a:t>
            </a:r>
            <a:r>
              <a:rPr sz="1800" b="1" i="0">
                <a:solidFill>
                  <a:srgbClr val="C62828"/>
                </a:solidFill>
                <a:latin typeface="Arial"/>
              </a:rPr>
              <a:t>(2)</a:t>
            </a:r>
            <a:r>
              <a:rPr sz="1800" b="0" i="0">
                <a:solidFill>
                  <a:srgbClr val="1A1A1A"/>
                </a:solidFill>
                <a:latin typeface="Arial"/>
              </a:rPr>
              <a:t>, just under 50.80.</a:t>
            </a:r>
          </a:p>
          <a:p>
            <a:pPr algn="l">
              <a:lnSpc>
                <a:spcPct val="105000"/>
              </a:lnSpc>
              <a:spcBef>
                <a:spcPts val="0"/>
              </a:spcBef>
              <a:spcAft>
                <a:spcPts val="1100"/>
              </a:spcAft>
            </a:pPr>
            <a:r>
              <a:rPr sz="1800" b="0" i="0">
                <a:solidFill>
                  <a:srgbClr val="1A1A1A"/>
                </a:solidFill>
                <a:latin typeface="Arial"/>
              </a:rPr>
              <a:t>Bar 2 closed lower, so all its 3.0 million is subtracted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3766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that is, to put it right, many prefer the ADL or the two Chaikin indicators: next.</a:t>
            </a:r>
          </a:p>
        </p:txBody>
      </p:sp>
      <p:sp>
        <p:nvSpPr>
          <p:cNvPr id="10" name="Rectangle 9"/>
          <p:cNvSpPr/>
          <p:nvPr/>
        </p:nvSpPr>
        <p:spPr>
          <a:xfrm>
            <a:off x="6766559" y="1810512"/>
            <a:ext cx="4647894" cy="336227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885431" y="1929384"/>
            <a:ext cx="4410151" cy="3124535"/>
          </a:xfrm>
          <a:prstGeom prst="rect">
            <a:avLst/>
          </a:prstGeom>
        </p:spPr>
      </p:pic>
      <p:sp>
        <p:nvSpPr>
          <p:cNvPr id="12" name="Oval 11"/>
          <p:cNvSpPr/>
          <p:nvPr/>
        </p:nvSpPr>
        <p:spPr>
          <a:xfrm>
            <a:off x="9487421" y="2148101"/>
            <a:ext cx="264609" cy="218717"/>
          </a:xfrm>
          <a:prstGeom prst="ellipse">
            <a:avLst/>
          </a:prstGeom>
          <a:noFill/>
          <a:ln w="44450">
            <a:solidFill>
              <a:srgbClr val="E09B00"/>
            </a:solidFill>
          </a:ln>
        </p:spPr>
        <p:txBody>
          <a:bodyPr rtlCol="0" anchor="ctr"/>
          <a:lstStyle/>
          <a:p>
            <a:pPr algn="ctr"/>
          </a:p>
        </p:txBody>
      </p:sp>
      <p:sp>
        <p:nvSpPr>
          <p:cNvPr id="13" name="Oval 12"/>
          <p:cNvSpPr/>
          <p:nvPr/>
        </p:nvSpPr>
        <p:spPr>
          <a:xfrm>
            <a:off x="9531522" y="2960480"/>
            <a:ext cx="441015" cy="218717"/>
          </a:xfrm>
          <a:prstGeom prst="ellipse">
            <a:avLst/>
          </a:prstGeom>
          <a:noFill/>
          <a:ln w="44450">
            <a:solidFill>
              <a:srgbClr val="C62828"/>
            </a:solidFill>
          </a:ln>
        </p:spPr>
        <p:txBody>
          <a:bodyPr rtlCol="0" anchor="ctr"/>
          <a:lstStyle/>
          <a:p>
            <a:pPr algn="ctr"/>
          </a:p>
        </p:txBody>
      </p:sp>
      <p:sp>
        <p:nvSpPr>
          <p:cNvPr id="14" name="Rectangle 13"/>
          <p:cNvSpPr/>
          <p:nvPr/>
        </p:nvSpPr>
        <p:spPr>
          <a:xfrm>
            <a:off x="9266913" y="4085313"/>
            <a:ext cx="705624" cy="499925"/>
          </a:xfrm>
          <a:prstGeom prst="rect">
            <a:avLst/>
          </a:prstGeom>
          <a:noFill/>
          <a:ln w="44450">
            <a:solidFill>
              <a:srgbClr val="1F5FAD"/>
            </a:solidFill>
          </a:ln>
        </p:spPr>
        <p:txBody>
          <a:bodyPr rtlCol="0" anchor="ctr"/>
          <a:lstStyle/>
          <a:p>
            <a:pPr algn="ctr"/>
          </a:p>
        </p:txBody>
      </p:sp>
      <p:sp>
        <p:nvSpPr>
          <p:cNvPr id="15" name="Oval 14"/>
          <p:cNvSpPr/>
          <p:nvPr/>
        </p:nvSpPr>
        <p:spPr>
          <a:xfrm>
            <a:off x="9772988" y="208638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949394" y="271129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935059" y="417982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6766559" y="52642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Price: a lower low, August to October 2011: the falling line.</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39407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315633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699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6.39</a:t>
            </a:r>
          </a:p>
          <a:p>
            <a:pPr algn="l">
              <a:lnSpc>
                <a:spcPct val="115000"/>
              </a:lnSpc>
              <a:spcBef>
                <a:spcPts val="0"/>
              </a:spcBef>
              <a:spcAft>
                <a:spcPts val="0"/>
              </a:spcAft>
            </a:pPr>
            <a:r>
              <a:rPr sz="15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p:txBody>
      </p:sp>
      <p:cxnSp>
        <p:nvCxnSpPr>
          <p:cNvPr id="14" name="Connector 13"/>
          <p:cNvCxnSpPr/>
          <p:nvPr/>
        </p:nvCxnSpPr>
        <p:spPr>
          <a:xfrm>
            <a:off x="9650248" y="3712713"/>
            <a:ext cx="668417" cy="426106"/>
          </a:xfrm>
          <a:prstGeom prst="line">
            <a:avLst/>
          </a:prstGeom>
          <a:ln w="44450">
            <a:solidFill>
              <a:srgbClr val="E09B00"/>
            </a:solidFill>
          </a:ln>
        </p:spPr>
      </p:cxnSp>
      <p:cxnSp>
        <p:nvCxnSpPr>
          <p:cNvPr id="15" name="Connector 14"/>
          <p:cNvCxnSpPr/>
          <p:nvPr/>
        </p:nvCxnSpPr>
        <p:spPr>
          <a:xfrm flipV="1">
            <a:off x="9547414" y="4848994"/>
            <a:ext cx="668418" cy="110472"/>
          </a:xfrm>
          <a:prstGeom prst="line">
            <a:avLst/>
          </a:prstGeom>
          <a:ln w="44450">
            <a:solidFill>
              <a:srgbClr val="C62828"/>
            </a:solidFill>
          </a:ln>
        </p:spPr>
      </p:cxnSp>
      <p:cxnSp>
        <p:nvCxnSpPr>
          <p:cNvPr id="16" name="Connector 15"/>
          <p:cNvCxnSpPr/>
          <p:nvPr/>
        </p:nvCxnSpPr>
        <p:spPr>
          <a:xfrm flipV="1">
            <a:off x="10447207" y="3097228"/>
            <a:ext cx="205667" cy="915337"/>
          </a:xfrm>
          <a:prstGeom prst="line">
            <a:avLst/>
          </a:prstGeom>
          <a:ln w="44450">
            <a:solidFill>
              <a:srgbClr val="1F5FAD"/>
            </a:solidFill>
            <a:tailEnd type="triangle" w="med" len="med"/>
          </a:ln>
        </p:spPr>
      </p:cxnSp>
      <p:sp>
        <p:nvSpPr>
          <p:cNvPr id="17" name="Oval 16"/>
          <p:cNvSpPr/>
          <p:nvPr/>
        </p:nvSpPr>
        <p:spPr>
          <a:xfrm>
            <a:off x="9391966" y="34783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289133" y="47251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48842" y="284709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29603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First arrow, March to April 2011: equal peaks near 4.5; the OBV falls.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a:t>
            </a:r>
            <a:r>
              <a:rPr sz="1700" b="1" i="0">
                <a:solidFill>
                  <a:srgbClr val="1F5FAD"/>
                </a:solidFill>
                <a:latin typeface="Arial"/>
              </a:rPr>
              <a:t>(3)</a:t>
            </a:r>
            <a:r>
              <a:rPr sz="1700" b="0" i="0">
                <a:solidFill>
                  <a:srgbClr val="1A1A1A"/>
                </a:solidFill>
                <a:latin typeface="Arial"/>
              </a:rPr>
              <a:t> while price holds or rises.</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115008"/>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87726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42006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6.40</a:t>
            </a:r>
          </a:p>
          <a:p>
            <a:pPr algn="l">
              <a:lnSpc>
                <a:spcPct val="115000"/>
              </a:lnSpc>
              <a:spcBef>
                <a:spcPts val="0"/>
              </a:spcBef>
              <a:spcAft>
                <a:spcPts val="0"/>
              </a:spcAft>
            </a:pPr>
            <a:r>
              <a:rPr sz="15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p:txBody>
      </p:sp>
      <p:sp>
        <p:nvSpPr>
          <p:cNvPr id="14" name="Rectangle 13"/>
          <p:cNvSpPr/>
          <p:nvPr/>
        </p:nvSpPr>
        <p:spPr>
          <a:xfrm>
            <a:off x="8107746" y="2130792"/>
            <a:ext cx="617000" cy="230181"/>
          </a:xfrm>
          <a:prstGeom prst="rect">
            <a:avLst/>
          </a:prstGeom>
          <a:noFill/>
          <a:ln w="44450">
            <a:solidFill>
              <a:srgbClr val="E09B00"/>
            </a:solidFill>
          </a:ln>
        </p:spPr>
        <p:txBody>
          <a:bodyPr rtlCol="0" anchor="ctr"/>
          <a:lstStyle/>
          <a:p>
            <a:pPr algn="ctr"/>
          </a:p>
        </p:txBody>
      </p:sp>
      <p:sp>
        <p:nvSpPr>
          <p:cNvPr id="15" name="Rectangle 14"/>
          <p:cNvSpPr/>
          <p:nvPr/>
        </p:nvSpPr>
        <p:spPr>
          <a:xfrm>
            <a:off x="8981831" y="2102019"/>
            <a:ext cx="719833" cy="517907"/>
          </a:xfrm>
          <a:prstGeom prst="rect">
            <a:avLst/>
          </a:prstGeom>
          <a:noFill/>
          <a:ln w="44450">
            <a:solidFill>
              <a:srgbClr val="C62828"/>
            </a:solidFill>
          </a:ln>
        </p:spPr>
        <p:txBody>
          <a:bodyPr rtlCol="0" anchor="ctr"/>
          <a:lstStyle/>
          <a:p>
            <a:pPr algn="ctr"/>
          </a:p>
        </p:txBody>
      </p:sp>
      <p:sp>
        <p:nvSpPr>
          <p:cNvPr id="16" name="Rectangle 15"/>
          <p:cNvSpPr/>
          <p:nvPr/>
        </p:nvSpPr>
        <p:spPr>
          <a:xfrm>
            <a:off x="8107746" y="4029786"/>
            <a:ext cx="1799584" cy="345271"/>
          </a:xfrm>
          <a:prstGeom prst="rect">
            <a:avLst/>
          </a:prstGeom>
          <a:noFill/>
          <a:ln w="44450">
            <a:solidFill>
              <a:srgbClr val="1F5FAD"/>
            </a:solidFill>
          </a:ln>
        </p:spPr>
        <p:txBody>
          <a:bodyPr rtlCol="0" anchor="ctr"/>
          <a:lstStyle/>
          <a:p>
            <a:pPr algn="ctr"/>
          </a:p>
        </p:txBody>
      </p:sp>
      <p:cxnSp>
        <p:nvCxnSpPr>
          <p:cNvPr id="17" name="Connector 16"/>
          <p:cNvCxnSpPr/>
          <p:nvPr/>
        </p:nvCxnSpPr>
        <p:spPr>
          <a:xfrm>
            <a:off x="9881623" y="2562382"/>
            <a:ext cx="488459" cy="1208451"/>
          </a:xfrm>
          <a:prstGeom prst="line">
            <a:avLst/>
          </a:prstGeom>
          <a:ln w="44450">
            <a:solidFill>
              <a:srgbClr val="007A33"/>
            </a:solidFill>
            <a:tailEnd type="triangle" w="med" len="med"/>
          </a:ln>
        </p:spPr>
      </p:cxnSp>
      <p:sp>
        <p:nvSpPr>
          <p:cNvPr id="18" name="Oval 17"/>
          <p:cNvSpPr/>
          <p:nvPr/>
        </p:nvSpPr>
        <p:spPr>
          <a:xfrm>
            <a:off x="7823757" y="234938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72132" y="255079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823757" y="378802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983259" y="234938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035040" y="501696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bar: low L = 48, high H = 52, range H - L = 4, volume 2.0 million. C - L: the close's height above the low. H - C: its depth below the high.</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Close 52: (4 - 0) / 4 = 1, add 2.0.   </a:t>
            </a:r>
            <a:r>
              <a:rPr sz="1700" b="1" i="0">
                <a:solidFill>
                  <a:srgbClr val="C62828"/>
                </a:solidFill>
                <a:latin typeface="Arial"/>
              </a:rPr>
              <a:t>(2)</a:t>
            </a:r>
            <a:r>
              <a:rPr sz="1700" b="0" i="0">
                <a:solidFill>
                  <a:srgbClr val="1A1A1A"/>
                </a:solidFill>
                <a:latin typeface="Arial"/>
              </a:rPr>
              <a:t> Close 50: (2 - 2) / 4 = 0, add nothing.   </a:t>
            </a:r>
            <a:r>
              <a:rPr sz="1700" b="1" i="0">
                <a:solidFill>
                  <a:srgbClr val="1F5FAD"/>
                </a:solidFill>
                <a:latin typeface="Arial"/>
              </a:rPr>
              <a:t>(3)</a:t>
            </a:r>
            <a:r>
              <a:rPr sz="1700" b="0" i="0">
                <a:solidFill>
                  <a:srgbClr val="1A1A1A"/>
                </a:solidFill>
                <a:latin typeface="Arial"/>
              </a:rPr>
              <a:t> Close 49: (1 - 3) / 4 = -0.5, take 1.0.</a:t>
            </a:r>
          </a:p>
          <a:p>
            <a:pPr algn="l">
              <a:lnSpc>
                <a:spcPct val="105000"/>
              </a:lnSpc>
              <a:spcBef>
                <a:spcPts val="0"/>
              </a:spcBef>
              <a:spcAft>
                <a:spcPts val="1100"/>
              </a:spcAft>
            </a:pPr>
            <a:r>
              <a:rPr sz="1700" b="0" i="0">
                <a:solidFill>
                  <a:srgbClr val="1A1A1A"/>
                </a:solidFill>
                <a:latin typeface="Arial"/>
              </a:rPr>
              <a:t>The running total, bar by bar: 2.0, then 2.0 + 0 = 2.0, then 2.0 - 1.0 = 1.0. That total is the ADL.</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factor scores where the close sits: -1 at the low, 0 at the midpoint, +1 at the high.</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i.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26723" y="2034722"/>
            <a:ext cx="484997" cy="983162"/>
          </a:xfrm>
          <a:prstGeom prst="rect">
            <a:avLst/>
          </a:prstGeom>
          <a:noFill/>
          <a:ln w="44450">
            <a:solidFill>
              <a:srgbClr val="E09B00"/>
            </a:solidFill>
          </a:ln>
        </p:spPr>
        <p:txBody>
          <a:bodyPr rtlCol="0" anchor="ctr"/>
          <a:lstStyle/>
          <a:p>
            <a:pPr algn="ctr"/>
          </a:p>
        </p:txBody>
      </p:sp>
      <p:sp>
        <p:nvSpPr>
          <p:cNvPr id="13" name="Rectangle 12"/>
          <p:cNvSpPr/>
          <p:nvPr/>
        </p:nvSpPr>
        <p:spPr>
          <a:xfrm>
            <a:off x="9273387" y="2034722"/>
            <a:ext cx="484997" cy="983162"/>
          </a:xfrm>
          <a:prstGeom prst="rect">
            <a:avLst/>
          </a:prstGeom>
          <a:noFill/>
          <a:ln w="44450">
            <a:solidFill>
              <a:srgbClr val="C62828"/>
            </a:solidFill>
          </a:ln>
        </p:spPr>
        <p:txBody>
          <a:bodyPr rtlCol="0" anchor="ctr"/>
          <a:lstStyle/>
          <a:p>
            <a:pPr algn="ctr"/>
          </a:p>
        </p:txBody>
      </p:sp>
      <p:sp>
        <p:nvSpPr>
          <p:cNvPr id="14" name="Rectangle 13"/>
          <p:cNvSpPr/>
          <p:nvPr/>
        </p:nvSpPr>
        <p:spPr>
          <a:xfrm>
            <a:off x="9920051" y="2034722"/>
            <a:ext cx="444581" cy="983162"/>
          </a:xfrm>
          <a:prstGeom prst="rect">
            <a:avLst/>
          </a:prstGeom>
          <a:noFill/>
          <a:ln w="44450">
            <a:solidFill>
              <a:srgbClr val="1F5FAD"/>
            </a:solidFill>
          </a:ln>
        </p:spPr>
        <p:txBody>
          <a:bodyPr rtlCol="0" anchor="ctr"/>
          <a:lstStyle/>
          <a:p>
            <a:pPr algn="ctr"/>
          </a:p>
        </p:txBody>
      </p:sp>
      <p:sp>
        <p:nvSpPr>
          <p:cNvPr id="15" name="Oval 14"/>
          <p:cNvSpPr/>
          <p:nvPr/>
        </p:nvSpPr>
        <p:spPr>
          <a:xfrm>
            <a:off x="8350026"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602937" y="303800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168767" y="30380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JI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arithmetic and chart are ours, Chart AO's three bars.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Oval 11"/>
          <p:cNvSpPr/>
          <p:nvPr/>
        </p:nvSpPr>
        <p:spPr>
          <a:xfrm>
            <a:off x="8890528" y="3246120"/>
            <a:ext cx="396483" cy="316016"/>
          </a:xfrm>
          <a:prstGeom prst="ellipse">
            <a:avLst/>
          </a:prstGeom>
          <a:noFill/>
          <a:ln w="44450">
            <a:solidFill>
              <a:srgbClr val="E09B00"/>
            </a:solidFill>
          </a:ln>
        </p:spPr>
        <p:txBody>
          <a:bodyPr rtlCol="0" anchor="ctr"/>
          <a:lstStyle/>
          <a:p>
            <a:pPr algn="ctr"/>
          </a:p>
        </p:txBody>
      </p:sp>
      <p:sp>
        <p:nvSpPr>
          <p:cNvPr id="13" name="Oval 12"/>
          <p:cNvSpPr/>
          <p:nvPr/>
        </p:nvSpPr>
        <p:spPr>
          <a:xfrm>
            <a:off x="10674705" y="2315626"/>
            <a:ext cx="297362" cy="280903"/>
          </a:xfrm>
          <a:prstGeom prst="ellipse">
            <a:avLst/>
          </a:prstGeom>
          <a:noFill/>
          <a:ln w="44450">
            <a:solidFill>
              <a:srgbClr val="C62828"/>
            </a:solidFill>
          </a:ln>
        </p:spPr>
        <p:txBody>
          <a:bodyPr rtlCol="0" anchor="ctr"/>
          <a:lstStyle/>
          <a:p>
            <a:pPr algn="ctr"/>
          </a:p>
        </p:txBody>
      </p:sp>
      <p:sp>
        <p:nvSpPr>
          <p:cNvPr id="14" name="Oval 13"/>
          <p:cNvSpPr/>
          <p:nvPr/>
        </p:nvSpPr>
        <p:spPr>
          <a:xfrm>
            <a:off x="8784640" y="312578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568817" y="272198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yesterday closed 50.00. Today runs from 46.00 to 51.00 on 2.0 million shares and closes at 49.75.</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OBV: 49.75 is below 50.00, so subtract all 2.0 million.</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C - L = 3.75, H - C = 1.25, range 5. Factor (3.75 - 1.25) / 5 = 0.5: add 1.0 million.</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OBV sees only yesterday's close; the ADL sees where today closed in today's bar.</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j.png"/>
          <p:cNvPicPr>
            <a:picLocks noChangeAspect="1"/>
          </p:cNvPicPr>
          <p:nvPr/>
        </p:nvPicPr>
        <p:blipFill>
          <a:blip r:embed="rId2"/>
          <a:stretch>
            <a:fillRect/>
          </a:stretch>
        </p:blipFill>
        <p:spPr>
          <a:xfrm>
            <a:off x="6703923" y="1929384"/>
            <a:ext cx="4590288" cy="3511296"/>
          </a:xfrm>
          <a:prstGeom prst="rect">
            <a:avLst/>
          </a:prstGeom>
        </p:spPr>
      </p:pic>
      <p:sp>
        <p:nvSpPr>
          <p:cNvPr id="12" name="Rectangle 11"/>
          <p:cNvSpPr/>
          <p:nvPr/>
        </p:nvSpPr>
        <p:spPr>
          <a:xfrm>
            <a:off x="9549902" y="3333902"/>
            <a:ext cx="527883" cy="1264066"/>
          </a:xfrm>
          <a:prstGeom prst="rect">
            <a:avLst/>
          </a:prstGeom>
          <a:noFill/>
          <a:ln w="44450">
            <a:solidFill>
              <a:srgbClr val="E09B00"/>
            </a:solidFill>
          </a:ln>
        </p:spPr>
        <p:txBody>
          <a:bodyPr rtlCol="0" anchor="ctr"/>
          <a:lstStyle/>
          <a:p>
            <a:pPr algn="ctr"/>
          </a:p>
        </p:txBody>
      </p:sp>
      <p:sp>
        <p:nvSpPr>
          <p:cNvPr id="13" name="Rectangle 12"/>
          <p:cNvSpPr/>
          <p:nvPr/>
        </p:nvSpPr>
        <p:spPr>
          <a:xfrm>
            <a:off x="10215493" y="2666756"/>
            <a:ext cx="550834" cy="772485"/>
          </a:xfrm>
          <a:prstGeom prst="rect">
            <a:avLst/>
          </a:prstGeom>
          <a:noFill/>
          <a:ln w="44450">
            <a:solidFill>
              <a:srgbClr val="C62828"/>
            </a:solidFill>
          </a:ln>
        </p:spPr>
        <p:txBody>
          <a:bodyPr rtlCol="0" anchor="ctr"/>
          <a:lstStyle/>
          <a:p>
            <a:pPr algn="ctr"/>
          </a:p>
        </p:txBody>
      </p:sp>
      <p:sp>
        <p:nvSpPr>
          <p:cNvPr id="14" name="Oval 13"/>
          <p:cNvSpPr/>
          <p:nvPr/>
        </p:nvSpPr>
        <p:spPr>
          <a:xfrm>
            <a:off x="9256745" y="30380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922337"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JJ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and the chart, read by the book's two rules from pp.203 and 205.</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Hourly EURUSD, June 2011: price makes new highs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1" i="0">
                <a:solidFill>
                  <a:srgbClr val="C62828"/>
                </a:solidFill>
                <a:latin typeface="Arial"/>
              </a:rPr>
              <a:t>(2)</a:t>
            </a:r>
            <a:r>
              <a:rPr sz="1800" b="0" i="0">
                <a:solidFill>
                  <a:srgbClr val="1A1A1A"/>
                </a:solidFill>
                <a:latin typeface="Arial"/>
              </a:rPr>
              <a:t> ADL, price-based: rising with price, so bullish confirmation.</a:t>
            </a:r>
          </a:p>
          <a:p>
            <a:pPr algn="l">
              <a:lnSpc>
                <a:spcPct val="105000"/>
              </a:lnSpc>
              <a:spcBef>
                <a:spcPts val="0"/>
              </a:spcBef>
              <a:spcAft>
                <a:spcPts val="1100"/>
              </a:spcAft>
            </a:pPr>
            <a:r>
              <a:rPr sz="1800" b="1" i="0">
                <a:solidFill>
                  <a:srgbClr val="1F5FAD"/>
                </a:solidFill>
                <a:latin typeface="Arial"/>
              </a:rPr>
              <a:t>(3)</a:t>
            </a:r>
            <a:r>
              <a:rPr sz="1800" b="0" i="0">
                <a:solidFill>
                  <a:srgbClr val="1A1A1A"/>
                </a:solidFill>
                <a:latin typeface="Arial"/>
              </a:rPr>
              <a:t> Volume, plain: falling as price rises, so bearish divergence: an underlying weakness, the book says.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They disagree: wait for price itself to confirm a reversal, by breaking its own trendline.</a:t>
            </a:r>
          </a:p>
        </p:txBody>
      </p:sp>
      <p:sp>
        <p:nvSpPr>
          <p:cNvPr id="10" name="Rectangle 9"/>
          <p:cNvSpPr/>
          <p:nvPr/>
        </p:nvSpPr>
        <p:spPr>
          <a:xfrm>
            <a:off x="6035040" y="1810512"/>
            <a:ext cx="5379414" cy="28150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5772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21200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6.41</a:t>
            </a:r>
          </a:p>
          <a:p>
            <a:pPr algn="l">
              <a:lnSpc>
                <a:spcPct val="115000"/>
              </a:lnSpc>
              <a:spcBef>
                <a:spcPts val="0"/>
              </a:spcBef>
              <a:spcAft>
                <a:spcPts val="0"/>
              </a:spcAft>
            </a:pPr>
            <a:r>
              <a:rPr sz="15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p:txBody>
      </p:sp>
      <p:sp>
        <p:nvSpPr>
          <p:cNvPr id="14" name="Rectangle 13"/>
          <p:cNvSpPr/>
          <p:nvPr/>
        </p:nvSpPr>
        <p:spPr>
          <a:xfrm>
            <a:off x="8878997" y="2419066"/>
            <a:ext cx="1285417" cy="438137"/>
          </a:xfrm>
          <a:prstGeom prst="rect">
            <a:avLst/>
          </a:prstGeom>
          <a:noFill/>
          <a:ln w="44450">
            <a:solidFill>
              <a:srgbClr val="E09B00"/>
            </a:solidFill>
          </a:ln>
        </p:spPr>
        <p:txBody>
          <a:bodyPr rtlCol="0" anchor="ctr"/>
          <a:lstStyle/>
          <a:p>
            <a:pPr algn="ctr"/>
          </a:p>
        </p:txBody>
      </p:sp>
      <p:sp>
        <p:nvSpPr>
          <p:cNvPr id="15" name="Rectangle 14"/>
          <p:cNvSpPr/>
          <p:nvPr/>
        </p:nvSpPr>
        <p:spPr>
          <a:xfrm>
            <a:off x="8930414" y="3527296"/>
            <a:ext cx="1079750" cy="206182"/>
          </a:xfrm>
          <a:prstGeom prst="rect">
            <a:avLst/>
          </a:prstGeom>
          <a:noFill/>
          <a:ln w="44450">
            <a:solidFill>
              <a:srgbClr val="C62828"/>
            </a:solidFill>
          </a:ln>
        </p:spPr>
        <p:txBody>
          <a:bodyPr rtlCol="0" anchor="ctr"/>
          <a:lstStyle/>
          <a:p>
            <a:pPr algn="ctr"/>
          </a:p>
        </p:txBody>
      </p:sp>
      <p:cxnSp>
        <p:nvCxnSpPr>
          <p:cNvPr id="16" name="Connector 15"/>
          <p:cNvCxnSpPr/>
          <p:nvPr/>
        </p:nvCxnSpPr>
        <p:spPr>
          <a:xfrm>
            <a:off x="8467663" y="4132957"/>
            <a:ext cx="1336835" cy="206182"/>
          </a:xfrm>
          <a:prstGeom prst="line">
            <a:avLst/>
          </a:prstGeom>
          <a:ln w="44450">
            <a:solidFill>
              <a:srgbClr val="1F5FAD"/>
            </a:solidFill>
          </a:ln>
        </p:spPr>
      </p:cxnSp>
      <p:sp>
        <p:nvSpPr>
          <p:cNvPr id="17" name="Oval 16"/>
          <p:cNvSpPr/>
          <p:nvPr/>
        </p:nvSpPr>
        <p:spPr>
          <a:xfrm>
            <a:off x="8569299" y="21863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620716" y="332030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8209382" y="388730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47169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Both rising, or both falling: price trends in a decisive manner. Right ellipse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Opposite directions: price tends to range or consolidate, going sideways. Left ellipse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it may help choose. Together, trend-following; apart, range-bound.</a:t>
            </a:r>
          </a:p>
        </p:txBody>
      </p:sp>
      <p:sp>
        <p:nvSpPr>
          <p:cNvPr id="10" name="Rectangle 9"/>
          <p:cNvSpPr/>
          <p:nvPr/>
        </p:nvSpPr>
        <p:spPr>
          <a:xfrm>
            <a:off x="6462521" y="1810512"/>
            <a:ext cx="489021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1393" y="1929384"/>
            <a:ext cx="465246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1393" y="1929384"/>
            <a:ext cx="465246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55713" y="2203703"/>
            <a:ext cx="41038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6.42</a:t>
            </a:r>
          </a:p>
          <a:p>
            <a:pPr algn="l">
              <a:lnSpc>
                <a:spcPct val="115000"/>
              </a:lnSpc>
              <a:spcBef>
                <a:spcPts val="0"/>
              </a:spcBef>
              <a:spcAft>
                <a:spcPts val="0"/>
              </a:spcAft>
            </a:pPr>
            <a:r>
              <a:rPr sz="15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p:txBody>
      </p:sp>
      <p:sp>
        <p:nvSpPr>
          <p:cNvPr id="14" name="Oval 13"/>
          <p:cNvSpPr/>
          <p:nvPr/>
        </p:nvSpPr>
        <p:spPr>
          <a:xfrm>
            <a:off x="9140250" y="4001048"/>
            <a:ext cx="1581838" cy="1299179"/>
          </a:xfrm>
          <a:prstGeom prst="ellipse">
            <a:avLst/>
          </a:prstGeom>
          <a:noFill/>
          <a:ln w="44450">
            <a:solidFill>
              <a:srgbClr val="E09B00"/>
            </a:solidFill>
          </a:ln>
        </p:spPr>
        <p:txBody>
          <a:bodyPr rtlCol="0" anchor="ctr"/>
          <a:lstStyle/>
          <a:p>
            <a:pPr algn="ctr"/>
          </a:p>
        </p:txBody>
      </p:sp>
      <p:sp>
        <p:nvSpPr>
          <p:cNvPr id="15" name="Oval 14"/>
          <p:cNvSpPr/>
          <p:nvPr/>
        </p:nvSpPr>
        <p:spPr>
          <a:xfrm>
            <a:off x="6674443" y="3930822"/>
            <a:ext cx="2233184" cy="1474744"/>
          </a:xfrm>
          <a:prstGeom prst="ellipse">
            <a:avLst/>
          </a:prstGeom>
          <a:noFill/>
          <a:ln w="44450">
            <a:solidFill>
              <a:srgbClr val="C62828"/>
            </a:solidFill>
          </a:ln>
        </p:spPr>
        <p:txBody>
          <a:bodyPr rtlCol="0" anchor="ctr"/>
          <a:lstStyle/>
          <a:p>
            <a:pPr algn="ctr"/>
          </a:p>
        </p:txBody>
      </p:sp>
      <p:sp>
        <p:nvSpPr>
          <p:cNvPr id="16" name="Oval 15"/>
          <p:cNvSpPr/>
          <p:nvPr/>
        </p:nvSpPr>
        <p:spPr>
          <a:xfrm>
            <a:off x="9031327" y="38807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91753" y="514478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400799" y="5650991"/>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6.42 -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ADL's factor runs from -1 to +1, so no S exceeds its bar's volume: the CMF also runs from -1 to +1.</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-1: every bar closed at its low. </a:t>
            </a:r>
            <a:r>
              <a:rPr sz="1700" b="1" i="0">
                <a:solidFill>
                  <a:srgbClr val="C62828"/>
                </a:solidFill>
                <a:latin typeface="Arial"/>
              </a:rPr>
              <a:t>(2)</a:t>
            </a:r>
            <a:r>
              <a:rPr sz="1700" b="0" i="0">
                <a:solidFill>
                  <a:srgbClr val="1A1A1A"/>
                </a:solidFill>
                <a:latin typeface="Arial"/>
              </a:rPr>
              <a:t> 0: on balance, closes at their midpoints. +1: every bar closed at its high.</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Our 0.17: of 6.0 million traded, a net 1.0 million counts as added: volume came, on balance, with closes above their midpoints.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 arithmetic. The book reads the CMF only by a line and an oversold level, three slides 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k.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303391" y="3298789"/>
            <a:ext cx="444581" cy="1123614"/>
          </a:xfrm>
          <a:prstGeom prst="rect">
            <a:avLst/>
          </a:prstGeom>
          <a:noFill/>
          <a:ln w="44450">
            <a:solidFill>
              <a:srgbClr val="E09B00"/>
            </a:solidFill>
          </a:ln>
        </p:spPr>
        <p:txBody>
          <a:bodyPr rtlCol="0" anchor="ctr"/>
          <a:lstStyle/>
          <a:p>
            <a:pPr algn="ctr"/>
          </a:p>
        </p:txBody>
      </p:sp>
      <p:sp>
        <p:nvSpPr>
          <p:cNvPr id="13" name="Oval 12"/>
          <p:cNvSpPr/>
          <p:nvPr/>
        </p:nvSpPr>
        <p:spPr>
          <a:xfrm>
            <a:off x="8990472" y="3123224"/>
            <a:ext cx="242498" cy="245790"/>
          </a:xfrm>
          <a:prstGeom prst="ellipse">
            <a:avLst/>
          </a:prstGeom>
          <a:noFill/>
          <a:ln w="44450">
            <a:solidFill>
              <a:srgbClr val="C62828"/>
            </a:solidFill>
          </a:ln>
        </p:spPr>
        <p:txBody>
          <a:bodyPr rtlCol="0" anchor="ctr"/>
          <a:lstStyle/>
          <a:p>
            <a:pPr algn="ctr"/>
          </a:p>
        </p:txBody>
      </p:sp>
      <p:sp>
        <p:nvSpPr>
          <p:cNvPr id="14" name="Rectangle 13"/>
          <p:cNvSpPr/>
          <p:nvPr/>
        </p:nvSpPr>
        <p:spPr>
          <a:xfrm>
            <a:off x="9495678" y="2982772"/>
            <a:ext cx="424373" cy="386242"/>
          </a:xfrm>
          <a:prstGeom prst="rect">
            <a:avLst/>
          </a:prstGeom>
          <a:noFill/>
          <a:ln w="44450">
            <a:solidFill>
              <a:srgbClr val="1F5FAD"/>
            </a:solidFill>
          </a:ln>
        </p:spPr>
        <p:txBody>
          <a:bodyPr rtlCol="0" anchor="ctr"/>
          <a:lstStyle/>
          <a:p>
            <a:pPr algn="ctr"/>
          </a:p>
        </p:txBody>
      </p:sp>
      <p:sp>
        <p:nvSpPr>
          <p:cNvPr id="15" name="Oval 14"/>
          <p:cNvSpPr/>
          <p:nvPr/>
        </p:nvSpPr>
        <p:spPr>
          <a:xfrm>
            <a:off x="7986278" y="370514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956273" y="342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885852" y="28273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JK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and the chart. The book gives no reading of the CMF's value.</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Each bar's CMF, over its last N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A running total of the CMF, as for the ADL: black.</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Two EMAs of that total, here over 3 and 10 bars: gold and green.</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Oscillator = shorter EMA - longer EMA, bottom panel. At the dashed lines: 1.0 - 0.5 = +0.5; 0.6 - 0.8 = -0.2.</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cxnSp>
        <p:nvCxnSpPr>
          <p:cNvPr id="12" name="Connector 11"/>
          <p:cNvCxnSpPr/>
          <p:nvPr/>
        </p:nvCxnSpPr>
        <p:spPr>
          <a:xfrm flipH="1">
            <a:off x="9859426" y="2140061"/>
            <a:ext cx="424373" cy="245791"/>
          </a:xfrm>
          <a:prstGeom prst="line">
            <a:avLst/>
          </a:prstGeom>
          <a:ln w="44450">
            <a:solidFill>
              <a:srgbClr val="C62828"/>
            </a:solidFill>
            <a:tailEnd type="triangle" w="med" len="med"/>
          </a:ln>
        </p:spPr>
      </p:cxnSp>
      <p:sp>
        <p:nvSpPr>
          <p:cNvPr id="13" name="Rectangle 12"/>
          <p:cNvSpPr/>
          <p:nvPr/>
        </p:nvSpPr>
        <p:spPr>
          <a:xfrm>
            <a:off x="7414229" y="2280513"/>
            <a:ext cx="3758732" cy="983162"/>
          </a:xfrm>
          <a:prstGeom prst="rect">
            <a:avLst/>
          </a:prstGeom>
          <a:noFill/>
          <a:ln w="44450">
            <a:solidFill>
              <a:srgbClr val="1F5FAD"/>
            </a:solidFill>
          </a:ln>
        </p:spPr>
        <p:txBody>
          <a:bodyPr rtlCol="0" anchor="ctr"/>
          <a:lstStyle/>
          <a:p>
            <a:pPr algn="ctr"/>
          </a:p>
        </p:txBody>
      </p:sp>
      <p:sp>
        <p:nvSpPr>
          <p:cNvPr id="14" name="Rectangle 13"/>
          <p:cNvSpPr/>
          <p:nvPr/>
        </p:nvSpPr>
        <p:spPr>
          <a:xfrm>
            <a:off x="7414229" y="3965935"/>
            <a:ext cx="3718316" cy="877824"/>
          </a:xfrm>
          <a:prstGeom prst="rect">
            <a:avLst/>
          </a:prstGeom>
          <a:noFill/>
          <a:ln w="44450">
            <a:solidFill>
              <a:srgbClr val="007A33"/>
            </a:solidFill>
          </a:ln>
        </p:spPr>
        <p:txBody>
          <a:bodyPr rtlCol="0" anchor="ctr"/>
          <a:lstStyle/>
          <a:p>
            <a:pPr algn="ctr"/>
          </a:p>
        </p:txBody>
      </p:sp>
      <p:sp>
        <p:nvSpPr>
          <p:cNvPr id="15" name="Oval 14"/>
          <p:cNvSpPr/>
          <p:nvPr/>
        </p:nvSpPr>
        <p:spPr>
          <a:xfrm>
            <a:off x="10209184" y="1984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7177948" y="261664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Oval 16"/>
          <p:cNvSpPr/>
          <p:nvPr/>
        </p:nvSpPr>
        <p:spPr>
          <a:xfrm>
            <a:off x="7177948"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TextBox 17"/>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EMA, exponential moving average: a moving average of the last few values, like Part 3's smoothed volume. This chapter never says how it weights them.</a:t>
            </a:r>
          </a:p>
          <a:p>
            <a:pPr algn="l">
              <a:lnSpc>
                <a:spcPct val="105000"/>
              </a:lnSpc>
              <a:spcBef>
                <a:spcPts val="0"/>
              </a:spcBef>
              <a:spcAft>
                <a:spcPts val="1100"/>
              </a:spcAft>
            </a:pPr>
            <a:r>
              <a:rPr sz="1700" b="0" i="0">
                <a:solidFill>
                  <a:srgbClr val="1A1A1A"/>
                </a:solidFill>
                <a:latin typeface="Arial"/>
              </a:rPr>
              <a:t>A 3-bar EMA follows the running total closely; a 10-bar one follows it slowly.</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Above 0, the recent average is above the longer one: the total has been rising lately. </a:t>
            </a:r>
            <a:r>
              <a:rPr sz="1700" b="1" i="0">
                <a:solidFill>
                  <a:srgbClr val="C62828"/>
                </a:solidFill>
                <a:latin typeface="Arial"/>
              </a:rPr>
              <a:t>(2)</a:t>
            </a:r>
            <a:r>
              <a:rPr sz="1700" b="0" i="0">
                <a:solidFill>
                  <a:srgbClr val="1A1A1A"/>
                </a:solidFill>
                <a:latin typeface="Arial"/>
              </a:rPr>
              <a:t> Below 0, falling. Ours: the book gives no reading of the sign.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sign says which of the two averages is on top.</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l.png"/>
          <p:cNvPicPr>
            <a:picLocks noChangeAspect="1"/>
          </p:cNvPicPr>
          <p:nvPr/>
        </p:nvPicPr>
        <p:blipFill>
          <a:blip r:embed="rId2"/>
          <a:stretch>
            <a:fillRect/>
          </a:stretch>
        </p:blipFill>
        <p:spPr>
          <a:xfrm>
            <a:off x="7252563" y="1929384"/>
            <a:ext cx="4041648" cy="3511296"/>
          </a:xfrm>
          <a:prstGeom prst="rect">
            <a:avLst/>
          </a:prstGeom>
        </p:spPr>
      </p:pic>
      <p:sp>
        <p:nvSpPr>
          <p:cNvPr id="12" name="Rectangle 11"/>
          <p:cNvSpPr/>
          <p:nvPr/>
        </p:nvSpPr>
        <p:spPr>
          <a:xfrm>
            <a:off x="8667140" y="4141500"/>
            <a:ext cx="1758116" cy="561807"/>
          </a:xfrm>
          <a:prstGeom prst="rect">
            <a:avLst/>
          </a:prstGeom>
          <a:noFill/>
          <a:ln w="44450">
            <a:solidFill>
              <a:srgbClr val="E09B00"/>
            </a:solidFill>
          </a:ln>
        </p:spPr>
        <p:txBody>
          <a:bodyPr rtlCol="0" anchor="ctr"/>
          <a:lstStyle/>
          <a:p>
            <a:pPr algn="ctr"/>
          </a:p>
        </p:txBody>
      </p:sp>
      <p:sp>
        <p:nvSpPr>
          <p:cNvPr id="13" name="Rectangle 12"/>
          <p:cNvSpPr/>
          <p:nvPr/>
        </p:nvSpPr>
        <p:spPr>
          <a:xfrm>
            <a:off x="7535478" y="4615525"/>
            <a:ext cx="1212494" cy="263347"/>
          </a:xfrm>
          <a:prstGeom prst="rect">
            <a:avLst/>
          </a:prstGeom>
          <a:noFill/>
          <a:ln w="44450">
            <a:solidFill>
              <a:srgbClr val="C62828"/>
            </a:solidFill>
          </a:ln>
        </p:spPr>
        <p:txBody>
          <a:bodyPr rtlCol="0" anchor="ctr"/>
          <a:lstStyle/>
          <a:p>
            <a:pPr algn="ctr"/>
          </a:p>
        </p:txBody>
      </p:sp>
      <p:sp>
        <p:nvSpPr>
          <p:cNvPr id="14" name="Oval 13"/>
          <p:cNvSpPr/>
          <p:nvPr/>
        </p:nvSpPr>
        <p:spPr>
          <a:xfrm>
            <a:off x="8350026" y="423184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258781" y="43196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 the chart is Chart FD's invented values.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t>
            </a:r>
            <a:r>
              <a:rPr sz="1700" b="1" i="0">
                <a:solidFill>
                  <a:srgbClr val="1F5FAD"/>
                </a:solidFill>
                <a:latin typeface="Arial"/>
              </a:rPr>
              <a:t>(3)</a:t>
            </a:r>
            <a:r>
              <a:rPr sz="1700" b="0" i="0">
                <a:solidFill>
                  <a:srgbClr val="1A1A1A"/>
                </a:solidFill>
                <a:latin typeface="Arial"/>
              </a:rPr>
              <a:t>: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362157" y="1810512"/>
            <a:ext cx="472518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81029" y="1929384"/>
            <a:ext cx="448743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81029" y="1929384"/>
            <a:ext cx="448743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55349" y="2203703"/>
            <a:ext cx="39387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p:txBody>
      </p:sp>
      <p:sp>
        <p:nvSpPr>
          <p:cNvPr id="14" name="Rectangle 13"/>
          <p:cNvSpPr/>
          <p:nvPr/>
        </p:nvSpPr>
        <p:spPr>
          <a:xfrm>
            <a:off x="8769621" y="4071274"/>
            <a:ext cx="987235" cy="1193840"/>
          </a:xfrm>
          <a:prstGeom prst="rect">
            <a:avLst/>
          </a:prstGeom>
          <a:noFill/>
          <a:ln w="44450">
            <a:solidFill>
              <a:srgbClr val="E09B00"/>
            </a:solidFill>
          </a:ln>
        </p:spPr>
        <p:txBody>
          <a:bodyPr rtlCol="0" anchor="ctr"/>
          <a:lstStyle/>
          <a:p>
            <a:pPr algn="ctr"/>
          </a:p>
        </p:txBody>
      </p:sp>
      <p:sp>
        <p:nvSpPr>
          <p:cNvPr id="15" name="Oval 14"/>
          <p:cNvSpPr/>
          <p:nvPr/>
        </p:nvSpPr>
        <p:spPr>
          <a:xfrm>
            <a:off x="9218365" y="2175174"/>
            <a:ext cx="493617" cy="386242"/>
          </a:xfrm>
          <a:prstGeom prst="ellipse">
            <a:avLst/>
          </a:prstGeom>
          <a:noFill/>
          <a:ln w="44450">
            <a:solidFill>
              <a:srgbClr val="C62828"/>
            </a:solidFill>
          </a:ln>
        </p:spPr>
        <p:txBody>
          <a:bodyPr rtlCol="0" anchor="ctr"/>
          <a:lstStyle/>
          <a:p>
            <a:pPr algn="ctr"/>
          </a:p>
        </p:txBody>
      </p:sp>
      <p:sp>
        <p:nvSpPr>
          <p:cNvPr id="16" name="Rectangle 15"/>
          <p:cNvSpPr/>
          <p:nvPr/>
        </p:nvSpPr>
        <p:spPr>
          <a:xfrm>
            <a:off x="9958792" y="4492630"/>
            <a:ext cx="381432" cy="790041"/>
          </a:xfrm>
          <a:prstGeom prst="rect">
            <a:avLst/>
          </a:prstGeom>
          <a:noFill/>
          <a:ln w="44450">
            <a:solidFill>
              <a:srgbClr val="1F5FAD"/>
            </a:solidFill>
          </a:ln>
        </p:spPr>
        <p:txBody>
          <a:bodyPr rtlCol="0" anchor="ctr"/>
          <a:lstStyle/>
          <a:p>
            <a:pPr algn="ctr"/>
          </a:p>
        </p:txBody>
      </p:sp>
      <p:sp>
        <p:nvSpPr>
          <p:cNvPr id="17" name="Oval 16"/>
          <p:cNvSpPr/>
          <p:nvPr/>
        </p:nvSpPr>
        <p:spPr>
          <a:xfrm>
            <a:off x="8479550" y="37753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107791" y="205483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68721" y="419673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pair's settings, read off Figure 6.43</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book gives no lengths for the CMF or its EMAs. Figure 6.43's panel labels print them.</a:t>
            </a:r>
          </a:p>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ChiOsc(3,10): the Chaikin oscillator, from EMAs of 3 and 10 bars.</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CMF(20): the Chaikin Money Flow over N = 20 bars.</a:t>
            </a:r>
          </a:p>
        </p:txBody>
      </p:sp>
      <p:sp>
        <p:nvSpPr>
          <p:cNvPr id="8" name="Rectangle 7"/>
          <p:cNvSpPr/>
          <p:nvPr/>
        </p:nvSpPr>
        <p:spPr>
          <a:xfrm>
            <a:off x="777240" y="4901183"/>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7759"/>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Read the brackets as the settings: lengths in bars.</a:t>
            </a:r>
          </a:p>
        </p:txBody>
      </p:sp>
      <p:sp>
        <p:nvSpPr>
          <p:cNvPr id="10" name="Rectangle 9"/>
          <p:cNvSpPr/>
          <p:nvPr/>
        </p:nvSpPr>
        <p:spPr>
          <a:xfrm>
            <a:off x="6217919" y="1810512"/>
            <a:ext cx="5196535" cy="291855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68080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22360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6.43</a:t>
            </a:r>
          </a:p>
          <a:p>
            <a:pPr algn="l">
              <a:lnSpc>
                <a:spcPct val="115000"/>
              </a:lnSpc>
              <a:spcBef>
                <a:spcPts val="0"/>
              </a:spcBef>
              <a:spcAft>
                <a:spcPts val="0"/>
              </a:spcAft>
            </a:pPr>
            <a:r>
              <a:rPr sz="1500" b="0" i="0">
                <a:solidFill>
                  <a:srgbClr val="1A1A1A"/>
                </a:solidFill>
                <a:latin typeface="Palatino"/>
              </a:rPr>
              <a:t>The two indicator panels of Figure 6.43, enlarged: the label ChiOsc(3,10) on the Chaikin oscillator and the label CMF(20) on the Chaikin Money Flow.</a:t>
            </a:r>
          </a:p>
        </p:txBody>
      </p:sp>
      <p:sp>
        <p:nvSpPr>
          <p:cNvPr id="14" name="Rectangle 13"/>
          <p:cNvSpPr/>
          <p:nvPr/>
        </p:nvSpPr>
        <p:spPr>
          <a:xfrm>
            <a:off x="6634319" y="2090232"/>
            <a:ext cx="1834752" cy="268080"/>
          </a:xfrm>
          <a:prstGeom prst="rect">
            <a:avLst/>
          </a:prstGeom>
          <a:noFill/>
          <a:ln w="44450">
            <a:solidFill>
              <a:srgbClr val="E09B00"/>
            </a:solidFill>
          </a:ln>
        </p:spPr>
        <p:txBody>
          <a:bodyPr rtlCol="0" anchor="ctr"/>
          <a:lstStyle/>
          <a:p>
            <a:pPr algn="ctr"/>
          </a:p>
        </p:txBody>
      </p:sp>
      <p:sp>
        <p:nvSpPr>
          <p:cNvPr id="15" name="Rectangle 14"/>
          <p:cNvSpPr/>
          <p:nvPr/>
        </p:nvSpPr>
        <p:spPr>
          <a:xfrm>
            <a:off x="6634319" y="3377020"/>
            <a:ext cx="1487637" cy="268080"/>
          </a:xfrm>
          <a:prstGeom prst="rect">
            <a:avLst/>
          </a:prstGeom>
          <a:noFill/>
          <a:ln w="44450">
            <a:solidFill>
              <a:srgbClr val="C62828"/>
            </a:solidFill>
          </a:ln>
        </p:spPr>
        <p:txBody>
          <a:bodyPr rtlCol="0" anchor="ctr"/>
          <a:lstStyle/>
          <a:p>
            <a:pPr algn="ctr"/>
          </a:p>
        </p:txBody>
      </p:sp>
      <p:sp>
        <p:nvSpPr>
          <p:cNvPr id="16" name="Oval 15"/>
          <p:cNvSpPr/>
          <p:nvPr/>
        </p:nvSpPr>
        <p:spPr>
          <a:xfrm>
            <a:off x="8511975" y="20688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64860" y="33556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4820504"/>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its two indicator panels. The text gives no settings; the figure's labels print them.</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Top: the indicator falls through its rising trendline in mid 2011: an early bearish signal.</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a:t>
            </a:r>
            <a:r>
              <a:rPr sz="1700" b="1" i="0">
                <a:solidFill>
                  <a:srgbClr val="1F5FAD"/>
                </a:solidFill>
                <a:latin typeface="Arial"/>
              </a:rPr>
              <a:t>(3)</a:t>
            </a:r>
            <a:r>
              <a:rPr sz="1700" b="0" i="0">
                <a:solidFill>
                  <a:srgbClr val="1A1A1A"/>
                </a:solidFill>
                <a:latin typeface="Arial"/>
              </a:rPr>
              <a:t>.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2893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05156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943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p:txBody>
      </p:sp>
      <p:sp>
        <p:nvSpPr>
          <p:cNvPr id="14" name="Oval 13"/>
          <p:cNvSpPr/>
          <p:nvPr/>
        </p:nvSpPr>
        <p:spPr>
          <a:xfrm>
            <a:off x="9907121" y="2173509"/>
            <a:ext cx="446291" cy="396703"/>
          </a:xfrm>
          <a:prstGeom prst="ellipse">
            <a:avLst/>
          </a:prstGeom>
          <a:noFill/>
          <a:ln w="44450">
            <a:solidFill>
              <a:srgbClr val="E09B00"/>
            </a:solidFill>
          </a:ln>
        </p:spPr>
        <p:txBody>
          <a:bodyPr rtlCol="0" anchor="ctr"/>
          <a:lstStyle/>
          <a:p>
            <a:pPr algn="ctr"/>
          </a:p>
        </p:txBody>
      </p:sp>
      <p:sp>
        <p:nvSpPr>
          <p:cNvPr id="15" name="Oval 14"/>
          <p:cNvSpPr/>
          <p:nvPr/>
        </p:nvSpPr>
        <p:spPr>
          <a:xfrm>
            <a:off x="10229442" y="4126509"/>
            <a:ext cx="396703" cy="427218"/>
          </a:xfrm>
          <a:prstGeom prst="ellipse">
            <a:avLst/>
          </a:prstGeom>
          <a:noFill/>
          <a:ln w="44450">
            <a:solidFill>
              <a:srgbClr val="C62828"/>
            </a:solidFill>
          </a:ln>
        </p:spPr>
        <p:txBody>
          <a:bodyPr rtlCol="0" anchor="ctr"/>
          <a:lstStyle/>
          <a:p>
            <a:pPr algn="ctr"/>
          </a:p>
        </p:txBody>
      </p:sp>
      <p:sp>
        <p:nvSpPr>
          <p:cNvPr id="16" name="Rectangle 15"/>
          <p:cNvSpPr/>
          <p:nvPr/>
        </p:nvSpPr>
        <p:spPr>
          <a:xfrm>
            <a:off x="6535143" y="3760322"/>
            <a:ext cx="595054" cy="335672"/>
          </a:xfrm>
          <a:prstGeom prst="rect">
            <a:avLst/>
          </a:prstGeom>
          <a:noFill/>
          <a:ln w="44450">
            <a:solidFill>
              <a:srgbClr val="1F5FAD"/>
            </a:solidFill>
          </a:ln>
        </p:spPr>
        <p:txBody>
          <a:bodyPr rtlCol="0" anchor="ctr"/>
          <a:lstStyle/>
          <a:p>
            <a:pPr algn="ctr"/>
          </a:p>
        </p:txBody>
      </p:sp>
      <p:sp>
        <p:nvSpPr>
          <p:cNvPr id="17" name="Oval 16"/>
          <p:cNvSpPr/>
          <p:nvPr/>
        </p:nvSpPr>
        <p:spPr>
          <a:xfrm>
            <a:off x="9801261" y="2048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123582" y="400157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123514" y="348281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519125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25</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25 of 25</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Commercials: hedgers, holding non-cash positions, a phrase the book never explains.</a:t>
            </a:r>
          </a:p>
          <a:p>
            <a:pPr algn="l">
              <a:lnSpc>
                <a:spcPct val="105000"/>
              </a:lnSpc>
              <a:spcBef>
                <a:spcPts val="0"/>
              </a:spcBef>
              <a:spcAft>
                <a:spcPts val="1100"/>
              </a:spcAft>
            </a:pPr>
            <a:r>
              <a:rPr sz="1700" b="0" i="0">
                <a:solidFill>
                  <a:srgbClr val="1A1A1A"/>
                </a:solidFill>
                <a:latin typeface="Arial"/>
              </a:rPr>
              <a:t>The book: traders use it to identify potential tops and bottoms, by two things.</a:t>
            </a:r>
          </a:p>
          <a:p>
            <a:pPr algn="l">
              <a:lnSpc>
                <a:spcPct val="105000"/>
              </a:lnSpc>
              <a:spcBef>
                <a:spcPts val="0"/>
              </a:spcBef>
              <a:spcAft>
                <a:spcPts val="1100"/>
              </a:spcAft>
            </a:pPr>
            <a:r>
              <a:rPr sz="1700" b="0" i="0">
                <a:solidFill>
                  <a:srgbClr val="1A1A1A"/>
                </a:solidFill>
                <a:latin typeface="Arial"/>
              </a:rPr>
              <a:t>One: changes in net commercial or non-commercial positions. Net: never defined, so not drawn.</a:t>
            </a:r>
          </a:p>
          <a:p>
            <a:pPr algn="l">
              <a:lnSpc>
                <a:spcPct val="105000"/>
              </a:lnSpc>
              <a:spcBef>
                <a:spcPts val="0"/>
              </a:spcBef>
              <a:spcAft>
                <a:spcPts val="1100"/>
              </a:spcAft>
            </a:pPr>
            <a:r>
              <a:rPr sz="1700" b="0" i="0">
                <a:solidFill>
                  <a:srgbClr val="1A1A1A"/>
                </a:solidFill>
                <a:latin typeface="Arial"/>
              </a:rPr>
              <a:t>Two: open interest testing a significant or historical level: back at an old level </a:t>
            </a:r>
            <a:r>
              <a:rPr sz="1700" b="1" i="0">
                <a:solidFill>
                  <a:srgbClr val="E09B00"/>
                </a:solidFill>
                <a:latin typeface="Arial"/>
              </a:rPr>
              <a:t>(1)</a:t>
            </a:r>
            <a:r>
              <a:rPr sz="1700" b="0" i="0">
                <a:solidFill>
                  <a:srgbClr val="1A1A1A"/>
                </a:solidFill>
                <a:latin typeface="Arial"/>
              </a:rPr>
              <a: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Ours: treat either as a warning, and wait for price to confirm </a:t>
            </a:r>
            <a:r>
              <a:rPr sz="1800" b="1" i="0">
                <a:solidFill>
                  <a:srgbClr val="C62828"/>
                </a:solidFill>
                <a:latin typeface="Arial"/>
              </a:rPr>
              <a:t>(2)</a:t>
            </a:r>
            <a:r>
              <a:rPr sz="1800" b="1" i="0">
                <a:solidFill>
                  <a:srgbClr val="1A1A1A"/>
                </a:solidFill>
                <a:latin typeface="Arial"/>
              </a:rPr>
              <a:t>, as for the ADL.</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jm.png"/>
          <p:cNvPicPr>
            <a:picLocks noChangeAspect="1"/>
          </p:cNvPicPr>
          <p:nvPr/>
        </p:nvPicPr>
        <p:blipFill>
          <a:blip r:embed="rId2"/>
          <a:stretch>
            <a:fillRect/>
          </a:stretch>
        </p:blipFill>
        <p:spPr>
          <a:xfrm>
            <a:off x="7252563" y="1929384"/>
            <a:ext cx="4041648" cy="3511296"/>
          </a:xfrm>
          <a:prstGeom prst="rect">
            <a:avLst/>
          </a:prstGeom>
        </p:spPr>
      </p:pic>
      <p:sp>
        <p:nvSpPr>
          <p:cNvPr id="12" name="Oval 11"/>
          <p:cNvSpPr/>
          <p:nvPr/>
        </p:nvSpPr>
        <p:spPr>
          <a:xfrm>
            <a:off x="10485881" y="3614806"/>
            <a:ext cx="323331" cy="351129"/>
          </a:xfrm>
          <a:prstGeom prst="ellipse">
            <a:avLst/>
          </a:prstGeom>
          <a:noFill/>
          <a:ln w="44450">
            <a:solidFill>
              <a:srgbClr val="E09B00"/>
            </a:solidFill>
          </a:ln>
        </p:spPr>
        <p:txBody>
          <a:bodyPr rtlCol="0" anchor="ctr"/>
          <a:lstStyle/>
          <a:p>
            <a:pPr algn="ctr"/>
          </a:p>
        </p:txBody>
      </p:sp>
      <p:sp>
        <p:nvSpPr>
          <p:cNvPr id="13" name="Oval 12"/>
          <p:cNvSpPr/>
          <p:nvPr/>
        </p:nvSpPr>
        <p:spPr>
          <a:xfrm>
            <a:off x="10910254" y="2245400"/>
            <a:ext cx="323331" cy="421355"/>
          </a:xfrm>
          <a:prstGeom prst="ellipse">
            <a:avLst/>
          </a:prstGeom>
          <a:noFill/>
          <a:ln w="44450">
            <a:solidFill>
              <a:srgbClr val="C62828"/>
            </a:solidFill>
          </a:ln>
        </p:spPr>
        <p:txBody>
          <a:bodyPr rtlCol="0" anchor="ctr"/>
          <a:lstStyle/>
          <a:p>
            <a:pPr algn="ctr"/>
          </a:p>
        </p:txBody>
      </p:sp>
      <p:sp>
        <p:nvSpPr>
          <p:cNvPr id="14" name="Oval 13"/>
          <p:cNvSpPr/>
          <p:nvPr/>
        </p:nvSpPr>
        <p:spPr>
          <a:xfrm>
            <a:off x="10370850" y="349447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795223" y="21250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 the chart is ours, invented.</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Above the VWMA (Part 2): the text calls price potentially bullish, then, a paragraph later, overvalued, where institutions look to sell.</a:t>
            </a:r>
          </a:p>
          <a:p>
            <a:pPr algn="l">
              <a:lnSpc>
                <a:spcPct val="105000"/>
              </a:lnSpc>
              <a:spcBef>
                <a:spcPts val="0"/>
              </a:spcBef>
              <a:spcAft>
                <a:spcPts val="1100"/>
              </a:spcAft>
            </a:pPr>
            <a:r>
              <a:rPr sz="2000" b="0" i="0">
                <a:solidFill>
                  <a:srgbClr val="1A1A1A"/>
                </a:solidFill>
                <a:latin typeface="Arial"/>
              </a:rPr>
              <a:t>Figure 6.11, the book's VWMA picture, prints price above its line as bullish </a:t>
            </a:r>
            <a:r>
              <a:rPr sz="2000" b="1" i="0">
                <a:solidFill>
                  <a:srgbClr val="E09B00"/>
                </a:solidFill>
                <a:latin typeface="Arial"/>
              </a:rPr>
              <a:t>(1)</a:t>
            </a:r>
            <a:r>
              <a:rPr sz="2000" b="0" i="0">
                <a:solidFill>
                  <a:srgbClr val="1A1A1A"/>
                </a:solidFill>
                <a:latin typeface="Arial"/>
              </a:rPr>
              <a: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If asked, give both readings.</a:t>
            </a:r>
          </a:p>
        </p:txBody>
      </p:sp>
      <p:sp>
        <p:nvSpPr>
          <p:cNvPr id="10" name="Rectangle 9"/>
          <p:cNvSpPr/>
          <p:nvPr/>
        </p:nvSpPr>
        <p:spPr>
          <a:xfrm>
            <a:off x="6217919" y="1810512"/>
            <a:ext cx="5196535" cy="259110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35335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89615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Part of Figure 6.11's price panel, enlarged: the label Price &gt; VWAP = Bullish over price bars above the dotted VWAP line.</a:t>
            </a:r>
          </a:p>
        </p:txBody>
      </p:sp>
      <p:sp>
        <p:nvSpPr>
          <p:cNvPr id="14" name="Rectangle 13"/>
          <p:cNvSpPr/>
          <p:nvPr/>
        </p:nvSpPr>
        <p:spPr>
          <a:xfrm>
            <a:off x="7725253" y="2376522"/>
            <a:ext cx="1636401" cy="353003"/>
          </a:xfrm>
          <a:prstGeom prst="rect">
            <a:avLst/>
          </a:prstGeom>
          <a:noFill/>
          <a:ln w="44450">
            <a:solidFill>
              <a:srgbClr val="E09B00"/>
            </a:solidFill>
          </a:ln>
        </p:spPr>
        <p:txBody>
          <a:bodyPr rtlCol="0" anchor="ctr"/>
          <a:lstStyle/>
          <a:p>
            <a:pPr algn="ctr"/>
          </a:p>
        </p:txBody>
      </p:sp>
      <p:sp>
        <p:nvSpPr>
          <p:cNvPr id="15" name="Oval 14"/>
          <p:cNvSpPr/>
          <p:nvPr/>
        </p:nvSpPr>
        <p:spPr>
          <a:xfrm>
            <a:off x="7371453" y="222107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49305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p.181 and Figure 6.11 (Part 2), its price panel. Each is also named on its own slide.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bullish TRIN (Part 4): the text calls it overbought.</a:t>
            </a:r>
          </a:p>
          <a:p>
            <a:pPr algn="l">
              <a:lnSpc>
                <a:spcPct val="105000"/>
              </a:lnSpc>
              <a:spcBef>
                <a:spcPts val="0"/>
              </a:spcBef>
              <a:spcAft>
                <a:spcPts val="1100"/>
              </a:spcAft>
            </a:pPr>
            <a:r>
              <a:rPr sz="2000" b="0" i="0">
                <a:solidFill>
                  <a:srgbClr val="1A1A1A"/>
                </a:solidFill>
                <a:latin typeface="Arial"/>
              </a:rPr>
              <a:t>Figure 6.25 labels the same reading TRIN oversold </a:t>
            </a:r>
            <a:r>
              <a:rPr sz="2000" b="1" i="0">
                <a:solidFill>
                  <a:srgbClr val="E09B00"/>
                </a:solidFill>
                <a:latin typeface="Arial"/>
              </a:rPr>
              <a:t>(1)</a:t>
            </a:r>
            <a:r>
              <a:rPr sz="2000" b="0" i="0">
                <a:solidFill>
                  <a:srgbClr val="1A1A1A"/>
                </a:solidFill>
                <a:latin typeface="Arial"/>
              </a:rPr>
              <a: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Name both.</a:t>
            </a:r>
          </a:p>
        </p:txBody>
      </p:sp>
      <p:sp>
        <p:nvSpPr>
          <p:cNvPr id="10" name="Rectangle 9"/>
          <p:cNvSpPr/>
          <p:nvPr/>
        </p:nvSpPr>
        <p:spPr>
          <a:xfrm>
            <a:off x="6217919" y="1810512"/>
            <a:ext cx="5196535" cy="317348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357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4785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tick and TRIN panels of Figure 6.25, enlarged: dotted arrows labelled TICK oversold and TRIN oversold.</a:t>
            </a:r>
          </a:p>
        </p:txBody>
      </p:sp>
      <p:sp>
        <p:nvSpPr>
          <p:cNvPr id="14" name="Rectangle 13"/>
          <p:cNvSpPr/>
          <p:nvPr/>
        </p:nvSpPr>
        <p:spPr>
          <a:xfrm>
            <a:off x="9411242" y="3573398"/>
            <a:ext cx="1388461" cy="322931"/>
          </a:xfrm>
          <a:prstGeom prst="rect">
            <a:avLst/>
          </a:prstGeom>
          <a:noFill/>
          <a:ln w="44450">
            <a:solidFill>
              <a:srgbClr val="E09B00"/>
            </a:solidFill>
          </a:ln>
        </p:spPr>
        <p:txBody>
          <a:bodyPr rtlCol="0" anchor="ctr"/>
          <a:lstStyle/>
          <a:p>
            <a:pPr algn="ctr"/>
          </a:p>
        </p:txBody>
      </p:sp>
      <p:sp>
        <p:nvSpPr>
          <p:cNvPr id="15" name="Oval 14"/>
          <p:cNvSpPr/>
          <p:nvPr/>
        </p:nvSpPr>
        <p:spPr>
          <a:xfrm>
            <a:off x="9057442" y="356473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50754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p.193 and Figure 6.25 (Part 4), its tick and TRIN panels. Each is also named on its own slide.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the NYSE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NYSE Up/Down Volume (Part 6): the text calls it the ratio of advancing volume over declining volume.</a:t>
            </a:r>
          </a:p>
          <a:p>
            <a:pPr algn="l">
              <a:lnSpc>
                <a:spcPct val="105000"/>
              </a:lnSpc>
              <a:spcBef>
                <a:spcPts val="0"/>
              </a:spcBef>
              <a:spcAft>
                <a:spcPts val="1100"/>
              </a:spcAft>
            </a:pPr>
            <a:r>
              <a:rPr sz="2000" b="0" i="0">
                <a:solidFill>
                  <a:srgbClr val="1A1A1A"/>
                </a:solidFill>
                <a:latin typeface="Arial"/>
              </a:rPr>
              <a:t>Figure 6.44 labels its line Cumulative </a:t>
            </a:r>
            <a:r>
              <a:rPr sz="2000" b="1" i="0">
                <a:solidFill>
                  <a:srgbClr val="E09B00"/>
                </a:solidFill>
                <a:latin typeface="Arial"/>
              </a:rPr>
              <a:t>(1)</a:t>
            </a:r>
            <a:r>
              <a:rPr sz="2000" b="0" i="0">
                <a:solidFill>
                  <a:srgbClr val="1A1A1A"/>
                </a:solidFill>
                <a:latin typeface="Arial"/>
              </a:rPr>
              <a:t>, and the line runs below zero </a:t>
            </a:r>
            <a:r>
              <a:rPr sz="2000" b="1" i="0">
                <a:solidFill>
                  <a:srgbClr val="C62828"/>
                </a:solidFill>
                <a:latin typeface="Arial"/>
              </a:rPr>
              <a:t>(2)</a:t>
            </a:r>
            <a:r>
              <a:rPr sz="2000" b="0" i="0">
                <a:solidFill>
                  <a:srgbClr val="1A1A1A"/>
                </a:solidFill>
                <a:latin typeface="Arial"/>
              </a:rPr>
              <a:t>, to about -4,500 in March 2009, which a ratio of two volumes cannot.</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reconcile them. If asked, give both.</a:t>
            </a:r>
          </a:p>
        </p:txBody>
      </p:sp>
      <p:sp>
        <p:nvSpPr>
          <p:cNvPr id="10" name="Rectangle 9"/>
          <p:cNvSpPr/>
          <p:nvPr/>
        </p:nvSpPr>
        <p:spPr>
          <a:xfrm>
            <a:off x="6035040" y="1810512"/>
            <a:ext cx="5379414" cy="2610822"/>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153912" y="1929384"/>
            <a:ext cx="5141670" cy="2373078"/>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153912" y="1929384"/>
            <a:ext cx="51416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28231" y="2203703"/>
            <a:ext cx="4593031" cy="19158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6.44</a:t>
            </a:r>
          </a:p>
          <a:p>
            <a:pPr algn="l">
              <a:lnSpc>
                <a:spcPct val="115000"/>
              </a:lnSpc>
              <a:spcBef>
                <a:spcPts val="0"/>
              </a:spcBef>
              <a:spcAft>
                <a:spcPts val="0"/>
              </a:spcAft>
            </a:pPr>
            <a:r>
              <a:rPr sz="1500" b="0" i="0">
                <a:solidFill>
                  <a:srgbClr val="1A1A1A"/>
                </a:solidFill>
                <a:latin typeface="Palatino"/>
              </a:rPr>
              <a:t>The upper panel of Figure 6.44: the label $NYUD (Daily) Cumulative, and the line dipping below the zero of its scale in March 2009.</a:t>
            </a:r>
          </a:p>
        </p:txBody>
      </p:sp>
      <p:sp>
        <p:nvSpPr>
          <p:cNvPr id="14" name="Rectangle 13"/>
          <p:cNvSpPr/>
          <p:nvPr/>
        </p:nvSpPr>
        <p:spPr>
          <a:xfrm>
            <a:off x="6153912" y="2142961"/>
            <a:ext cx="2159501" cy="142384"/>
          </a:xfrm>
          <a:prstGeom prst="rect">
            <a:avLst/>
          </a:prstGeom>
          <a:noFill/>
          <a:ln w="44450">
            <a:solidFill>
              <a:srgbClr val="E09B00"/>
            </a:solidFill>
          </a:ln>
        </p:spPr>
        <p:txBody>
          <a:bodyPr rtlCol="0" anchor="ctr"/>
          <a:lstStyle/>
          <a:p>
            <a:pPr algn="ctr"/>
          </a:p>
        </p:txBody>
      </p:sp>
      <p:sp>
        <p:nvSpPr>
          <p:cNvPr id="15" name="Rectangle 14"/>
          <p:cNvSpPr/>
          <p:nvPr/>
        </p:nvSpPr>
        <p:spPr>
          <a:xfrm>
            <a:off x="6462412" y="3875308"/>
            <a:ext cx="359916" cy="284769"/>
          </a:xfrm>
          <a:prstGeom prst="rect">
            <a:avLst/>
          </a:prstGeom>
          <a:noFill/>
          <a:ln w="44450">
            <a:solidFill>
              <a:srgbClr val="C62828"/>
            </a:solidFill>
          </a:ln>
        </p:spPr>
        <p:txBody>
          <a:bodyPr rtlCol="0" anchor="ctr"/>
          <a:lstStyle/>
          <a:p>
            <a:pPr algn="ctr"/>
          </a:p>
        </p:txBody>
      </p:sp>
      <p:sp>
        <p:nvSpPr>
          <p:cNvPr id="16" name="Rectangle 15"/>
          <p:cNvSpPr/>
          <p:nvPr/>
        </p:nvSpPr>
        <p:spPr>
          <a:xfrm>
            <a:off x="10729999" y="3804116"/>
            <a:ext cx="385625" cy="355961"/>
          </a:xfrm>
          <a:prstGeom prst="rect">
            <a:avLst/>
          </a:prstGeom>
          <a:noFill/>
          <a:ln w="44450">
            <a:solidFill>
              <a:srgbClr val="C62828"/>
            </a:solidFill>
          </a:ln>
        </p:spPr>
        <p:txBody>
          <a:bodyPr rtlCol="0" anchor="ctr"/>
          <a:lstStyle/>
          <a:p>
            <a:pPr algn="ctr"/>
          </a:p>
        </p:txBody>
      </p:sp>
      <p:sp>
        <p:nvSpPr>
          <p:cNvPr id="17" name="Oval 16"/>
          <p:cNvSpPr/>
          <p:nvPr/>
        </p:nvSpPr>
        <p:spPr>
          <a:xfrm>
            <a:off x="8363632" y="205870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872548" y="367239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20301" y="357747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TextBox 19"/>
          <p:cNvSpPr txBox="1"/>
          <p:nvPr/>
        </p:nvSpPr>
        <p:spPr>
          <a:xfrm>
            <a:off x="6035040" y="4512774"/>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p.206 and Figure 6.44 (Part 6), its upper panel. Each is also named on its own slide.</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Bullish divergence (Part 1): the text says it can only occur in a downtrend.</a:t>
            </a:r>
          </a:p>
          <a:p>
            <a:pPr algn="l">
              <a:lnSpc>
                <a:spcPct val="105000"/>
              </a:lnSpc>
              <a:spcBef>
                <a:spcPts val="0"/>
              </a:spcBef>
              <a:spcAft>
                <a:spcPts val="1100"/>
              </a:spcAft>
            </a:pPr>
            <a:r>
              <a:rPr sz="2000" b="0" i="0">
                <a:solidFill>
                  <a:srgbClr val="1A1A1A"/>
                </a:solidFill>
                <a:latin typeface="Arial"/>
              </a:rPr>
              <a:t>Yet the book reads periods 4 </a:t>
            </a:r>
            <a:r>
              <a:rPr sz="2000" b="1" i="0">
                <a:solidFill>
                  <a:srgbClr val="E09B00"/>
                </a:solidFill>
                <a:latin typeface="Arial"/>
              </a:rPr>
              <a:t>(1)</a:t>
            </a:r>
            <a:r>
              <a:rPr sz="2000" b="0" i="0">
                <a:solidFill>
                  <a:srgbClr val="1A1A1A"/>
                </a:solidFill>
                <a:latin typeface="Arial"/>
              </a:rPr>
              <a:t> and 6 </a:t>
            </a:r>
            <a:r>
              <a:rPr sz="2000" b="1" i="0">
                <a:solidFill>
                  <a:srgbClr val="C62828"/>
                </a:solidFill>
                <a:latin typeface="Arial"/>
              </a:rPr>
              <a:t>(2)</a:t>
            </a:r>
            <a:r>
              <a:rPr sz="2000" b="0" i="0">
                <a:solidFill>
                  <a:srgbClr val="1A1A1A"/>
                </a:solidFill>
                <a:latin typeface="Arial"/>
              </a:rPr>
              <a:t> of Figure 6.6 as bullish divergence: dips inside a four-year uptrend.</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either. If asked, give both readings.</a:t>
            </a:r>
          </a:p>
        </p:txBody>
      </p:sp>
      <p:sp>
        <p:nvSpPr>
          <p:cNvPr id="10" name="Rectangle 9"/>
          <p:cNvSpPr/>
          <p:nvPr/>
        </p:nvSpPr>
        <p:spPr>
          <a:xfrm>
            <a:off x="6217919" y="1810512"/>
            <a:ext cx="5196535" cy="338392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3146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68898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price panel of Figure 6.6, enlarged: the SPDR Gold Trust rising over four years, with dotted lines dividing numbered periods; periods 4 and 6 are dips.</a:t>
            </a:r>
          </a:p>
        </p:txBody>
      </p:sp>
      <p:sp>
        <p:nvSpPr>
          <p:cNvPr id="14" name="Rectangle 13"/>
          <p:cNvSpPr/>
          <p:nvPr/>
        </p:nvSpPr>
        <p:spPr>
          <a:xfrm>
            <a:off x="10130267" y="2558620"/>
            <a:ext cx="347115" cy="2485484"/>
          </a:xfrm>
          <a:prstGeom prst="rect">
            <a:avLst/>
          </a:prstGeom>
          <a:noFill/>
          <a:ln w="44450">
            <a:solidFill>
              <a:srgbClr val="E09B00"/>
            </a:solidFill>
          </a:ln>
        </p:spPr>
        <p:txBody>
          <a:bodyPr rtlCol="0" anchor="ctr"/>
          <a:lstStyle/>
          <a:p>
            <a:pPr algn="ctr"/>
          </a:p>
        </p:txBody>
      </p:sp>
      <p:sp>
        <p:nvSpPr>
          <p:cNvPr id="15" name="Rectangle 14"/>
          <p:cNvSpPr/>
          <p:nvPr/>
        </p:nvSpPr>
        <p:spPr>
          <a:xfrm>
            <a:off x="10824497" y="2715929"/>
            <a:ext cx="371909" cy="2328175"/>
          </a:xfrm>
          <a:prstGeom prst="rect">
            <a:avLst/>
          </a:prstGeom>
          <a:noFill/>
          <a:ln w="44450">
            <a:solidFill>
              <a:srgbClr val="C62828"/>
            </a:solidFill>
          </a:ln>
        </p:spPr>
        <p:txBody>
          <a:bodyPr rtlCol="0" anchor="ctr"/>
          <a:lstStyle/>
          <a:p>
            <a:pPr algn="ctr"/>
          </a:p>
        </p:txBody>
      </p:sp>
      <p:sp>
        <p:nvSpPr>
          <p:cNvPr id="16" name="Oval 15"/>
          <p:cNvSpPr/>
          <p:nvPr/>
        </p:nvSpPr>
        <p:spPr>
          <a:xfrm>
            <a:off x="10148376" y="22458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867401" y="24031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28587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Book pp.176 and 178 and Figure 6.6 (Part 1), its price panel. Each is also named on its own slide.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the VWMA</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6.11 (Part 2) is captioned a VWMA on a daily chart.</a:t>
            </a:r>
          </a:p>
          <a:p>
            <a:pPr algn="l">
              <a:lnSpc>
                <a:spcPct val="105000"/>
              </a:lnSpc>
              <a:spcBef>
                <a:spcPts val="0"/>
              </a:spcBef>
              <a:spcAft>
                <a:spcPts val="1100"/>
              </a:spcAft>
            </a:pPr>
            <a:r>
              <a:rPr sz="2000" b="0" i="0">
                <a:solidFill>
                  <a:srgbClr val="1A1A1A"/>
                </a:solidFill>
                <a:latin typeface="Arial"/>
              </a:rPr>
              <a:t>Its own label reads SPY (10 min), over a line labelled VWAP </a:t>
            </a:r>
            <a:r>
              <a:rPr sz="2000" b="1" i="0">
                <a:solidFill>
                  <a:srgbClr val="E09B00"/>
                </a:solidFill>
                <a:latin typeface="Arial"/>
              </a:rPr>
              <a:t>(1)</a:t>
            </a:r>
            <a:r>
              <a:rPr sz="2000" b="0" i="0">
                <a:solidFill>
                  <a:srgbClr val="1A1A1A"/>
                </a:solidFill>
                <a:latin typeface="Arial"/>
              </a:rPr>
              <a:t>: 10-minute bars and a VWAP.</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217919" y="1810512"/>
            <a:ext cx="5196535" cy="225117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01343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5562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500" b="0" i="0">
                <a:solidFill>
                  <a:srgbClr val="1A1A1A"/>
                </a:solidFill>
                <a:latin typeface="Palatino"/>
              </a:rPr>
              <a:t>The top left corner of Figure 6.11, enlarged: the labels SPY (10 min) 141.56 and VWAP 142.40.</a:t>
            </a:r>
          </a:p>
        </p:txBody>
      </p:sp>
      <p:sp>
        <p:nvSpPr>
          <p:cNvPr id="14" name="Rectangle 13"/>
          <p:cNvSpPr/>
          <p:nvPr/>
        </p:nvSpPr>
        <p:spPr>
          <a:xfrm>
            <a:off x="6386379" y="2271667"/>
            <a:ext cx="1735576" cy="261745"/>
          </a:xfrm>
          <a:prstGeom prst="rect">
            <a:avLst/>
          </a:prstGeom>
          <a:noFill/>
          <a:ln w="44450">
            <a:solidFill>
              <a:srgbClr val="E09B00"/>
            </a:solidFill>
          </a:ln>
        </p:spPr>
        <p:txBody>
          <a:bodyPr rtlCol="0" anchor="ctr"/>
          <a:lstStyle/>
          <a:p>
            <a:pPr algn="ctr"/>
          </a:p>
        </p:txBody>
      </p:sp>
      <p:sp>
        <p:nvSpPr>
          <p:cNvPr id="15" name="Oval 14"/>
          <p:cNvSpPr/>
          <p:nvPr/>
        </p:nvSpPr>
        <p:spPr>
          <a:xfrm>
            <a:off x="8412799" y="18947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153126"/>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p.181 and Figure 6.11 (Part 2), its top left corner.</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Figure 6.25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6.25 (Part 4) is captioned daily.</a:t>
            </a:r>
          </a:p>
          <a:p>
            <a:pPr algn="l">
              <a:lnSpc>
                <a:spcPct val="105000"/>
              </a:lnSpc>
              <a:spcBef>
                <a:spcPts val="0"/>
              </a:spcBef>
              <a:spcAft>
                <a:spcPts val="1100"/>
              </a:spcAft>
            </a:pPr>
            <a:r>
              <a:rPr sz="2000" b="0" i="0">
                <a:solidFill>
                  <a:srgbClr val="1A1A1A"/>
                </a:solidFill>
                <a:latin typeface="Arial"/>
              </a:rPr>
              <a:t>Its own label reads $SPX (1 min) </a:t>
            </a:r>
            <a:r>
              <a:rPr sz="2000" b="1" i="0">
                <a:solidFill>
                  <a:srgbClr val="E09B00"/>
                </a:solidFill>
                <a:latin typeface="Arial"/>
              </a:rPr>
              <a:t>(1)</a:t>
            </a:r>
            <a:r>
              <a:rPr sz="2000" b="0" i="0">
                <a:solidFill>
                  <a:srgbClr val="1A1A1A"/>
                </a:solidFill>
                <a:latin typeface="Arial"/>
              </a:rPr>
              <a:t>, and its time axis </a:t>
            </a:r>
            <a:r>
              <a:rPr sz="2000" b="1" i="0">
                <a:solidFill>
                  <a:srgbClr val="C62828"/>
                </a:solidFill>
                <a:latin typeface="Arial"/>
              </a:rPr>
              <a:t>(2)</a:t>
            </a:r>
            <a:r>
              <a:rPr sz="2000" b="0" i="0">
                <a:solidFill>
                  <a:srgbClr val="1A1A1A"/>
                </a:solidFill>
                <a:latin typeface="Arial"/>
              </a:rPr>
              <a:t> runs from 10:00 to 3:00 within one day: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991319" y="1810512"/>
            <a:ext cx="3649736"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110191" y="1929384"/>
            <a:ext cx="3411992"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110191" y="1929384"/>
            <a:ext cx="3411992"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384511" y="2203703"/>
            <a:ext cx="286335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left half of Figure 6.25's price panel, enlarged: the label $SPX (1 min) 1400.42 and a time axis from 10:00 to 3:00.</a:t>
            </a:r>
          </a:p>
        </p:txBody>
      </p:sp>
      <p:sp>
        <p:nvSpPr>
          <p:cNvPr id="14" name="Rectangle 13"/>
          <p:cNvSpPr/>
          <p:nvPr/>
        </p:nvSpPr>
        <p:spPr>
          <a:xfrm>
            <a:off x="7314910" y="2192731"/>
            <a:ext cx="1262437" cy="140451"/>
          </a:xfrm>
          <a:prstGeom prst="rect">
            <a:avLst/>
          </a:prstGeom>
          <a:noFill/>
          <a:ln w="44450">
            <a:solidFill>
              <a:srgbClr val="E09B00"/>
            </a:solidFill>
          </a:ln>
        </p:spPr>
        <p:txBody>
          <a:bodyPr rtlCol="0" anchor="ctr"/>
          <a:lstStyle/>
          <a:p>
            <a:pPr algn="ctr"/>
          </a:p>
        </p:txBody>
      </p:sp>
      <p:sp>
        <p:nvSpPr>
          <p:cNvPr id="15" name="Rectangle 14"/>
          <p:cNvSpPr/>
          <p:nvPr/>
        </p:nvSpPr>
        <p:spPr>
          <a:xfrm>
            <a:off x="7110191" y="5282671"/>
            <a:ext cx="3377872" cy="154497"/>
          </a:xfrm>
          <a:prstGeom prst="rect">
            <a:avLst/>
          </a:prstGeom>
          <a:noFill/>
          <a:ln w="44450">
            <a:solidFill>
              <a:srgbClr val="C62828"/>
            </a:solidFill>
          </a:ln>
        </p:spPr>
        <p:txBody>
          <a:bodyPr rtlCol="0" anchor="ctr"/>
          <a:lstStyle/>
          <a:p>
            <a:pPr algn="ctr"/>
          </a:p>
        </p:txBody>
      </p:sp>
      <p:sp>
        <p:nvSpPr>
          <p:cNvPr id="16" name="Oval 15"/>
          <p:cNvSpPr/>
          <p:nvPr/>
        </p:nvSpPr>
        <p:spPr>
          <a:xfrm>
            <a:off x="7040043" y="210750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057103" y="500432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p.193 and Figure 6.25 (Part 4), its left half.</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silver or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6.23 (Part 3) is captioned silver.</a:t>
            </a:r>
          </a:p>
          <a:p>
            <a:pPr algn="l">
              <a:lnSpc>
                <a:spcPct val="105000"/>
              </a:lnSpc>
              <a:spcBef>
                <a:spcPts val="0"/>
              </a:spcBef>
              <a:spcAft>
                <a:spcPts val="1100"/>
              </a:spcAft>
            </a:pPr>
            <a:r>
              <a:rPr sz="1900" b="0" i="0">
                <a:solidFill>
                  <a:srgbClr val="1A1A1A"/>
                </a:solidFill>
                <a:latin typeface="Arial"/>
              </a:rPr>
              <a:t>The text calls 6.23 the same daily chart of USDJPY, then, a sentence on, the Silver market.</a:t>
            </a:r>
          </a:p>
          <a:p>
            <a:pPr algn="l">
              <a:lnSpc>
                <a:spcPct val="105000"/>
              </a:lnSpc>
              <a:spcBef>
                <a:spcPts val="0"/>
              </a:spcBef>
              <a:spcAft>
                <a:spcPts val="1100"/>
              </a:spcAft>
            </a:pPr>
            <a:r>
              <a:rPr sz="1900" b="0" i="0">
                <a:solidFill>
                  <a:srgbClr val="1A1A1A"/>
                </a:solidFill>
                <a:latin typeface="Arial"/>
              </a:rPr>
              <a:t>The chart's own label </a:t>
            </a:r>
            <a:r>
              <a:rPr sz="1900" b="1" i="0">
                <a:solidFill>
                  <a:srgbClr val="E09B00"/>
                </a:solidFill>
                <a:latin typeface="Arial"/>
              </a:rPr>
              <a:t>(1)</a:t>
            </a:r>
            <a:r>
              <a:rPr sz="1900" b="0" i="0">
                <a:solidFill>
                  <a:srgbClr val="1A1A1A"/>
                </a:solidFill>
                <a:latin typeface="Arial"/>
              </a:rPr>
              <a:t> is too blurred in the book's print to read, so the figure cannot settle it.</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No check rests on it. Name both readings.</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top left of Figure 6.23, enlarged: its market label, blurred past reading, over the start of the price line.</a:t>
            </a:r>
          </a:p>
        </p:txBody>
      </p:sp>
      <p:sp>
        <p:nvSpPr>
          <p:cNvPr id="14" name="Rectangle 13"/>
          <p:cNvSpPr/>
          <p:nvPr/>
        </p:nvSpPr>
        <p:spPr>
          <a:xfrm>
            <a:off x="6386379" y="1929384"/>
            <a:ext cx="1636401" cy="225172"/>
          </a:xfrm>
          <a:prstGeom prst="rect">
            <a:avLst/>
          </a:prstGeom>
          <a:noFill/>
          <a:ln w="44450">
            <a:solidFill>
              <a:srgbClr val="E09B00"/>
            </a:solidFill>
          </a:ln>
        </p:spPr>
        <p:txBody>
          <a:bodyPr rtlCol="0" anchor="ctr"/>
          <a:lstStyle/>
          <a:p>
            <a:pPr algn="ctr"/>
          </a:p>
        </p:txBody>
      </p:sp>
      <p:sp>
        <p:nvSpPr>
          <p:cNvPr id="15" name="Oval 14"/>
          <p:cNvSpPr/>
          <p:nvPr/>
        </p:nvSpPr>
        <p:spPr>
          <a:xfrm>
            <a:off x="8065684" y="18990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pp.189-190 and Figure 6.23 (Part 3), its top left corner.</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captions that disagree: Figure 6.26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6.26 (Part 4) is captioned daily.</a:t>
            </a:r>
          </a:p>
          <a:p>
            <a:pPr algn="l">
              <a:lnSpc>
                <a:spcPct val="105000"/>
              </a:lnSpc>
              <a:spcBef>
                <a:spcPts val="0"/>
              </a:spcBef>
              <a:spcAft>
                <a:spcPts val="1100"/>
              </a:spcAft>
            </a:pPr>
            <a:r>
              <a:rPr sz="2000" b="0" i="0">
                <a:solidFill>
                  <a:srgbClr val="1A1A1A"/>
                </a:solidFill>
                <a:latin typeface="Arial"/>
              </a:rPr>
              <a:t>Its own label reads $SPX (1 min) </a:t>
            </a:r>
            <a:r>
              <a:rPr sz="2000" b="1" i="0">
                <a:solidFill>
                  <a:srgbClr val="E09B00"/>
                </a:solidFill>
                <a:latin typeface="Arial"/>
              </a:rPr>
              <a:t>(1)</a:t>
            </a:r>
            <a:r>
              <a:rPr sz="2000" b="0" i="0">
                <a:solidFill>
                  <a:srgbClr val="1A1A1A"/>
                </a:solidFill>
                <a:latin typeface="Arial"/>
              </a:rPr>
              <a:t>: 1-minute bars, the S&amp;P 500 within one afternoon, an intraday chart.</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No check rests on it. Read the chart, and name both.</a:t>
            </a:r>
          </a:p>
        </p:txBody>
      </p:sp>
      <p:sp>
        <p:nvSpPr>
          <p:cNvPr id="10" name="Rectangle 9"/>
          <p:cNvSpPr/>
          <p:nvPr/>
        </p:nvSpPr>
        <p:spPr>
          <a:xfrm>
            <a:off x="6217919" y="1810512"/>
            <a:ext cx="5196535" cy="292773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68999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23279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The top left of Figure 6.26's price panel, enlarged: the label $SPX (1 min) 1414.20 over the falling S&amp;P 500.</a:t>
            </a:r>
          </a:p>
        </p:txBody>
      </p:sp>
      <p:sp>
        <p:nvSpPr>
          <p:cNvPr id="14" name="Rectangle 13"/>
          <p:cNvSpPr/>
          <p:nvPr/>
        </p:nvSpPr>
        <p:spPr>
          <a:xfrm>
            <a:off x="6584731" y="2225283"/>
            <a:ext cx="1636401" cy="147949"/>
          </a:xfrm>
          <a:prstGeom prst="rect">
            <a:avLst/>
          </a:prstGeom>
          <a:noFill/>
          <a:ln w="44450">
            <a:solidFill>
              <a:srgbClr val="E09B00"/>
            </a:solidFill>
          </a:ln>
        </p:spPr>
        <p:txBody>
          <a:bodyPr rtlCol="0" anchor="ctr"/>
          <a:lstStyle/>
          <a:p>
            <a:pPr algn="ctr"/>
          </a:p>
        </p:txBody>
      </p:sp>
      <p:sp>
        <p:nvSpPr>
          <p:cNvPr id="15" name="Oval 14"/>
          <p:cNvSpPr/>
          <p:nvPr/>
        </p:nvSpPr>
        <p:spPr>
          <a:xfrm>
            <a:off x="8264036" y="215053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TextBox 15"/>
          <p:cNvSpPr txBox="1"/>
          <p:nvPr/>
        </p:nvSpPr>
        <p:spPr>
          <a:xfrm>
            <a:off x="6217919" y="4829689"/>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Book p.194 and Figure 6.26 (Part 4), its top left corner.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