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how to read volume and open interest against price, and the indicators built from them.</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six learning objectives. Say the first and the fifth, and that every one is examinable.</a:t>
            </a:r>
          </a:p>
          <a:p>
            <a:r>
              <a:rPr sz="1400"/>
              <a:t>- Be straight about the sixth: the chapter's text never comes back to contract months. Chapter 3's rollover slides are where it was taught.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Section 6.1 is thirty pages with twenty sub-headings, so it is five parts here.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opening paragraph, and the shape of every figure today: price on top, volume underneath, one volume bar under each price bar.</a:t>
            </a:r>
          </a:p>
          <a:p>
            <a:r>
              <a:rPr sz="1400"/>
              <a:t>- Point at the gold day. The price bar says where it traded; the volume bar under it says how much traded. Every figure in the chapter is read that way.</a:t>
            </a:r>
          </a:p>
          <a:p>
            <a:r>
              <a:rPr sz="1400"/>
              <a:t>- The novice error in the gold line is answered in Part 2: falling volume inside a consolidation is normal, and it times the breakout.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Chapter 2 gave this as its sixth tenet, with the same four conditions. Nothing in it changes.</a:t>
            </a:r>
          </a:p>
          <a:p>
            <a:r>
              <a:rPr sz="1400"/>
              <a:t>- Read the figure's two halves. In each, the tall volume bars sit under the move that goes with the trend, and the short ones under the retracement.</a:t>
            </a:r>
          </a:p>
          <a:p>
            <a:r>
              <a:rPr sz="1400"/>
              <a:t>- What is new today is the vocabulary on the next slides: volume is bullish or bearish, and it confirms or diverges.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has been on our charts since Chapter 1, and Chapter 2 made a tenet of it, but this is the first slide that defines it.</a:t>
            </a:r>
          </a:p>
          <a:p>
            <a:r>
              <a:rPr sz="1400"/>
              <a:t>- Shares for a stock, contracts for a futures market. The interval is whatever the chart's bar is: a day, an hour, five minutes.</a:t>
            </a:r>
          </a:p>
          <a:p>
            <a:r>
              <a:rPr sz="1400"/>
              <a:t>- Keep the five trades in mind: in Part 4 the same five trades give a tick volume of five.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to remember these two whenever volume is studied. Every reading later in the chapter comes back to them.</a:t>
            </a:r>
          </a:p>
          <a:p>
            <a:r>
              <a:rPr sz="1400"/>
              <a:t>- On the chart, 1 is a rally the market wants: volume grows as price rises. 2 is a rally fewer want: price still rises, on shrinking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it four times, trend by trend. Every one of the four is the same rule: together is bullish, opposite is bearish.</a:t>
            </a:r>
          </a:p>
          <a:p>
            <a:r>
              <a:rPr sz="1400"/>
              <a:t>- So the same falling volume is bullish under a falling price and bearish under a rising one. Volume alone says nothing until price's direction is known.</a:t>
            </a:r>
          </a:p>
          <a:p>
            <a:r>
              <a:rPr sz="1400"/>
              <a:t>- This answers review question 2, describe bullish and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end of the chart: price falls and volume falls with it. That is bullish volume in an uptrend, not a warning.</a:t>
            </a:r>
          </a:p>
          <a:p>
            <a:r>
              <a:rPr sz="1400"/>
              <a:t>- The mistake is reading volume alone: falling equals bad. Ask the room which way price was going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this beside Figure 6.1. The prices are the same shapes; only the volume is swapped.</a:t>
            </a:r>
          </a:p>
          <a:p>
            <a:r>
              <a:rPr sz="1400"/>
              <a:t>- Not confirming is still only a potential: the book says weak or bearish uptrend, not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columns of the chart, not the rows: each column is one volume direction, with price going both ways.</a:t>
            </a:r>
          </a:p>
          <a:p>
            <a:r>
              <a:rPr sz="1400"/>
              <a:t>- Bullish or bearish volume needs price. Divergence or confirmation does not: it is volume's direction alone.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Confirmation is called convergence too: price and volume coming together in one direction. Both words mean volume rising.</a:t>
            </a:r>
          </a:p>
          <a:p>
            <a:r>
              <a:rPr sz="1400"/>
              <a:t>- The right-hand chart is one possible ending, drawn to show what potential reversal means. Divergence is an early warning, not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row is the book's own summary of all four scenarios, page 178. The formal row is its two sentences on where each divergence can occur.</a:t>
            </a:r>
          </a:p>
          <a:p>
            <a:r>
              <a:rPr sz="1400"/>
              <a:t>- Bullish or bearish comes from the last slide but one: together or apart. Divergence or confirmation from the last slide: volume down or up.</a:t>
            </a:r>
          </a:p>
          <a:p>
            <a:r>
              <a:rPr sz="1400"/>
              <a:t>- The figure lists four kinds of supporting series. Volume, its moving average and open interest are all in the text; the ATR is not mentioned anywhere in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word, different test. Standard divergence compares two peaks on two lines. Volume divergence asks one question: is volume falling?</a:t>
            </a:r>
          </a:p>
          <a:p>
            <a:r>
              <a:rPr sz="1400"/>
              <a:t>- This answers review question 3, how volume divergence differs from standard oscillator divergence.</a:t>
            </a:r>
          </a:p>
          <a:p>
            <a:r>
              <a:rPr sz="1400"/>
              <a:t>- Reverse divergence was named in Chapter 5 and left to Chapter 9. The book says there is no such classification for volume.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falling and volume falling together: bullish divergence, by the last slides. Point at the two dashed lines in the volume panel.</a:t>
            </a:r>
          </a:p>
          <a:p>
            <a:r>
              <a:rPr sz="1400"/>
              <a:t>- Evidence, not a signal: the pattern is the setup and the volume corroborates it, which is the chapter's first sentence again.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period by period with the arrows on the volume panel. Up arrows with price rising: confirmation. Down arrows with price dipping: divergence.</a:t>
            </a:r>
          </a:p>
          <a:p>
            <a:r>
              <a:rPr sz="1400"/>
              <a:t>- The breakout timing in 2, 8 and 10 is Part 2's subject. Here it is enough that a consolidation's falling volume is not divergence.</a:t>
            </a:r>
          </a:p>
          <a:p>
            <a:r>
              <a:rPr sz="1400"/>
              <a:t>- Be plain about the gap: the book's sentence says downtrend, its figure says inside an uptrend. The slide gives our reading and says it is ours.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has ten periods on a real chart and they are hard to see. Here are four, one of each kind it names.</a:t>
            </a:r>
          </a:p>
          <a:p>
            <a:r>
              <a:rPr sz="1400"/>
              <a:t>- Ask the room for each period before reading the label: which way is price, which way is volume, together or apart.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Oscillator is the book's word for any indicator drawn in its own panel under the price. Chapter 8 is oscillators; nothing more about them is needed today.</a:t>
            </a:r>
          </a:p>
          <a:p>
            <a:r>
              <a:rPr sz="1400"/>
              <a:t>- The bottom line on the chart is the On Balance Volume, taught in Part 6. Here it only shows what price-based means: the close decides the sign.</a:t>
            </a:r>
          </a:p>
          <a:p>
            <a:r>
              <a:rPr sz="1400"/>
              <a:t>- Volume bars are on the book's non-price-based list, so plain volume counts as one of these oscillators.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these as two lists and no figure, so this slide has no picture. The next two slides show how the two kinds are read.</a:t>
            </a:r>
          </a:p>
          <a:p>
            <a:r>
              <a:rPr sz="1400"/>
              <a:t>- Do not explain the four the book never explains. Say they are names only.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box by box. Top left and top right differ only in the bullish divergence pair; bottom left and bottom right only in the bearish confirmation pair.</a:t>
            </a:r>
          </a:p>
          <a:p>
            <a:r>
              <a:rPr sz="1400"/>
              <a:t>- Why the price-based one differs: price is built into it, so when price falls it would fall too, unless buying is underneath. Ours, not the book's words: the book gives the figure and no reason.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rises across the arrow at the top. Two volume panels fall under it, bearish divergence; the ADL rises with it, bullish confirmation.</a:t>
            </a:r>
          </a:p>
          <a:p>
            <a:r>
              <a:rPr sz="1400"/>
              <a:t>- Do not resolve the disagreement. The book shows the figure to show each kind read by its own rule; it does not say which to believe.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novice error from the first slide. Sideways price cannot diverge from anything, so shrinking volume inside a range is not a warning: it is the clock running down.</a:t>
            </a:r>
          </a:p>
          <a:p>
            <a:r>
              <a:rPr sz="1400"/>
              <a:t>- The stops are stop orders, Chapter 1 and Chapter 5: buy stops above the range, sell stops below it. Whichever side is hit first starts the move.</a:t>
            </a:r>
          </a:p>
          <a:p>
            <a:r>
              <a:rPr sz="1400"/>
              <a:t>- The book says either an upside or a downside breakout. Low volume does not say which way.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box at the bottom right of the price panel, then the circle under it where volume sits on the low volume level. The breakout follows.</a:t>
            </a:r>
          </a:p>
          <a:p>
            <a:r>
              <a:rPr sz="1400"/>
              <a:t>- The figure also labels a bearish divergence into the top and a bearish confirmation on the fall: Part 1's names on a real chart. The two circles at 1 and 2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uses of the same low volume: in a range it times a breakout, in a trend it marks a turn.</a:t>
            </a:r>
          </a:p>
          <a:p>
            <a:r>
              <a:rPr sz="1400"/>
              <a:t>- The book gives a tendency and no rule for where the low volume level goes. Figure 6.9 draws it by eye,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shows the signal three times: an accumulation breakout up at 1, distribution breakouts down at 2 and 3. Each comes as volume touches the line.</a:t>
            </a:r>
          </a:p>
          <a:p>
            <a:r>
              <a:rPr sz="1400"/>
              <a:t>- Notice the breakout bars themselves carry more volume than the bars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heading is Volume-Weighted Average Price/Moving Average, and its figure says VWAP. It treats the two names as one line here.</a:t>
            </a:r>
          </a:p>
          <a:p>
            <a:r>
              <a:rPr sz="1400"/>
              <a:t>- How the average is weighted is Chapter 11. Today it is a line over price, and what matters is which side of it price is on.</a:t>
            </a:r>
          </a:p>
          <a:p>
            <a:r>
              <a:rPr sz="1400"/>
              <a:t>- Moving averages were met in Chapters 4 and 5 and are taught in Chapter 11.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dashed arrow from a circled volume peak up to a crossover. That is the book's point about timing.</a:t>
            </a:r>
          </a:p>
          <a:p>
            <a:r>
              <a:rPr sz="1400"/>
              <a:t>- Name the mismatch and move on: the caption says VWMA and daily, the figure says VWAP and 10 minutes.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both sentences from the book. One says above the line is bullish; the next says above the line is overvalued, where institutions sell.</a:t>
            </a:r>
          </a:p>
          <a:p>
            <a:r>
              <a:rPr sz="1400"/>
              <a:t>- Do not invent a reconciliation. If a student asks, the answer is that the book gives both and the course teaches both.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climaxes are a recall: Chapter 4 told who buys and sells in them. What is new is the volume, and the two low volume names.</a:t>
            </a:r>
          </a:p>
          <a:p>
            <a:r>
              <a:rPr sz="1400"/>
              <a:t>- The low volume top and bottom get their own slide after the climax figures, in the book's order.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spikes under the ellipse: each is a selling climax, and each reaches the upper line.</a:t>
            </a:r>
          </a:p>
          <a:p>
            <a:r>
              <a:rPr sz="1400"/>
              <a:t>- Upper for the big turns, lower for the corrections. Where to draw them is the slide after next.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last figure: tops this time. Follow each arrow from BLOW-OFF to its spike and up to its top.</a:t>
            </a:r>
          </a:p>
          <a:p>
            <a:r>
              <a:rPr sz="1400"/>
              <a:t>- The second blow-off is on a much smaller spike than the first in absolute terms. Compare it with the volume around it, not with the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By eye is the book's method: there is no formula for the line. The 2-sigma level is a second, computed line, and Part 3 builds one.</a:t>
            </a:r>
          </a:p>
          <a:p>
            <a:r>
              <a:rPr sz="1400"/>
              <a:t>- Find the support break at the far right: price falls through a significant level on extreme volume.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numbers are the big turns and the letters the small ones. Ask the room which line they would draw to trade only the big ones.</a:t>
            </a:r>
          </a:p>
          <a:p>
            <a:r>
              <a:rPr sz="1400"/>
              <a:t>- Both lines were placed by eye, the way the book says to.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evidence agree at 1 and 2: volume overextended, and volatility spiking. The lower, wavy stretch is what the book calls noise.</a:t>
            </a:r>
          </a:p>
          <a:p>
            <a:r>
              <a:rPr sz="1400"/>
              <a:t>- Do not teach the bandwidth. Say it is a measure of volatility the book uses here and explains elsewhere.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low volume reversals of the part's start, now named by where they turn: at a top or at a bottom.</a:t>
            </a:r>
          </a:p>
          <a:p>
            <a:r>
              <a:rPr sz="1400"/>
              <a:t>- The threshold is again drawn by eye, and the circles are where volume tests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volume bars are identical. Only what price did next tells you which one it was.</a:t>
            </a:r>
          </a:p>
          <a:p>
            <a:r>
              <a:rPr sz="1400"/>
              <a:t>- That is the book's reason for not calling volume overbought or oversold in advance.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circled spike in 2013 on the daily and weekly panels. Then find where monthly and above peak: 2011.</a:t>
            </a:r>
          </a:p>
          <a:p>
            <a:r>
              <a:rPr sz="1400"/>
              <a:t>- One day's spike dominates a daily panel. Added into a month or a year, it is outweighed by the busy months around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Nothing changes between the two panels but the length of the bar: the same shares, added up by day or by month.</a:t>
            </a:r>
          </a:p>
          <a:p>
            <a:r>
              <a:rPr sz="1400"/>
              <a:t>- So the daily chart reacts to one day; the monthly chart shows the broad shape of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question on the figure before answering it. Then the reason: a barrier that held against the biggest effort is one traders believe in.</a:t>
            </a:r>
          </a:p>
          <a:p>
            <a:r>
              <a:rPr sz="1400"/>
              <a:t>- Barrier is Chapter 5's word, from barrier proximity: a support below price or a resistance above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last slide's two cases. Increasing, decreasing and flatlining are new.</a:t>
            </a:r>
          </a:p>
          <a:p>
            <a:r>
              <a:rPr sz="1400"/>
              <a:t>- Across means through the whole touch: before price reaches the barrier and after it leaves.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sentences on increasing and decreasing volume are hard going. Read each case on the chart: what volume does, then what price does next.</a:t>
            </a:r>
          </a:p>
          <a:p>
            <a:r>
              <a:rPr sz="1400"/>
              <a:t>- Decreasing volume across the barrier is the one to watch: the book says it tends to see a retest, and in more extreme circumstances price may return to penetrate it.</a:t>
            </a:r>
          </a:p>
          <a:p>
            <a:r>
              <a:rPr sz="1400"/>
              <a:t>- Flatlining tells nothing. The book's words: not enough information about the potential future action of price.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review question 5, the modes of volume filtering. Four ways, and the book explains two of them in this passage.</a:t>
            </a:r>
          </a:p>
          <a:p>
            <a:r>
              <a:rPr sz="1400"/>
              <a:t>- Prior volume peaks were Part 2's overextended levels, drawn at earlier spikes. Volume cycles get their own slides in Part 5.</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moving average is met again: Chapters 4 and 5 used them, Chapter 11 teaches them. Here it is an average of volume, not of price.</a:t>
            </a:r>
          </a:p>
          <a:p>
            <a:r>
              <a:rPr sz="1400"/>
              <a:t>- The book says a spike above the line is significant and gives no measure of how far above. On its own Figure 6.20 the arrows mark only the tallest spikes,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Lookback is the number of bars averaged. A longer one smooths more.</a:t>
            </a:r>
          </a:p>
          <a:p>
            <a:r>
              <a:rPr sz="1400"/>
              <a:t>- Follow two or three of the dotted arrows from a spike to a turn in price.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through the book's two rules of thumb, not a new reading of a chart. Figure 6.20 was the last slide's.</a:t>
            </a:r>
          </a:p>
          <a:p>
            <a:r>
              <a:rPr sz="1400"/>
              <a:t>- Walk the backtest sentence slowly: try N = 10, 20 and 50 on last year's chart, and see which flagged the real turns.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Sigma is the Greek letter for a standard deviation: how far values typically spread from their average.</a:t>
            </a:r>
          </a:p>
          <a:p>
            <a:r>
              <a:rPr sz="1400"/>
              <a:t>- Bollinger Bands were named in Chapter 1, in the mean reverting approach, and are not explained there either. All this filter needs is the upper line.</a:t>
            </a:r>
          </a:p>
          <a:p>
            <a:r>
              <a:rPr sz="1400"/>
              <a:t>- Three sigma is stricter than two: fewer bars cross 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the two gaps the review found: the divisor and the window. Both are read straight from the code that drew the chart.</a:t>
            </a:r>
          </a:p>
          <a:p>
            <a:r>
              <a:rPr sz="1400"/>
              <a:t>- The jump explanation matches the chart's own footnote, here given as the reason instead of just the fact.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Figure 6.20, the same market. The threshold here is higher, so only the largest surges cross it.</a:t>
            </a:r>
          </a:p>
          <a:p>
            <a:r>
              <a:rPr sz="1400"/>
              <a:t>- An overlay is a line drawn on top of the bars, which is why the band beats a separate oscillator here.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Trendlines and channels were Chapter 5, and so were inflection points. This adds one rule for which points to use: only the heavily traded ones.</a:t>
            </a:r>
          </a:p>
          <a:p>
            <a:r>
              <a:rPr sz="1400"/>
              <a:t>- The grey turns are real peaks and troughs too. They are skipped because too little traded at them.</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arrows from the circle on the volume panel up to points 1 to 3. Those are the only points used.</a:t>
            </a:r>
          </a:p>
          <a:p>
            <a:r>
              <a:rPr sz="1400"/>
              <a:t>- Tick volume counts trades, not shares; Part 4 defines it. The book uses it here because its broker gives tick volume for this market.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parallels: every line is drawn from a numbered point that sits over a volume peak.</a:t>
            </a:r>
          </a:p>
          <a:p>
            <a:r>
              <a:rPr sz="1400"/>
              <a:t>- The book admits the line through X was found looking back. It still calls the channel valid.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Relative is volume against its own past: higher or lower than before. Absolute is the raw number of shares.</a:t>
            </a:r>
          </a:p>
          <a:p>
            <a:r>
              <a:rPr sz="1400"/>
              <a:t>- This is review question 7, which is more useful. The book's answer: relative, for reading trends; absolute has the uses on the slide after next.</a:t>
            </a:r>
          </a:p>
          <a:p>
            <a:r>
              <a:rPr sz="1400"/>
              <a:t>- The chart is the warning in the gold line: no change in volume, and the trend goes on anyway.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listed loss aversion among behavioral biases in one line. This is the first slide that says what it is.</a:t>
            </a:r>
          </a:p>
          <a:p>
            <a:r>
              <a:rPr sz="1400"/>
              <a:t>- Unrealized means not yet sold: the loss is on paper. The book says many investors treat a paper loss as no loss, and so they hold.</a:t>
            </a:r>
          </a:p>
          <a:p>
            <a:r>
              <a:rPr sz="1400"/>
              <a:t>- Why it is in a chapter on volume: holding is not trading, so a bear market trades less.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a variety of reasons, a few being these three. They are its list, not a complete one.</a:t>
            </a:r>
          </a:p>
          <a:p>
            <a:r>
              <a:rPr sz="1400"/>
              <a:t>- House money is the book's phrase for profit already made, spent again.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turnover out loud: 5 million of 2,000 million is a quarter of one percent; 1 million of 40 million is two and a half percent.</a:t>
            </a:r>
          </a:p>
          <a:p>
            <a:r>
              <a:rPr sz="1400"/>
              <a:t>- Liquidity is the book's word for how easily a market can be traded. It is not defined in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sentences and no figure, so this slide has no picture.</a:t>
            </a:r>
          </a:p>
          <a:p>
            <a:r>
              <a:rPr sz="1400"/>
              <a:t>- The gold line is our reading of why it matters: the chapter's two principles read volume as interest in the move.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listed open interest as transaction data and Chapter 4 used it in a consolidation. This is the first slide that defines it.</a:t>
            </a:r>
          </a:p>
          <a:p>
            <a:r>
              <a:rPr sz="1400"/>
              <a:t>- Each contract is one long and one short, so a contract is open until both sides are out. Stocks do not have it: unlike stocks, all futures and options eventually expire.</a:t>
            </a:r>
          </a:p>
          <a:p>
            <a:r>
              <a:rPr sz="1400"/>
              <a:t>- Walk the four days. The only change that moves the count is both sides arriving together, or both leaving together.</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rule as Part 1's bullish and bearish volume, with open interest moving alongside volume.</a:t>
            </a:r>
          </a:p>
          <a:p>
            <a:r>
              <a:rPr sz="1400"/>
              <a:t>- The book's reason for the last case: fewer long positions being liquidated and short positions being initiated. Participants are less interested in seeing the market decline further.</a:t>
            </a:r>
          </a:p>
          <a:p>
            <a:r>
              <a:rPr sz="1400"/>
              <a:t>- This is review question 6, the relationship between volume, open interest and price.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four actions are the four cases of the last slide, turned into what to do.</a:t>
            </a:r>
          </a:p>
          <a:p>
            <a:r>
              <a:rPr sz="1400"/>
              <a:t>- On the figure, volume and open interest disagree at the top: volume peaks at the highest price, open interest does not. The book reads the open interest: longs leaving.</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 said rising open interest in a consolidation makes the breakout more rapid. This is the same idea at a reversal.</a:t>
            </a:r>
          </a:p>
          <a:p>
            <a:r>
              <a:rPr sz="1400"/>
              <a:t>- May be, says the book: a tendency, not a rule.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1: volume counts what was traded, tick volume counts how many trades. One trade may be 1 contract or 1,000.</a:t>
            </a:r>
          </a:p>
          <a:p>
            <a:r>
              <a:rPr sz="1400"/>
              <a:t>- OTC is over the counter, the book's phrase for the foreign exchange market. The book does not say more about it.</a:t>
            </a:r>
          </a:p>
          <a:p>
            <a:r>
              <a:rPr sz="1400"/>
              <a:t>- The proxy is for comparing relative levels, the book's words, as far as overbought and oversold go. Absolute levels are not comparable.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Advances and declines were listed in Chapter 3 as breadth data and never defined. The plain row reads them as the number of stocks rising and falling; that reading is ours.</a:t>
            </a:r>
          </a:p>
          <a:p>
            <a:r>
              <a:rPr sz="1400"/>
              <a:t>- Up volume and down volume: the volume in the rising stocks and in the falling ones, again our reading of the names.</a:t>
            </a:r>
          </a:p>
          <a:p>
            <a:r>
              <a:rPr sz="1400"/>
              <a:t>- Work the arithmetic slowly. The TRIN is a ratio of two ratios.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two rules as written and point at the box on the figure. Then name both gaps: what the tick is, and which way a high TRIN counts.</a:t>
            </a:r>
          </a:p>
          <a:p>
            <a:r>
              <a:rPr sz="1400"/>
              <a:t>- Do not settle the gap. The book's text says a TRIN near 3.0 is overbought, and bullish; its figure calls its bullish TRIN reading oversold. Both are bullish; the word differs.</a:t>
            </a:r>
          </a:p>
          <a:p>
            <a:r>
              <a:rPr sz="1400"/>
              <a:t>- Overbought and oversold are used and not defined, as in Part 2.</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rising TRIN is bearish, by the last slide's short-term rule. Point at the boxed stretch.</a:t>
            </a:r>
          </a:p>
          <a:p>
            <a:r>
              <a:rPr sz="1400"/>
              <a:t>- The book's caption calls this a daily chart too; it is intraday, as the times show.</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trades, added up two ways: by when they happened, and by the price they happened at.</a:t>
            </a:r>
          </a:p>
          <a:p>
            <a:r>
              <a:rPr sz="1400"/>
              <a:t>- Each sideways bar on the chart is the total of every day's volume while price sat in that band.</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longest sideways bars, near $17, and then find price returning to that level.</a:t>
            </a:r>
          </a:p>
          <a:p>
            <a:r>
              <a:rPr sz="1400"/>
              <a:t>- Clear up the word: Chapter 4's price-based volume is this, volume by price. Part 1's price-based oscillators are a different thing.</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 on the figure is the $77 to $86 range. Price later falls through it and returns.</a:t>
            </a:r>
          </a:p>
          <a:p>
            <a:r>
              <a:rPr sz="1400"/>
              <a:t>- The figure's own labels also mark bearish confirmation and bearish divergence on the volume panel: Part 1's names again.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numbers on the chart in order. The band is step 1, the shaded columns step 2, the boxes step 3, the two lines step 4.</a:t>
            </a:r>
          </a:p>
          <a:p>
            <a:r>
              <a:rPr sz="1400"/>
              <a:t>- The intersection is where most shares traded at one price and in one stretch of time. The book takes the nearest turn either side of it.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 with the last slide's numbers. The two white boxes are step 3.</a:t>
            </a:r>
          </a:p>
          <a:p>
            <a:r>
              <a:rPr sz="1400"/>
              <a:t>- The dashed arrows mark the two levels of step 4: resistance just above $80, support just below $74.</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5 drew these four as Chart R and called the second one the squat bar.</a:t>
            </a:r>
          </a:p>
          <a:p>
            <a:r>
              <a:rPr sz="1400"/>
              <a:t>- The figure is the book's whole picture of them: a box for the range, a box for the volume. The next slides put each in a trend.</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is the second of the four, the high volume reversal bar: Chapter 5's squat bar, now with a name.</a:t>
            </a:r>
          </a:p>
          <a:p>
            <a:r>
              <a:rPr sz="1400"/>
              <a:t>- Narrow and wide are against the trend's usual bars, as low and high are against its usual volume. The book gives no number for either.</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reasoning for the first: in an uptrend, heavy buying would push the range wide. A narrow range on heavy volume means someone was selling into it.</a:t>
            </a:r>
          </a:p>
          <a:p>
            <a:r>
              <a:rPr sz="1400"/>
              <a:t>- The gold line is our one-line summary of the two, not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cells are the same bar in two trends. The book's point is that the trend decides what it means.</a:t>
            </a:r>
          </a:p>
          <a:p>
            <a:r>
              <a:rPr sz="1400"/>
              <a:t>- The continuation bar is Chapter 5's trend promoting case, named.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1 is a reversal bar at a bottom, so the converse applies: bullish. Point 2 is at a top.</a:t>
            </a:r>
          </a:p>
          <a:p>
            <a:r>
              <a:rPr sz="1400"/>
              <a:t>- The triangle on the left is Part 2's low volume breakout signal again: volume falling into the apex, then surging.</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 at the low. The volume bar under it is one of the tallest on the chart.</a:t>
            </a:r>
          </a:p>
          <a:p>
            <a:r>
              <a:rPr sz="1400"/>
              <a:t>- Converse is the book's word: in a downtrend the same bar means buyers taking control.</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Bearish divergence in volume is Part 1's: price rising into the bar while volume falls.</a:t>
            </a:r>
          </a:p>
          <a:p>
            <a:r>
              <a:rPr sz="1400"/>
              <a:t>- The MACD is an oscillator the book has not taught. Point at its falling line and leave it there.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overextended level is Part 2's upper overextended volume level, drawn by eye.</a:t>
            </a:r>
          </a:p>
          <a:p>
            <a:r>
              <a:rPr sz="1400"/>
              <a:t>- Two independent pieces of evidence at one bar is what the book keeps pointing to.</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Every bar holds the same volume, so a narrow bar is a lot of volume for the price moved, and a tall bar is little volume for it.</a:t>
            </a:r>
          </a:p>
          <a:p>
            <a:r>
              <a:rPr sz="1400"/>
              <a:t>- That is the last part's two reversal bars, read off a chart where volume never changes.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asks the question, does volume lead price, and answers both ways.</a:t>
            </a:r>
          </a:p>
          <a:p>
            <a:r>
              <a:rPr sz="1400"/>
              <a:t>- On the chart, the breakout at 1 comes first and the volume at 2 after it. That order is what price leading volume means.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volume cycles, and where you find them. The book's answer is intraday, with the peak at that hour.</a:t>
            </a:r>
          </a:p>
          <a:p>
            <a:r>
              <a:rPr sz="1400"/>
              <a:t>- The book does not say the hour holds for every market; its examples are the euro against the dollar.</a:t>
            </a:r>
          </a:p>
          <a:p>
            <a:r>
              <a:rPr sz="1400"/>
              <a:t>- Reverse or continue: the peak does not say which. It says something is about to happen.</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Straddle is the book's second name for the bidirectional entry: orders above and below, so either move is caught.</a:t>
            </a:r>
          </a:p>
          <a:p>
            <a:r>
              <a:rPr sz="1400"/>
              <a:t>- The daily spikes in the volume panel are the cycle. Line a few of them up with turns in price.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number to the shaded marks in the bottom panel. The successful retests had the oscillator oversold; the failures did not.</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built these charts. The point here is only what a non-linear time axis does to a line drawn across it.</a:t>
            </a:r>
          </a:p>
          <a:p>
            <a:r>
              <a:rPr sz="1400"/>
              <a:t>- Wide bars on heavy days stretch the axis, so the line's angle changes and so does where price crosses it.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lists the book gives without a figure, so this slide has no picture. Say the names, and that Chapter 8 teaches the methods.</a:t>
            </a:r>
          </a:p>
          <a:p>
            <a:r>
              <a:rPr sz="1400"/>
              <a:t>- Divergence on a volume oscillator was Part 1: price-based ones read like standard divergence.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it with the room: day 2 closes up, add 2.0; day 3 down, take away 1.5; day 4 unchanged, nothing; day 5 up, add 3.0; day 6 down, take away 1.0.</a:t>
            </a:r>
          </a:p>
          <a:p>
            <a:r>
              <a:rPr sz="1400"/>
              <a:t>- Only the direction of the close matters, not how far it moved. That is the weakness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shift the start and the whole line moves up or down, but every rise and fall stays the same. Divergence reads the rises and falls.</a:t>
            </a:r>
          </a:p>
          <a:p>
            <a:r>
              <a:rPr sz="1400"/>
              <a:t>- Right cell: the second bar went far higher and still counts as a down day, because it closed a little lower.</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Part 1's rule for a price-based oscillator: bullish divergence is price falling while the oscillator rises. Point at the two lines.</a:t>
            </a:r>
          </a:p>
          <a:p>
            <a:r>
              <a:rPr sz="1400"/>
              <a:t>- Compare with plain volume, where bullish divergence is volume falling with price.</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divergences, each an arrow up on price and an arrow down on the OBV.</a:t>
            </a:r>
          </a:p>
          <a:p>
            <a:r>
              <a:rPr sz="1400"/>
              <a:t>- After the second one, copper fell from about 4.5 to about 3.0.</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 H and L are the close, high and low: the OHLC of Chapter 1. Work the 49 close: (49 - 48) - (52 - 49) is 1 - 3, minus 2; over the range of 4, minus one half.</a:t>
            </a:r>
          </a:p>
          <a:p>
            <a:r>
              <a:rPr sz="1400"/>
              <a:t>- The name echoes the accumulation and distribution phases of Chapters 2 and 4. The book does not connect the two.</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line is the whole idea: the factor slides from minus one to plus one as the close moves from the low to the high.</a:t>
            </a:r>
          </a:p>
          <a:p>
            <a:r>
              <a:rPr sz="1400"/>
              <a:t>- No matter how wide the range, the maximum is the day's volume, not some multiple of it: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kinds again, disagreeing: the price-based ADL rises with price, plain volume falls.</a:t>
            </a:r>
          </a:p>
          <a:p>
            <a:r>
              <a:rPr sz="1400"/>
              <a:t>- The book does not pick one. It says wait for price to confirm before acting.</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ellipse: the OBV falls while the ADL rises, and price goes nowhere. Right ellipse: both rise, and price trends.</a:t>
            </a:r>
          </a:p>
          <a:p>
            <a:r>
              <a:rPr sz="1400"/>
              <a:t>- Regime is the book's word for the market's mode: trending or ranging, as in Chapter 4's phases.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 is the same signed volume as the ADL's. The CMF divides its total over N bars by the volume of those bars, so it stays between minus one and one.</a:t>
            </a:r>
          </a:p>
          <a:p>
            <a:r>
              <a:rPr sz="1400"/>
              <a:t>- The book says to make a running total of the CMF, as for the ADL, and take the oscillator from that. It gives no lengths for the two EMAs; its figure prints 3 and 10.</a:t>
            </a:r>
          </a:p>
          <a:p>
            <a:r>
              <a:rPr sz="1400"/>
              <a:t>- EMA is an exponential moving average: named here, taught in Chapter 11. N is the number of periods, as in Chapter 5.</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dashed arrows from each panel up to the top: the oscillator's arrow comes first.</a:t>
            </a:r>
          </a:p>
          <a:p>
            <a:r>
              <a:rPr sz="1400"/>
              <a:t>- Oversold again: used, not defined, as in Part 2.</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it as the book does: the volume indicator breaks first, price confirms later.</a:t>
            </a:r>
          </a:p>
          <a:p>
            <a:r>
              <a:rPr sz="1400"/>
              <a:t>- Say the gap plainly: the text says ratio; the figure's line is cumulative and goes negative. The book does not reconcile them.</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Open interest was Part 4: only futures and options have it, which is why this index is limited to them.</a:t>
            </a:r>
          </a:p>
          <a:p>
            <a:r>
              <a:rPr sz="1400"/>
              <a:t>- It may be read with any or all of the eight methods of the part's first slide.</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Traders use it to find potential tops and bottoms. The book says net position and does not define net; do not supply a formula.</a:t>
            </a:r>
          </a:p>
          <a:p>
            <a:r>
              <a:rPr sz="1400"/>
              <a:t>- Hedgers were named in Chapter 1 among the participants. Commercial and non-commercial are the report's own groups.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adds that volume divergence and filtering are used throughout the rest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where each answer sits, line by line: Parts 4 and 1, Part 1, Part 2, Part 3, Part 4, then Parts 4 and 5.</a:t>
            </a:r>
          </a:p>
          <a:p>
            <a:r>
              <a:rPr sz="1400"/>
              <a:t>- Question 3 is the one most likely to be answered wrongly: volume divergence ignores price's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the book teaches in Chapter 8.</a:t>
            </a:r>
          </a:p>
          <a:p>
            <a:r>
              <a:rPr sz="1400"/>
              <a:t>- Next is Chapter 7, Bar Chart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is regarded as the best indicator of potential future price behavior.</a:t>
            </a:r>
          </a:p>
          <a:p>
            <a:pPr algn="l">
              <a:lnSpc>
                <a:spcPct val="105000"/>
              </a:lnSpc>
              <a:spcBef>
                <a:spcPts val="0"/>
              </a:spcBef>
              <a:spcAft>
                <a:spcPts val="1100"/>
              </a:spcAft>
            </a:pPr>
            <a:r>
              <a:rPr sz="1700" b="0" i="0">
                <a:solidFill>
                  <a:srgbClr val="1A1A1A"/>
                </a:solidFill>
                <a:latin typeface="Arial"/>
              </a:rPr>
              <a:t>Volume and open interest offer additional evidence to corroborate bullish or bearish setups.</a:t>
            </a:r>
          </a:p>
          <a:p>
            <a:pPr algn="l">
              <a:lnSpc>
                <a:spcPct val="105000"/>
              </a:lnSpc>
              <a:spcBef>
                <a:spcPts val="0"/>
              </a:spcBef>
              <a:spcAft>
                <a:spcPts val="1100"/>
              </a:spcAft>
            </a:pPr>
            <a:r>
              <a:rPr sz="1700" b="0" i="0">
                <a:solidFill>
                  <a:srgbClr val="1A1A1A"/>
                </a:solidFill>
                <a:latin typeface="Arial"/>
              </a:rPr>
              <a:t>They can show underlying weakness, and work as timing indicators for potential breakouts.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novices misread declining volume as a weakness in a consolidation.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that is a misreading: Part 2. Volume is defined two slides on, open interest in Part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18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under Dow Theory, volume should expand in the direction of the trend.</a:t>
            </a:r>
          </a:p>
          <a:p>
            <a:pPr algn="l">
              <a:lnSpc>
                <a:spcPct val="105000"/>
              </a:lnSpc>
              <a:spcBef>
                <a:spcPts val="0"/>
              </a:spcBef>
              <a:spcAft>
                <a:spcPts val="1100"/>
              </a:spcAft>
            </a:pPr>
            <a:r>
              <a:rPr sz="1700" b="0" i="0">
                <a:solidFill>
                  <a:srgbClr val="1A1A1A"/>
                </a:solidFill>
                <a:latin typeface="Arial"/>
              </a:rPr>
              <a:t>Uptrend: volume rises as price rises and falls in downside retracements: bullish volume action.</a:t>
            </a:r>
          </a:p>
          <a:p>
            <a:pPr algn="l">
              <a:lnSpc>
                <a:spcPct val="105000"/>
              </a:lnSpc>
              <a:spcBef>
                <a:spcPts val="0"/>
              </a:spcBef>
              <a:spcAft>
                <a:spcPts val="1100"/>
              </a:spcAft>
            </a:pPr>
            <a:r>
              <a:rPr sz="1700" b="0" i="0">
                <a:solidFill>
                  <a:srgbClr val="1A1A1A"/>
                </a:solidFill>
                <a:latin typeface="Arial"/>
              </a:rPr>
              <a:t>Downtrend: volume rises as price declines and falls in upside retracements: bearish volume action.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is a supporting, or secondary, indicator.</a:t>
            </a:r>
          </a:p>
        </p:txBody>
      </p:sp>
      <p:sp>
        <p:nvSpPr>
          <p:cNvPr id="10" name="TextBox 9"/>
          <p:cNvSpPr txBox="1"/>
          <p:nvPr/>
        </p:nvSpPr>
        <p:spPr>
          <a:xfrm>
            <a:off x="777240" y="518922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action contrary to this: an uptrend may potentially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Rising volume: participants want to see price go higher in an uptrend, lower in a downtrend, and will buy higher or sell lower to take part.</a:t>
            </a:r>
          </a:p>
          <a:p>
            <a:pPr algn="l">
              <a:lnSpc>
                <a:spcPct val="105000"/>
              </a:lnSpc>
              <a:spcBef>
                <a:spcPts val="0"/>
              </a:spcBef>
              <a:spcAft>
                <a:spcPts val="1100"/>
              </a:spcAft>
            </a:pPr>
            <a:r>
              <a:rPr sz="1900" b="0" i="0">
                <a:solidFill>
                  <a:srgbClr val="1A1A1A"/>
                </a:solidFill>
                <a:latin typeface="Arial"/>
              </a:rPr>
              <a:t>2  Declining volume: they are losing interest, would rather buy lower in an uptrend or sell higher in a downtrend, if not exiting.</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Volume measures participation: how many want to take part in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nearly word for word. The chart is ours, on invented prices.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Bullish volume moves with price. Bearish volume moves against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rallies on rising volume and dips on falling volume: bullish both times. Falling on rising volume, bouncing on falling volume: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Declining volume does not necessarily imply bearishness. Rising volume does not imply bullishness.</a:t>
            </a:r>
          </a:p>
          <a:p>
            <a:pPr algn="l">
              <a:lnSpc>
                <a:spcPct val="105000"/>
              </a:lnSpc>
              <a:spcBef>
                <a:spcPts val="0"/>
              </a:spcBef>
              <a:spcAft>
                <a:spcPts val="1100"/>
              </a:spcAft>
            </a:pPr>
            <a:r>
              <a:rPr sz="1800" b="0" i="0">
                <a:solidFill>
                  <a:srgbClr val="1A1A1A"/>
                </a:solidFill>
                <a:latin typeface="Arial"/>
              </a:rPr>
              <a:t>The bullish or bearish sentiment of volume depends on the direction of the price.</a:t>
            </a:r>
          </a:p>
          <a:p>
            <a:pPr algn="l">
              <a:lnSpc>
                <a:spcPct val="105000"/>
              </a:lnSpc>
              <a:spcBef>
                <a:spcPts val="0"/>
              </a:spcBef>
              <a:spcAft>
                <a:spcPts val="1100"/>
              </a:spcAft>
            </a:pPr>
            <a:r>
              <a:rPr sz="1800" b="0" i="0">
                <a:solidFill>
                  <a:srgbClr val="1A1A1A"/>
                </a:solidFill>
                <a:latin typeface="Arial"/>
              </a:rPr>
              <a:t>Figure 6.2: volume expands with gold's primary bull trend and declines in the retracement. Bullish, both times.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calls the opposite reading a simple mistake many novices make.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Uptrend: volume decreases as price rises and increases in downside retracements. Bearish volume: a potentially weak or bearish uptrend.</a:t>
            </a:r>
          </a:p>
          <a:p>
            <a:pPr algn="l">
              <a:lnSpc>
                <a:spcPct val="105000"/>
              </a:lnSpc>
              <a:spcBef>
                <a:spcPts val="0"/>
              </a:spcBef>
              <a:spcAft>
                <a:spcPts val="1100"/>
              </a:spcAft>
            </a:pPr>
            <a:r>
              <a:rPr sz="1900" b="0" i="0">
                <a:solidFill>
                  <a:srgbClr val="1A1A1A"/>
                </a:solidFill>
                <a:latin typeface="Arial"/>
              </a:rPr>
              <a:t>Downtrend: volume decreases as price falls and increases in upside retracements. Bullish volume: a potentially bullish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trend goes one way and its volume says the other.</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and bearish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dips in a retracement and volume declines during the dip. That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volume, because volume is falling</a:t>
            </a:r>
          </a:p>
          <a:p>
            <a:pPr algn="l">
              <a:lnSpc>
                <a:spcPct val="112000"/>
              </a:lnSpc>
              <a:spcBef>
                <a:spcPts val="0"/>
              </a:spcBef>
              <a:spcAft>
                <a:spcPts val="900"/>
              </a:spcAft>
            </a:pPr>
            <a:r>
              <a:rPr sz="1500" b="0" i="0">
                <a:solidFill>
                  <a:srgbClr val="FFFFFF"/>
                </a:solidFill>
                <a:latin typeface="Arial"/>
              </a:rPr>
              <a:t>B.  Bullish volume, because price and volume fall together</a:t>
            </a:r>
          </a:p>
          <a:p>
            <a:pPr algn="l">
              <a:lnSpc>
                <a:spcPct val="112000"/>
              </a:lnSpc>
              <a:spcBef>
                <a:spcPts val="0"/>
              </a:spcBef>
              <a:spcAft>
                <a:spcPts val="900"/>
              </a:spcAft>
            </a:pPr>
            <a:r>
              <a:rPr sz="1500" b="0" i="0">
                <a:solidFill>
                  <a:srgbClr val="FFFFFF"/>
                </a:solidFill>
                <a:latin typeface="Arial"/>
              </a:rPr>
              <a:t>C.  Neither, because the trend is up</a:t>
            </a:r>
          </a:p>
          <a:p>
            <a:pPr algn="l">
              <a:lnSpc>
                <a:spcPct val="112000"/>
              </a:lnSpc>
              <a:spcBef>
                <a:spcPts val="0"/>
              </a:spcBef>
              <a:spcAft>
                <a:spcPts val="900"/>
              </a:spcAft>
            </a:pPr>
            <a:r>
              <a:rPr sz="1500" b="0" i="0">
                <a:solidFill>
                  <a:srgbClr val="FFFFFF"/>
                </a:solidFill>
                <a:latin typeface="Arial"/>
              </a:rPr>
              <a:t>D.  Volume not confirming the uptrend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rises while price declines in a preexisting downtrend.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 volume action</a:t>
            </a:r>
          </a:p>
          <a:p>
            <a:pPr algn="l">
              <a:lnSpc>
                <a:spcPct val="112000"/>
              </a:lnSpc>
              <a:spcBef>
                <a:spcPts val="0"/>
              </a:spcBef>
              <a:spcAft>
                <a:spcPts val="900"/>
              </a:spcAft>
            </a:pPr>
            <a:r>
              <a:rPr sz="1500" b="0" i="0">
                <a:solidFill>
                  <a:srgbClr val="FFFFFF"/>
                </a:solidFill>
                <a:latin typeface="Arial"/>
              </a:rPr>
              <a:t>B.  A potentially bullish downtrend</a:t>
            </a:r>
          </a:p>
          <a:p>
            <a:pPr algn="l">
              <a:lnSpc>
                <a:spcPct val="112000"/>
              </a:lnSpc>
              <a:spcBef>
                <a:spcPts val="0"/>
              </a:spcBef>
              <a:spcAft>
                <a:spcPts val="900"/>
              </a:spcAft>
            </a:pPr>
            <a:r>
              <a:rPr sz="1500" b="0" i="0">
                <a:solidFill>
                  <a:srgbClr val="FFFFFF"/>
                </a:solidFill>
                <a:latin typeface="Arial"/>
              </a:rPr>
              <a:t>C.  Volume that does not confirm the trend</a:t>
            </a:r>
          </a:p>
          <a:p>
            <a:pPr algn="l">
              <a:lnSpc>
                <a:spcPct val="112000"/>
              </a:lnSpc>
              <a:spcBef>
                <a:spcPts val="0"/>
              </a:spcBef>
              <a:spcAft>
                <a:spcPts val="900"/>
              </a:spcAft>
            </a:pPr>
            <a:r>
              <a:rPr sz="1500" b="0" i="0">
                <a:solidFill>
                  <a:srgbClr val="FFFFFF"/>
                </a:solidFill>
                <a:latin typeface="Arial"/>
              </a:rPr>
              <a:t>D.  Bearish volume action, confirming the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and bearish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price dips in a retracement and volume declines during the dip. That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volume, because price and volume fall together</a:t>
            </a:r>
          </a:p>
          <a:p>
            <a:pPr algn="l">
              <a:lnSpc>
                <a:spcPct val="115000"/>
              </a:lnSpc>
              <a:spcBef>
                <a:spcPts val="700"/>
              </a:spcBef>
              <a:spcAft>
                <a:spcPts val="0"/>
              </a:spcAft>
            </a:pPr>
            <a:r>
              <a:rPr sz="1600" b="0" i="0">
                <a:solidFill>
                  <a:srgbClr val="1A1A1A"/>
                </a:solidFill>
                <a:latin typeface="Arial"/>
              </a:rPr>
              <a:t>Volume and price declining together is bullish volume, whatever the volume does on its own.</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rises while price declines in a preexisting downtrend. The book calls this: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Bearish volume action, confirming the downtrend</a:t>
            </a:r>
          </a:p>
          <a:p>
            <a:pPr algn="l">
              <a:lnSpc>
                <a:spcPct val="115000"/>
              </a:lnSpc>
              <a:spcBef>
                <a:spcPts val="700"/>
              </a:spcBef>
              <a:spcAft>
                <a:spcPts val="0"/>
              </a:spcAft>
            </a:pPr>
            <a:r>
              <a:rPr sz="1600" b="0" i="0">
                <a:solidFill>
                  <a:srgbClr val="1A1A1A"/>
                </a:solidFill>
                <a:latin typeface="Arial"/>
              </a:rPr>
              <a:t>Volume expanding in the direction of a downtrend is bearish volume action: it confirms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falling is divergence. Volume rising is confirmation, also called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rises from PHP 40 to PHP 46 as volume shrinks from 3 to 1 million a day: divergence. Had it grown to 5 million: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chart is ours: sketches, not prices.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Divergence: participants are not interested in seeing price go further. Bearish for an uptrend, bullish for a downtrend.</a:t>
            </a:r>
          </a:p>
          <a:p>
            <a:pPr algn="l">
              <a:lnSpc>
                <a:spcPct val="105000"/>
              </a:lnSpc>
              <a:spcBef>
                <a:spcPts val="0"/>
              </a:spcBef>
              <a:spcAft>
                <a:spcPts val="1100"/>
              </a:spcAft>
            </a:pPr>
            <a:r>
              <a:rPr sz="1800" b="0" i="0">
                <a:solidFill>
                  <a:srgbClr val="1A1A1A"/>
                </a:solidFill>
                <a:latin typeface="Arial"/>
              </a:rPr>
              <a:t>Confirmation: they are interested in taking part in the move. Bullish for an uptrend, bearish for a downtrend.</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Confirmation is an early indication of a potential continuation; divergence, of a potential reversal.</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divergence always indicates potential weakness in an existing trend, confirmation always potential strength.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is volume falling or rising, and does it move with price or against it?</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Both falling: bullish divergence. Both rising: bullish confirmation. Volume down, price up: bearish divergence. Volume up, price down: bearish confirmation.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Bullish divergence can only occur in a downtrend, a potential upside reversal; bearish divergence only in an uptrend, a potential downside reversal.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four names are its p.178 summary. The ATR on the figure is in no sentence of the text.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Price makes a higher peak while an oscillator, the MACD or the bar stochastic, makes a lower one.</a:t>
            </a:r>
          </a:p>
          <a:p>
            <a:pPr algn="l">
              <a:lnSpc>
                <a:spcPct val="105000"/>
              </a:lnSpc>
              <a:spcBef>
                <a:spcPts val="0"/>
              </a:spcBef>
              <a:spcAft>
                <a:spcPts val="1100"/>
              </a:spcAft>
            </a:pPr>
            <a:r>
              <a:rPr sz="1700" b="0" i="0">
                <a:solidFill>
                  <a:srgbClr val="1A1A1A"/>
                </a:solidFill>
                <a:latin typeface="Arial"/>
              </a:rPr>
              <a:t>Volume divergence is volume declining, whatever price does.</a:t>
            </a:r>
          </a:p>
          <a:p>
            <a:pPr algn="l">
              <a:lnSpc>
                <a:spcPct val="105000"/>
              </a:lnSpc>
              <a:spcBef>
                <a:spcPts val="0"/>
              </a:spcBef>
              <a:spcAft>
                <a:spcPts val="1100"/>
              </a:spcAft>
            </a:pPr>
            <a:r>
              <a:rPr sz="1700" b="0" i="0">
                <a:solidFill>
                  <a:srgbClr val="1A1A1A"/>
                </a:solidFill>
                <a:latin typeface="Arial"/>
              </a:rPr>
              <a:t>Price's direction still decides bullish or bearish.</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classification.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gave the volume case: falling price on decreasing volume. Reverse divergence: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Isis Pharmaceuticals traces out a bullish rounding bottom.</a:t>
            </a:r>
          </a:p>
          <a:p>
            <a:pPr algn="l">
              <a:lnSpc>
                <a:spcPct val="105000"/>
              </a:lnSpc>
              <a:spcBef>
                <a:spcPts val="0"/>
              </a:spcBef>
              <a:spcAft>
                <a:spcPts val="1100"/>
              </a:spcAft>
            </a:pPr>
            <a:r>
              <a:rPr sz="2000" b="0" i="0">
                <a:solidFill>
                  <a:srgbClr val="1A1A1A"/>
                </a:solidFill>
                <a:latin typeface="Arial"/>
              </a:rPr>
              <a:t>As price falls, volume falls with it, twice: bullish volume divergence.</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Divergence provides additional evidence of a bullish chart formation.</a:t>
            </a:r>
          </a:p>
        </p:txBody>
      </p:sp>
      <p:sp>
        <p:nvSpPr>
          <p:cNvPr id="10" name="TextBox 9"/>
          <p:cNvSpPr txBox="1"/>
          <p:nvPr/>
        </p:nvSpPr>
        <p:spPr>
          <a:xfrm>
            <a:off x="777240" y="50840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own note: Isis penetrated the previous day's close though the Dow Jones Industrial Average fell 219 points.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Rounding bottom: named in Chapter 4. Chapter 4's Figure 4.18 was an intraday chart of this stock too.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Periods 1, 3, 7 and 9: bullish confirmation. 4 and 6: bullish divergence. 5: volume flat.</a:t>
            </a:r>
          </a:p>
          <a:p>
            <a:pPr algn="l">
              <a:lnSpc>
                <a:spcPct val="105000"/>
              </a:lnSpc>
              <a:spcBef>
                <a:spcPts val="0"/>
              </a:spcBef>
              <a:spcAft>
                <a:spcPts val="1100"/>
              </a:spcAft>
            </a:pPr>
            <a:r>
              <a:rPr sz="1700" b="0" i="0">
                <a:solidFill>
                  <a:srgbClr val="1A1A1A"/>
                </a:solidFill>
                <a:latin typeface="Arial"/>
              </a:rPr>
              <a:t>2, 8 and 10: volume declines in a consolidation, timing the breakout (why: Part 2).</a:t>
            </a:r>
          </a:p>
        </p:txBody>
      </p:sp>
      <p:sp>
        <p:nvSpPr>
          <p:cNvPr id="8" name="Rectangle 7"/>
          <p:cNvSpPr/>
          <p:nvPr/>
        </p:nvSpPr>
        <p:spPr>
          <a:xfrm>
            <a:off x="777240" y="385648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9305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the end of 2, 8 and 10, price breaks out as volume reaches its minimum.</a:t>
            </a:r>
          </a:p>
        </p:txBody>
      </p:sp>
      <p:sp>
        <p:nvSpPr>
          <p:cNvPr id="10" name="TextBox 9"/>
          <p:cNvSpPr txBox="1"/>
          <p:nvPr/>
        </p:nvSpPr>
        <p:spPr>
          <a:xfrm>
            <a:off x="777240" y="502691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bullish divergence occurs only in a downtrend; 4 and 6 are dips in this uptrend. Our reading, price falling for any stretch: no check rests on it.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rises, volume rises: bullish confirmation.</a:t>
            </a:r>
          </a:p>
          <a:p>
            <a:pPr algn="l">
              <a:lnSpc>
                <a:spcPct val="105000"/>
              </a:lnSpc>
              <a:spcBef>
                <a:spcPts val="0"/>
              </a:spcBef>
              <a:spcAft>
                <a:spcPts val="1100"/>
              </a:spcAft>
            </a:pPr>
            <a:r>
              <a:rPr sz="1700" b="0" i="0">
                <a:solidFill>
                  <a:srgbClr val="1A1A1A"/>
                </a:solidFill>
                <a:latin typeface="Arial"/>
              </a:rPr>
              <a:t>2  Price dips, volume falls: bullish divergence.</a:t>
            </a:r>
          </a:p>
          <a:p>
            <a:pPr algn="l">
              <a:lnSpc>
                <a:spcPct val="105000"/>
              </a:lnSpc>
              <a:spcBef>
                <a:spcPts val="0"/>
              </a:spcBef>
              <a:spcAft>
                <a:spcPts val="1100"/>
              </a:spcAft>
            </a:pPr>
            <a:r>
              <a:rPr sz="1700" b="0" i="0">
                <a:solidFill>
                  <a:srgbClr val="1A1A1A"/>
                </a:solidFill>
                <a:latin typeface="Arial"/>
              </a:rPr>
              <a:t>3  Price moves sideways, volume falls to its minimum: a consolidation.</a:t>
            </a:r>
          </a:p>
          <a:p>
            <a:pPr algn="l">
              <a:lnSpc>
                <a:spcPct val="105000"/>
              </a:lnSpc>
              <a:spcBef>
                <a:spcPts val="0"/>
              </a:spcBef>
              <a:spcAft>
                <a:spcPts val="1100"/>
              </a:spcAft>
            </a:pPr>
            <a:r>
              <a:rPr sz="1700" b="0" i="0">
                <a:solidFill>
                  <a:srgbClr val="1A1A1A"/>
                </a:solidFill>
                <a:latin typeface="Arial"/>
              </a:rPr>
              <a:t>4  Price breaks out and rises, volume rises: bullish confirmation.</a:t>
            </a:r>
          </a:p>
        </p:txBody>
      </p:sp>
      <p:sp>
        <p:nvSpPr>
          <p:cNvPr id="8" name="Rectangle 7"/>
          <p:cNvSpPr/>
          <p:nvPr/>
        </p:nvSpPr>
        <p:spPr>
          <a:xfrm>
            <a:off x="777240" y="472973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1, 2 and 4 are bullish volume. In 3 price moves sideways: no reading, Part 2.</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lengths and volumes are ours.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Divergence and confirmation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and volume are declining together. By the book's summary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Bearish divergence</a:t>
            </a:r>
          </a:p>
          <a:p>
            <a:pPr algn="l">
              <a:lnSpc>
                <a:spcPct val="112000"/>
              </a:lnSpc>
              <a:spcBef>
                <a:spcPts val="0"/>
              </a:spcBef>
              <a:spcAft>
                <a:spcPts val="900"/>
              </a:spcAft>
            </a:pPr>
            <a:r>
              <a:rPr sz="1500" b="0" i="0">
                <a:solidFill>
                  <a:srgbClr val="FFFFFF"/>
                </a:solidFill>
                <a:latin typeface="Arial"/>
              </a:rPr>
              <a:t>C.  Bullish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statement about volume divergence is the book's?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occurs whenever volume declines, irrespective of the direction of price</a:t>
            </a:r>
          </a:p>
          <a:p>
            <a:pPr algn="l">
              <a:lnSpc>
                <a:spcPct val="112000"/>
              </a:lnSpc>
              <a:spcBef>
                <a:spcPts val="0"/>
              </a:spcBef>
              <a:spcAft>
                <a:spcPts val="900"/>
              </a:spcAft>
            </a:pPr>
            <a:r>
              <a:rPr sz="1500" b="0" i="0">
                <a:solidFill>
                  <a:srgbClr val="FFFFFF"/>
                </a:solidFill>
                <a:latin typeface="Arial"/>
              </a:rPr>
              <a:t>B.  It needs price to make a higher peak while volume makes a lower one</a:t>
            </a:r>
          </a:p>
          <a:p>
            <a:pPr algn="l">
              <a:lnSpc>
                <a:spcPct val="112000"/>
              </a:lnSpc>
              <a:spcBef>
                <a:spcPts val="0"/>
              </a:spcBef>
              <a:spcAft>
                <a:spcPts val="900"/>
              </a:spcAft>
            </a:pPr>
            <a:r>
              <a:rPr sz="1500" b="0" i="0">
                <a:solidFill>
                  <a:srgbClr val="FFFFFF"/>
                </a:solidFill>
                <a:latin typeface="Arial"/>
              </a:rPr>
              <a:t>C.  It has a reverse divergence classification</a:t>
            </a:r>
          </a:p>
          <a:p>
            <a:pPr algn="l">
              <a:lnSpc>
                <a:spcPct val="112000"/>
              </a:lnSpc>
              <a:spcBef>
                <a:spcPts val="0"/>
              </a:spcBef>
              <a:spcAft>
                <a:spcPts val="900"/>
              </a:spcAft>
            </a:pPr>
            <a:r>
              <a:rPr sz="1500" b="0" i="0">
                <a:solidFill>
                  <a:srgbClr val="FFFFFF"/>
                </a:solidFill>
                <a:latin typeface="Arial"/>
              </a:rPr>
              <a:t>D.  It always indicates potential strength in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Divergence and confirmation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Price and volume are declining together. By the book's summary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Bullish divergence</a:t>
            </a:r>
          </a:p>
          <a:p>
            <a:pPr algn="l">
              <a:lnSpc>
                <a:spcPct val="115000"/>
              </a:lnSpc>
              <a:spcBef>
                <a:spcPts val="700"/>
              </a:spcBef>
              <a:spcAft>
                <a:spcPts val="0"/>
              </a:spcAft>
            </a:pPr>
            <a:r>
              <a:rPr sz="1600" b="0" i="0">
                <a:solidFill>
                  <a:srgbClr val="1A1A1A"/>
                </a:solidFill>
                <a:latin typeface="Arial"/>
              </a:rPr>
              <a:t>Volume declining is divergence, and volume moving with price is bullish: bullish divergence.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statement about volume divergence is the book's?</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occurs whenever volume declines, irrespective of the direction of price</a:t>
            </a:r>
          </a:p>
          <a:p>
            <a:pPr algn="l">
              <a:lnSpc>
                <a:spcPct val="115000"/>
              </a:lnSpc>
              <a:spcBef>
                <a:spcPts val="700"/>
              </a:spcBef>
              <a:spcAft>
                <a:spcPts val="0"/>
              </a:spcAft>
            </a:pPr>
            <a:r>
              <a:rPr sz="1600" b="0" i="0">
                <a:solidFill>
                  <a:srgbClr val="1A1A1A"/>
                </a:solidFill>
                <a:latin typeface="Arial"/>
              </a:rPr>
              <a:t>Volume divergence is volume declining, whatever price does. No reverse classification, and it indicates weakness.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in a panel under price. Non-price-based: volume only. Price-based: price built in.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Volume bars count shares. A line adding volume on up closes, subtracting on down closes, uses price.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The chart is ours, on invented prices; its OBV line is computed by the rule taught in Part 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46067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Bearish divergence and bullish confirmation are read the same way on both kinds.</a:t>
            </a:r>
          </a:p>
          <a:p>
            <a:pPr algn="l">
              <a:lnSpc>
                <a:spcPct val="105000"/>
              </a:lnSpc>
              <a:spcBef>
                <a:spcPts val="0"/>
              </a:spcBef>
              <a:spcAft>
                <a:spcPts val="1100"/>
              </a:spcAft>
            </a:pPr>
            <a:r>
              <a:rPr sz="1700" b="0" i="0">
                <a:solidFill>
                  <a:srgbClr val="1A1A1A"/>
                </a:solidFill>
                <a:latin typeface="Arial"/>
              </a:rPr>
              <a:t>Bullish divergence: price falls. Volume falls on a non-price-based one; a price-based one rises.</a:t>
            </a:r>
          </a:p>
          <a:p>
            <a:pPr algn="l">
              <a:lnSpc>
                <a:spcPct val="105000"/>
              </a:lnSpc>
              <a:spcBef>
                <a:spcPts val="0"/>
              </a:spcBef>
              <a:spcAft>
                <a:spcPts val="1100"/>
              </a:spcAft>
            </a:pPr>
            <a:r>
              <a:rPr sz="1700" b="0" i="0">
                <a:solidFill>
                  <a:srgbClr val="1A1A1A"/>
                </a:solidFill>
                <a:latin typeface="Arial"/>
              </a:rPr>
              <a:t>Bearish confirmation: price falls. Volume rises on a non-price-based one; a price-based one falls.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price-based oscillator diverges by moving against price; plain volume, by falling.</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last line is our summary of the figure's eight arrows.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18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Volume and smoothed volume, non-price-based: bearish divergence as the euro trust rises.</a:t>
            </a:r>
          </a:p>
          <a:p>
            <a:pPr algn="l">
              <a:lnSpc>
                <a:spcPct val="105000"/>
              </a:lnSpc>
              <a:spcBef>
                <a:spcPts val="0"/>
              </a:spcBef>
              <a:spcAft>
                <a:spcPts val="1100"/>
              </a:spcAft>
            </a:pPr>
            <a:r>
              <a:rPr sz="2000" b="0" i="0">
                <a:solidFill>
                  <a:srgbClr val="1A1A1A"/>
                </a:solidFill>
                <a:latin typeface="Arial"/>
              </a:rPr>
              <a:t>The detrended PVO, non-price-based: bearish divergence too.</a:t>
            </a:r>
          </a:p>
          <a:p>
            <a:pPr algn="l">
              <a:lnSpc>
                <a:spcPct val="105000"/>
              </a:lnSpc>
              <a:spcBef>
                <a:spcPts val="0"/>
              </a:spcBef>
              <a:spcAft>
                <a:spcPts val="1100"/>
              </a:spcAft>
            </a:pPr>
            <a:r>
              <a:rPr sz="2000" b="0" i="0">
                <a:solidFill>
                  <a:srgbClr val="1A1A1A"/>
                </a:solidFill>
                <a:latin typeface="Arial"/>
              </a:rPr>
              <a:t>The ADL, price-based: bullish confirmation, rising with price.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rise, read two ways: each kind by its own rule.</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PVO and detrending are on the figure and not explained by the book.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kinds of volume oscillator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these is a non-price-based volume oscillator?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 Balance Volume</a:t>
            </a:r>
          </a:p>
          <a:p>
            <a:pPr algn="l">
              <a:lnSpc>
                <a:spcPct val="112000"/>
              </a:lnSpc>
              <a:spcBef>
                <a:spcPts val="0"/>
              </a:spcBef>
              <a:spcAft>
                <a:spcPts val="900"/>
              </a:spcAft>
            </a:pPr>
            <a:r>
              <a:rPr sz="1500" b="0" i="0">
                <a:solidFill>
                  <a:srgbClr val="FFFFFF"/>
                </a:solidFill>
                <a:latin typeface="Arial"/>
              </a:rPr>
              <a:t>B.  Chaikin Money Flow</a:t>
            </a:r>
          </a:p>
          <a:p>
            <a:pPr algn="l">
              <a:lnSpc>
                <a:spcPct val="112000"/>
              </a:lnSpc>
              <a:spcBef>
                <a:spcPts val="0"/>
              </a:spcBef>
              <a:spcAft>
                <a:spcPts val="900"/>
              </a:spcAft>
            </a:pPr>
            <a:r>
              <a:rPr sz="1500" b="0" i="0">
                <a:solidFill>
                  <a:srgbClr val="FFFFFF"/>
                </a:solidFill>
                <a:latin typeface="Arial"/>
              </a:rPr>
              <a:t>C.  Smoothed volume</a:t>
            </a:r>
          </a:p>
          <a:p>
            <a:pPr algn="l">
              <a:lnSpc>
                <a:spcPct val="112000"/>
              </a:lnSpc>
              <a:spcBef>
                <a:spcPts val="0"/>
              </a:spcBef>
              <a:spcAft>
                <a:spcPts val="900"/>
              </a:spcAft>
            </a:pPr>
            <a:r>
              <a:rPr sz="1500" b="0" i="0">
                <a:solidFill>
                  <a:srgbClr val="FFFFFF"/>
                </a:solidFill>
                <a:latin typeface="Arial"/>
              </a:rPr>
              <a:t>D.  Accumulation/Distribution 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falls while a price-based volume oscillator rises. On the book's reading this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Bullish divergence</a:t>
            </a:r>
          </a:p>
          <a:p>
            <a:pPr algn="l">
              <a:lnSpc>
                <a:spcPct val="112000"/>
              </a:lnSpc>
              <a:spcBef>
                <a:spcPts val="0"/>
              </a:spcBef>
              <a:spcAft>
                <a:spcPts val="900"/>
              </a:spcAft>
            </a:pPr>
            <a:r>
              <a:rPr sz="1500" b="0" i="0">
                <a:solidFill>
                  <a:srgbClr val="FFFFFF"/>
                </a:solidFill>
                <a:latin typeface="Arial"/>
              </a:rPr>
              <a:t>C.  Bearish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kinds of volume oscillator</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of these is a non-price-based volume oscillator?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Smoothed volume</a:t>
            </a:r>
          </a:p>
          <a:p>
            <a:pPr algn="l">
              <a:lnSpc>
                <a:spcPct val="115000"/>
              </a:lnSpc>
              <a:spcBef>
                <a:spcPts val="700"/>
              </a:spcBef>
              <a:spcAft>
                <a:spcPts val="0"/>
              </a:spcAft>
            </a:pPr>
            <a:r>
              <a:rPr sz="1600" b="0" i="0">
                <a:solidFill>
                  <a:srgbClr val="1A1A1A"/>
                </a:solidFill>
                <a:latin typeface="Arial"/>
              </a:rPr>
              <a:t>Smoothed volume uses volume data only. The other three incorporate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falls while a price-based volume oscillator rises. On the book's reading this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divergence</a:t>
            </a:r>
          </a:p>
          <a:p>
            <a:pPr algn="l">
              <a:lnSpc>
                <a:spcPct val="115000"/>
              </a:lnSpc>
              <a:spcBef>
                <a:spcPts val="700"/>
              </a:spcBef>
              <a:spcAft>
                <a:spcPts val="0"/>
              </a:spcAft>
            </a:pPr>
            <a:r>
              <a:rPr sz="1600" b="0" i="0">
                <a:solidFill>
                  <a:srgbClr val="1A1A1A"/>
                </a:solidFill>
                <a:latin typeface="Arial"/>
              </a:rPr>
              <a:t>On a price-based oscillator, bullish divergence is price falling while the oscillator rises.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as a timing indicator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Inside a consolidation, volume falls to its lowest level in a year. The book expects: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breakout, to the upside or the downside</a:t>
            </a:r>
          </a:p>
          <a:p>
            <a:pPr algn="l">
              <a:lnSpc>
                <a:spcPct val="112000"/>
              </a:lnSpc>
              <a:spcBef>
                <a:spcPts val="0"/>
              </a:spcBef>
              <a:spcAft>
                <a:spcPts val="900"/>
              </a:spcAft>
            </a:pPr>
            <a:r>
              <a:rPr sz="1500" b="0" i="0">
                <a:solidFill>
                  <a:srgbClr val="FFFFFF"/>
                </a:solidFill>
                <a:latin typeface="Arial"/>
              </a:rPr>
              <a:t>B.  An upside breakout only</a:t>
            </a:r>
          </a:p>
          <a:p>
            <a:pPr algn="l">
              <a:lnSpc>
                <a:spcPct val="112000"/>
              </a:lnSpc>
              <a:spcBef>
                <a:spcPts val="0"/>
              </a:spcBef>
              <a:spcAft>
                <a:spcPts val="900"/>
              </a:spcAft>
            </a:pPr>
            <a:r>
              <a:rPr sz="1500" b="0" i="0">
                <a:solidFill>
                  <a:srgbClr val="FFFFFF"/>
                </a:solidFill>
                <a:latin typeface="Arial"/>
              </a:rPr>
              <a:t>C.  Bearish divergence, so a decline</a:t>
            </a:r>
          </a:p>
          <a:p>
            <a:pPr algn="l">
              <a:lnSpc>
                <a:spcPct val="112000"/>
              </a:lnSpc>
              <a:spcBef>
                <a:spcPts val="0"/>
              </a:spcBef>
              <a:spcAft>
                <a:spcPts val="900"/>
              </a:spcAft>
            </a:pPr>
            <a:r>
              <a:rPr sz="1500" b="0" i="0">
                <a:solidFill>
                  <a:srgbClr val="FFFFFF"/>
                </a:solidFill>
                <a:latin typeface="Arial"/>
              </a:rPr>
              <a:t>D.  The consolidation to last longer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there no divergence reading during a consolidation?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always flat in a consolidation</a:t>
            </a:r>
          </a:p>
          <a:p>
            <a:pPr algn="l">
              <a:lnSpc>
                <a:spcPct val="112000"/>
              </a:lnSpc>
              <a:spcBef>
                <a:spcPts val="0"/>
              </a:spcBef>
              <a:spcAft>
                <a:spcPts val="900"/>
              </a:spcAft>
            </a:pPr>
            <a:r>
              <a:rPr sz="1500" b="0" i="0">
                <a:solidFill>
                  <a:srgbClr val="FFFFFF"/>
                </a:solidFill>
                <a:latin typeface="Arial"/>
              </a:rPr>
              <a:t>B.  Divergence needs open interest</a:t>
            </a:r>
          </a:p>
          <a:p>
            <a:pPr algn="l">
              <a:lnSpc>
                <a:spcPct val="112000"/>
              </a:lnSpc>
              <a:spcBef>
                <a:spcPts val="0"/>
              </a:spcBef>
              <a:spcAft>
                <a:spcPts val="900"/>
              </a:spcAft>
            </a:pPr>
            <a:r>
              <a:rPr sz="1500" b="0" i="0">
                <a:solidFill>
                  <a:srgbClr val="FFFFFF"/>
                </a:solidFill>
                <a:latin typeface="Arial"/>
              </a:rPr>
              <a:t>C.  Consolidations only occur on low volume</a:t>
            </a:r>
          </a:p>
          <a:p>
            <a:pPr algn="l">
              <a:lnSpc>
                <a:spcPct val="112000"/>
              </a:lnSpc>
              <a:spcBef>
                <a:spcPts val="0"/>
              </a:spcBef>
              <a:spcAft>
                <a:spcPts val="900"/>
              </a:spcAft>
            </a:pPr>
            <a:r>
              <a:rPr sz="1500" b="0" i="0">
                <a:solidFill>
                  <a:srgbClr val="FFFFFF"/>
                </a:solidFill>
                <a:latin typeface="Arial"/>
              </a:rPr>
              <a:t>D.  Price is moving sideways, so neither direction can be read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as a timing indicator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Inside a consolidation, volume falls to its lowest level in a year. The book expects: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breakout, to the upside or the downside</a:t>
            </a:r>
          </a:p>
          <a:p>
            <a:pPr algn="l">
              <a:lnSpc>
                <a:spcPct val="115000"/>
              </a:lnSpc>
              <a:spcBef>
                <a:spcPts val="700"/>
              </a:spcBef>
              <a:spcAft>
                <a:spcPts val="0"/>
              </a:spcAft>
            </a:pPr>
            <a:r>
              <a:rPr sz="1600" b="0" i="0">
                <a:solidFill>
                  <a:srgbClr val="1A1A1A"/>
                </a:solidFill>
                <a:latin typeface="Arial"/>
              </a:rPr>
              <a:t>Volume testing its lowest historical level in a consolidation is a low volume breakout signal, either way.</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is there no divergence reading during a consolidation?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Price is moving sideways, so neither direction can be read</a:t>
            </a:r>
          </a:p>
          <a:p>
            <a:pPr algn="l">
              <a:lnSpc>
                <a:spcPct val="115000"/>
              </a:lnSpc>
              <a:spcBef>
                <a:spcPts val="700"/>
              </a:spcBef>
              <a:spcAft>
                <a:spcPts val="0"/>
              </a:spcAft>
            </a:pPr>
            <a:r>
              <a:rPr sz="1600" b="0" i="0">
                <a:solidFill>
                  <a:srgbClr val="1A1A1A"/>
                </a:solidFill>
                <a:latin typeface="Arial"/>
              </a:rPr>
              <a:t>With price moving sideways it is not possible to tell divergence from convergence, let alone bullish from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Climaxes and overextension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top forms on extreme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low volume top</a:t>
            </a:r>
          </a:p>
          <a:p>
            <a:pPr algn="l">
              <a:lnSpc>
                <a:spcPct val="112000"/>
              </a:lnSpc>
              <a:spcBef>
                <a:spcPts val="0"/>
              </a:spcBef>
              <a:spcAft>
                <a:spcPts val="900"/>
              </a:spcAft>
            </a:pPr>
            <a:r>
              <a:rPr sz="1500" b="0" i="0">
                <a:solidFill>
                  <a:srgbClr val="FFFFFF"/>
                </a:solidFill>
                <a:latin typeface="Arial"/>
              </a:rPr>
              <a:t>B.  A selling climax</a:t>
            </a:r>
          </a:p>
          <a:p>
            <a:pPr algn="l">
              <a:lnSpc>
                <a:spcPct val="112000"/>
              </a:lnSpc>
              <a:spcBef>
                <a:spcPts val="0"/>
              </a:spcBef>
              <a:spcAft>
                <a:spcPts val="900"/>
              </a:spcAft>
            </a:pPr>
            <a:r>
              <a:rPr sz="1500" b="0" i="0">
                <a:solidFill>
                  <a:srgbClr val="FFFFFF"/>
                </a:solidFill>
                <a:latin typeface="Arial"/>
              </a:rPr>
              <a:t>C.  A low volume breakout signal</a:t>
            </a:r>
          </a:p>
          <a:p>
            <a:pPr algn="l">
              <a:lnSpc>
                <a:spcPct val="112000"/>
              </a:lnSpc>
              <a:spcBef>
                <a:spcPts val="0"/>
              </a:spcBef>
              <a:spcAft>
                <a:spcPts val="900"/>
              </a:spcAft>
            </a:pPr>
            <a:r>
              <a:rPr sz="1500" b="0" i="0">
                <a:solidFill>
                  <a:srgbClr val="FFFFFF"/>
                </a:solidFill>
                <a:latin typeface="Arial"/>
              </a:rPr>
              <a:t>D.  A blow-off or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lowers the volume overextension level on a chart. The signals will be: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Fewer, at more significant tops and bottoms</a:t>
            </a:r>
          </a:p>
          <a:p>
            <a:pPr algn="l">
              <a:lnSpc>
                <a:spcPct val="112000"/>
              </a:lnSpc>
              <a:spcBef>
                <a:spcPts val="0"/>
              </a:spcBef>
              <a:spcAft>
                <a:spcPts val="900"/>
              </a:spcAft>
            </a:pPr>
            <a:r>
              <a:rPr sz="1500" b="0" i="0">
                <a:solidFill>
                  <a:srgbClr val="FFFFFF"/>
                </a:solidFill>
                <a:latin typeface="Arial"/>
              </a:rPr>
              <a:t>B.  More frequent, at less significant tops and bottoms</a:t>
            </a:r>
          </a:p>
          <a:p>
            <a:pPr algn="l">
              <a:lnSpc>
                <a:spcPct val="112000"/>
              </a:lnSpc>
              <a:spcBef>
                <a:spcPts val="0"/>
              </a:spcBef>
              <a:spcAft>
                <a:spcPts val="900"/>
              </a:spcAft>
            </a:pPr>
            <a:r>
              <a:rPr sz="1500" b="0" i="0">
                <a:solidFill>
                  <a:srgbClr val="FFFFFF"/>
                </a:solidFill>
                <a:latin typeface="Arial"/>
              </a:rPr>
              <a:t>C.  Unchanged, because the level is set by eye</a:t>
            </a:r>
          </a:p>
          <a:p>
            <a:pPr algn="l">
              <a:lnSpc>
                <a:spcPct val="112000"/>
              </a:lnSpc>
              <a:spcBef>
                <a:spcPts val="0"/>
              </a:spcBef>
              <a:spcAft>
                <a:spcPts val="900"/>
              </a:spcAft>
            </a:pPr>
            <a:r>
              <a:rPr sz="1500" b="0" i="0">
                <a:solidFill>
                  <a:srgbClr val="FFFFFF"/>
                </a:solidFill>
                <a:latin typeface="Arial"/>
              </a:rPr>
              <a:t>D.  Limited to selling climaxes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Climaxes and overextension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top forms on extreme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blow-off or buying climax</a:t>
            </a:r>
          </a:p>
          <a:p>
            <a:pPr algn="l">
              <a:lnSpc>
                <a:spcPct val="115000"/>
              </a:lnSpc>
              <a:spcBef>
                <a:spcPts val="700"/>
              </a:spcBef>
              <a:spcAft>
                <a:spcPts val="0"/>
              </a:spcAft>
            </a:pPr>
            <a:r>
              <a:rPr sz="1600" b="0" i="0">
                <a:solidFill>
                  <a:srgbClr val="1A1A1A"/>
                </a:solidFill>
                <a:latin typeface="Arial"/>
              </a:rPr>
              <a:t>A market top associated with extreme volume is a blow-off or buying climax.</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lowers the volume overextension level on a chart. The signals will be: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frequent, at less significant tops and bottoms</a:t>
            </a:r>
          </a:p>
          <a:p>
            <a:pPr algn="l">
              <a:lnSpc>
                <a:spcPct val="115000"/>
              </a:lnSpc>
              <a:spcBef>
                <a:spcPts val="700"/>
              </a:spcBef>
              <a:spcAft>
                <a:spcPts val="0"/>
              </a:spcAft>
            </a:pPr>
            <a:r>
              <a:rPr sz="1600" b="0" i="0">
                <a:solidFill>
                  <a:srgbClr val="1A1A1A"/>
                </a:solidFill>
                <a:latin typeface="Arial"/>
              </a:rPr>
              <a:t>Setting the level lower tends to signal less significant tops or bottoms more frequently.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seven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Low volume turns and timeframes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bottom forms on extremely low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sell-off</a:t>
            </a:r>
          </a:p>
          <a:p>
            <a:pPr algn="l">
              <a:lnSpc>
                <a:spcPct val="112000"/>
              </a:lnSpc>
              <a:spcBef>
                <a:spcPts val="0"/>
              </a:spcBef>
              <a:spcAft>
                <a:spcPts val="900"/>
              </a:spcAft>
            </a:pPr>
            <a:r>
              <a:rPr sz="1500" b="0" i="0">
                <a:solidFill>
                  <a:srgbClr val="FFFFFF"/>
                </a:solidFill>
                <a:latin typeface="Arial"/>
              </a:rPr>
              <a:t>B.  A low volume bottom</a:t>
            </a:r>
          </a:p>
          <a:p>
            <a:pPr algn="l">
              <a:lnSpc>
                <a:spcPct val="112000"/>
              </a:lnSpc>
              <a:spcBef>
                <a:spcPts val="0"/>
              </a:spcBef>
              <a:spcAft>
                <a:spcPts val="900"/>
              </a:spcAft>
            </a:pPr>
            <a:r>
              <a:rPr sz="1500" b="0" i="0">
                <a:solidFill>
                  <a:srgbClr val="FFFFFF"/>
                </a:solidFill>
                <a:latin typeface="Arial"/>
              </a:rPr>
              <a:t>C.  A selling climax</a:t>
            </a:r>
          </a:p>
          <a:p>
            <a:pPr algn="l">
              <a:lnSpc>
                <a:spcPct val="112000"/>
              </a:lnSpc>
              <a:spcBef>
                <a:spcPts val="0"/>
              </a:spcBef>
              <a:spcAft>
                <a:spcPts val="900"/>
              </a:spcAft>
            </a:pPr>
            <a:r>
              <a:rPr sz="1500" b="0" i="0">
                <a:solidFill>
                  <a:srgbClr val="FFFFFF"/>
                </a:solidFill>
                <a:latin typeface="Arial"/>
              </a:rPr>
              <a:t>D.  An upper overextended volume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does the book say volume extremes can be called overbought or oversold only in retrospect?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not an oscillator</a:t>
            </a:r>
          </a:p>
          <a:p>
            <a:pPr algn="l">
              <a:lnSpc>
                <a:spcPct val="112000"/>
              </a:lnSpc>
              <a:spcBef>
                <a:spcPts val="0"/>
              </a:spcBef>
              <a:spcAft>
                <a:spcPts val="900"/>
              </a:spcAft>
            </a:pPr>
            <a:r>
              <a:rPr sz="1500" b="0" i="0">
                <a:solidFill>
                  <a:srgbClr val="FFFFFF"/>
                </a:solidFill>
                <a:latin typeface="Arial"/>
              </a:rPr>
              <a:t>B.  Volume extremes only occur at bottoms</a:t>
            </a:r>
          </a:p>
          <a:p>
            <a:pPr algn="l">
              <a:lnSpc>
                <a:spcPct val="112000"/>
              </a:lnSpc>
              <a:spcBef>
                <a:spcPts val="0"/>
              </a:spcBef>
              <a:spcAft>
                <a:spcPts val="900"/>
              </a:spcAft>
            </a:pPr>
            <a:r>
              <a:rPr sz="1500" b="0" i="0">
                <a:solidFill>
                  <a:srgbClr val="FFFFFF"/>
                </a:solidFill>
                <a:latin typeface="Arial"/>
              </a:rPr>
              <a:t>C.  An overextension can signal either a top or a bottom</a:t>
            </a:r>
          </a:p>
          <a:p>
            <a:pPr algn="l">
              <a:lnSpc>
                <a:spcPct val="112000"/>
              </a:lnSpc>
              <a:spcBef>
                <a:spcPts val="0"/>
              </a:spcBef>
              <a:spcAft>
                <a:spcPts val="900"/>
              </a:spcAft>
            </a:pPr>
            <a:r>
              <a:rPr sz="1500" b="0" i="0">
                <a:solidFill>
                  <a:srgbClr val="FFFFFF"/>
                </a:solidFill>
                <a:latin typeface="Arial"/>
              </a:rPr>
              <a:t>D.  Overbought levels are set by eye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Low volume turns and timeframes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bottom forms on extremely low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low volume bottom</a:t>
            </a:r>
          </a:p>
          <a:p>
            <a:pPr algn="l">
              <a:lnSpc>
                <a:spcPct val="115000"/>
              </a:lnSpc>
              <a:spcBef>
                <a:spcPts val="700"/>
              </a:spcBef>
              <a:spcAft>
                <a:spcPts val="0"/>
              </a:spcAft>
            </a:pPr>
            <a:r>
              <a:rPr sz="1600" b="0" i="0">
                <a:solidFill>
                  <a:srgbClr val="1A1A1A"/>
                </a:solidFill>
                <a:latin typeface="Arial"/>
              </a:rPr>
              <a:t>A market bottom associated with extremely low volume is a low volume bottom.</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does the book say volume extremes can be called overbought or oversold only in retrospect?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overextension can signal either a top or a bottom</a:t>
            </a:r>
          </a:p>
          <a:p>
            <a:pPr algn="l">
              <a:lnSpc>
                <a:spcPct val="115000"/>
              </a:lnSpc>
              <a:spcBef>
                <a:spcPts val="700"/>
              </a:spcBef>
              <a:spcAft>
                <a:spcPts val="0"/>
              </a:spcAft>
            </a:pPr>
            <a:r>
              <a:rPr sz="1600" b="0" i="0">
                <a:solidFill>
                  <a:srgbClr val="1A1A1A"/>
                </a:solidFill>
                <a:latin typeface="Arial"/>
              </a:rPr>
              <a:t>Extreme buying and selling both generate volume, so only the top or bottom that follows tells which it was.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13</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Support or resistance formed at a volume peak: the most reliable, the strongest barrier to future retests.</a:t>
            </a:r>
          </a:p>
          <a:p>
            <a:pPr algn="l">
              <a:lnSpc>
                <a:spcPct val="105000"/>
              </a:lnSpc>
              <a:spcBef>
                <a:spcPts val="0"/>
              </a:spcBef>
              <a:spcAft>
                <a:spcPts val="1100"/>
              </a:spcAft>
            </a:pPr>
            <a:r>
              <a:rPr sz="1700" b="0" i="0">
                <a:solidFill>
                  <a:srgbClr val="1A1A1A"/>
                </a:solidFill>
                <a:latin typeface="Arial"/>
              </a:rPr>
              <a:t>Why: even with the surge in volume, price could not get through. Traders expect it to hold.</a:t>
            </a:r>
          </a:p>
          <a:p>
            <a:pPr algn="l">
              <a:lnSpc>
                <a:spcPct val="105000"/>
              </a:lnSpc>
              <a:spcBef>
                <a:spcPts val="0"/>
              </a:spcBef>
              <a:spcAft>
                <a:spcPts val="1100"/>
              </a:spcAft>
            </a:pPr>
            <a:r>
              <a:rPr sz="1700" b="0" i="0">
                <a:solidFill>
                  <a:srgbClr val="1A1A1A"/>
                </a:solidFill>
                <a:latin typeface="Arial"/>
              </a:rPr>
              <a:t>Formed across a volume dip or trough: less reliable. It held only for lack of interest.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the figure, Resistance 1 and Support 1 are the more reliable barriers.</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the reasons are the book's. Barrier: Chapter 5, a support below price or a resistance above it.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13</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Volume increasing across support or resistance.</a:t>
            </a:r>
          </a:p>
          <a:p>
            <a:pPr algn="l">
              <a:lnSpc>
                <a:spcPct val="105000"/>
              </a:lnSpc>
              <a:spcBef>
                <a:spcPts val="0"/>
              </a:spcBef>
              <a:spcAft>
                <a:spcPts val="1100"/>
              </a:spcAft>
            </a:pPr>
            <a:r>
              <a:rPr sz="1800" b="0" i="0">
                <a:solidFill>
                  <a:srgbClr val="1A1A1A"/>
                </a:solidFill>
                <a:latin typeface="Arial"/>
              </a:rPr>
              <a:t>2  Volume decreasing across it.</a:t>
            </a:r>
          </a:p>
          <a:p>
            <a:pPr algn="l">
              <a:lnSpc>
                <a:spcPct val="105000"/>
              </a:lnSpc>
              <a:spcBef>
                <a:spcPts val="0"/>
              </a:spcBef>
              <a:spcAft>
                <a:spcPts val="1100"/>
              </a:spcAft>
            </a:pPr>
            <a:r>
              <a:rPr sz="1800" b="0" i="0">
                <a:solidFill>
                  <a:srgbClr val="1A1A1A"/>
                </a:solidFill>
                <a:latin typeface="Arial"/>
              </a:rPr>
              <a:t>3  Volume peaking at it.</a:t>
            </a:r>
          </a:p>
          <a:p>
            <a:pPr algn="l">
              <a:lnSpc>
                <a:spcPct val="105000"/>
              </a:lnSpc>
              <a:spcBef>
                <a:spcPts val="0"/>
              </a:spcBef>
              <a:spcAft>
                <a:spcPts val="1100"/>
              </a:spcAft>
            </a:pPr>
            <a:r>
              <a:rPr sz="1800" b="0" i="0">
                <a:solidFill>
                  <a:srgbClr val="1A1A1A"/>
                </a:solidFill>
                <a:latin typeface="Arial"/>
              </a:rPr>
              <a:t>4  Volume bottoming at it.</a:t>
            </a:r>
          </a:p>
          <a:p>
            <a:pPr algn="l">
              <a:lnSpc>
                <a:spcPct val="105000"/>
              </a:lnSpc>
              <a:spcBef>
                <a:spcPts val="0"/>
              </a:spcBef>
              <a:spcAft>
                <a:spcPts val="1100"/>
              </a:spcAft>
            </a:pPr>
            <a:r>
              <a:rPr sz="1800" b="0" i="0">
                <a:solidFill>
                  <a:srgbClr val="1A1A1A"/>
                </a:solidFill>
                <a:latin typeface="Arial"/>
              </a:rPr>
              <a:t>5  Volume flatlining across it.</a:t>
            </a:r>
          </a:p>
        </p:txBody>
      </p:sp>
      <p:sp>
        <p:nvSpPr>
          <p:cNvPr id="8" name="Rectangle 7"/>
          <p:cNvSpPr/>
          <p:nvPr/>
        </p:nvSpPr>
        <p:spPr>
          <a:xfrm>
            <a:off x="777240" y="471830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4880"/>
            <a:ext cx="44622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Increasing or decreasing volume across a barrier signifies a change in sentiment there.</a:t>
            </a:r>
          </a:p>
        </p:txBody>
      </p:sp>
      <p:sp>
        <p:nvSpPr>
          <p:cNvPr id="10" name="Rectangle 9"/>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five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Increasing: volume picks up as price reverses, driving it away with confirmation.</a:t>
            </a:r>
          </a:p>
          <a:p>
            <a:pPr algn="l">
              <a:lnSpc>
                <a:spcPct val="105000"/>
              </a:lnSpc>
              <a:spcBef>
                <a:spcPts val="0"/>
              </a:spcBef>
              <a:spcAft>
                <a:spcPts val="1100"/>
              </a:spcAft>
            </a:pPr>
            <a:r>
              <a:rPr sz="1800" b="0" i="0">
                <a:solidFill>
                  <a:srgbClr val="1A1A1A"/>
                </a:solidFill>
                <a:latin typeface="Arial"/>
              </a:rPr>
              <a:t>Decreasing: too little force, and less on the way back. A retest is likely; in extreme cases, a penetration.</a:t>
            </a:r>
          </a:p>
          <a:p>
            <a:pPr algn="l">
              <a:lnSpc>
                <a:spcPct val="105000"/>
              </a:lnSpc>
              <a:spcBef>
                <a:spcPts val="0"/>
              </a:spcBef>
              <a:spcAft>
                <a:spcPts val="1100"/>
              </a:spcAft>
            </a:pPr>
            <a:r>
              <a:rPr sz="1800" b="0" i="0">
                <a:solidFill>
                  <a:srgbClr val="1A1A1A"/>
                </a:solidFill>
                <a:latin typeface="Arial"/>
              </a:rPr>
              <a:t>Peaking: most reliable. Bottoming: less reliable. Flatlining: not enough information.</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Rising volume backs a barrier; falling volume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what each tells. The chart is ours: sketches, not prices, each case at a support, with the book's outcome written on it.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at a price barrier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support is regarded as the most reliable barrier to future retests?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formed at a volume peak</a:t>
            </a:r>
          </a:p>
          <a:p>
            <a:pPr algn="l">
              <a:lnSpc>
                <a:spcPct val="112000"/>
              </a:lnSpc>
              <a:spcBef>
                <a:spcPts val="0"/>
              </a:spcBef>
              <a:spcAft>
                <a:spcPts val="900"/>
              </a:spcAft>
            </a:pPr>
            <a:r>
              <a:rPr sz="1500" b="0" i="0">
                <a:solidFill>
                  <a:srgbClr val="FFFFFF"/>
                </a:solidFill>
                <a:latin typeface="Arial"/>
              </a:rPr>
              <a:t>B.  One formed across a volume trough</a:t>
            </a:r>
          </a:p>
          <a:p>
            <a:pPr algn="l">
              <a:lnSpc>
                <a:spcPct val="112000"/>
              </a:lnSpc>
              <a:spcBef>
                <a:spcPts val="0"/>
              </a:spcBef>
              <a:spcAft>
                <a:spcPts val="900"/>
              </a:spcAft>
            </a:pPr>
            <a:r>
              <a:rPr sz="1500" b="0" i="0">
                <a:solidFill>
                  <a:srgbClr val="FFFFFF"/>
                </a:solidFill>
                <a:latin typeface="Arial"/>
              </a:rPr>
              <a:t>C.  One formed on flatlining volume</a:t>
            </a:r>
          </a:p>
          <a:p>
            <a:pPr algn="l">
              <a:lnSpc>
                <a:spcPct val="112000"/>
              </a:lnSpc>
              <a:spcBef>
                <a:spcPts val="0"/>
              </a:spcBef>
              <a:spcAft>
                <a:spcPts val="900"/>
              </a:spcAft>
            </a:pPr>
            <a:r>
              <a:rPr sz="1500" b="0" i="0">
                <a:solidFill>
                  <a:srgbClr val="FFFFFF"/>
                </a:solidFill>
                <a:latin typeface="Arial"/>
              </a:rPr>
              <a:t>D.  One formed on decreasing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decreases across a support as price touches it and turns. The book says this tends to see: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driven away with bullish confirmation</a:t>
            </a:r>
          </a:p>
          <a:p>
            <a:pPr algn="l">
              <a:lnSpc>
                <a:spcPct val="112000"/>
              </a:lnSpc>
              <a:spcBef>
                <a:spcPts val="0"/>
              </a:spcBef>
              <a:spcAft>
                <a:spcPts val="900"/>
              </a:spcAft>
            </a:pPr>
            <a:r>
              <a:rPr sz="1500" b="0" i="0">
                <a:solidFill>
                  <a:srgbClr val="FFFFFF"/>
                </a:solidFill>
                <a:latin typeface="Arial"/>
              </a:rPr>
              <a:t>B.  Not enough information to say</a:t>
            </a:r>
          </a:p>
          <a:p>
            <a:pPr algn="l">
              <a:lnSpc>
                <a:spcPct val="112000"/>
              </a:lnSpc>
              <a:spcBef>
                <a:spcPts val="0"/>
              </a:spcBef>
              <a:spcAft>
                <a:spcPts val="900"/>
              </a:spcAft>
            </a:pPr>
            <a:r>
              <a:rPr sz="1500" b="0" i="0">
                <a:solidFill>
                  <a:srgbClr val="FFFFFF"/>
                </a:solidFill>
                <a:latin typeface="Arial"/>
              </a:rPr>
              <a:t>C.  The strongest possible barrier</a:t>
            </a:r>
          </a:p>
          <a:p>
            <a:pPr algn="l">
              <a:lnSpc>
                <a:spcPct val="112000"/>
              </a:lnSpc>
              <a:spcBef>
                <a:spcPts val="0"/>
              </a:spcBef>
              <a:spcAft>
                <a:spcPts val="900"/>
              </a:spcAft>
            </a:pPr>
            <a:r>
              <a:rPr sz="1500" b="0" i="0">
                <a:solidFill>
                  <a:srgbClr val="FFFFFF"/>
                </a:solidFill>
                <a:latin typeface="Arial"/>
              </a:rPr>
              <a:t>D.  A retest of the barrier, or even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at a price barrier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support is regarded as the most reliable barrier to future retests?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One formed at a volume peak</a:t>
            </a:r>
          </a:p>
          <a:p>
            <a:pPr algn="l">
              <a:lnSpc>
                <a:spcPct val="115000"/>
              </a:lnSpc>
              <a:spcBef>
                <a:spcPts val="700"/>
              </a:spcBef>
              <a:spcAft>
                <a:spcPts val="0"/>
              </a:spcAft>
            </a:pPr>
            <a:r>
              <a:rPr sz="1600" b="0" i="0">
                <a:solidFill>
                  <a:srgbClr val="1A1A1A"/>
                </a:solidFill>
                <a:latin typeface="Arial"/>
              </a:rPr>
              <a:t>Support formed at a volume peak held against a large surge in volume, so traders expect it to hold.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decreases across a support as price touches it and turns. The book says this tends to see: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retest of the barrier, or even a penetration</a:t>
            </a:r>
          </a:p>
          <a:p>
            <a:pPr algn="l">
              <a:lnSpc>
                <a:spcPct val="115000"/>
              </a:lnSpc>
              <a:spcBef>
                <a:spcPts val="700"/>
              </a:spcBef>
              <a:spcAft>
                <a:spcPts val="0"/>
              </a:spcAft>
            </a:pPr>
            <a:r>
              <a:rPr sz="1600" b="0" i="0">
                <a:solidFill>
                  <a:srgbClr val="1A1A1A"/>
                </a:solidFill>
                <a:latin typeface="Arial"/>
              </a:rPr>
              <a:t>Decreasing volume across support or resistance tends to see a retest, and in extreme cases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action. The book lists four ways:</a:t>
            </a:r>
          </a:p>
          <a:p>
            <a:pPr algn="l">
              <a:lnSpc>
                <a:spcPct val="105000"/>
              </a:lnSpc>
              <a:spcBef>
                <a:spcPts val="0"/>
              </a:spcBef>
              <a:spcAft>
                <a:spcPts val="1100"/>
              </a:spcAft>
            </a:pPr>
            <a:r>
              <a:rPr sz="1700" b="0" i="0">
                <a:solidFill>
                  <a:srgbClr val="1A1A1A"/>
                </a:solidFill>
                <a:latin typeface="Arial"/>
              </a:rPr>
              <a:t>1  A moving average filter.</a:t>
            </a:r>
          </a:p>
          <a:p>
            <a:pPr algn="l">
              <a:lnSpc>
                <a:spcPct val="105000"/>
              </a:lnSpc>
              <a:spcBef>
                <a:spcPts val="0"/>
              </a:spcBef>
              <a:spcAft>
                <a:spcPts val="1100"/>
              </a:spcAft>
            </a:pPr>
            <a:r>
              <a:rPr sz="1700" b="0" i="0">
                <a:solidFill>
                  <a:srgbClr val="1A1A1A"/>
                </a:solidFill>
                <a:latin typeface="Arial"/>
              </a:rPr>
              <a:t>2  A volatility filter.</a:t>
            </a:r>
          </a:p>
          <a:p>
            <a:pPr algn="l">
              <a:lnSpc>
                <a:spcPct val="105000"/>
              </a:lnSpc>
              <a:spcBef>
                <a:spcPts val="0"/>
              </a:spcBef>
              <a:spcAft>
                <a:spcPts val="1100"/>
              </a:spcAft>
            </a:pPr>
            <a:r>
              <a:rPr sz="1700" b="0" i="0">
                <a:solidFill>
                  <a:srgbClr val="1A1A1A"/>
                </a:solidFill>
                <a:latin typeface="Arial"/>
              </a:rPr>
              <a:t>3  Prior volume peaks.</a:t>
            </a:r>
          </a:p>
          <a:p>
            <a:pPr algn="l">
              <a:lnSpc>
                <a:spcPct val="105000"/>
              </a:lnSpc>
              <a:spcBef>
                <a:spcPts val="0"/>
              </a:spcBef>
              <a:spcAft>
                <a:spcPts val="1100"/>
              </a:spcAft>
            </a:pPr>
            <a:r>
              <a:rPr sz="1700" b="0" i="0">
                <a:solidFill>
                  <a:srgbClr val="1A1A1A"/>
                </a:solidFill>
                <a:latin typeface="Arial"/>
              </a:rPr>
              <a:t>4  Volume cycles.</a:t>
            </a:r>
          </a:p>
        </p:txBody>
      </p:sp>
      <p:sp>
        <p:nvSpPr>
          <p:cNvPr id="8" name="Rectangle 7"/>
          <p:cNvSpPr/>
          <p:nvPr/>
        </p:nvSpPr>
        <p:spPr>
          <a:xfrm>
            <a:off x="777240" y="462229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5886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one draws a line, or a rhythm, that only significant volume crosses.</a:t>
            </a:r>
          </a:p>
        </p:txBody>
      </p:sp>
      <p:sp>
        <p:nvSpPr>
          <p:cNvPr id="10" name="TextBox 9"/>
          <p:cNvSpPr txBox="1"/>
          <p:nvPr/>
        </p:nvSpPr>
        <p:spPr>
          <a:xfrm>
            <a:off x="777240" y="55184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Prior volume peaks: the overextension levels of Part 2. Volume cycles: Part 5. The first two follow now.</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four, as listed. The chart is ours: one small sketch of each, on invented volume.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13</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13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13</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13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13</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filter signals the most significant volume surges.</a:t>
            </a:r>
          </a:p>
          <a:p>
            <a:pPr algn="l">
              <a:lnSpc>
                <a:spcPct val="105000"/>
              </a:lnSpc>
              <a:spcBef>
                <a:spcPts val="0"/>
              </a:spcBef>
              <a:spcAft>
                <a:spcPts val="1100"/>
              </a:spcAft>
            </a:pPr>
            <a:r>
              <a:rPr sz="1800" b="0" i="0">
                <a:solidFill>
                  <a:srgbClr val="1A1A1A"/>
                </a:solidFill>
                <a:latin typeface="Arial"/>
              </a:rPr>
              <a:t>These tend to result in the most significant tops and bottoms in the market.</a:t>
            </a:r>
          </a:p>
          <a:p>
            <a:pPr algn="l">
              <a:lnSpc>
                <a:spcPct val="105000"/>
              </a:lnSpc>
              <a:spcBef>
                <a:spcPts val="0"/>
              </a:spcBef>
              <a:spcAft>
                <a:spcPts val="1100"/>
              </a:spcAft>
            </a:pPr>
            <a:r>
              <a:rPr sz="1800" b="0" i="0">
                <a:solidFill>
                  <a:srgbClr val="1A1A1A"/>
                </a:solidFill>
                <a:latin typeface="Arial"/>
              </a:rPr>
              <a:t>A standard deviation oscillator may also be used. It is less useful: it gives no overlay on which to see volume cross the threshold.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prefers the band: volume can be seen crossing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Filtering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smoothed volume filter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Bollinger Band on price</a:t>
            </a:r>
          </a:p>
          <a:p>
            <a:pPr algn="l">
              <a:lnSpc>
                <a:spcPct val="112000"/>
              </a:lnSpc>
              <a:spcBef>
                <a:spcPts val="0"/>
              </a:spcBef>
              <a:spcAft>
                <a:spcPts val="900"/>
              </a:spcAft>
            </a:pPr>
            <a:r>
              <a:rPr sz="1500" b="0" i="0">
                <a:solidFill>
                  <a:srgbClr val="FFFFFF"/>
                </a:solidFill>
                <a:latin typeface="Arial"/>
              </a:rPr>
              <a:t>B.  A moving average based on volume, instead of price</a:t>
            </a:r>
          </a:p>
          <a:p>
            <a:pPr algn="l">
              <a:lnSpc>
                <a:spcPct val="112000"/>
              </a:lnSpc>
              <a:spcBef>
                <a:spcPts val="0"/>
              </a:spcBef>
              <a:spcAft>
                <a:spcPts val="900"/>
              </a:spcAft>
            </a:pPr>
            <a:r>
              <a:rPr sz="1500" b="0" i="0">
                <a:solidFill>
                  <a:srgbClr val="FFFFFF"/>
                </a:solidFill>
                <a:latin typeface="Arial"/>
              </a:rPr>
              <a:t>C.  The lowest historical volume level</a:t>
            </a:r>
          </a:p>
          <a:p>
            <a:pPr algn="l">
              <a:lnSpc>
                <a:spcPct val="112000"/>
              </a:lnSpc>
              <a:spcBef>
                <a:spcPts val="0"/>
              </a:spcBef>
              <a:spcAft>
                <a:spcPts val="900"/>
              </a:spcAft>
            </a:pPr>
            <a:r>
              <a:rPr sz="1500" b="0" i="0">
                <a:solidFill>
                  <a:srgbClr val="FFFFFF"/>
                </a:solidFill>
                <a:latin typeface="Arial"/>
              </a:rPr>
              <a:t>D.  A count of trades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two- or three-sigma volume filter, which part of the Bollinger Band is used?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lower band only</a:t>
            </a:r>
          </a:p>
          <a:p>
            <a:pPr algn="l">
              <a:lnSpc>
                <a:spcPct val="112000"/>
              </a:lnSpc>
              <a:spcBef>
                <a:spcPts val="0"/>
              </a:spcBef>
              <a:spcAft>
                <a:spcPts val="900"/>
              </a:spcAft>
            </a:pPr>
            <a:r>
              <a:rPr sz="1500" b="0" i="0">
                <a:solidFill>
                  <a:srgbClr val="FFFFFF"/>
                </a:solidFill>
                <a:latin typeface="Arial"/>
              </a:rPr>
              <a:t>B.  Both bands</a:t>
            </a:r>
          </a:p>
          <a:p>
            <a:pPr algn="l">
              <a:lnSpc>
                <a:spcPct val="112000"/>
              </a:lnSpc>
              <a:spcBef>
                <a:spcPts val="0"/>
              </a:spcBef>
              <a:spcAft>
                <a:spcPts val="900"/>
              </a:spcAft>
            </a:pPr>
            <a:r>
              <a:rPr sz="1500" b="0" i="0">
                <a:solidFill>
                  <a:srgbClr val="FFFFFF"/>
                </a:solidFill>
                <a:latin typeface="Arial"/>
              </a:rPr>
              <a:t>C.  The upper band only</a:t>
            </a:r>
          </a:p>
          <a:p>
            <a:pPr algn="l">
              <a:lnSpc>
                <a:spcPct val="112000"/>
              </a:lnSpc>
              <a:spcBef>
                <a:spcPts val="0"/>
              </a:spcBef>
              <a:spcAft>
                <a:spcPts val="900"/>
              </a:spcAft>
            </a:pPr>
            <a:r>
              <a:rPr sz="1500" b="0" i="0">
                <a:solidFill>
                  <a:srgbClr val="FFFFFF"/>
                </a:solidFill>
                <a:latin typeface="Arial"/>
              </a:rPr>
              <a:t>D.  The middle line only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Filtering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smoothed volume filter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moving average based on volume, instead of price</a:t>
            </a:r>
          </a:p>
          <a:p>
            <a:pPr algn="l">
              <a:lnSpc>
                <a:spcPct val="115000"/>
              </a:lnSpc>
              <a:spcBef>
                <a:spcPts val="700"/>
              </a:spcBef>
              <a:spcAft>
                <a:spcPts val="0"/>
              </a:spcAft>
            </a:pPr>
            <a:r>
              <a:rPr sz="1600" b="0" i="0">
                <a:solidFill>
                  <a:srgbClr val="1A1A1A"/>
                </a:solidFill>
                <a:latin typeface="Arial"/>
              </a:rPr>
              <a:t>The book: a smoothed volume filter is simply a moving average based on volume, instead of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two- or three-sigma volume filter, which part of the Bollinger Band is used?</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upper band only</a:t>
            </a:r>
          </a:p>
          <a:p>
            <a:pPr algn="l">
              <a:lnSpc>
                <a:spcPct val="115000"/>
              </a:lnSpc>
              <a:spcBef>
                <a:spcPts val="700"/>
              </a:spcBef>
              <a:spcAft>
                <a:spcPts val="0"/>
              </a:spcAft>
            </a:pPr>
            <a:r>
              <a:rPr sz="1600" b="0" i="0">
                <a:solidFill>
                  <a:srgbClr val="1A1A1A"/>
                </a:solidFill>
                <a:latin typeface="Arial"/>
              </a:rPr>
              <a:t>Only the Bollinger upper band is used: the filter keeps the most significant surges.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8</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the peaks and troughs that came with heavy volume are used to draw lines.</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three turns on volume above the threshold, 1, 2 and 3. A line joins 1 and 2; its parallel through 3 makes a channel.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a peak or a trough. The chart is ours, on invented prices.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Tick volume, with a threshold drawn by visual inspection: only the most significant peaks reach it.</a:t>
            </a:r>
          </a:p>
          <a:p>
            <a:pPr algn="l">
              <a:lnSpc>
                <a:spcPct val="105000"/>
              </a:lnSpc>
              <a:spcBef>
                <a:spcPts val="0"/>
              </a:spcBef>
              <a:spcAft>
                <a:spcPts val="1100"/>
              </a:spcAft>
            </a:pPr>
            <a:r>
              <a:rPr sz="1800" b="0" i="0">
                <a:solidFill>
                  <a:srgbClr val="1A1A1A"/>
                </a:solidFill>
                <a:latin typeface="Arial"/>
              </a:rPr>
              <a:t>Points 1, 2 and 3 came with overextended tick volume. A trendline joins 1 and 2; a parallel from 3.</a:t>
            </a:r>
          </a:p>
          <a:p>
            <a:pPr algn="l">
              <a:lnSpc>
                <a:spcPct val="105000"/>
              </a:lnSpc>
              <a:spcBef>
                <a:spcPts val="0"/>
              </a:spcBef>
              <a:spcAft>
                <a:spcPts val="1100"/>
              </a:spcAft>
            </a:pPr>
            <a:r>
              <a:rPr sz="1800" b="0" i="0">
                <a:solidFill>
                  <a:srgbClr val="1A1A1A"/>
                </a:solidFill>
                <a:latin typeface="Arial"/>
              </a:rPr>
              <a:t>At X price reacts to the channel, a short-term buy, before falling through it.</a:t>
            </a:r>
          </a:p>
        </p:txBody>
      </p:sp>
      <p:sp>
        <p:nvSpPr>
          <p:cNvPr id="8" name="Rectangle 7"/>
          <p:cNvSpPr/>
          <p:nvPr/>
        </p:nvSpPr>
        <p:spPr>
          <a:xfrm>
            <a:off x="777240" y="4965192"/>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Only heavily traded points are used.</a:t>
            </a:r>
          </a:p>
        </p:txBody>
      </p:sp>
      <p:sp>
        <p:nvSpPr>
          <p:cNvPr id="10" name="TextBox 9"/>
          <p:cNvSpPr txBox="1"/>
          <p:nvPr/>
        </p:nvSpPr>
        <p:spPr>
          <a:xfrm>
            <a:off x="777240" y="5602223"/>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Tick volume, a count of trades: defined in Part 4.</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 The text names no market for 6.22 and calls 6.23 USDJPY; both captions and charts say Silver.</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Trendline from 1 and 2, parallel from 3: a large bearish candlestick breaches it.</a:t>
            </a:r>
          </a:p>
          <a:p>
            <a:pPr algn="l">
              <a:lnSpc>
                <a:spcPct val="105000"/>
              </a:lnSpc>
              <a:spcBef>
                <a:spcPts val="0"/>
              </a:spcBef>
              <a:spcAft>
                <a:spcPts val="1100"/>
              </a:spcAft>
            </a:pPr>
            <a:r>
              <a:rPr sz="1800" b="0" i="0">
                <a:solidFill>
                  <a:srgbClr val="1A1A1A"/>
                </a:solidFill>
                <a:latin typeface="Arial"/>
              </a:rPr>
              <a:t>A parallel from 4, taken back in time, meets the trough at X: in retrospect a valid rising channel.</a:t>
            </a:r>
          </a:p>
          <a:p>
            <a:pPr algn="l">
              <a:lnSpc>
                <a:spcPct val="105000"/>
              </a:lnSpc>
              <a:spcBef>
                <a:spcPts val="0"/>
              </a:spcBef>
              <a:spcAft>
                <a:spcPts val="1100"/>
              </a:spcAft>
            </a:pPr>
            <a:r>
              <a:rPr sz="1800" b="0" i="0">
                <a:solidFill>
                  <a:srgbClr val="1A1A1A"/>
                </a:solidFill>
                <a:latin typeface="Arial"/>
              </a:rPr>
              <a:t>Parallels from 5 and 6 contain price too: resistance at the top, support at the bottom.</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near perfect angular symmetry.</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a Chapter 5 term.</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Filtered inflection points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peaks and troughs are used to construct volume filtered trendlines and channels?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Every peak and trough on the chart</a:t>
            </a:r>
          </a:p>
          <a:p>
            <a:pPr algn="l">
              <a:lnSpc>
                <a:spcPct val="112000"/>
              </a:lnSpc>
              <a:spcBef>
                <a:spcPts val="0"/>
              </a:spcBef>
              <a:spcAft>
                <a:spcPts val="900"/>
              </a:spcAft>
            </a:pPr>
            <a:r>
              <a:rPr sz="1500" b="0" i="0">
                <a:solidFill>
                  <a:srgbClr val="FFFFFF"/>
                </a:solidFill>
                <a:latin typeface="Arial"/>
              </a:rPr>
              <a:t>B.  Only those associated with above average volume</a:t>
            </a:r>
          </a:p>
          <a:p>
            <a:pPr algn="l">
              <a:lnSpc>
                <a:spcPct val="112000"/>
              </a:lnSpc>
              <a:spcBef>
                <a:spcPts val="0"/>
              </a:spcBef>
              <a:spcAft>
                <a:spcPts val="900"/>
              </a:spcAft>
            </a:pPr>
            <a:r>
              <a:rPr sz="1500" b="0" i="0">
                <a:solidFill>
                  <a:srgbClr val="FFFFFF"/>
                </a:solidFill>
                <a:latin typeface="Arial"/>
              </a:rPr>
              <a:t>C.  Only those formed on minimal volume</a:t>
            </a:r>
          </a:p>
          <a:p>
            <a:pPr algn="l">
              <a:lnSpc>
                <a:spcPct val="112000"/>
              </a:lnSpc>
              <a:spcBef>
                <a:spcPts val="0"/>
              </a:spcBef>
              <a:spcAft>
                <a:spcPts val="900"/>
              </a:spcAft>
            </a:pPr>
            <a:r>
              <a:rPr sz="1500" b="0" i="0">
                <a:solidFill>
                  <a:srgbClr val="FFFFFF"/>
                </a:solidFill>
                <a:latin typeface="Arial"/>
              </a:rPr>
              <a:t>D.  Only those within a consolidation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6.22, how is the volume threshold drawn?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By visual inspection, so only the most significant peaks reach it</a:t>
            </a:r>
          </a:p>
          <a:p>
            <a:pPr algn="l">
              <a:lnSpc>
                <a:spcPct val="112000"/>
              </a:lnSpc>
              <a:spcBef>
                <a:spcPts val="0"/>
              </a:spcBef>
              <a:spcAft>
                <a:spcPts val="900"/>
              </a:spcAft>
            </a:pPr>
            <a:r>
              <a:rPr sz="1500" b="0" i="0">
                <a:solidFill>
                  <a:srgbClr val="FFFFFF"/>
                </a:solidFill>
                <a:latin typeface="Arial"/>
              </a:rPr>
              <a:t>B.  As a 100-day moving average</a:t>
            </a:r>
          </a:p>
          <a:p>
            <a:pPr algn="l">
              <a:lnSpc>
                <a:spcPct val="112000"/>
              </a:lnSpc>
              <a:spcBef>
                <a:spcPts val="0"/>
              </a:spcBef>
              <a:spcAft>
                <a:spcPts val="900"/>
              </a:spcAft>
            </a:pPr>
            <a:r>
              <a:rPr sz="1500" b="0" i="0">
                <a:solidFill>
                  <a:srgbClr val="FFFFFF"/>
                </a:solidFill>
                <a:latin typeface="Arial"/>
              </a:rPr>
              <a:t>C.  At three standard deviations</a:t>
            </a:r>
          </a:p>
          <a:p>
            <a:pPr algn="l">
              <a:lnSpc>
                <a:spcPct val="112000"/>
              </a:lnSpc>
              <a:spcBef>
                <a:spcPts val="0"/>
              </a:spcBef>
              <a:spcAft>
                <a:spcPts val="900"/>
              </a:spcAft>
            </a:pPr>
            <a:r>
              <a:rPr sz="1500" b="0" i="0">
                <a:solidFill>
                  <a:srgbClr val="FFFFFF"/>
                </a:solidFill>
                <a:latin typeface="Arial"/>
              </a:rPr>
              <a:t>D.  At the lowest historical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9</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Filtered inflection points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peaks and troughs are used to construct volume filtered trendlines and channels?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Only those associated with above average volume</a:t>
            </a:r>
          </a:p>
          <a:p>
            <a:pPr algn="l">
              <a:lnSpc>
                <a:spcPct val="115000"/>
              </a:lnSpc>
              <a:spcBef>
                <a:spcPts val="700"/>
              </a:spcBef>
              <a:spcAft>
                <a:spcPts val="0"/>
              </a:spcAft>
            </a:pPr>
            <a:r>
              <a:rPr sz="1600" b="0" i="0">
                <a:solidFill>
                  <a:srgbClr val="1A1A1A"/>
                </a:solidFill>
                <a:latin typeface="Arial"/>
              </a:rPr>
              <a:t>Only significant inflection points are used: those associated with above average volume.</a:t>
            </a:r>
          </a:p>
        </p:txBody>
      </p:sp>
      <p:sp>
        <p:nvSpPr>
          <p:cNvPr id="10" name="Rectangle 9"/>
          <p:cNvSpPr/>
          <p:nvPr/>
        </p:nvSpPr>
        <p:spPr>
          <a:xfrm>
            <a:off x="777240" y="3082036"/>
            <a:ext cx="10637215" cy="19202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9202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Figure 6.22, how is the volume threshold drawn?</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By visual inspection, so only the most significant peaks reach it</a:t>
            </a:r>
          </a:p>
          <a:p>
            <a:pPr algn="l">
              <a:lnSpc>
                <a:spcPct val="115000"/>
              </a:lnSpc>
              <a:spcBef>
                <a:spcPts val="700"/>
              </a:spcBef>
              <a:spcAft>
                <a:spcPts val="0"/>
              </a:spcAft>
            </a:pPr>
            <a:r>
              <a:rPr sz="1600" b="0" i="0">
                <a:solidFill>
                  <a:srgbClr val="1A1A1A"/>
                </a:solidFill>
                <a:latin typeface="Arial"/>
              </a:rPr>
              <a:t>The book draws a simple tick volume overextension level by visual inspection.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Absolute volume is not as important as relative volume: the change in volume tells the most.</a:t>
            </a:r>
          </a:p>
          <a:p>
            <a:pPr algn="l">
              <a:lnSpc>
                <a:spcPct val="105000"/>
              </a:lnSpc>
              <a:spcBef>
                <a:spcPts val="0"/>
              </a:spcBef>
              <a:spcAft>
                <a:spcPts val="1100"/>
              </a:spcAft>
            </a:pPr>
            <a:r>
              <a:rPr sz="1700" b="0" i="0">
                <a:solidFill>
                  <a:srgbClr val="1A1A1A"/>
                </a:solidFill>
                <a:latin typeface="Arial"/>
              </a:rPr>
              <a:t>Rising and declining volume show interest at various prices, and whether a trend is bullish or bearish.</a:t>
            </a:r>
          </a:p>
          <a:p>
            <a:pPr algn="l">
              <a:lnSpc>
                <a:spcPct val="105000"/>
              </a:lnSpc>
              <a:spcBef>
                <a:spcPts val="0"/>
              </a:spcBef>
              <a:spcAft>
                <a:spcPts val="1100"/>
              </a:spcAft>
            </a:pPr>
            <a:r>
              <a:rPr sz="1700" b="0" i="0">
                <a:solidFill>
                  <a:srgbClr val="1A1A1A"/>
                </a:solidFill>
                <a:latin typeface="Arial"/>
              </a:rPr>
              <a:t>Volume overextensions, historical peaks and troughs, give a reference for future tops and bottoms.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The chart is ours, on invented prices: a trend that persists on flat volume.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18</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Holding on to a losing position rather than selling it at a loss, hoping it comes back.</a:t>
            </a:r>
          </a:p>
        </p:txBody>
      </p:sp>
      <p:sp>
        <p:nvSpPr>
          <p:cNvPr id="10" name="Rectangle 9"/>
          <p:cNvSpPr/>
          <p:nvPr/>
        </p:nvSpPr>
        <p:spPr>
          <a:xfrm>
            <a:off x="777240" y="3264407"/>
            <a:ext cx="64008" cy="7498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76072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Bought at PHP 50, now PHP 38: you hold, waiting for PHP 50. You do not sell, so you add no volume.</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Loss aversion: holding on in a falling market adds nothing to its trading.</a:t>
            </a:r>
          </a:p>
          <a:p>
            <a:pPr algn="l">
              <a:lnSpc>
                <a:spcPct val="105000"/>
              </a:lnSpc>
              <a:spcBef>
                <a:spcPts val="0"/>
              </a:spcBef>
              <a:spcAft>
                <a:spcPts val="1100"/>
              </a:spcAft>
            </a:pPr>
            <a:r>
              <a:rPr sz="1800" b="0" i="0">
                <a:solidFill>
                  <a:srgbClr val="1A1A1A"/>
                </a:solidFill>
                <a:latin typeface="Arial"/>
              </a:rPr>
              <a:t>In a rising market, investors and traders can use house money, their profit, to fund new positions.</a:t>
            </a:r>
          </a:p>
          <a:p>
            <a:pPr algn="l">
              <a:lnSpc>
                <a:spcPct val="105000"/>
              </a:lnSpc>
              <a:spcBef>
                <a:spcPts val="0"/>
              </a:spcBef>
              <a:spcAft>
                <a:spcPts val="1100"/>
              </a:spcAft>
            </a:pPr>
            <a:r>
              <a:rPr sz="1800" b="0" i="0">
                <a:solidFill>
                  <a:srgbClr val="1A1A1A"/>
                </a:solidFill>
                <a:latin typeface="Arial"/>
              </a:rPr>
              <a:t>More investment funds market their services in a bull market, drawing in more investors.</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So a bull market tends to trade more than a bear market.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y.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is ours, on invented prices.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Finding potential price rejection levels at significant or historical prices.</a:t>
            </a:r>
          </a:p>
          <a:p>
            <a:pPr algn="l">
              <a:lnSpc>
                <a:spcPct val="105000"/>
              </a:lnSpc>
              <a:spcBef>
                <a:spcPts val="0"/>
              </a:spcBef>
              <a:spcAft>
                <a:spcPts val="1100"/>
              </a:spcAft>
            </a:pPr>
            <a:r>
              <a:rPr sz="1700" b="0" i="0">
                <a:solidFill>
                  <a:srgbClr val="1A1A1A"/>
                </a:solidFill>
                <a:latin typeface="Arial"/>
              </a:rPr>
              <a:t>Comparing participation across stocks, sectors, industries or commodities, in search of greater liquidity.</a:t>
            </a:r>
          </a:p>
          <a:p>
            <a:pPr algn="l">
              <a:lnSpc>
                <a:spcPct val="105000"/>
              </a:lnSpc>
              <a:spcBef>
                <a:spcPts val="0"/>
              </a:spcBef>
              <a:spcAft>
                <a:spcPts val="1100"/>
              </a:spcAft>
            </a:pPr>
            <a:r>
              <a:rPr sz="1700" b="0" i="0">
                <a:solidFill>
                  <a:srgbClr val="1A1A1A"/>
                </a:solidFill>
                <a:latin typeface="Arial"/>
              </a:rPr>
              <a:t>Total turnover against the shares outstanding: the absolute level of participation in a stock.</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Relative volume reads a trend. Absolute volume compares markets.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Price rejection: a Chapter 3 term. Liquidity: the book's word, not defined here.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z.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the traditional meaning of volume.</a:t>
            </a:r>
          </a:p>
          <a:p>
            <a:pPr algn="l">
              <a:lnSpc>
                <a:spcPct val="118000"/>
              </a:lnSpc>
              <a:spcBef>
                <a:spcPts val="0"/>
              </a:spcBef>
              <a:spcAft>
                <a:spcPts val="1300"/>
              </a:spcAft>
            </a:pPr>
            <a:r>
              <a:rPr sz="2100" b="0" i="0">
                <a:solidFill>
                  <a:srgbClr val="1A1A1A"/>
                </a:solidFill>
                <a:latin typeface="Arial"/>
              </a:rPr>
              <a:t>So the volume traders read may not be totally indicative of true volume action in the classical sense.</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read as participation assumes the trades are people taking part in the move.</a:t>
            </a:r>
          </a:p>
        </p:txBody>
      </p:sp>
      <p:sp>
        <p:nvSpPr>
          <p:cNvPr id="10" name="TextBox 9"/>
          <p:cNvSpPr txBox="1"/>
          <p:nvPr/>
        </p:nvSpPr>
        <p:spPr>
          <a:xfrm>
            <a:off x="777240" y="492810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Chapter 1: program trading is machines trading in ways humans cannot replicate. The book gives no remedy for the distortion.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book explains none of them here.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Relative and absolute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which gives the most information about potential price action?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Absolute volume</a:t>
            </a:r>
          </a:p>
          <a:p>
            <a:pPr algn="l">
              <a:lnSpc>
                <a:spcPct val="112000"/>
              </a:lnSpc>
              <a:spcBef>
                <a:spcPts val="0"/>
              </a:spcBef>
              <a:spcAft>
                <a:spcPts val="900"/>
              </a:spcAft>
            </a:pPr>
            <a:r>
              <a:rPr sz="1500" b="0" i="0">
                <a:solidFill>
                  <a:srgbClr val="FFFFFF"/>
                </a:solidFill>
                <a:latin typeface="Arial"/>
              </a:rPr>
              <a:t>B.  The change in volume</a:t>
            </a:r>
          </a:p>
          <a:p>
            <a:pPr algn="l">
              <a:lnSpc>
                <a:spcPct val="112000"/>
              </a:lnSpc>
              <a:spcBef>
                <a:spcPts val="0"/>
              </a:spcBef>
              <a:spcAft>
                <a:spcPts val="900"/>
              </a:spcAft>
            </a:pPr>
            <a:r>
              <a:rPr sz="1500" b="0" i="0">
                <a:solidFill>
                  <a:srgbClr val="FFFFFF"/>
                </a:solidFill>
                <a:latin typeface="Arial"/>
              </a:rPr>
              <a:t>C.  Turnover against shares outstanding</a:t>
            </a:r>
          </a:p>
          <a:p>
            <a:pPr algn="l">
              <a:lnSpc>
                <a:spcPct val="112000"/>
              </a:lnSpc>
              <a:spcBef>
                <a:spcPts val="0"/>
              </a:spcBef>
              <a:spcAft>
                <a:spcPts val="900"/>
              </a:spcAft>
            </a:pPr>
            <a:r>
              <a:rPr sz="1500" b="0" i="0">
                <a:solidFill>
                  <a:srgbClr val="FFFFFF"/>
                </a:solidFill>
                <a:latin typeface="Arial"/>
              </a:rPr>
              <a:t>D.  Tick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investor holds a losing share, believing an unrealized loss is not a real loss.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House money</a:t>
            </a:r>
          </a:p>
          <a:p>
            <a:pPr algn="l">
              <a:lnSpc>
                <a:spcPct val="112000"/>
              </a:lnSpc>
              <a:spcBef>
                <a:spcPts val="0"/>
              </a:spcBef>
              <a:spcAft>
                <a:spcPts val="900"/>
              </a:spcAft>
            </a:pPr>
            <a:r>
              <a:rPr sz="1500" b="0" i="0">
                <a:solidFill>
                  <a:srgbClr val="FFFFFF"/>
                </a:solidFill>
                <a:latin typeface="Arial"/>
              </a:rPr>
              <a:t>B.  A low volume reversal</a:t>
            </a:r>
          </a:p>
          <a:p>
            <a:pPr algn="l">
              <a:lnSpc>
                <a:spcPct val="112000"/>
              </a:lnSpc>
              <a:spcBef>
                <a:spcPts val="0"/>
              </a:spcBef>
              <a:spcAft>
                <a:spcPts val="900"/>
              </a:spcAft>
            </a:pPr>
            <a:r>
              <a:rPr sz="1500" b="0" i="0">
                <a:solidFill>
                  <a:srgbClr val="FFFFFF"/>
                </a:solidFill>
                <a:latin typeface="Arial"/>
              </a:rPr>
              <a:t>C.  A volume distortion</a:t>
            </a:r>
          </a:p>
          <a:p>
            <a:pPr algn="l">
              <a:lnSpc>
                <a:spcPct val="112000"/>
              </a:lnSpc>
              <a:spcBef>
                <a:spcPts val="0"/>
              </a:spcBef>
              <a:spcAft>
                <a:spcPts val="900"/>
              </a:spcAft>
            </a:pPr>
            <a:r>
              <a:rPr sz="1500" b="0" i="0">
                <a:solidFill>
                  <a:srgbClr val="FFFFFF"/>
                </a:solidFill>
                <a:latin typeface="Arial"/>
              </a:rPr>
              <a:t>D.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10</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Relative and absolute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which gives the most information about potential price action?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change in volume</a:t>
            </a:r>
          </a:p>
          <a:p>
            <a:pPr algn="l">
              <a:lnSpc>
                <a:spcPct val="115000"/>
              </a:lnSpc>
              <a:spcBef>
                <a:spcPts val="700"/>
              </a:spcBef>
              <a:spcAft>
                <a:spcPts val="0"/>
              </a:spcAft>
            </a:pPr>
            <a:r>
              <a:rPr sz="1600" b="0" i="0">
                <a:solidFill>
                  <a:srgbClr val="1A1A1A"/>
                </a:solidFill>
                <a:latin typeface="Arial"/>
              </a:rPr>
              <a:t>Absolute volume is not as important as relative volume: it is the change in volume that gives the most information.</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investor holds a losing share, believing an unrealized loss is not a real loss. The book calls this: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Loss aversion bias</a:t>
            </a:r>
          </a:p>
          <a:p>
            <a:pPr algn="l">
              <a:lnSpc>
                <a:spcPct val="115000"/>
              </a:lnSpc>
              <a:spcBef>
                <a:spcPts val="700"/>
              </a:spcBef>
              <a:spcAft>
                <a:spcPts val="0"/>
              </a:spcAft>
            </a:pPr>
            <a:r>
              <a:rPr sz="1600" b="0" i="0">
                <a:solidFill>
                  <a:srgbClr val="1A1A1A"/>
                </a:solidFill>
                <a:latin typeface="Arial"/>
              </a:rPr>
              <a:t>Holding losing positions in hope of breakeven, treating unrealized losses as not real, is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10</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many futures or options contracts are still open: each a long and a short, not yet closed.</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Day 1: A buys 1 from B, both new: 1. Day 2: C buys 2 from D: 3. Day 3: A sells to E: still 3. Day 4: D buys 2 back from C: 1.</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Open interest shows interest in a rise or a fall; its divergence reads as for non-price-based volume.</a:t>
            </a:r>
          </a:p>
          <a:p>
            <a:pPr algn="l">
              <a:lnSpc>
                <a:spcPct val="105000"/>
              </a:lnSpc>
              <a:spcBef>
                <a:spcPts val="0"/>
              </a:spcBef>
              <a:spcAft>
                <a:spcPts val="1100"/>
              </a:spcAft>
            </a:pPr>
            <a:r>
              <a:rPr sz="1800" b="0" i="0">
                <a:solidFill>
                  <a:srgbClr val="1A1A1A"/>
                </a:solidFill>
                <a:latin typeface="Arial"/>
              </a:rPr>
              <a:t>All rising: bullish, buying. Price up, both down: bearish, shorts covering, longs leaving.</a:t>
            </a:r>
          </a:p>
          <a:p>
            <a:pPr algn="l">
              <a:lnSpc>
                <a:spcPct val="105000"/>
              </a:lnSpc>
              <a:spcBef>
                <a:spcPts val="0"/>
              </a:spcBef>
              <a:spcAft>
                <a:spcPts val="1100"/>
              </a:spcAft>
            </a:pPr>
            <a:r>
              <a:rPr sz="1800" b="0" i="0">
                <a:solidFill>
                  <a:srgbClr val="1A1A1A"/>
                </a:solidFill>
                <a:latin typeface="Arial"/>
              </a:rPr>
              <a:t>Price down, both up: bearish, short selling. All falling: bullish, selling drying up.</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With price, bullish; against it, bearish.</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18</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open interest and volume all rising: look for buy signals.</a:t>
            </a:r>
          </a:p>
          <a:p>
            <a:pPr algn="l">
              <a:lnSpc>
                <a:spcPct val="105000"/>
              </a:lnSpc>
              <a:spcBef>
                <a:spcPts val="0"/>
              </a:spcBef>
              <a:spcAft>
                <a:spcPts val="1100"/>
              </a:spcAft>
            </a:pPr>
            <a:r>
              <a:rPr sz="1800" b="0" i="0">
                <a:solidFill>
                  <a:srgbClr val="1A1A1A"/>
                </a:solidFill>
                <a:latin typeface="Arial"/>
              </a:rPr>
              <a:t>Rising price on declining open interest and volume: look to exit, liquidating longs.</a:t>
            </a:r>
          </a:p>
          <a:p>
            <a:pPr algn="l">
              <a:lnSpc>
                <a:spcPct val="105000"/>
              </a:lnSpc>
              <a:spcBef>
                <a:spcPts val="0"/>
              </a:spcBef>
              <a:spcAft>
                <a:spcPts val="1100"/>
              </a:spcAft>
            </a:pPr>
            <a:r>
              <a:rPr sz="1800" b="0" i="0">
                <a:solidFill>
                  <a:srgbClr val="1A1A1A"/>
                </a:solidFill>
                <a:latin typeface="Arial"/>
              </a:rPr>
              <a:t>Declining market, open interest and volume rising: look to go short. When both start to decline together: rapidly cover all shorts.</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64739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6.24: volume confirms silver's rise at 1, but open interest diverges at 2. Many longs are liquidating; silver then retraced significantly.</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Go long, liquidate, go short and cover are Chapter 1 terms.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level of open interest may indicate the nature of a potential reversal or breakout.</a:t>
            </a:r>
          </a:p>
          <a:p>
            <a:pPr algn="l">
              <a:lnSpc>
                <a:spcPct val="105000"/>
              </a:lnSpc>
              <a:spcBef>
                <a:spcPts val="0"/>
              </a:spcBef>
              <a:spcAft>
                <a:spcPts val="1100"/>
              </a:spcAft>
            </a:pPr>
            <a:r>
              <a:rPr sz="2000" b="0" i="0">
                <a:solidFill>
                  <a:srgbClr val="1A1A1A"/>
                </a:solidFill>
                <a:latin typeface="Arial"/>
              </a:rPr>
              <a:t>If open interest is very high, the reversal that follows may be significantly more rapid.</a:t>
            </a:r>
          </a:p>
        </p:txBody>
      </p:sp>
      <p:sp>
        <p:nvSpPr>
          <p:cNvPr id="8" name="Rectangle 7"/>
          <p:cNvSpPr/>
          <p:nvPr/>
        </p:nvSpPr>
        <p:spPr>
          <a:xfrm>
            <a:off x="777240" y="441655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reason: a large number of open contracts liquidating and covering at once.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Open interest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with a long futures contract sells it to a new buyer, who takes over the long. Open interest: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Increases by one</a:t>
            </a:r>
          </a:p>
          <a:p>
            <a:pPr algn="l">
              <a:lnSpc>
                <a:spcPct val="112000"/>
              </a:lnSpc>
              <a:spcBef>
                <a:spcPts val="0"/>
              </a:spcBef>
              <a:spcAft>
                <a:spcPts val="900"/>
              </a:spcAft>
            </a:pPr>
            <a:r>
              <a:rPr sz="1500" b="0" i="0">
                <a:solidFill>
                  <a:srgbClr val="FFFFFF"/>
                </a:solidFill>
                <a:latin typeface="Arial"/>
              </a:rPr>
              <a:t>B.  Decreases by one</a:t>
            </a:r>
          </a:p>
          <a:p>
            <a:pPr algn="l">
              <a:lnSpc>
                <a:spcPct val="112000"/>
              </a:lnSpc>
              <a:spcBef>
                <a:spcPts val="0"/>
              </a:spcBef>
              <a:spcAft>
                <a:spcPts val="900"/>
              </a:spcAft>
            </a:pPr>
            <a:r>
              <a:rPr sz="1500" b="0" i="0">
                <a:solidFill>
                  <a:srgbClr val="FFFFFF"/>
                </a:solidFill>
                <a:latin typeface="Arial"/>
              </a:rPr>
              <a:t>C.  Stays unchanged</a:t>
            </a:r>
          </a:p>
          <a:p>
            <a:pPr algn="l">
              <a:lnSpc>
                <a:spcPct val="112000"/>
              </a:lnSpc>
              <a:spcBef>
                <a:spcPts val="0"/>
              </a:spcBef>
              <a:spcAft>
                <a:spcPts val="900"/>
              </a:spcAft>
            </a:pPr>
            <a:r>
              <a:rPr sz="1500" b="0" i="0">
                <a:solidFill>
                  <a:srgbClr val="FFFFFF"/>
                </a:solidFill>
                <a:latin typeface="Arial"/>
              </a:rPr>
              <a:t>D.  Doubles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Prices are rising while volume and open interest are both declining. The book reads this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shorts covering and longs leaving the market</a:t>
            </a:r>
          </a:p>
          <a:p>
            <a:pPr algn="l">
              <a:lnSpc>
                <a:spcPct val="112000"/>
              </a:lnSpc>
              <a:spcBef>
                <a:spcPts val="0"/>
              </a:spcBef>
              <a:spcAft>
                <a:spcPts val="900"/>
              </a:spcAft>
            </a:pPr>
            <a:r>
              <a:rPr sz="1500" b="0" i="0">
                <a:solidFill>
                  <a:srgbClr val="FFFFFF"/>
                </a:solidFill>
                <a:latin typeface="Arial"/>
              </a:rPr>
              <a:t>B.  Bullish: buying pressure</a:t>
            </a:r>
          </a:p>
          <a:p>
            <a:pPr algn="l">
              <a:lnSpc>
                <a:spcPct val="112000"/>
              </a:lnSpc>
              <a:spcBef>
                <a:spcPts val="0"/>
              </a:spcBef>
              <a:spcAft>
                <a:spcPts val="900"/>
              </a:spcAft>
            </a:pPr>
            <a:r>
              <a:rPr sz="1500" b="0" i="0">
                <a:solidFill>
                  <a:srgbClr val="FFFFFF"/>
                </a:solidFill>
                <a:latin typeface="Arial"/>
              </a:rPr>
              <a:t>C.  Bearish: short selling</a:t>
            </a:r>
          </a:p>
          <a:p>
            <a:pPr algn="l">
              <a:lnSpc>
                <a:spcPct val="112000"/>
              </a:lnSpc>
              <a:spcBef>
                <a:spcPts val="0"/>
              </a:spcBef>
              <a:spcAft>
                <a:spcPts val="900"/>
              </a:spcAft>
            </a:pPr>
            <a:r>
              <a:rPr sz="1500" b="0" i="0">
                <a:solidFill>
                  <a:srgbClr val="FFFFFF"/>
                </a:solidFill>
                <a:latin typeface="Arial"/>
              </a:rPr>
              <a:t>D.  Bullish: liquidation drying up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Open interest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with a long futures contract sells it to a new buyer, who takes over the long. Open interest: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Stays unchanged</a:t>
            </a:r>
          </a:p>
          <a:p>
            <a:pPr algn="l">
              <a:lnSpc>
                <a:spcPct val="115000"/>
              </a:lnSpc>
              <a:spcBef>
                <a:spcPts val="700"/>
              </a:spcBef>
              <a:spcAft>
                <a:spcPts val="0"/>
              </a:spcAft>
            </a:pPr>
            <a:r>
              <a:rPr sz="1600" b="0" i="0">
                <a:solidFill>
                  <a:srgbClr val="1A1A1A"/>
                </a:solidFill>
                <a:latin typeface="Arial"/>
              </a:rPr>
              <a:t>Open interest is unchanged when one side is replaced by a new position, but not both.</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Prices are rising while volume and open interest are both declining. The book reads this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Bearish: shorts covering and longs leaving the market</a:t>
            </a:r>
          </a:p>
          <a:p>
            <a:pPr algn="l">
              <a:lnSpc>
                <a:spcPct val="115000"/>
              </a:lnSpc>
              <a:spcBef>
                <a:spcPts val="700"/>
              </a:spcBef>
              <a:spcAft>
                <a:spcPts val="0"/>
              </a:spcAft>
            </a:pPr>
            <a:r>
              <a:rPr sz="1600" b="0" i="0">
                <a:solidFill>
                  <a:srgbClr val="1A1A1A"/>
                </a:solidFill>
                <a:latin typeface="Arial"/>
              </a:rPr>
              <a:t>Rising prices on declining volume and open interest are bearish, driven by shorts covering and longs leaving.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count of trades, not of shares. Met in Chapter 1's caption; Chapter 3's tick chart counts the same.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Part 1's five trades of 0.1 to 1.2 million shares: volume 2.4 million shares, tick volume 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many stocks rose over how many fell, divided by the volume in risers over the volume in fallers.</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1,500 advances and 1,000 declines: 1.5. Up volume 600 million, down volume 800 million: 0.75. TRIN = 1.5 divided by 0.75 = 2.0.</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18</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Short term: a rising, not overbought tick with a falling, not oversold TRIN: bullish; the converse bearish.</a:t>
            </a:r>
          </a:p>
          <a:p>
            <a:pPr algn="l">
              <a:lnSpc>
                <a:spcPct val="105000"/>
              </a:lnSpc>
              <a:spcBef>
                <a:spcPts val="0"/>
              </a:spcBef>
              <a:spcAft>
                <a:spcPts val="1100"/>
              </a:spcAft>
            </a:pPr>
            <a:r>
              <a:rPr sz="1700" b="0" i="0">
                <a:solidFill>
                  <a:srgbClr val="1A1A1A"/>
                </a:solidFill>
                <a:latin typeface="Arial"/>
              </a:rPr>
              <a:t>Longer term: tick oversold, above its weekly two-sigma level, with TRIN overbought, near or above 3.0 daily: bullish.</a:t>
            </a:r>
          </a:p>
          <a:p>
            <a:pPr algn="l">
              <a:lnSpc>
                <a:spcPct val="105000"/>
              </a:lnSpc>
              <a:spcBef>
                <a:spcPts val="0"/>
              </a:spcBef>
              <a:spcAft>
                <a:spcPts val="1100"/>
              </a:spcAft>
            </a:pPr>
            <a:r>
              <a:rPr sz="1700" b="0" i="0">
                <a:solidFill>
                  <a:srgbClr val="1A1A1A"/>
                </a:solidFill>
                <a:latin typeface="Arial"/>
              </a:rPr>
              <a:t>Figure 6.25, 1-minute: tick and TRIN both oversold. Short-term bullish; the index rose.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2910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text: a bullish TRIN is overbought. The figure: oversold.</a:t>
            </a:r>
          </a:p>
        </p:txBody>
      </p:sp>
      <p:sp>
        <p:nvSpPr>
          <p:cNvPr id="10" name="TextBox 9"/>
          <p:cNvSpPr txBox="1"/>
          <p:nvPr/>
        </p:nvSpPr>
        <p:spPr>
          <a:xfrm>
            <a:off x="777240" y="5461254"/>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these rules no reasons, does not say how to read one value such as 2.0, and never says what this tick measures. No check rests on them.</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caption says daily; the chart and the text say 1-minute. The book never says what its tick measures.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short-term downtrend in the S&amp;P 500 with a bearish rising TRIN.</a:t>
            </a:r>
          </a:p>
          <a:p>
            <a:pPr algn="l">
              <a:lnSpc>
                <a:spcPct val="105000"/>
              </a:lnSpc>
              <a:spcBef>
                <a:spcPts val="0"/>
              </a:spcBef>
              <a:spcAft>
                <a:spcPts val="1100"/>
              </a:spcAft>
            </a:pPr>
            <a:r>
              <a:rPr sz="2000" b="0" i="0">
                <a:solidFill>
                  <a:srgbClr val="1A1A1A"/>
                </a:solidFill>
                <a:latin typeface="Arial"/>
              </a:rPr>
              <a:t>The tick is largely absent of activity between 1:45 p.m. and 2:45 p.m.</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Together, a short-term bearish signal.</a:t>
            </a:r>
          </a:p>
        </p:txBody>
      </p:sp>
      <p:sp>
        <p:nvSpPr>
          <p:cNvPr id="10" name="TextBox 9"/>
          <p:cNvSpPr txBox="1"/>
          <p:nvPr/>
        </p:nvSpPr>
        <p:spPr>
          <a:xfrm>
            <a:off x="777240" y="476402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other tick labels, such as balanced tick action, are not explained by the book.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Tick volume and the TRIN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trade of 1,000 contracts and one trade of 1 contract are made. Tick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1,001</a:t>
            </a:r>
          </a:p>
          <a:p>
            <a:pPr algn="l">
              <a:lnSpc>
                <a:spcPct val="112000"/>
              </a:lnSpc>
              <a:spcBef>
                <a:spcPts val="0"/>
              </a:spcBef>
              <a:spcAft>
                <a:spcPts val="900"/>
              </a:spcAft>
            </a:pPr>
            <a:r>
              <a:rPr sz="1500" b="0" i="0">
                <a:solidFill>
                  <a:srgbClr val="FFFFFF"/>
                </a:solidFill>
                <a:latin typeface="Arial"/>
              </a:rPr>
              <a:t>B.  1,000</a:t>
            </a:r>
          </a:p>
          <a:p>
            <a:pPr algn="l">
              <a:lnSpc>
                <a:spcPct val="112000"/>
              </a:lnSpc>
              <a:spcBef>
                <a:spcPts val="0"/>
              </a:spcBef>
              <a:spcAft>
                <a:spcPts val="900"/>
              </a:spcAft>
            </a:pPr>
            <a:r>
              <a:rPr sz="1500" b="0" i="0">
                <a:solidFill>
                  <a:srgbClr val="FFFFFF"/>
                </a:solidFill>
                <a:latin typeface="Arial"/>
              </a:rPr>
              <a:t>C.  1</a:t>
            </a:r>
          </a:p>
          <a:p>
            <a:pPr algn="l">
              <a:lnSpc>
                <a:spcPct val="112000"/>
              </a:lnSpc>
              <a:spcBef>
                <a:spcPts val="0"/>
              </a:spcBef>
              <a:spcAft>
                <a:spcPts val="900"/>
              </a:spcAft>
            </a:pPr>
            <a:r>
              <a:rPr sz="1500" b="0" i="0">
                <a:solidFill>
                  <a:srgbClr val="FFFFFF"/>
                </a:solidFill>
                <a:latin typeface="Arial"/>
              </a:rPr>
              <a:t>D.  2</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Advances 1,200, declines 800, up volume 900 million, down volume 600 million. The TRIN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a:t>
            </a:r>
          </a:p>
          <a:p>
            <a:pPr algn="l">
              <a:lnSpc>
                <a:spcPct val="112000"/>
              </a:lnSpc>
              <a:spcBef>
                <a:spcPts val="0"/>
              </a:spcBef>
              <a:spcAft>
                <a:spcPts val="900"/>
              </a:spcAft>
            </a:pPr>
            <a:r>
              <a:rPr sz="1500" b="0" i="0">
                <a:solidFill>
                  <a:srgbClr val="FFFFFF"/>
                </a:solidFill>
                <a:latin typeface="Arial"/>
              </a:rPr>
              <a:t>B.  1.5</a:t>
            </a:r>
          </a:p>
          <a:p>
            <a:pPr algn="l">
              <a:lnSpc>
                <a:spcPct val="112000"/>
              </a:lnSpc>
              <a:spcBef>
                <a:spcPts val="0"/>
              </a:spcBef>
              <a:spcAft>
                <a:spcPts val="900"/>
              </a:spcAft>
            </a:pPr>
            <a:r>
              <a:rPr sz="1500" b="0" i="0">
                <a:solidFill>
                  <a:srgbClr val="FFFFFF"/>
                </a:solidFill>
                <a:latin typeface="Arial"/>
              </a:rPr>
              <a:t>C.  2.25</a:t>
            </a:r>
          </a:p>
          <a:p>
            <a:pPr algn="l">
              <a:lnSpc>
                <a:spcPct val="112000"/>
              </a:lnSpc>
              <a:spcBef>
                <a:spcPts val="0"/>
              </a:spcBef>
              <a:spcAft>
                <a:spcPts val="900"/>
              </a:spcAft>
            </a:pPr>
            <a:r>
              <a:rPr sz="1500" b="0" i="0">
                <a:solidFill>
                  <a:srgbClr val="FFFFFF"/>
                </a:solidFill>
                <a:latin typeface="Arial"/>
              </a:rPr>
              <a:t>D.  0.67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12</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Tick volume and the TRIN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One trade of 1,000 contracts and one trade of 1 contract are made. Tick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2</a:t>
            </a:r>
          </a:p>
          <a:p>
            <a:pPr algn="l">
              <a:lnSpc>
                <a:spcPct val="115000"/>
              </a:lnSpc>
              <a:spcBef>
                <a:spcPts val="700"/>
              </a:spcBef>
              <a:spcAft>
                <a:spcPts val="0"/>
              </a:spcAft>
            </a:pPr>
            <a:r>
              <a:rPr sz="1600" b="0" i="0">
                <a:solidFill>
                  <a:srgbClr val="1A1A1A"/>
                </a:solidFill>
                <a:latin typeface="Arial"/>
              </a:rPr>
              <a:t>One tick represents one trade, whatever its size: two trades, a tick volume of 2.</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Advances 1,200, declines 800, up volume 900 million, down volume 600 million. The TRIN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1.0</a:t>
            </a:r>
          </a:p>
          <a:p>
            <a:pPr algn="l">
              <a:lnSpc>
                <a:spcPct val="115000"/>
              </a:lnSpc>
              <a:spcBef>
                <a:spcPts val="700"/>
              </a:spcBef>
              <a:spcAft>
                <a:spcPts val="0"/>
              </a:spcAft>
            </a:pPr>
            <a:r>
              <a:rPr sz="1600" b="0" i="0">
                <a:solidFill>
                  <a:srgbClr val="1A1A1A"/>
                </a:solidFill>
                <a:latin typeface="Arial"/>
              </a:rPr>
              <a:t>(1,200 / 800) / (900 / 600) = 1.5 / 1.5 = 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12</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18</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different split from the tick and the TRIN: not a breadth count, but one share count sliced two ways. By time: the usual bars, one a period. By price: sideways bars, one per price level.</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 chart, 100 days: 68 million shares at PHP 48 to 50, 12 million at PHP 54 to 56. The longest sideways bar: PHP 48 to 50.</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large volume turnover around the $17 price level in the iShares Silver Trust.</a:t>
            </a:r>
          </a:p>
          <a:p>
            <a:pPr algn="l">
              <a:lnSpc>
                <a:spcPct val="105000"/>
              </a:lnSpc>
              <a:spcBef>
                <a:spcPts val="0"/>
              </a:spcBef>
              <a:spcAft>
                <a:spcPts val="1100"/>
              </a:spcAft>
            </a:pPr>
            <a:r>
              <a:rPr sz="2000" b="0" i="0">
                <a:solidFill>
                  <a:srgbClr val="1A1A1A"/>
                </a:solidFill>
                <a:latin typeface="Arial"/>
              </a:rPr>
              <a:t>So $17 represents a significant support.</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This is not obvious from conventional volume bar action.</a:t>
            </a:r>
          </a:p>
        </p:txBody>
      </p:sp>
      <p:sp>
        <p:nvSpPr>
          <p:cNvPr id="10" name="TextBox 9"/>
          <p:cNvSpPr txBox="1"/>
          <p:nvPr/>
        </p:nvSpPr>
        <p:spPr>
          <a:xfrm>
            <a:off x="777240" y="508406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called this price-based volume; it is not Part 1's price-based oscillators. The figure's top panel is an oscillator the book does not discuss.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 lot of volume turnover between $77 and $86 on the daily chart of 3M.</a:t>
            </a:r>
          </a:p>
          <a:p>
            <a:pPr algn="l">
              <a:lnSpc>
                <a:spcPct val="105000"/>
              </a:lnSpc>
              <a:spcBef>
                <a:spcPts val="0"/>
              </a:spcBef>
              <a:spcAft>
                <a:spcPts val="1100"/>
              </a:spcAft>
            </a:pPr>
            <a:r>
              <a:rPr sz="1900" b="0" i="0">
                <a:solidFill>
                  <a:srgbClr val="1A1A1A"/>
                </a:solidFill>
                <a:latin typeface="Arial"/>
              </a:rPr>
              <a:t>This is the most traded range, with some resistance at the $90 to $92 level.</a:t>
            </a:r>
          </a:p>
        </p:txBody>
      </p:sp>
      <p:sp>
        <p:nvSpPr>
          <p:cNvPr id="8" name="Rectangle 7"/>
          <p:cNvSpPr/>
          <p:nvPr/>
        </p:nvSpPr>
        <p:spPr>
          <a:xfrm>
            <a:off x="777240" y="3712463"/>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749039"/>
            <a:ext cx="46451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These price ranges are potential future support and resistance levels.</a:t>
            </a:r>
          </a:p>
        </p:txBody>
      </p:sp>
      <p:sp>
        <p:nvSpPr>
          <p:cNvPr id="10" name="TextBox 9"/>
          <p:cNvSpPr txBox="1"/>
          <p:nvPr/>
        </p:nvSpPr>
        <p:spPr>
          <a:xfrm>
            <a:off x="777240" y="4974336"/>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also marks bearish confirmation, price falling on rising volume, and bearish divergence, price rising on falling volume: Part 1's names.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Locate the largest volume by price range.</a:t>
            </a:r>
          </a:p>
          <a:p>
            <a:pPr algn="l">
              <a:lnSpc>
                <a:spcPct val="105000"/>
              </a:lnSpc>
              <a:spcBef>
                <a:spcPts val="0"/>
              </a:spcBef>
              <a:spcAft>
                <a:spcPts val="1100"/>
              </a:spcAft>
            </a:pPr>
            <a:r>
              <a:rPr sz="1700" b="0" i="0">
                <a:solidFill>
                  <a:srgbClr val="1A1A1A"/>
                </a:solidFill>
                <a:latin typeface="Arial"/>
              </a:rPr>
              <a:t>2  Locate the largest volume by time intervals.</a:t>
            </a:r>
          </a:p>
          <a:p>
            <a:pPr algn="l">
              <a:lnSpc>
                <a:spcPct val="105000"/>
              </a:lnSpc>
              <a:spcBef>
                <a:spcPts val="0"/>
              </a:spcBef>
              <a:spcAft>
                <a:spcPts val="1100"/>
              </a:spcAft>
            </a:pPr>
            <a:r>
              <a:rPr sz="1700" b="0" i="0">
                <a:solidFill>
                  <a:srgbClr val="1A1A1A"/>
                </a:solidFill>
                <a:latin typeface="Arial"/>
              </a:rPr>
              <a:t>3  Find where the two intersect.</a:t>
            </a:r>
          </a:p>
          <a:p>
            <a:pPr algn="l">
              <a:lnSpc>
                <a:spcPct val="105000"/>
              </a:lnSpc>
              <a:spcBef>
                <a:spcPts val="0"/>
              </a:spcBef>
              <a:spcAft>
                <a:spcPts val="1100"/>
              </a:spcAft>
            </a:pPr>
            <a:r>
              <a:rPr sz="1700" b="0" i="0">
                <a:solidFill>
                  <a:srgbClr val="1A1A1A"/>
                </a:solidFill>
                <a:latin typeface="Arial"/>
              </a:rPr>
              <a:t>4  The closest peak above the intersection: resistance. The closest trough below: support.</a:t>
            </a:r>
          </a:p>
        </p:txBody>
      </p:sp>
      <p:sp>
        <p:nvSpPr>
          <p:cNvPr id="8" name="Rectangle 7"/>
          <p:cNvSpPr/>
          <p:nvPr/>
        </p:nvSpPr>
        <p:spPr>
          <a:xfrm>
            <a:off x="777240" y="418566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2224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Potentially the most significant and reliable support and resistance in the formation.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g.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The $74 to $80 range has the most significant volume by price.</a:t>
            </a:r>
          </a:p>
          <a:p>
            <a:pPr algn="l">
              <a:lnSpc>
                <a:spcPct val="105000"/>
              </a:lnSpc>
              <a:spcBef>
                <a:spcPts val="0"/>
              </a:spcBef>
              <a:spcAft>
                <a:spcPts val="1100"/>
              </a:spcAft>
            </a:pPr>
            <a:r>
              <a:rPr sz="1900" b="0" i="0">
                <a:solidFill>
                  <a:srgbClr val="1A1A1A"/>
                </a:solidFill>
                <a:latin typeface="Arial"/>
              </a:rPr>
              <a:t>2 and 3  The largest volume by time intervals cross it in two white boxes.</a:t>
            </a:r>
          </a:p>
          <a:p>
            <a:pPr algn="l">
              <a:lnSpc>
                <a:spcPct val="105000"/>
              </a:lnSpc>
              <a:spcBef>
                <a:spcPts val="0"/>
              </a:spcBef>
              <a:spcAft>
                <a:spcPts val="1100"/>
              </a:spcAft>
            </a:pPr>
            <a:r>
              <a:rPr sz="1900" b="0" i="0">
                <a:solidFill>
                  <a:srgbClr val="1A1A1A"/>
                </a:solidFill>
                <a:latin typeface="Arial"/>
              </a:rPr>
              <a:t>4  The closest peak above is resistance, the closest trough below is support.</a:t>
            </a:r>
          </a:p>
        </p:txBody>
      </p:sp>
      <p:sp>
        <p:nvSpPr>
          <p:cNvPr id="8" name="Rectangle 7"/>
          <p:cNvSpPr/>
          <p:nvPr/>
        </p:nvSpPr>
        <p:spPr>
          <a:xfrm>
            <a:off x="777240" y="4485132"/>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46451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Both levels act as effective barriers to price on the daily chart of 3M.</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Two-dimensional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by price identifies: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total volume over a time interval</a:t>
            </a:r>
          </a:p>
          <a:p>
            <a:pPr algn="l">
              <a:lnSpc>
                <a:spcPct val="112000"/>
              </a:lnSpc>
              <a:spcBef>
                <a:spcPts val="0"/>
              </a:spcBef>
              <a:spcAft>
                <a:spcPts val="900"/>
              </a:spcAft>
            </a:pPr>
            <a:r>
              <a:rPr sz="1500" b="0" i="0">
                <a:solidFill>
                  <a:srgbClr val="FFFFFF"/>
                </a:solidFill>
                <a:latin typeface="Arial"/>
              </a:rPr>
              <a:t>B.  The number of trades at each price</a:t>
            </a:r>
          </a:p>
          <a:p>
            <a:pPr algn="l">
              <a:lnSpc>
                <a:spcPct val="112000"/>
              </a:lnSpc>
              <a:spcBef>
                <a:spcPts val="0"/>
              </a:spcBef>
              <a:spcAft>
                <a:spcPts val="900"/>
              </a:spcAft>
            </a:pPr>
            <a:r>
              <a:rPr sz="1500" b="0" i="0">
                <a:solidFill>
                  <a:srgbClr val="FFFFFF"/>
                </a:solidFill>
                <a:latin typeface="Arial"/>
              </a:rPr>
              <a:t>C.  The total volume traded at each price level</a:t>
            </a:r>
          </a:p>
          <a:p>
            <a:pPr algn="l">
              <a:lnSpc>
                <a:spcPct val="112000"/>
              </a:lnSpc>
              <a:spcBef>
                <a:spcPts val="0"/>
              </a:spcBef>
              <a:spcAft>
                <a:spcPts val="900"/>
              </a:spcAft>
            </a:pPr>
            <a:r>
              <a:rPr sz="1500" b="0" i="0">
                <a:solidFill>
                  <a:srgbClr val="FFFFFF"/>
                </a:solidFill>
                <a:latin typeface="Arial"/>
              </a:rPr>
              <a:t>D.  The open interest at each price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book's two-dimensional method, the most significant resistance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highest price on the chart</a:t>
            </a:r>
          </a:p>
          <a:p>
            <a:pPr algn="l">
              <a:lnSpc>
                <a:spcPct val="112000"/>
              </a:lnSpc>
              <a:spcBef>
                <a:spcPts val="0"/>
              </a:spcBef>
              <a:spcAft>
                <a:spcPts val="900"/>
              </a:spcAft>
            </a:pPr>
            <a:r>
              <a:rPr sz="1500" b="0" i="0">
                <a:solidFill>
                  <a:srgbClr val="FFFFFF"/>
                </a:solidFill>
                <a:latin typeface="Arial"/>
              </a:rPr>
              <a:t>B.  The top of the largest volume by price range</a:t>
            </a:r>
          </a:p>
          <a:p>
            <a:pPr algn="l">
              <a:lnSpc>
                <a:spcPct val="112000"/>
              </a:lnSpc>
              <a:spcBef>
                <a:spcPts val="0"/>
              </a:spcBef>
              <a:spcAft>
                <a:spcPts val="900"/>
              </a:spcAft>
            </a:pPr>
            <a:r>
              <a:rPr sz="1500" b="0" i="0">
                <a:solidFill>
                  <a:srgbClr val="FFFFFF"/>
                </a:solidFill>
                <a:latin typeface="Arial"/>
              </a:rPr>
              <a:t>C.  The level of the largest volume by time bar</a:t>
            </a:r>
          </a:p>
          <a:p>
            <a:pPr algn="l">
              <a:lnSpc>
                <a:spcPct val="112000"/>
              </a:lnSpc>
              <a:spcBef>
                <a:spcPts val="0"/>
              </a:spcBef>
              <a:spcAft>
                <a:spcPts val="900"/>
              </a:spcAft>
            </a:pPr>
            <a:r>
              <a:rPr sz="1500" b="0" i="0">
                <a:solidFill>
                  <a:srgbClr val="FFFFFF"/>
                </a:solidFill>
                <a:latin typeface="Arial"/>
              </a:rPr>
              <a:t>D.  The closest peak above the area of intersection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Two-dimensional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Volume by price identifies: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total volume traded at each price level</a:t>
            </a:r>
          </a:p>
          <a:p>
            <a:pPr algn="l">
              <a:lnSpc>
                <a:spcPct val="115000"/>
              </a:lnSpc>
              <a:spcBef>
                <a:spcPts val="700"/>
              </a:spcBef>
              <a:spcAft>
                <a:spcPts val="0"/>
              </a:spcAft>
            </a:pPr>
            <a:r>
              <a:rPr sz="1600" b="0" i="0">
                <a:solidFill>
                  <a:srgbClr val="1A1A1A"/>
                </a:solidFill>
                <a:latin typeface="Arial"/>
              </a:rPr>
              <a:t>Volume by price identifies the total volume traded at each price level.</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book's two-dimensional method, the most significant resistance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closest peak above the area of intersection</a:t>
            </a:r>
          </a:p>
          <a:p>
            <a:pPr algn="l">
              <a:lnSpc>
                <a:spcPct val="115000"/>
              </a:lnSpc>
              <a:spcBef>
                <a:spcPts val="700"/>
              </a:spcBef>
              <a:spcAft>
                <a:spcPts val="0"/>
              </a:spcAft>
            </a:pPr>
            <a:r>
              <a:rPr sz="1600" b="0" i="0">
                <a:solidFill>
                  <a:srgbClr val="1A1A1A"/>
                </a:solidFill>
                <a:latin typeface="Arial"/>
              </a:rPr>
              <a:t>Locate the intersection of the largest volume by price and by time; the closest peak above it is the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13</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14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5's characteristic 15, volume spread action, set bar range against volume four ways.</a:t>
            </a:r>
          </a:p>
          <a:p>
            <a:pPr algn="l">
              <a:lnSpc>
                <a:spcPct val="105000"/>
              </a:lnSpc>
              <a:spcBef>
                <a:spcPts val="0"/>
              </a:spcBef>
              <a:spcAft>
                <a:spcPts val="1100"/>
              </a:spcAft>
            </a:pPr>
            <a:r>
              <a:rPr sz="1900" b="0" i="0">
                <a:solidFill>
                  <a:srgbClr val="1A1A1A"/>
                </a:solidFill>
                <a:latin typeface="Arial"/>
              </a:rPr>
              <a:t>Here the book uses the four to forecast potential breakouts and reversals, and names each bar.</a:t>
            </a:r>
          </a:p>
          <a:p>
            <a:pPr algn="l">
              <a:lnSpc>
                <a:spcPct val="105000"/>
              </a:lnSpc>
              <a:spcBef>
                <a:spcPts val="0"/>
              </a:spcBef>
              <a:spcAft>
                <a:spcPts val="1100"/>
              </a:spcAft>
            </a:pPr>
            <a:r>
              <a:rPr sz="1900" b="0" i="0">
                <a:solidFill>
                  <a:srgbClr val="1A1A1A"/>
                </a:solidFill>
                <a:latin typeface="Arial"/>
              </a:rPr>
              <a:t>Spread means bar range, as in Chapter 5: not Chapter 3's bid-ask spread.</a:t>
            </a:r>
          </a:p>
        </p:txBody>
      </p:sp>
      <p:sp>
        <p:nvSpPr>
          <p:cNvPr id="8" name="Rectangle 7"/>
          <p:cNvSpPr/>
          <p:nvPr/>
        </p:nvSpPr>
        <p:spPr>
          <a:xfrm>
            <a:off x="777240" y="4485132"/>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1081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Chapter 5's squat bar is the High Volume Reversal Bar.</a:t>
            </a:r>
          </a:p>
        </p:txBody>
      </p:sp>
      <p:sp>
        <p:nvSpPr>
          <p:cNvPr id="10" name="TextBox 9"/>
          <p:cNvSpPr txBox="1"/>
          <p:nvPr/>
        </p:nvSpPr>
        <p:spPr>
          <a:xfrm>
            <a:off x="777240" y="544220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6 reads two cases more strongly: both reversal bars. Chapter 5 called the large range on low volume only trend inhibiting.</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each an empty box for the bar range above a black box for the volume: 1 a short range on low volume, 2 a short range on high volume, 3 a tall range on low volume, 4 a tall range on high volume.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against this course's Chapter 5, characteristic 15. Spread is the book's word for bar range here.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for a bar's range against its volume: narrow or wide, on low or high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fast uptrend's usual bar is PHP 1.00 on 2 million shares. A PHP 0.20 bar on 5 million: narrow range on high volume.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High Volume Reversal Bar: strong reversal potential. Were the volume buying, the range would be wider: sellers are in control. Bearish in an uptrend, the converse in a downtrend.</a:t>
            </a:r>
          </a:p>
          <a:p>
            <a:pPr algn="l">
              <a:lnSpc>
                <a:spcPct val="105000"/>
              </a:lnSpc>
              <a:spcBef>
                <a:spcPts val="0"/>
              </a:spcBef>
              <a:spcAft>
                <a:spcPts val="1100"/>
              </a:spcAft>
            </a:pPr>
            <a:r>
              <a:rPr sz="1700" b="0" i="0">
                <a:solidFill>
                  <a:srgbClr val="1A1A1A"/>
                </a:solidFill>
                <a:latin typeface="Arial"/>
              </a:rPr>
              <a:t>Low Volume Reversal Bar: a big move on little participation. The longer the bar, the more bearish in an uptrend, bullish in a downtrend.</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Too little movement for the volume, or too little volume for the move.</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called a large range on low volume only trend inhibiting.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i.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a lack of participation. In a strong, rapid trend, a potential reversal; in a weak to average one, a point of rest.</a:t>
            </a:r>
          </a:p>
          <a:p>
            <a:pPr algn="l">
              <a:lnSpc>
                <a:spcPct val="105000"/>
              </a:lnSpc>
              <a:spcBef>
                <a:spcPts val="0"/>
              </a:spcBef>
              <a:spcAft>
                <a:spcPts val="1100"/>
              </a:spcAft>
            </a:pPr>
            <a:r>
              <a:rPr sz="1700" b="0" i="0">
                <a:solidFill>
                  <a:srgbClr val="1A1A1A"/>
                </a:solidFill>
                <a:latin typeface="Arial"/>
              </a:rPr>
              <a:t>High Volume Continuation Bar: a big move on very large participation. Bullish in an uptrend, bearish in a downtrend.</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bar's meaning depends on the trend's speed; the continuation bar continues whichever trend it is in.</a:t>
            </a:r>
          </a:p>
        </p:txBody>
      </p:sp>
      <p:sp>
        <p:nvSpPr>
          <p:cNvPr id="10" name="TextBox 9"/>
          <p:cNvSpPr txBox="1"/>
          <p:nvPr/>
        </p:nvSpPr>
        <p:spPr>
          <a:xfrm>
            <a:off x="777240" y="529894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small range, low volume, trend inhibiting; large range, large volume, trend promoting.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a bar has a narrow range on very large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High Volume Continuation Bar</a:t>
            </a:r>
          </a:p>
          <a:p>
            <a:pPr algn="l">
              <a:lnSpc>
                <a:spcPct val="112000"/>
              </a:lnSpc>
              <a:spcBef>
                <a:spcPts val="0"/>
              </a:spcBef>
              <a:spcAft>
                <a:spcPts val="900"/>
              </a:spcAft>
            </a:pPr>
            <a:r>
              <a:rPr sz="1500" b="0" i="0">
                <a:solidFill>
                  <a:srgbClr val="FFFFFF"/>
                </a:solidFill>
                <a:latin typeface="Arial"/>
              </a:rPr>
              <a:t>B.  A Low Volume Rest Bar</a:t>
            </a:r>
          </a:p>
          <a:p>
            <a:pPr algn="l">
              <a:lnSpc>
                <a:spcPct val="112000"/>
              </a:lnSpc>
              <a:spcBef>
                <a:spcPts val="0"/>
              </a:spcBef>
              <a:spcAft>
                <a:spcPts val="900"/>
              </a:spcAft>
            </a:pPr>
            <a:r>
              <a:rPr sz="1500" b="0" i="0">
                <a:solidFill>
                  <a:srgbClr val="FFFFFF"/>
                </a:solidFill>
                <a:latin typeface="Arial"/>
              </a:rPr>
              <a:t>C.  A High Volume Reversal Bar</a:t>
            </a:r>
          </a:p>
          <a:p>
            <a:pPr algn="l">
              <a:lnSpc>
                <a:spcPct val="112000"/>
              </a:lnSpc>
              <a:spcBef>
                <a:spcPts val="0"/>
              </a:spcBef>
              <a:spcAft>
                <a:spcPts val="900"/>
              </a:spcAft>
            </a:pPr>
            <a:r>
              <a:rPr sz="1500" b="0" i="0">
                <a:solidFill>
                  <a:srgbClr val="FFFFFF"/>
                </a:solidFill>
                <a:latin typeface="Arial"/>
              </a:rPr>
              <a:t>D.  A Low Volume Reversal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Low Volume Rest Bar appears in a weak to average trend. It tends to indicate: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point of rest</a:t>
            </a:r>
          </a:p>
          <a:p>
            <a:pPr algn="l">
              <a:lnSpc>
                <a:spcPct val="112000"/>
              </a:lnSpc>
              <a:spcBef>
                <a:spcPts val="0"/>
              </a:spcBef>
              <a:spcAft>
                <a:spcPts val="900"/>
              </a:spcAft>
            </a:pPr>
            <a:r>
              <a:rPr sz="1500" b="0" i="0">
                <a:solidFill>
                  <a:srgbClr val="FFFFFF"/>
                </a:solidFill>
                <a:latin typeface="Arial"/>
              </a:rPr>
              <a:t>B.  A strong reversal</a:t>
            </a:r>
          </a:p>
          <a:p>
            <a:pPr algn="l">
              <a:lnSpc>
                <a:spcPct val="112000"/>
              </a:lnSpc>
              <a:spcBef>
                <a:spcPts val="0"/>
              </a:spcBef>
              <a:spcAft>
                <a:spcPts val="900"/>
              </a:spcAft>
            </a:pPr>
            <a:r>
              <a:rPr sz="1500" b="0" i="0">
                <a:solidFill>
                  <a:srgbClr val="FFFFFF"/>
                </a:solidFill>
                <a:latin typeface="Arial"/>
              </a:rPr>
              <a:t>C.  A continuation on heavy buying</a:t>
            </a:r>
          </a:p>
          <a:p>
            <a:pPr algn="l">
              <a:lnSpc>
                <a:spcPct val="112000"/>
              </a:lnSpc>
              <a:spcBef>
                <a:spcPts val="0"/>
              </a:spcBef>
              <a:spcAft>
                <a:spcPts val="900"/>
              </a:spcAft>
            </a:pPr>
            <a:r>
              <a:rPr sz="1500" b="0" i="0">
                <a:solidFill>
                  <a:srgbClr val="FFFFFF"/>
                </a:solidFill>
                <a:latin typeface="Arial"/>
              </a:rPr>
              <a:t>D.  A selling climax</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14</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a bar has a narrow range on very large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High Volume Reversal Bar</a:t>
            </a:r>
          </a:p>
          <a:p>
            <a:pPr algn="l">
              <a:lnSpc>
                <a:spcPct val="115000"/>
              </a:lnSpc>
              <a:spcBef>
                <a:spcPts val="700"/>
              </a:spcBef>
              <a:spcAft>
                <a:spcPts val="0"/>
              </a:spcAft>
            </a:pPr>
            <a:r>
              <a:rPr sz="1600" b="0" i="0">
                <a:solidFill>
                  <a:srgbClr val="1A1A1A"/>
                </a:solidFill>
                <a:latin typeface="Arial"/>
              </a:rPr>
              <a:t>Narrow range on high volume is the High Volume Reversal Bar: sellers taking control, bearish in an uptrend.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Low Volume Rest Bar appears in a weak to average trend. It tends to indicate: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point of rest</a:t>
            </a:r>
          </a:p>
          <a:p>
            <a:pPr algn="l">
              <a:lnSpc>
                <a:spcPct val="115000"/>
              </a:lnSpc>
              <a:spcBef>
                <a:spcPts val="700"/>
              </a:spcBef>
              <a:spcAft>
                <a:spcPts val="0"/>
              </a:spcAft>
            </a:pPr>
            <a:r>
              <a:rPr sz="1600" b="0" i="0">
                <a:solidFill>
                  <a:srgbClr val="1A1A1A"/>
                </a:solidFill>
                <a:latin typeface="Arial"/>
              </a:rPr>
              <a:t>In weak to average trends the rest bar tends to indicate a point of rest; in strong, rapid trends,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14</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Two narrow range candlesticks on high volume, at Points 1 and 2.</a:t>
            </a:r>
          </a:p>
          <a:p>
            <a:pPr algn="l">
              <a:lnSpc>
                <a:spcPct val="105000"/>
              </a:lnSpc>
              <a:spcBef>
                <a:spcPts val="0"/>
              </a:spcBef>
              <a:spcAft>
                <a:spcPts val="1100"/>
              </a:spcAft>
            </a:pPr>
            <a:r>
              <a:rPr sz="1800" b="0" i="0">
                <a:solidFill>
                  <a:srgbClr val="1A1A1A"/>
                </a:solidFill>
                <a:latin typeface="Arial"/>
              </a:rPr>
              <a:t>After each, price reverses rapidly.</a:t>
            </a:r>
          </a:p>
          <a:p>
            <a:pPr algn="l">
              <a:lnSpc>
                <a:spcPct val="105000"/>
              </a:lnSpc>
              <a:spcBef>
                <a:spcPts val="0"/>
              </a:spcBef>
              <a:spcAft>
                <a:spcPts val="1100"/>
              </a:spcAft>
            </a:pPr>
            <a:r>
              <a:rPr sz="1800" b="0" i="0">
                <a:solidFill>
                  <a:srgbClr val="1A1A1A"/>
                </a:solidFill>
                <a:latin typeface="Arial"/>
              </a:rPr>
              <a:t>Also: in August a low volume breakout signal at a descending triangle's apex, then a volume surge.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Narrow bar, heavy volume, rapid reversal.</a:t>
            </a:r>
          </a:p>
        </p:txBody>
      </p:sp>
      <p:sp>
        <p:nvSpPr>
          <p:cNvPr id="10" name="TextBox 9"/>
          <p:cNvSpPr txBox="1"/>
          <p:nvPr/>
        </p:nvSpPr>
        <p:spPr>
          <a:xfrm>
            <a:off x="777240" y="531571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Apex: where the triangle's lines meet. The curved lines are Bollinger Bands, not discussed. After Point 2 the reversal runs past the chart's edge.</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PowerShares DB U.S. Dollar Bullish Fund. Narrow range candlesticks on high volume are circled at 1, near a low, and at 2, near a high, with lines down to their tall volume bars. At the left a triangle narrows into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Descending triangle: named in Chapter 4; its shape is in the book's Chapter 13.</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narrow range candlestick on high volume, around the beginning of November.</a:t>
            </a:r>
          </a:p>
          <a:p>
            <a:pPr algn="l">
              <a:lnSpc>
                <a:spcPct val="105000"/>
              </a:lnSpc>
              <a:spcBef>
                <a:spcPts val="0"/>
              </a:spcBef>
              <a:spcAft>
                <a:spcPts val="1100"/>
              </a:spcAft>
            </a:pPr>
            <a:r>
              <a:rPr sz="2000" b="0" i="0">
                <a:solidFill>
                  <a:srgbClr val="1A1A1A"/>
                </a:solidFill>
                <a:latin typeface="Arial"/>
              </a:rPr>
              <a:t>It led to a significant rebound in price.</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converse case: a high volume reversal bar in a decline is bullish.</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high volume reversal bar around May 23, 2011, after bearish divergence in volume and on the MACD.</a:t>
            </a:r>
          </a:p>
          <a:p>
            <a:pPr algn="l">
              <a:lnSpc>
                <a:spcPct val="105000"/>
              </a:lnSpc>
              <a:spcBef>
                <a:spcPts val="0"/>
              </a:spcBef>
              <a:spcAft>
                <a:spcPts val="1100"/>
              </a:spcAft>
            </a:pPr>
            <a:r>
              <a:rPr sz="1800" b="0" i="0">
                <a:solidFill>
                  <a:srgbClr val="1A1A1A"/>
                </a:solidFill>
                <a:latin typeface="Arial"/>
              </a:rPr>
              <a:t>It is potentially more reliable because it formed within a larger downtrend.</a:t>
            </a:r>
          </a:p>
          <a:p>
            <a:pPr algn="l">
              <a:lnSpc>
                <a:spcPct val="105000"/>
              </a:lnSpc>
              <a:spcBef>
                <a:spcPts val="0"/>
              </a:spcBef>
              <a:spcAft>
                <a:spcPts val="1100"/>
              </a:spcAft>
            </a:pPr>
            <a:r>
              <a:rPr sz="1800" b="0" i="0">
                <a:solidFill>
                  <a:srgbClr val="1A1A1A"/>
                </a:solidFill>
                <a:latin typeface="Arial"/>
              </a:rPr>
              <a:t>At Point X, a high volume continuation bar. Continuation bars too are more reliable in the direction of the predominant trend.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bar that agrees with the larger trend is the more reliable.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PowerShares DB U.S. Dollar Bullish Fund in a long decline under its moving averages, with a circled high volume reversal bar at a short rally's top in late May, a falling line over volume and the MACD leading up to it, and a high volume continuation bar marked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MACD is used here and not taught; Chapter 4 met it. The figure's RSI panel and two moving averages are not discussed.</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high volume reversal bar around the end of October 2011.</a:t>
            </a:r>
          </a:p>
          <a:p>
            <a:pPr algn="l">
              <a:lnSpc>
                <a:spcPct val="105000"/>
              </a:lnSpc>
              <a:spcBef>
                <a:spcPts val="0"/>
              </a:spcBef>
              <a:spcAft>
                <a:spcPts val="1100"/>
              </a:spcAft>
            </a:pPr>
            <a:r>
              <a:rPr sz="2000" b="0" i="0">
                <a:solidFill>
                  <a:srgbClr val="1A1A1A"/>
                </a:solidFill>
                <a:latin typeface="Arial"/>
              </a:rPr>
              <a:t>It occurred at a historically overextended volume level, drawn on the chart.</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Two signals agree: the reversal bar, and Part 2's overextended volume.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Chapter 3: a constant volume chart draws a new bar once a set volume has traded.</a:t>
            </a:r>
          </a:p>
          <a:p>
            <a:pPr algn="l">
              <a:lnSpc>
                <a:spcPct val="105000"/>
              </a:lnSpc>
              <a:spcBef>
                <a:spcPts val="0"/>
              </a:spcBef>
              <a:spcAft>
                <a:spcPts val="1100"/>
              </a:spcAft>
            </a:pPr>
            <a:r>
              <a:rPr sz="1800" b="0" i="0">
                <a:solidFill>
                  <a:srgbClr val="1A1A1A"/>
                </a:solidFill>
                <a:latin typeface="Arial"/>
              </a:rPr>
              <a:t>Volume is fixed per bar, so a reversal bar is found from its range and height alone.</a:t>
            </a:r>
          </a:p>
          <a:p>
            <a:pPr algn="l">
              <a:lnSpc>
                <a:spcPct val="105000"/>
              </a:lnSpc>
              <a:spcBef>
                <a:spcPts val="0"/>
              </a:spcBef>
              <a:spcAft>
                <a:spcPts val="1100"/>
              </a:spcAft>
            </a:pPr>
            <a:r>
              <a:rPr sz="1800" b="0" i="0">
                <a:solidFill>
                  <a:srgbClr val="1A1A1A"/>
                </a:solidFill>
                <a:latin typeface="Arial"/>
              </a:rPr>
              <a:t>Figure 6.35: a narrow bar, bearish, sellers in control; a tall bar, no interest in the rise.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Especially useful for reversal bars on high or low volume.</a:t>
            </a:r>
          </a:p>
        </p:txBody>
      </p:sp>
      <p:sp>
        <p:nvSpPr>
          <p:cNvPr id="10" name="TextBox 9"/>
          <p:cNvSpPr txBox="1"/>
          <p:nvPr/>
        </p:nvSpPr>
        <p:spPr>
          <a:xfrm>
            <a:off x="777240" y="531571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High and low against the range: a narrow bar packs the fixed volume into little movement, a tall bar spreads it over a big one.</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bar chart, every volume bar the same height. Left: a rise topped by a narrow range bar on relatively high volume, bearish. Right: a rise topped by one overextended, very tall bar on relatively low volume,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Reversal bars on charts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 high volume reversal bar of Figure 6.33 regarded as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formed on a constant volume chart</a:t>
            </a:r>
          </a:p>
          <a:p>
            <a:pPr algn="l">
              <a:lnSpc>
                <a:spcPct val="112000"/>
              </a:lnSpc>
              <a:spcBef>
                <a:spcPts val="0"/>
              </a:spcBef>
              <a:spcAft>
                <a:spcPts val="900"/>
              </a:spcAft>
            </a:pPr>
            <a:r>
              <a:rPr sz="1500" b="0" i="0">
                <a:solidFill>
                  <a:srgbClr val="FFFFFF"/>
                </a:solidFill>
                <a:latin typeface="Arial"/>
              </a:rPr>
              <a:t>B.  It formed within a larger downtrend</a:t>
            </a:r>
          </a:p>
          <a:p>
            <a:pPr algn="l">
              <a:lnSpc>
                <a:spcPct val="112000"/>
              </a:lnSpc>
              <a:spcBef>
                <a:spcPts val="0"/>
              </a:spcBef>
              <a:spcAft>
                <a:spcPts val="900"/>
              </a:spcAft>
            </a:pPr>
            <a:r>
              <a:rPr sz="1500" b="0" i="0">
                <a:solidFill>
                  <a:srgbClr val="FFFFFF"/>
                </a:solidFill>
                <a:latin typeface="Arial"/>
              </a:rPr>
              <a:t>C.  Its volume was the lowest of the year</a:t>
            </a:r>
          </a:p>
          <a:p>
            <a:pPr algn="l">
              <a:lnSpc>
                <a:spcPct val="112000"/>
              </a:lnSpc>
              <a:spcBef>
                <a:spcPts val="0"/>
              </a:spcBef>
              <a:spcAft>
                <a:spcPts val="900"/>
              </a:spcAft>
            </a:pPr>
            <a:r>
              <a:rPr sz="1500" b="0" i="0">
                <a:solidFill>
                  <a:srgbClr val="FFFFFF"/>
                </a:solidFill>
                <a:latin typeface="Arial"/>
              </a:rPr>
              <a:t>D.  It formed on flat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constant volume chart, potential reversal bars are found from:</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volume bars alone</a:t>
            </a:r>
          </a:p>
          <a:p>
            <a:pPr algn="l">
              <a:lnSpc>
                <a:spcPct val="112000"/>
              </a:lnSpc>
              <a:spcBef>
                <a:spcPts val="0"/>
              </a:spcBef>
              <a:spcAft>
                <a:spcPts val="900"/>
              </a:spcAft>
            </a:pPr>
            <a:r>
              <a:rPr sz="1500" b="0" i="0">
                <a:solidFill>
                  <a:srgbClr val="FFFFFF"/>
                </a:solidFill>
                <a:latin typeface="Arial"/>
              </a:rPr>
              <a:t>B.  The time axis</a:t>
            </a:r>
          </a:p>
          <a:p>
            <a:pPr algn="l">
              <a:lnSpc>
                <a:spcPct val="112000"/>
              </a:lnSpc>
              <a:spcBef>
                <a:spcPts val="0"/>
              </a:spcBef>
              <a:spcAft>
                <a:spcPts val="900"/>
              </a:spcAft>
            </a:pPr>
            <a:r>
              <a:rPr sz="1500" b="0" i="0">
                <a:solidFill>
                  <a:srgbClr val="FFFFFF"/>
                </a:solidFill>
                <a:latin typeface="Arial"/>
              </a:rPr>
              <a:t>C.  The open interest</a:t>
            </a:r>
          </a:p>
          <a:p>
            <a:pPr algn="l">
              <a:lnSpc>
                <a:spcPct val="112000"/>
              </a:lnSpc>
              <a:spcBef>
                <a:spcPts val="0"/>
              </a:spcBef>
              <a:spcAft>
                <a:spcPts val="900"/>
              </a:spcAft>
            </a:pPr>
            <a:r>
              <a:rPr sz="1500" b="0" i="0">
                <a:solidFill>
                  <a:srgbClr val="FFFFFF"/>
                </a:solidFill>
                <a:latin typeface="Arial"/>
              </a:rPr>
              <a:t>D.  The bar range alone and its height against the rest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15</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Reversal bars on charts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is the high volume reversal bar of Figure 6.33 regarded as potentially more reliable?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It formed within a larger downtrend</a:t>
            </a:r>
          </a:p>
          <a:p>
            <a:pPr algn="l">
              <a:lnSpc>
                <a:spcPct val="115000"/>
              </a:lnSpc>
              <a:spcBef>
                <a:spcPts val="700"/>
              </a:spcBef>
              <a:spcAft>
                <a:spcPts val="0"/>
              </a:spcAft>
            </a:pPr>
            <a:r>
              <a:rPr sz="1600" b="0" i="0">
                <a:solidFill>
                  <a:srgbClr val="1A1A1A"/>
                </a:solidFill>
                <a:latin typeface="Arial"/>
              </a:rPr>
              <a:t>The bearish reversal bar occurred within a larger downtrend, the direction of the predominant trend.</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constant volume chart, potential reversal bars are found from:</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range alone and its height against the rest</a:t>
            </a:r>
          </a:p>
          <a:p>
            <a:pPr algn="l">
              <a:lnSpc>
                <a:spcPct val="115000"/>
              </a:lnSpc>
              <a:spcBef>
                <a:spcPts val="700"/>
              </a:spcBef>
              <a:spcAft>
                <a:spcPts val="0"/>
              </a:spcAft>
            </a:pPr>
            <a:r>
              <a:rPr sz="1600" b="0" i="0">
                <a:solidFill>
                  <a:srgbClr val="1A1A1A"/>
                </a:solidFill>
                <a:latin typeface="Arial"/>
              </a:rPr>
              <a:t>Volume is fixed for each bar, so reversal bars are identified by bar range and height alone.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15</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Most practitioners agree that without participation, volume, price cannot move significantly.</a:t>
            </a:r>
          </a:p>
          <a:p>
            <a:pPr algn="l">
              <a:lnSpc>
                <a:spcPct val="105000"/>
              </a:lnSpc>
              <a:spcBef>
                <a:spcPts val="0"/>
              </a:spcBef>
              <a:spcAft>
                <a:spcPts val="1100"/>
              </a:spcAft>
            </a:pPr>
            <a:r>
              <a:rPr sz="1800" b="0" i="0">
                <a:solidFill>
                  <a:srgbClr val="1A1A1A"/>
                </a:solidFill>
                <a:latin typeface="Arial"/>
              </a:rPr>
              <a:t>Yet buy and sell signals need not have much volume to appear on the chart.</a:t>
            </a:r>
          </a:p>
          <a:p>
            <a:pPr algn="l">
              <a:lnSpc>
                <a:spcPct val="105000"/>
              </a:lnSpc>
              <a:spcBef>
                <a:spcPts val="0"/>
              </a:spcBef>
              <a:spcAft>
                <a:spcPts val="1100"/>
              </a:spcAft>
            </a:pPr>
            <a:r>
              <a:rPr sz="1800" b="0" i="0">
                <a:solidFill>
                  <a:srgbClr val="1A1A1A"/>
                </a:solidFill>
                <a:latin typeface="Arial"/>
              </a:rPr>
              <a:t>A small breakout of a very significant trendline may set off a larger one, inviting tremendous volume.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Then price leads volume: more often now, the book says.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chart is ours, on invented prices. Breakout of a trendline: Chapter 5's use of the word.</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rises and falls on a daily rhythm,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1:30 to 2:30 p.m. GMT is 9:30 to 10:30 p.m. in Manila. On our chart, price turns or breaks away at each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Almost every reversal on the 30-minute EURUSD comes at an intraday tick volume peak.</a:t>
            </a:r>
          </a:p>
          <a:p>
            <a:pPr algn="l">
              <a:lnSpc>
                <a:spcPct val="105000"/>
              </a:lnSpc>
              <a:spcBef>
                <a:spcPts val="0"/>
              </a:spcBef>
              <a:spcAft>
                <a:spcPts val="1100"/>
              </a:spcAft>
            </a:pPr>
            <a:r>
              <a:rPr sz="1700" b="0" i="0">
                <a:solidFill>
                  <a:srgbClr val="1A1A1A"/>
                </a:solidFill>
                <a:latin typeface="Arial"/>
              </a:rPr>
              <a:t>Especially useful when price retests a previous support or resistance level.</a:t>
            </a:r>
          </a:p>
          <a:p>
            <a:pPr algn="l">
              <a:lnSpc>
                <a:spcPct val="105000"/>
              </a:lnSpc>
              <a:spcBef>
                <a:spcPts val="0"/>
              </a:spcBef>
              <a:spcAft>
                <a:spcPts val="1100"/>
              </a:spcAft>
            </a:pPr>
            <a:r>
              <a:rPr sz="1700" b="0" i="0">
                <a:solidFill>
                  <a:srgbClr val="1A1A1A"/>
                </a:solidFill>
                <a:latin typeface="Arial"/>
              </a:rPr>
              <a:t>Many use a bidirectional, or straddle, entry at the peak, since price rarely stays unchanged.</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Know when the peak comes; catch price either way.</a:t>
            </a:r>
          </a:p>
        </p:txBody>
      </p:sp>
      <p:sp>
        <p:nvSpPr>
          <p:cNvPr id="10" name="TextBox 9"/>
          <p:cNvSpPr txBox="1"/>
          <p:nvPr/>
        </p:nvSpPr>
        <p:spPr>
          <a:xfrm>
            <a:off x="777240" y="5189220"/>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bidirectional entry: a trade either way, depending on the breakout.</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several weeks with support and resistance lines, a triangle and a channel, and daily volume cycles in the volume panel; price reverses at the volume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Bidirectional entry: a Chapter 5 term.</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On hourly EURUSD, price rebounds off trendline retests at Points 1, 4 and 5, each during a tick volume cycle peak.</a:t>
            </a:r>
          </a:p>
          <a:p>
            <a:pPr algn="l">
              <a:lnSpc>
                <a:spcPct val="105000"/>
              </a:lnSpc>
              <a:spcBef>
                <a:spcPts val="0"/>
              </a:spcBef>
              <a:spcAft>
                <a:spcPts val="1100"/>
              </a:spcAft>
            </a:pPr>
            <a:r>
              <a:rPr sz="1800" b="0" i="0">
                <a:solidFill>
                  <a:srgbClr val="1A1A1A"/>
                </a:solidFill>
                <a:latin typeface="Arial"/>
              </a:rPr>
              <a:t>A cycle-tuned stochastic oscillator showed oversold conditions there too.</a:t>
            </a:r>
          </a:p>
          <a:p>
            <a:pPr algn="l">
              <a:lnSpc>
                <a:spcPct val="105000"/>
              </a:lnSpc>
              <a:spcBef>
                <a:spcPts val="0"/>
              </a:spcBef>
              <a:spcAft>
                <a:spcPts val="1100"/>
              </a:spcAft>
            </a:pPr>
            <a:r>
              <a:rPr sz="1800" b="0" i="0">
                <a:solidFill>
                  <a:srgbClr val="1A1A1A"/>
                </a:solidFill>
                <a:latin typeface="Arial"/>
              </a:rPr>
              <a:t>At Points 2 and 3 the trendline failed. There the stochastic showed no clear oversold condition, at X and Y.</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volume peak times the retest; the oscillator confirms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An hourly EURUSD chart with three rising trendlines, retests marked at 1 to 5, a volume panel with daily volume cycles, and a stochastic panel whose oversold readings are marked under 1, 4 and 5, with circles at X and Y where it was not clearly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The cycle-tuned stochastic: named in Chapter 5; oscillators are Chapter 8.</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14</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Point and figure, Renko and three line break charts, Chapter 3: the time axis is not plotted in a linear fashion.</a:t>
            </a:r>
          </a:p>
          <a:p>
            <a:pPr algn="l">
              <a:lnSpc>
                <a:spcPct val="105000"/>
              </a:lnSpc>
              <a:spcBef>
                <a:spcPts val="0"/>
              </a:spcBef>
              <a:spcAft>
                <a:spcPts val="1100"/>
              </a:spcAft>
            </a:pPr>
            <a:r>
              <a:rPr sz="1800" b="0" i="0">
                <a:solidFill>
                  <a:srgbClr val="1A1A1A"/>
                </a:solidFill>
                <a:latin typeface="Arial"/>
              </a:rPr>
              <a:t>That affects the angle of trendlines, channels and chart patterns.</a:t>
            </a:r>
          </a:p>
          <a:p>
            <a:pPr algn="l">
              <a:lnSpc>
                <a:spcPct val="105000"/>
              </a:lnSpc>
              <a:spcBef>
                <a:spcPts val="0"/>
              </a:spcBef>
              <a:spcAft>
                <a:spcPts val="1100"/>
              </a:spcAft>
            </a:pPr>
            <a:r>
              <a:rPr sz="1800" b="0" i="0">
                <a:solidFill>
                  <a:srgbClr val="1A1A1A"/>
                </a:solidFill>
                <a:latin typeface="Arial"/>
              </a:rPr>
              <a:t>Equivolume charts are unique: constant time bars, but bar width varies with volume, so the time axis is non-linear too.</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62910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6.38: the same trendline is violated at different points on the two charts.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Two daily Apple charts of the same months, a standard chart with a linear time axis above and an equivolume chart with a non-linear time axis below. The same rising trendline is drawn on both, and circles mark where each is violated, at different places.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cycles and the time axis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 says the intraday volume cycle normally peaks around: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open</a:t>
            </a:r>
          </a:p>
          <a:p>
            <a:pPr algn="l">
              <a:lnSpc>
                <a:spcPct val="112000"/>
              </a:lnSpc>
              <a:spcBef>
                <a:spcPts val="0"/>
              </a:spcBef>
              <a:spcAft>
                <a:spcPts val="900"/>
              </a:spcAft>
            </a:pPr>
            <a:r>
              <a:rPr sz="1500" b="0" i="0">
                <a:solidFill>
                  <a:srgbClr val="FFFFFF"/>
                </a:solidFill>
                <a:latin typeface="Arial"/>
              </a:rPr>
              <a:t>B.  1:30 p.m. to 2:30 p.m. GMT</a:t>
            </a:r>
          </a:p>
          <a:p>
            <a:pPr algn="l">
              <a:lnSpc>
                <a:spcPct val="112000"/>
              </a:lnSpc>
              <a:spcBef>
                <a:spcPts val="0"/>
              </a:spcBef>
              <a:spcAft>
                <a:spcPts val="900"/>
              </a:spcAft>
            </a:pPr>
            <a:r>
              <a:rPr sz="1500" b="0" i="0">
                <a:solidFill>
                  <a:srgbClr val="FFFFFF"/>
                </a:solidFill>
                <a:latin typeface="Arial"/>
              </a:rPr>
              <a:t>C.  The market close</a:t>
            </a:r>
          </a:p>
          <a:p>
            <a:pPr algn="l">
              <a:lnSpc>
                <a:spcPct val="112000"/>
              </a:lnSpc>
              <a:spcBef>
                <a:spcPts val="0"/>
              </a:spcBef>
              <a:spcAft>
                <a:spcPts val="900"/>
              </a:spcAft>
            </a:pPr>
            <a:r>
              <a:rPr sz="1500" b="0" i="0">
                <a:solidFill>
                  <a:srgbClr val="FFFFFF"/>
                </a:solidFill>
                <a:latin typeface="Arial"/>
              </a:rPr>
              <a:t>D.  Midnight GMT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a trendline be violated at a different point on an equivolume chart than on a standard chart?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Equivolume charts ignore volume</a:t>
            </a:r>
          </a:p>
          <a:p>
            <a:pPr algn="l">
              <a:lnSpc>
                <a:spcPct val="112000"/>
              </a:lnSpc>
              <a:spcBef>
                <a:spcPts val="0"/>
              </a:spcBef>
              <a:spcAft>
                <a:spcPts val="900"/>
              </a:spcAft>
            </a:pPr>
            <a:r>
              <a:rPr sz="1500" b="0" i="0">
                <a:solidFill>
                  <a:srgbClr val="FFFFFF"/>
                </a:solidFill>
                <a:latin typeface="Arial"/>
              </a:rPr>
              <a:t>B.  Equivolume charts use closing prices only</a:t>
            </a:r>
          </a:p>
          <a:p>
            <a:pPr algn="l">
              <a:lnSpc>
                <a:spcPct val="112000"/>
              </a:lnSpc>
              <a:spcBef>
                <a:spcPts val="0"/>
              </a:spcBef>
              <a:spcAft>
                <a:spcPts val="900"/>
              </a:spcAft>
            </a:pPr>
            <a:r>
              <a:rPr sz="1500" b="0" i="0">
                <a:solidFill>
                  <a:srgbClr val="FFFFFF"/>
                </a:solidFill>
                <a:latin typeface="Arial"/>
              </a:rPr>
              <a:t>C.  Bar width varies with volume, so the time axis is non-linear</a:t>
            </a:r>
          </a:p>
          <a:p>
            <a:pPr algn="l">
              <a:lnSpc>
                <a:spcPct val="112000"/>
              </a:lnSpc>
              <a:spcBef>
                <a:spcPts val="0"/>
              </a:spcBef>
              <a:spcAft>
                <a:spcPts val="900"/>
              </a:spcAft>
            </a:pPr>
            <a:r>
              <a:rPr sz="1500" b="0" i="0">
                <a:solidFill>
                  <a:srgbClr val="FFFFFF"/>
                </a:solidFill>
                <a:latin typeface="Arial"/>
              </a:rPr>
              <a:t>D.  Equivolume charts are not constant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16</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cycles and the time axis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book says the intraday volume cycle normally peaks around: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1:30 p.m. to 2:30 p.m. GMT</a:t>
            </a:r>
          </a:p>
          <a:p>
            <a:pPr algn="l">
              <a:lnSpc>
                <a:spcPct val="115000"/>
              </a:lnSpc>
              <a:spcBef>
                <a:spcPts val="700"/>
              </a:spcBef>
              <a:spcAft>
                <a:spcPts val="0"/>
              </a:spcAft>
            </a:pPr>
            <a:r>
              <a:rPr sz="1600" b="0" i="0">
                <a:solidFill>
                  <a:srgbClr val="1A1A1A"/>
                </a:solidFill>
                <a:latin typeface="Arial"/>
              </a:rPr>
              <a:t>The intraday volume cycle normally peaks around 1:30 p.m. to 2:30 p.m. GMT.</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may a trendline be violated at a different point on an equivolume chart than on a standard chart?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Bar width varies with volume, so the time axis is non-linear</a:t>
            </a:r>
          </a:p>
          <a:p>
            <a:pPr algn="l">
              <a:lnSpc>
                <a:spcPct val="115000"/>
              </a:lnSpc>
              <a:spcBef>
                <a:spcPts val="700"/>
              </a:spcBef>
              <a:spcAft>
                <a:spcPts val="0"/>
              </a:spcAft>
            </a:pPr>
            <a:r>
              <a:rPr sz="1600" b="0" i="0">
                <a:solidFill>
                  <a:srgbClr val="1A1A1A"/>
                </a:solidFill>
                <a:latin typeface="Arial"/>
              </a:rPr>
              <a:t>Bars are constant time but their width varies with volume, so the time axis is non-linear and a line's angle changes.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16</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book's eight: the VWMA, the Accumulation Distribution Line (ADL),</a:t>
            </a:r>
          </a:p>
          <a:p>
            <a:pPr algn="l">
              <a:lnSpc>
                <a:spcPct val="118000"/>
              </a:lnSpc>
              <a:spcBef>
                <a:spcPts val="0"/>
              </a:spcBef>
              <a:spcAft>
                <a:spcPts val="1300"/>
              </a:spcAft>
            </a:pPr>
            <a:r>
              <a:rPr sz="2100" b="0" i="0">
                <a:solidFill>
                  <a:srgbClr val="1A1A1A"/>
                </a:solidFill>
                <a:latin typeface="Arial"/>
              </a:rPr>
              <a:t>On Balance Volume (OBV), the Chaikin Money Flow and Chaikin Oscillator,</a:t>
            </a:r>
          </a:p>
          <a:p>
            <a:pPr algn="l">
              <a:lnSpc>
                <a:spcPct val="118000"/>
              </a:lnSpc>
              <a:spcBef>
                <a:spcPts val="0"/>
              </a:spcBef>
              <a:spcAft>
                <a:spcPts val="1300"/>
              </a:spcAft>
            </a:pPr>
            <a:r>
              <a:rPr sz="2100" b="0" i="0">
                <a:solidFill>
                  <a:srgbClr val="1A1A1A"/>
                </a:solidFill>
                <a:latin typeface="Arial"/>
              </a:rPr>
              <a:t>the Demand Index, the Herrick Payoff Index, the NYSE Up/Down Volume Line.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is read by eight standard methods. Here: mostly divergence, plus oversold levels and trendlines on the indicator.</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eight methods, Chapter 8: 1 OBOS overextended levels, 2 equilibrium and zero line crossovers, 3 signal line crossovers, 4 price-oscillator divergence, 5 to 7 geometrically, numerically and horizontally based oscillator pattern analysis, 8 oscillator-on-oscillator analysis. OBOS: overbought and oversold. The VWMA was Part 2; the Demand Index is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both lists, as printed. It refers the eight methods to Chapter 8.</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add the day's volume if the close rose, subtract it if the close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Closes PHP 50.00, 50.50, 50.20, 50.20, 50.80, 50.60; volumes after day 1: 2.0, 1.5, 1.0, 3.0, 1.0 million. OBV: 0, 2.0, 0.5, 0.5, 3.5, 2.5.</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 a disadvantage and a weakness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Disadvantage: its absolute value depends on the start date. Its relative changes do not, so the eight methods still work.</a:t>
            </a:r>
          </a:p>
          <a:p>
            <a:pPr algn="l">
              <a:lnSpc>
                <a:spcPct val="105000"/>
              </a:lnSpc>
              <a:spcBef>
                <a:spcPts val="0"/>
              </a:spcBef>
              <a:spcAft>
                <a:spcPts val="1100"/>
              </a:spcAft>
            </a:pPr>
            <a:r>
              <a:rPr sz="1800" b="0" i="0">
                <a:solidFill>
                  <a:srgbClr val="1A1A1A"/>
                </a:solidFill>
                <a:latin typeface="Arial"/>
              </a:rPr>
              <a:t>Weakness: volume is added or subtracted regardless of the bar's own behavior.</a:t>
            </a:r>
          </a:p>
          <a:p>
            <a:pPr algn="l">
              <a:lnSpc>
                <a:spcPct val="105000"/>
              </a:lnSpc>
              <a:spcBef>
                <a:spcPts val="0"/>
              </a:spcBef>
              <a:spcAft>
                <a:spcPts val="1100"/>
              </a:spcAft>
            </a:pPr>
            <a:r>
              <a:rPr sz="1800" b="0" i="0">
                <a:solidFill>
                  <a:srgbClr val="1A1A1A"/>
                </a:solidFill>
                <a:latin typeface="Arial"/>
              </a:rPr>
              <a:t>A bar closing just below the last close is subtracted, even after a new high far above the last bar's.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many prefer the ADL or the two Chaikin indicators.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the weakness and its example are the book's. The chart is ours, on invented bars.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Citigroup's price falls to a lower low while the OBV makes a higher one.</a:t>
            </a:r>
          </a:p>
          <a:p>
            <a:pPr algn="l">
              <a:lnSpc>
                <a:spcPct val="105000"/>
              </a:lnSpc>
              <a:spcBef>
                <a:spcPts val="0"/>
              </a:spcBef>
              <a:spcAft>
                <a:spcPts val="1100"/>
              </a:spcAft>
            </a:pPr>
            <a:r>
              <a:rPr sz="2000" b="0" i="0">
                <a:solidFill>
                  <a:srgbClr val="1A1A1A"/>
                </a:solidFill>
                <a:latin typeface="Arial"/>
              </a:rPr>
              <a:t>Prices rebound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OBV is price-based: bullish divergence is price falling while it rises.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Copper's price rises, twice, while the OBV falls.</a:t>
            </a:r>
          </a:p>
          <a:p>
            <a:pPr algn="l">
              <a:lnSpc>
                <a:spcPct val="105000"/>
              </a:lnSpc>
              <a:spcBef>
                <a:spcPts val="0"/>
              </a:spcBef>
              <a:spcAft>
                <a:spcPts val="1100"/>
              </a:spcAft>
            </a:pPr>
            <a:r>
              <a:rPr sz="2000" b="0" i="0">
                <a:solidFill>
                  <a:srgbClr val="1A1A1A"/>
                </a:solidFill>
                <a:latin typeface="Arial"/>
              </a:rPr>
              <a:t>Prices fell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Bearish divergence reads the same on both kinds: price up, the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rising to higher peaks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On Balance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Today's close is lower than yesterday's, on volume of 3 million shares. The OBV:</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Is unchanged</a:t>
            </a:r>
          </a:p>
          <a:p>
            <a:pPr algn="l">
              <a:lnSpc>
                <a:spcPct val="112000"/>
              </a:lnSpc>
              <a:spcBef>
                <a:spcPts val="0"/>
              </a:spcBef>
              <a:spcAft>
                <a:spcPts val="900"/>
              </a:spcAft>
            </a:pPr>
            <a:r>
              <a:rPr sz="1500" b="0" i="0">
                <a:solidFill>
                  <a:srgbClr val="FFFFFF"/>
                </a:solidFill>
                <a:latin typeface="Arial"/>
              </a:rPr>
              <a:t>B.  Rises by 3 million</a:t>
            </a:r>
          </a:p>
          <a:p>
            <a:pPr algn="l">
              <a:lnSpc>
                <a:spcPct val="112000"/>
              </a:lnSpc>
              <a:spcBef>
                <a:spcPts val="0"/>
              </a:spcBef>
              <a:spcAft>
                <a:spcPts val="900"/>
              </a:spcAft>
            </a:pPr>
            <a:r>
              <a:rPr sz="1500" b="0" i="0">
                <a:solidFill>
                  <a:srgbClr val="FFFFFF"/>
                </a:solidFill>
                <a:latin typeface="Arial"/>
              </a:rPr>
              <a:t>C.  Rises by part of 3 million</a:t>
            </a:r>
          </a:p>
          <a:p>
            <a:pPr algn="l">
              <a:lnSpc>
                <a:spcPct val="112000"/>
              </a:lnSpc>
              <a:spcBef>
                <a:spcPts val="0"/>
              </a:spcBef>
              <a:spcAft>
                <a:spcPts val="900"/>
              </a:spcAft>
            </a:pPr>
            <a:r>
              <a:rPr sz="1500" b="0" i="0">
                <a:solidFill>
                  <a:srgbClr val="FFFFFF"/>
                </a:solidFill>
                <a:latin typeface="Arial"/>
              </a:rPr>
              <a:t>D.  Falls by 3 million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disadvantage of the OBV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absolute value depends on the start date</a:t>
            </a:r>
          </a:p>
          <a:p>
            <a:pPr algn="l">
              <a:lnSpc>
                <a:spcPct val="112000"/>
              </a:lnSpc>
              <a:spcBef>
                <a:spcPts val="0"/>
              </a:spcBef>
              <a:spcAft>
                <a:spcPts val="900"/>
              </a:spcAft>
            </a:pPr>
            <a:r>
              <a:rPr sz="1500" b="0" i="0">
                <a:solidFill>
                  <a:srgbClr val="FFFFFF"/>
                </a:solidFill>
                <a:latin typeface="Arial"/>
              </a:rPr>
              <a:t>B.  It cannot show divergence</a:t>
            </a:r>
          </a:p>
          <a:p>
            <a:pPr algn="l">
              <a:lnSpc>
                <a:spcPct val="112000"/>
              </a:lnSpc>
              <a:spcBef>
                <a:spcPts val="0"/>
              </a:spcBef>
              <a:spcAft>
                <a:spcPts val="900"/>
              </a:spcAft>
            </a:pPr>
            <a:r>
              <a:rPr sz="1500" b="0" i="0">
                <a:solidFill>
                  <a:srgbClr val="FFFFFF"/>
                </a:solidFill>
                <a:latin typeface="Arial"/>
              </a:rPr>
              <a:t>C.  It uses open interest</a:t>
            </a:r>
          </a:p>
          <a:p>
            <a:pPr algn="l">
              <a:lnSpc>
                <a:spcPct val="112000"/>
              </a:lnSpc>
              <a:spcBef>
                <a:spcPts val="0"/>
              </a:spcBef>
              <a:spcAft>
                <a:spcPts val="900"/>
              </a:spcAft>
            </a:pPr>
            <a:r>
              <a:rPr sz="1500" b="0" i="0">
                <a:solidFill>
                  <a:srgbClr val="FFFFFF"/>
                </a:solidFill>
                <a:latin typeface="Arial"/>
              </a:rPr>
              <a:t>D.  It ignores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17</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On Balance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Today's close is lower than yesterday's, on volume of 3 million shares. The OBV:</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Falls by 3 million</a:t>
            </a:r>
          </a:p>
          <a:p>
            <a:pPr algn="l">
              <a:lnSpc>
                <a:spcPct val="115000"/>
              </a:lnSpc>
              <a:spcBef>
                <a:spcPts val="700"/>
              </a:spcBef>
              <a:spcAft>
                <a:spcPts val="0"/>
              </a:spcAft>
            </a:pPr>
            <a:r>
              <a:rPr sz="1600" b="0" i="0">
                <a:solidFill>
                  <a:srgbClr val="1A1A1A"/>
                </a:solidFill>
                <a:latin typeface="Arial"/>
              </a:rPr>
              <a:t>If the close is lower than the preceding close, the period's whole volume is subtracted from the running total.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book's disadvantage of the OBV is that: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Its absolute value depends on the start date</a:t>
            </a:r>
          </a:p>
          <a:p>
            <a:pPr algn="l">
              <a:lnSpc>
                <a:spcPct val="115000"/>
              </a:lnSpc>
              <a:spcBef>
                <a:spcPts val="700"/>
              </a:spcBef>
              <a:spcAft>
                <a:spcPts val="0"/>
              </a:spcAft>
            </a:pPr>
            <a:r>
              <a:rPr sz="1600" b="0" i="0">
                <a:solidFill>
                  <a:srgbClr val="1A1A1A"/>
                </a:solidFill>
                <a:latin typeface="Arial"/>
              </a:rPr>
              <a:t>Its absolute reading depends on the start date; its relative changes do not, so the eight methods still work.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17</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each bar adding or subtracting a share of its volume by where it closed.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High PHP 52, low PHP 48, 2 million shares. Close 52: add 2.0 million. Close 50, the middle: add nothing. Close 49: subtract 1.0 million.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the close, high and low of the bar, Chapter 1's OHLC. The bars and their volume are ours.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close at the midpoint adds nothing: if C - L = H - C, then C = (H + L) / 2.</a:t>
            </a:r>
          </a:p>
          <a:p>
            <a:pPr algn="l">
              <a:lnSpc>
                <a:spcPct val="105000"/>
              </a:lnSpc>
              <a:spcBef>
                <a:spcPts val="0"/>
              </a:spcBef>
              <a:spcAft>
                <a:spcPts val="1100"/>
              </a:spcAft>
            </a:pPr>
            <a:r>
              <a:rPr sz="1800" b="0" i="0">
                <a:solidFill>
                  <a:srgbClr val="1A1A1A"/>
                </a:solidFill>
                <a:latin typeface="Arial"/>
              </a:rPr>
              <a:t>The further above the midpoint price closes, the more volume is added; below, the more subtracted.</a:t>
            </a:r>
          </a:p>
          <a:p>
            <a:pPr algn="l">
              <a:lnSpc>
                <a:spcPct val="105000"/>
              </a:lnSpc>
              <a:spcBef>
                <a:spcPts val="0"/>
              </a:spcBef>
              <a:spcAft>
                <a:spcPts val="1100"/>
              </a:spcAft>
            </a:pPr>
            <a:r>
              <a:rPr sz="1800" b="0" i="0">
                <a:solidFill>
                  <a:srgbClr val="1A1A1A"/>
                </a:solidFill>
                <a:latin typeface="Arial"/>
              </a:rPr>
              <a:t>At most the day's total volume is added: a close at the high makes the factor exactly 1.</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is the book's. The chart is ours: the factor drawn against where the close sits.</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ADL shows bullish confirmation, rising with price.</a:t>
            </a:r>
          </a:p>
          <a:p>
            <a:pPr algn="l">
              <a:lnSpc>
                <a:spcPct val="105000"/>
              </a:lnSpc>
              <a:spcBef>
                <a:spcPts val="0"/>
              </a:spcBef>
              <a:spcAft>
                <a:spcPts val="1100"/>
              </a:spcAft>
            </a:pPr>
            <a:r>
              <a:rPr sz="2000" b="0" i="0">
                <a:solidFill>
                  <a:srgbClr val="1A1A1A"/>
                </a:solidFill>
                <a:latin typeface="Arial"/>
              </a:rPr>
              <a:t>The volume bars show bearish divergence: an underlying weakness in the uptrend.</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trader should wait for price confirmation of a reversal before taking part.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When the OBV and the ADL rise or fall together, price trends in a decisive manner.</a:t>
            </a:r>
          </a:p>
          <a:p>
            <a:pPr algn="l">
              <a:lnSpc>
                <a:spcPct val="105000"/>
              </a:lnSpc>
              <a:spcBef>
                <a:spcPts val="0"/>
              </a:spcBef>
              <a:spcAft>
                <a:spcPts val="1100"/>
              </a:spcAft>
            </a:pPr>
            <a:r>
              <a:rPr sz="1800" b="0" i="0">
                <a:solidFill>
                  <a:srgbClr val="1A1A1A"/>
                </a:solidFill>
                <a:latin typeface="Arial"/>
              </a:rPr>
              <a:t>When they move in opposite directions, price tends to range or consolidate.</a:t>
            </a:r>
          </a:p>
          <a:p>
            <a:pPr algn="l">
              <a:lnSpc>
                <a:spcPct val="105000"/>
              </a:lnSpc>
              <a:spcBef>
                <a:spcPts val="0"/>
              </a:spcBef>
              <a:spcAft>
                <a:spcPts val="1100"/>
              </a:spcAft>
            </a:pPr>
            <a:r>
              <a:rPr sz="1800" b="0" i="0">
                <a:solidFill>
                  <a:srgbClr val="1A1A1A"/>
                </a:solidFill>
                <a:latin typeface="Arial"/>
              </a:rPr>
              <a:t>Useful for gauging behavioral or regime changes in the market.</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It may help decide between a trend-following and a range-bound strategy.</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ADL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closes exactly at the midpoint of its range. What does it add to the ADL?</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whole volume</a:t>
            </a:r>
          </a:p>
          <a:p>
            <a:pPr algn="l">
              <a:lnSpc>
                <a:spcPct val="112000"/>
              </a:lnSpc>
              <a:spcBef>
                <a:spcPts val="0"/>
              </a:spcBef>
              <a:spcAft>
                <a:spcPts val="900"/>
              </a:spcAft>
            </a:pPr>
            <a:r>
              <a:rPr sz="1500" b="0" i="0">
                <a:solidFill>
                  <a:srgbClr val="FFFFFF"/>
                </a:solidFill>
                <a:latin typeface="Arial"/>
              </a:rPr>
              <a:t>B.  Half its volume</a:t>
            </a:r>
          </a:p>
          <a:p>
            <a:pPr algn="l">
              <a:lnSpc>
                <a:spcPct val="112000"/>
              </a:lnSpc>
              <a:spcBef>
                <a:spcPts val="0"/>
              </a:spcBef>
              <a:spcAft>
                <a:spcPts val="900"/>
              </a:spcAft>
            </a:pPr>
            <a:r>
              <a:rPr sz="1500" b="0" i="0">
                <a:solidFill>
                  <a:srgbClr val="FFFFFF"/>
                </a:solidFill>
                <a:latin typeface="Arial"/>
              </a:rPr>
              <a:t>C.  Nothing</a:t>
            </a:r>
          </a:p>
          <a:p>
            <a:pPr algn="l">
              <a:lnSpc>
                <a:spcPct val="112000"/>
              </a:lnSpc>
              <a:spcBef>
                <a:spcPts val="0"/>
              </a:spcBef>
              <a:spcAft>
                <a:spcPts val="900"/>
              </a:spcAft>
            </a:pPr>
            <a:r>
              <a:rPr sz="1500" b="0" i="0">
                <a:solidFill>
                  <a:srgbClr val="FFFFFF"/>
                </a:solidFill>
                <a:latin typeface="Arial"/>
              </a:rPr>
              <a:t>D.  Minus its whole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OBV and the ADL move in opposite directions. Price tends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decisively</a:t>
            </a:r>
          </a:p>
          <a:p>
            <a:pPr algn="l">
              <a:lnSpc>
                <a:spcPct val="112000"/>
              </a:lnSpc>
              <a:spcBef>
                <a:spcPts val="0"/>
              </a:spcBef>
              <a:spcAft>
                <a:spcPts val="900"/>
              </a:spcAft>
            </a:pPr>
            <a:r>
              <a:rPr sz="1500" b="0" i="0">
                <a:solidFill>
                  <a:srgbClr val="FFFFFF"/>
                </a:solidFill>
                <a:latin typeface="Arial"/>
              </a:rPr>
              <a:t>B.  Range or consolidate</a:t>
            </a:r>
          </a:p>
          <a:p>
            <a:pPr algn="l">
              <a:lnSpc>
                <a:spcPct val="112000"/>
              </a:lnSpc>
              <a:spcBef>
                <a:spcPts val="0"/>
              </a:spcBef>
              <a:spcAft>
                <a:spcPts val="900"/>
              </a:spcAft>
            </a:pPr>
            <a:r>
              <a:rPr sz="1500" b="0" i="0">
                <a:solidFill>
                  <a:srgbClr val="FFFFFF"/>
                </a:solidFill>
                <a:latin typeface="Arial"/>
              </a:rPr>
              <a:t>C.  Make a buying climax</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18</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ADL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closes exactly at the midpoint of its range. What does it add to the ADL?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Nothing</a:t>
            </a:r>
          </a:p>
          <a:p>
            <a:pPr algn="l">
              <a:lnSpc>
                <a:spcPct val="115000"/>
              </a:lnSpc>
              <a:spcBef>
                <a:spcPts val="700"/>
              </a:spcBef>
              <a:spcAft>
                <a:spcPts val="0"/>
              </a:spcAft>
            </a:pPr>
            <a:r>
              <a:rPr sz="1600" b="0" i="0">
                <a:solidFill>
                  <a:srgbClr val="1A1A1A"/>
                </a:solidFill>
                <a:latin typeface="Arial"/>
              </a:rPr>
              <a:t>When C = (H + L) / 2, the factor (C - L) - (H - C) is zero, so nothing is added or subtracted.</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OBV and the ADL move in opposite directions. Price tends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Range or consolidate</a:t>
            </a:r>
          </a:p>
          <a:p>
            <a:pPr algn="l">
              <a:lnSpc>
                <a:spcPct val="115000"/>
              </a:lnSpc>
              <a:spcBef>
                <a:spcPts val="700"/>
              </a:spcBef>
              <a:spcAft>
                <a:spcPts val="0"/>
              </a:spcAft>
            </a:pPr>
            <a:r>
              <a:rPr sz="1600" b="0" i="0">
                <a:solidFill>
                  <a:srgbClr val="1A1A1A"/>
                </a:solidFill>
                <a:latin typeface="Arial"/>
              </a:rPr>
              <a:t>When the two move in opposite directions there is a tendency for price to range or consolidate.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the ADL's signed volume over N bars, over their volume. The oscillator: two averages of its running total.</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Signed volumes 2.0, 0 and -0.5 million on volumes 2.0, 1.0 and 1.0 million: CMF = 1.5 / 4.0 = 0.375.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is the multiplying factor times volume. N-period CMF: the N-period sum of S over the N-period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two EMA lengths. EMA: an exponential moving average, Chapter 11. N: a number of periods. The bars and volumes are ours.</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sell, or bearish, signal: each breaks the rising line drawn under it. The Chaikin oscillator breaks first, the CMF later.</a:t>
            </a:r>
          </a:p>
          <a:p>
            <a:pPr algn="l">
              <a:lnSpc>
                <a:spcPct val="105000"/>
              </a:lnSpc>
              <a:spcBef>
                <a:spcPts val="0"/>
              </a:spcBef>
              <a:spcAft>
                <a:spcPts val="1100"/>
              </a:spcAft>
            </a:pPr>
            <a:r>
              <a:rPr sz="2000" b="0" i="0">
                <a:solidFill>
                  <a:srgbClr val="1A1A1A"/>
                </a:solidFill>
                <a:latin typeface="Arial"/>
              </a:rPr>
              <a:t>Oversold levels on both point to a potential market bottom in copper around October 2011.</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Chaikin oscillator gives the earlier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figure prints CMF(20) and ChiOsc(3,10); the text gives no settings.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14</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in the NYSE's rising stocks set against volume in its falling ones.</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6.44: the indicator breaks its rising trendline first, an early bearish signal; the NYSE Composite breaks later.</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price-based volume oscillator that also uses open interest, so it can only be used where there is open interest: futures and options.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 a gold futures chart it can be read. On a PSE share, which has no open interest, it cannot.</a:t>
            </a:r>
          </a:p>
        </p:txBody>
      </p:sp>
      <p:sp>
        <p:nvSpPr>
          <p:cNvPr id="11" name="Rectangle 10"/>
          <p:cNvSpPr/>
          <p:nvPr/>
        </p:nvSpPr>
        <p:spPr>
          <a:xfrm>
            <a:off x="777240" y="457555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Bearish signals: money flowing out; bullish signals: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14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who holds the open positions in a futures market, group by group.</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Traders look for changes in the net commercial or non-commercial positions, and for a test of a significant or historical open interest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it does not define net. The chart is ours, on invented prices and open interest.</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other volume oscillators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the Herrick Payoff Index only be used with futures and options?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uses tick volume</a:t>
            </a:r>
          </a:p>
          <a:p>
            <a:pPr algn="l">
              <a:lnSpc>
                <a:spcPct val="112000"/>
              </a:lnSpc>
              <a:spcBef>
                <a:spcPts val="0"/>
              </a:spcBef>
              <a:spcAft>
                <a:spcPts val="900"/>
              </a:spcAft>
            </a:pPr>
            <a:r>
              <a:rPr sz="1500" b="0" i="0">
                <a:solidFill>
                  <a:srgbClr val="FFFFFF"/>
                </a:solidFill>
                <a:latin typeface="Arial"/>
              </a:rPr>
              <a:t>B.  It is non-price-based</a:t>
            </a:r>
          </a:p>
          <a:p>
            <a:pPr algn="l">
              <a:lnSpc>
                <a:spcPct val="112000"/>
              </a:lnSpc>
              <a:spcBef>
                <a:spcPts val="0"/>
              </a:spcBef>
              <a:spcAft>
                <a:spcPts val="900"/>
              </a:spcAft>
            </a:pPr>
            <a:r>
              <a:rPr sz="1500" b="0" i="0">
                <a:solidFill>
                  <a:srgbClr val="FFFFFF"/>
                </a:solidFill>
                <a:latin typeface="Arial"/>
              </a:rPr>
              <a:t>C.  It uses open interest in its calculations</a:t>
            </a:r>
          </a:p>
          <a:p>
            <a:pPr algn="l">
              <a:lnSpc>
                <a:spcPct val="112000"/>
              </a:lnSpc>
              <a:spcBef>
                <a:spcPts val="0"/>
              </a:spcBef>
              <a:spcAft>
                <a:spcPts val="900"/>
              </a:spcAft>
            </a:pPr>
            <a:r>
              <a:rPr sz="1500" b="0" i="0">
                <a:solidFill>
                  <a:srgbClr val="FFFFFF"/>
                </a:solidFill>
                <a:latin typeface="Arial"/>
              </a:rPr>
              <a:t>D.  It is released every Friday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the Chaikin Money Flow, three bars have signed volumes of 3.0, 1.0 and -2.0 million on volumes of 4.0, 2.0 and 2.0 million. The CMF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0.25</a:t>
            </a:r>
          </a:p>
          <a:p>
            <a:pPr algn="l">
              <a:lnSpc>
                <a:spcPct val="112000"/>
              </a:lnSpc>
              <a:spcBef>
                <a:spcPts val="0"/>
              </a:spcBef>
              <a:spcAft>
                <a:spcPts val="900"/>
              </a:spcAft>
            </a:pPr>
            <a:r>
              <a:rPr sz="1500" b="0" i="0">
                <a:solidFill>
                  <a:srgbClr val="FFFFFF"/>
                </a:solidFill>
                <a:latin typeface="Arial"/>
              </a:rPr>
              <a:t>B.  2.0</a:t>
            </a:r>
          </a:p>
          <a:p>
            <a:pPr algn="l">
              <a:lnSpc>
                <a:spcPct val="112000"/>
              </a:lnSpc>
              <a:spcBef>
                <a:spcPts val="0"/>
              </a:spcBef>
              <a:spcAft>
                <a:spcPts val="900"/>
              </a:spcAft>
            </a:pPr>
            <a:r>
              <a:rPr sz="1500" b="0" i="0">
                <a:solidFill>
                  <a:srgbClr val="FFFFFF"/>
                </a:solidFill>
                <a:latin typeface="Arial"/>
              </a:rPr>
              <a:t>C.  0.5</a:t>
            </a:r>
          </a:p>
          <a:p>
            <a:pPr algn="l">
              <a:lnSpc>
                <a:spcPct val="112000"/>
              </a:lnSpc>
              <a:spcBef>
                <a:spcPts val="0"/>
              </a:spcBef>
              <a:spcAft>
                <a:spcPts val="900"/>
              </a:spcAft>
            </a:pPr>
            <a:r>
              <a:rPr sz="1500" b="0" i="0">
                <a:solidFill>
                  <a:srgbClr val="FFFFFF"/>
                </a:solidFill>
                <a:latin typeface="Arial"/>
              </a:rPr>
              <a:t>D.  -2.0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19</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other volume oscillators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may the Herrick Payoff Index only be used with futures and options?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It uses open interest in its calculations</a:t>
            </a:r>
          </a:p>
          <a:p>
            <a:pPr algn="l">
              <a:lnSpc>
                <a:spcPct val="115000"/>
              </a:lnSpc>
              <a:spcBef>
                <a:spcPts val="700"/>
              </a:spcBef>
              <a:spcAft>
                <a:spcPts val="0"/>
              </a:spcAft>
            </a:pPr>
            <a:r>
              <a:rPr sz="1600" b="0" i="0">
                <a:solidFill>
                  <a:srgbClr val="1A1A1A"/>
                </a:solidFill>
                <a:latin typeface="Arial"/>
              </a:rPr>
              <a:t>The Herrick Payoff Index uses open interest, which only futures and options have.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the Chaikin Money Flow, three bars have signed volumes of 3.0, 1.0 and -2.0 million on volumes of 4.0, 2.0 and 2.0 million. The CMF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0.25</a:t>
            </a:r>
          </a:p>
          <a:p>
            <a:pPr algn="l">
              <a:lnSpc>
                <a:spcPct val="115000"/>
              </a:lnSpc>
              <a:spcBef>
                <a:spcPts val="700"/>
              </a:spcBef>
              <a:spcAft>
                <a:spcPts val="0"/>
              </a:spcAft>
            </a:pPr>
            <a:r>
              <a:rPr sz="1600" b="0" i="0">
                <a:solidFill>
                  <a:srgbClr val="1A1A1A"/>
                </a:solidFill>
                <a:latin typeface="Arial"/>
              </a:rPr>
              <a:t>The sum of S, 2.0, divided by the sum of volume, 8.0, is 0.25.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19</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is participation: moving with price, bullish; against it, bearish.</a:t>
            </a:r>
          </a:p>
          <a:p>
            <a:pPr algn="l">
              <a:lnSpc>
                <a:spcPct val="118000"/>
              </a:lnSpc>
              <a:spcBef>
                <a:spcPts val="0"/>
              </a:spcBef>
              <a:spcAft>
                <a:spcPts val="1300"/>
              </a:spcAft>
            </a:pPr>
            <a:r>
              <a:rPr sz="2100" b="0" i="0">
                <a:solidFill>
                  <a:srgbClr val="1A1A1A"/>
                </a:solidFill>
                <a:latin typeface="Arial"/>
              </a:rPr>
              <a:t>Volume falling is divergence, rising is confirmation, whatever price does.</a:t>
            </a:r>
          </a:p>
          <a:p>
            <a:pPr algn="l">
              <a:lnSpc>
                <a:spcPct val="118000"/>
              </a:lnSpc>
              <a:spcBef>
                <a:spcPts val="0"/>
              </a:spcBef>
              <a:spcAft>
                <a:spcPts val="1300"/>
              </a:spcAft>
            </a:pPr>
            <a:r>
              <a:rPr sz="2100" b="0" i="0">
                <a:solidFill>
                  <a:srgbClr val="1A1A1A"/>
                </a:solidFill>
                <a:latin typeface="Arial"/>
              </a:rPr>
              <a:t>Minimum volume times breakouts and reversals; extreme volume, climaxes.</a:t>
            </a:r>
          </a:p>
          <a:p>
            <a:pPr algn="l">
              <a:lnSpc>
                <a:spcPct val="118000"/>
              </a:lnSpc>
              <a:spcBef>
                <a:spcPts val="0"/>
              </a:spcBef>
              <a:spcAft>
                <a:spcPts val="1300"/>
              </a:spcAft>
            </a:pPr>
            <a:r>
              <a:rPr sz="2100" b="0" i="0">
                <a:solidFill>
                  <a:srgbClr val="1A1A1A"/>
                </a:solidFill>
                <a:latin typeface="Arial"/>
              </a:rPr>
              <a:t>Barriers, filters and volume by price pick out the volume that matters.</a:t>
            </a:r>
          </a:p>
          <a:p>
            <a:pPr algn="l">
              <a:lnSpc>
                <a:spcPct val="118000"/>
              </a:lnSpc>
              <a:spcBef>
                <a:spcPts val="0"/>
              </a:spcBef>
              <a:spcAft>
                <a:spcPts val="1300"/>
              </a:spcAft>
            </a:pPr>
            <a:r>
              <a:rPr sz="2100" b="0" i="0">
                <a:solidFill>
                  <a:srgbClr val="1A1A1A"/>
                </a:solidFill>
                <a:latin typeface="Arial"/>
              </a:rPr>
              <a:t>Open interest reads like volume; the OBV, ADL and Chaikin pair use price.</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summary: price-based volume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against tick volume?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Volume cycles: their use, and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the first and last lines carry two each.</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Used, not explained: overbought, oversold, Bollinger Bands and Bandwidth, MACD, EMA, the tick, the cycle-tuned stochastic.</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by chapter: oscillators 8, divergence 9, moving averages and the VWMA's calculation 11.</a:t>
            </a:r>
          </a:p>
          <a:p>
            <a:pPr algn="l">
              <a:lnSpc>
                <a:spcPct val="118000"/>
              </a:lnSpc>
              <a:spcBef>
                <a:spcPts val="0"/>
              </a:spcBef>
              <a:spcAft>
                <a:spcPts val="1300"/>
              </a:spcAft>
            </a:pPr>
            <a:r>
              <a:rPr sz="2100" b="0" i="0">
                <a:solidFill>
                  <a:srgbClr val="1A1A1A"/>
                </a:solidFill>
                <a:latin typeface="Arial"/>
              </a:rPr>
              <a:t>Two answers: above the VWMA, bullish or overvalued; a bullish TRIN, overbought or oversold; the up/down line, ratio or cumulative.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numbers after Sent ahead are the book's chapters.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