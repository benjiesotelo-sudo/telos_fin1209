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February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The oscillator and the EMA come step by step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steps in order, with the one number that can be worked without Chapter 11.</a:t>
            </a:r>
          </a:p>
          <a:p>
            <a:r>
              <a:rPr sz="1400"/>
              <a:t>- S is never bigger than the bar's volume, so the CMF stays between -1 and +1: arithmetic, ours. The book gives no reading of the oscillator's sign.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price built in: the OBV, the ADL, the Chaikin Money Flow and Oscillator, the Herrick Payoff Index, and the Demand Index, which the book never explains.</a:t>
            </a:r>
          </a:p>
          <a:p>
            <a:pPr algn="l">
              <a:lnSpc>
                <a:spcPct val="118000"/>
              </a:lnSpc>
              <a:spcBef>
                <a:spcPts val="0"/>
              </a:spcBef>
              <a:spcAft>
                <a:spcPts val="1300"/>
              </a:spcAft>
            </a:pPr>
            <a:r>
              <a:rPr sz="2100" b="0" i="0">
                <a:solidFill>
                  <a:srgbClr val="1A1A1A"/>
                </a:solidFill>
                <a:latin typeface="Arial"/>
              </a:rPr>
              <a:t>Non-price-based, volume only: the NYSE Up/Down Volume Line. The VWMA (Part 2) is on neither of Part 1's two lists.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kind decides how divergence is read on it, by Part 1's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22</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reads every oscillator by eight methods, listed below and taught in Chapter 8. This part uses three:</a:t>
            </a:r>
          </a:p>
          <a:p>
            <a:pPr algn="l">
              <a:lnSpc>
                <a:spcPct val="105000"/>
              </a:lnSpc>
              <a:spcBef>
                <a:spcPts val="0"/>
              </a:spcBef>
              <a:spcAft>
                <a:spcPts val="1100"/>
              </a:spcAft>
            </a:pPr>
            <a:r>
              <a:rPr sz="1700" b="0" i="0">
                <a:solidFill>
                  <a:srgbClr val="1A1A1A"/>
                </a:solidFill>
                <a:latin typeface="Arial"/>
              </a:rPr>
              <a:t>A  Divergence, method 4: by Part 1's rule for the kind.</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book names no method.</a:t>
            </a:r>
          </a:p>
          <a:p>
            <a:pPr algn="l">
              <a:lnSpc>
                <a:spcPct val="105000"/>
              </a:lnSpc>
              <a:spcBef>
                <a:spcPts val="0"/>
              </a:spcBef>
              <a:spcAft>
                <a:spcPts val="1100"/>
              </a:spcAft>
            </a:pPr>
            <a:r>
              <a:rPr sz="1700" b="0" i="0">
                <a:solidFill>
                  <a:srgbClr val="1A1A1A"/>
                </a:solidFill>
                <a:latin typeface="Arial"/>
              </a:rPr>
              <a:t>C  An oversold level, method 1. Oversold is not defined here.</a:t>
            </a:r>
          </a:p>
        </p:txBody>
      </p:sp>
      <p:sp>
        <p:nvSpPr>
          <p:cNvPr id="8" name="Rectangle 7"/>
          <p:cNvSpPr/>
          <p:nvPr/>
        </p:nvSpPr>
        <p:spPr>
          <a:xfrm>
            <a:off x="777240" y="445770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94276"/>
            <a:ext cx="62910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A, B and C are used in this part.</a:t>
            </a:r>
          </a:p>
        </p:txBody>
      </p:sp>
      <p:sp>
        <p:nvSpPr>
          <p:cNvPr id="10" name="TextBox 9"/>
          <p:cNvSpPr txBox="1"/>
          <p:nvPr/>
        </p:nvSpPr>
        <p:spPr>
          <a:xfrm>
            <a:off x="777240" y="5079492"/>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geometrically, numerically and horizontally based oscillator pattern analysis, 8 oscillator-on-oscillator analysis.</a:t>
            </a:r>
          </a:p>
        </p:txBody>
      </p:sp>
      <p:sp>
        <p:nvSpPr>
          <p:cNvPr id="11" name="Rectangle 10"/>
          <p:cNvSpPr/>
          <p:nvPr/>
        </p:nvSpPr>
        <p:spPr>
          <a:xfrm>
            <a:off x="7682331" y="1810512"/>
            <a:ext cx="373075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a.png"/>
          <p:cNvPicPr>
            <a:picLocks noChangeAspect="1"/>
          </p:cNvPicPr>
          <p:nvPr/>
        </p:nvPicPr>
        <p:blipFill>
          <a:blip r:embed="rId2"/>
          <a:stretch>
            <a:fillRect/>
          </a:stretch>
        </p:blipFill>
        <p:spPr>
          <a:xfrm>
            <a:off x="7801203" y="1929384"/>
            <a:ext cx="3493008" cy="3511296"/>
          </a:xfrm>
          <a:prstGeom prst="rect">
            <a:avLst/>
          </a:prstGeom>
        </p:spPr>
      </p:pic>
      <p:sp>
        <p:nvSpPr>
          <p:cNvPr id="13" name="TextBox 12"/>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The chart is ours, an invented price and oscillator.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has no day before it, so the total starts at 0 there. Up days traded 2.0 + 3.0 = 5.0 million, down days 1.5 + 1.0 = 2.5: OBV 5.0 - 2.5 = 2.5.</a:t>
            </a:r>
          </a:p>
          <a:p>
            <a:pPr algn="l">
              <a:lnSpc>
                <a:spcPct val="118000"/>
              </a:lnSpc>
              <a:spcBef>
                <a:spcPts val="0"/>
              </a:spcBef>
              <a:spcAft>
                <a:spcPts val="1300"/>
              </a:spcAft>
            </a:pPr>
            <a:r>
              <a:rPr sz="2100" b="0" i="0">
                <a:solidFill>
                  <a:srgbClr val="1A1A1A"/>
                </a:solidFill>
                <a:latin typeface="Arial"/>
              </a:rPr>
              <a:t>So a rising OBV means more volume traded on up closes than on down closes; a falling OBV, the reverse.</a:t>
            </a:r>
          </a:p>
          <a:p>
            <a:pPr algn="l">
              <a:lnSpc>
                <a:spcPct val="118000"/>
              </a:lnSpc>
              <a:spcBef>
                <a:spcPts val="0"/>
              </a:spcBef>
              <a:spcAft>
                <a:spcPts val="1300"/>
              </a:spcAft>
            </a:pPr>
            <a:r>
              <a:rPr sz="2100" b="0" i="0">
                <a:solidFill>
                  <a:srgbClr val="1A1A1A"/>
                </a:solidFill>
                <a:latin typeface="Arial"/>
              </a:rPr>
              <a:t>The close sets the sign, so the OBV is price-based. Part 1's rule: rising is bullish, falling bearish; against price is divergence, with price confirmation.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OBV by its rises and falls against price, not by its level. Why: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it would be volume falling with price.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two arrows in 2011, level near 4.6, then rising from about 4.1 to 4.5.</a:t>
            </a:r>
          </a:p>
          <a:p>
            <a:pPr algn="l">
              <a:lnSpc>
                <a:spcPct val="105000"/>
              </a:lnSpc>
              <a:spcBef>
                <a:spcPts val="0"/>
              </a:spcBef>
              <a:spcAft>
                <a:spcPts val="1100"/>
              </a:spcAft>
            </a:pPr>
            <a:r>
              <a:rPr sz="1700" b="0" i="0">
                <a:solidFill>
                  <a:srgbClr val="1A1A1A"/>
                </a:solidFill>
                <a:latin typeface="Arial"/>
              </a:rPr>
              <a:t>OBV: falling under each arrow.</a:t>
            </a:r>
          </a:p>
          <a:p>
            <a:pPr algn="l">
              <a:lnSpc>
                <a:spcPct val="105000"/>
              </a:lnSpc>
              <a:spcBef>
                <a:spcPts val="0"/>
              </a:spcBef>
              <a:spcAft>
                <a:spcPts val="1100"/>
              </a:spcAft>
            </a:pPr>
            <a:r>
              <a:rPr sz="1700" b="0" i="0">
                <a:solidFill>
                  <a:srgbClr val="1A1A1A"/>
                </a:solidFill>
                <a:latin typeface="Arial"/>
              </a:rPr>
              <a:t>Price-based rule: the OBV falls, so bearish; against price, so divergence.</a:t>
            </a:r>
          </a:p>
          <a:p>
            <a:pPr algn="l">
              <a:lnSpc>
                <a:spcPct val="105000"/>
              </a:lnSpc>
              <a:spcBef>
                <a:spcPts val="0"/>
              </a:spcBef>
              <a:spcAft>
                <a:spcPts val="1100"/>
              </a:spcAft>
            </a:pPr>
            <a:r>
              <a:rPr sz="1700" b="0" i="0">
                <a:solidFill>
                  <a:srgbClr val="1A1A1A"/>
                </a:solidFill>
                <a:latin typeface="Arial"/>
              </a:rPr>
              <a:t>The book: prices fell strongly thereafter, here to about 3.0 by October.</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rises to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in the uptrend.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wait for price confirmation of a reversal before trading. It does not say what counts as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The book does not say here what counts as price confirmation.</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a trend-following or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volumes over the last N bars, added, over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N = 3: signed volumes 2.0, 0 and -0.5 million make 1.5; volumes 2.0, 1.0 and 1.0 make 4.0.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Each bar's S, its signed volume, as for the ADL.   2  The N-bar CMF: sum of S / sum of volume.</a:t>
            </a:r>
          </a:p>
          <a:p>
            <a:pPr algn="l">
              <a:lnSpc>
                <a:spcPct val="118000"/>
              </a:lnSpc>
              <a:spcBef>
                <a:spcPts val="0"/>
              </a:spcBef>
              <a:spcAft>
                <a:spcPts val="1300"/>
              </a:spcAft>
            </a:pPr>
            <a:r>
              <a:rPr sz="2100" b="0" i="0">
                <a:solidFill>
                  <a:srgbClr val="1A1A1A"/>
                </a:solidFill>
                <a:latin typeface="Arial"/>
              </a:rPr>
              <a:t>3  A running total of the CMF, as for the ADL.   4  Two EMAs of it, one over fewer bars, one over more.</a:t>
            </a:r>
          </a:p>
          <a:p>
            <a:pPr algn="l">
              <a:lnSpc>
                <a:spcPct val="118000"/>
              </a:lnSpc>
              <a:spcBef>
                <a:spcPts val="0"/>
              </a:spcBef>
              <a:spcAft>
                <a:spcPts val="1300"/>
              </a:spcAft>
            </a:pPr>
            <a:r>
              <a:rPr sz="2100" b="0" i="0">
                <a:solidFill>
                  <a:srgbClr val="1A1A1A"/>
                </a:solidFill>
                <a:latin typeface="Arial"/>
              </a:rPr>
              <a:t>5  Oscillator = shorter EMA - longer EMA. Ours: 2.4 - 1.9 = 0.5. EMA: exponential moving average, Chapter 11.</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lengths: its Figure 6.43 prints CMF(20), N = 20, and ChiOsc(3,10), EMAs of 3 and 10.</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and no reading of the sign. EMA: Chapter 11. The 2.4 and 1.9 are ours.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900" b="0" i="0">
                <a:solidFill>
                  <a:srgbClr val="1A1A1A"/>
                </a:solidFill>
                <a:latin typeface="Arial"/>
              </a:rPr>
              <a:t>The oscillator falls through first, the CMF later. Arrows run up to the top.</a:t>
            </a:r>
          </a:p>
          <a:p>
            <a:pPr algn="l">
              <a:lnSpc>
                <a:spcPct val="105000"/>
              </a:lnSpc>
              <a:spcBef>
                <a:spcPts val="0"/>
              </a:spcBef>
              <a:spcAft>
                <a:spcPts val="1100"/>
              </a:spcAft>
            </a:pPr>
            <a:r>
              <a:rPr sz="1900" b="0" i="0">
                <a:solidFill>
                  <a:srgbClr val="1A1A1A"/>
                </a:solidFill>
                <a:latin typeface="Arial"/>
              </a:rPr>
              <a:t>Both touch a line labelled oversold near the October 2011 low: a potential bottom.</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46451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trade in rising stocks, 400 million in falling ones: 600 / 400 = 1.5. Above 1, more went into rising stocks.</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Index breaks its own line later, circled: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volume oscillator using price and open interest: futures and options only.</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02056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22</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futures contracts, by group.</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use, the book: to identify potential tops and bottoms in the market, by looking for two things.</a:t>
            </a:r>
          </a:p>
          <a:p>
            <a:pPr algn="l">
              <a:lnSpc>
                <a:spcPct val="118000"/>
              </a:lnSpc>
              <a:spcBef>
                <a:spcPts val="0"/>
              </a:spcBef>
              <a:spcAft>
                <a:spcPts val="1300"/>
              </a:spcAft>
            </a:pPr>
            <a:r>
              <a:rPr sz="2100" b="0" i="0">
                <a:solidFill>
                  <a:srgbClr val="1A1A1A"/>
                </a:solidFill>
                <a:latin typeface="Arial"/>
              </a:rPr>
              <a:t>1  Changes in the net commercial or net non-commercial open positions. The book never defines net.</a:t>
            </a:r>
          </a:p>
          <a:p>
            <a:pPr algn="l">
              <a:lnSpc>
                <a:spcPct val="118000"/>
              </a:lnSpc>
              <a:spcBef>
                <a:spcPts val="0"/>
              </a:spcBef>
              <a:spcAft>
                <a:spcPts val="1300"/>
              </a:spcAft>
            </a:pPr>
            <a:r>
              <a:rPr sz="2100" b="0" i="0">
                <a:solidFill>
                  <a:srgbClr val="1A1A1A"/>
                </a:solidFill>
                <a:latin typeface="Arial"/>
              </a:rPr>
              <a:t>2  A test of a significant or historical open interest level: open interest back at a level it reached before.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names what to look for, not a rule for acting on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and gives no worked figures, so no number is worked here.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volume falling is divergence, rising confirmation, whatever price does.</a:t>
            </a:r>
          </a:p>
          <a:p>
            <a:pPr algn="l">
              <a:lnSpc>
                <a:spcPct val="118000"/>
              </a:lnSpc>
              <a:spcBef>
                <a:spcPts val="0"/>
              </a:spcBef>
              <a:spcAft>
                <a:spcPts val="1300"/>
              </a:spcAft>
            </a:pPr>
            <a:r>
              <a:rPr sz="2100" b="0" i="0">
                <a:solidFill>
                  <a:srgbClr val="1A1A1A"/>
                </a:solidFill>
                <a:latin typeface="Arial"/>
              </a:rPr>
              <a:t>Part 2: minimum volume times breakouts and reversals; extreme volume, climaxes.</a:t>
            </a:r>
          </a:p>
          <a:p>
            <a:pPr algn="l">
              <a:lnSpc>
                <a:spcPct val="118000"/>
              </a:lnSpc>
              <a:spcBef>
                <a:spcPts val="0"/>
              </a:spcBef>
              <a:spcAft>
                <a:spcPts val="1300"/>
              </a:spcAft>
            </a:pPr>
            <a:r>
              <a:rPr sz="2100" b="0" i="0">
                <a:solidFill>
                  <a:srgbClr val="1A1A1A"/>
                </a:solidFill>
                <a:latin typeface="Arial"/>
              </a:rPr>
              <a:t>Parts 3, 4: barriers, filters and volume by price pick out significant volume.</a:t>
            </a:r>
          </a:p>
          <a:p>
            <a:pPr algn="l">
              <a:lnSpc>
                <a:spcPct val="118000"/>
              </a:lnSpc>
              <a:spcBef>
                <a:spcPts val="0"/>
              </a:spcBef>
              <a:spcAft>
                <a:spcPts val="1300"/>
              </a:spcAft>
            </a:pPr>
            <a:r>
              <a:rPr sz="2100" b="0" i="0">
                <a:solidFill>
                  <a:srgbClr val="1A1A1A"/>
                </a:solidFill>
                <a:latin typeface="Arial"/>
              </a:rPr>
              <a:t>Parts 4, 6: open interest reads like volume; the OBV, ADL, Chaikin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each review question is answered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against tick volume: Part 4.     2  Bearish and bullish volume: Part 1.</a:t>
            </a:r>
          </a:p>
          <a:p>
            <a:pPr algn="l">
              <a:lnSpc>
                <a:spcPct val="118000"/>
              </a:lnSpc>
              <a:spcBef>
                <a:spcPts val="0"/>
              </a:spcBef>
              <a:spcAft>
                <a:spcPts val="1300"/>
              </a:spcAft>
            </a:pPr>
            <a:r>
              <a:rPr sz="2100" b="0" i="0">
                <a:solidFill>
                  <a:srgbClr val="1A1A1A"/>
                </a:solidFill>
                <a:latin typeface="Arial"/>
              </a:rPr>
              <a:t>3  Volume divergence against standard oscillator divergence: Part 1.</a:t>
            </a:r>
          </a:p>
          <a:p>
            <a:pPr algn="l">
              <a:lnSpc>
                <a:spcPct val="118000"/>
              </a:lnSpc>
              <a:spcBef>
                <a:spcPts val="0"/>
              </a:spcBef>
              <a:spcAft>
                <a:spcPts val="1300"/>
              </a:spcAft>
            </a:pPr>
            <a:r>
              <a:rPr sz="2100" b="0" i="0">
                <a:solidFill>
                  <a:srgbClr val="1A1A1A"/>
                </a:solidFill>
                <a:latin typeface="Arial"/>
              </a:rPr>
              <a:t>4  Volume as a timing indicator: Part 2.     5  The modes of volume filtering: Part 3.</a:t>
            </a:r>
          </a:p>
          <a:p>
            <a:pPr algn="l">
              <a:lnSpc>
                <a:spcPct val="118000"/>
              </a:lnSpc>
              <a:spcBef>
                <a:spcPts val="0"/>
              </a:spcBef>
              <a:spcAft>
                <a:spcPts val="1300"/>
              </a:spcAft>
            </a:pPr>
            <a:r>
              <a:rPr sz="2100" b="0" i="0">
                <a:solidFill>
                  <a:srgbClr val="1A1A1A"/>
                </a:solidFill>
                <a:latin typeface="Arial"/>
              </a:rPr>
              <a:t>6  Volume, open interest and price: Part 4.     7  Absolute or relative volume: Part 4.</a:t>
            </a:r>
          </a:p>
          <a:p>
            <a:pPr algn="l">
              <a:lnSpc>
                <a:spcPct val="118000"/>
              </a:lnSpc>
              <a:spcBef>
                <a:spcPts val="0"/>
              </a:spcBef>
              <a:spcAft>
                <a:spcPts val="1300"/>
              </a:spcAft>
            </a:pPr>
            <a:r>
              <a:rPr sz="2100" b="0" i="0">
                <a:solidFill>
                  <a:srgbClr val="1A1A1A"/>
                </a:solidFill>
                <a:latin typeface="Arial"/>
              </a:rPr>
              <a:t>8  Volume cycles, their use and where: Part 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map of the book's p.208 questions onto the parts of this deck.</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and never explained in this chapter: overbought and oversold, the Bollinger Band and Bandwidth, the MACD, the tick, the cycle-tuned stochastic.</a:t>
            </a:r>
          </a:p>
          <a:p>
            <a:pPr algn="l">
              <a:lnSpc>
                <a:spcPct val="118000"/>
              </a:lnSpc>
              <a:spcBef>
                <a:spcPts val="0"/>
              </a:spcBef>
              <a:spcAft>
                <a:spcPts val="1300"/>
              </a:spcAft>
            </a:pPr>
            <a:r>
              <a:rPr sz="2100" b="0" i="0">
                <a:solidFill>
                  <a:srgbClr val="1A1A1A"/>
                </a:solidFill>
                <a:latin typeface="Arial"/>
              </a:rPr>
              <a:t>Named and never explained anywhere in it: the Demand Index, detrended volume, ROC volume, the PVO.</a:t>
            </a:r>
          </a:p>
          <a:p>
            <a:pPr algn="l">
              <a:lnSpc>
                <a:spcPct val="118000"/>
              </a:lnSpc>
              <a:spcBef>
                <a:spcPts val="0"/>
              </a:spcBef>
              <a:spcAft>
                <a:spcPts val="1300"/>
              </a:spcAft>
            </a:pPr>
            <a:r>
              <a:rPr sz="2100" b="0" i="0">
                <a:solidFill>
                  <a:srgbClr val="1A1A1A"/>
                </a:solidFill>
                <a:latin typeface="Arial"/>
              </a:rPr>
              <a:t>Taught in later chapters of the book: oscillators and their eight methods, Chapter 8; divergence, Chapter 9.</a:t>
            </a:r>
          </a:p>
          <a:p>
            <a:pPr algn="l">
              <a:lnSpc>
                <a:spcPct val="118000"/>
              </a:lnSpc>
              <a:spcBef>
                <a:spcPts val="0"/>
              </a:spcBef>
              <a:spcAft>
                <a:spcPts val="1300"/>
              </a:spcAft>
            </a:pPr>
            <a:r>
              <a:rPr sz="2100" b="0" i="0">
                <a:solidFill>
                  <a:srgbClr val="1A1A1A"/>
                </a:solidFill>
                <a:latin typeface="Arial"/>
              </a:rPr>
              <a:t>Moving averages, the EMA, and how the VWMA is calculated: Chapter 11.</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are the book's.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potentially bullish, then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yet Figure 6.44's line runs below zero.</a:t>
            </a:r>
          </a:p>
          <a:p>
            <a:pPr algn="l">
              <a:lnSpc>
                <a:spcPct val="118000"/>
              </a:lnSpc>
              <a:spcBef>
                <a:spcPts val="0"/>
              </a:spcBef>
              <a:spcAft>
                <a:spcPts val="1300"/>
              </a:spcAft>
            </a:pPr>
            <a:r>
              <a:rPr sz="2100" b="0" i="0">
                <a:solidFill>
                  <a:srgbClr val="1A1A1A"/>
                </a:solidFill>
                <a:latin typeface="Arial"/>
              </a:rPr>
              <a:t>Bullish divergence (Part 1): downtrend only, but Figure 6.6 is an uptrend.</a:t>
            </a:r>
          </a:p>
          <a:p>
            <a:pPr algn="l">
              <a:lnSpc>
                <a:spcPct val="118000"/>
              </a:lnSpc>
              <a:spcBef>
                <a:spcPts val="0"/>
              </a:spcBef>
              <a:spcAft>
                <a:spcPts val="1300"/>
              </a:spcAft>
            </a:pPr>
            <a:r>
              <a:rPr sz="2100" b="0" i="0">
                <a:solidFill>
                  <a:srgbClr val="1A1A1A"/>
                </a:solidFill>
                <a:latin typeface="Arial"/>
              </a:rPr>
              <a:t>Captions: 6.6 daily or weekly, 6.11 VWMA or VWAP, 6.23 silver or USDJPY, 6.25 and 6.26 daily or intraday.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 and no check rests on 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