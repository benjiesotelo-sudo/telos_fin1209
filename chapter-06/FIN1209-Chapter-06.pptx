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mark 1; volume confirmation looks at one stretch of volume.</a:t>
            </a:r>
          </a:p>
          <a:p>
            <a:r>
              <a:rPr sz="1400"/>
              <a:t>- So the uptrend dip on falling volume, mark 2,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marks 2 and 3.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step up under the August 2011 spikes, mark 1, then follow the line right to where it drops, mark 2.</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Uptrend: volume rises as price rises, falls on the dips. The book calls this bullish volume action.</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Downtrend: volume rises as price falls, falls on the bounces. The book calls this bearish volume action.</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53766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confirm their trend. Numbers on the next slide.</a:t>
            </a:r>
          </a:p>
        </p:txBody>
      </p:sp>
      <p:sp>
        <p:nvSpPr>
          <p:cNvPr id="10" name="TextBox 9"/>
          <p:cNvSpPr txBox="1"/>
          <p:nvPr/>
        </p:nvSpPr>
        <p:spPr>
          <a:xfrm>
            <a:off x="777240" y="531876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7528221" y="21260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28221" y="436736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26</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118486" y="2275606"/>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8963038" y="36725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77864"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682447"/>
            <a:ext cx="2284458" cy="508611"/>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63502" y="45269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Volume confirms the trend (Chapter 2, p.174): over the whole trend, big with it, small against it. On Figure 6.6, volume expands across the whole rise.</a:t>
            </a:r>
          </a:p>
          <a:p>
            <a:pPr algn="l">
              <a:lnSpc>
                <a:spcPct val="105000"/>
              </a:lnSpc>
              <a:spcBef>
                <a:spcPts val="0"/>
              </a:spcBef>
              <a:spcAft>
                <a:spcPts val="1100"/>
              </a:spcAft>
            </a:pPr>
            <a:r>
              <a:rPr sz="1600" b="0" i="0">
                <a:solidFill>
                  <a:srgbClr val="1A1A1A"/>
                </a:solidFill>
                <a:latin typeface="Arial"/>
              </a:rPr>
              <a:t>Volume confirmation (p.175): on one stretch, volume rising. It judges one leg at a time.</a:t>
            </a:r>
          </a:p>
          <a:p>
            <a:pPr algn="l">
              <a:lnSpc>
                <a:spcPct val="105000"/>
              </a:lnSpc>
              <a:spcBef>
                <a:spcPts val="0"/>
              </a:spcBef>
              <a:spcAft>
                <a:spcPts val="1100"/>
              </a:spcAft>
            </a:pPr>
            <a:r>
              <a:rPr sz="1600" b="0" i="0">
                <a:solidFill>
                  <a:srgbClr val="1A1A1A"/>
                </a:solidFill>
                <a:latin typeface="Arial"/>
              </a:rPr>
              <a:t>Ours: PHP 40 to 46 on 2 to 4 million, a dip to 44 on 1 million. The trend is confirmed; the dip alone, volume falling with price, is bullish divergence. The book's periods 4 </a:t>
            </a:r>
            <a:r>
              <a:rPr sz="1600" b="1" i="0">
                <a:solidFill>
                  <a:srgbClr val="C62828"/>
                </a:solidFill>
                <a:latin typeface="Arial"/>
              </a:rPr>
              <a:t>(2)</a:t>
            </a:r>
            <a:r>
              <a:rPr sz="1600" b="0" i="0">
                <a:solidFill>
                  <a:srgbClr val="1A1A1A"/>
                </a:solidFill>
                <a:latin typeface="Arial"/>
              </a:rPr>
              <a:t> and 6 </a:t>
            </a:r>
            <a:r>
              <a:rPr sz="1600" b="1" i="0">
                <a:solidFill>
                  <a:srgbClr val="1F5FAD"/>
                </a:solidFill>
                <a:latin typeface="Arial"/>
              </a:rPr>
              <a:t>(3)</a:t>
            </a:r>
            <a:r>
              <a:rPr sz="1600" b="0" i="0">
                <a:solidFill>
                  <a:srgbClr val="1A1A1A"/>
                </a:solidFill>
                <a:latin typeface="Arial"/>
              </a:rPr>
              <a:t> are such dips.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dip can be a bullish divergence inside a confirmed uptrend.</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p.175 (volume confirmation) and Figure 6.6 (p.178).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271624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34071" y="2276856"/>
            <a:ext cx="3861511" cy="247850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34071" y="2276856"/>
            <a:ext cx="38615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08392" y="2551175"/>
            <a:ext cx="3312871" cy="2021305"/>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6.4</a:t>
            </a:r>
          </a:p>
          <a:p>
            <a:pPr algn="l">
              <a:lnSpc>
                <a:spcPct val="115000"/>
              </a:lnSpc>
              <a:spcBef>
                <a:spcPts val="0"/>
              </a:spcBef>
              <a:spcAft>
                <a:spcPts val="0"/>
              </a:spcAft>
            </a:pPr>
            <a:r>
              <a:rPr sz="15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731671" y="2294205"/>
            <a:ext cx="803194" cy="2106729"/>
          </a:xfrm>
          <a:prstGeom prst="rect">
            <a:avLst/>
          </a:prstGeom>
          <a:noFill/>
          <a:ln w="44450">
            <a:solidFill>
              <a:srgbClr val="E09B00"/>
            </a:solidFill>
          </a:ln>
        </p:spPr>
        <p:txBody>
          <a:bodyPr rtlCol="0" anchor="ctr"/>
          <a:lstStyle/>
          <a:p>
            <a:pPr algn="ctr"/>
          </a:p>
        </p:txBody>
      </p:sp>
      <p:sp>
        <p:nvSpPr>
          <p:cNvPr id="19" name="Oval 18"/>
          <p:cNvSpPr/>
          <p:nvPr/>
        </p:nvSpPr>
        <p:spPr>
          <a:xfrm>
            <a:off x="9576223" y="2138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315199" y="4965673"/>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6932203" y="2284718"/>
            <a:ext cx="3991344" cy="1654939"/>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6776755" y="37842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722196"/>
            <a:ext cx="2261208" cy="1365894"/>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84795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5667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39563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50849" y="408111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Periods 1, 3, 7 and 9, period 3 marked: price and volume rise, bullish confirmation. 4 </a:t>
            </a:r>
            <a:r>
              <a:rPr sz="1500" b="1" i="0">
                <a:solidFill>
                  <a:srgbClr val="C62828"/>
                </a:solidFill>
                <a:latin typeface="Arial"/>
              </a:rPr>
              <a:t>(2)</a:t>
            </a:r>
            <a:r>
              <a:rPr sz="1500" b="0" i="0">
                <a:solidFill>
                  <a:srgbClr val="1A1A1A"/>
                </a:solidFill>
                <a:latin typeface="Arial"/>
              </a:rPr>
              <a:t> and 6 </a:t>
            </a:r>
            <a:r>
              <a:rPr sz="1500" b="1" i="0">
                <a:solidFill>
                  <a:srgbClr val="1F5FAD"/>
                </a:solidFill>
                <a:latin typeface="Arial"/>
              </a:rPr>
              <a:t>(3)</a:t>
            </a:r>
            <a:r>
              <a:rPr sz="15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500" b="1" i="0">
                <a:solidFill>
                  <a:srgbClr val="007A33"/>
                </a:solidFill>
                <a:latin typeface="Arial"/>
              </a:rPr>
              <a:t>(4)</a:t>
            </a:r>
            <a:r>
              <a:rPr sz="1500" b="0" i="0">
                <a:solidFill>
                  <a:srgbClr val="1A1A1A"/>
                </a:solidFill>
                <a:latin typeface="Arial"/>
              </a:rPr>
              <a:t> Periods 2, 8 and 10, period 2 marked: volume falls as price moves sideways, a consolidation (Chapter 4). At volume's minimum, price breaks out.</a:t>
            </a:r>
          </a:p>
        </p:txBody>
      </p:sp>
      <p:sp>
        <p:nvSpPr>
          <p:cNvPr id="8" name="Rectangle 7"/>
          <p:cNvSpPr/>
          <p:nvPr/>
        </p:nvSpPr>
        <p:spPr>
          <a:xfrm>
            <a:off x="777240" y="4176522"/>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13098"/>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In a consolidation, volume times the breakout: Part 2.</a:t>
            </a:r>
          </a:p>
        </p:txBody>
      </p:sp>
      <p:sp>
        <p:nvSpPr>
          <p:cNvPr id="10" name="TextBox 9"/>
          <p:cNvSpPr txBox="1"/>
          <p:nvPr/>
        </p:nvSpPr>
        <p:spPr>
          <a:xfrm>
            <a:off x="777240" y="50116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849343"/>
            <a:ext cx="1014666" cy="2510576"/>
          </a:xfrm>
          <a:prstGeom prst="rect">
            <a:avLst/>
          </a:prstGeom>
          <a:noFill/>
          <a:ln w="44450">
            <a:solidFill>
              <a:srgbClr val="007A33"/>
            </a:solidFill>
          </a:ln>
        </p:spPr>
        <p:txBody>
          <a:bodyPr rtlCol="0" anchor="ctr"/>
          <a:lstStyle/>
          <a:p>
            <a:pPr algn="ctr"/>
          </a:p>
        </p:txBody>
      </p:sp>
      <p:sp>
        <p:nvSpPr>
          <p:cNvPr id="19" name="Oval 18"/>
          <p:cNvSpPr/>
          <p:nvPr/>
        </p:nvSpPr>
        <p:spPr>
          <a:xfrm>
            <a:off x="8235979" y="21531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269389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500" b="0" i="0">
                <a:solidFill>
                  <a:srgbClr val="1A1A1A"/>
                </a:solidFill>
                <a:latin typeface="Arial"/>
              </a:rPr>
              <a:t>Figure 6.7: top half divergence, bottom half confirmation; left half </a:t>
            </a:r>
            <a:r>
              <a:rPr sz="1500" b="1" i="0">
                <a:solidFill>
                  <a:srgbClr val="E09B00"/>
                </a:solidFill>
                <a:latin typeface="Arial"/>
              </a:rPr>
              <a:t>(1)</a:t>
            </a:r>
            <a:r>
              <a:rPr sz="1500" b="0" i="0">
                <a:solidFill>
                  <a:srgbClr val="1A1A1A"/>
                </a:solidFill>
                <a:latin typeface="Arial"/>
              </a:rPr>
              <a:t> plain volume, right half </a:t>
            </a:r>
            <a:r>
              <a:rPr sz="1500" b="1" i="0">
                <a:solidFill>
                  <a:srgbClr val="C62828"/>
                </a:solidFill>
                <a:latin typeface="Arial"/>
              </a:rPr>
              <a:t>(2)</a:t>
            </a:r>
            <a:r>
              <a:rPr sz="1500" b="0" i="0">
                <a:solidFill>
                  <a:srgbClr val="1A1A1A"/>
                </a:solidFill>
                <a:latin typeface="Arial"/>
              </a:rPr>
              <a:t> price-based. Only two volume arrows flip, </a:t>
            </a:r>
            <a:r>
              <a:rPr sz="1500" b="1" i="0">
                <a:solidFill>
                  <a:srgbClr val="1F5FAD"/>
                </a:solidFill>
                <a:latin typeface="Arial"/>
              </a:rPr>
              <a:t>(3)</a:t>
            </a:r>
            <a:r>
              <a:rPr sz="1500" b="0" i="0">
                <a:solidFill>
                  <a:srgbClr val="1A1A1A"/>
                </a:solidFill>
                <a:latin typeface="Arial"/>
              </a:rPr>
              <a:t> and </a:t>
            </a:r>
            <a:r>
              <a:rPr sz="1500" b="1" i="0">
                <a:solidFill>
                  <a:srgbClr val="007A33"/>
                </a:solidFill>
                <a:latin typeface="Arial"/>
              </a:rPr>
              <a:t>(4)</a:t>
            </a:r>
            <a:r>
              <a:rPr sz="1500" b="0" i="0">
                <a:solidFill>
                  <a:srgbClr val="1A1A1A"/>
                </a:solidFill>
                <a:latin typeface="Arial"/>
              </a:rPr>
              <a:t>.</a:t>
            </a:r>
          </a:p>
        </p:txBody>
      </p:sp>
      <p:sp>
        <p:nvSpPr>
          <p:cNvPr id="8" name="Rectangle 7"/>
          <p:cNvSpPr/>
          <p:nvPr/>
        </p:nvSpPr>
        <p:spPr>
          <a:xfrm>
            <a:off x="777240" y="506120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501091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First ask which kind you are reading.</a:t>
            </a:r>
          </a:p>
        </p:txBody>
      </p:sp>
      <p:sp>
        <p:nvSpPr>
          <p:cNvPr id="10" name="TextBox 9"/>
          <p:cNvSpPr txBox="1"/>
          <p:nvPr/>
        </p:nvSpPr>
        <p:spPr>
          <a:xfrm>
            <a:off x="777240" y="565251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83589" y="1810512"/>
            <a:ext cx="48480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602461" y="1929384"/>
            <a:ext cx="4610331"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602461" y="1929384"/>
            <a:ext cx="46103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876781" y="2203703"/>
            <a:ext cx="4061691"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671616" y="2010143"/>
            <a:ext cx="2222179" cy="3381378"/>
          </a:xfrm>
          <a:prstGeom prst="rect">
            <a:avLst/>
          </a:prstGeom>
          <a:noFill/>
          <a:ln w="44450">
            <a:solidFill>
              <a:srgbClr val="E09B00"/>
            </a:solidFill>
          </a:ln>
        </p:spPr>
        <p:txBody>
          <a:bodyPr rtlCol="0" anchor="ctr"/>
          <a:lstStyle/>
          <a:p>
            <a:pPr algn="ctr"/>
          </a:p>
        </p:txBody>
      </p:sp>
      <p:sp>
        <p:nvSpPr>
          <p:cNvPr id="16" name="Rectangle 15"/>
          <p:cNvSpPr/>
          <p:nvPr/>
        </p:nvSpPr>
        <p:spPr>
          <a:xfrm>
            <a:off x="8949120" y="2010143"/>
            <a:ext cx="2208348" cy="3381378"/>
          </a:xfrm>
          <a:prstGeom prst="rect">
            <a:avLst/>
          </a:prstGeom>
          <a:noFill/>
          <a:ln w="44450">
            <a:solidFill>
              <a:srgbClr val="C62828"/>
            </a:solidFill>
          </a:ln>
        </p:spPr>
        <p:txBody>
          <a:bodyPr rtlCol="0" anchor="ctr"/>
          <a:lstStyle/>
          <a:p>
            <a:pPr algn="ctr"/>
          </a:p>
        </p:txBody>
      </p:sp>
      <p:sp>
        <p:nvSpPr>
          <p:cNvPr id="17" name="Oval 16"/>
          <p:cNvSpPr/>
          <p:nvPr/>
        </p:nvSpPr>
        <p:spPr>
          <a:xfrm>
            <a:off x="10216961" y="2747515"/>
            <a:ext cx="940507" cy="579363"/>
          </a:xfrm>
          <a:prstGeom prst="ellipse">
            <a:avLst/>
          </a:prstGeom>
          <a:noFill/>
          <a:ln w="44450">
            <a:solidFill>
              <a:srgbClr val="1F5FAD"/>
            </a:solidFill>
          </a:ln>
        </p:spPr>
        <p:txBody>
          <a:bodyPr rtlCol="0" anchor="ctr"/>
          <a:lstStyle/>
          <a:p>
            <a:pPr algn="ctr"/>
          </a:p>
        </p:txBody>
      </p:sp>
      <p:sp>
        <p:nvSpPr>
          <p:cNvPr id="18" name="Oval 17"/>
          <p:cNvSpPr/>
          <p:nvPr/>
        </p:nvSpPr>
        <p:spPr>
          <a:xfrm>
            <a:off x="10286116" y="4464539"/>
            <a:ext cx="843690" cy="670657"/>
          </a:xfrm>
          <a:prstGeom prst="ellipse">
            <a:avLst/>
          </a:prstGeom>
          <a:noFill/>
          <a:ln w="44450">
            <a:solidFill>
              <a:srgbClr val="007A33"/>
            </a:solidFill>
          </a:ln>
        </p:spPr>
        <p:txBody>
          <a:bodyPr rtlCol="0" anchor="ctr"/>
          <a:lstStyle/>
          <a:p>
            <a:pPr algn="ctr"/>
          </a:p>
        </p:txBody>
      </p:sp>
      <p:sp>
        <p:nvSpPr>
          <p:cNvPr id="19" name="Oval 18"/>
          <p:cNvSpPr/>
          <p:nvPr/>
        </p:nvSpPr>
        <p:spPr>
          <a:xfrm>
            <a:off x="6516168" y="18546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793672" y="18546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061513" y="25920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130668" y="430909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 rising, PHP 46 to 50, </a:t>
            </a:r>
            <a:r>
              <a:rPr sz="1500" b="1" i="0">
                <a:solidFill>
                  <a:srgbClr val="E09B00"/>
                </a:solidFill>
                <a:latin typeface="Arial"/>
              </a:rPr>
              <a:t>(1)</a:t>
            </a:r>
            <a:r>
              <a:rPr sz="1500" b="0" i="0">
                <a:solidFill>
                  <a:srgbClr val="1A1A1A"/>
                </a:solidFill>
                <a:latin typeface="Arial"/>
              </a:rPr>
              <a:t> and </a:t>
            </a:r>
            <a:r>
              <a:rPr sz="1500" b="1" i="0">
                <a:solidFill>
                  <a:srgbClr val="E09B00"/>
                </a:solidFill>
                <a:latin typeface="Arial"/>
              </a:rPr>
              <a:t>(2)</a:t>
            </a:r>
            <a:r>
              <a:rPr sz="1500" b="0" i="0">
                <a:solidFill>
                  <a:srgbClr val="1A1A1A"/>
                </a:solidFill>
                <a:latin typeface="Arial"/>
              </a:rPr>
              <a:t>: both kinds read alike. Volume 3 to 5 million, OBV 5 to 7: bullish confirmation. Both down: bearish divergence.</a:t>
            </a:r>
          </a:p>
          <a:p>
            <a:pPr algn="l">
              <a:lnSpc>
                <a:spcPct val="105000"/>
              </a:lnSpc>
              <a:spcBef>
                <a:spcPts val="0"/>
              </a:spcBef>
              <a:spcAft>
                <a:spcPts val="1100"/>
              </a:spcAft>
            </a:pPr>
            <a:r>
              <a:rPr sz="1500" b="0" i="0">
                <a:solidFill>
                  <a:srgbClr val="1A1A1A"/>
                </a:solidFill>
                <a:latin typeface="Arial"/>
              </a:rPr>
              <a:t>Price falling, 50 to 46, bullish divergence, </a:t>
            </a:r>
            <a:r>
              <a:rPr sz="1500" b="1" i="0">
                <a:solidFill>
                  <a:srgbClr val="C62828"/>
                </a:solidFill>
                <a:latin typeface="Arial"/>
              </a:rPr>
              <a:t>(3)</a:t>
            </a:r>
            <a:r>
              <a:rPr sz="1500" b="0" i="0">
                <a:solidFill>
                  <a:srgbClr val="1A1A1A"/>
                </a:solidFill>
                <a:latin typeface="Arial"/>
              </a:rPr>
              <a:t> and </a:t>
            </a:r>
            <a:r>
              <a:rPr sz="1500" b="1" i="0">
                <a:solidFill>
                  <a:srgbClr val="C62828"/>
                </a:solidFill>
                <a:latin typeface="Arial"/>
              </a:rPr>
              <a:t>(4)</a:t>
            </a:r>
            <a:r>
              <a:rPr sz="1500" b="0" i="0">
                <a:solidFill>
                  <a:srgbClr val="1A1A1A"/>
                </a:solidFill>
                <a:latin typeface="Arial"/>
              </a:rPr>
              <a:t>: volume falls 3 to 1 million, with price; the OBV rises 5 to 7 million, against price.</a:t>
            </a:r>
          </a:p>
          <a:p>
            <a:pPr algn="l">
              <a:lnSpc>
                <a:spcPct val="105000"/>
              </a:lnSpc>
              <a:spcBef>
                <a:spcPts val="0"/>
              </a:spcBef>
              <a:spcAft>
                <a:spcPts val="1100"/>
              </a:spcAft>
            </a:pPr>
            <a:r>
              <a:rPr sz="1500" b="0" i="0">
                <a:solidFill>
                  <a:srgbClr val="1A1A1A"/>
                </a:solidFill>
                <a:latin typeface="Arial"/>
              </a:rPr>
              <a:t>Price falling, 50 to 46, bearish confirmation, </a:t>
            </a:r>
            <a:r>
              <a:rPr sz="1500" b="1" i="0">
                <a:solidFill>
                  <a:srgbClr val="1F5FAD"/>
                </a:solidFill>
                <a:latin typeface="Arial"/>
              </a:rPr>
              <a:t>(5)</a:t>
            </a:r>
            <a:r>
              <a:rPr sz="1500" b="0" i="0">
                <a:solidFill>
                  <a:srgbClr val="1A1A1A"/>
                </a:solidFill>
                <a:latin typeface="Arial"/>
              </a:rPr>
              <a:t> and </a:t>
            </a:r>
            <a:r>
              <a:rPr sz="1500" b="1" i="0">
                <a:solidFill>
                  <a:srgbClr val="1F5FAD"/>
                </a:solidFill>
                <a:latin typeface="Arial"/>
              </a:rPr>
              <a:t>(6)</a:t>
            </a:r>
            <a:r>
              <a:rPr sz="1500" b="0" i="0">
                <a:solidFill>
                  <a:srgbClr val="1A1A1A"/>
                </a:solidFill>
                <a:latin typeface="Arial"/>
              </a:rPr>
              <a:t>: volume rises 3 to 5 million, against price; the OBV falls 5 to 3 million, with price.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519379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Price falling: same names, opposite arrows.</a:t>
            </a:r>
          </a:p>
        </p:txBody>
      </p:sp>
      <p:sp>
        <p:nvSpPr>
          <p:cNvPr id="10" name="TextBox 9"/>
          <p:cNvSpPr txBox="1"/>
          <p:nvPr/>
        </p:nvSpPr>
        <p:spPr>
          <a:xfrm>
            <a:off x="777240" y="541248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Plain volume: rising is confirmation. A price-based line: moving with price is confirmation.</a:t>
            </a:r>
          </a:p>
        </p:txBody>
      </p:sp>
      <p:sp>
        <p:nvSpPr>
          <p:cNvPr id="11" name="Rectangle 10"/>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5" name="Rectangle 14"/>
          <p:cNvSpPr/>
          <p:nvPr/>
        </p:nvSpPr>
        <p:spPr>
          <a:xfrm>
            <a:off x="6730110" y="3709926"/>
            <a:ext cx="1116106" cy="1427232"/>
          </a:xfrm>
          <a:prstGeom prst="rect">
            <a:avLst/>
          </a:prstGeom>
          <a:noFill/>
          <a:ln w="44450">
            <a:solidFill>
              <a:srgbClr val="E09B00"/>
            </a:solidFill>
          </a:ln>
        </p:spPr>
        <p:txBody>
          <a:bodyPr rtlCol="0" anchor="ctr"/>
          <a:lstStyle/>
          <a:p>
            <a:pPr algn="ctr"/>
          </a:p>
        </p:txBody>
      </p:sp>
      <p:sp>
        <p:nvSpPr>
          <p:cNvPr id="16" name="Rectangle 15"/>
          <p:cNvSpPr/>
          <p:nvPr/>
        </p:nvSpPr>
        <p:spPr>
          <a:xfrm>
            <a:off x="9054183" y="3709926"/>
            <a:ext cx="1097734" cy="1427232"/>
          </a:xfrm>
          <a:prstGeom prst="rect">
            <a:avLst/>
          </a:prstGeom>
          <a:noFill/>
          <a:ln w="44450">
            <a:solidFill>
              <a:srgbClr val="E09B00"/>
            </a:solidFill>
          </a:ln>
        </p:spPr>
        <p:txBody>
          <a:bodyPr rtlCol="0" anchor="ctr"/>
          <a:lstStyle/>
          <a:p>
            <a:pPr algn="ctr"/>
          </a:p>
        </p:txBody>
      </p:sp>
      <p:sp>
        <p:nvSpPr>
          <p:cNvPr id="17" name="Rectangle 16"/>
          <p:cNvSpPr/>
          <p:nvPr/>
        </p:nvSpPr>
        <p:spPr>
          <a:xfrm>
            <a:off x="8006972" y="1971361"/>
            <a:ext cx="950757" cy="1329285"/>
          </a:xfrm>
          <a:prstGeom prst="rect">
            <a:avLst/>
          </a:prstGeom>
          <a:noFill/>
          <a:ln w="44450">
            <a:solidFill>
              <a:srgbClr val="C62828"/>
            </a:solidFill>
          </a:ln>
        </p:spPr>
        <p:txBody>
          <a:bodyPr rtlCol="0" anchor="ctr"/>
          <a:lstStyle/>
          <a:p>
            <a:pPr algn="ctr"/>
          </a:p>
        </p:txBody>
      </p:sp>
      <p:sp>
        <p:nvSpPr>
          <p:cNvPr id="18" name="Rectangle 17"/>
          <p:cNvSpPr/>
          <p:nvPr/>
        </p:nvSpPr>
        <p:spPr>
          <a:xfrm>
            <a:off x="10317267" y="1971361"/>
            <a:ext cx="950757" cy="1329285"/>
          </a:xfrm>
          <a:prstGeom prst="rect">
            <a:avLst/>
          </a:prstGeom>
          <a:noFill/>
          <a:ln w="44450">
            <a:solidFill>
              <a:srgbClr val="C62828"/>
            </a:solidFill>
          </a:ln>
        </p:spPr>
        <p:txBody>
          <a:bodyPr rtlCol="0" anchor="ctr"/>
          <a:lstStyle/>
          <a:p>
            <a:pPr algn="ctr"/>
          </a:p>
        </p:txBody>
      </p:sp>
      <p:sp>
        <p:nvSpPr>
          <p:cNvPr id="19" name="Rectangle 18"/>
          <p:cNvSpPr/>
          <p:nvPr/>
        </p:nvSpPr>
        <p:spPr>
          <a:xfrm>
            <a:off x="7979414" y="3709926"/>
            <a:ext cx="978315" cy="1427232"/>
          </a:xfrm>
          <a:prstGeom prst="rect">
            <a:avLst/>
          </a:prstGeom>
          <a:noFill/>
          <a:ln w="44450">
            <a:solidFill>
              <a:srgbClr val="1F5FAD"/>
            </a:solidFill>
          </a:ln>
        </p:spPr>
        <p:txBody>
          <a:bodyPr rtlCol="0" anchor="ctr"/>
          <a:lstStyle/>
          <a:p>
            <a:pPr algn="ctr"/>
          </a:p>
        </p:txBody>
      </p:sp>
      <p:sp>
        <p:nvSpPr>
          <p:cNvPr id="20" name="Rectangle 19"/>
          <p:cNvSpPr/>
          <p:nvPr/>
        </p:nvSpPr>
        <p:spPr>
          <a:xfrm>
            <a:off x="10289709" y="3709926"/>
            <a:ext cx="978315" cy="1427232"/>
          </a:xfrm>
          <a:prstGeom prst="rect">
            <a:avLst/>
          </a:prstGeom>
          <a:noFill/>
          <a:ln w="44450">
            <a:solidFill>
              <a:srgbClr val="1F5FAD"/>
            </a:solidFill>
          </a:ln>
        </p:spPr>
        <p:txBody>
          <a:bodyPr rtlCol="0" anchor="ctr"/>
          <a:lstStyle/>
          <a:p>
            <a:pPr algn="ctr"/>
          </a:p>
        </p:txBody>
      </p:sp>
      <p:sp>
        <p:nvSpPr>
          <p:cNvPr id="21" name="Oval 20"/>
          <p:cNvSpPr/>
          <p:nvPr/>
        </p:nvSpPr>
        <p:spPr>
          <a:xfrm>
            <a:off x="6574662"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8735" y="35544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51524"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Oval 23"/>
          <p:cNvSpPr/>
          <p:nvPr/>
        </p:nvSpPr>
        <p:spPr>
          <a:xfrm>
            <a:off x="10161819" y="18159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Oval 24"/>
          <p:cNvSpPr/>
          <p:nvPr/>
        </p:nvSpPr>
        <p:spPr>
          <a:xfrm>
            <a:off x="7823966"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6" name="Oval 25"/>
          <p:cNvSpPr/>
          <p:nvPr/>
        </p:nvSpPr>
        <p:spPr>
          <a:xfrm>
            <a:off x="10134261" y="35544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7" name="TextBox 26"/>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8" name="TextBox 2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26</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trust rises from about 129 to 133, October to January.</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Volume and smoothed volume, a 20-day average, non-price-based: falling, against price: bearish divergence.</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600" b="1" i="0">
                <a:solidFill>
                  <a:srgbClr val="007A33"/>
                </a:solidFill>
                <a:latin typeface="Arial"/>
              </a:rPr>
              <a:t>(4)</a:t>
            </a:r>
            <a:r>
              <a:rPr sz="1600" b="0" i="0">
                <a:solidFill>
                  <a:srgbClr val="1A1A1A"/>
                </a:solidFill>
                <a:latin typeface="Arial"/>
              </a:rPr>
              <a:t> ADL, price-based: rising, with price: bullish confirmation.</a:t>
            </a:r>
          </a:p>
        </p:txBody>
      </p:sp>
      <p:sp>
        <p:nvSpPr>
          <p:cNvPr id="8" name="Rectangle 7"/>
          <p:cNvSpPr/>
          <p:nvPr/>
        </p:nvSpPr>
        <p:spPr>
          <a:xfrm>
            <a:off x="777240" y="4361688"/>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98264"/>
            <a:ext cx="61081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Each kind read by its own rule.</a:t>
            </a:r>
          </a:p>
        </p:txBody>
      </p:sp>
      <p:sp>
        <p:nvSpPr>
          <p:cNvPr id="10" name="TextBox 9"/>
          <p:cNvSpPr txBox="1"/>
          <p:nvPr/>
        </p:nvSpPr>
        <p:spPr>
          <a:xfrm>
            <a:off x="777240" y="4968239"/>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766090" y="1810512"/>
            <a:ext cx="338035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84962" y="1929384"/>
            <a:ext cx="314260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84962" y="1929384"/>
            <a:ext cx="314260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59282" y="2203703"/>
            <a:ext cx="2593969"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p:txBody>
      </p:sp>
      <p:cxnSp>
        <p:nvCxnSpPr>
          <p:cNvPr id="15" name="Connector 14"/>
          <p:cNvCxnSpPr/>
          <p:nvPr/>
        </p:nvCxnSpPr>
        <p:spPr>
          <a:xfrm flipV="1">
            <a:off x="8972305" y="2375318"/>
            <a:ext cx="1282185" cy="210678"/>
          </a:xfrm>
          <a:prstGeom prst="line">
            <a:avLst/>
          </a:prstGeom>
          <a:ln w="44450">
            <a:solidFill>
              <a:srgbClr val="E09B00"/>
            </a:solidFill>
            <a:tailEnd type="triangle" w="med" len="med"/>
          </a:ln>
        </p:spPr>
      </p:cxnSp>
      <p:sp>
        <p:nvSpPr>
          <p:cNvPr id="16" name="Rectangle 15"/>
          <p:cNvSpPr/>
          <p:nvPr/>
        </p:nvSpPr>
        <p:spPr>
          <a:xfrm>
            <a:off x="7906960" y="3411150"/>
            <a:ext cx="3098613" cy="660123"/>
          </a:xfrm>
          <a:prstGeom prst="rect">
            <a:avLst/>
          </a:prstGeom>
          <a:noFill/>
          <a:ln w="44450">
            <a:solidFill>
              <a:srgbClr val="C62828"/>
            </a:solidFill>
          </a:ln>
        </p:spPr>
        <p:txBody>
          <a:bodyPr rtlCol="0" anchor="ctr"/>
          <a:lstStyle/>
          <a:p>
            <a:pPr algn="ctr"/>
          </a:p>
        </p:txBody>
      </p:sp>
      <p:sp>
        <p:nvSpPr>
          <p:cNvPr id="17" name="Rectangle 16"/>
          <p:cNvSpPr/>
          <p:nvPr/>
        </p:nvSpPr>
        <p:spPr>
          <a:xfrm>
            <a:off x="7906960" y="4092342"/>
            <a:ext cx="3098613" cy="625010"/>
          </a:xfrm>
          <a:prstGeom prst="rect">
            <a:avLst/>
          </a:prstGeom>
          <a:noFill/>
          <a:ln w="44450">
            <a:solidFill>
              <a:srgbClr val="1F5FAD"/>
            </a:solidFill>
          </a:ln>
        </p:spPr>
        <p:txBody>
          <a:bodyPr rtlCol="0" anchor="ctr"/>
          <a:lstStyle/>
          <a:p>
            <a:pPr algn="ctr"/>
          </a:p>
        </p:txBody>
      </p:sp>
      <p:sp>
        <p:nvSpPr>
          <p:cNvPr id="18" name="Rectangle 17"/>
          <p:cNvSpPr/>
          <p:nvPr/>
        </p:nvSpPr>
        <p:spPr>
          <a:xfrm>
            <a:off x="7906960" y="4738420"/>
            <a:ext cx="3098613" cy="691725"/>
          </a:xfrm>
          <a:prstGeom prst="rect">
            <a:avLst/>
          </a:prstGeom>
          <a:noFill/>
          <a:ln w="44450">
            <a:solidFill>
              <a:srgbClr val="007A33"/>
            </a:solidFill>
          </a:ln>
        </p:spPr>
        <p:txBody>
          <a:bodyPr rtlCol="0" anchor="ctr"/>
          <a:lstStyle/>
          <a:p>
            <a:pPr algn="ctr"/>
          </a:p>
        </p:txBody>
      </p:sp>
      <p:sp>
        <p:nvSpPr>
          <p:cNvPr id="19" name="Oval 18"/>
          <p:cNvSpPr/>
          <p:nvPr/>
        </p:nvSpPr>
        <p:spPr>
          <a:xfrm>
            <a:off x="8816857" y="24305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51512" y="32557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751512" y="393689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751512" y="45829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Volume shrinks as each side finishes: most who wanted to buy have bought, most who wanted to sell have sold.</a:t>
            </a:r>
          </a:p>
          <a:p>
            <a:pPr algn="l">
              <a:lnSpc>
                <a:spcPct val="105000"/>
              </a:lnSpc>
              <a:spcBef>
                <a:spcPts val="0"/>
              </a:spcBef>
              <a:spcAft>
                <a:spcPts val="1100"/>
              </a:spcAft>
            </a:pPr>
            <a:r>
              <a:rPr sz="1500" b="0" i="0">
                <a:solidFill>
                  <a:srgbClr val="1A1A1A"/>
                </a:solidFill>
                <a:latin typeface="Arial"/>
              </a:rPr>
              <a:t>2  Stop orders, which trade once price pushes through their level (Chapter 1), pile up outside the range: buy stops above PHP 52, sell stops below PHP 48.</a:t>
            </a:r>
          </a:p>
          <a:p>
            <a:pPr algn="l">
              <a:lnSpc>
                <a:spcPct val="105000"/>
              </a:lnSpc>
              <a:spcBef>
                <a:spcPts val="0"/>
              </a:spcBef>
              <a:spcAft>
                <a:spcPts val="1100"/>
              </a:spcAft>
            </a:pPr>
            <a:r>
              <a:rPr sz="1500" b="0" i="0">
                <a:solidFill>
                  <a:srgbClr val="1A1A1A"/>
                </a:solidFill>
                <a:latin typeface="Arial"/>
              </a:rPr>
              <a:t>3  When price reaches one edge, those stops trigger together and push it out: the catalyst.</a:t>
            </a:r>
          </a:p>
          <a:p>
            <a:pPr algn="l">
              <a:lnSpc>
                <a:spcPct val="105000"/>
              </a:lnSpc>
              <a:spcBef>
                <a:spcPts val="0"/>
              </a:spcBef>
              <a:spcAft>
                <a:spcPts val="1100"/>
              </a:spcAft>
            </a:pPr>
            <a:r>
              <a:rPr sz="1500" b="0" i="0">
                <a:solidFill>
                  <a:srgbClr val="1A1A1A"/>
                </a:solidFill>
                <a:latin typeface="Arial"/>
              </a:rPr>
              <a:t>4  Up or down, the book does not say: let price show the way.</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What to do: volume back at an earlier low, expect a breakout.</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chart is Chart J's invented range again, with the four steps marked.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a:t>
            </a:r>
            <a:r>
              <a:rPr sz="1500" b="1" i="0">
                <a:solidFill>
                  <a:srgbClr val="E09B00"/>
                </a:solidFill>
                <a:latin typeface="Arial"/>
              </a:rPr>
              <a:t>(1)</a:t>
            </a:r>
            <a:r>
              <a:rPr sz="1500" b="0" i="0">
                <a:solidFill>
                  <a:srgbClr val="1A1A1A"/>
                </a:solidFill>
                <a:latin typeface="Arial"/>
              </a:rPr>
              <a:t> sits at earlier lows, touched at time lines 1 and 2.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it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8180706" y="2157984"/>
            <a:ext cx="2734001"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99578" y="2276856"/>
            <a:ext cx="2496257"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99578" y="2276856"/>
            <a:ext cx="2496257"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73898" y="2551175"/>
            <a:ext cx="1947617" cy="2706624"/>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8324541" y="5222376"/>
            <a:ext cx="2446332" cy="0"/>
          </a:xfrm>
          <a:prstGeom prst="line">
            <a:avLst/>
          </a:prstGeom>
          <a:ln w="44450">
            <a:solidFill>
              <a:srgbClr val="E09B00"/>
            </a:solidFill>
          </a:ln>
        </p:spPr>
      </p:cxnSp>
      <p:sp>
        <p:nvSpPr>
          <p:cNvPr id="19" name="Rectangle 18"/>
          <p:cNvSpPr/>
          <p:nvPr/>
        </p:nvSpPr>
        <p:spPr>
          <a:xfrm>
            <a:off x="9777363" y="4073908"/>
            <a:ext cx="808787" cy="417624"/>
          </a:xfrm>
          <a:prstGeom prst="rect">
            <a:avLst/>
          </a:prstGeom>
          <a:noFill/>
          <a:ln w="44450">
            <a:solidFill>
              <a:srgbClr val="C62828"/>
            </a:solidFill>
          </a:ln>
        </p:spPr>
        <p:txBody>
          <a:bodyPr rtlCol="0" anchor="ctr"/>
          <a:lstStyle/>
          <a:p>
            <a:pPr algn="ctr"/>
          </a:p>
        </p:txBody>
      </p:sp>
      <p:sp>
        <p:nvSpPr>
          <p:cNvPr id="20" name="Oval 19"/>
          <p:cNvSpPr/>
          <p:nvPr/>
        </p:nvSpPr>
        <p:spPr>
          <a:xfrm>
            <a:off x="10306569" y="4972434"/>
            <a:ext cx="299550" cy="319546"/>
          </a:xfrm>
          <a:prstGeom prst="ellipse">
            <a:avLst/>
          </a:prstGeom>
          <a:noFill/>
          <a:ln w="44450">
            <a:solidFill>
              <a:srgbClr val="1F5FAD"/>
            </a:solidFill>
          </a:ln>
        </p:spPr>
        <p:txBody>
          <a:bodyPr rtlCol="0" anchor="ctr"/>
          <a:lstStyle/>
          <a:p>
            <a:pPr algn="ctr"/>
          </a:p>
        </p:txBody>
      </p:sp>
      <p:sp>
        <p:nvSpPr>
          <p:cNvPr id="21" name="Oval 20"/>
          <p:cNvSpPr/>
          <p:nvPr/>
        </p:nvSpPr>
        <p:spPr>
          <a:xfrm>
            <a:off x="8169093" y="50669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621915" y="39184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151121" y="481698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26</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241217" y="2619404"/>
            <a:ext cx="385814" cy="487543"/>
          </a:xfrm>
          <a:prstGeom prst="line">
            <a:avLst/>
          </a:prstGeom>
          <a:ln w="44450">
            <a:solidFill>
              <a:srgbClr val="E09B00"/>
            </a:solidFill>
            <a:tailEnd type="triangle" w="med" len="med"/>
          </a:ln>
        </p:spPr>
      </p:cxnSp>
      <p:sp>
        <p:nvSpPr>
          <p:cNvPr id="16" name="Oval 15"/>
          <p:cNvSpPr/>
          <p:nvPr/>
        </p:nvSpPr>
        <p:spPr>
          <a:xfrm>
            <a:off x="8870462" y="3192201"/>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8870462" y="4042071"/>
            <a:ext cx="312326" cy="287730"/>
          </a:xfrm>
          <a:prstGeom prst="rect">
            <a:avLst/>
          </a:prstGeom>
          <a:noFill/>
          <a:ln w="44450">
            <a:solidFill>
              <a:srgbClr val="1F5FAD"/>
            </a:solidFill>
          </a:ln>
        </p:spPr>
        <p:txBody>
          <a:bodyPr rtlCol="0" anchor="ctr"/>
          <a:lstStyle/>
          <a:p>
            <a:pPr algn="ctr"/>
          </a:p>
        </p:txBody>
      </p:sp>
      <p:sp>
        <p:nvSpPr>
          <p:cNvPr id="18" name="Oval 17"/>
          <p:cNvSpPr/>
          <p:nvPr/>
        </p:nvSpPr>
        <p:spPr>
          <a:xfrm>
            <a:off x="8471583" y="24639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715014" y="303675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15014" y="388662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164551" y="3694249"/>
            <a:ext cx="1397128" cy="376495"/>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009103" y="35388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796051"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1" i="0">
                <a:solidFill>
                  <a:srgbClr val="E09B00"/>
                </a:solidFill>
                <a:latin typeface="Arial"/>
              </a:rPr>
              <a:t>(1)</a:t>
            </a:r>
            <a:r>
              <a:rPr sz="1500" b="0" i="0">
                <a:solidFill>
                  <a:srgbClr val="1A1A1A"/>
                </a:solidFill>
                <a:latin typeface="Arial"/>
              </a:rPr>
              <a:t> Most days trade under 40 million shares, read by eye off Figure 6.12's scale.</a:t>
            </a:r>
          </a:p>
          <a:p>
            <a:pPr algn="l">
              <a:lnSpc>
                <a:spcPct val="105000"/>
              </a:lnSpc>
              <a:spcBef>
                <a:spcPts val="0"/>
              </a:spcBef>
              <a:spcAft>
                <a:spcPts val="1100"/>
              </a:spcAft>
            </a:pPr>
            <a:r>
              <a:rPr sz="1500" b="1" i="0">
                <a:solidFill>
                  <a:srgbClr val="C62828"/>
                </a:solidFill>
                <a:latin typeface="Arial"/>
              </a:rPr>
              <a:t>(2)</a:t>
            </a:r>
            <a:r>
              <a:rPr sz="1500" b="0" i="0">
                <a:solidFill>
                  <a:srgbClr val="1A1A1A"/>
                </a:solidFill>
                <a:latin typeface="Arial"/>
              </a:rPr>
              <a:t> The lower line, a little under 70 million: less significant corrections, smaller moves against the trend. Still high volume: lower means less extreme.</a:t>
            </a:r>
          </a:p>
          <a:p>
            <a:pPr algn="l">
              <a:lnSpc>
                <a:spcPct val="105000"/>
              </a:lnSpc>
              <a:spcBef>
                <a:spcPts val="0"/>
              </a:spcBef>
              <a:spcAft>
                <a:spcPts val="1100"/>
              </a:spcAft>
            </a:pPr>
            <a:r>
              <a:rPr sz="1500" b="1" i="0">
                <a:solidFill>
                  <a:srgbClr val="1F5FAD"/>
                </a:solidFill>
                <a:latin typeface="Arial"/>
              </a:rPr>
              <a:t>(3)</a:t>
            </a:r>
            <a:r>
              <a:rPr sz="1500" b="0" i="0">
                <a:solidFill>
                  <a:srgbClr val="1A1A1A"/>
                </a:solidFill>
                <a:latin typeface="Arial"/>
              </a:rPr>
              <a:t> The upper line, a little above 120 million: potential tops or bottoms, a warning and not a promise.</a:t>
            </a:r>
          </a:p>
          <a:p>
            <a:pPr algn="l">
              <a:lnSpc>
                <a:spcPct val="105000"/>
              </a:lnSpc>
              <a:spcBef>
                <a:spcPts val="0"/>
              </a:spcBef>
              <a:spcAft>
                <a:spcPts val="1100"/>
              </a:spcAft>
            </a:pPr>
            <a:r>
              <a:rPr sz="1500" b="0" i="0">
                <a:solidFill>
                  <a:srgbClr val="1A1A1A"/>
                </a:solidFill>
                <a:latin typeface="Arial"/>
              </a:rPr>
              <a:t>The two spikes that reach it, </a:t>
            </a:r>
            <a:r>
              <a:rPr sz="1500" b="1" i="0">
                <a:solidFill>
                  <a:srgbClr val="007A33"/>
                </a:solidFill>
                <a:latin typeface="Arial"/>
              </a:rPr>
              <a:t>(4)</a:t>
            </a:r>
            <a:r>
              <a:rPr sz="1500" b="0" i="0">
                <a:solidFill>
                  <a:srgbClr val="1A1A1A"/>
                </a:solidFill>
                <a:latin typeface="Arial"/>
              </a:rPr>
              <a:t> and </a:t>
            </a:r>
            <a:r>
              <a:rPr sz="1500" b="1" i="0">
                <a:solidFill>
                  <a:srgbClr val="7B3FA0"/>
                </a:solidFill>
                <a:latin typeface="Arial"/>
              </a:rPr>
              <a:t>(5)</a:t>
            </a:r>
            <a:r>
              <a:rPr sz="1500" b="0" i="0">
                <a:solidFill>
                  <a:srgbClr val="1A1A1A"/>
                </a:solidFill>
                <a:latin typeface="Arial"/>
              </a:rPr>
              <a:t>, sit under bottoms. The book says the same level signals tops too.</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519379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Above the line: a potential turn. Which way: price, afterwards.</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67311" y="3892198"/>
            <a:ext cx="254639" cy="365174"/>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6756487"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579517"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37367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011863" y="373675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944213"/>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7083843" y="37887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816137" y="386833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On Figure 6.14: the solid line stepping along under the dashed level, the rolling 100-day 2-sigma level.</a:t>
            </a:r>
          </a:p>
          <a:p>
            <a:pPr algn="l">
              <a:lnSpc>
                <a:spcPct val="105000"/>
              </a:lnSpc>
              <a:spcBef>
                <a:spcPts val="0"/>
              </a:spcBef>
              <a:spcAft>
                <a:spcPts val="1100"/>
              </a:spcAft>
            </a:pPr>
            <a:r>
              <a:rPr sz="1600" b="0" i="0">
                <a:solidFill>
                  <a:srgbClr val="1A1A1A"/>
                </a:solidFill>
                <a:latin typeface="Arial"/>
              </a:rPr>
              <a:t>Its formula: 100-day average volume + 2 x sigma. Sigma, the standard deviation: how far volume typically strays from its average.</a:t>
            </a:r>
          </a:p>
          <a:p>
            <a:pPr algn="l">
              <a:lnSpc>
                <a:spcPct val="105000"/>
              </a:lnSpc>
              <a:spcBef>
                <a:spcPts val="0"/>
              </a:spcBef>
              <a:spcAft>
                <a:spcPts val="1100"/>
              </a:spcAft>
            </a:pPr>
            <a:r>
              <a:rPr sz="1600" b="0" i="0">
                <a:solidFill>
                  <a:srgbClr val="1A1A1A"/>
                </a:solidFill>
                <a:latin typeface="Arial"/>
              </a:rPr>
              <a:t>Ours: average 20 million, sigma 10 million: 20 + 2 x 10 = 40 million. A 35 million day stays under; 55 million crosses.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By eye or by formula: only volume above the line counts.</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a dashed volume overextension line, and under it a solid stepped line, the rolling 100-day 2-sigma level.</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sp>
        <p:nvSpPr>
          <p:cNvPr id="15" name="Oval 14"/>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2-sigma line steps: it rolls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Rolling: the average and sigma are redone each day over the latest 100 days only.</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The August 2011 spikes enter the window: the average and sigma jump, so the line steps up.</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Some 100 days later those spikes leave the window, and the line drops back.</a:t>
            </a:r>
          </a:p>
        </p:txBody>
      </p:sp>
      <p:sp>
        <p:nvSpPr>
          <p:cNvPr id="8" name="Rectangle 7"/>
          <p:cNvSpPr/>
          <p:nvPr/>
        </p:nvSpPr>
        <p:spPr>
          <a:xfrm>
            <a:off x="777240" y="4389120"/>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8953137" y="4306821"/>
            <a:ext cx="146977" cy="354383"/>
          </a:xfrm>
          <a:prstGeom prst="line">
            <a:avLst/>
          </a:prstGeom>
          <a:ln w="44450">
            <a:solidFill>
              <a:srgbClr val="E09B00"/>
            </a:solidFill>
            <a:tailEnd type="triangle" w="med" len="med"/>
          </a:ln>
        </p:spPr>
      </p:cxnSp>
      <p:cxnSp>
        <p:nvCxnSpPr>
          <p:cNvPr id="15" name="Connector 14"/>
          <p:cNvCxnSpPr/>
          <p:nvPr/>
        </p:nvCxnSpPr>
        <p:spPr>
          <a:xfrm flipH="1" flipV="1">
            <a:off x="9651277" y="4340306"/>
            <a:ext cx="151570" cy="320898"/>
          </a:xfrm>
          <a:prstGeom prst="line">
            <a:avLst/>
          </a:prstGeom>
          <a:ln w="44450">
            <a:solidFill>
              <a:srgbClr val="C62828"/>
            </a:solidFill>
            <a:tailEnd type="triangle" w="med" len="med"/>
          </a:ln>
        </p:spPr>
      </p:cxnSp>
      <p:sp>
        <p:nvSpPr>
          <p:cNvPr id="16" name="Oval 15"/>
          <p:cNvSpPr/>
          <p:nvPr/>
        </p:nvSpPr>
        <p:spPr>
          <a:xfrm>
            <a:off x="8797689" y="45057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4739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6.15</a:t>
            </a:r>
          </a:p>
          <a:p>
            <a:pPr algn="l">
              <a:lnSpc>
                <a:spcPct val="115000"/>
              </a:lnSpc>
              <a:spcBef>
                <a:spcPts val="0"/>
              </a:spcBef>
              <a:spcAft>
                <a:spcPts val="0"/>
              </a:spcAft>
            </a:pPr>
            <a:r>
              <a:rPr sz="15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374706"/>
            <a:ext cx="1860177" cy="264932"/>
          </a:xfrm>
          <a:prstGeom prst="rect">
            <a:avLst/>
          </a:prstGeom>
          <a:noFill/>
          <a:ln w="44450">
            <a:solidFill>
              <a:srgbClr val="C62828"/>
            </a:solidFill>
          </a:ln>
        </p:spPr>
        <p:txBody>
          <a:bodyPr rtlCol="0" anchor="ctr"/>
          <a:lstStyle/>
          <a:p>
            <a:pPr algn="ctr"/>
          </a:p>
        </p:txBody>
      </p:sp>
      <p:sp>
        <p:nvSpPr>
          <p:cNvPr id="16" name="Oval 15"/>
          <p:cNvSpPr/>
          <p:nvPr/>
        </p:nvSpPr>
        <p:spPr>
          <a:xfrm>
            <a:off x="7667803"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659898" y="321925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second, separate measure, price's swings, agreeing with volume at the same turns: evidence that corroborates, the chapter's first idea.</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The dashed line, near 15 by eye: below it is noise, which many practitioners filter out. All four circled spikes clear it.</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historical volatility level, near 40: only the spikes under the book's two lows reach it, the major turns, as on volume's upper line.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crossing together is stronger evidence; the book gives no weighting.</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6.15</a:t>
            </a:r>
          </a:p>
          <a:p>
            <a:pPr algn="l">
              <a:lnSpc>
                <a:spcPct val="115000"/>
              </a:lnSpc>
              <a:spcBef>
                <a:spcPts val="0"/>
              </a:spcBef>
              <a:spcAft>
                <a:spcPts val="0"/>
              </a:spcAft>
            </a:pPr>
            <a:r>
              <a:rPr sz="15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26</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35584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Figure 6.16, Apple: seven circles where volume dips to a lower threshold </a:t>
            </a:r>
            <a:r>
              <a:rPr sz="1400" b="1" i="0">
                <a:solidFill>
                  <a:srgbClr val="E09B00"/>
                </a:solidFill>
                <a:latin typeface="Arial"/>
              </a:rPr>
              <a:t>(1)</a:t>
            </a:r>
            <a:r>
              <a:rPr sz="1400" b="0" i="0">
                <a:solidFill>
                  <a:srgbClr val="1A1A1A"/>
                </a:solidFill>
                <a:latin typeface="Arial"/>
              </a:rPr>
              <a:t>; the book does not say how it is set. Each time line runs up to a turn, top or bottom, as at </a:t>
            </a:r>
            <a:r>
              <a:rPr sz="1400" b="1" i="0">
                <a:solidFill>
                  <a:srgbClr val="C62828"/>
                </a:solidFill>
                <a:latin typeface="Arial"/>
              </a:rPr>
              <a:t>(2)</a:t>
            </a:r>
            <a:r>
              <a:rPr sz="1400" b="0" i="0">
                <a:solidFill>
                  <a:srgbClr val="1A1A1A"/>
                </a:solidFill>
                <a:latin typeface="Arial"/>
              </a:rPr>
              <a:t>.</a:t>
            </a:r>
          </a:p>
        </p:txBody>
      </p:sp>
      <p:sp>
        <p:nvSpPr>
          <p:cNvPr id="12" name="Rectangle 11"/>
          <p:cNvSpPr/>
          <p:nvPr/>
        </p:nvSpPr>
        <p:spPr>
          <a:xfrm>
            <a:off x="777240" y="4453128"/>
            <a:ext cx="64008" cy="84124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251486" y="44267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500" b="0" i="0">
                <a:solidFill>
                  <a:srgbClr val="1A1A1A"/>
                </a:solidFill>
                <a:latin typeface="Arial"/>
              </a:rPr>
              <a:t>Figure 6.17, gold: daily and weekly volume peak in 2013, circled at far right </a:t>
            </a:r>
            <a:r>
              <a:rPr sz="1500" b="1" i="0">
                <a:solidFill>
                  <a:srgbClr val="E09B00"/>
                </a:solidFill>
                <a:latin typeface="Arial"/>
              </a:rPr>
              <a:t>(1)</a:t>
            </a:r>
            <a:r>
              <a:rPr sz="1500" b="0" i="0">
                <a:solidFill>
                  <a:srgbClr val="1A1A1A"/>
                </a:solidFill>
                <a:latin typeface="Arial"/>
              </a:rPr>
              <a:t>; monthly, quarterly and yearly peak in 2011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500" b="0" i="0">
                <a:solidFill>
                  <a:srgbClr val="1A1A1A"/>
                </a:solidFill>
                <a:latin typeface="Arial"/>
              </a:rPr>
              <a:t>A 2011 month with no record day, 20 days of 6 million: 120 million, the monthly peak.</a:t>
            </a:r>
          </a:p>
        </p:txBody>
      </p:sp>
      <p:sp>
        <p:nvSpPr>
          <p:cNvPr id="8" name="Rectangle 7"/>
          <p:cNvSpPr/>
          <p:nvPr/>
        </p:nvSpPr>
        <p:spPr>
          <a:xfrm>
            <a:off x="777240" y="474573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629107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580887"/>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915466" y="1810512"/>
            <a:ext cx="326448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034338" y="1929384"/>
            <a:ext cx="302673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8034338" y="1929384"/>
            <a:ext cx="302673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308658" y="2203703"/>
            <a:ext cx="2478097" cy="3054096"/>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5" name="Rectangle 14"/>
          <p:cNvSpPr/>
          <p:nvPr/>
        </p:nvSpPr>
        <p:spPr>
          <a:xfrm>
            <a:off x="10685760" y="3200473"/>
            <a:ext cx="205818" cy="600431"/>
          </a:xfrm>
          <a:prstGeom prst="rect">
            <a:avLst/>
          </a:prstGeom>
          <a:noFill/>
          <a:ln w="44450">
            <a:solidFill>
              <a:srgbClr val="E09B00"/>
            </a:solidFill>
          </a:ln>
        </p:spPr>
        <p:txBody>
          <a:bodyPr rtlCol="0" anchor="ctr"/>
          <a:lstStyle/>
          <a:p>
            <a:pPr algn="ctr"/>
          </a:p>
        </p:txBody>
      </p:sp>
      <p:sp>
        <p:nvSpPr>
          <p:cNvPr id="16" name="Rectangle 15"/>
          <p:cNvSpPr/>
          <p:nvPr/>
        </p:nvSpPr>
        <p:spPr>
          <a:xfrm>
            <a:off x="10325578" y="4106387"/>
            <a:ext cx="163443" cy="1306202"/>
          </a:xfrm>
          <a:prstGeom prst="rect">
            <a:avLst/>
          </a:prstGeom>
          <a:noFill/>
          <a:ln w="44450">
            <a:solidFill>
              <a:srgbClr val="C62828"/>
            </a:solidFill>
          </a:ln>
        </p:spPr>
        <p:txBody>
          <a:bodyPr rtlCol="0" anchor="ctr"/>
          <a:lstStyle/>
          <a:p>
            <a:pPr algn="ctr"/>
          </a:p>
        </p:txBody>
      </p:sp>
      <p:sp>
        <p:nvSpPr>
          <p:cNvPr id="17" name="Oval 16"/>
          <p:cNvSpPr/>
          <p:nvPr/>
        </p:nvSpPr>
        <p:spPr>
          <a:xfrm>
            <a:off x="10530312" y="30450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70130" y="39509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