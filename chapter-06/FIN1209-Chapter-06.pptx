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dashed line is what the figure labels noise. Point at the two small circles on the historical volatility level, under 1 and 2.</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4837033" y="1051560"/>
            <a:ext cx="2517628" cy="97154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4955905" y="1170431"/>
            <a:ext cx="2279884" cy="73380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955905" y="1170431"/>
            <a:ext cx="2279884"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5230225" y="1444751"/>
            <a:ext cx="1731244" cy="27660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5024301" y="1771419"/>
            <a:ext cx="2143092" cy="0"/>
          </a:xfrm>
          <a:prstGeom prst="line">
            <a:avLst/>
          </a:prstGeom>
          <a:ln w="44450">
            <a:solidFill>
              <a:srgbClr val="E09B00"/>
            </a:solidFill>
          </a:ln>
        </p:spPr>
      </p:cxnSp>
      <p:sp>
        <p:nvSpPr>
          <p:cNvPr id="11" name="Oval 10"/>
          <p:cNvSpPr/>
          <p:nvPr/>
        </p:nvSpPr>
        <p:spPr>
          <a:xfrm>
            <a:off x="4868853" y="16159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114549"/>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5443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7454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0198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0782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5443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7454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0198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0782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3897538" y="1051560"/>
            <a:ext cx="4396618" cy="1576323"/>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4016410" y="1170431"/>
            <a:ext cx="4158874" cy="133857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016410" y="1170431"/>
            <a:ext cx="4158874"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4290730" y="1444751"/>
            <a:ext cx="3610234" cy="8813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4141176" y="2266729"/>
            <a:ext cx="3909342" cy="0"/>
          </a:xfrm>
          <a:prstGeom prst="line">
            <a:avLst/>
          </a:prstGeom>
          <a:ln w="44450">
            <a:solidFill>
              <a:srgbClr val="E09B00"/>
            </a:solidFill>
          </a:ln>
        </p:spPr>
      </p:cxnSp>
      <p:sp>
        <p:nvSpPr>
          <p:cNvPr id="11" name="Oval 10"/>
          <p:cNvSpPr/>
          <p:nvPr/>
        </p:nvSpPr>
        <p:spPr>
          <a:xfrm>
            <a:off x="3985728" y="211128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719323"/>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1490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1490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3319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1976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1490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1490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3319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39639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