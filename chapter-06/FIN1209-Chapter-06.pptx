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volume confirmation looks at one stretch of volume.</a:t>
            </a:r>
          </a:p>
          <a:p>
            <a:r>
              <a:rPr sz="1400"/>
              <a:t>- So the uptrend dip on falling volume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Downtrend and uptrend are the book's words for where each divergence can occur. Figure 6.6 tests that, and the slide there says 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figure's eight arrows change,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the earlier low of 0.45 that sets the line, 0.42 at 1 where volume tests it,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at earlier lows, and this chart draws it at the low set at 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point for today is that the eye-drawn line and the computed one agree on Figure 6.14: the circled spikes clear both.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wavy stretch under the dashed line is what the figure labels noise. Point at the two small circles on the historical volatility level, under 1 and 2.</a:t>
            </a:r>
          </a:p>
          <a:p>
            <a:r>
              <a:rPr sz="1400"/>
              <a:t>- This slide goes with the one before: drop both or neither.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book says only that the threshold is tested.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quiet mirror of the climaxes: a turn on silence. The catch is the same as for the spikes on the next slide: volume does not say which way.</a:t>
            </a:r>
          </a:p>
          <a:p>
            <a:r>
              <a:rPr sz="1400"/>
              <a:t>- Be plain that the reason is borrowed from the breakout passage, and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Work the two sums on the board: 67 million for the record day's month against 120 million for the busy month.</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- 28 is the number of bars from trough 3, bar 44, to X, bar 72, on the step by step chart.</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two lines of the chart on the last slide, after the step 4 prices were found.</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number.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chart in words. The book gives no lengths; its figure prints them.</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captions that disagree with their charts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0" i="0">
                <a:solidFill>
                  <a:srgbClr val="1A1A1A"/>
                </a:solidFill>
                <a:latin typeface="Arial"/>
              </a:rPr>
              <a:t>Uptrend: volume rises as price rises, falls on the dips. The book calls this bullish volume action.</a:t>
            </a:r>
          </a:p>
          <a:p>
            <a:pPr algn="l">
              <a:lnSpc>
                <a:spcPct val="105000"/>
              </a:lnSpc>
              <a:spcBef>
                <a:spcPts val="0"/>
              </a:spcBef>
              <a:spcAft>
                <a:spcPts val="1100"/>
              </a:spcAft>
            </a:pPr>
            <a:r>
              <a:rPr sz="1700" b="0" i="0">
                <a:solidFill>
                  <a:srgbClr val="1A1A1A"/>
                </a:solidFill>
                <a:latin typeface="Arial"/>
              </a:rPr>
              <a:t>Downtrend: volume rises as price falls, falls on the bounces. The book calls this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about 260 in 2001 to 1,900 in 2011 as volume expands: bullish. Then to about 1,200 in 2013 as volume declines: bullish too.</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1511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0" i="0">
                <a:solidFill>
                  <a:srgbClr val="1A1A1A"/>
                </a:solidFill>
                <a:latin typeface="Arial"/>
              </a:rPr>
              <a:t>Uptrend, ours: PHP 40 to 46 as volume shrinks 4 to 2 million, dip to 44 as it grows to 3. Opposite ways: bearish volume, a potentially weak uptrend.</a:t>
            </a:r>
          </a:p>
          <a:p>
            <a:pPr algn="l">
              <a:lnSpc>
                <a:spcPct val="105000"/>
              </a:lnSpc>
              <a:spcBef>
                <a:spcPts val="0"/>
              </a:spcBef>
              <a:spcAft>
                <a:spcPts val="1100"/>
              </a:spcAft>
            </a:pPr>
            <a:r>
              <a:rPr sz="1700" b="0" i="0">
                <a:solidFill>
                  <a:srgbClr val="1A1A1A"/>
                </a:solidFill>
                <a:latin typeface="Arial"/>
              </a:rPr>
              <a:t>Downtrend, ours: PHP 50 to 46 as volume shrinks 4 to 2 million, bounce to 48 as it grows to 3. Same way: bullish volume, a potentially bullish downtrend.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Figure 6.6, below, does the same: bullish volume overall, with two dips labelled bullish divergence.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 Figure 6.6: p.178.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volume falling as price rises: fewer will buy higher, a potential downside reversal. Confirmation: a potential continuation.</a:t>
            </a:r>
          </a:p>
          <a:p>
            <a:pPr algn="l">
              <a:lnSpc>
                <a:spcPct val="118000"/>
              </a:lnSpc>
              <a:spcBef>
                <a:spcPts val="0"/>
              </a:spcBef>
              <a:spcAft>
                <a:spcPts val="1300"/>
              </a:spcAft>
            </a:pPr>
            <a:r>
              <a:rPr sz="2100" b="0" i="0">
                <a:solidFill>
                  <a:srgbClr val="1A1A1A"/>
                </a:solidFill>
                <a:latin typeface="Arial"/>
              </a:rPr>
              <a:t>The book says bullish divergence can only occur in a downtrend, bearish only in an uptrend (p.176), yet Figure 6.6 finds bullish divergence in uptrend dips.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Our reading: the p.178 summary on any stretch, so a dip inside an uptrend can be bullish divergence. 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 Where each can occur is its p.176 to 177 wording.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volume falls as price falls: volume falling, divergence; with price, bullish. Fewer are willing to sell lower.</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7 and 9: price and volume rise, bullish confirmation. 4 and 6: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Non-price-based, plain volume included: bullish if it moves with price, bearish if against. Divergence if it falls, confirmation if it rises.</a:t>
            </a:r>
          </a:p>
          <a:p>
            <a:pPr algn="l">
              <a:lnSpc>
                <a:spcPct val="105000"/>
              </a:lnSpc>
              <a:spcBef>
                <a:spcPts val="0"/>
              </a:spcBef>
              <a:spcAft>
                <a:spcPts val="1100"/>
              </a:spcAft>
            </a:pPr>
            <a:r>
              <a:rPr sz="1700" b="0" i="0">
                <a:solidFill>
                  <a:srgbClr val="1A1A1A"/>
                </a:solidFill>
                <a:latin typeface="Arial"/>
              </a:rPr>
              <a:t>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box plain volume, right box price-based. Only two volume arrows flip.</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01091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trust rises from about 129 to 133, October to January.</a:t>
            </a:r>
          </a:p>
          <a:p>
            <a:pPr algn="l">
              <a:lnSpc>
                <a:spcPct val="105000"/>
              </a:lnSpc>
              <a:spcBef>
                <a:spcPts val="0"/>
              </a:spcBef>
              <a:spcAft>
                <a:spcPts val="1100"/>
              </a:spcAft>
            </a:pPr>
            <a:r>
              <a:rPr sz="1700" b="0" i="0">
                <a:solidFill>
                  <a:srgbClr val="1A1A1A"/>
                </a:solidFill>
                <a:latin typeface="Arial"/>
              </a:rPr>
              <a:t>Volume and smoothed volume, a 20-day average, non-price-based: falling, against price: bearish divergence.</a:t>
            </a:r>
          </a:p>
          <a:p>
            <a:pPr algn="l">
              <a:lnSpc>
                <a:spcPct val="105000"/>
              </a:lnSpc>
              <a:spcBef>
                <a:spcPts val="0"/>
              </a:spcBef>
              <a:spcAft>
                <a:spcPts val="1100"/>
              </a:spcAft>
            </a:pPr>
            <a:r>
              <a:rPr sz="1700" b="0" i="0">
                <a:solidFill>
                  <a:srgbClr val="1A1A1A"/>
                </a:solidFill>
                <a:latin typeface="Arial"/>
              </a:rPr>
              <a:t>The PVO, a detrended volume oscillator the book never explains: non-price-based, falling: bearish divergence too.</a:t>
            </a:r>
          </a:p>
          <a:p>
            <a:pPr algn="l">
              <a:lnSpc>
                <a:spcPct val="105000"/>
              </a:lnSpc>
              <a:spcBef>
                <a:spcPts val="0"/>
              </a:spcBef>
              <a:spcAft>
                <a:spcPts val="1100"/>
              </a:spcAft>
            </a:pPr>
            <a:r>
              <a:rPr sz="1700" b="0" i="0">
                <a:solidFill>
                  <a:srgbClr val="1A1A1A"/>
                </a:solidFill>
                <a:latin typeface="Arial"/>
              </a:rPr>
              <a:t>ADL, price-based: rising, with price: bullish confirmation.</a:t>
            </a:r>
          </a:p>
        </p:txBody>
      </p:sp>
      <p:sp>
        <p:nvSpPr>
          <p:cNvPr id="8" name="Rectangle 7"/>
          <p:cNvSpPr/>
          <p:nvPr/>
        </p:nvSpPr>
        <p:spPr>
          <a:xfrm>
            <a:off x="777240" y="4729734"/>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61081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kind read by its own rule.</a:t>
            </a:r>
          </a:p>
        </p:txBody>
      </p:sp>
      <p:sp>
        <p:nvSpPr>
          <p:cNvPr id="10" name="TextBox 9"/>
          <p:cNvSpPr txBox="1"/>
          <p:nvPr/>
        </p:nvSpPr>
        <p:spPr>
          <a:xfrm>
            <a:off x="777240" y="5351526"/>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 Smoothed volume: Part 3.</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PVO and detrending are on the figure and not explained by the book.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 from the last slide's chart.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63093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the dashed level sits at earlier lows, touched at time lines 1 and 2. In late March, inside the Accumulation box (a buying range, Chapters 2 and 4), volume falls back to it;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1, 2 and 3.</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25</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the line labelled VWAP, volume-weighted average price; the book treats VWAP and VWMA as one line here.</a:t>
            </a:r>
          </a:p>
          <a:p>
            <a:pPr algn="l">
              <a:lnSpc>
                <a:spcPct val="105000"/>
              </a:lnSpc>
              <a:spcBef>
                <a:spcPts val="0"/>
              </a:spcBef>
              <a:spcAft>
                <a:spcPts val="1100"/>
              </a:spcAft>
            </a:pPr>
            <a:r>
              <a:rPr sz="1600" b="0" i="0">
                <a:solidFill>
                  <a:srgbClr val="1A1A1A"/>
                </a:solidFill>
                <a:latin typeface="Arial"/>
              </a:rPr>
              <a:t>Price rises decisively each time it crosses above the line, and falls after crossing below.</a:t>
            </a:r>
          </a:p>
          <a:p>
            <a:pPr algn="l">
              <a:lnSpc>
                <a:spcPct val="105000"/>
              </a:lnSpc>
              <a:spcBef>
                <a:spcPts val="0"/>
              </a:spcBef>
              <a:spcAft>
                <a:spcPts val="1100"/>
              </a:spcAft>
            </a:pPr>
            <a:r>
              <a:rPr sz="1600" b="0" i="0">
                <a:solidFill>
                  <a:srgbClr val="1A1A1A"/>
                </a:solidFill>
                <a:latin typeface="Arial"/>
              </a:rPr>
              <a:t>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under the ellipse, sets the upper level.</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Off Figure 6.12's scale: most days trade under 40 million shares; the lower line sits a little under 70 million, the upper a little above 120 million.</a:t>
            </a:r>
          </a:p>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The figure shows only bottoms; the book says the same level signals tops too.</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 Correction: Chapter 5. Not a promise: the book's word potential, said plainly.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then up to the top above it.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cross the dashed level. At the far right price breaks a significant support,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Figure 6.14: the solid line stepping under the dashed level.</a:t>
            </a:r>
          </a:p>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The August 2011 spikes lift it; some 100 days later, as they leave the window, it drops back.</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line and notes the spikes are all above it. Ours: the arithmetic, the 20 and 10 million, and which line it is, by eye.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to volume crossing the overextension lines, and up to turns in price.</a:t>
            </a:r>
          </a:p>
          <a:p>
            <a:pPr algn="l">
              <a:lnSpc>
                <a:spcPct val="105000"/>
              </a:lnSpc>
              <a:spcBef>
                <a:spcPts val="0"/>
              </a:spcBef>
              <a:spcAft>
                <a:spcPts val="1100"/>
              </a:spcAft>
            </a:pPr>
            <a:r>
              <a:rPr sz="1600" b="0" i="0">
                <a:solidFill>
                  <a:srgbClr val="1A1A1A"/>
                </a:solidFill>
                <a:latin typeface="Arial"/>
              </a:rPr>
              <a:t>At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Two lines, by eye off the scale: below the dashed one, near 15, is noise, which many practitioners filter out. All four circled spikes clear it.</a:t>
            </a:r>
          </a:p>
          <a:p>
            <a:pPr algn="l">
              <a:lnSpc>
                <a:spcPct val="118000"/>
              </a:lnSpc>
              <a:spcBef>
                <a:spcPts val="0"/>
              </a:spcBef>
              <a:spcAft>
                <a:spcPts val="1300"/>
              </a:spcAft>
            </a:pPr>
            <a:r>
              <a:rPr sz="2100" b="0" i="0">
                <a:solidFill>
                  <a:srgbClr val="1A1A1A"/>
                </a:solidFill>
                <a:latin typeface="Arial"/>
              </a:rPr>
              <a:t>Only the spikes at 1 and 2 reach the historical volatility level, near 40: the major turns,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Evidence that corroborates: the chapter's first slide, p.173.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the book does not say how it is set. Each time line runs up to a turn, top or bottom.</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25</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600" b="0" i="0">
                <a:solidFill>
                  <a:srgbClr val="1A1A1A"/>
                </a:solidFill>
                <a:latin typeface="Arial"/>
              </a:rPr>
              <a:t>Figure 6.17, gold: daily and weekly volume peak in 2013, circled at far right; monthly, quarterly and yearly peak in 2011.</a:t>
            </a:r>
          </a:p>
          <a:p>
            <a:pPr algn="l">
              <a:lnSpc>
                <a:spcPct val="105000"/>
              </a:lnSpc>
              <a:spcBef>
                <a:spcPts val="0"/>
              </a:spcBef>
              <a:spcAft>
                <a:spcPts val="1100"/>
              </a:spcAft>
            </a:pPr>
            <a:r>
              <a:rPr sz="1600" b="0" i="0">
                <a:solidFill>
                  <a:srgbClr val="1A1A1A"/>
                </a:solidFill>
                <a:latin typeface="Arial"/>
              </a:rPr>
              <a:t>Ours: a record 2013 day of 10 million, in a month of 19 quiet days of 3 million: 10 + 57 = 67 million.</a:t>
            </a:r>
          </a:p>
          <a:p>
            <a:pPr algn="l">
              <a:lnSpc>
                <a:spcPct val="105000"/>
              </a:lnSpc>
              <a:spcBef>
                <a:spcPts val="0"/>
              </a:spcBef>
              <a:spcAft>
                <a:spcPts val="1100"/>
              </a:spcAft>
            </a:pPr>
            <a:r>
              <a:rPr sz="1600" b="0" i="0">
                <a:solidFill>
                  <a:srgbClr val="1A1A1A"/>
                </a:solidFill>
                <a:latin typeface="Arial"/>
              </a:rPr>
              <a:t>A 2011 month with no record day, 20 days of 6 million: 120 million, the monthly peak.</a:t>
            </a:r>
          </a:p>
        </p:txBody>
      </p:sp>
      <p:sp>
        <p:nvSpPr>
          <p:cNvPr id="8" name="Rectangle 7"/>
          <p:cNvSpPr/>
          <p:nvPr/>
        </p:nvSpPr>
        <p:spPr>
          <a:xfrm>
            <a:off x="777240" y="487375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10328"/>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Lower timeframes are more sensitive: one day's burst shows. Higher ones show the overall trend of volume.</a:t>
            </a:r>
          </a:p>
        </p:txBody>
      </p:sp>
      <p:sp>
        <p:nvSpPr>
          <p:cNvPr id="10" name="TextBox 9"/>
          <p:cNvSpPr txBox="1"/>
          <p:nvPr/>
        </p:nvSpPr>
        <p:spPr>
          <a:xfrm>
            <a:off x="777240" y="573938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daily to spot a single burst, monthly or higher to see the trend in volume.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 The 10, 3 and 6 million are ours, to show the arithmetic.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