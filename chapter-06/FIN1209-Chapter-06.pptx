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Greet the room, then say what today buys them: how to read volume and open interest against price, and the indicators built from them.</a:t>
            </a:r>
          </a:p>
          <a:p>
            <a:r>
              <a:rPr sz="1400"/>
              <a:t>- Say every idea today has a picture beside it. Where the book drew one it is the book's; the rest are ours.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six learning objectives. Say the first and the fifth, and that every one is examinable.</a:t>
            </a:r>
          </a:p>
          <a:p>
            <a:r>
              <a:rPr sz="1400"/>
              <a:t>- Be straight about the sixth: the chapter's text never comes back to contract months. Chapter 3's rollover slides are where it was taught.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Section 6.1 is thirty pages with twenty sub-headings, so it is five parts here. The marker at the bottom left of every slide says which one we are in.</a:t>
            </a:r>
          </a:p>
          <a:p>
            <a:r>
              <a:rPr sz="1400"/>
              <a:t>- Say the checks carry no marks. Each question slide is followed by its answers on a slide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opening paragraph, and the shape of every figure today: price on top, volume underneath, one volume bar under each price bar.</a:t>
            </a:r>
          </a:p>
          <a:p>
            <a:r>
              <a:rPr sz="1400"/>
              <a:t>- Point at the gold day. The price bar says where it traded; the volume bar under it says how much traded. Every figure in the chapter is read that way.</a:t>
            </a:r>
          </a:p>
          <a:p>
            <a:r>
              <a:rPr sz="1400"/>
              <a:t>- The novice error in the gold line is answered in Part 2: falling volume inside a consolidation is normal, and it times the breakout.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Chapter 2 gave this as its sixth tenet, with the same four conditions. Nothing in it changes.</a:t>
            </a:r>
          </a:p>
          <a:p>
            <a:r>
              <a:rPr sz="1400"/>
              <a:t>- Read the figure's two halves. In each, the tall volume bars sit under the move that goes with the trend, and the short ones under the retracement.</a:t>
            </a:r>
          </a:p>
          <a:p>
            <a:r>
              <a:rPr sz="1400"/>
              <a:t>- What is new today is the vocabulary on the next slides: volume is bullish or bearish, and it confirms or diverges.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word has been on our charts since Chapter 1, and Chapter 2 made a tenet of it, but this is the first slide that defines it.</a:t>
            </a:r>
          </a:p>
          <a:p>
            <a:r>
              <a:rPr sz="1400"/>
              <a:t>- Shares for a stock, contracts for a futures market. The interval is whatever the chart's bar is: a day, an hour, five minutes.</a:t>
            </a:r>
          </a:p>
          <a:p>
            <a:r>
              <a:rPr sz="1400"/>
              <a:t>- Keep the five trades in mind: in Part 4 the same five trades give a tick volume of five.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to remember these two whenever volume is studied. Every reading later in the chapter comes back to them.</a:t>
            </a:r>
          </a:p>
          <a:p>
            <a:r>
              <a:rPr sz="1400"/>
              <a:t>- On the chart, 1 is a rally the market wants: volume grows as price rises. 2 is a rally fewer want: price still rises, on shrinking volume.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it four times, trend by trend. Every one of the four is the same rule: together is bullish, opposite is bearish.</a:t>
            </a:r>
          </a:p>
          <a:p>
            <a:r>
              <a:rPr sz="1400"/>
              <a:t>- So the same falling volume is bullish under a falling price and bearish under a rising one. Volume alone says nothing until price's direction is known.</a:t>
            </a:r>
          </a:p>
          <a:p>
            <a:r>
              <a:rPr sz="1400"/>
              <a:t>- This answers review question 2, describe bullish and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end of the chart: price falls and volume falls with it. That is bullish volume in an uptrend, not a warning.</a:t>
            </a:r>
          </a:p>
          <a:p>
            <a:r>
              <a:rPr sz="1400"/>
              <a:t>- The mistake is reading volume alone: falling equals bad. Ask the room which way price was going first.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Set this beside Figure 6.1. The prices are the same shapes; only the volume is swapped.</a:t>
            </a:r>
          </a:p>
          <a:p>
            <a:r>
              <a:rPr sz="1400"/>
              <a:t>- Not confirming is still only a potential: the book says weak or bearish uptrend, not a reversal.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columns of the chart, not the rows: each column is one volume direction, with price going both ways.</a:t>
            </a:r>
          </a:p>
          <a:p>
            <a:r>
              <a:rPr sz="1400"/>
              <a:t>- Bullish or bearish volume needs price. Divergence or confirmation does not: it is volume's direction alone.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Confirmation is called convergence too: price and volume coming together in one direction. Both words mean volume rising.</a:t>
            </a:r>
          </a:p>
          <a:p>
            <a:r>
              <a:rPr sz="1400"/>
              <a:t>- The right-hand chart is one possible ending, drawn to show what potential reversal means. Divergence is an early warning, not a certainty.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example row is the book's own summary of all four scenarios, page 178. The formal row is its two sentences on where each divergence can occur.</a:t>
            </a:r>
          </a:p>
          <a:p>
            <a:r>
              <a:rPr sz="1400"/>
              <a:t>- Bullish or bearish comes from the last slide but one: together or apart. Divergence or confirmation from the last slide: volume down or up.</a:t>
            </a:r>
          </a:p>
          <a:p>
            <a:r>
              <a:rPr sz="1400"/>
              <a:t>- The figure lists four kinds of supporting series. Volume, its moving average and open interest are all in the text; the ATR is not mentioned anywhere in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word, different test. Standard divergence compares two peaks on two lines. Volume divergence asks one question: is volume falling?</a:t>
            </a:r>
          </a:p>
          <a:p>
            <a:r>
              <a:rPr sz="1400"/>
              <a:t>- This answers review question 3, how volume divergence differs from standard oscillator divergence.</a:t>
            </a:r>
          </a:p>
          <a:p>
            <a:r>
              <a:rPr sz="1400"/>
              <a:t>- Reverse divergence was named in Chapter 5 and left to Chapter 9. The book says there is no such classification for volume.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falling and volume falling together: bullish divergence, by the last slides. Point at the two dashed lines in the volume panel.</a:t>
            </a:r>
          </a:p>
          <a:p>
            <a:r>
              <a:rPr sz="1400"/>
              <a:t>- Evidence, not a signal: the pattern is the setup and the volume corroborates it, which is the chapter's first sentence again.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period by period with the arrows on the volume panel. Up arrows with price rising: confirmation. Down arrows with price dipping: divergence.</a:t>
            </a:r>
          </a:p>
          <a:p>
            <a:r>
              <a:rPr sz="1400"/>
              <a:t>- The breakout timing in 2, 8 and 10 is Part 2's subject. Here it is enough that a consolidation's falling volume is not divergence.</a:t>
            </a:r>
          </a:p>
          <a:p>
            <a:r>
              <a:rPr sz="1400"/>
              <a:t>- Be plain about the gap: the book's sentence says downtrend, its figure says inside an uptrend. The slide gives our reading and says it is ours.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has ten periods on a real chart and they are hard to see. Here are four, one of each kind it names.</a:t>
            </a:r>
          </a:p>
          <a:p>
            <a:r>
              <a:rPr sz="1400"/>
              <a:t>- Ask the room for each period before reading the label: which way is price, which way is volume, together or apart.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Oscillator is the book's word for any indicator drawn in its own panel under the price. Chapter 8 is oscillators; nothing more about them is needed today.</a:t>
            </a:r>
          </a:p>
          <a:p>
            <a:r>
              <a:rPr sz="1400"/>
              <a:t>- The bottom line on the chart is the On Balance Volume, taught in Part 6. Here it only shows what price-based means: the close decides the sign.</a:t>
            </a:r>
          </a:p>
          <a:p>
            <a:r>
              <a:rPr sz="1400"/>
              <a:t>- Volume bars are on the book's non-price-based list, so plain volume counts as one of these oscillators.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these as two lists and no figure, so this slide has no picture. The next two slides show how the two kinds are read.</a:t>
            </a:r>
          </a:p>
          <a:p>
            <a:r>
              <a:rPr sz="1400"/>
              <a:t>- Do not explain the four the book never explains. Say they are names only.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box by box. Top left and top right differ only in the bullish divergence pair; bottom left and bottom right only in the bearish confirmation pair.</a:t>
            </a:r>
          </a:p>
          <a:p>
            <a:r>
              <a:rPr sz="1400"/>
              <a:t>- Why the price-based one differs: price is built into it, so when price falls it would fall too, unless buying is underneath. Ours, not the book's words: the book gives the figure and no reason.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rises across the arrow at the top. Two volume panels fall under it, bearish divergence; the ADL rises with it, bullish confirmation.</a:t>
            </a:r>
          </a:p>
          <a:p>
            <a:r>
              <a:rPr sz="1400"/>
              <a:t>- Do not resolve the disagreement. The book shows the figure to show each kind read by its own rule; it does not say which to believe.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the novice error from the first slide. Sideways price cannot diverge from anything, so shrinking volume inside a range is not a warning: it is the clock running down.</a:t>
            </a:r>
          </a:p>
          <a:p>
            <a:r>
              <a:rPr sz="1400"/>
              <a:t>- The stops are stop orders, Chapter 1 and Chapter 5: buy stops above the range, sell stops below it. Whichever side is hit first starts the move.</a:t>
            </a:r>
          </a:p>
          <a:p>
            <a:r>
              <a:rPr sz="1400"/>
              <a:t>- The book says either an upside or a downside breakout. Low volume does not say which way.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box at the bottom right of the price panel, then the circle under it where volume sits on the low volume level. The breakout follows.</a:t>
            </a:r>
          </a:p>
          <a:p>
            <a:r>
              <a:rPr sz="1400"/>
              <a:t>- The figure also labels a bearish divergence into the top and a bearish confirmation on the fall: Part 1's names on a real chart. The two circles at 1 and 2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uses of the same low volume: in a range it times a breakout, in a trend it marks a turn.</a:t>
            </a:r>
          </a:p>
          <a:p>
            <a:r>
              <a:rPr sz="1400"/>
              <a:t>- The book gives a tendency and no rule for where the low volume level goes. Figure 6.9 draws it by eye, and so does this chart.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shows the signal three times: an accumulation breakout up at 1, distribution breakouts down at 2 and 3. Each comes as volume touches the line.</a:t>
            </a:r>
          </a:p>
          <a:p>
            <a:r>
              <a:rPr sz="1400"/>
              <a:t>- Notice the breakout bars themselves carry more volume than the bars before them.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heading is Volume-Weighted Average Price/Moving Average, and its figure says VWAP. It treats the two names as one line here.</a:t>
            </a:r>
          </a:p>
          <a:p>
            <a:r>
              <a:rPr sz="1400"/>
              <a:t>- How the average is weighted is Chapter 11. Today it is a line over price, and what matters is which side of it price is on.</a:t>
            </a:r>
          </a:p>
          <a:p>
            <a:r>
              <a:rPr sz="1400"/>
              <a:t>- Moving averages were met in Chapters 4 and 5 and are taught in Chapter 11.</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each dashed arrow from a circled volume peak up to a crossover. That is the book's point about timing.</a:t>
            </a:r>
          </a:p>
          <a:p>
            <a:r>
              <a:rPr sz="1400"/>
              <a:t>- Name the mismatch and move on: the caption says VWMA and daily, the figure says VWAP and 10 minutes.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both sentences from the book. One says above the line is bullish; the next says above the line is overvalued, where institutions sell.</a:t>
            </a:r>
          </a:p>
          <a:p>
            <a:r>
              <a:rPr sz="1400"/>
              <a:t>- Do not invent a reconciliation. If a student asks, the answer is that the book gives both and the course teaches both.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climaxes are a recall: Chapter 4 told who buys and sells in them. What is new is the volume, and the two low volume names.</a:t>
            </a:r>
          </a:p>
          <a:p>
            <a:r>
              <a:rPr sz="1400"/>
              <a:t>- The low volume top and bottom get their own slide after the climax figures, in the book's order.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two spikes under the ellipse: each is a selling climax, and each reaches the upper line.</a:t>
            </a:r>
          </a:p>
          <a:p>
            <a:r>
              <a:rPr sz="1400"/>
              <a:t>- Upper for the big turns, lower for the corrections. Where to draw them is the slide after next.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mirror of the last figure: tops this time. Follow each arrow from BLOW-OFF to its spike and up to its top.</a:t>
            </a:r>
          </a:p>
          <a:p>
            <a:r>
              <a:rPr sz="1400"/>
              <a:t>- The second blow-off is on a much smaller spike than the first in absolute terms. Compare it with the volume around it, not with the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By eye is the book's method: there is no formula for the line. The 2-sigma level is a second, computed line, and Part 3 builds one.</a:t>
            </a:r>
          </a:p>
          <a:p>
            <a:r>
              <a:rPr sz="1400"/>
              <a:t>- Find the support break at the far right: price falls through a significant level on extreme volume.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numbers are the big turns and the letters the small ones. Ask the room which line they would draw to trade only the big ones.</a:t>
            </a:r>
          </a:p>
          <a:p>
            <a:r>
              <a:rPr sz="1400"/>
              <a:t>- Both lines were placed by eye, the way the book says to.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kinds of evidence agree at 1 and 2: volume overextended, and volatility spiking. The lower, wavy stretch is what the book calls noise.</a:t>
            </a:r>
          </a:p>
          <a:p>
            <a:r>
              <a:rPr sz="1400"/>
              <a:t>- Do not teach the bandwidth. Say it is a measure of volatility the book uses here and explains elsewhere.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low volume reversals of the part's start, now named by where they turn: at a top or at a bottom.</a:t>
            </a:r>
          </a:p>
          <a:p>
            <a:r>
              <a:rPr sz="1400"/>
              <a:t>- The threshold is again drawn by eye, and the circles are where volume tests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volume bars are identical. Only what price did next tells you which one it was.</a:t>
            </a:r>
          </a:p>
          <a:p>
            <a:r>
              <a:rPr sz="1400"/>
              <a:t>- That is the book's reason for not calling volume overbought or oversold in advance.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circled spike in 2013 on the daily and weekly panels. Then find where monthly and above peak: 2011.</a:t>
            </a:r>
          </a:p>
          <a:p>
            <a:r>
              <a:rPr sz="1400"/>
              <a:t>- One day's spike dominates a daily panel. Added into a month or a year, it is outweighed by the busy months around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Nothing changes between the two panels but the length of the bar: the same shares, added up by day or by month.</a:t>
            </a:r>
          </a:p>
          <a:p>
            <a:r>
              <a:rPr sz="1400"/>
              <a:t>- So the daily chart reacts to one day; the monthly chart shows the broad shape of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question on the figure before answering it. Then the reason: a barrier that held against the biggest effort is one traders believe in.</a:t>
            </a:r>
          </a:p>
          <a:p>
            <a:r>
              <a:rPr sz="1400"/>
              <a:t>- Barrier is Chapter 5's word, from barrier proximity: a support below price or a resistance above it.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last slide's two cases. Increasing, decreasing and flatlining are new.</a:t>
            </a:r>
          </a:p>
          <a:p>
            <a:r>
              <a:rPr sz="1400"/>
              <a:t>- Across means through the whole touch: before price reaches the barrier and after it leaves.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sentences on increasing and decreasing volume are hard going. Read each case on the chart: what volume does, then what price does next.</a:t>
            </a:r>
          </a:p>
          <a:p>
            <a:r>
              <a:rPr sz="1400"/>
              <a:t>- Decreasing volume across the barrier is the one to watch: the book says it tends to see a retest, and in more extreme circumstances price may return to penetrate it.</a:t>
            </a:r>
          </a:p>
          <a:p>
            <a:r>
              <a:rPr sz="1400"/>
              <a:t>- Flatlining tells nothing. The book's words: not enough information about the potential future action of price.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review question 5, the modes of volume filtering. Four ways, and the book explains two of them in this passage.</a:t>
            </a:r>
          </a:p>
          <a:p>
            <a:r>
              <a:rPr sz="1400"/>
              <a:t>- Prior volume peaks were Part 2's overextended levels, drawn at earlier spikes. Volume cycles get their own slides in Part 5.</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moving average is met again: Chapters 4 and 5 used them, Chapter 11 teaches them. Here it is an average of volume, not of price.</a:t>
            </a:r>
          </a:p>
          <a:p>
            <a:r>
              <a:rPr sz="1400"/>
              <a:t>- The book says a spike above the line is significant and gives no measure of how far above. On its own Figure 6.20 the arrows mark only the tallest spikes, and so does this chart.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Lookback is the number of bars averaged. A longer one smooths more.</a:t>
            </a:r>
          </a:p>
          <a:p>
            <a:r>
              <a:rPr sz="1400"/>
              <a:t>- Follow two or three of the dotted arrows from a spike to a turn in price.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works through the book's two rules of thumb, not a new reading of a chart. Figure 6.20 was the last slide's.</a:t>
            </a:r>
          </a:p>
          <a:p>
            <a:r>
              <a:rPr sz="1400"/>
              <a:t>- Walk the backtest sentence slowly: try N = 10, 20 and 50 on last year's chart, and see which flagged the real turns.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Sigma is the Greek letter for a standard deviation: how far values typically spread from their average.</a:t>
            </a:r>
          </a:p>
          <a:p>
            <a:r>
              <a:rPr sz="1400"/>
              <a:t>- Bollinger Bands were named in Chapter 1, in the mean reverting approach, and are not explained there either. All this filter needs is the upper line.</a:t>
            </a:r>
          </a:p>
          <a:p>
            <a:r>
              <a:rPr sz="1400"/>
              <a:t>- Three sigma is stricter than two: fewer bars cross it.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the two gaps the review found: the divisor and the window. Both are read straight from the code that drew the chart.</a:t>
            </a:r>
          </a:p>
          <a:p>
            <a:r>
              <a:rPr sz="1400"/>
              <a:t>- The jump explanation matches the chart's own footnote, here given as the reason instead of just the fact.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Figure 6.20, the same market. The threshold here is higher, so only the largest surges cross it.</a:t>
            </a:r>
          </a:p>
          <a:p>
            <a:r>
              <a:rPr sz="1400"/>
              <a:t>- An overlay is a line drawn on top of the bars, which is why the band beats a separate oscillator here.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Trendlines and channels were Chapter 5, and so were inflection points. This adds one rule for which points to use: only the heavily traded ones.</a:t>
            </a:r>
          </a:p>
          <a:p>
            <a:r>
              <a:rPr sz="1400"/>
              <a:t>- The grey turns are real peaks and troughs too. They are skipped because too little traded at them.</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arrows from the circle on the volume panel up to points 1 to 3. Those are the only points used.</a:t>
            </a:r>
          </a:p>
          <a:p>
            <a:r>
              <a:rPr sz="1400"/>
              <a:t>- Tick volume counts trades, not shares; Part 4 defines it. The book uses it here because its broker gives tick volume for this market.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parallels: every line is drawn from a numbered point that sits over a volume peak.</a:t>
            </a:r>
          </a:p>
          <a:p>
            <a:r>
              <a:rPr sz="1400"/>
              <a:t>- The book admits the line through X was found looking back. It still calls the channel valid.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the double out loud: 3 million today, 1.5 million usually, so twice the usual. That comparison is relative volume.</a:t>
            </a:r>
          </a:p>
          <a:p>
            <a:r>
              <a:rPr sz="1400"/>
              <a:t>- This is review question 7, which is more useful. The book's answer: relative, for reading trends; absolute has the uses two slides on.</a:t>
            </a:r>
          </a:p>
          <a:p>
            <a:r>
              <a:rPr sz="1400"/>
              <a:t>- The chart is the warning in the gold line: no change in volume, and the trend goes on anyway.</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ties the book's two sentences to Parts 1 and 2, which drew them.</a:t>
            </a:r>
          </a:p>
          <a:p>
            <a:r>
              <a:rPr sz="1400"/>
              <a:t>- Peaks and troughs both count: the book says historical volume peaks and troughs give the reference level.</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1 listed loss aversion among behavioral biases in one line. This is the first slide that says what it is.</a:t>
            </a:r>
          </a:p>
          <a:p>
            <a:r>
              <a:rPr sz="1400"/>
              <a:t>- The book says many investors treat a paper loss as no loss, and so they hold. Breakeven is the price at which you neither gain nor lose.</a:t>
            </a:r>
          </a:p>
          <a:p>
            <a:r>
              <a:rPr sz="1400"/>
              <a:t>- Why it is in a chapter on volume: holding is not trading, so a bear market trades less.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a variety of reasons, a few being these three. They are its list, not a complete one.</a:t>
            </a:r>
          </a:p>
          <a:p>
            <a:r>
              <a:rPr sz="1400"/>
              <a:t>- House money is the book's phrase for profit already made, spent again.</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Absolute volume is the raw count of the first slide of this part. Work the turnover out loud: 5 million of 2,000 million is a quarter of one percent; 1 million of 40 million is two and a half percent.</a:t>
            </a:r>
          </a:p>
          <a:p>
            <a:r>
              <a:rPr sz="1400"/>
              <a:t>- Liquidity is the book's word, used here and not defined in this chapter. Do not define it for them.</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two sentences and no figure, so this slide has no picture.</a:t>
            </a:r>
          </a:p>
          <a:p>
            <a:r>
              <a:rPr sz="1400"/>
              <a:t>- The example is ours and only shows the size of the problem: the bar counts every share, whoever traded it.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listed open interest as transaction data and Chapter 4 used it in a consolidation. This is the first slide that defines it.</a:t>
            </a:r>
          </a:p>
          <a:p>
            <a:r>
              <a:rPr sz="1400"/>
              <a:t>- Each contract is one long and one short, so a contract is open until both sides are out. Long and short are Chapter 1's go long and go short.</a:t>
            </a:r>
          </a:p>
          <a:p>
            <a:r>
              <a:rPr sz="1400"/>
              <a:t>- The chart is the next slide's four days, one column a day. Read its labels against the three rules in the example row.</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of its own: the chart beside the term is these four days, one column each.</a:t>
            </a:r>
          </a:p>
          <a:p>
            <a:r>
              <a:rPr sz="1400"/>
              <a:t>- On day 4, D buying back is covering and C selling is liquidating: Chapter 1's words for closing a short and a long.</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rule as Part 1's bullish and bearish volume, with open interest moving alongside volume. Both words, both rules: the book says open interest divergence is read as for non-price-based volume oscillators.</a:t>
            </a:r>
          </a:p>
          <a:p>
            <a:r>
              <a:rPr sz="1400"/>
              <a:t>- The book's reason for the last case: participants are less interested in seeing the market decline further.</a:t>
            </a:r>
          </a:p>
          <a:p>
            <a:r>
              <a:rPr sz="1400"/>
              <a:t>- This is review question 6, the relationship between volume, open interest and price.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puts numbers on the four sketches of the last slide. The names are Part 1's: bullish or bearish, confirmation or divergence.</a:t>
            </a:r>
          </a:p>
          <a:p>
            <a:r>
              <a:rPr sz="1400"/>
              <a:t>- Ask the room to name the case before you read the answer: price up, open interest down, volume down.</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four actions are the four cases of the last slide, turned into what to do.</a:t>
            </a:r>
          </a:p>
          <a:p>
            <a:r>
              <a:rPr sz="1400"/>
              <a:t>- On the figure, volume and open interest disagree at the top: volume peaks at the highest price, open interest does not. The book reads the open interest: longs leaving.</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4 said rising open interest in a consolidation makes the breakout more rapid. This is the same idea at a reversal.</a:t>
            </a:r>
          </a:p>
          <a:p>
            <a:r>
              <a:rPr sz="1400"/>
              <a:t>- May be, says the book: a tendency, not a rule.</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1: volume counts what was traded, tick volume counts how many trades. One trade may be 1 contract or 1,000.</a:t>
            </a:r>
          </a:p>
          <a:p>
            <a:r>
              <a:rPr sz="1400"/>
              <a:t>- OTC fx and proxy are spelled out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already counts the same trades both ways.</a:t>
            </a:r>
          </a:p>
          <a:p>
            <a:r>
              <a:rPr sz="1400"/>
              <a:t>- Relative levels is the book's phrase: higher or lower than before, as on the first slide of this part.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Advances and declines were listed in Chapter 3 as breadth data and never defined. The plain row reads them as the number of stocks rising and falling; that reading is ours.</a:t>
            </a:r>
          </a:p>
          <a:p>
            <a:r>
              <a:rPr sz="1400"/>
              <a:t>- Up volume and down volume: the volume in the rising stocks and in the falling ones, again our reading of the names.</a:t>
            </a:r>
          </a:p>
          <a:p>
            <a:r>
              <a:rPr sz="1400"/>
              <a:t>- Work the arithmetic slowly. The TRIN is a ratio of two ratios.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is these three steps as columns.</a:t>
            </a:r>
          </a:p>
          <a:p>
            <a:r>
              <a:rPr sz="1400"/>
              <a:t>- Step 3 is only the same division rearranged. Check it on the board: 0.8 / 0.4 = 2.0.</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short-term rule as written and point at the box on the figure: the tick's dip and the TRIN's rise inside it.</a:t>
            </a:r>
          </a:p>
          <a:p>
            <a:r>
              <a:rPr sz="1400"/>
              <a:t>- The converse in full: tick falling but not oversold, TRIN rising but not overbought. The longer-term rule and the book's gaps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finishes the book's rules from the last slide's figure. Do not settle the gaps; name them.</a:t>
            </a:r>
          </a:p>
          <a:p>
            <a:r>
              <a:rPr sz="1400"/>
              <a:t>- No check rests on these rules. The check after this part tests only tick volume and the TRIN's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rising TRIN is bearish, by the short-term rule two slides back. Point at the boxed stretch, then at the shaded tick stretch labelled bearish after 1:45.</a:t>
            </a:r>
          </a:p>
          <a:p>
            <a:r>
              <a:rPr sz="1400"/>
              <a:t>- Uptick is the figure's word and is not defined by the book. Read it only as the label on the figure.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trades, added up two ways: by when they happened, and by the price they happened at.</a:t>
            </a:r>
          </a:p>
          <a:p>
            <a:r>
              <a:rPr sz="1400"/>
              <a:t>- Each sideways bar on the chart is the total of every day's volume while price sat in that band.</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is the same sum done over 100 days.</a:t>
            </a:r>
          </a:p>
          <a:p>
            <a:r>
              <a:rPr sz="1400"/>
              <a:t>- Do the sum on the board: which days closed between 48 and 50? Days 1, 2 and 4.</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longest sideways bars, near $17, and then find price returning to that level.</a:t>
            </a:r>
          </a:p>
          <a:p>
            <a:r>
              <a:rPr sz="1400"/>
              <a:t>- Clear up the word: Chapter 4's price-based volume is this, volume by price. Part 1's price-based oscillators are a different thing.</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bracket on the figure is the $77 to $86 range. Price later falls through it and returns.</a:t>
            </a:r>
          </a:p>
          <a:p>
            <a:r>
              <a:rPr sz="1400"/>
              <a:t>- The figure's own labels also mark bearish confirmation and bearish divergence on the volume panel: Part 1's names again.</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numbers on the chart in order. The band is step 1, the shaded columns step 2, the boxes step 3, the two lines step 4.</a:t>
            </a:r>
          </a:p>
          <a:p>
            <a:r>
              <a:rPr sz="1400"/>
              <a:t>- The intersection is where most shares traded at one price and in one stretch of time. The book takes the nearest turn either side of it.</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figure with the last slide's numbers. The two white boxes are step 3.</a:t>
            </a:r>
          </a:p>
          <a:p>
            <a:r>
              <a:rPr sz="1400"/>
              <a:t>- The dashed arrows mark the two levels of step 4: resistance at about $80, at the top of the zone, and support at about $72.50, below it. The overextended volume level on the volume panel is Part 2's.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first: Chapter 5 drew these four as Chart R and called the second one the squat bar.</a:t>
            </a:r>
          </a:p>
          <a:p>
            <a:r>
              <a:rPr sz="1400"/>
              <a:t>- The figure is the book's whole picture of them: a box for the range, a box for the volume. The next slides put each in a trend.</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example is the second of the four, the high volume reversal bar: Chapter 5's squat bar, now with a name.</a:t>
            </a:r>
          </a:p>
          <a:p>
            <a:r>
              <a:rPr sz="1400"/>
              <a:t>- Narrow and wide are against the trend's usual bars, as low and high are against its usual volume. The book gives no number for either.</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reasoning for the first: in an uptrend, heavy buying would push the range wide. A narrow range on heavy volume means someone was selling into it.</a:t>
            </a:r>
          </a:p>
          <a:p>
            <a:r>
              <a:rPr sz="1400"/>
              <a:t>- The gold line is our one-line summary of the two, not the book's words.</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two cells are the same bar in two trends. The book's point is that the trend decides what it means.</a:t>
            </a:r>
          </a:p>
          <a:p>
            <a:r>
              <a:rPr sz="1400"/>
              <a:t>- The continuation bar is Chapter 5's trend promoting case, named.</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1 is a reversal bar at a bottom, so the converse applies: bullish. Point 2 is at a top.</a:t>
            </a:r>
          </a:p>
          <a:p>
            <a:r>
              <a:rPr sz="1400"/>
              <a:t>- The triangle on the left is Part 2's low volume breakout signal again: volume falling into the apex, then surging.</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 at the low. The volume bar under it is one of the tallest on the chart.</a:t>
            </a:r>
          </a:p>
          <a:p>
            <a:r>
              <a:rPr sz="1400"/>
              <a:t>- Converse is the book's word: in a downtrend the same bar means buyers taking control.</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Bearish divergence in volume is Part 1's: price rising into the bar while volume falls.</a:t>
            </a:r>
          </a:p>
          <a:p>
            <a:r>
              <a:rPr sz="1400"/>
              <a:t>- The MACD is an oscillator the book has not taught. Point at its falling line and leave it there.</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overextended level is Part 2's upper overextended volume level, drawn by eye.</a:t>
            </a:r>
          </a:p>
          <a:p>
            <a:r>
              <a:rPr sz="1400"/>
              <a:t>- Two independent pieces of evidence at one bar is what the book keeps pointing to.</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Every bar holds the same volume, so a narrow bar is a lot of volume for the price moved, and a tall bar is little volume for it.</a:t>
            </a:r>
          </a:p>
          <a:p>
            <a:r>
              <a:rPr sz="1400"/>
              <a:t>- That is the last part's two reversal bars, read off a chart where volume never changes.</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asks the question, does volume lead price, and answers both ways.</a:t>
            </a:r>
          </a:p>
          <a:p>
            <a:r>
              <a:rPr sz="1400"/>
              <a:t>- On the chart, the breakout at 1 comes first and the volume at 2 after it. That order is what price leading volume means.</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8: volume cycles, and where you find them. The book's answer is intraday, with the peak at that hour.</a:t>
            </a:r>
          </a:p>
          <a:p>
            <a:r>
              <a:rPr sz="1400"/>
              <a:t>- The book does not say the hour holds for every market; its examples are the euro against the dollar.</a:t>
            </a:r>
          </a:p>
          <a:p>
            <a:r>
              <a:rPr sz="1400"/>
              <a:t>- Reverse or continue: the peak does not say which. It says something is about to happen.</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Straddle is the book's second name for the bidirectional entry: orders above and below, so either move is caught.</a:t>
            </a:r>
          </a:p>
          <a:p>
            <a:r>
              <a:rPr sz="1400"/>
              <a:t>- The daily spikes in the volume panel are the cycle. Line a few of them up with turns in price.</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Match each number to the shaded marks in the bottom panel. The successful retests had the oscillator oversold; the failures did not.</a:t>
            </a:r>
          </a:p>
          <a:p>
            <a:r>
              <a:rPr sz="1400"/>
              <a:t>- Do not teach the stochastic. Oversold is used as in Part 2: named, not defined here.</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built these charts. The point here is only what a non-linear time axis does to a line drawn across it.</a:t>
            </a:r>
          </a:p>
          <a:p>
            <a:r>
              <a:rPr sz="1400"/>
              <a:t>- Wide bars on heavy days stretch the axis, so the line's angle changes and so does where price crosses it.</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lists the book gives without a figure, so this slide has no picture. Say the names, and that Chapter 8 teaches the methods.</a:t>
            </a:r>
          </a:p>
          <a:p>
            <a:r>
              <a:rPr sz="1400"/>
              <a:t>- Divergence on a volume oscillator was Part 1: price-based ones read like standard divergence.</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it with the room: day 2 closes up, add 2.0; day 3 down, take away 1.5; day 4 unchanged, nothing; day 5 up, add 3.0; day 6 down, take away 1.0.</a:t>
            </a:r>
          </a:p>
          <a:p>
            <a:r>
              <a:rPr sz="1400"/>
              <a:t>- Only the direction of the close matters, not how far it moved. That is the weakness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cell: shift the start and the whole line moves up or down, but every rise and fall stays the same. Divergence reads the rises and falls.</a:t>
            </a:r>
          </a:p>
          <a:p>
            <a:r>
              <a:rPr sz="1400"/>
              <a:t>- Right cell: the second bar went far higher and still counts as a down day, because it closed a little lower.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Part 1's rule for a price-based oscillator: bullish divergence is price falling while the oscillator rises. Point at the two lines.</a:t>
            </a:r>
          </a:p>
          <a:p>
            <a:r>
              <a:rPr sz="1400"/>
              <a:t>- Compare with plain volume, where bullish divergence is volume falling with price.</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divergences, each an arrow up on price and an arrow down on the OBV.</a:t>
            </a:r>
          </a:p>
          <a:p>
            <a:r>
              <a:rPr sz="1400"/>
              <a:t>- After the second one, copper fell from about 4.5 to about 3.0.</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 H and L are the close, high and low: the OHLC of Chapter 1. Work the 49 close: (49 - 48) - (52 - 49) is 1 - 3, minus 2; over the range of 4, minus one half.</a:t>
            </a:r>
          </a:p>
          <a:p>
            <a:r>
              <a:rPr sz="1400"/>
              <a:t>- The name echoes the accumulation and distribution phases of Chapters 2 and 4. The book does not connect the two.</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line is the whole idea: the factor slides from minus one to plus one as the close moves from the low to the high.</a:t>
            </a:r>
          </a:p>
          <a:p>
            <a:r>
              <a:rPr sz="1400"/>
              <a:t>- No matter how wide the range, the maximum is the day's volume, not some multiple of it: the book's words.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kinds again, disagreeing: the price-based ADL rises with price, plain volume falls.</a:t>
            </a:r>
          </a:p>
          <a:p>
            <a:r>
              <a:rPr sz="1400"/>
              <a:t>- The book does not pick one. It says wait for price to confirm before acting.</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ellipse: the OBV falls while the ADL rises, and price goes nowhere. Right ellipse: both rise, and price trends.</a:t>
            </a:r>
          </a:p>
          <a:p>
            <a:r>
              <a:rPr sz="1400"/>
              <a:t>- Regime is the book's word for the market's mode: trending or ranging, as in Chapter 4's phases.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 is the same signed volume as the ADL's. The CMF divides its total over N bars by the volume of those bars, so it stays between minus one and one.</a:t>
            </a:r>
          </a:p>
          <a:p>
            <a:r>
              <a:rPr sz="1400"/>
              <a:t>- The book says to make a running total of the CMF, as for the ADL, and take the oscillator from that. It gives no lengths for the two EMAs; its figure prints 3 and 10.</a:t>
            </a:r>
          </a:p>
          <a:p>
            <a:r>
              <a:rPr sz="1400"/>
              <a:t>- EMA is an exponential moving average: named here, taught in Chapter 11. N is the number of periods, as in Chapter 5.</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dashed arrows from each panel up to the top: the oscillator's arrow comes first.</a:t>
            </a:r>
          </a:p>
          <a:p>
            <a:r>
              <a:rPr sz="1400"/>
              <a:t>- Oversold again: used, not defined, as in Part 2.</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it as the book does: the volume indicator breaks first, price confirms later.</a:t>
            </a:r>
          </a:p>
          <a:p>
            <a:r>
              <a:rPr sz="1400"/>
              <a:t>- Say the gap plainly: the text says ratio; the figure's line is cumulative and goes negative. The book does not reconcile them.</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Open interest was Part 4: only futures and options have it, which is why this index is limited to them.</a:t>
            </a:r>
          </a:p>
          <a:p>
            <a:r>
              <a:rPr sz="1400"/>
              <a:t>- It may be read with any or all of the eight methods of the part's first slide.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Traders use it to find potential tops and bottoms. The book says net position and does not define net; do not supply a formula.</a:t>
            </a:r>
          </a:p>
          <a:p>
            <a:r>
              <a:rPr sz="1400"/>
              <a:t>- Hedgers were named in Chapter 1 among the participants. Commercial and non-commercial are the report's own groups.</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all five slowly. This is the summary to copy down.</a:t>
            </a:r>
          </a:p>
          <a:p>
            <a:r>
              <a:rPr sz="1400"/>
              <a:t>- The book's summary adds that volume divergence and filtering are used throughout the rest of the book.</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where each answer sits, line by line: Parts 4 and 1, Part 1, Part 2, Part 3, Part 4, then Parts 4 and 5.</a:t>
            </a:r>
          </a:p>
          <a:p>
            <a:r>
              <a:rPr sz="1400"/>
              <a:t>- Question 3 is the one most likely to be answered wrongly: volume divergence ignores price's direction.</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straight with them: this chapter leans on oscillators the book teaches in Chapter 8.</a:t>
            </a:r>
          </a:p>
          <a:p>
            <a:r>
              <a:rPr sz="1400"/>
              <a:t>- Next is Chapter 7, Bar Chart Analysis.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478967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is regarded as the best indicator of potential future price behavior.</a:t>
            </a:r>
          </a:p>
          <a:p>
            <a:pPr algn="l">
              <a:lnSpc>
                <a:spcPct val="105000"/>
              </a:lnSpc>
              <a:spcBef>
                <a:spcPts val="0"/>
              </a:spcBef>
              <a:spcAft>
                <a:spcPts val="1100"/>
              </a:spcAft>
            </a:pPr>
            <a:r>
              <a:rPr sz="1700" b="0" i="0">
                <a:solidFill>
                  <a:srgbClr val="1A1A1A"/>
                </a:solidFill>
                <a:latin typeface="Arial"/>
              </a:rPr>
              <a:t>Volume and open interest offer additional evidence to corroborate bullish or bearish setups.</a:t>
            </a:r>
          </a:p>
          <a:p>
            <a:pPr algn="l">
              <a:lnSpc>
                <a:spcPct val="105000"/>
              </a:lnSpc>
              <a:spcBef>
                <a:spcPts val="0"/>
              </a:spcBef>
              <a:spcAft>
                <a:spcPts val="1100"/>
              </a:spcAft>
            </a:pPr>
            <a:r>
              <a:rPr sz="1700" b="0" i="0">
                <a:solidFill>
                  <a:srgbClr val="1A1A1A"/>
                </a:solidFill>
                <a:latin typeface="Arial"/>
              </a:rPr>
              <a:t>They can show underlying weakness, and work as timing indicators for potential breakouts.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Many novices misread declining volume as a weakness in a consolidation.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that is a misreading: Part 2. Volume is defined two slides on, open interest in Part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18</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under Dow Theory, volume should expand in the direction of the trend.</a:t>
            </a:r>
          </a:p>
          <a:p>
            <a:pPr algn="l">
              <a:lnSpc>
                <a:spcPct val="105000"/>
              </a:lnSpc>
              <a:spcBef>
                <a:spcPts val="0"/>
              </a:spcBef>
              <a:spcAft>
                <a:spcPts val="1100"/>
              </a:spcAft>
            </a:pPr>
            <a:r>
              <a:rPr sz="1700" b="0" i="0">
                <a:solidFill>
                  <a:srgbClr val="1A1A1A"/>
                </a:solidFill>
                <a:latin typeface="Arial"/>
              </a:rPr>
              <a:t>Uptrend: volume rises as price rises and falls in downside retracements: bullish volume action.</a:t>
            </a:r>
          </a:p>
          <a:p>
            <a:pPr algn="l">
              <a:lnSpc>
                <a:spcPct val="105000"/>
              </a:lnSpc>
              <a:spcBef>
                <a:spcPts val="0"/>
              </a:spcBef>
              <a:spcAft>
                <a:spcPts val="1100"/>
              </a:spcAft>
            </a:pPr>
            <a:r>
              <a:rPr sz="1700" b="0" i="0">
                <a:solidFill>
                  <a:srgbClr val="1A1A1A"/>
                </a:solidFill>
                <a:latin typeface="Arial"/>
              </a:rPr>
              <a:t>Downtrend: volume rises as price declines and falls in upside retracements: bearish volume action.</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is a supporting, or secondary, indicator.</a:t>
            </a:r>
          </a:p>
        </p:txBody>
      </p:sp>
      <p:sp>
        <p:nvSpPr>
          <p:cNvPr id="10" name="TextBox 9"/>
          <p:cNvSpPr txBox="1"/>
          <p:nvPr/>
        </p:nvSpPr>
        <p:spPr>
          <a:xfrm>
            <a:off x="777240" y="5189220"/>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action contrary to this: an uptrend may potentially be bearish, a downtrend bullish.</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a:t>
            </a:r>
          </a:p>
          <a:p>
            <a:pPr algn="l">
              <a:lnSpc>
                <a:spcPct val="120000"/>
              </a:lnSpc>
              <a:spcBef>
                <a:spcPts val="0"/>
              </a:spcBef>
              <a:spcAft>
                <a:spcPts val="1400"/>
              </a:spcAft>
            </a:pPr>
            <a:r>
              <a:rPr sz="18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1  Rising volume: participants want to see price go higher in an uptrend, lower in a downtrend, and will buy higher or sell lower to take part.</a:t>
            </a:r>
          </a:p>
          <a:p>
            <a:pPr algn="l">
              <a:lnSpc>
                <a:spcPct val="105000"/>
              </a:lnSpc>
              <a:spcBef>
                <a:spcPts val="0"/>
              </a:spcBef>
              <a:spcAft>
                <a:spcPts val="1100"/>
              </a:spcAft>
            </a:pPr>
            <a:r>
              <a:rPr sz="1900" b="0" i="0">
                <a:solidFill>
                  <a:srgbClr val="1A1A1A"/>
                </a:solidFill>
                <a:latin typeface="Arial"/>
              </a:rPr>
              <a:t>2  Declining volume: they are losing interest, would rather buy lower in an uptrend or sell higher in a downtrend, if not exiting.</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Volume measures participation: how many want to take part in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nearly word for word. The chart is ours, on invented prices.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Bullish volume moves with price. Bearish volume moves against it.</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rallies on rising volume and dips on falling volume: bullish both times. Falling on rising volume, bouncing on falling volume: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Declining volume does not necessarily imply bearishness. Rising volume does not imply bullishness.</a:t>
            </a:r>
          </a:p>
          <a:p>
            <a:pPr algn="l">
              <a:lnSpc>
                <a:spcPct val="105000"/>
              </a:lnSpc>
              <a:spcBef>
                <a:spcPts val="0"/>
              </a:spcBef>
              <a:spcAft>
                <a:spcPts val="1100"/>
              </a:spcAft>
            </a:pPr>
            <a:r>
              <a:rPr sz="1800" b="0" i="0">
                <a:solidFill>
                  <a:srgbClr val="1A1A1A"/>
                </a:solidFill>
                <a:latin typeface="Arial"/>
              </a:rPr>
              <a:t>The bullish or bearish sentiment of volume depends on the direction of the price.</a:t>
            </a:r>
          </a:p>
          <a:p>
            <a:pPr algn="l">
              <a:lnSpc>
                <a:spcPct val="105000"/>
              </a:lnSpc>
              <a:spcBef>
                <a:spcPts val="0"/>
              </a:spcBef>
              <a:spcAft>
                <a:spcPts val="1100"/>
              </a:spcAft>
            </a:pPr>
            <a:r>
              <a:rPr sz="1800" b="0" i="0">
                <a:solidFill>
                  <a:srgbClr val="1A1A1A"/>
                </a:solidFill>
                <a:latin typeface="Arial"/>
              </a:rPr>
              <a:t>Figure 6.2: volume expands with gold's primary bull trend and declines in the retracement. Bullish, both times.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calls the opposite reading a simple mistake many novices make.</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a:t>
            </a:r>
          </a:p>
          <a:p>
            <a:pPr algn="l">
              <a:lnSpc>
                <a:spcPct val="120000"/>
              </a:lnSpc>
              <a:spcBef>
                <a:spcPts val="0"/>
              </a:spcBef>
              <a:spcAft>
                <a:spcPts val="1400"/>
              </a:spcAft>
            </a:pPr>
            <a:r>
              <a:rPr sz="18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Uptrend: volume decreases as price rises and increases in downside retracements. Bearish volume: a potentially weak or bearish uptrend.</a:t>
            </a:r>
          </a:p>
          <a:p>
            <a:pPr algn="l">
              <a:lnSpc>
                <a:spcPct val="105000"/>
              </a:lnSpc>
              <a:spcBef>
                <a:spcPts val="0"/>
              </a:spcBef>
              <a:spcAft>
                <a:spcPts val="1100"/>
              </a:spcAft>
            </a:pPr>
            <a:r>
              <a:rPr sz="1900" b="0" i="0">
                <a:solidFill>
                  <a:srgbClr val="1A1A1A"/>
                </a:solidFill>
                <a:latin typeface="Arial"/>
              </a:rPr>
              <a:t>Downtrend: volume decreases as price falls and increases in upside retracements. Bullish volume: a potentially bullish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trend goes one way and its volume says the other.</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a:t>
            </a:r>
          </a:p>
          <a:p>
            <a:pPr algn="l">
              <a:lnSpc>
                <a:spcPct val="120000"/>
              </a:lnSpc>
              <a:spcBef>
                <a:spcPts val="0"/>
              </a:spcBef>
              <a:spcAft>
                <a:spcPts val="1400"/>
              </a:spcAft>
            </a:pPr>
            <a:r>
              <a:rPr sz="18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and bearish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price dips in a retracement and volume declines during the dip. That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volume, because volume is falling</a:t>
            </a:r>
          </a:p>
          <a:p>
            <a:pPr algn="l">
              <a:lnSpc>
                <a:spcPct val="112000"/>
              </a:lnSpc>
              <a:spcBef>
                <a:spcPts val="0"/>
              </a:spcBef>
              <a:spcAft>
                <a:spcPts val="900"/>
              </a:spcAft>
            </a:pPr>
            <a:r>
              <a:rPr sz="1500" b="0" i="0">
                <a:solidFill>
                  <a:srgbClr val="FFFFFF"/>
                </a:solidFill>
                <a:latin typeface="Arial"/>
              </a:rPr>
              <a:t>B.  Bullish volume, because price and volume fall together</a:t>
            </a:r>
          </a:p>
          <a:p>
            <a:pPr algn="l">
              <a:lnSpc>
                <a:spcPct val="112000"/>
              </a:lnSpc>
              <a:spcBef>
                <a:spcPts val="0"/>
              </a:spcBef>
              <a:spcAft>
                <a:spcPts val="900"/>
              </a:spcAft>
            </a:pPr>
            <a:r>
              <a:rPr sz="1500" b="0" i="0">
                <a:solidFill>
                  <a:srgbClr val="FFFFFF"/>
                </a:solidFill>
                <a:latin typeface="Arial"/>
              </a:rPr>
              <a:t>C.  Neither, because the trend is up</a:t>
            </a:r>
          </a:p>
          <a:p>
            <a:pPr algn="l">
              <a:lnSpc>
                <a:spcPct val="112000"/>
              </a:lnSpc>
              <a:spcBef>
                <a:spcPts val="0"/>
              </a:spcBef>
              <a:spcAft>
                <a:spcPts val="900"/>
              </a:spcAft>
            </a:pPr>
            <a:r>
              <a:rPr sz="1500" b="0" i="0">
                <a:solidFill>
                  <a:srgbClr val="FFFFFF"/>
                </a:solidFill>
                <a:latin typeface="Arial"/>
              </a:rPr>
              <a:t>D.  Volume not confirming the uptrend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rises while price declines in a preexisting downtrend.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Bullish volume action</a:t>
            </a:r>
          </a:p>
          <a:p>
            <a:pPr algn="l">
              <a:lnSpc>
                <a:spcPct val="112000"/>
              </a:lnSpc>
              <a:spcBef>
                <a:spcPts val="0"/>
              </a:spcBef>
              <a:spcAft>
                <a:spcPts val="900"/>
              </a:spcAft>
            </a:pPr>
            <a:r>
              <a:rPr sz="1500" b="0" i="0">
                <a:solidFill>
                  <a:srgbClr val="FFFFFF"/>
                </a:solidFill>
                <a:latin typeface="Arial"/>
              </a:rPr>
              <a:t>B.  A potentially bullish downtrend</a:t>
            </a:r>
          </a:p>
          <a:p>
            <a:pPr algn="l">
              <a:lnSpc>
                <a:spcPct val="112000"/>
              </a:lnSpc>
              <a:spcBef>
                <a:spcPts val="0"/>
              </a:spcBef>
              <a:spcAft>
                <a:spcPts val="900"/>
              </a:spcAft>
            </a:pPr>
            <a:r>
              <a:rPr sz="1500" b="0" i="0">
                <a:solidFill>
                  <a:srgbClr val="FFFFFF"/>
                </a:solidFill>
                <a:latin typeface="Arial"/>
              </a:rPr>
              <a:t>C.  Volume that does not confirm the trend</a:t>
            </a:r>
          </a:p>
          <a:p>
            <a:pPr algn="l">
              <a:lnSpc>
                <a:spcPct val="112000"/>
              </a:lnSpc>
              <a:spcBef>
                <a:spcPts val="0"/>
              </a:spcBef>
              <a:spcAft>
                <a:spcPts val="900"/>
              </a:spcAft>
            </a:pPr>
            <a:r>
              <a:rPr sz="1500" b="0" i="0">
                <a:solidFill>
                  <a:srgbClr val="FFFFFF"/>
                </a:solidFill>
                <a:latin typeface="Arial"/>
              </a:rPr>
              <a:t>D.  Bearish volume action, confirming the downtrend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and bearish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price dips in a retracement and volume declines during the dip. That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volume, because price and volume fall together</a:t>
            </a:r>
          </a:p>
          <a:p>
            <a:pPr algn="l">
              <a:lnSpc>
                <a:spcPct val="115000"/>
              </a:lnSpc>
              <a:spcBef>
                <a:spcPts val="700"/>
              </a:spcBef>
              <a:spcAft>
                <a:spcPts val="0"/>
              </a:spcAft>
            </a:pPr>
            <a:r>
              <a:rPr sz="1600" b="0" i="0">
                <a:solidFill>
                  <a:srgbClr val="1A1A1A"/>
                </a:solidFill>
                <a:latin typeface="Arial"/>
              </a:rPr>
              <a:t>Volume and price declining together is bullish volume, whatever the volume does on its own.</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rises while price declines in a preexisting downtrend. The book calls this: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Bearish volume action, confirming the downtrend</a:t>
            </a:r>
          </a:p>
          <a:p>
            <a:pPr algn="l">
              <a:lnSpc>
                <a:spcPct val="115000"/>
              </a:lnSpc>
              <a:spcBef>
                <a:spcPts val="700"/>
              </a:spcBef>
              <a:spcAft>
                <a:spcPts val="0"/>
              </a:spcAft>
            </a:pPr>
            <a:r>
              <a:rPr sz="1600" b="0" i="0">
                <a:solidFill>
                  <a:srgbClr val="1A1A1A"/>
                </a:solidFill>
                <a:latin typeface="Arial"/>
              </a:rPr>
              <a:t>Volume expanding in the direction of a downtrend is bearish volume action: it confirms the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falling is divergence. Volume rising is confirmation, also called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Price rises from PHP 40 to PHP 46 as volume shrinks from 3 to 1 million a day: divergence. Had it grown to 5 million: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chart is ours: sketches, not prices.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Divergence: participants are not interested in seeing price go further. Bearish for an uptrend, bullish for a downtrend.</a:t>
            </a:r>
          </a:p>
          <a:p>
            <a:pPr algn="l">
              <a:lnSpc>
                <a:spcPct val="105000"/>
              </a:lnSpc>
              <a:spcBef>
                <a:spcPts val="0"/>
              </a:spcBef>
              <a:spcAft>
                <a:spcPts val="1100"/>
              </a:spcAft>
            </a:pPr>
            <a:r>
              <a:rPr sz="1800" b="0" i="0">
                <a:solidFill>
                  <a:srgbClr val="1A1A1A"/>
                </a:solidFill>
                <a:latin typeface="Arial"/>
              </a:rPr>
              <a:t>Confirmation: they are interested in taking part in the move. Bullish for an uptrend, bearish for a downtrend.</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Confirmation is an early indication of a potential continuation; divergence, of a potential reversal.</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divergence always indicates potential weakness in an existing trend, confirmation always potential strength.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f.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is volume falling or rising, and does it move with price or against it?</a:t>
            </a:r>
          </a:p>
        </p:txBody>
      </p:sp>
      <p:sp>
        <p:nvSpPr>
          <p:cNvPr id="10" name="Rectangle 9"/>
          <p:cNvSpPr/>
          <p:nvPr/>
        </p:nvSpPr>
        <p:spPr>
          <a:xfrm>
            <a:off x="777240" y="323392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Both falling: bullish divergence. Both rising: bullish confirmation. Volume down, price up: bearish divergence. Volume up, price down: bearish confirmation.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9436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Bullish divergence can only occur in a downtrend, a potential upside reversal; bearish divergence only in an uptrend, a potential downside reversal.</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a:t>
            </a:r>
          </a:p>
          <a:p>
            <a:pPr algn="l">
              <a:lnSpc>
                <a:spcPct val="120000"/>
              </a:lnSpc>
              <a:spcBef>
                <a:spcPts val="0"/>
              </a:spcBef>
              <a:spcAft>
                <a:spcPts val="1400"/>
              </a:spcAft>
            </a:pPr>
            <a:r>
              <a:rPr sz="18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four names are its p.178 summary. The ATR on the figure is in no sentence of the text.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Price makes a higher peak while an oscillator, the MACD or the bar stochastic, makes a lower one.</a:t>
            </a:r>
          </a:p>
          <a:p>
            <a:pPr algn="l">
              <a:lnSpc>
                <a:spcPct val="105000"/>
              </a:lnSpc>
              <a:spcBef>
                <a:spcPts val="0"/>
              </a:spcBef>
              <a:spcAft>
                <a:spcPts val="1100"/>
              </a:spcAft>
            </a:pPr>
            <a:r>
              <a:rPr sz="1700" b="0" i="0">
                <a:solidFill>
                  <a:srgbClr val="1A1A1A"/>
                </a:solidFill>
                <a:latin typeface="Arial"/>
              </a:rPr>
              <a:t>Volume divergence is volume declining, whatever price does.</a:t>
            </a:r>
          </a:p>
          <a:p>
            <a:pPr algn="l">
              <a:lnSpc>
                <a:spcPct val="105000"/>
              </a:lnSpc>
              <a:spcBef>
                <a:spcPts val="0"/>
              </a:spcBef>
              <a:spcAft>
                <a:spcPts val="1100"/>
              </a:spcAft>
            </a:pPr>
            <a:r>
              <a:rPr sz="1700" b="0" i="0">
                <a:solidFill>
                  <a:srgbClr val="1A1A1A"/>
                </a:solidFill>
                <a:latin typeface="Arial"/>
              </a:rPr>
              <a:t>Price's direction still decides bullish or bearish.</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classification.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gave the volume case: falling price on decreasing volume. Reverse divergence: Chapter 9.</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Isis Pharmaceuticals traces out a bullish rounding bottom.</a:t>
            </a:r>
          </a:p>
          <a:p>
            <a:pPr algn="l">
              <a:lnSpc>
                <a:spcPct val="105000"/>
              </a:lnSpc>
              <a:spcBef>
                <a:spcPts val="0"/>
              </a:spcBef>
              <a:spcAft>
                <a:spcPts val="1100"/>
              </a:spcAft>
            </a:pPr>
            <a:r>
              <a:rPr sz="2000" b="0" i="0">
                <a:solidFill>
                  <a:srgbClr val="1A1A1A"/>
                </a:solidFill>
                <a:latin typeface="Arial"/>
              </a:rPr>
              <a:t>As price falls, volume falls with it, twice: bullish volume divergence.</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Divergence provides additional evidence of a bullish chart formation.</a:t>
            </a:r>
          </a:p>
        </p:txBody>
      </p:sp>
      <p:sp>
        <p:nvSpPr>
          <p:cNvPr id="10" name="TextBox 9"/>
          <p:cNvSpPr txBox="1"/>
          <p:nvPr/>
        </p:nvSpPr>
        <p:spPr>
          <a:xfrm>
            <a:off x="777240" y="50840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own note: Isis penetrated the previous day's close though the Dow Jones Industrial Average fell 219 points.</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6.5</a:t>
            </a:r>
          </a:p>
          <a:p>
            <a:pPr algn="l">
              <a:lnSpc>
                <a:spcPct val="120000"/>
              </a:lnSpc>
              <a:spcBef>
                <a:spcPts val="0"/>
              </a:spcBef>
              <a:spcAft>
                <a:spcPts val="1400"/>
              </a:spcAft>
            </a:pPr>
            <a:r>
              <a:rPr sz="18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Rounding bottom: named in Chapter 4. Chapter 4's Figure 4.18 was an intraday chart of this stock too.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Periods 1, 3, 7 and 9: bullish confirmation. 4 and 6: bullish divergence. 5: volume flat.</a:t>
            </a:r>
          </a:p>
          <a:p>
            <a:pPr algn="l">
              <a:lnSpc>
                <a:spcPct val="105000"/>
              </a:lnSpc>
              <a:spcBef>
                <a:spcPts val="0"/>
              </a:spcBef>
              <a:spcAft>
                <a:spcPts val="1100"/>
              </a:spcAft>
            </a:pPr>
            <a:r>
              <a:rPr sz="1700" b="0" i="0">
                <a:solidFill>
                  <a:srgbClr val="1A1A1A"/>
                </a:solidFill>
                <a:latin typeface="Arial"/>
              </a:rPr>
              <a:t>2, 8 and 10: volume declines in a consolidation, timing the breakout (why: Part 2).</a:t>
            </a:r>
          </a:p>
        </p:txBody>
      </p:sp>
      <p:sp>
        <p:nvSpPr>
          <p:cNvPr id="8" name="Rectangle 7"/>
          <p:cNvSpPr/>
          <p:nvPr/>
        </p:nvSpPr>
        <p:spPr>
          <a:xfrm>
            <a:off x="777240" y="385648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9305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the end of 2, 8 and 10, price breaks out as volume reaches its minimum.</a:t>
            </a:r>
          </a:p>
        </p:txBody>
      </p:sp>
      <p:sp>
        <p:nvSpPr>
          <p:cNvPr id="10" name="TextBox 9"/>
          <p:cNvSpPr txBox="1"/>
          <p:nvPr/>
        </p:nvSpPr>
        <p:spPr>
          <a:xfrm>
            <a:off x="777240" y="502691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bullish divergence occurs only in a downtrend; 4 and 6 are dips in this uptrend. Our reading, price falling for any stretch: no check rests on it.</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6.6</a:t>
            </a:r>
          </a:p>
          <a:p>
            <a:pPr algn="l">
              <a:lnSpc>
                <a:spcPct val="120000"/>
              </a:lnSpc>
              <a:spcBef>
                <a:spcPts val="0"/>
              </a:spcBef>
              <a:spcAft>
                <a:spcPts val="1400"/>
              </a:spcAft>
            </a:pPr>
            <a:r>
              <a:rPr sz="18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Price rises, volume rises: bullish confirmation.</a:t>
            </a:r>
          </a:p>
          <a:p>
            <a:pPr algn="l">
              <a:lnSpc>
                <a:spcPct val="105000"/>
              </a:lnSpc>
              <a:spcBef>
                <a:spcPts val="0"/>
              </a:spcBef>
              <a:spcAft>
                <a:spcPts val="1100"/>
              </a:spcAft>
            </a:pPr>
            <a:r>
              <a:rPr sz="1700" b="0" i="0">
                <a:solidFill>
                  <a:srgbClr val="1A1A1A"/>
                </a:solidFill>
                <a:latin typeface="Arial"/>
              </a:rPr>
              <a:t>2  Price dips, volume falls: bullish divergence.</a:t>
            </a:r>
          </a:p>
          <a:p>
            <a:pPr algn="l">
              <a:lnSpc>
                <a:spcPct val="105000"/>
              </a:lnSpc>
              <a:spcBef>
                <a:spcPts val="0"/>
              </a:spcBef>
              <a:spcAft>
                <a:spcPts val="1100"/>
              </a:spcAft>
            </a:pPr>
            <a:r>
              <a:rPr sz="1700" b="0" i="0">
                <a:solidFill>
                  <a:srgbClr val="1A1A1A"/>
                </a:solidFill>
                <a:latin typeface="Arial"/>
              </a:rPr>
              <a:t>3  Price moves sideways, volume falls to its minimum: a consolidation.</a:t>
            </a:r>
          </a:p>
          <a:p>
            <a:pPr algn="l">
              <a:lnSpc>
                <a:spcPct val="105000"/>
              </a:lnSpc>
              <a:spcBef>
                <a:spcPts val="0"/>
              </a:spcBef>
              <a:spcAft>
                <a:spcPts val="1100"/>
              </a:spcAft>
            </a:pPr>
            <a:r>
              <a:rPr sz="1700" b="0" i="0">
                <a:solidFill>
                  <a:srgbClr val="1A1A1A"/>
                </a:solidFill>
                <a:latin typeface="Arial"/>
              </a:rPr>
              <a:t>4  Price breaks out and rises, volume rises: bullish confirmation.</a:t>
            </a:r>
          </a:p>
        </p:txBody>
      </p:sp>
      <p:sp>
        <p:nvSpPr>
          <p:cNvPr id="8" name="Rectangle 7"/>
          <p:cNvSpPr/>
          <p:nvPr/>
        </p:nvSpPr>
        <p:spPr>
          <a:xfrm>
            <a:off x="777240" y="472973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1, 2 and 4 are bullish volume. In 3 price moves sideways: no reading, Part 2.</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lengths and volumes are ours.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Divergence and confirmation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and volume are declining together. By the book's summary this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Bearish divergence</a:t>
            </a:r>
          </a:p>
          <a:p>
            <a:pPr algn="l">
              <a:lnSpc>
                <a:spcPct val="112000"/>
              </a:lnSpc>
              <a:spcBef>
                <a:spcPts val="0"/>
              </a:spcBef>
              <a:spcAft>
                <a:spcPts val="900"/>
              </a:spcAft>
            </a:pPr>
            <a:r>
              <a:rPr sz="1500" b="0" i="0">
                <a:solidFill>
                  <a:srgbClr val="FFFFFF"/>
                </a:solidFill>
                <a:latin typeface="Arial"/>
              </a:rPr>
              <a:t>C.  Bullish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statement about volume divergence is the book's?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occurs whenever volume declines, irrespective of the direction of price</a:t>
            </a:r>
          </a:p>
          <a:p>
            <a:pPr algn="l">
              <a:lnSpc>
                <a:spcPct val="112000"/>
              </a:lnSpc>
              <a:spcBef>
                <a:spcPts val="0"/>
              </a:spcBef>
              <a:spcAft>
                <a:spcPts val="900"/>
              </a:spcAft>
            </a:pPr>
            <a:r>
              <a:rPr sz="1500" b="0" i="0">
                <a:solidFill>
                  <a:srgbClr val="FFFFFF"/>
                </a:solidFill>
                <a:latin typeface="Arial"/>
              </a:rPr>
              <a:t>B.  It needs price to make a higher peak while volume makes a lower one</a:t>
            </a:r>
          </a:p>
          <a:p>
            <a:pPr algn="l">
              <a:lnSpc>
                <a:spcPct val="112000"/>
              </a:lnSpc>
              <a:spcBef>
                <a:spcPts val="0"/>
              </a:spcBef>
              <a:spcAft>
                <a:spcPts val="900"/>
              </a:spcAft>
            </a:pPr>
            <a:r>
              <a:rPr sz="1500" b="0" i="0">
                <a:solidFill>
                  <a:srgbClr val="FFFFFF"/>
                </a:solidFill>
                <a:latin typeface="Arial"/>
              </a:rPr>
              <a:t>C.  It has a reverse divergence classification</a:t>
            </a:r>
          </a:p>
          <a:p>
            <a:pPr algn="l">
              <a:lnSpc>
                <a:spcPct val="112000"/>
              </a:lnSpc>
              <a:spcBef>
                <a:spcPts val="0"/>
              </a:spcBef>
              <a:spcAft>
                <a:spcPts val="900"/>
              </a:spcAft>
            </a:pPr>
            <a:r>
              <a:rPr sz="1500" b="0" i="0">
                <a:solidFill>
                  <a:srgbClr val="FFFFFF"/>
                </a:solidFill>
                <a:latin typeface="Arial"/>
              </a:rPr>
              <a:t>D.  It always indicates potential strength in a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Divergence and confirmation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Price and volume are declining together. By the book's summary this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Bullish divergence</a:t>
            </a:r>
          </a:p>
          <a:p>
            <a:pPr algn="l">
              <a:lnSpc>
                <a:spcPct val="115000"/>
              </a:lnSpc>
              <a:spcBef>
                <a:spcPts val="700"/>
              </a:spcBef>
              <a:spcAft>
                <a:spcPts val="0"/>
              </a:spcAft>
            </a:pPr>
            <a:r>
              <a:rPr sz="1600" b="0" i="0">
                <a:solidFill>
                  <a:srgbClr val="1A1A1A"/>
                </a:solidFill>
                <a:latin typeface="Arial"/>
              </a:rPr>
              <a:t>Volume declining is divergence, and volume moving with price is bullish: bullish divergence.</a:t>
            </a:r>
          </a:p>
        </p:txBody>
      </p:sp>
      <p:sp>
        <p:nvSpPr>
          <p:cNvPr id="10" name="Rectangle 9"/>
          <p:cNvSpPr/>
          <p:nvPr/>
        </p:nvSpPr>
        <p:spPr>
          <a:xfrm>
            <a:off x="777240" y="308203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Which statement about volume divergence is the book's?</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 occurs whenever volume declines, irrespective of the direction of price</a:t>
            </a:r>
          </a:p>
          <a:p>
            <a:pPr algn="l">
              <a:lnSpc>
                <a:spcPct val="115000"/>
              </a:lnSpc>
              <a:spcBef>
                <a:spcPts val="700"/>
              </a:spcBef>
              <a:spcAft>
                <a:spcPts val="0"/>
              </a:spcAft>
            </a:pPr>
            <a:r>
              <a:rPr sz="1600" b="0" i="0">
                <a:solidFill>
                  <a:srgbClr val="1A1A1A"/>
                </a:solidFill>
                <a:latin typeface="Arial"/>
              </a:rPr>
              <a:t>Volume divergence is volume declining, whatever price does. No reverse classification, and it indicates weakness.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in a panel under price. Non-price-based: volume only. Price-based: price built in.</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Volume bars count shares. A line adding volume on up closes, subtracting on down closes, uses price.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The chart is ours, on invented prices; its OBV line is computed by the rule taught in Part 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p:txBody>
      </p:sp>
      <p:sp>
        <p:nvSpPr>
          <p:cNvPr id="8" name="Rectangle 7"/>
          <p:cNvSpPr/>
          <p:nvPr/>
        </p:nvSpPr>
        <p:spPr>
          <a:xfrm>
            <a:off x="777240" y="390143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460679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Bearish divergence and bullish confirmation are read the same way on both kinds.</a:t>
            </a:r>
          </a:p>
          <a:p>
            <a:pPr algn="l">
              <a:lnSpc>
                <a:spcPct val="105000"/>
              </a:lnSpc>
              <a:spcBef>
                <a:spcPts val="0"/>
              </a:spcBef>
              <a:spcAft>
                <a:spcPts val="1100"/>
              </a:spcAft>
            </a:pPr>
            <a:r>
              <a:rPr sz="1700" b="0" i="0">
                <a:solidFill>
                  <a:srgbClr val="1A1A1A"/>
                </a:solidFill>
                <a:latin typeface="Arial"/>
              </a:rPr>
              <a:t>Bullish divergence: price falls. Volume falls on a non-price-based one; a price-based one rises.</a:t>
            </a:r>
          </a:p>
          <a:p>
            <a:pPr algn="l">
              <a:lnSpc>
                <a:spcPct val="105000"/>
              </a:lnSpc>
              <a:spcBef>
                <a:spcPts val="0"/>
              </a:spcBef>
              <a:spcAft>
                <a:spcPts val="1100"/>
              </a:spcAft>
            </a:pPr>
            <a:r>
              <a:rPr sz="1700" b="0" i="0">
                <a:solidFill>
                  <a:srgbClr val="1A1A1A"/>
                </a:solidFill>
                <a:latin typeface="Arial"/>
              </a:rPr>
              <a:t>Bearish confirmation: price falls. Volume rises on a non-price-based one; a price-based one falls.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0109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price-based oscillator diverges by moving against price; plain volume, by falling.</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6.7</a:t>
            </a:r>
          </a:p>
          <a:p>
            <a:pPr algn="l">
              <a:lnSpc>
                <a:spcPct val="120000"/>
              </a:lnSpc>
              <a:spcBef>
                <a:spcPts val="0"/>
              </a:spcBef>
              <a:spcAft>
                <a:spcPts val="1400"/>
              </a:spcAft>
            </a:pPr>
            <a:r>
              <a:rPr sz="18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last line is our summary of the figure's eight arrows.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18</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Volume and smoothed volume, non-price-based: bearish divergence as the euro trust rises.</a:t>
            </a:r>
          </a:p>
          <a:p>
            <a:pPr algn="l">
              <a:lnSpc>
                <a:spcPct val="105000"/>
              </a:lnSpc>
              <a:spcBef>
                <a:spcPts val="0"/>
              </a:spcBef>
              <a:spcAft>
                <a:spcPts val="1100"/>
              </a:spcAft>
            </a:pPr>
            <a:r>
              <a:rPr sz="2000" b="0" i="0">
                <a:solidFill>
                  <a:srgbClr val="1A1A1A"/>
                </a:solidFill>
                <a:latin typeface="Arial"/>
              </a:rPr>
              <a:t>The detrended PVO, non-price-based: bearish divergence too.</a:t>
            </a:r>
          </a:p>
          <a:p>
            <a:pPr algn="l">
              <a:lnSpc>
                <a:spcPct val="105000"/>
              </a:lnSpc>
              <a:spcBef>
                <a:spcPts val="0"/>
              </a:spcBef>
              <a:spcAft>
                <a:spcPts val="1100"/>
              </a:spcAft>
            </a:pPr>
            <a:r>
              <a:rPr sz="2000" b="0" i="0">
                <a:solidFill>
                  <a:srgbClr val="1A1A1A"/>
                </a:solidFill>
                <a:latin typeface="Arial"/>
              </a:rPr>
              <a:t>The ADL, price-based: bullish confirmation, rising with price.</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1081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rise, read two ways: each kind by its own rule.</a:t>
            </a:r>
          </a:p>
        </p:txBody>
      </p:sp>
      <p:sp>
        <p:nvSpPr>
          <p:cNvPr id="10" name="Rectangle 9"/>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6.8</a:t>
            </a:r>
          </a:p>
          <a:p>
            <a:pPr algn="l">
              <a:lnSpc>
                <a:spcPct val="120000"/>
              </a:lnSpc>
              <a:spcBef>
                <a:spcPts val="0"/>
              </a:spcBef>
              <a:spcAft>
                <a:spcPts val="1400"/>
              </a:spcAft>
            </a:pPr>
            <a:r>
              <a:rPr sz="1800" b="0" i="0">
                <a:solidFill>
                  <a:srgbClr val="1A1A1A"/>
                </a:solidFill>
                <a:latin typeface="Palatino"/>
              </a:rPr>
              <a:t>A daily chart of the Currency Shares Euro Trust rising, with three panels under it: volume with a smoothed line, labelled bearish divergence; a detrended volume oscillator, the PVO, also labelled bearish divergence; and the accumulation distribution line,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PVO and detrending are on the figure and not explained by the book.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two kinds of volume oscillator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of these is a non-price-based volume oscillator?</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 Balance Volume</a:t>
            </a:r>
          </a:p>
          <a:p>
            <a:pPr algn="l">
              <a:lnSpc>
                <a:spcPct val="112000"/>
              </a:lnSpc>
              <a:spcBef>
                <a:spcPts val="0"/>
              </a:spcBef>
              <a:spcAft>
                <a:spcPts val="900"/>
              </a:spcAft>
            </a:pPr>
            <a:r>
              <a:rPr sz="1500" b="0" i="0">
                <a:solidFill>
                  <a:srgbClr val="FFFFFF"/>
                </a:solidFill>
                <a:latin typeface="Arial"/>
              </a:rPr>
              <a:t>B.  Chaikin Money Flow</a:t>
            </a:r>
          </a:p>
          <a:p>
            <a:pPr algn="l">
              <a:lnSpc>
                <a:spcPct val="112000"/>
              </a:lnSpc>
              <a:spcBef>
                <a:spcPts val="0"/>
              </a:spcBef>
              <a:spcAft>
                <a:spcPts val="900"/>
              </a:spcAft>
            </a:pPr>
            <a:r>
              <a:rPr sz="1500" b="0" i="0">
                <a:solidFill>
                  <a:srgbClr val="FFFFFF"/>
                </a:solidFill>
                <a:latin typeface="Arial"/>
              </a:rPr>
              <a:t>C.  Smoothed volume</a:t>
            </a:r>
          </a:p>
          <a:p>
            <a:pPr algn="l">
              <a:lnSpc>
                <a:spcPct val="112000"/>
              </a:lnSpc>
              <a:spcBef>
                <a:spcPts val="0"/>
              </a:spcBef>
              <a:spcAft>
                <a:spcPts val="900"/>
              </a:spcAft>
            </a:pPr>
            <a:r>
              <a:rPr sz="1500" b="0" i="0">
                <a:solidFill>
                  <a:srgbClr val="FFFFFF"/>
                </a:solidFill>
                <a:latin typeface="Arial"/>
              </a:rPr>
              <a:t>D.  Accumulation/Distribution Line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falls while a price-based volume oscillator rises. On the book's reading this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Bullish divergence</a:t>
            </a:r>
          </a:p>
          <a:p>
            <a:pPr algn="l">
              <a:lnSpc>
                <a:spcPct val="112000"/>
              </a:lnSpc>
              <a:spcBef>
                <a:spcPts val="0"/>
              </a:spcBef>
              <a:spcAft>
                <a:spcPts val="900"/>
              </a:spcAft>
            </a:pPr>
            <a:r>
              <a:rPr sz="1500" b="0" i="0">
                <a:solidFill>
                  <a:srgbClr val="FFFFFF"/>
                </a:solidFill>
                <a:latin typeface="Arial"/>
              </a:rPr>
              <a:t>C.  Bearish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two kinds of volume oscillator</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of these is a non-price-based volume oscillator?</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Smoothed volume</a:t>
            </a:r>
          </a:p>
          <a:p>
            <a:pPr algn="l">
              <a:lnSpc>
                <a:spcPct val="115000"/>
              </a:lnSpc>
              <a:spcBef>
                <a:spcPts val="700"/>
              </a:spcBef>
              <a:spcAft>
                <a:spcPts val="0"/>
              </a:spcAft>
            </a:pPr>
            <a:r>
              <a:rPr sz="1600" b="0" i="0">
                <a:solidFill>
                  <a:srgbClr val="1A1A1A"/>
                </a:solidFill>
                <a:latin typeface="Arial"/>
              </a:rPr>
              <a:t>Smoothed volume uses volume data only. The other three incorporate price.</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falls while a price-based volume oscillator rises. On the book's reading this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divergence</a:t>
            </a:r>
          </a:p>
          <a:p>
            <a:pPr algn="l">
              <a:lnSpc>
                <a:spcPct val="115000"/>
              </a:lnSpc>
              <a:spcBef>
                <a:spcPts val="700"/>
              </a:spcBef>
              <a:spcAft>
                <a:spcPts val="0"/>
              </a:spcAft>
            </a:pPr>
            <a:r>
              <a:rPr sz="1600" b="0" i="0">
                <a:solidFill>
                  <a:srgbClr val="1A1A1A"/>
                </a:solidFill>
                <a:latin typeface="Arial"/>
              </a:rPr>
              <a:t>On a price-based oscillator, bullish divergence is price falling while the oscillator rises.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When volume nears its lowest historical level, a breakout from the consolidation is expected.</a:t>
            </a:r>
          </a:p>
          <a:p>
            <a:pPr algn="l">
              <a:lnSpc>
                <a:spcPct val="105000"/>
              </a:lnSpc>
              <a:spcBef>
                <a:spcPts val="0"/>
              </a:spcBef>
              <a:spcAft>
                <a:spcPts val="1100"/>
              </a:spcAft>
            </a:pPr>
            <a:r>
              <a:rPr sz="1700" b="0" i="0">
                <a:solidFill>
                  <a:srgbClr val="1A1A1A"/>
                </a:solidFill>
                <a:latin typeface="Arial"/>
              </a:rPr>
              <a:t>Why: most who wanted to buy have bought; most who wanted to sell have sold.</a:t>
            </a:r>
          </a:p>
          <a:p>
            <a:pPr algn="l">
              <a:lnSpc>
                <a:spcPct val="105000"/>
              </a:lnSpc>
              <a:spcBef>
                <a:spcPts val="0"/>
              </a:spcBef>
              <a:spcAft>
                <a:spcPts val="1100"/>
              </a:spcAft>
            </a:pPr>
            <a:r>
              <a:rPr sz="1700" b="0" i="0">
                <a:solidFill>
                  <a:srgbClr val="1A1A1A"/>
                </a:solidFill>
                <a:latin typeface="Arial"/>
              </a:rPr>
              <a:t>Stop orders build up above and below the range: once triggered, the catalyst.</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No divergence reading in a range: price moves sideways.</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Breakout here: out of a range, as in Chapters 2 and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 is the book's. Stop orders: Chapters 1 and 5. The chart is ours, on invented prices; where the stops sit is our drawing of the book's sentence.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17</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30936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sinks to its lowest level inside a range: expect price to leave the range soon, either way.</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Apple ranges in an accumulation, the box, while volume falls to its lowest level. Price then breaks out of the box, upward.</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7680960" y="2157984"/>
            <a:ext cx="37334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680960" y="2157984"/>
            <a:ext cx="37334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8092440" y="2615184"/>
            <a:ext cx="29105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6.9</a:t>
            </a:r>
          </a:p>
          <a:p>
            <a:pPr algn="l">
              <a:lnSpc>
                <a:spcPct val="120000"/>
              </a:lnSpc>
              <a:spcBef>
                <a:spcPts val="0"/>
              </a:spcBef>
              <a:spcAft>
                <a:spcPts val="1400"/>
              </a:spcAft>
            </a:pPr>
            <a:r>
              <a:rPr sz="18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17</a:t>
            </a:r>
          </a:p>
        </p:txBody>
      </p:sp>
      <p:sp>
        <p:nvSpPr>
          <p:cNvPr id="8" name="Rectangle 7"/>
          <p:cNvSpPr/>
          <p:nvPr/>
        </p:nvSpPr>
        <p:spPr>
          <a:xfrm>
            <a:off x="777240" y="2258568"/>
            <a:ext cx="64008" cy="4754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585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Price turns while volume sits at its minimum.</a:t>
            </a:r>
          </a:p>
        </p:txBody>
      </p:sp>
      <p:sp>
        <p:nvSpPr>
          <p:cNvPr id="10" name="Rectangle 9"/>
          <p:cNvSpPr/>
          <p:nvPr/>
        </p:nvSpPr>
        <p:spPr>
          <a:xfrm>
            <a:off x="777240" y="299008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44368"/>
            <a:ext cx="576072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turns twice on low volume, at time lines 1 and 2. On our chart: at 1 a peak, at 2 a trough, each as volume touches its low level.</a:t>
            </a:r>
          </a:p>
        </p:txBody>
      </p:sp>
      <p:sp>
        <p:nvSpPr>
          <p:cNvPr id="12" name="Rectangle 11"/>
          <p:cNvSpPr/>
          <p:nvPr/>
        </p:nvSpPr>
        <p:spPr>
          <a:xfrm>
            <a:off x="777240" y="427024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24527"/>
            <a:ext cx="576072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Three consolidation breakouts, each as the lowest or minimum volume level is tested.</a:t>
            </a:r>
          </a:p>
          <a:p>
            <a:pPr algn="l">
              <a:lnSpc>
                <a:spcPct val="105000"/>
              </a:lnSpc>
              <a:spcBef>
                <a:spcPts val="0"/>
              </a:spcBef>
              <a:spcAft>
                <a:spcPts val="1100"/>
              </a:spcAft>
            </a:pPr>
            <a:r>
              <a:rPr sz="2000" b="0" i="0">
                <a:solidFill>
                  <a:srgbClr val="1A1A1A"/>
                </a:solidFill>
                <a:latin typeface="Arial"/>
              </a:rPr>
              <a:t>Volume increases on the breakout bars, bars 1, 2 and 3.</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Volume falls into the breakout, then surges on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6.10</a:t>
            </a:r>
          </a:p>
          <a:p>
            <a:pPr algn="l">
              <a:lnSpc>
                <a:spcPct val="120000"/>
              </a:lnSpc>
              <a:spcBef>
                <a:spcPts val="0"/>
              </a:spcBef>
              <a:spcAft>
                <a:spcPts val="1400"/>
              </a:spcAft>
            </a:pPr>
            <a:r>
              <a:rPr sz="18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as a timing indicator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Inside a consolidation, volume falls to its lowest level in a year. The book expects: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breakout, to the upside or the downside</a:t>
            </a:r>
          </a:p>
          <a:p>
            <a:pPr algn="l">
              <a:lnSpc>
                <a:spcPct val="112000"/>
              </a:lnSpc>
              <a:spcBef>
                <a:spcPts val="0"/>
              </a:spcBef>
              <a:spcAft>
                <a:spcPts val="900"/>
              </a:spcAft>
            </a:pPr>
            <a:r>
              <a:rPr sz="1500" b="0" i="0">
                <a:solidFill>
                  <a:srgbClr val="FFFFFF"/>
                </a:solidFill>
                <a:latin typeface="Arial"/>
              </a:rPr>
              <a:t>B.  An upside breakout only</a:t>
            </a:r>
          </a:p>
          <a:p>
            <a:pPr algn="l">
              <a:lnSpc>
                <a:spcPct val="112000"/>
              </a:lnSpc>
              <a:spcBef>
                <a:spcPts val="0"/>
              </a:spcBef>
              <a:spcAft>
                <a:spcPts val="900"/>
              </a:spcAft>
            </a:pPr>
            <a:r>
              <a:rPr sz="1500" b="0" i="0">
                <a:solidFill>
                  <a:srgbClr val="FFFFFF"/>
                </a:solidFill>
                <a:latin typeface="Arial"/>
              </a:rPr>
              <a:t>C.  Bearish divergence, so a decline</a:t>
            </a:r>
          </a:p>
          <a:p>
            <a:pPr algn="l">
              <a:lnSpc>
                <a:spcPct val="112000"/>
              </a:lnSpc>
              <a:spcBef>
                <a:spcPts val="0"/>
              </a:spcBef>
              <a:spcAft>
                <a:spcPts val="900"/>
              </a:spcAft>
            </a:pPr>
            <a:r>
              <a:rPr sz="1500" b="0" i="0">
                <a:solidFill>
                  <a:srgbClr val="FFFFFF"/>
                </a:solidFill>
                <a:latin typeface="Arial"/>
              </a:rPr>
              <a:t>D.  The consolidation to last longer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there no divergence reading during a consolidation?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always flat in a consolidation</a:t>
            </a:r>
          </a:p>
          <a:p>
            <a:pPr algn="l">
              <a:lnSpc>
                <a:spcPct val="112000"/>
              </a:lnSpc>
              <a:spcBef>
                <a:spcPts val="0"/>
              </a:spcBef>
              <a:spcAft>
                <a:spcPts val="900"/>
              </a:spcAft>
            </a:pPr>
            <a:r>
              <a:rPr sz="1500" b="0" i="0">
                <a:solidFill>
                  <a:srgbClr val="FFFFFF"/>
                </a:solidFill>
                <a:latin typeface="Arial"/>
              </a:rPr>
              <a:t>B.  Divergence needs open interest</a:t>
            </a:r>
          </a:p>
          <a:p>
            <a:pPr algn="l">
              <a:lnSpc>
                <a:spcPct val="112000"/>
              </a:lnSpc>
              <a:spcBef>
                <a:spcPts val="0"/>
              </a:spcBef>
              <a:spcAft>
                <a:spcPts val="900"/>
              </a:spcAft>
            </a:pPr>
            <a:r>
              <a:rPr sz="1500" b="0" i="0">
                <a:solidFill>
                  <a:srgbClr val="FFFFFF"/>
                </a:solidFill>
                <a:latin typeface="Arial"/>
              </a:rPr>
              <a:t>C.  Consolidations only occur on low volume</a:t>
            </a:r>
          </a:p>
          <a:p>
            <a:pPr algn="l">
              <a:lnSpc>
                <a:spcPct val="112000"/>
              </a:lnSpc>
              <a:spcBef>
                <a:spcPts val="0"/>
              </a:spcBef>
              <a:spcAft>
                <a:spcPts val="900"/>
              </a:spcAft>
            </a:pPr>
            <a:r>
              <a:rPr sz="1500" b="0" i="0">
                <a:solidFill>
                  <a:srgbClr val="FFFFFF"/>
                </a:solidFill>
                <a:latin typeface="Arial"/>
              </a:rPr>
              <a:t>D.  Price is moving sideways, so neither direction can be read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as a timing indicator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Inside a consolidation, volume falls to its lowest level in a year. The book expects: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breakout, to the upside or the downside</a:t>
            </a:r>
          </a:p>
          <a:p>
            <a:pPr algn="l">
              <a:lnSpc>
                <a:spcPct val="115000"/>
              </a:lnSpc>
              <a:spcBef>
                <a:spcPts val="700"/>
              </a:spcBef>
              <a:spcAft>
                <a:spcPts val="0"/>
              </a:spcAft>
            </a:pPr>
            <a:r>
              <a:rPr sz="1600" b="0" i="0">
                <a:solidFill>
                  <a:srgbClr val="1A1A1A"/>
                </a:solidFill>
                <a:latin typeface="Arial"/>
              </a:rPr>
              <a:t>Volume testing its lowest historical level in a consolidation is a low volume breakout signal, either way.</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is there no divergence reading during a consolidation?</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Price is moving sideways, so neither direction can be read</a:t>
            </a:r>
          </a:p>
          <a:p>
            <a:pPr algn="l">
              <a:lnSpc>
                <a:spcPct val="115000"/>
              </a:lnSpc>
              <a:spcBef>
                <a:spcPts val="700"/>
              </a:spcBef>
              <a:spcAft>
                <a:spcPts val="0"/>
              </a:spcAft>
            </a:pPr>
            <a:r>
              <a:rPr sz="1600" b="0" i="0">
                <a:solidFill>
                  <a:srgbClr val="1A1A1A"/>
                </a:solidFill>
                <a:latin typeface="Arial"/>
              </a:rPr>
              <a:t>With price moving sideways it is not possible to tell divergence from convergence, let alone bullish from bearish.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17</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of average price on the chart, weighted by volume as its name says. Chapter 11 says how.</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at PHP 52, above its VWMA at PHP 50: potentially bullish. At PHP 48, below it: potentially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The chart is ours, on invented prices; its line is a 10-bar VWMA we computed.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rises decisively every time it crosses above the VWMA, and declines in a similar manner when it crosses below.</a:t>
            </a:r>
          </a:p>
          <a:p>
            <a:pPr algn="l">
              <a:lnSpc>
                <a:spcPct val="105000"/>
              </a:lnSpc>
              <a:spcBef>
                <a:spcPts val="0"/>
              </a:spcBef>
              <a:spcAft>
                <a:spcPts val="1100"/>
              </a:spcAft>
            </a:pPr>
            <a:r>
              <a:rPr sz="1800" b="0" i="0">
                <a:solidFill>
                  <a:srgbClr val="1A1A1A"/>
                </a:solidFill>
                <a:latin typeface="Arial"/>
              </a:rPr>
              <a:t>The crossovers occur at the daily volume cycle peaks.</a:t>
            </a:r>
          </a:p>
          <a:p>
            <a:pPr algn="l">
              <a:lnSpc>
                <a:spcPct val="105000"/>
              </a:lnSpc>
              <a:spcBef>
                <a:spcPts val="0"/>
              </a:spcBef>
              <a:spcAft>
                <a:spcPts val="1100"/>
              </a:spcAft>
            </a:pPr>
            <a:r>
              <a:rPr sz="1800" b="0" i="0">
                <a:solidFill>
                  <a:srgbClr val="1A1A1A"/>
                </a:solidFill>
                <a:latin typeface="Arial"/>
              </a:rPr>
              <a:t>The figure also marks the line acting as support and resistance.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Above the line, bullish. Below it, bearish.</a:t>
            </a:r>
          </a:p>
        </p:txBody>
      </p:sp>
      <p:sp>
        <p:nvSpPr>
          <p:cNvPr id="10" name="TextBox 9"/>
          <p:cNvSpPr txBox="1"/>
          <p:nvPr/>
        </p:nvSpPr>
        <p:spPr>
          <a:xfrm>
            <a:off x="777240" y="5603748"/>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cycles, and their peaks: Part 5.</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6.11</a:t>
            </a:r>
          </a:p>
          <a:p>
            <a:pPr algn="l">
              <a:lnSpc>
                <a:spcPct val="120000"/>
              </a:lnSpc>
              <a:spcBef>
                <a:spcPts val="0"/>
              </a:spcBef>
              <a:spcAft>
                <a:spcPts val="1400"/>
              </a:spcAft>
            </a:pPr>
            <a:r>
              <a:rPr sz="18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700" b="0" i="0">
                <a:solidFill>
                  <a:srgbClr val="1A1A1A"/>
                </a:solidFill>
                <a:latin typeface="Arial"/>
              </a:rPr>
              <a:t>Many institutional traders look for buy signals only when it is undervalued, and sell signals only when it is above.</a:t>
            </a:r>
          </a:p>
          <a:p>
            <a:pPr algn="l">
              <a:lnSpc>
                <a:spcPct val="105000"/>
              </a:lnSpc>
              <a:spcBef>
                <a:spcPts val="0"/>
              </a:spcBef>
              <a:spcAft>
                <a:spcPts val="1100"/>
              </a:spcAft>
            </a:pPr>
            <a:r>
              <a:rPr sz="1700" b="0" i="0">
                <a:solidFill>
                  <a:srgbClr val="1A1A1A"/>
                </a:solidFill>
                <a:latin typeface="Arial"/>
              </a:rPr>
              <a:t>So above the line is potentially bullish, and also where institutions look to sell.</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readings of one line, both the book's.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Know both. The book leaves the tension between them unresolved, and so does this slide.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m.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is ours, on invented prices.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top or bottom usually comes on relatively large or extreme volume, or on relatively low or minimal volume.</a:t>
            </a:r>
          </a:p>
          <a:p>
            <a:pPr algn="l">
              <a:lnSpc>
                <a:spcPct val="105000"/>
              </a:lnSpc>
              <a:spcBef>
                <a:spcPts val="0"/>
              </a:spcBef>
              <a:spcAft>
                <a:spcPts val="1100"/>
              </a:spcAft>
            </a:pPr>
            <a:r>
              <a:rPr sz="1700" b="0" i="0">
                <a:solidFill>
                  <a:srgbClr val="1A1A1A"/>
                </a:solidFill>
                <a:latin typeface="Arial"/>
              </a:rPr>
              <a:t>Extreme volume: a top is a blow-off or buying climax, a bottom a sell-off or selling climax.</a:t>
            </a:r>
          </a:p>
          <a:p>
            <a:pPr algn="l">
              <a:lnSpc>
                <a:spcPct val="105000"/>
              </a:lnSpc>
              <a:spcBef>
                <a:spcPts val="0"/>
              </a:spcBef>
              <a:spcAft>
                <a:spcPts val="1100"/>
              </a:spcAft>
            </a:pPr>
            <a:r>
              <a:rPr sz="1700" b="0" i="0">
                <a:solidFill>
                  <a:srgbClr val="1A1A1A"/>
                </a:solidFill>
                <a:latin typeface="Arial"/>
              </a:rPr>
              <a:t>Extremely low volume: a low volume top, or a low volume bottom.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Four turns, named by place and by volume.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named the climaxes that end a trend. Chapter 6 adds their extreme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n.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not prices.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17</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across the volume panel that only extreme volume reaches. A lower one catches smaller turns.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6.12: Exxon Mobil bottoms on two selling climaxes, and both spikes reach the upper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extreme volume level is the upper overextended volume level, a signal for potential bottoms or tops. A lower overextended volume level forecasts less significant corrections.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6.12</a:t>
            </a:r>
          </a:p>
          <a:p>
            <a:pPr algn="l">
              <a:lnSpc>
                <a:spcPct val="120000"/>
              </a:lnSpc>
              <a:spcBef>
                <a:spcPts val="0"/>
              </a:spcBef>
              <a:spcAft>
                <a:spcPts val="1400"/>
              </a:spcAft>
            </a:pPr>
            <a:r>
              <a:rPr sz="18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and lower level volume overextension.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couple of blow-offs, or buying climaxes, at relatively high volume.</a:t>
            </a:r>
          </a:p>
          <a:p>
            <a:pPr algn="l">
              <a:lnSpc>
                <a:spcPct val="105000"/>
              </a:lnSpc>
              <a:spcBef>
                <a:spcPts val="0"/>
              </a:spcBef>
              <a:spcAft>
                <a:spcPts val="1100"/>
              </a:spcAft>
            </a:pPr>
            <a:r>
              <a:rPr sz="2000" b="0" i="0">
                <a:solidFill>
                  <a:srgbClr val="1A1A1A"/>
                </a:solidFill>
                <a:latin typeface="Arial"/>
              </a:rPr>
              <a:t>Each is a market top on a volume spike, and price falls after it.</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overextension that marks a selling climax marks a buying one.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6.13</a:t>
            </a:r>
          </a:p>
          <a:p>
            <a:pPr algn="l">
              <a:lnSpc>
                <a:spcPct val="120000"/>
              </a:lnSpc>
              <a:spcBef>
                <a:spcPts val="0"/>
              </a:spcBef>
              <a:spcAft>
                <a:spcPts val="1400"/>
              </a:spcAft>
            </a:pPr>
            <a:r>
              <a:rPr sz="1800" b="0" i="0">
                <a:solidFill>
                  <a:srgbClr val="1A1A1A"/>
                </a:solidFill>
                <a:latin typeface="Palatino"/>
              </a:rPr>
              <a:t>The daily chart of the E-TRACS UBS Bloomberg CMCI Food ETN with two circled volume spikes labelled blow-off, each under a market top.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Set by visual inspection, where only the most significant tops or bottoms are found.</a:t>
            </a:r>
          </a:p>
          <a:p>
            <a:pPr algn="l">
              <a:lnSpc>
                <a:spcPct val="105000"/>
              </a:lnSpc>
              <a:spcBef>
                <a:spcPts val="0"/>
              </a:spcBef>
              <a:spcAft>
                <a:spcPts val="1100"/>
              </a:spcAft>
            </a:pPr>
            <a:r>
              <a:rPr sz="1800" b="0" i="0">
                <a:solidFill>
                  <a:srgbClr val="1A1A1A"/>
                </a:solidFill>
                <a:latin typeface="Arial"/>
              </a:rPr>
              <a:t>Set lower, it signals more often, at less significant tops and bottoms.</a:t>
            </a:r>
          </a:p>
          <a:p>
            <a:pPr algn="l">
              <a:lnSpc>
                <a:spcPct val="105000"/>
              </a:lnSpc>
              <a:spcBef>
                <a:spcPts val="0"/>
              </a:spcBef>
              <a:spcAft>
                <a:spcPts val="1100"/>
              </a:spcAft>
            </a:pPr>
            <a:r>
              <a:rPr sz="1800" b="0" i="0">
                <a:solidFill>
                  <a:srgbClr val="1A1A1A"/>
                </a:solidFill>
                <a:latin typeface="Arial"/>
              </a:rPr>
              <a:t>Figure 6.14: the spikes are all above the rolling 100-day 2-sigma level; one breaks a significant support.</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Higher level, fewer and bigger turns.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6.14</a:t>
            </a:r>
          </a:p>
          <a:p>
            <a:pPr algn="l">
              <a:lnSpc>
                <a:spcPct val="120000"/>
              </a:lnSpc>
              <a:spcBef>
                <a:spcPts val="0"/>
              </a:spcBef>
              <a:spcAft>
                <a:spcPts val="1400"/>
              </a:spcAft>
            </a:pPr>
            <a:r>
              <a:rPr sz="1800" b="0" i="0">
                <a:solidFill>
                  <a:srgbClr val="1A1A1A"/>
                </a:solidFill>
                <a:latin typeface="Palatino"/>
              </a:rPr>
              <a:t>The daily SPDR Gold Trust: a dashed volume overextension line across the volume panel with circled spikes above it, and a dashed support line on the price that is broken at the right on extreme volume, labelled above the rolling 100-day 2-sigma level.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Sigma, a standard deviation, is taught in Part 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Upper level: only two spikes reach it, at the two major turns, 1 and 2.</a:t>
            </a:r>
          </a:p>
          <a:p>
            <a:pPr algn="l">
              <a:lnSpc>
                <a:spcPct val="105000"/>
              </a:lnSpc>
              <a:spcBef>
                <a:spcPts val="0"/>
              </a:spcBef>
              <a:spcAft>
                <a:spcPts val="1100"/>
              </a:spcAft>
            </a:pPr>
            <a:r>
              <a:rPr sz="2000" b="0" i="0">
                <a:solidFill>
                  <a:srgbClr val="1A1A1A"/>
                </a:solidFill>
                <a:latin typeface="Arial"/>
              </a:rPr>
              <a:t>Lower level: three more spikes reach it, at smaller corrections, a, b and c.</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Where the line goes decides which turns it signals.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o.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and every price are ours.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Bollinger Bandwidth oscillator times volatility in silver.</a:t>
            </a:r>
          </a:p>
          <a:p>
            <a:pPr algn="l">
              <a:lnSpc>
                <a:spcPct val="105000"/>
              </a:lnSpc>
              <a:spcBef>
                <a:spcPts val="0"/>
              </a:spcBef>
              <a:spcAft>
                <a:spcPts val="1100"/>
              </a:spcAft>
            </a:pPr>
            <a:r>
              <a:rPr sz="2000" b="0" i="0">
                <a:solidFill>
                  <a:srgbClr val="1A1A1A"/>
                </a:solidFill>
                <a:latin typeface="Arial"/>
              </a:rPr>
              <a:t>The volatility spikes coincide with the volume overextensions, signaling tops and bottoms.</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Many practitioners filter out volatility below a threshold and regard it as noise.</a:t>
            </a:r>
          </a:p>
        </p:txBody>
      </p:sp>
      <p:sp>
        <p:nvSpPr>
          <p:cNvPr id="10" name="TextBox 9"/>
          <p:cNvSpPr txBox="1"/>
          <p:nvPr/>
        </p:nvSpPr>
        <p:spPr>
          <a:xfrm>
            <a:off x="777240" y="5404103"/>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Bandwidth and Bollinger Bands are named and not explained in this chapter.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6.15</a:t>
            </a:r>
          </a:p>
          <a:p>
            <a:pPr algn="l">
              <a:lnSpc>
                <a:spcPct val="120000"/>
              </a:lnSpc>
              <a:spcBef>
                <a:spcPts val="0"/>
              </a:spcBef>
              <a:spcAft>
                <a:spcPts val="1400"/>
              </a:spcAft>
            </a:pPr>
            <a:r>
              <a:rPr sz="18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a top at 1 and a bottom at 2.</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here.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Climaxes and overextension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top forms on extreme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low volume top</a:t>
            </a:r>
          </a:p>
          <a:p>
            <a:pPr algn="l">
              <a:lnSpc>
                <a:spcPct val="112000"/>
              </a:lnSpc>
              <a:spcBef>
                <a:spcPts val="0"/>
              </a:spcBef>
              <a:spcAft>
                <a:spcPts val="900"/>
              </a:spcAft>
            </a:pPr>
            <a:r>
              <a:rPr sz="1500" b="0" i="0">
                <a:solidFill>
                  <a:srgbClr val="FFFFFF"/>
                </a:solidFill>
                <a:latin typeface="Arial"/>
              </a:rPr>
              <a:t>B.  A selling climax</a:t>
            </a:r>
          </a:p>
          <a:p>
            <a:pPr algn="l">
              <a:lnSpc>
                <a:spcPct val="112000"/>
              </a:lnSpc>
              <a:spcBef>
                <a:spcPts val="0"/>
              </a:spcBef>
              <a:spcAft>
                <a:spcPts val="900"/>
              </a:spcAft>
            </a:pPr>
            <a:r>
              <a:rPr sz="1500" b="0" i="0">
                <a:solidFill>
                  <a:srgbClr val="FFFFFF"/>
                </a:solidFill>
                <a:latin typeface="Arial"/>
              </a:rPr>
              <a:t>C.  A low volume breakout signal</a:t>
            </a:r>
          </a:p>
          <a:p>
            <a:pPr algn="l">
              <a:lnSpc>
                <a:spcPct val="112000"/>
              </a:lnSpc>
              <a:spcBef>
                <a:spcPts val="0"/>
              </a:spcBef>
              <a:spcAft>
                <a:spcPts val="900"/>
              </a:spcAft>
            </a:pPr>
            <a:r>
              <a:rPr sz="1500" b="0" i="0">
                <a:solidFill>
                  <a:srgbClr val="FFFFFF"/>
                </a:solidFill>
                <a:latin typeface="Arial"/>
              </a:rPr>
              <a:t>D.  A blow-off or buying climax</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lowers the volume overextension level on a chart. The signals will be: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Fewer, at more significant tops and bottoms</a:t>
            </a:r>
          </a:p>
          <a:p>
            <a:pPr algn="l">
              <a:lnSpc>
                <a:spcPct val="112000"/>
              </a:lnSpc>
              <a:spcBef>
                <a:spcPts val="0"/>
              </a:spcBef>
              <a:spcAft>
                <a:spcPts val="900"/>
              </a:spcAft>
            </a:pPr>
            <a:r>
              <a:rPr sz="1500" b="0" i="0">
                <a:solidFill>
                  <a:srgbClr val="FFFFFF"/>
                </a:solidFill>
                <a:latin typeface="Arial"/>
              </a:rPr>
              <a:t>B.  More frequent, at less significant tops and bottoms</a:t>
            </a:r>
          </a:p>
          <a:p>
            <a:pPr algn="l">
              <a:lnSpc>
                <a:spcPct val="112000"/>
              </a:lnSpc>
              <a:spcBef>
                <a:spcPts val="0"/>
              </a:spcBef>
              <a:spcAft>
                <a:spcPts val="900"/>
              </a:spcAft>
            </a:pPr>
            <a:r>
              <a:rPr sz="1500" b="0" i="0">
                <a:solidFill>
                  <a:srgbClr val="FFFFFF"/>
                </a:solidFill>
                <a:latin typeface="Arial"/>
              </a:rPr>
              <a:t>C.  Unchanged, because the level is set by eye</a:t>
            </a:r>
          </a:p>
          <a:p>
            <a:pPr algn="l">
              <a:lnSpc>
                <a:spcPct val="112000"/>
              </a:lnSpc>
              <a:spcBef>
                <a:spcPts val="0"/>
              </a:spcBef>
              <a:spcAft>
                <a:spcPts val="900"/>
              </a:spcAft>
            </a:pPr>
            <a:r>
              <a:rPr sz="1500" b="0" i="0">
                <a:solidFill>
                  <a:srgbClr val="FFFFFF"/>
                </a:solidFill>
                <a:latin typeface="Arial"/>
              </a:rPr>
              <a:t>D.  Limited to selling climaxes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Climaxes and overextension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top forms on extreme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blow-off or buying climax</a:t>
            </a:r>
          </a:p>
          <a:p>
            <a:pPr algn="l">
              <a:lnSpc>
                <a:spcPct val="115000"/>
              </a:lnSpc>
              <a:spcBef>
                <a:spcPts val="700"/>
              </a:spcBef>
              <a:spcAft>
                <a:spcPts val="0"/>
              </a:spcAft>
            </a:pPr>
            <a:r>
              <a:rPr sz="1600" b="0" i="0">
                <a:solidFill>
                  <a:srgbClr val="1A1A1A"/>
                </a:solidFill>
                <a:latin typeface="Arial"/>
              </a:rPr>
              <a:t>A market top associated with extreme volume is a blow-off or buying climax.</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trader lowers the volume overextension level on a chart. The signals will be:</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More frequent, at less significant tops and bottoms</a:t>
            </a:r>
          </a:p>
          <a:p>
            <a:pPr algn="l">
              <a:lnSpc>
                <a:spcPct val="115000"/>
              </a:lnSpc>
              <a:spcBef>
                <a:spcPts val="700"/>
              </a:spcBef>
              <a:spcAft>
                <a:spcPts val="0"/>
              </a:spcAft>
            </a:pPr>
            <a:r>
              <a:rPr sz="1600" b="0" i="0">
                <a:solidFill>
                  <a:srgbClr val="1A1A1A"/>
                </a:solidFill>
                <a:latin typeface="Arial"/>
              </a:rPr>
              <a:t>Setting the level lower tends to signal less significant tops or bottoms more frequently.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17</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top, or a bottom, made on very little volume.</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6.16: Apple turns at seven time lines, each where volume tests a lower volume threshold, circled. Some are tops and some are bottoms.</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6.16</a:t>
            </a:r>
          </a:p>
          <a:p>
            <a:pPr algn="l">
              <a:lnSpc>
                <a:spcPct val="120000"/>
              </a:lnSpc>
              <a:spcBef>
                <a:spcPts val="0"/>
              </a:spcBef>
              <a:spcAft>
                <a:spcPts val="1400"/>
              </a:spcAft>
            </a:pPr>
            <a:r>
              <a:rPr sz="18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Overextended volume can signal either a top or a bottom: extreme buying and selling both generate volume.</a:t>
            </a:r>
          </a:p>
          <a:p>
            <a:pPr algn="l">
              <a:lnSpc>
                <a:spcPct val="105000"/>
              </a:lnSpc>
              <a:spcBef>
                <a:spcPts val="0"/>
              </a:spcBef>
              <a:spcAft>
                <a:spcPts val="1100"/>
              </a:spcAft>
            </a:pPr>
            <a:r>
              <a:rPr sz="1800" b="0" i="0">
                <a:solidFill>
                  <a:srgbClr val="1A1A1A"/>
                </a:solidFill>
                <a:latin typeface="Arial"/>
              </a:rPr>
              <a:t>So a volume extreme is not overbought or oversold until it is tied to a top or a bottom.</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We can pinpoint the overextension now. Overbought or oversold, only in retrospect.</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Overbought and oversold: met in Chapters 1 and 5, never defined there or here. Oscillators are Chapter 8.</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p.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not prices. Overbought and oversold are used and not defined in this chapter.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17</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same gold volume, on five timeframes: daily, weekly, monthly, quarterly, yearly.</a:t>
            </a:r>
          </a:p>
          <a:p>
            <a:pPr algn="l">
              <a:lnSpc>
                <a:spcPct val="105000"/>
              </a:lnSpc>
              <a:spcBef>
                <a:spcPts val="0"/>
              </a:spcBef>
              <a:spcAft>
                <a:spcPts val="1100"/>
              </a:spcAft>
            </a:pPr>
            <a:r>
              <a:rPr sz="2000" b="0" i="0">
                <a:solidFill>
                  <a:srgbClr val="1A1A1A"/>
                </a:solidFill>
                <a:latin typeface="Arial"/>
              </a:rPr>
              <a:t>Daily and weekly volume peak in 2013. Monthly and higher peak in 2011.</a:t>
            </a:r>
          </a:p>
          <a:p>
            <a:pPr algn="l">
              <a:lnSpc>
                <a:spcPct val="105000"/>
              </a:lnSpc>
              <a:spcBef>
                <a:spcPts val="0"/>
              </a:spcBef>
              <a:spcAft>
                <a:spcPts val="1100"/>
              </a:spcAft>
            </a:pPr>
            <a:r>
              <a:rPr sz="2000" b="0" i="0">
                <a:solidFill>
                  <a:srgbClr val="1A1A1A"/>
                </a:solidFill>
                <a:latin typeface="Arial"/>
              </a:rPr>
              <a:t>Lower timeframe charts are more sensitive to volume action.</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2910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At higher timeframes, the overall trend or behavior of volume is more obvious.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6.17</a:t>
            </a:r>
          </a:p>
          <a:p>
            <a:pPr algn="l">
              <a:lnSpc>
                <a:spcPct val="120000"/>
              </a:lnSpc>
              <a:spcBef>
                <a:spcPts val="0"/>
              </a:spcBef>
              <a:spcAft>
                <a:spcPts val="1400"/>
              </a:spcAft>
            </a:pPr>
            <a:r>
              <a:rPr sz="18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6.17 -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Daily: the tallest bar is one spike, late in the record, at 1.</a:t>
            </a:r>
          </a:p>
          <a:p>
            <a:pPr algn="l">
              <a:lnSpc>
                <a:spcPct val="105000"/>
              </a:lnSpc>
              <a:spcBef>
                <a:spcPts val="0"/>
              </a:spcBef>
              <a:spcAft>
                <a:spcPts val="1100"/>
              </a:spcAft>
            </a:pPr>
            <a:r>
              <a:rPr sz="2000" b="0" i="0">
                <a:solidFill>
                  <a:srgbClr val="1A1A1A"/>
                </a:solidFill>
                <a:latin typeface="Arial"/>
              </a:rPr>
              <a:t>Monthly: the same days added up by month. The busiest month, 2, comes earlier.</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Low volume turns and timeframes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bottom forms on extremely low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sell-off</a:t>
            </a:r>
          </a:p>
          <a:p>
            <a:pPr algn="l">
              <a:lnSpc>
                <a:spcPct val="112000"/>
              </a:lnSpc>
              <a:spcBef>
                <a:spcPts val="0"/>
              </a:spcBef>
              <a:spcAft>
                <a:spcPts val="900"/>
              </a:spcAft>
            </a:pPr>
            <a:r>
              <a:rPr sz="1500" b="0" i="0">
                <a:solidFill>
                  <a:srgbClr val="FFFFFF"/>
                </a:solidFill>
                <a:latin typeface="Arial"/>
              </a:rPr>
              <a:t>B.  A low volume bottom</a:t>
            </a:r>
          </a:p>
          <a:p>
            <a:pPr algn="l">
              <a:lnSpc>
                <a:spcPct val="112000"/>
              </a:lnSpc>
              <a:spcBef>
                <a:spcPts val="0"/>
              </a:spcBef>
              <a:spcAft>
                <a:spcPts val="900"/>
              </a:spcAft>
            </a:pPr>
            <a:r>
              <a:rPr sz="1500" b="0" i="0">
                <a:solidFill>
                  <a:srgbClr val="FFFFFF"/>
                </a:solidFill>
                <a:latin typeface="Arial"/>
              </a:rPr>
              <a:t>C.  A selling climax</a:t>
            </a:r>
          </a:p>
          <a:p>
            <a:pPr algn="l">
              <a:lnSpc>
                <a:spcPct val="112000"/>
              </a:lnSpc>
              <a:spcBef>
                <a:spcPts val="0"/>
              </a:spcBef>
              <a:spcAft>
                <a:spcPts val="900"/>
              </a:spcAft>
            </a:pPr>
            <a:r>
              <a:rPr sz="1500" b="0" i="0">
                <a:solidFill>
                  <a:srgbClr val="FFFFFF"/>
                </a:solidFill>
                <a:latin typeface="Arial"/>
              </a:rPr>
              <a:t>D.  An upper overextended volume level</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does the book say volume extremes can be called overbought or oversold only in retrospect?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not an oscillator</a:t>
            </a:r>
          </a:p>
          <a:p>
            <a:pPr algn="l">
              <a:lnSpc>
                <a:spcPct val="112000"/>
              </a:lnSpc>
              <a:spcBef>
                <a:spcPts val="0"/>
              </a:spcBef>
              <a:spcAft>
                <a:spcPts val="900"/>
              </a:spcAft>
            </a:pPr>
            <a:r>
              <a:rPr sz="1500" b="0" i="0">
                <a:solidFill>
                  <a:srgbClr val="FFFFFF"/>
                </a:solidFill>
                <a:latin typeface="Arial"/>
              </a:rPr>
              <a:t>B.  Volume extremes only occur at bottoms</a:t>
            </a:r>
          </a:p>
          <a:p>
            <a:pPr algn="l">
              <a:lnSpc>
                <a:spcPct val="112000"/>
              </a:lnSpc>
              <a:spcBef>
                <a:spcPts val="0"/>
              </a:spcBef>
              <a:spcAft>
                <a:spcPts val="900"/>
              </a:spcAft>
            </a:pPr>
            <a:r>
              <a:rPr sz="1500" b="0" i="0">
                <a:solidFill>
                  <a:srgbClr val="FFFFFF"/>
                </a:solidFill>
                <a:latin typeface="Arial"/>
              </a:rPr>
              <a:t>C.  An overextension can signal either a top or a bottom</a:t>
            </a:r>
          </a:p>
          <a:p>
            <a:pPr algn="l">
              <a:lnSpc>
                <a:spcPct val="112000"/>
              </a:lnSpc>
              <a:spcBef>
                <a:spcPts val="0"/>
              </a:spcBef>
              <a:spcAft>
                <a:spcPts val="900"/>
              </a:spcAft>
            </a:pPr>
            <a:r>
              <a:rPr sz="1500" b="0" i="0">
                <a:solidFill>
                  <a:srgbClr val="FFFFFF"/>
                </a:solidFill>
                <a:latin typeface="Arial"/>
              </a:rPr>
              <a:t>D.  Overbought levels are set by eye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Low volume turns and timeframes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bottom forms on extremely low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low volume bottom</a:t>
            </a:r>
          </a:p>
          <a:p>
            <a:pPr algn="l">
              <a:lnSpc>
                <a:spcPct val="115000"/>
              </a:lnSpc>
              <a:spcBef>
                <a:spcPts val="700"/>
              </a:spcBef>
              <a:spcAft>
                <a:spcPts val="0"/>
              </a:spcAft>
            </a:pPr>
            <a:r>
              <a:rPr sz="1600" b="0" i="0">
                <a:solidFill>
                  <a:srgbClr val="1A1A1A"/>
                </a:solidFill>
                <a:latin typeface="Arial"/>
              </a:rPr>
              <a:t>A market bottom associated with extremely low volume is a low volume bottom.</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does the book say volume extremes can be called overbought or oversold only in retrospect?</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An overextension can signal either a top or a bottom</a:t>
            </a:r>
          </a:p>
          <a:p>
            <a:pPr algn="l">
              <a:lnSpc>
                <a:spcPct val="115000"/>
              </a:lnSpc>
              <a:spcBef>
                <a:spcPts val="700"/>
              </a:spcBef>
              <a:spcAft>
                <a:spcPts val="0"/>
              </a:spcAft>
            </a:pPr>
            <a:r>
              <a:rPr sz="1600" b="0" i="0">
                <a:solidFill>
                  <a:srgbClr val="1A1A1A"/>
                </a:solidFill>
                <a:latin typeface="Arial"/>
              </a:rPr>
              <a:t>Extreme buying and selling both generate volume, so only the top or bottom that follows tells which it was.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13</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Support or resistance formed at a volume peak: the most reliable, the strongest barrier to future retests.</a:t>
            </a:r>
          </a:p>
          <a:p>
            <a:pPr algn="l">
              <a:lnSpc>
                <a:spcPct val="105000"/>
              </a:lnSpc>
              <a:spcBef>
                <a:spcPts val="0"/>
              </a:spcBef>
              <a:spcAft>
                <a:spcPts val="1100"/>
              </a:spcAft>
            </a:pPr>
            <a:r>
              <a:rPr sz="1700" b="0" i="0">
                <a:solidFill>
                  <a:srgbClr val="1A1A1A"/>
                </a:solidFill>
                <a:latin typeface="Arial"/>
              </a:rPr>
              <a:t>Why: even with the surge in volume, price could not get through. Traders expect it to hold.</a:t>
            </a:r>
          </a:p>
          <a:p>
            <a:pPr algn="l">
              <a:lnSpc>
                <a:spcPct val="105000"/>
              </a:lnSpc>
              <a:spcBef>
                <a:spcPts val="0"/>
              </a:spcBef>
              <a:spcAft>
                <a:spcPts val="1100"/>
              </a:spcAft>
            </a:pPr>
            <a:r>
              <a:rPr sz="1700" b="0" i="0">
                <a:solidFill>
                  <a:srgbClr val="1A1A1A"/>
                </a:solidFill>
                <a:latin typeface="Arial"/>
              </a:rPr>
              <a:t>Formed across a volume dip or trough: less reliable. It held only for lack of interest.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the figure, Resistance 1 and Support 1 are the more reliable barriers.</a:t>
            </a:r>
          </a:p>
        </p:txBody>
      </p:sp>
      <p:sp>
        <p:nvSpPr>
          <p:cNvPr id="10" name="TextBox 9"/>
          <p:cNvSpPr txBox="1"/>
          <p:nvPr/>
        </p:nvSpPr>
        <p:spPr>
          <a:xfrm>
            <a:off x="777240" y="546125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6.18</a:t>
            </a:r>
          </a:p>
          <a:p>
            <a:pPr algn="l">
              <a:lnSpc>
                <a:spcPct val="120000"/>
              </a:lnSpc>
              <a:spcBef>
                <a:spcPts val="0"/>
              </a:spcBef>
              <a:spcAft>
                <a:spcPts val="1400"/>
              </a:spcAft>
            </a:pPr>
            <a:r>
              <a:rPr sz="18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the reasons are the book's. Barrier: Chapter 5, a support below price or a resistance above it.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13</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Volume increasing across support or resistance.</a:t>
            </a:r>
          </a:p>
          <a:p>
            <a:pPr algn="l">
              <a:lnSpc>
                <a:spcPct val="105000"/>
              </a:lnSpc>
              <a:spcBef>
                <a:spcPts val="0"/>
              </a:spcBef>
              <a:spcAft>
                <a:spcPts val="1100"/>
              </a:spcAft>
            </a:pPr>
            <a:r>
              <a:rPr sz="1800" b="0" i="0">
                <a:solidFill>
                  <a:srgbClr val="1A1A1A"/>
                </a:solidFill>
                <a:latin typeface="Arial"/>
              </a:rPr>
              <a:t>2  Volume decreasing across it.</a:t>
            </a:r>
          </a:p>
          <a:p>
            <a:pPr algn="l">
              <a:lnSpc>
                <a:spcPct val="105000"/>
              </a:lnSpc>
              <a:spcBef>
                <a:spcPts val="0"/>
              </a:spcBef>
              <a:spcAft>
                <a:spcPts val="1100"/>
              </a:spcAft>
            </a:pPr>
            <a:r>
              <a:rPr sz="1800" b="0" i="0">
                <a:solidFill>
                  <a:srgbClr val="1A1A1A"/>
                </a:solidFill>
                <a:latin typeface="Arial"/>
              </a:rPr>
              <a:t>3  Volume peaking at it.</a:t>
            </a:r>
          </a:p>
          <a:p>
            <a:pPr algn="l">
              <a:lnSpc>
                <a:spcPct val="105000"/>
              </a:lnSpc>
              <a:spcBef>
                <a:spcPts val="0"/>
              </a:spcBef>
              <a:spcAft>
                <a:spcPts val="1100"/>
              </a:spcAft>
            </a:pPr>
            <a:r>
              <a:rPr sz="1800" b="0" i="0">
                <a:solidFill>
                  <a:srgbClr val="1A1A1A"/>
                </a:solidFill>
                <a:latin typeface="Arial"/>
              </a:rPr>
              <a:t>4  Volume bottoming at it.</a:t>
            </a:r>
          </a:p>
          <a:p>
            <a:pPr algn="l">
              <a:lnSpc>
                <a:spcPct val="105000"/>
              </a:lnSpc>
              <a:spcBef>
                <a:spcPts val="0"/>
              </a:spcBef>
              <a:spcAft>
                <a:spcPts val="1100"/>
              </a:spcAft>
            </a:pPr>
            <a:r>
              <a:rPr sz="1800" b="0" i="0">
                <a:solidFill>
                  <a:srgbClr val="1A1A1A"/>
                </a:solidFill>
                <a:latin typeface="Arial"/>
              </a:rPr>
              <a:t>5  Volume flatlining across it.</a:t>
            </a:r>
          </a:p>
        </p:txBody>
      </p:sp>
      <p:sp>
        <p:nvSpPr>
          <p:cNvPr id="8" name="Rectangle 7"/>
          <p:cNvSpPr/>
          <p:nvPr/>
        </p:nvSpPr>
        <p:spPr>
          <a:xfrm>
            <a:off x="777240" y="471830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4880"/>
            <a:ext cx="446227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Increasing or decreasing volume across a barrier signifies a change in sentiment there.</a:t>
            </a:r>
          </a:p>
        </p:txBody>
      </p:sp>
      <p:sp>
        <p:nvSpPr>
          <p:cNvPr id="10" name="Rectangle 9"/>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6.19</a:t>
            </a:r>
          </a:p>
          <a:p>
            <a:pPr algn="l">
              <a:lnSpc>
                <a:spcPct val="120000"/>
              </a:lnSpc>
              <a:spcBef>
                <a:spcPts val="0"/>
              </a:spcBef>
              <a:spcAft>
                <a:spcPts val="1400"/>
              </a:spcAft>
            </a:pPr>
            <a:r>
              <a:rPr sz="1800" b="0" i="0">
                <a:solidFill>
                  <a:srgbClr val="1A1A1A"/>
                </a:solidFill>
                <a:latin typeface="Palatino"/>
              </a:rPr>
              <a:t>Ten sketches in two rows, five at a resistance and five at a support, each with volume bars under the turn: increasing, decreasing, peaking, bottoming and flatlining across the barrier.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each of the five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Increasing: volume picks up as price reverses, driving it away with confirmation.</a:t>
            </a:r>
          </a:p>
          <a:p>
            <a:pPr algn="l">
              <a:lnSpc>
                <a:spcPct val="105000"/>
              </a:lnSpc>
              <a:spcBef>
                <a:spcPts val="0"/>
              </a:spcBef>
              <a:spcAft>
                <a:spcPts val="1100"/>
              </a:spcAft>
            </a:pPr>
            <a:r>
              <a:rPr sz="1800" b="0" i="0">
                <a:solidFill>
                  <a:srgbClr val="1A1A1A"/>
                </a:solidFill>
                <a:latin typeface="Arial"/>
              </a:rPr>
              <a:t>Decreasing: too little force, and less on the way back. A retest is likely; in extreme cases, a penetration.</a:t>
            </a:r>
          </a:p>
          <a:p>
            <a:pPr algn="l">
              <a:lnSpc>
                <a:spcPct val="105000"/>
              </a:lnSpc>
              <a:spcBef>
                <a:spcPts val="0"/>
              </a:spcBef>
              <a:spcAft>
                <a:spcPts val="1100"/>
              </a:spcAft>
            </a:pPr>
            <a:r>
              <a:rPr sz="1800" b="0" i="0">
                <a:solidFill>
                  <a:srgbClr val="1A1A1A"/>
                </a:solidFill>
                <a:latin typeface="Arial"/>
              </a:rPr>
              <a:t>Peaking: most reliable. Bottoming: less reliable. Flatlining: not enough information.</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Rising volume backs a barrier; falling volume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what each tells. The chart is ours: sketches, not prices, each case at a support, with the book's outcome written on it.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at a price barrier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support is regarded as the most reliable barrier to future retests?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One formed at a volume peak</a:t>
            </a:r>
          </a:p>
          <a:p>
            <a:pPr algn="l">
              <a:lnSpc>
                <a:spcPct val="112000"/>
              </a:lnSpc>
              <a:spcBef>
                <a:spcPts val="0"/>
              </a:spcBef>
              <a:spcAft>
                <a:spcPts val="900"/>
              </a:spcAft>
            </a:pPr>
            <a:r>
              <a:rPr sz="1500" b="0" i="0">
                <a:solidFill>
                  <a:srgbClr val="FFFFFF"/>
                </a:solidFill>
                <a:latin typeface="Arial"/>
              </a:rPr>
              <a:t>B.  One formed across a volume trough</a:t>
            </a:r>
          </a:p>
          <a:p>
            <a:pPr algn="l">
              <a:lnSpc>
                <a:spcPct val="112000"/>
              </a:lnSpc>
              <a:spcBef>
                <a:spcPts val="0"/>
              </a:spcBef>
              <a:spcAft>
                <a:spcPts val="900"/>
              </a:spcAft>
            </a:pPr>
            <a:r>
              <a:rPr sz="1500" b="0" i="0">
                <a:solidFill>
                  <a:srgbClr val="FFFFFF"/>
                </a:solidFill>
                <a:latin typeface="Arial"/>
              </a:rPr>
              <a:t>C.  One formed on flatlining volume</a:t>
            </a:r>
          </a:p>
          <a:p>
            <a:pPr algn="l">
              <a:lnSpc>
                <a:spcPct val="112000"/>
              </a:lnSpc>
              <a:spcBef>
                <a:spcPts val="0"/>
              </a:spcBef>
              <a:spcAft>
                <a:spcPts val="900"/>
              </a:spcAft>
            </a:pPr>
            <a:r>
              <a:rPr sz="1500" b="0" i="0">
                <a:solidFill>
                  <a:srgbClr val="FFFFFF"/>
                </a:solidFill>
                <a:latin typeface="Arial"/>
              </a:rPr>
              <a:t>D.  One formed on decreasing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decreases across a support as price touches it and turns. The book says this tends to see: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Price driven away with bullish confirmation</a:t>
            </a:r>
          </a:p>
          <a:p>
            <a:pPr algn="l">
              <a:lnSpc>
                <a:spcPct val="112000"/>
              </a:lnSpc>
              <a:spcBef>
                <a:spcPts val="0"/>
              </a:spcBef>
              <a:spcAft>
                <a:spcPts val="900"/>
              </a:spcAft>
            </a:pPr>
            <a:r>
              <a:rPr sz="1500" b="0" i="0">
                <a:solidFill>
                  <a:srgbClr val="FFFFFF"/>
                </a:solidFill>
                <a:latin typeface="Arial"/>
              </a:rPr>
              <a:t>B.  Not enough information to say</a:t>
            </a:r>
          </a:p>
          <a:p>
            <a:pPr algn="l">
              <a:lnSpc>
                <a:spcPct val="112000"/>
              </a:lnSpc>
              <a:spcBef>
                <a:spcPts val="0"/>
              </a:spcBef>
              <a:spcAft>
                <a:spcPts val="900"/>
              </a:spcAft>
            </a:pPr>
            <a:r>
              <a:rPr sz="1500" b="0" i="0">
                <a:solidFill>
                  <a:srgbClr val="FFFFFF"/>
                </a:solidFill>
                <a:latin typeface="Arial"/>
              </a:rPr>
              <a:t>C.  The strongest possible barrier</a:t>
            </a:r>
          </a:p>
          <a:p>
            <a:pPr algn="l">
              <a:lnSpc>
                <a:spcPct val="112000"/>
              </a:lnSpc>
              <a:spcBef>
                <a:spcPts val="0"/>
              </a:spcBef>
              <a:spcAft>
                <a:spcPts val="900"/>
              </a:spcAft>
            </a:pPr>
            <a:r>
              <a:rPr sz="1500" b="0" i="0">
                <a:solidFill>
                  <a:srgbClr val="FFFFFF"/>
                </a:solidFill>
                <a:latin typeface="Arial"/>
              </a:rPr>
              <a:t>D.  A retest of the barrier, or even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at a price barrier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support is regarded as the most reliable barrier to future retests?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One formed at a volume peak</a:t>
            </a:r>
          </a:p>
          <a:p>
            <a:pPr algn="l">
              <a:lnSpc>
                <a:spcPct val="115000"/>
              </a:lnSpc>
              <a:spcBef>
                <a:spcPts val="700"/>
              </a:spcBef>
              <a:spcAft>
                <a:spcPts val="0"/>
              </a:spcAft>
            </a:pPr>
            <a:r>
              <a:rPr sz="1600" b="0" i="0">
                <a:solidFill>
                  <a:srgbClr val="1A1A1A"/>
                </a:solidFill>
                <a:latin typeface="Arial"/>
              </a:rPr>
              <a:t>Support formed at a volume peak held against a large surge in volume, so traders expect it to hold.</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decreases across a support as price touches it and turns. The book says this tends to see:</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retest of the barrier, or even a penetration</a:t>
            </a:r>
          </a:p>
          <a:p>
            <a:pPr algn="l">
              <a:lnSpc>
                <a:spcPct val="115000"/>
              </a:lnSpc>
              <a:spcBef>
                <a:spcPts val="700"/>
              </a:spcBef>
              <a:spcAft>
                <a:spcPts val="0"/>
              </a:spcAft>
            </a:pPr>
            <a:r>
              <a:rPr sz="1600" b="0" i="0">
                <a:solidFill>
                  <a:srgbClr val="1A1A1A"/>
                </a:solidFill>
                <a:latin typeface="Arial"/>
              </a:rPr>
              <a:t>Decreasing volume across support or resistance tends to see a retest, and in extreme cases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action. The book lists four ways:</a:t>
            </a:r>
          </a:p>
          <a:p>
            <a:pPr algn="l">
              <a:lnSpc>
                <a:spcPct val="105000"/>
              </a:lnSpc>
              <a:spcBef>
                <a:spcPts val="0"/>
              </a:spcBef>
              <a:spcAft>
                <a:spcPts val="1100"/>
              </a:spcAft>
            </a:pPr>
            <a:r>
              <a:rPr sz="1700" b="0" i="0">
                <a:solidFill>
                  <a:srgbClr val="1A1A1A"/>
                </a:solidFill>
                <a:latin typeface="Arial"/>
              </a:rPr>
              <a:t>1  A moving average filter.</a:t>
            </a:r>
          </a:p>
          <a:p>
            <a:pPr algn="l">
              <a:lnSpc>
                <a:spcPct val="105000"/>
              </a:lnSpc>
              <a:spcBef>
                <a:spcPts val="0"/>
              </a:spcBef>
              <a:spcAft>
                <a:spcPts val="1100"/>
              </a:spcAft>
            </a:pPr>
            <a:r>
              <a:rPr sz="1700" b="0" i="0">
                <a:solidFill>
                  <a:srgbClr val="1A1A1A"/>
                </a:solidFill>
                <a:latin typeface="Arial"/>
              </a:rPr>
              <a:t>2  A volatility filter.</a:t>
            </a:r>
          </a:p>
          <a:p>
            <a:pPr algn="l">
              <a:lnSpc>
                <a:spcPct val="105000"/>
              </a:lnSpc>
              <a:spcBef>
                <a:spcPts val="0"/>
              </a:spcBef>
              <a:spcAft>
                <a:spcPts val="1100"/>
              </a:spcAft>
            </a:pPr>
            <a:r>
              <a:rPr sz="1700" b="0" i="0">
                <a:solidFill>
                  <a:srgbClr val="1A1A1A"/>
                </a:solidFill>
                <a:latin typeface="Arial"/>
              </a:rPr>
              <a:t>3  Prior volume peaks.</a:t>
            </a:r>
          </a:p>
          <a:p>
            <a:pPr algn="l">
              <a:lnSpc>
                <a:spcPct val="105000"/>
              </a:lnSpc>
              <a:spcBef>
                <a:spcPts val="0"/>
              </a:spcBef>
              <a:spcAft>
                <a:spcPts val="1100"/>
              </a:spcAft>
            </a:pPr>
            <a:r>
              <a:rPr sz="1700" b="0" i="0">
                <a:solidFill>
                  <a:srgbClr val="1A1A1A"/>
                </a:solidFill>
                <a:latin typeface="Arial"/>
              </a:rPr>
              <a:t>4  Volume cycles.</a:t>
            </a:r>
          </a:p>
        </p:txBody>
      </p:sp>
      <p:sp>
        <p:nvSpPr>
          <p:cNvPr id="8" name="Rectangle 7"/>
          <p:cNvSpPr/>
          <p:nvPr/>
        </p:nvSpPr>
        <p:spPr>
          <a:xfrm>
            <a:off x="777240" y="462229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5886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one draws a line, or a rhythm, that only significant volume crosses.</a:t>
            </a:r>
          </a:p>
        </p:txBody>
      </p:sp>
      <p:sp>
        <p:nvSpPr>
          <p:cNvPr id="10" name="TextBox 9"/>
          <p:cNvSpPr txBox="1"/>
          <p:nvPr/>
        </p:nvSpPr>
        <p:spPr>
          <a:xfrm>
            <a:off x="777240" y="551840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Prior volume peaks: the overextension levels of Part 2. Volume cycles: Part 5. The first two follow now.</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four, as listed. The chart is ours: one small sketch of each, on invented volume.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13</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13</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average is slide 57's smoothed volume filter, over the last N bars. N, the lookback, is how many bars go into it.</a:t>
            </a:r>
          </a:p>
          <a:p>
            <a:pPr algn="l">
              <a:lnSpc>
                <a:spcPct val="105000"/>
              </a:lnSpc>
              <a:spcBef>
                <a:spcPts val="0"/>
              </a:spcBef>
              <a:spcAft>
                <a:spcPts val="1100"/>
              </a:spcAft>
            </a:pPr>
            <a:r>
              <a:rPr sz="1600" b="0" i="0">
                <a:solidFill>
                  <a:srgbClr val="1A1A1A"/>
                </a:solidFill>
                <a:latin typeface="Arial"/>
              </a:rPr>
              <a:t>Short N, 5 bars say: hugs the bars closely, ordinary ones cross it too, many false signals.</a:t>
            </a:r>
          </a:p>
          <a:p>
            <a:pPr algn="l">
              <a:lnSpc>
                <a:spcPct val="105000"/>
              </a:lnSpc>
              <a:spcBef>
                <a:spcPts val="0"/>
              </a:spcBef>
              <a:spcAft>
                <a:spcPts val="1100"/>
              </a:spcAft>
            </a:pPr>
            <a:r>
              <a:rPr sz="1600" b="0" i="0">
                <a:solidFill>
                  <a:srgbClr val="1A1A1A"/>
                </a:solidFill>
                <a:latin typeface="Arial"/>
              </a:rPr>
              <a:t>Long N, 100 bars say: slow and flat, only huge spikes cross it, few signals, some turns missed.</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right N sits in between. How to find it: next slide.</a:t>
            </a:r>
          </a:p>
        </p:txBody>
      </p:sp>
      <p:sp>
        <p:nvSpPr>
          <p:cNvPr id="10" name="TextBox 9"/>
          <p:cNvSpPr txBox="1"/>
          <p:nvPr/>
        </p:nvSpPr>
        <p:spPr>
          <a:xfrm>
            <a:off x="777240" y="5318760"/>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6.20: each dotted arrow runs from a spike crossing the line up to a top or a bottom.</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6.20</a:t>
            </a:r>
          </a:p>
          <a:p>
            <a:pPr algn="l">
              <a:lnSpc>
                <a:spcPct val="120000"/>
              </a:lnSpc>
              <a:spcBef>
                <a:spcPts val="0"/>
              </a:spcBef>
              <a:spcAft>
                <a:spcPts val="1400"/>
              </a:spcAft>
            </a:pPr>
            <a:r>
              <a:rPr sz="18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length,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13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Backtest: run the filter on past prices with a few different N, and see which one actually caught the real tops and bottoms. Keep that N.</a:t>
            </a:r>
          </a:p>
          <a:p>
            <a:pPr algn="l">
              <a:lnSpc>
                <a:spcPct val="118000"/>
              </a:lnSpc>
              <a:spcBef>
                <a:spcPts val="0"/>
              </a:spcBef>
              <a:spcAft>
                <a:spcPts val="1300"/>
              </a:spcAft>
            </a:pPr>
            <a:r>
              <a:rPr sz="2100" b="0" i="0">
                <a:solidFill>
                  <a:srgbClr val="1A1A1A"/>
                </a:solidFill>
                <a:latin typeface="Arial"/>
              </a:rPr>
              <a:t>Rule of thumb: set N to the dominant trading cycle period, or half of it. Ours, invented: swings about 40 bars peak to peak give N = 40, or N = 20.</a:t>
            </a:r>
          </a:p>
          <a:p>
            <a:pPr algn="l">
              <a:lnSpc>
                <a:spcPct val="118000"/>
              </a:lnSpc>
              <a:spcBef>
                <a:spcPts val="0"/>
              </a:spcBef>
              <a:spcAft>
                <a:spcPts val="1300"/>
              </a:spcAft>
            </a:pPr>
            <a:r>
              <a:rPr sz="2100" b="0" i="0">
                <a:solidFill>
                  <a:srgbClr val="1A1A1A"/>
                </a:solidFill>
                <a:latin typeface="Arial"/>
              </a:rPr>
              <a:t>The book gives no fixed N. Not that any N works: the right N is found for each market, by backtest or by this rule of thumb.</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universal lookback. A method for finding one, for this market.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Ours: the worked cycle number and the actionable backtest description.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13</a:t>
            </a:r>
          </a:p>
        </p:txBody>
      </p:sp>
      <p:sp>
        <p:nvSpPr>
          <p:cNvPr id="8" name="Rectangle 7"/>
          <p:cNvSpPr/>
          <p:nvPr/>
        </p:nvSpPr>
        <p:spPr>
          <a:xfrm>
            <a:off x="777240" y="2258568"/>
            <a:ext cx="64008" cy="841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Sigma is the standard deviation: how far volume typically strays from its own mean, over the same N bars. The line: Upper = mean + k x sigma, k = 3 here, or 2.</a:t>
            </a:r>
          </a:p>
        </p:txBody>
      </p:sp>
      <p:sp>
        <p:nvSpPr>
          <p:cNvPr id="10" name="Rectangle 9"/>
          <p:cNvSpPr/>
          <p:nvPr/>
        </p:nvSpPr>
        <p:spPr>
          <a:xfrm>
            <a:off x="777240" y="3355848"/>
            <a:ext cx="64008" cy="10546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1012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Worked, ours: the last 20 bars average 10 million shares, sigma 2 million. 3-sigma line = 10 + 3x2 = 16 million: 12 million does not cross, 18 million does. 2-sigma line = 14 million, so it flags more bars.</a:t>
            </a:r>
          </a:p>
        </p:txBody>
      </p:sp>
      <p:sp>
        <p:nvSpPr>
          <p:cNvPr id="12" name="Rectangle 11"/>
          <p:cNvSpPr/>
          <p:nvPr/>
        </p:nvSpPr>
        <p:spPr>
          <a:xfrm>
            <a:off x="777240" y="4666488"/>
            <a:ext cx="64008" cy="10546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2076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A 2- or 3-sigma filter, also a volatility filter, keeps only the most significant surges: a Bollinger Band on volume, lines a set number of standard deviations above and below a moving average, upper band only, since only surges matter here.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Chart: ours, computed; divisor and window read from build/charts_chapter06.py, not guessed.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dotted line is drawn,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13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At each bar: take its last 20 volume bars, this one included. Mean, then sigma. Plot mean + 3 x sigma. Move forward one bar, repeat.</a:t>
            </a:r>
          </a:p>
          <a:p>
            <a:pPr algn="l">
              <a:lnSpc>
                <a:spcPct val="118000"/>
              </a:lnSpc>
              <a:spcBef>
                <a:spcPts val="0"/>
              </a:spcBef>
              <a:spcAft>
                <a:spcPts val="1300"/>
              </a:spcAft>
            </a:pPr>
            <a:r>
              <a:rPr sz="2100" b="0" i="0">
                <a:solidFill>
                  <a:srgbClr val="1A1A1A"/>
                </a:solidFill>
                <a:latin typeface="Arial"/>
              </a:rPr>
              <a:t>That is why it jumps: a spike entering the window raises both at once, so the line leaps up, staying high until the spike leaves 20 bars later.</a:t>
            </a:r>
          </a:p>
          <a:p>
            <a:pPr algn="l">
              <a:lnSpc>
                <a:spcPct val="118000"/>
              </a:lnSpc>
              <a:spcBef>
                <a:spcPts val="0"/>
              </a:spcBef>
              <a:spcAft>
                <a:spcPts val="1300"/>
              </a:spcAft>
            </a:pPr>
            <a:r>
              <a:rPr sz="2100" b="0" i="0">
                <a:solidFill>
                  <a:srgbClr val="1A1A1A"/>
                </a:solidFill>
                <a:latin typeface="Arial"/>
              </a:rPr>
              <a:t>The book never says if sigma divides by 20 or 19, or if the bar sits in its own window. Our code divides by 20 and includes the bar.</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Recomputed from nothing at every bar: no memory beyond its window.</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actually computes it, read from the code, not guessed.</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13</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filter signals the most significant volume surges.</a:t>
            </a:r>
          </a:p>
          <a:p>
            <a:pPr algn="l">
              <a:lnSpc>
                <a:spcPct val="105000"/>
              </a:lnSpc>
              <a:spcBef>
                <a:spcPts val="0"/>
              </a:spcBef>
              <a:spcAft>
                <a:spcPts val="1100"/>
              </a:spcAft>
            </a:pPr>
            <a:r>
              <a:rPr sz="1800" b="0" i="0">
                <a:solidFill>
                  <a:srgbClr val="1A1A1A"/>
                </a:solidFill>
                <a:latin typeface="Arial"/>
              </a:rPr>
              <a:t>These tend to result in the most significant tops and bottoms in the market.</a:t>
            </a:r>
          </a:p>
          <a:p>
            <a:pPr algn="l">
              <a:lnSpc>
                <a:spcPct val="105000"/>
              </a:lnSpc>
              <a:spcBef>
                <a:spcPts val="0"/>
              </a:spcBef>
              <a:spcAft>
                <a:spcPts val="1100"/>
              </a:spcAft>
            </a:pPr>
            <a:r>
              <a:rPr sz="1800" b="0" i="0">
                <a:solidFill>
                  <a:srgbClr val="1A1A1A"/>
                </a:solidFill>
                <a:latin typeface="Arial"/>
              </a:rPr>
              <a:t>A standard deviation oscillator may also be used. It is less useful: it gives no overlay on which to see volume cross the threshold.</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prefers the band: volume can be seen crossing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6.21</a:t>
            </a:r>
          </a:p>
          <a:p>
            <a:pPr algn="l">
              <a:lnSpc>
                <a:spcPct val="120000"/>
              </a:lnSpc>
              <a:spcBef>
                <a:spcPts val="0"/>
              </a:spcBef>
              <a:spcAft>
                <a:spcPts val="1400"/>
              </a:spcAft>
            </a:pPr>
            <a:r>
              <a:rPr sz="1800" b="0" i="0">
                <a:solidFill>
                  <a:srgbClr val="1A1A1A"/>
                </a:solidFill>
                <a:latin typeface="Palatino"/>
              </a:rPr>
              <a:t>The daily USDJPY chart with a stepped line across its volume panel labelled 3-sigma volume overextension threshold, and dotted arrows from the few overextensions in volume above it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Filtering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smoothed volume filter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Bollinger Band on price</a:t>
            </a:r>
          </a:p>
          <a:p>
            <a:pPr algn="l">
              <a:lnSpc>
                <a:spcPct val="112000"/>
              </a:lnSpc>
              <a:spcBef>
                <a:spcPts val="0"/>
              </a:spcBef>
              <a:spcAft>
                <a:spcPts val="900"/>
              </a:spcAft>
            </a:pPr>
            <a:r>
              <a:rPr sz="1500" b="0" i="0">
                <a:solidFill>
                  <a:srgbClr val="FFFFFF"/>
                </a:solidFill>
                <a:latin typeface="Arial"/>
              </a:rPr>
              <a:t>B.  A moving average based on volume, instead of price</a:t>
            </a:r>
          </a:p>
          <a:p>
            <a:pPr algn="l">
              <a:lnSpc>
                <a:spcPct val="112000"/>
              </a:lnSpc>
              <a:spcBef>
                <a:spcPts val="0"/>
              </a:spcBef>
              <a:spcAft>
                <a:spcPts val="900"/>
              </a:spcAft>
            </a:pPr>
            <a:r>
              <a:rPr sz="1500" b="0" i="0">
                <a:solidFill>
                  <a:srgbClr val="FFFFFF"/>
                </a:solidFill>
                <a:latin typeface="Arial"/>
              </a:rPr>
              <a:t>C.  The lowest historical volume level</a:t>
            </a:r>
          </a:p>
          <a:p>
            <a:pPr algn="l">
              <a:lnSpc>
                <a:spcPct val="112000"/>
              </a:lnSpc>
              <a:spcBef>
                <a:spcPts val="0"/>
              </a:spcBef>
              <a:spcAft>
                <a:spcPts val="900"/>
              </a:spcAft>
            </a:pPr>
            <a:r>
              <a:rPr sz="1500" b="0" i="0">
                <a:solidFill>
                  <a:srgbClr val="FFFFFF"/>
                </a:solidFill>
                <a:latin typeface="Arial"/>
              </a:rPr>
              <a:t>D.  A count of trades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two- or three-sigma volume filter, which part of the Bollinger Band is used?</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lower band only</a:t>
            </a:r>
          </a:p>
          <a:p>
            <a:pPr algn="l">
              <a:lnSpc>
                <a:spcPct val="112000"/>
              </a:lnSpc>
              <a:spcBef>
                <a:spcPts val="0"/>
              </a:spcBef>
              <a:spcAft>
                <a:spcPts val="900"/>
              </a:spcAft>
            </a:pPr>
            <a:r>
              <a:rPr sz="1500" b="0" i="0">
                <a:solidFill>
                  <a:srgbClr val="FFFFFF"/>
                </a:solidFill>
                <a:latin typeface="Arial"/>
              </a:rPr>
              <a:t>B.  Both bands</a:t>
            </a:r>
          </a:p>
          <a:p>
            <a:pPr algn="l">
              <a:lnSpc>
                <a:spcPct val="112000"/>
              </a:lnSpc>
              <a:spcBef>
                <a:spcPts val="0"/>
              </a:spcBef>
              <a:spcAft>
                <a:spcPts val="900"/>
              </a:spcAft>
            </a:pPr>
            <a:r>
              <a:rPr sz="1500" b="0" i="0">
                <a:solidFill>
                  <a:srgbClr val="FFFFFF"/>
                </a:solidFill>
                <a:latin typeface="Arial"/>
              </a:rPr>
              <a:t>C.  The upper band only</a:t>
            </a:r>
          </a:p>
          <a:p>
            <a:pPr algn="l">
              <a:lnSpc>
                <a:spcPct val="112000"/>
              </a:lnSpc>
              <a:spcBef>
                <a:spcPts val="0"/>
              </a:spcBef>
              <a:spcAft>
                <a:spcPts val="900"/>
              </a:spcAft>
            </a:pPr>
            <a:r>
              <a:rPr sz="1500" b="0" i="0">
                <a:solidFill>
                  <a:srgbClr val="FFFFFF"/>
                </a:solidFill>
                <a:latin typeface="Arial"/>
              </a:rPr>
              <a:t>D.  The middle line only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8</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Filtering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smoothed volume filter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moving average based on volume, instead of price</a:t>
            </a:r>
          </a:p>
          <a:p>
            <a:pPr algn="l">
              <a:lnSpc>
                <a:spcPct val="115000"/>
              </a:lnSpc>
              <a:spcBef>
                <a:spcPts val="700"/>
              </a:spcBef>
              <a:spcAft>
                <a:spcPts val="0"/>
              </a:spcAft>
            </a:pPr>
            <a:r>
              <a:rPr sz="1600" b="0" i="0">
                <a:solidFill>
                  <a:srgbClr val="1A1A1A"/>
                </a:solidFill>
                <a:latin typeface="Arial"/>
              </a:rPr>
              <a:t>The book: a smoothed volume filter is simply a moving average based on volume, instead of price.</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 two- or three-sigma volume filter, which part of the Bollinger Band is used?</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upper band only</a:t>
            </a:r>
          </a:p>
          <a:p>
            <a:pPr algn="l">
              <a:lnSpc>
                <a:spcPct val="115000"/>
              </a:lnSpc>
              <a:spcBef>
                <a:spcPts val="700"/>
              </a:spcBef>
              <a:spcAft>
                <a:spcPts val="0"/>
              </a:spcAft>
            </a:pPr>
            <a:r>
              <a:rPr sz="1600" b="0" i="0">
                <a:solidFill>
                  <a:srgbClr val="1A1A1A"/>
                </a:solidFill>
                <a:latin typeface="Arial"/>
              </a:rPr>
              <a:t>Only the Bollinger upper band is used: the filter keeps the most significant surges.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8</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13</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the peaks and troughs that came with heavy volume are used to draw lines.</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three turns on volume above the threshold, 1, 2 and 3. A line joins 1 and 2; its parallel through 3 makes a channel.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a peak or a trough. The chart is ours, on invented prices.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12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Tick volume, with a threshold drawn by visual inspection: only the most significant peaks reach it.</a:t>
            </a:r>
          </a:p>
          <a:p>
            <a:pPr algn="l">
              <a:lnSpc>
                <a:spcPct val="105000"/>
              </a:lnSpc>
              <a:spcBef>
                <a:spcPts val="0"/>
              </a:spcBef>
              <a:spcAft>
                <a:spcPts val="1100"/>
              </a:spcAft>
            </a:pPr>
            <a:r>
              <a:rPr sz="1800" b="0" i="0">
                <a:solidFill>
                  <a:srgbClr val="1A1A1A"/>
                </a:solidFill>
                <a:latin typeface="Arial"/>
              </a:rPr>
              <a:t>Points 1, 2 and 3 came with overextended tick volume. A trendline joins 1 and 2; a parallel from 3.</a:t>
            </a:r>
          </a:p>
          <a:p>
            <a:pPr algn="l">
              <a:lnSpc>
                <a:spcPct val="105000"/>
              </a:lnSpc>
              <a:spcBef>
                <a:spcPts val="0"/>
              </a:spcBef>
              <a:spcAft>
                <a:spcPts val="1100"/>
              </a:spcAft>
            </a:pPr>
            <a:r>
              <a:rPr sz="1800" b="0" i="0">
                <a:solidFill>
                  <a:srgbClr val="1A1A1A"/>
                </a:solidFill>
                <a:latin typeface="Arial"/>
              </a:rPr>
              <a:t>At X price reacts to the channel, a short-term buy, before falling through it.</a:t>
            </a:r>
          </a:p>
        </p:txBody>
      </p:sp>
      <p:sp>
        <p:nvSpPr>
          <p:cNvPr id="8" name="Rectangle 7"/>
          <p:cNvSpPr/>
          <p:nvPr/>
        </p:nvSpPr>
        <p:spPr>
          <a:xfrm>
            <a:off x="777240" y="4965192"/>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Only heavily traded points are used.</a:t>
            </a:r>
          </a:p>
        </p:txBody>
      </p:sp>
      <p:sp>
        <p:nvSpPr>
          <p:cNvPr id="10" name="TextBox 9"/>
          <p:cNvSpPr txBox="1"/>
          <p:nvPr/>
        </p:nvSpPr>
        <p:spPr>
          <a:xfrm>
            <a:off x="777240" y="5602223"/>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Tick volume, a count of trades: defined in Part 4.</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6.22</a:t>
            </a:r>
          </a:p>
          <a:p>
            <a:pPr algn="l">
              <a:lnSpc>
                <a:spcPct val="120000"/>
              </a:lnSpc>
              <a:spcBef>
                <a:spcPts val="0"/>
              </a:spcBef>
              <a:spcAft>
                <a:spcPts val="1400"/>
              </a:spcAft>
            </a:pPr>
            <a:r>
              <a:rPr sz="18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 The text names no market for 6.22 and calls 6.23 USDJPY; both captions and charts say Silver.</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13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Trendline from 1 and 2, parallel from 3: a large bearish candlestick breaches it.</a:t>
            </a:r>
          </a:p>
          <a:p>
            <a:pPr algn="l">
              <a:lnSpc>
                <a:spcPct val="105000"/>
              </a:lnSpc>
              <a:spcBef>
                <a:spcPts val="0"/>
              </a:spcBef>
              <a:spcAft>
                <a:spcPts val="1100"/>
              </a:spcAft>
            </a:pPr>
            <a:r>
              <a:rPr sz="1800" b="0" i="0">
                <a:solidFill>
                  <a:srgbClr val="1A1A1A"/>
                </a:solidFill>
                <a:latin typeface="Arial"/>
              </a:rPr>
              <a:t>A parallel from 4, taken back in time, meets the trough at X: in retrospect a valid rising channel.</a:t>
            </a:r>
          </a:p>
          <a:p>
            <a:pPr algn="l">
              <a:lnSpc>
                <a:spcPct val="105000"/>
              </a:lnSpc>
              <a:spcBef>
                <a:spcPts val="0"/>
              </a:spcBef>
              <a:spcAft>
                <a:spcPts val="1100"/>
              </a:spcAft>
            </a:pPr>
            <a:r>
              <a:rPr sz="1800" b="0" i="0">
                <a:solidFill>
                  <a:srgbClr val="1A1A1A"/>
                </a:solidFill>
                <a:latin typeface="Arial"/>
              </a:rPr>
              <a:t>Parallels from 5 and 6 contain price too: resistance at the top, support at the bottom.</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near perfect angular symmetry.</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6.23</a:t>
            </a:r>
          </a:p>
          <a:p>
            <a:pPr algn="l">
              <a:lnSpc>
                <a:spcPct val="120000"/>
              </a:lnSpc>
              <a:spcBef>
                <a:spcPts val="0"/>
              </a:spcBef>
              <a:spcAft>
                <a:spcPts val="1400"/>
              </a:spcAft>
            </a:pPr>
            <a:r>
              <a:rPr sz="18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a Chapter 5 term.</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Filtered inflection points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peaks and troughs are used to construct volume filtered trendlines and channels?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Every peak and trough on the chart</a:t>
            </a:r>
          </a:p>
          <a:p>
            <a:pPr algn="l">
              <a:lnSpc>
                <a:spcPct val="112000"/>
              </a:lnSpc>
              <a:spcBef>
                <a:spcPts val="0"/>
              </a:spcBef>
              <a:spcAft>
                <a:spcPts val="900"/>
              </a:spcAft>
            </a:pPr>
            <a:r>
              <a:rPr sz="1500" b="0" i="0">
                <a:solidFill>
                  <a:srgbClr val="FFFFFF"/>
                </a:solidFill>
                <a:latin typeface="Arial"/>
              </a:rPr>
              <a:t>B.  Only those associated with above average volume</a:t>
            </a:r>
          </a:p>
          <a:p>
            <a:pPr algn="l">
              <a:lnSpc>
                <a:spcPct val="112000"/>
              </a:lnSpc>
              <a:spcBef>
                <a:spcPts val="0"/>
              </a:spcBef>
              <a:spcAft>
                <a:spcPts val="900"/>
              </a:spcAft>
            </a:pPr>
            <a:r>
              <a:rPr sz="1500" b="0" i="0">
                <a:solidFill>
                  <a:srgbClr val="FFFFFF"/>
                </a:solidFill>
                <a:latin typeface="Arial"/>
              </a:rPr>
              <a:t>C.  Only those formed on minimal volume</a:t>
            </a:r>
          </a:p>
          <a:p>
            <a:pPr algn="l">
              <a:lnSpc>
                <a:spcPct val="112000"/>
              </a:lnSpc>
              <a:spcBef>
                <a:spcPts val="0"/>
              </a:spcBef>
              <a:spcAft>
                <a:spcPts val="900"/>
              </a:spcAft>
            </a:pPr>
            <a:r>
              <a:rPr sz="1500" b="0" i="0">
                <a:solidFill>
                  <a:srgbClr val="FFFFFF"/>
                </a:solidFill>
                <a:latin typeface="Arial"/>
              </a:rPr>
              <a:t>D.  Only those within a consolidation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Figure 6.22, how is the volume threshold drawn?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By visual inspection, so only the most significant peaks reach it</a:t>
            </a:r>
          </a:p>
          <a:p>
            <a:pPr algn="l">
              <a:lnSpc>
                <a:spcPct val="112000"/>
              </a:lnSpc>
              <a:spcBef>
                <a:spcPts val="0"/>
              </a:spcBef>
              <a:spcAft>
                <a:spcPts val="900"/>
              </a:spcAft>
            </a:pPr>
            <a:r>
              <a:rPr sz="1500" b="0" i="0">
                <a:solidFill>
                  <a:srgbClr val="FFFFFF"/>
                </a:solidFill>
                <a:latin typeface="Arial"/>
              </a:rPr>
              <a:t>B.  As a 100-day moving average</a:t>
            </a:r>
          </a:p>
          <a:p>
            <a:pPr algn="l">
              <a:lnSpc>
                <a:spcPct val="112000"/>
              </a:lnSpc>
              <a:spcBef>
                <a:spcPts val="0"/>
              </a:spcBef>
              <a:spcAft>
                <a:spcPts val="900"/>
              </a:spcAft>
            </a:pPr>
            <a:r>
              <a:rPr sz="1500" b="0" i="0">
                <a:solidFill>
                  <a:srgbClr val="FFFFFF"/>
                </a:solidFill>
                <a:latin typeface="Arial"/>
              </a:rPr>
              <a:t>C.  At three standard deviations</a:t>
            </a:r>
          </a:p>
          <a:p>
            <a:pPr algn="l">
              <a:lnSpc>
                <a:spcPct val="112000"/>
              </a:lnSpc>
              <a:spcBef>
                <a:spcPts val="0"/>
              </a:spcBef>
              <a:spcAft>
                <a:spcPts val="900"/>
              </a:spcAft>
            </a:pPr>
            <a:r>
              <a:rPr sz="1500" b="0" i="0">
                <a:solidFill>
                  <a:srgbClr val="FFFFFF"/>
                </a:solidFill>
                <a:latin typeface="Arial"/>
              </a:rPr>
              <a:t>D.  At the lowest historical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9</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Filtered inflection points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peaks and troughs are used to construct volume filtered trendlines and channels?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Only those associated with above average volume</a:t>
            </a:r>
          </a:p>
          <a:p>
            <a:pPr algn="l">
              <a:lnSpc>
                <a:spcPct val="115000"/>
              </a:lnSpc>
              <a:spcBef>
                <a:spcPts val="700"/>
              </a:spcBef>
              <a:spcAft>
                <a:spcPts val="0"/>
              </a:spcAft>
            </a:pPr>
            <a:r>
              <a:rPr sz="1600" b="0" i="0">
                <a:solidFill>
                  <a:srgbClr val="1A1A1A"/>
                </a:solidFill>
                <a:latin typeface="Arial"/>
              </a:rPr>
              <a:t>Only significant inflection points are used: those associated with above average volume.</a:t>
            </a:r>
          </a:p>
        </p:txBody>
      </p:sp>
      <p:sp>
        <p:nvSpPr>
          <p:cNvPr id="10" name="Rectangle 9"/>
          <p:cNvSpPr/>
          <p:nvPr/>
        </p:nvSpPr>
        <p:spPr>
          <a:xfrm>
            <a:off x="777240" y="3082036"/>
            <a:ext cx="10637215" cy="19202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92023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Figure 6.22, how is the volume threshold drawn?</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By visual inspection, so only the most significant peaks reach it</a:t>
            </a:r>
          </a:p>
          <a:p>
            <a:pPr algn="l">
              <a:lnSpc>
                <a:spcPct val="115000"/>
              </a:lnSpc>
              <a:spcBef>
                <a:spcPts val="700"/>
              </a:spcBef>
              <a:spcAft>
                <a:spcPts val="0"/>
              </a:spcAft>
            </a:pPr>
            <a:r>
              <a:rPr sz="1600" b="0" i="0">
                <a:solidFill>
                  <a:srgbClr val="1A1A1A"/>
                </a:solidFill>
                <a:latin typeface="Arial"/>
              </a:rPr>
              <a:t>The book draws a simple tick volume overextension level by visual inspection.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Absolute volume is the raw count: today, 3 million shares traded.</a:t>
            </a:r>
          </a:p>
          <a:p>
            <a:pPr algn="l">
              <a:lnSpc>
                <a:spcPct val="105000"/>
              </a:lnSpc>
              <a:spcBef>
                <a:spcPts val="0"/>
              </a:spcBef>
              <a:spcAft>
                <a:spcPts val="1100"/>
              </a:spcAft>
            </a:pPr>
            <a:r>
              <a:rPr sz="1800" b="0" i="0">
                <a:solidFill>
                  <a:srgbClr val="1A1A1A"/>
                </a:solidFill>
                <a:latin typeface="Arial"/>
              </a:rPr>
              <a:t>Relative volume compares it with its own past: 3 million against a usual 1.5 million is double.</a:t>
            </a:r>
          </a:p>
          <a:p>
            <a:pPr algn="l">
              <a:lnSpc>
                <a:spcPct val="105000"/>
              </a:lnSpc>
              <a:spcBef>
                <a:spcPts val="0"/>
              </a:spcBef>
              <a:spcAft>
                <a:spcPts val="1100"/>
              </a:spcAft>
            </a:pPr>
            <a:r>
              <a:rPr sz="1800" b="0" i="0">
                <a:solidFill>
                  <a:srgbClr val="1A1A1A"/>
                </a:solidFill>
                <a:latin typeface="Arial"/>
              </a:rPr>
              <a:t>The book: absolute volume is not as important as relative. The change in volume tells the most about price.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Yet 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It never defines the two names; these readings are ours, from its contrast. The share counts and the chart are ours, on invented prices.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change in volume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Rising and falling volume show the interest at each price, and whether a trend is bullish or bearish: Part 1's confirmation and divergence.</a:t>
            </a:r>
          </a:p>
          <a:p>
            <a:pPr algn="l">
              <a:lnSpc>
                <a:spcPct val="118000"/>
              </a:lnSpc>
              <a:spcBef>
                <a:spcPts val="0"/>
              </a:spcBef>
              <a:spcAft>
                <a:spcPts val="1300"/>
              </a:spcAft>
            </a:pPr>
            <a:r>
              <a:rPr sz="2100" b="0" i="0">
                <a:solidFill>
                  <a:srgbClr val="1A1A1A"/>
                </a:solidFill>
                <a:latin typeface="Arial"/>
              </a:rPr>
              <a:t>Past extremes, Part 2's overextended levels, are a reference. Ours: busiest day 9 million, quietest 0.4 million; volume near either again warns of a top or bottom.</a:t>
            </a:r>
          </a:p>
          <a:p>
            <a:pPr algn="l">
              <a:lnSpc>
                <a:spcPct val="118000"/>
              </a:lnSpc>
              <a:spcBef>
                <a:spcPts val="0"/>
              </a:spcBef>
              <a:spcAft>
                <a:spcPts val="1300"/>
              </a:spcAft>
            </a:pPr>
            <a:r>
              <a:rPr sz="2100" b="0" i="0">
                <a:solidFill>
                  <a:srgbClr val="1A1A1A"/>
                </a:solidFill>
                <a:latin typeface="Arial"/>
              </a:rPr>
              <a:t>Flat volume is no sign a trend is ending, and the book gives no rule for one.</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change in volume for the trend, and past extremes for the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share counts in the example are ours.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25</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Holding a losing position rather than selling at a loss, hoping it comes back. Holding is not trading: it adds no volume.</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Bought at PHP 50, now PHP 38: an unrealized loss of PHP 12, on paper only, as you have not sold. You hold for breakeven, PHP 50.</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Loss aversion: losing positions held in a falling, bear market add nothing to its trading.</a:t>
            </a:r>
          </a:p>
          <a:p>
            <a:pPr algn="l">
              <a:lnSpc>
                <a:spcPct val="105000"/>
              </a:lnSpc>
              <a:spcBef>
                <a:spcPts val="0"/>
              </a:spcBef>
              <a:spcAft>
                <a:spcPts val="1100"/>
              </a:spcAft>
            </a:pPr>
            <a:r>
              <a:rPr sz="1600" b="0" i="0">
                <a:solidFill>
                  <a:srgbClr val="1A1A1A"/>
                </a:solidFill>
                <a:latin typeface="Arial"/>
              </a:rPr>
              <a:t>2  In a rising, bull market, traders can fund new positions with house money: profit already made.</a:t>
            </a:r>
          </a:p>
          <a:p>
            <a:pPr algn="l">
              <a:lnSpc>
                <a:spcPct val="105000"/>
              </a:lnSpc>
              <a:spcBef>
                <a:spcPts val="0"/>
              </a:spcBef>
              <a:spcAft>
                <a:spcPts val="1100"/>
              </a:spcAft>
            </a:pPr>
            <a:r>
              <a:rPr sz="1600" b="0" i="0">
                <a:solidFill>
                  <a:srgbClr val="1A1A1A"/>
                </a:solidFill>
                <a:latin typeface="Arial"/>
              </a:rPr>
              <a:t>3  More investment funds market their services in a bull market, drawing in investors.</a:t>
            </a:r>
          </a:p>
        </p:txBody>
      </p:sp>
      <p:sp>
        <p:nvSpPr>
          <p:cNvPr id="8" name="Rectangle 7"/>
          <p:cNvSpPr/>
          <p:nvPr/>
        </p:nvSpPr>
        <p:spPr>
          <a:xfrm>
            <a:off x="777240" y="4197096"/>
            <a:ext cx="82296" cy="9235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92354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So bull market volume tends to outweigh bear market volume. Ours: 2.8 million shares a day rising, 1.3 million falling.</a:t>
            </a:r>
          </a:p>
        </p:txBody>
      </p:sp>
      <p:sp>
        <p:nvSpPr>
          <p:cNvPr id="10" name="TextBox 9"/>
          <p:cNvSpPr txBox="1"/>
          <p:nvPr/>
        </p:nvSpPr>
        <p:spPr>
          <a:xfrm>
            <a:off x="777240" y="532180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few of the book's reasons; it draws no trading rule from them.</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y.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and its share counts are ours, on invented prices.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Price rejection levels, Chapter 3: prices the market was pushed back from, at significant or historical prices.</a:t>
            </a:r>
          </a:p>
          <a:p>
            <a:pPr algn="l">
              <a:lnSpc>
                <a:spcPct val="105000"/>
              </a:lnSpc>
              <a:spcBef>
                <a:spcPts val="0"/>
              </a:spcBef>
              <a:spcAft>
                <a:spcPts val="1100"/>
              </a:spcAft>
            </a:pPr>
            <a:r>
              <a:rPr sz="1700" b="0" i="0">
                <a:solidFill>
                  <a:srgbClr val="1A1A1A"/>
                </a:solidFill>
                <a:latin typeface="Arial"/>
              </a:rPr>
              <a:t>2  Comparing participation in stocks, sectors, industries or commodities, seeking liquidity.</a:t>
            </a:r>
          </a:p>
          <a:p>
            <a:pPr algn="l">
              <a:lnSpc>
                <a:spcPct val="105000"/>
              </a:lnSpc>
              <a:spcBef>
                <a:spcPts val="0"/>
              </a:spcBef>
              <a:spcAft>
                <a:spcPts val="1100"/>
              </a:spcAft>
            </a:pPr>
            <a:r>
              <a:rPr sz="1700" b="0" i="0">
                <a:solidFill>
                  <a:srgbClr val="1A1A1A"/>
                </a:solidFill>
                <a:latin typeface="Arial"/>
              </a:rPr>
              <a:t>3  Turnover: shares traded / shares outstanding. A: 5m / 2,000m = 0.25%. B: 1m / 40m = 2.5%.</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trades five times the shares; B has ten times the participation.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Shares outstanding: all the company's shares. The book gives no method for 1, and no definition of liquidity.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z.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the traditional meaning of volume.</a:t>
            </a:r>
          </a:p>
          <a:p>
            <a:pPr algn="l">
              <a:lnSpc>
                <a:spcPct val="118000"/>
              </a:lnSpc>
              <a:spcBef>
                <a:spcPts val="0"/>
              </a:spcBef>
              <a:spcAft>
                <a:spcPts val="1300"/>
              </a:spcAft>
            </a:pPr>
            <a:r>
              <a:rPr sz="2100" b="0" i="0">
                <a:solidFill>
                  <a:srgbClr val="1A1A1A"/>
                </a:solidFill>
                <a:latin typeface="Arial"/>
              </a:rPr>
              <a:t>That meaning is Part 1's: volume is traders' interest in a rise or fall. Chapter 1: program trading is machines trading in ways humans cannot replicate.</a:t>
            </a:r>
          </a:p>
          <a:p>
            <a:pPr algn="l">
              <a:lnSpc>
                <a:spcPct val="118000"/>
              </a:lnSpc>
              <a:spcBef>
                <a:spcPts val="0"/>
              </a:spcBef>
              <a:spcAft>
                <a:spcPts val="1300"/>
              </a:spcAft>
            </a:pPr>
            <a:r>
              <a:rPr sz="2100" b="0" i="0">
                <a:solidFill>
                  <a:srgbClr val="1A1A1A"/>
                </a:solidFill>
                <a:latin typeface="Arial"/>
              </a:rPr>
              <a:t>Ours: a day trades 4 million shares, 3 million of them program trades. The bar reads 4 million; traders taking part in the move traded 1 million.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the volume read may not be totally indicative of true volume action. The book gives no remedy.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share counts in the example are ours.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Relative and absolute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According to the book, which gives the most information about potential price action?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Absolute volume</a:t>
            </a:r>
          </a:p>
          <a:p>
            <a:pPr algn="l">
              <a:lnSpc>
                <a:spcPct val="112000"/>
              </a:lnSpc>
              <a:spcBef>
                <a:spcPts val="0"/>
              </a:spcBef>
              <a:spcAft>
                <a:spcPts val="900"/>
              </a:spcAft>
            </a:pPr>
            <a:r>
              <a:rPr sz="1500" b="0" i="0">
                <a:solidFill>
                  <a:srgbClr val="FFFFFF"/>
                </a:solidFill>
                <a:latin typeface="Arial"/>
              </a:rPr>
              <a:t>B.  The change in volume</a:t>
            </a:r>
          </a:p>
          <a:p>
            <a:pPr algn="l">
              <a:lnSpc>
                <a:spcPct val="112000"/>
              </a:lnSpc>
              <a:spcBef>
                <a:spcPts val="0"/>
              </a:spcBef>
              <a:spcAft>
                <a:spcPts val="900"/>
              </a:spcAft>
            </a:pPr>
            <a:r>
              <a:rPr sz="1500" b="0" i="0">
                <a:solidFill>
                  <a:srgbClr val="FFFFFF"/>
                </a:solidFill>
                <a:latin typeface="Arial"/>
              </a:rPr>
              <a:t>C.  Turnover against shares outstanding</a:t>
            </a:r>
          </a:p>
          <a:p>
            <a:pPr algn="l">
              <a:lnSpc>
                <a:spcPct val="112000"/>
              </a:lnSpc>
              <a:spcBef>
                <a:spcPts val="0"/>
              </a:spcBef>
              <a:spcAft>
                <a:spcPts val="900"/>
              </a:spcAft>
            </a:pPr>
            <a:r>
              <a:rPr sz="1500" b="0" i="0">
                <a:solidFill>
                  <a:srgbClr val="FFFFFF"/>
                </a:solidFill>
                <a:latin typeface="Arial"/>
              </a:rPr>
              <a:t>D.  Tick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investor holds a losing share, believing an unrealized loss is not a real loss.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House money</a:t>
            </a:r>
          </a:p>
          <a:p>
            <a:pPr algn="l">
              <a:lnSpc>
                <a:spcPct val="112000"/>
              </a:lnSpc>
              <a:spcBef>
                <a:spcPts val="0"/>
              </a:spcBef>
              <a:spcAft>
                <a:spcPts val="900"/>
              </a:spcAft>
            </a:pPr>
            <a:r>
              <a:rPr sz="1500" b="0" i="0">
                <a:solidFill>
                  <a:srgbClr val="FFFFFF"/>
                </a:solidFill>
                <a:latin typeface="Arial"/>
              </a:rPr>
              <a:t>B.  A low volume reversal</a:t>
            </a:r>
          </a:p>
          <a:p>
            <a:pPr algn="l">
              <a:lnSpc>
                <a:spcPct val="112000"/>
              </a:lnSpc>
              <a:spcBef>
                <a:spcPts val="0"/>
              </a:spcBef>
              <a:spcAft>
                <a:spcPts val="900"/>
              </a:spcAft>
            </a:pPr>
            <a:r>
              <a:rPr sz="1500" b="0" i="0">
                <a:solidFill>
                  <a:srgbClr val="FFFFFF"/>
                </a:solidFill>
                <a:latin typeface="Arial"/>
              </a:rPr>
              <a:t>C.  A volume distortion</a:t>
            </a:r>
          </a:p>
          <a:p>
            <a:pPr algn="l">
              <a:lnSpc>
                <a:spcPct val="112000"/>
              </a:lnSpc>
              <a:spcBef>
                <a:spcPts val="0"/>
              </a:spcBef>
              <a:spcAft>
                <a:spcPts val="900"/>
              </a:spcAft>
            </a:pPr>
            <a:r>
              <a:rPr sz="1500" b="0" i="0">
                <a:solidFill>
                  <a:srgbClr val="FFFFFF"/>
                </a:solidFill>
                <a:latin typeface="Arial"/>
              </a:rPr>
              <a:t>D.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10</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Relative and absolute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According to the book, which gives the most information about potential price action?</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change in volume</a:t>
            </a:r>
          </a:p>
          <a:p>
            <a:pPr algn="l">
              <a:lnSpc>
                <a:spcPct val="115000"/>
              </a:lnSpc>
              <a:spcBef>
                <a:spcPts val="700"/>
              </a:spcBef>
              <a:spcAft>
                <a:spcPts val="0"/>
              </a:spcAft>
            </a:pPr>
            <a:r>
              <a:rPr sz="1600" b="0" i="0">
                <a:solidFill>
                  <a:srgbClr val="1A1A1A"/>
                </a:solidFill>
                <a:latin typeface="Arial"/>
              </a:rPr>
              <a:t>Absolute volume is not as important as relative volume: it is the change in volume that gives the most information.</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 investor holds a losing share, believing an unrealized loss is not a real loss. The book calls this: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Loss aversion bias</a:t>
            </a:r>
          </a:p>
          <a:p>
            <a:pPr algn="l">
              <a:lnSpc>
                <a:spcPct val="115000"/>
              </a:lnSpc>
              <a:spcBef>
                <a:spcPts val="700"/>
              </a:spcBef>
              <a:spcAft>
                <a:spcPts val="0"/>
              </a:spcAft>
            </a:pPr>
            <a:r>
              <a:rPr sz="1600" b="0" i="0">
                <a:solidFill>
                  <a:srgbClr val="1A1A1A"/>
                </a:solidFill>
                <a:latin typeface="Arial"/>
              </a:rPr>
              <a:t>Holding losing positions in hope of breakeven, treating unrealized losses as not real, is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10</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25</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Every futures or options contract has a buyer, the long, and a seller, the short. Open interest counts the contracts still open.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Plus 1 a contract when a new long and short both open; minus 1 when both close; no change when one side is replaced. Worked: next slide.</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day by day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Day 1: A buys 1 from B, both new, A long and B short: plus 1. Open interest 1.</a:t>
            </a:r>
          </a:p>
          <a:p>
            <a:pPr algn="l">
              <a:lnSpc>
                <a:spcPct val="118000"/>
              </a:lnSpc>
              <a:spcBef>
                <a:spcPts val="0"/>
              </a:spcBef>
              <a:spcAft>
                <a:spcPts val="1300"/>
              </a:spcAft>
            </a:pPr>
            <a:r>
              <a:rPr sz="2100" b="0" i="0">
                <a:solidFill>
                  <a:srgbClr val="1A1A1A"/>
                </a:solidFill>
                <a:latin typeface="Arial"/>
              </a:rPr>
              <a:t>Day 2: C buys 2 from D, both new: plus 2. Open interest 3.</a:t>
            </a:r>
          </a:p>
          <a:p>
            <a:pPr algn="l">
              <a:lnSpc>
                <a:spcPct val="118000"/>
              </a:lnSpc>
              <a:spcBef>
                <a:spcPts val="0"/>
              </a:spcBef>
              <a:spcAft>
                <a:spcPts val="1300"/>
              </a:spcAft>
            </a:pPr>
            <a:r>
              <a:rPr sz="2100" b="0" i="0">
                <a:solidFill>
                  <a:srgbClr val="1A1A1A"/>
                </a:solidFill>
                <a:latin typeface="Arial"/>
              </a:rPr>
              <a:t>Day 3: A sells that 1 to E, the new long; B is still short: no change. Still 3.</a:t>
            </a:r>
          </a:p>
          <a:p>
            <a:pPr algn="l">
              <a:lnSpc>
                <a:spcPct val="118000"/>
              </a:lnSpc>
              <a:spcBef>
                <a:spcPts val="0"/>
              </a:spcBef>
              <a:spcAft>
                <a:spcPts val="1300"/>
              </a:spcAft>
            </a:pPr>
            <a:r>
              <a:rPr sz="2100" b="0" i="0">
                <a:solidFill>
                  <a:srgbClr val="1A1A1A"/>
                </a:solidFill>
                <a:latin typeface="Arial"/>
              </a:rPr>
              <a:t>Day 4: D buys back 2 from C: D's short and C's long close: minus 2. Now 1.</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Only both sides opening, or both closing, moves the count.</a:t>
            </a:r>
          </a:p>
        </p:txBody>
      </p:sp>
      <p:sp>
        <p:nvSpPr>
          <p:cNvPr id="10" name="TextBox 9"/>
          <p:cNvSpPr txBox="1"/>
          <p:nvPr/>
        </p:nvSpPr>
        <p:spPr>
          <a:xfrm>
            <a:off x="777240" y="497255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reason to count: unlike stocks, all futures and options contracts eventually expire.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three rules and the reason. The traders and contract counts are ours.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Like volume, open interest shows interest in seeing price rise or fall. With price: bullish. Against: bearish.</a:t>
            </a:r>
          </a:p>
          <a:p>
            <a:pPr algn="l">
              <a:lnSpc>
                <a:spcPct val="105000"/>
              </a:lnSpc>
              <a:spcBef>
                <a:spcPts val="0"/>
              </a:spcBef>
              <a:spcAft>
                <a:spcPts val="1100"/>
              </a:spcAft>
            </a:pPr>
            <a:r>
              <a:rPr sz="1600" b="0" i="0">
                <a:solidFill>
                  <a:srgbClr val="1A1A1A"/>
                </a:solidFill>
                <a:latin typeface="Arial"/>
              </a:rPr>
              <a:t>Price rising. Both rising: bullish, buying pressure. Both falling: bearish, shorts covering (buying back) and longs leaving.</a:t>
            </a:r>
          </a:p>
          <a:p>
            <a:pPr algn="l">
              <a:lnSpc>
                <a:spcPct val="105000"/>
              </a:lnSpc>
              <a:spcBef>
                <a:spcPts val="0"/>
              </a:spcBef>
              <a:spcAft>
                <a:spcPts val="1100"/>
              </a:spcAft>
            </a:pPr>
            <a:r>
              <a:rPr sz="1600" b="0" i="0">
                <a:solidFill>
                  <a:srgbClr val="1A1A1A"/>
                </a:solidFill>
                <a:latin typeface="Arial"/>
              </a:rPr>
              <a:t>Price falling. Both rising: bearish, short selling. Both falling: bullish, fewer longs liquidating, fewer new shorts.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Rising is confirmation, falling is divergence: as for non-price-based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readings,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futures contract rises from PHP 100 to PHP 110.</a:t>
            </a:r>
          </a:p>
          <a:p>
            <a:pPr algn="l">
              <a:lnSpc>
                <a:spcPct val="118000"/>
              </a:lnSpc>
              <a:spcBef>
                <a:spcPts val="0"/>
              </a:spcBef>
              <a:spcAft>
                <a:spcPts val="1300"/>
              </a:spcAft>
            </a:pPr>
            <a:r>
              <a:rPr sz="2100" b="0" i="0">
                <a:solidFill>
                  <a:srgbClr val="1A1A1A"/>
                </a:solidFill>
                <a:latin typeface="Arial"/>
              </a:rPr>
              <a:t>Open interest 50,000 to 60,000 contracts, volume 8,000 to 12,000 a day: both rise with price. Bullish confirmation, buying pressure.</a:t>
            </a:r>
          </a:p>
          <a:p>
            <a:pPr algn="l">
              <a:lnSpc>
                <a:spcPct val="118000"/>
              </a:lnSpc>
              <a:spcBef>
                <a:spcPts val="0"/>
              </a:spcBef>
              <a:spcAft>
                <a:spcPts val="1300"/>
              </a:spcAft>
            </a:pPr>
            <a:r>
              <a:rPr sz="2100" b="0" i="0">
                <a:solidFill>
                  <a:srgbClr val="1A1A1A"/>
                </a:solidFill>
                <a:latin typeface="Arial"/>
              </a:rPr>
              <a:t>Open interest 50,000 to 40,000, volume 8,000 to 5,000: both fall as price rises. Bearish divergence: shorts covering, longs leaving.</a:t>
            </a:r>
          </a:p>
          <a:p>
            <a:pPr algn="l">
              <a:lnSpc>
                <a:spcPct val="118000"/>
              </a:lnSpc>
              <a:spcBef>
                <a:spcPts val="0"/>
              </a:spcBef>
              <a:spcAft>
                <a:spcPts val="1300"/>
              </a:spcAft>
            </a:pPr>
            <a:r>
              <a:rPr sz="2100" b="0" i="0">
                <a:solidFill>
                  <a:srgbClr val="1A1A1A"/>
                </a:solidFill>
                <a:latin typeface="Arial"/>
              </a:rPr>
              <a:t>Falling from PHP 110 to PHP 100 instead: both rising is bearish confirmation, short selling; both falling, bullish divergence.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Same price move, opposite readings: volume and open interest decide.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four readings and their reasons. The contract, its prices and its counts are ours, invented.</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25</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All three rising, bullish: look for buy signals.</a:t>
            </a:r>
          </a:p>
          <a:p>
            <a:pPr algn="l">
              <a:lnSpc>
                <a:spcPct val="105000"/>
              </a:lnSpc>
              <a:spcBef>
                <a:spcPts val="0"/>
              </a:spcBef>
              <a:spcAft>
                <a:spcPts val="1100"/>
              </a:spcAft>
            </a:pPr>
            <a:r>
              <a:rPr sz="1600" b="0" i="0">
                <a:solidFill>
                  <a:srgbClr val="1A1A1A"/>
                </a:solidFill>
                <a:latin typeface="Arial"/>
              </a:rPr>
              <a:t>Price rising, open interest and volume falling, bearish: look to exit, liquidating (selling) your longs.</a:t>
            </a:r>
          </a:p>
          <a:p>
            <a:pPr algn="l">
              <a:lnSpc>
                <a:spcPct val="105000"/>
              </a:lnSpc>
              <a:spcBef>
                <a:spcPts val="0"/>
              </a:spcBef>
              <a:spcAft>
                <a:spcPts val="1100"/>
              </a:spcAft>
            </a:pPr>
            <a:r>
              <a:rPr sz="1600" b="0" i="0">
                <a:solidFill>
                  <a:srgbClr val="1A1A1A"/>
                </a:solidFill>
                <a:latin typeface="Arial"/>
              </a:rPr>
              <a:t>Price falling, both rising, bearish: look to go short. Once both start to fall together, bullish: rapidly cover (buy back) all shorts.</a:t>
            </a:r>
          </a:p>
        </p:txBody>
      </p:sp>
      <p:sp>
        <p:nvSpPr>
          <p:cNvPr id="8" name="Rectangle 7"/>
          <p:cNvSpPr/>
          <p:nvPr/>
        </p:nvSpPr>
        <p:spPr>
          <a:xfrm>
            <a:off x="777240" y="4197096"/>
            <a:ext cx="82296" cy="11826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6473952" cy="118262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Figure 6.24, silver from A to B: volume peaks higher at 1, bullish confirmation. Open interest peaks lower at 2 than at A, bearish divergence: many longs liquidating. Silver then fell from about $49 to under $30.</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6.24</a:t>
            </a:r>
          </a:p>
          <a:p>
            <a:pPr algn="l">
              <a:lnSpc>
                <a:spcPct val="120000"/>
              </a:lnSpc>
              <a:spcBef>
                <a:spcPts val="0"/>
              </a:spcBef>
              <a:spcAft>
                <a:spcPts val="1400"/>
              </a:spcAft>
            </a:pPr>
            <a:r>
              <a:rPr sz="1800" b="0" i="0">
                <a:solidFill>
                  <a:srgbClr val="1A1A1A"/>
                </a:solidFill>
                <a:latin typeface="Palatino"/>
              </a:rPr>
              <a:t>The continuous daily chart of silver rising from A to B, with an open interest panel showing a lower peak at 2, labelled bearish divergence, and a volume panel showing a higher peak at 1,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Go long, liquidate, go short and cover are Chapter 1 terms.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level of open interest may indicate the nature of a reversal or breakout: here, its speed.</a:t>
            </a:r>
          </a:p>
          <a:p>
            <a:pPr algn="l">
              <a:lnSpc>
                <a:spcPct val="105000"/>
              </a:lnSpc>
              <a:spcBef>
                <a:spcPts val="0"/>
              </a:spcBef>
              <a:spcAft>
                <a:spcPts val="1100"/>
              </a:spcAft>
            </a:pPr>
            <a:r>
              <a:rPr sz="1600" b="0" i="0">
                <a:solidFill>
                  <a:srgbClr val="1A1A1A"/>
                </a:solidFill>
                <a:latin typeface="Arial"/>
              </a:rPr>
              <a:t>If open interest is very high, the reversal may be significantly more rapid.</a:t>
            </a:r>
          </a:p>
          <a:p>
            <a:pPr algn="l">
              <a:lnSpc>
                <a:spcPct val="105000"/>
              </a:lnSpc>
              <a:spcBef>
                <a:spcPts val="0"/>
              </a:spcBef>
              <a:spcAft>
                <a:spcPts val="1100"/>
              </a:spcAft>
            </a:pPr>
            <a:r>
              <a:rPr sz="1600" b="0" i="0">
                <a:solidFill>
                  <a:srgbClr val="1A1A1A"/>
                </a:solidFill>
                <a:latin typeface="Arial"/>
              </a:rPr>
              <a:t>Ours: about 85,000 open contracts against 20,000. After the same top, the first falls steeply.</a:t>
            </a:r>
          </a:p>
        </p:txBody>
      </p:sp>
      <p:sp>
        <p:nvSpPr>
          <p:cNvPr id="8" name="Rectangle 7"/>
          <p:cNvSpPr/>
          <p:nvPr/>
        </p:nvSpPr>
        <p:spPr>
          <a:xfrm>
            <a:off x="777240" y="4197096"/>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reason: many open contracts liquidating and covering at once.</a:t>
            </a:r>
          </a:p>
        </p:txBody>
      </p:sp>
      <p:sp>
        <p:nvSpPr>
          <p:cNvPr id="10" name="TextBox 9"/>
          <p:cNvSpPr txBox="1"/>
          <p:nvPr/>
        </p:nvSpPr>
        <p:spPr>
          <a:xfrm>
            <a:off x="777240" y="50627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Liquidating: longs selling to close. Covering: shorts buying back. The book sets no number for very high.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c.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Open interest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with a long futures contract sells it to a new buyer, who takes over the long. Open interest: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Increases by one</a:t>
            </a:r>
          </a:p>
          <a:p>
            <a:pPr algn="l">
              <a:lnSpc>
                <a:spcPct val="112000"/>
              </a:lnSpc>
              <a:spcBef>
                <a:spcPts val="0"/>
              </a:spcBef>
              <a:spcAft>
                <a:spcPts val="900"/>
              </a:spcAft>
            </a:pPr>
            <a:r>
              <a:rPr sz="1500" b="0" i="0">
                <a:solidFill>
                  <a:srgbClr val="FFFFFF"/>
                </a:solidFill>
                <a:latin typeface="Arial"/>
              </a:rPr>
              <a:t>B.  Decreases by one</a:t>
            </a:r>
          </a:p>
          <a:p>
            <a:pPr algn="l">
              <a:lnSpc>
                <a:spcPct val="112000"/>
              </a:lnSpc>
              <a:spcBef>
                <a:spcPts val="0"/>
              </a:spcBef>
              <a:spcAft>
                <a:spcPts val="900"/>
              </a:spcAft>
            </a:pPr>
            <a:r>
              <a:rPr sz="1500" b="0" i="0">
                <a:solidFill>
                  <a:srgbClr val="FFFFFF"/>
                </a:solidFill>
                <a:latin typeface="Arial"/>
              </a:rPr>
              <a:t>C.  Stays unchanged</a:t>
            </a:r>
          </a:p>
          <a:p>
            <a:pPr algn="l">
              <a:lnSpc>
                <a:spcPct val="112000"/>
              </a:lnSpc>
              <a:spcBef>
                <a:spcPts val="0"/>
              </a:spcBef>
              <a:spcAft>
                <a:spcPts val="900"/>
              </a:spcAft>
            </a:pPr>
            <a:r>
              <a:rPr sz="1500" b="0" i="0">
                <a:solidFill>
                  <a:srgbClr val="FFFFFF"/>
                </a:solidFill>
                <a:latin typeface="Arial"/>
              </a:rPr>
              <a:t>D.  Doubles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Prices are rising while volume and open interest are both declining. The book reads this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shorts covering and longs leaving the market</a:t>
            </a:r>
          </a:p>
          <a:p>
            <a:pPr algn="l">
              <a:lnSpc>
                <a:spcPct val="112000"/>
              </a:lnSpc>
              <a:spcBef>
                <a:spcPts val="0"/>
              </a:spcBef>
              <a:spcAft>
                <a:spcPts val="900"/>
              </a:spcAft>
            </a:pPr>
            <a:r>
              <a:rPr sz="1500" b="0" i="0">
                <a:solidFill>
                  <a:srgbClr val="FFFFFF"/>
                </a:solidFill>
                <a:latin typeface="Arial"/>
              </a:rPr>
              <a:t>B.  Bullish: buying pressure</a:t>
            </a:r>
          </a:p>
          <a:p>
            <a:pPr algn="l">
              <a:lnSpc>
                <a:spcPct val="112000"/>
              </a:lnSpc>
              <a:spcBef>
                <a:spcPts val="0"/>
              </a:spcBef>
              <a:spcAft>
                <a:spcPts val="900"/>
              </a:spcAft>
            </a:pPr>
            <a:r>
              <a:rPr sz="1500" b="0" i="0">
                <a:solidFill>
                  <a:srgbClr val="FFFFFF"/>
                </a:solidFill>
                <a:latin typeface="Arial"/>
              </a:rPr>
              <a:t>C.  Bearish: short selling</a:t>
            </a:r>
          </a:p>
          <a:p>
            <a:pPr algn="l">
              <a:lnSpc>
                <a:spcPct val="112000"/>
              </a:lnSpc>
              <a:spcBef>
                <a:spcPts val="0"/>
              </a:spcBef>
              <a:spcAft>
                <a:spcPts val="900"/>
              </a:spcAft>
            </a:pPr>
            <a:r>
              <a:rPr sz="1500" b="0" i="0">
                <a:solidFill>
                  <a:srgbClr val="FFFFFF"/>
                </a:solidFill>
                <a:latin typeface="Arial"/>
              </a:rPr>
              <a:t>D.  Bullish: liquidation drying up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11</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Open interest</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trader with a long futures contract sells it to a new buyer, who takes over the long. Open interest:</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Stays unchanged</a:t>
            </a:r>
          </a:p>
          <a:p>
            <a:pPr algn="l">
              <a:lnSpc>
                <a:spcPct val="115000"/>
              </a:lnSpc>
              <a:spcBef>
                <a:spcPts val="700"/>
              </a:spcBef>
              <a:spcAft>
                <a:spcPts val="0"/>
              </a:spcAft>
            </a:pPr>
            <a:r>
              <a:rPr sz="1600" b="0" i="0">
                <a:solidFill>
                  <a:srgbClr val="1A1A1A"/>
                </a:solidFill>
                <a:latin typeface="Arial"/>
              </a:rPr>
              <a:t>Open interest is unchanged when one side is replaced by a new position, but not both.</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Prices are rising while volume and open interest are both declining. The book reads this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Bearish: shorts covering and longs leaving the market</a:t>
            </a:r>
          </a:p>
          <a:p>
            <a:pPr algn="l">
              <a:lnSpc>
                <a:spcPct val="115000"/>
              </a:lnSpc>
              <a:spcBef>
                <a:spcPts val="700"/>
              </a:spcBef>
              <a:spcAft>
                <a:spcPts val="0"/>
              </a:spcAft>
            </a:pPr>
            <a:r>
              <a:rPr sz="1600" b="0" i="0">
                <a:solidFill>
                  <a:srgbClr val="1A1A1A"/>
                </a:solidFill>
                <a:latin typeface="Arial"/>
              </a:rPr>
              <a:t>Rising prices on declining volume and open interest are bearish, driven by shorts covering and longs leaving.</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11</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25</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count of trades, not shares: one tick is one trade, of any size. Met in Chapter 1's caption and Chapter 3's tick chart.</a:t>
            </a:r>
          </a:p>
        </p:txBody>
      </p:sp>
      <p:sp>
        <p:nvSpPr>
          <p:cNvPr id="10" name="Rectangle 9"/>
          <p:cNvSpPr/>
          <p:nvPr/>
        </p:nvSpPr>
        <p:spPr>
          <a:xfrm>
            <a:off x="777240" y="3401568"/>
            <a:ext cx="64008" cy="6583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7680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Part 1's five trades of 0.1, 0.6, 0.3, 1.2 and 0.2 million shares: volume 2.4 million shares, tick volume 5.</a:t>
            </a:r>
          </a:p>
        </p:txBody>
      </p:sp>
      <p:sp>
        <p:nvSpPr>
          <p:cNvPr id="12" name="Rectangle 11"/>
          <p:cNvSpPr/>
          <p:nvPr/>
        </p:nvSpPr>
        <p:spPr>
          <a:xfrm>
            <a:off x="777240" y="43159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702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3's tick chart counts trades the same way.</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Tick volume as a stand-in for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Where: the over the counter (OTC) foreign exchange (fx) market, where many brokers offer tick volume instead of actual volume. The book does not say why.</a:t>
            </a:r>
          </a:p>
          <a:p>
            <a:pPr algn="l">
              <a:lnSpc>
                <a:spcPct val="118000"/>
              </a:lnSpc>
              <a:spcBef>
                <a:spcPts val="0"/>
              </a:spcBef>
              <a:spcAft>
                <a:spcPts val="1300"/>
              </a:spcAft>
            </a:pPr>
            <a:r>
              <a:rPr sz="2100" b="0" i="0">
                <a:solidFill>
                  <a:srgbClr val="1A1A1A"/>
                </a:solidFill>
                <a:latin typeface="Arial"/>
              </a:rPr>
              <a:t>Strongly correlated: the two rise and fall together. Ours: a busy hour, 900 trades and 60 million traded; a quiet hour, 200 trades and 14 million.</a:t>
            </a:r>
          </a:p>
          <a:p>
            <a:pPr algn="l">
              <a:lnSpc>
                <a:spcPct val="118000"/>
              </a:lnSpc>
              <a:spcBef>
                <a:spcPts val="0"/>
              </a:spcBef>
              <a:spcAft>
                <a:spcPts val="1300"/>
              </a:spcAft>
            </a:pPr>
            <a:r>
              <a:rPr sz="2100" b="0" i="0">
                <a:solidFill>
                  <a:srgbClr val="1A1A1A"/>
                </a:solidFill>
                <a:latin typeface="Arial"/>
              </a:rPr>
              <a:t>So tick volume may be a proxy, a stand-in, for actual volume, for comparing relative levels of overbought and oversold: Part 2's words, never defined.</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tick volume with its own past: 900 trades is not 900 of anything.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The trade counts and amounts in the example are ours, invented.</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25</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Advances, stocks that rose, over declines, stocks that fell; divided by up volume over down volume, the shares each side traded.</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1,500 advances / 1,000 declines = 1.5. Up volume 600 million / down volume 800 million = 0.75. TRIN = 1.5 / 0.75 = 2.0.</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TRIN,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Advances / declines = 1,500 / 1,000 = 1.5 rising stocks for each falling one.</a:t>
            </a:r>
          </a:p>
          <a:p>
            <a:pPr algn="l">
              <a:lnSpc>
                <a:spcPct val="118000"/>
              </a:lnSpc>
              <a:spcBef>
                <a:spcPts val="0"/>
              </a:spcBef>
              <a:spcAft>
                <a:spcPts val="1300"/>
              </a:spcAft>
            </a:pPr>
            <a:r>
              <a:rPr sz="2100" b="0" i="0">
                <a:solidFill>
                  <a:srgbClr val="1A1A1A"/>
                </a:solidFill>
                <a:latin typeface="Arial"/>
              </a:rPr>
              <a:t>2  Up volume / down volume = 600m / 800m = 0.75: the falling stocks traded more shares.</a:t>
            </a:r>
          </a:p>
          <a:p>
            <a:pPr algn="l">
              <a:lnSpc>
                <a:spcPct val="118000"/>
              </a:lnSpc>
              <a:spcBef>
                <a:spcPts val="0"/>
              </a:spcBef>
              <a:spcAft>
                <a:spcPts val="1300"/>
              </a:spcAft>
            </a:pPr>
            <a:r>
              <a:rPr sz="2100" b="0" i="0">
                <a:solidFill>
                  <a:srgbClr val="1A1A1A"/>
                </a:solidFill>
                <a:latin typeface="Arial"/>
              </a:rPr>
              <a:t>3  TRIN = 1.5 / 0.75 = 2.0. Rearranged: down volume per falling stock, 800m / 1,000 = 0.8m, over up volume per rising stock, 600m / 1,500 = 0.4m.</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TRIN of 2.0: each falling stock traded, on average, twice the volume of each rising stock.</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Step 3 and the gold line are our arithmetic; the book never reads one value such as 2.0.</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It names breadth volume, advances, declines, up and down volume and never defines them; our readings. The numbers are ours.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25</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tick: the book never says what it measures, or that it is tick volume. On Figure 6.25 it is the $TICK panel.</a:t>
            </a:r>
          </a:p>
          <a:p>
            <a:pPr algn="l">
              <a:lnSpc>
                <a:spcPct val="105000"/>
              </a:lnSpc>
              <a:spcBef>
                <a:spcPts val="0"/>
              </a:spcBef>
              <a:spcAft>
                <a:spcPts val="1100"/>
              </a:spcAft>
            </a:pPr>
            <a:r>
              <a:rPr sz="1700" b="0" i="0">
                <a:solidFill>
                  <a:srgbClr val="1A1A1A"/>
                </a:solidFill>
                <a:latin typeface="Arial"/>
              </a:rPr>
              <a:t>Short term, the book's rule: tick rising but not overbought, TRIN falling but not oversold: bullish, look for a long entry. The converse is bearish: look for a short.</a:t>
            </a:r>
          </a:p>
          <a:p>
            <a:pPr algn="l">
              <a:lnSpc>
                <a:spcPct val="105000"/>
              </a:lnSpc>
              <a:spcBef>
                <a:spcPts val="0"/>
              </a:spcBef>
              <a:spcAft>
                <a:spcPts val="1100"/>
              </a:spcAft>
            </a:pPr>
            <a:r>
              <a:rPr sz="1700" b="0" i="0">
                <a:solidFill>
                  <a:srgbClr val="1A1A1A"/>
                </a:solidFill>
                <a:latin typeface="Arial"/>
              </a:rPr>
              <a:t>Figure 6.25, the S&amp;P 500: in the box, tick falls to about -1,000, TRIN rises to about 2.2, both labelled oversold. Short-term bullish; the index then rose.</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2910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Overbought, oversold: Part 2's words, never defined by the book.</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6.25</a:t>
            </a:r>
          </a:p>
          <a:p>
            <a:pPr algn="l">
              <a:lnSpc>
                <a:spcPct val="120000"/>
              </a:lnSpc>
              <a:spcBef>
                <a:spcPts val="0"/>
              </a:spcBef>
              <a:spcAft>
                <a:spcPts val="1400"/>
              </a:spcAft>
            </a:pPr>
            <a:r>
              <a:rPr sz="18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 The caption says daily; the chart and the text say 1-minute.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longer-term rule, and the book's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Longer term: tick oversold, above its weekly two-sigma level, with TRIN overbought, near or above 3.0 daily: bullish, look for a long entry.</a:t>
            </a:r>
          </a:p>
          <a:p>
            <a:pPr algn="l">
              <a:lnSpc>
                <a:spcPct val="118000"/>
              </a:lnSpc>
              <a:spcBef>
                <a:spcPts val="0"/>
              </a:spcBef>
              <a:spcAft>
                <a:spcPts val="1300"/>
              </a:spcAft>
            </a:pPr>
            <a:r>
              <a:rPr sz="2100" b="0" i="0">
                <a:solidFill>
                  <a:srgbClr val="1A1A1A"/>
                </a:solidFill>
                <a:latin typeface="Arial"/>
              </a:rPr>
              <a:t>Two sigma: Part 3's sigma line, k = 2. Ours: weekly tick mean 200, sigma 300, line 200 + 2 x 300 = 800; above it, oversold. A daily TRIN of 3.2: overbought.</a:t>
            </a:r>
          </a:p>
          <a:p>
            <a:pPr algn="l">
              <a:lnSpc>
                <a:spcPct val="118000"/>
              </a:lnSpc>
              <a:spcBef>
                <a:spcPts val="0"/>
              </a:spcBef>
              <a:spcAft>
                <a:spcPts val="1300"/>
              </a:spcAft>
            </a:pPr>
            <a:r>
              <a:rPr sz="2100" b="0" i="0">
                <a:solidFill>
                  <a:srgbClr val="1A1A1A"/>
                </a:solidFill>
                <a:latin typeface="Arial"/>
              </a:rPr>
              <a:t>The converse is bearish. Gaps: no reasons for either rule; Figure 6.25's oversold tick sits at its low, not above two sigma.</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text calls a bullish TRIN overbought; Figure 6.25 calls it oversold. Both mean bullish.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weekly tick numbers are ours, in invented units; the book never says what the tick measures.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19 of 25</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Figure 6.26: the S&amp;P 500 falls all afternoon. The boxed TRIN rises from about 0.9 to 1.34: bearish, by the short-term rule.</a:t>
            </a:r>
          </a:p>
          <a:p>
            <a:pPr algn="l">
              <a:lnSpc>
                <a:spcPct val="105000"/>
              </a:lnSpc>
              <a:spcBef>
                <a:spcPts val="0"/>
              </a:spcBef>
              <a:spcAft>
                <a:spcPts val="1100"/>
              </a:spcAft>
            </a:pPr>
            <a:r>
              <a:rPr sz="1800" b="0" i="0">
                <a:solidFill>
                  <a:srgbClr val="1A1A1A"/>
                </a:solidFill>
                <a:latin typeface="Arial"/>
              </a:rPr>
              <a:t>From 1:45 to 2:45 p.m. the tick is largely absent of activity. The figure: absent of uptick action, a word the book does not define.</a:t>
            </a:r>
          </a:p>
        </p:txBody>
      </p:sp>
      <p:sp>
        <p:nvSpPr>
          <p:cNvPr id="8" name="Rectangle 7"/>
          <p:cNvSpPr/>
          <p:nvPr/>
        </p:nvSpPr>
        <p:spPr>
          <a:xfrm>
            <a:off x="777240" y="480060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37176"/>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Together, a short-term bearish signal: look for a short entry.</a:t>
            </a:r>
          </a:p>
        </p:txBody>
      </p:sp>
      <p:sp>
        <p:nvSpPr>
          <p:cNvPr id="10" name="TextBox 9"/>
          <p:cNvSpPr txBox="1"/>
          <p:nvPr/>
        </p:nvSpPr>
        <p:spPr>
          <a:xfrm>
            <a:off x="777240" y="572719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reason a quiet tick is bearish.</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6.26</a:t>
            </a:r>
          </a:p>
          <a:p>
            <a:pPr algn="l">
              <a:lnSpc>
                <a:spcPct val="120000"/>
              </a:lnSpc>
              <a:spcBef>
                <a:spcPts val="0"/>
              </a:spcBef>
              <a:spcAft>
                <a:spcPts val="1400"/>
              </a:spcAft>
            </a:pPr>
            <a:r>
              <a:rPr sz="18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 the TRIN values are read off the figure. Its caption says daily; the times show a 1-minute chart.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Tick volume and the TRIN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One trade of 1,000 contracts and one trade of 1 contract are made. Tick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1,001</a:t>
            </a:r>
          </a:p>
          <a:p>
            <a:pPr algn="l">
              <a:lnSpc>
                <a:spcPct val="112000"/>
              </a:lnSpc>
              <a:spcBef>
                <a:spcPts val="0"/>
              </a:spcBef>
              <a:spcAft>
                <a:spcPts val="900"/>
              </a:spcAft>
            </a:pPr>
            <a:r>
              <a:rPr sz="1500" b="0" i="0">
                <a:solidFill>
                  <a:srgbClr val="FFFFFF"/>
                </a:solidFill>
                <a:latin typeface="Arial"/>
              </a:rPr>
              <a:t>B.  1,000</a:t>
            </a:r>
          </a:p>
          <a:p>
            <a:pPr algn="l">
              <a:lnSpc>
                <a:spcPct val="112000"/>
              </a:lnSpc>
              <a:spcBef>
                <a:spcPts val="0"/>
              </a:spcBef>
              <a:spcAft>
                <a:spcPts val="900"/>
              </a:spcAft>
            </a:pPr>
            <a:r>
              <a:rPr sz="1500" b="0" i="0">
                <a:solidFill>
                  <a:srgbClr val="FFFFFF"/>
                </a:solidFill>
                <a:latin typeface="Arial"/>
              </a:rPr>
              <a:t>C.  1</a:t>
            </a:r>
          </a:p>
          <a:p>
            <a:pPr algn="l">
              <a:lnSpc>
                <a:spcPct val="112000"/>
              </a:lnSpc>
              <a:spcBef>
                <a:spcPts val="0"/>
              </a:spcBef>
              <a:spcAft>
                <a:spcPts val="900"/>
              </a:spcAft>
            </a:pPr>
            <a:r>
              <a:rPr sz="1500" b="0" i="0">
                <a:solidFill>
                  <a:srgbClr val="FFFFFF"/>
                </a:solidFill>
                <a:latin typeface="Arial"/>
              </a:rPr>
              <a:t>D.  2</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Advances 1,200, declines 800, up volume 900 million, down volume 600 million. The TRIN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a:t>
            </a:r>
          </a:p>
          <a:p>
            <a:pPr algn="l">
              <a:lnSpc>
                <a:spcPct val="112000"/>
              </a:lnSpc>
              <a:spcBef>
                <a:spcPts val="0"/>
              </a:spcBef>
              <a:spcAft>
                <a:spcPts val="900"/>
              </a:spcAft>
            </a:pPr>
            <a:r>
              <a:rPr sz="1500" b="0" i="0">
                <a:solidFill>
                  <a:srgbClr val="FFFFFF"/>
                </a:solidFill>
                <a:latin typeface="Arial"/>
              </a:rPr>
              <a:t>B.  1.5</a:t>
            </a:r>
          </a:p>
          <a:p>
            <a:pPr algn="l">
              <a:lnSpc>
                <a:spcPct val="112000"/>
              </a:lnSpc>
              <a:spcBef>
                <a:spcPts val="0"/>
              </a:spcBef>
              <a:spcAft>
                <a:spcPts val="900"/>
              </a:spcAft>
            </a:pPr>
            <a:r>
              <a:rPr sz="1500" b="0" i="0">
                <a:solidFill>
                  <a:srgbClr val="FFFFFF"/>
                </a:solidFill>
                <a:latin typeface="Arial"/>
              </a:rPr>
              <a:t>C.  2.25</a:t>
            </a:r>
          </a:p>
          <a:p>
            <a:pPr algn="l">
              <a:lnSpc>
                <a:spcPct val="112000"/>
              </a:lnSpc>
              <a:spcBef>
                <a:spcPts val="0"/>
              </a:spcBef>
              <a:spcAft>
                <a:spcPts val="900"/>
              </a:spcAft>
            </a:pPr>
            <a:r>
              <a:rPr sz="1500" b="0" i="0">
                <a:solidFill>
                  <a:srgbClr val="FFFFFF"/>
                </a:solidFill>
                <a:latin typeface="Arial"/>
              </a:rPr>
              <a:t>D.  0.67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12</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Tick volume and the TRIN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One trade of 1,000 contracts and one trade of 1 contract are made. Tick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2</a:t>
            </a:r>
          </a:p>
          <a:p>
            <a:pPr algn="l">
              <a:lnSpc>
                <a:spcPct val="115000"/>
              </a:lnSpc>
              <a:spcBef>
                <a:spcPts val="700"/>
              </a:spcBef>
              <a:spcAft>
                <a:spcPts val="0"/>
              </a:spcAft>
            </a:pPr>
            <a:r>
              <a:rPr sz="1600" b="0" i="0">
                <a:solidFill>
                  <a:srgbClr val="1A1A1A"/>
                </a:solidFill>
                <a:latin typeface="Arial"/>
              </a:rPr>
              <a:t>One tick represents one trade, whatever its size: two trades, a tick volume of 2.</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Advances 1,200, declines 800, up volume 900 million, down volume 600 million. The TRIN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1.0</a:t>
            </a:r>
          </a:p>
          <a:p>
            <a:pPr algn="l">
              <a:lnSpc>
                <a:spcPct val="115000"/>
              </a:lnSpc>
              <a:spcBef>
                <a:spcPts val="700"/>
              </a:spcBef>
              <a:spcAft>
                <a:spcPts val="0"/>
              </a:spcAft>
            </a:pPr>
            <a:r>
              <a:rPr sz="1600" b="0" i="0">
                <a:solidFill>
                  <a:srgbClr val="1A1A1A"/>
                </a:solidFill>
                <a:latin typeface="Arial"/>
              </a:rPr>
              <a:t>(1,200 / 800) / (900 / 600) = 1.5 / 1.5 = 1.0.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12</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20 of 25</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One volume record added up two ways. By time: the usual bars, one a day. By price: sideways bars, one per price band.</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Our chart, 100 days: 68 million shares at PHP 48 to 50, the longest sideways bar; 12 million at PHP 54 to 56. Five days worked: next slide.</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Adding up volume by price,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21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five days: closes of PHP 49.10, 49.80, 51.20, 48.60 and 50.50, on 2, 3, 1, 4 and 2 million shares.</a:t>
            </a:r>
          </a:p>
          <a:p>
            <a:pPr algn="l">
              <a:lnSpc>
                <a:spcPct val="118000"/>
              </a:lnSpc>
              <a:spcBef>
                <a:spcPts val="0"/>
              </a:spcBef>
              <a:spcAft>
                <a:spcPts val="1300"/>
              </a:spcAft>
            </a:pPr>
            <a:r>
              <a:rPr sz="2100" b="0" i="0">
                <a:solidFill>
                  <a:srgbClr val="1A1A1A"/>
                </a:solidFill>
                <a:latin typeface="Arial"/>
              </a:rPr>
              <a:t>By time: one bar a day, 2, 3, 1, 4, 2 million: the usual volume panel.</a:t>
            </a:r>
          </a:p>
          <a:p>
            <a:pPr algn="l">
              <a:lnSpc>
                <a:spcPct val="118000"/>
              </a:lnSpc>
              <a:spcBef>
                <a:spcPts val="0"/>
              </a:spcBef>
              <a:spcAft>
                <a:spcPts val="1300"/>
              </a:spcAft>
            </a:pPr>
            <a:r>
              <a:rPr sz="2100" b="0" i="0">
                <a:solidFill>
                  <a:srgbClr val="1A1A1A"/>
                </a:solidFill>
                <a:latin typeface="Arial"/>
              </a:rPr>
              <a:t>By price: each day's volume goes in the band of its close. PHP 48 to 50: 2 + 3 + 4 = 9 million. PHP 50 to 52: 1 + 2 = 3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same 12 million shares, split by when and by what price. Using both: two-dimensional volume analysis.</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does not say how a day's volume is split across its prices; ours puts it all at the close.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five days, their closes and their volumes are ours, invented.</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22 of 25</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6.27, the iShares Silver Trust: the sideways bars are longest around $17, a large volume turnover.</a:t>
            </a:r>
          </a:p>
          <a:p>
            <a:pPr algn="l">
              <a:lnSpc>
                <a:spcPct val="105000"/>
              </a:lnSpc>
              <a:spcBef>
                <a:spcPts val="0"/>
              </a:spcBef>
              <a:spcAft>
                <a:spcPts val="1100"/>
              </a:spcAft>
            </a:pPr>
            <a:r>
              <a:rPr sz="1700" b="0" i="0">
                <a:solidFill>
                  <a:srgbClr val="1A1A1A"/>
                </a:solidFill>
                <a:latin typeface="Arial"/>
              </a:rPr>
              <a:t>So $17 represents a significant support: a floor where a fall may stop. The figure: significant capital commitment.</a:t>
            </a:r>
          </a:p>
        </p:txBody>
      </p:sp>
      <p:sp>
        <p:nvSpPr>
          <p:cNvPr id="8" name="Rectangle 7"/>
          <p:cNvSpPr/>
          <p:nvPr/>
        </p:nvSpPr>
        <p:spPr>
          <a:xfrm>
            <a:off x="777240" y="4128516"/>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Ordinary volume bars cannot show this: they say when shares traded, not at what price.</a:t>
            </a:r>
          </a:p>
        </p:txBody>
      </p:sp>
      <p:sp>
        <p:nvSpPr>
          <p:cNvPr id="10" name="TextBox 9"/>
          <p:cNvSpPr txBox="1"/>
          <p:nvPr/>
        </p:nvSpPr>
        <p:spPr>
          <a:xfrm>
            <a:off x="777240" y="5298948"/>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called this price-based volume; not Part 1's price-based oscillators. The book does not discuss the top panel.</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6.27</a:t>
            </a:r>
          </a:p>
          <a:p>
            <a:pPr algn="l">
              <a:lnSpc>
                <a:spcPct val="120000"/>
              </a:lnSpc>
              <a:spcBef>
                <a:spcPts val="0"/>
              </a:spcBef>
              <a:spcAft>
                <a:spcPts val="1400"/>
              </a:spcAft>
            </a:pPr>
            <a:r>
              <a:rPr sz="18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4's Figure 4.19 showed the same thing and called it price-based volume.</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23 of 25</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6.28, 3M: the longest sideways bars, bracketed, run from $77 to $86. More shares traded there than at any other price: the most traded range.</a:t>
            </a:r>
          </a:p>
          <a:p>
            <a:pPr algn="l">
              <a:lnSpc>
                <a:spcPct val="105000"/>
              </a:lnSpc>
              <a:spcBef>
                <a:spcPts val="0"/>
              </a:spcBef>
              <a:spcAft>
                <a:spcPts val="1100"/>
              </a:spcAft>
            </a:pPr>
            <a:r>
              <a:rPr sz="1700" b="0" i="0">
                <a:solidFill>
                  <a:srgbClr val="1A1A1A"/>
                </a:solidFill>
                <a:latin typeface="Arial"/>
              </a:rPr>
              <a:t>Some resistance comes in at $90 to $92, says the book. It does not say how that level was found.</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These price ranges are potential future support and resistance levels.</a:t>
            </a:r>
          </a:p>
        </p:txBody>
      </p:sp>
      <p:sp>
        <p:nvSpPr>
          <p:cNvPr id="10" name="TextBox 9"/>
          <p:cNvSpPr txBox="1"/>
          <p:nvPr/>
        </p:nvSpPr>
        <p:spPr>
          <a:xfrm>
            <a:off x="777240" y="529666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Also marked: bearish confirmation, price falling on rising volume, and bearish divergence, price rising on falling volume: Part 1's names.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6.28</a:t>
            </a:r>
          </a:p>
          <a:p>
            <a:pPr algn="l">
              <a:lnSpc>
                <a:spcPct val="120000"/>
              </a:lnSpc>
              <a:spcBef>
                <a:spcPts val="0"/>
              </a:spcBef>
              <a:spcAft>
                <a:spcPts val="1400"/>
              </a:spcAft>
            </a:pPr>
            <a:r>
              <a:rPr sz="1800" b="0" i="0">
                <a:solidFill>
                  <a:srgbClr val="1A1A1A"/>
                </a:solidFill>
                <a:latin typeface="Palatino"/>
              </a:rPr>
              <a:t>The daily chart of 3M with volume by price as horizontal bars, the longest bracketed between about $77 and $86 and labelled maximum capital commitment in this range, an important support zone in the future.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24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Locate the largest volume by price range: ours, PHP 48 to 50, 68 million.</a:t>
            </a:r>
          </a:p>
          <a:p>
            <a:pPr algn="l">
              <a:lnSpc>
                <a:spcPct val="105000"/>
              </a:lnSpc>
              <a:spcBef>
                <a:spcPts val="0"/>
              </a:spcBef>
              <a:spcAft>
                <a:spcPts val="1100"/>
              </a:spcAft>
            </a:pPr>
            <a:r>
              <a:rPr sz="1600" b="0" i="0">
                <a:solidFill>
                  <a:srgbClr val="1A1A1A"/>
                </a:solidFill>
                <a:latin typeface="Arial"/>
              </a:rPr>
              <a:t>2  Locate the largest volume by time intervals: ours, bursts of 3.4 to 4.1 million a day.</a:t>
            </a:r>
          </a:p>
          <a:p>
            <a:pPr algn="l">
              <a:lnSpc>
                <a:spcPct val="105000"/>
              </a:lnSpc>
              <a:spcBef>
                <a:spcPts val="0"/>
              </a:spcBef>
              <a:spcAft>
                <a:spcPts val="1100"/>
              </a:spcAft>
            </a:pPr>
            <a:r>
              <a:rPr sz="1600" b="0" i="0">
                <a:solidFill>
                  <a:srgbClr val="1A1A1A"/>
                </a:solidFill>
                <a:latin typeface="Arial"/>
              </a:rPr>
              <a:t>3  Find where the two intersect: the two boxes.</a:t>
            </a:r>
          </a:p>
          <a:p>
            <a:pPr algn="l">
              <a:lnSpc>
                <a:spcPct val="105000"/>
              </a:lnSpc>
              <a:spcBef>
                <a:spcPts val="0"/>
              </a:spcBef>
              <a:spcAft>
                <a:spcPts val="1100"/>
              </a:spcAft>
            </a:pPr>
            <a:r>
              <a:rPr sz="1600" b="0" i="0">
                <a:solidFill>
                  <a:srgbClr val="1A1A1A"/>
                </a:solidFill>
                <a:latin typeface="Arial"/>
              </a:rPr>
              <a:t>4  The closest peak above the intersection is resistance, PHP 50.80; the closest trough below, support, PHP 47.50.</a:t>
            </a:r>
          </a:p>
        </p:txBody>
      </p:sp>
      <p:sp>
        <p:nvSpPr>
          <p:cNvPr id="8" name="Rectangle 7"/>
          <p:cNvSpPr/>
          <p:nvPr/>
        </p:nvSpPr>
        <p:spPr>
          <a:xfrm>
            <a:off x="777240" y="487375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1032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Potentially the most significant and reliable support and resistance.</a:t>
            </a:r>
          </a:p>
        </p:txBody>
      </p:sp>
      <p:sp>
        <p:nvSpPr>
          <p:cNvPr id="10" name="TextBox 9"/>
          <p:cNvSpPr txBox="1"/>
          <p:nvPr/>
        </p:nvSpPr>
        <p:spPr>
          <a:xfrm>
            <a:off x="777240" y="573938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 reason is given, and no size for largest: picked by eye.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25 of 25</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$74 to $80: the book's range of most significant volume by price, the dark sideways bars.</a:t>
            </a:r>
          </a:p>
          <a:p>
            <a:pPr algn="l">
              <a:lnSpc>
                <a:spcPct val="105000"/>
              </a:lnSpc>
              <a:spcBef>
                <a:spcPts val="0"/>
              </a:spcBef>
              <a:spcAft>
                <a:spcPts val="1100"/>
              </a:spcAft>
            </a:pPr>
            <a:r>
              <a:rPr sz="1700" b="0" i="0">
                <a:solidFill>
                  <a:srgbClr val="1A1A1A"/>
                </a:solidFill>
                <a:latin typeface="Arial"/>
              </a:rPr>
              <a:t>2 and 3  The largest volume by time, the dark columns, cross it in two white boxes.</a:t>
            </a:r>
          </a:p>
          <a:p>
            <a:pPr algn="l">
              <a:lnSpc>
                <a:spcPct val="105000"/>
              </a:lnSpc>
              <a:spcBef>
                <a:spcPts val="0"/>
              </a:spcBef>
              <a:spcAft>
                <a:spcPts val="1100"/>
              </a:spcAft>
            </a:pPr>
            <a:r>
              <a:rPr sz="1700" b="0" i="0">
                <a:solidFill>
                  <a:srgbClr val="1A1A1A"/>
                </a:solidFill>
                <a:latin typeface="Arial"/>
              </a:rPr>
              <a:t>4  Closest peak above, about $80: resistance. Closest trough below, about $72.50: support.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act as effective barriers to price on the daily chart of 3M.</a:t>
            </a:r>
          </a:p>
        </p:txBody>
      </p:sp>
      <p:sp>
        <p:nvSpPr>
          <p:cNvPr id="10" name="TextBox 9"/>
          <p:cNvSpPr txBox="1"/>
          <p:nvPr/>
        </p:nvSpPr>
        <p:spPr>
          <a:xfrm>
            <a:off x="777240" y="546125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6.28 gave 3M's most traded range as $77 to $86. The book does not say why they differ.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6.29</a:t>
            </a:r>
          </a:p>
          <a:p>
            <a:pPr algn="l">
              <a:lnSpc>
                <a:spcPct val="120000"/>
              </a:lnSpc>
              <a:spcBef>
                <a:spcPts val="0"/>
              </a:spcBef>
              <a:spcAft>
                <a:spcPts val="1400"/>
              </a:spcAft>
            </a:pPr>
            <a:r>
              <a:rPr sz="18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 the two levels are read off the figure by eye.</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Two-dimensional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by price identifies:</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total volume over a time interval</a:t>
            </a:r>
          </a:p>
          <a:p>
            <a:pPr algn="l">
              <a:lnSpc>
                <a:spcPct val="112000"/>
              </a:lnSpc>
              <a:spcBef>
                <a:spcPts val="0"/>
              </a:spcBef>
              <a:spcAft>
                <a:spcPts val="900"/>
              </a:spcAft>
            </a:pPr>
            <a:r>
              <a:rPr sz="1500" b="0" i="0">
                <a:solidFill>
                  <a:srgbClr val="FFFFFF"/>
                </a:solidFill>
                <a:latin typeface="Arial"/>
              </a:rPr>
              <a:t>B.  The number of trades at each price</a:t>
            </a:r>
          </a:p>
          <a:p>
            <a:pPr algn="l">
              <a:lnSpc>
                <a:spcPct val="112000"/>
              </a:lnSpc>
              <a:spcBef>
                <a:spcPts val="0"/>
              </a:spcBef>
              <a:spcAft>
                <a:spcPts val="900"/>
              </a:spcAft>
            </a:pPr>
            <a:r>
              <a:rPr sz="1500" b="0" i="0">
                <a:solidFill>
                  <a:srgbClr val="FFFFFF"/>
                </a:solidFill>
                <a:latin typeface="Arial"/>
              </a:rPr>
              <a:t>C.  The total volume traded at each price level</a:t>
            </a:r>
          </a:p>
          <a:p>
            <a:pPr algn="l">
              <a:lnSpc>
                <a:spcPct val="112000"/>
              </a:lnSpc>
              <a:spcBef>
                <a:spcPts val="0"/>
              </a:spcBef>
              <a:spcAft>
                <a:spcPts val="900"/>
              </a:spcAft>
            </a:pPr>
            <a:r>
              <a:rPr sz="1500" b="0" i="0">
                <a:solidFill>
                  <a:srgbClr val="FFFFFF"/>
                </a:solidFill>
                <a:latin typeface="Arial"/>
              </a:rPr>
              <a:t>D.  The open interest at each price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book's two-dimensional method, the most significant resistance is:</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highest price on the chart</a:t>
            </a:r>
          </a:p>
          <a:p>
            <a:pPr algn="l">
              <a:lnSpc>
                <a:spcPct val="112000"/>
              </a:lnSpc>
              <a:spcBef>
                <a:spcPts val="0"/>
              </a:spcBef>
              <a:spcAft>
                <a:spcPts val="900"/>
              </a:spcAft>
            </a:pPr>
            <a:r>
              <a:rPr sz="1500" b="0" i="0">
                <a:solidFill>
                  <a:srgbClr val="FFFFFF"/>
                </a:solidFill>
                <a:latin typeface="Arial"/>
              </a:rPr>
              <a:t>B.  The top of the largest volume by price range</a:t>
            </a:r>
          </a:p>
          <a:p>
            <a:pPr algn="l">
              <a:lnSpc>
                <a:spcPct val="112000"/>
              </a:lnSpc>
              <a:spcBef>
                <a:spcPts val="0"/>
              </a:spcBef>
              <a:spcAft>
                <a:spcPts val="900"/>
              </a:spcAft>
            </a:pPr>
            <a:r>
              <a:rPr sz="1500" b="0" i="0">
                <a:solidFill>
                  <a:srgbClr val="FFFFFF"/>
                </a:solidFill>
                <a:latin typeface="Arial"/>
              </a:rPr>
              <a:t>C.  The level of the largest volume by time bar</a:t>
            </a:r>
          </a:p>
          <a:p>
            <a:pPr algn="l">
              <a:lnSpc>
                <a:spcPct val="112000"/>
              </a:lnSpc>
              <a:spcBef>
                <a:spcPts val="0"/>
              </a:spcBef>
              <a:spcAft>
                <a:spcPts val="900"/>
              </a:spcAft>
            </a:pPr>
            <a:r>
              <a:rPr sz="1500" b="0" i="0">
                <a:solidFill>
                  <a:srgbClr val="FFFFFF"/>
                </a:solidFill>
                <a:latin typeface="Arial"/>
              </a:rPr>
              <a:t>D.  The closest peak above the area of intersection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13</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Two-dimensional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Volume by price identifies: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total volume traded at each price level</a:t>
            </a:r>
          </a:p>
          <a:p>
            <a:pPr algn="l">
              <a:lnSpc>
                <a:spcPct val="115000"/>
              </a:lnSpc>
              <a:spcBef>
                <a:spcPts val="700"/>
              </a:spcBef>
              <a:spcAft>
                <a:spcPts val="0"/>
              </a:spcAft>
            </a:pPr>
            <a:r>
              <a:rPr sz="1600" b="0" i="0">
                <a:solidFill>
                  <a:srgbClr val="1A1A1A"/>
                </a:solidFill>
                <a:latin typeface="Arial"/>
              </a:rPr>
              <a:t>Volume by price identifies the total volume traded at each price level.</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the book's two-dimensional method, the most significant resistance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closest peak above the area of intersection</a:t>
            </a:r>
          </a:p>
          <a:p>
            <a:pPr algn="l">
              <a:lnSpc>
                <a:spcPct val="115000"/>
              </a:lnSpc>
              <a:spcBef>
                <a:spcPts val="700"/>
              </a:spcBef>
              <a:spcAft>
                <a:spcPts val="0"/>
              </a:spcAft>
            </a:pPr>
            <a:r>
              <a:rPr sz="1600" b="0" i="0">
                <a:solidFill>
                  <a:srgbClr val="1A1A1A"/>
                </a:solidFill>
                <a:latin typeface="Arial"/>
              </a:rPr>
              <a:t>Locate the intersection of the largest volume by price and by time; the closest peak above it is the resistance.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13</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14</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Chapter 5's characteristic 15, volume spread action, set bar range against volume four ways.</a:t>
            </a:r>
          </a:p>
          <a:p>
            <a:pPr algn="l">
              <a:lnSpc>
                <a:spcPct val="105000"/>
              </a:lnSpc>
              <a:spcBef>
                <a:spcPts val="0"/>
              </a:spcBef>
              <a:spcAft>
                <a:spcPts val="1100"/>
              </a:spcAft>
            </a:pPr>
            <a:r>
              <a:rPr sz="1900" b="0" i="0">
                <a:solidFill>
                  <a:srgbClr val="1A1A1A"/>
                </a:solidFill>
                <a:latin typeface="Arial"/>
              </a:rPr>
              <a:t>Here the book uses the four to forecast potential breakouts and reversals, and names each bar.</a:t>
            </a:r>
          </a:p>
          <a:p>
            <a:pPr algn="l">
              <a:lnSpc>
                <a:spcPct val="105000"/>
              </a:lnSpc>
              <a:spcBef>
                <a:spcPts val="0"/>
              </a:spcBef>
              <a:spcAft>
                <a:spcPts val="1100"/>
              </a:spcAft>
            </a:pPr>
            <a:r>
              <a:rPr sz="1900" b="0" i="0">
                <a:solidFill>
                  <a:srgbClr val="1A1A1A"/>
                </a:solidFill>
                <a:latin typeface="Arial"/>
              </a:rPr>
              <a:t>Spread means bar range, as in Chapter 5: not Chapter 3's bid-ask spread.</a:t>
            </a:r>
          </a:p>
        </p:txBody>
      </p:sp>
      <p:sp>
        <p:nvSpPr>
          <p:cNvPr id="8" name="Rectangle 7"/>
          <p:cNvSpPr/>
          <p:nvPr/>
        </p:nvSpPr>
        <p:spPr>
          <a:xfrm>
            <a:off x="777240" y="4485132"/>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610819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Chapter 5's squat bar is the High Volume Reversal Bar.</a:t>
            </a:r>
          </a:p>
        </p:txBody>
      </p:sp>
      <p:sp>
        <p:nvSpPr>
          <p:cNvPr id="10" name="TextBox 9"/>
          <p:cNvSpPr txBox="1"/>
          <p:nvPr/>
        </p:nvSpPr>
        <p:spPr>
          <a:xfrm>
            <a:off x="777240" y="5442204"/>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6 reads two cases more strongly: both reversal bars. Chapter 5 called the large range on low volume only trend inhibiting.</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6.30</a:t>
            </a:r>
          </a:p>
          <a:p>
            <a:pPr algn="l">
              <a:lnSpc>
                <a:spcPct val="120000"/>
              </a:lnSpc>
              <a:spcBef>
                <a:spcPts val="0"/>
              </a:spcBef>
              <a:spcAft>
                <a:spcPts val="1400"/>
              </a:spcAft>
            </a:pPr>
            <a:r>
              <a:rPr sz="1800" b="0" i="0">
                <a:solidFill>
                  <a:srgbClr val="1A1A1A"/>
                </a:solidFill>
                <a:latin typeface="Palatino"/>
              </a:rPr>
              <a:t>Four numbered pairs, each an empty box for the bar range above a black box for the volume: 1 a short range on low volume, 2 a short range on high volume, 3 a tall range on low volume, 4 a tall range on high volume.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against this course's Chapter 5, characteristic 15. Spread is the book's word for bar range here.</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for a bar's range against its volume: narrow or wide, on low or high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fast uptrend's usual bar is PHP 1.00 on 2 million shares. A PHP 0.20 bar on 5 million: narrow range on high volume.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High Volume Reversal Bar: strong reversal potential. Were the volume buying, the range would be wider: sellers are in control. Bearish in an uptrend, the converse in a downtrend.</a:t>
            </a:r>
          </a:p>
          <a:p>
            <a:pPr algn="l">
              <a:lnSpc>
                <a:spcPct val="105000"/>
              </a:lnSpc>
              <a:spcBef>
                <a:spcPts val="0"/>
              </a:spcBef>
              <a:spcAft>
                <a:spcPts val="1100"/>
              </a:spcAft>
            </a:pPr>
            <a:r>
              <a:rPr sz="1700" b="0" i="0">
                <a:solidFill>
                  <a:srgbClr val="1A1A1A"/>
                </a:solidFill>
                <a:latin typeface="Arial"/>
              </a:rPr>
              <a:t>Low Volume Reversal Bar: a big move on little participation. The longer the bar, the more bearish in an uptrend, bullish in a downtrend.</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Too little movement for the volume, or too little volume for the move.</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called a large range on low volume only trend inhibiting.</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i.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a lack of participation. In a strong, rapid trend, a potential reversal; in a weak to average one, a point of rest.</a:t>
            </a:r>
          </a:p>
          <a:p>
            <a:pPr algn="l">
              <a:lnSpc>
                <a:spcPct val="105000"/>
              </a:lnSpc>
              <a:spcBef>
                <a:spcPts val="0"/>
              </a:spcBef>
              <a:spcAft>
                <a:spcPts val="1100"/>
              </a:spcAft>
            </a:pPr>
            <a:r>
              <a:rPr sz="1700" b="0" i="0">
                <a:solidFill>
                  <a:srgbClr val="1A1A1A"/>
                </a:solidFill>
                <a:latin typeface="Arial"/>
              </a:rPr>
              <a:t>High Volume Continuation Bar: a big move on very large participation. Bullish in an uptrend, bearish in a downtrend.</a:t>
            </a:r>
          </a:p>
        </p:txBody>
      </p:sp>
      <p:sp>
        <p:nvSpPr>
          <p:cNvPr id="8" name="Rectangle 7"/>
          <p:cNvSpPr/>
          <p:nvPr/>
        </p:nvSpPr>
        <p:spPr>
          <a:xfrm>
            <a:off x="777240" y="4128516"/>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bar's meaning depends on the trend's speed; the continuation bar continues whichever trend it is in.</a:t>
            </a:r>
          </a:p>
        </p:txBody>
      </p:sp>
      <p:sp>
        <p:nvSpPr>
          <p:cNvPr id="10" name="TextBox 9"/>
          <p:cNvSpPr txBox="1"/>
          <p:nvPr/>
        </p:nvSpPr>
        <p:spPr>
          <a:xfrm>
            <a:off x="777240" y="529894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small range, low volume, trend inhibiting; large range, large volume, trend promoting.</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 range and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a bar has a narrow range on very large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High Volume Continuation Bar</a:t>
            </a:r>
          </a:p>
          <a:p>
            <a:pPr algn="l">
              <a:lnSpc>
                <a:spcPct val="112000"/>
              </a:lnSpc>
              <a:spcBef>
                <a:spcPts val="0"/>
              </a:spcBef>
              <a:spcAft>
                <a:spcPts val="900"/>
              </a:spcAft>
            </a:pPr>
            <a:r>
              <a:rPr sz="1500" b="0" i="0">
                <a:solidFill>
                  <a:srgbClr val="FFFFFF"/>
                </a:solidFill>
                <a:latin typeface="Arial"/>
              </a:rPr>
              <a:t>B.  A Low Volume Rest Bar</a:t>
            </a:r>
          </a:p>
          <a:p>
            <a:pPr algn="l">
              <a:lnSpc>
                <a:spcPct val="112000"/>
              </a:lnSpc>
              <a:spcBef>
                <a:spcPts val="0"/>
              </a:spcBef>
              <a:spcAft>
                <a:spcPts val="900"/>
              </a:spcAft>
            </a:pPr>
            <a:r>
              <a:rPr sz="1500" b="0" i="0">
                <a:solidFill>
                  <a:srgbClr val="FFFFFF"/>
                </a:solidFill>
                <a:latin typeface="Arial"/>
              </a:rPr>
              <a:t>C.  A High Volume Reversal Bar</a:t>
            </a:r>
          </a:p>
          <a:p>
            <a:pPr algn="l">
              <a:lnSpc>
                <a:spcPct val="112000"/>
              </a:lnSpc>
              <a:spcBef>
                <a:spcPts val="0"/>
              </a:spcBef>
              <a:spcAft>
                <a:spcPts val="900"/>
              </a:spcAft>
            </a:pPr>
            <a:r>
              <a:rPr sz="1500" b="0" i="0">
                <a:solidFill>
                  <a:srgbClr val="FFFFFF"/>
                </a:solidFill>
                <a:latin typeface="Arial"/>
              </a:rPr>
              <a:t>D.  A Low Volume Reversal Bar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Low Volume Rest Bar appears in a weak to average trend. It tends to indicate: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point of rest</a:t>
            </a:r>
          </a:p>
          <a:p>
            <a:pPr algn="l">
              <a:lnSpc>
                <a:spcPct val="112000"/>
              </a:lnSpc>
              <a:spcBef>
                <a:spcPts val="0"/>
              </a:spcBef>
              <a:spcAft>
                <a:spcPts val="900"/>
              </a:spcAft>
            </a:pPr>
            <a:r>
              <a:rPr sz="1500" b="0" i="0">
                <a:solidFill>
                  <a:srgbClr val="FFFFFF"/>
                </a:solidFill>
                <a:latin typeface="Arial"/>
              </a:rPr>
              <a:t>B.  A strong reversal</a:t>
            </a:r>
          </a:p>
          <a:p>
            <a:pPr algn="l">
              <a:lnSpc>
                <a:spcPct val="112000"/>
              </a:lnSpc>
              <a:spcBef>
                <a:spcPts val="0"/>
              </a:spcBef>
              <a:spcAft>
                <a:spcPts val="900"/>
              </a:spcAft>
            </a:pPr>
            <a:r>
              <a:rPr sz="1500" b="0" i="0">
                <a:solidFill>
                  <a:srgbClr val="FFFFFF"/>
                </a:solidFill>
                <a:latin typeface="Arial"/>
              </a:rPr>
              <a:t>C.  A continuation on heavy buying</a:t>
            </a:r>
          </a:p>
          <a:p>
            <a:pPr algn="l">
              <a:lnSpc>
                <a:spcPct val="112000"/>
              </a:lnSpc>
              <a:spcBef>
                <a:spcPts val="0"/>
              </a:spcBef>
              <a:spcAft>
                <a:spcPts val="900"/>
              </a:spcAft>
            </a:pPr>
            <a:r>
              <a:rPr sz="1500" b="0" i="0">
                <a:solidFill>
                  <a:srgbClr val="FFFFFF"/>
                </a:solidFill>
                <a:latin typeface="Arial"/>
              </a:rPr>
              <a:t>D.  A selling climax</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14</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 range and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a bar has a narrow range on very large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High Volume Reversal Bar</a:t>
            </a:r>
          </a:p>
          <a:p>
            <a:pPr algn="l">
              <a:lnSpc>
                <a:spcPct val="115000"/>
              </a:lnSpc>
              <a:spcBef>
                <a:spcPts val="700"/>
              </a:spcBef>
              <a:spcAft>
                <a:spcPts val="0"/>
              </a:spcAft>
            </a:pPr>
            <a:r>
              <a:rPr sz="1600" b="0" i="0">
                <a:solidFill>
                  <a:srgbClr val="1A1A1A"/>
                </a:solidFill>
                <a:latin typeface="Arial"/>
              </a:rPr>
              <a:t>Narrow range on high volume is the High Volume Reversal Bar: sellers taking control, bearish in an uptrend.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Low Volume Rest Bar appears in a weak to average trend. It tends to indicate: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point of rest</a:t>
            </a:r>
          </a:p>
          <a:p>
            <a:pPr algn="l">
              <a:lnSpc>
                <a:spcPct val="115000"/>
              </a:lnSpc>
              <a:spcBef>
                <a:spcPts val="700"/>
              </a:spcBef>
              <a:spcAft>
                <a:spcPts val="0"/>
              </a:spcAft>
            </a:pPr>
            <a:r>
              <a:rPr sz="1600" b="0" i="0">
                <a:solidFill>
                  <a:srgbClr val="1A1A1A"/>
                </a:solidFill>
                <a:latin typeface="Arial"/>
              </a:rPr>
              <a:t>In weak to average trends the rest bar tends to indicate a point of rest; in strong, rapid trends,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14</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Two narrow range candlesticks on high volume, at Points 1 and 2.</a:t>
            </a:r>
          </a:p>
          <a:p>
            <a:pPr algn="l">
              <a:lnSpc>
                <a:spcPct val="105000"/>
              </a:lnSpc>
              <a:spcBef>
                <a:spcPts val="0"/>
              </a:spcBef>
              <a:spcAft>
                <a:spcPts val="1100"/>
              </a:spcAft>
            </a:pPr>
            <a:r>
              <a:rPr sz="1800" b="0" i="0">
                <a:solidFill>
                  <a:srgbClr val="1A1A1A"/>
                </a:solidFill>
                <a:latin typeface="Arial"/>
              </a:rPr>
              <a:t>After each, price reverses rapidly.</a:t>
            </a:r>
          </a:p>
          <a:p>
            <a:pPr algn="l">
              <a:lnSpc>
                <a:spcPct val="105000"/>
              </a:lnSpc>
              <a:spcBef>
                <a:spcPts val="0"/>
              </a:spcBef>
              <a:spcAft>
                <a:spcPts val="1100"/>
              </a:spcAft>
            </a:pPr>
            <a:r>
              <a:rPr sz="1800" b="0" i="0">
                <a:solidFill>
                  <a:srgbClr val="1A1A1A"/>
                </a:solidFill>
                <a:latin typeface="Arial"/>
              </a:rPr>
              <a:t>Also: in August a low volume breakout signal at a descending triangle's apex, then a volume surge.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Narrow bar, heavy volume, rapid reversal.</a:t>
            </a:r>
          </a:p>
        </p:txBody>
      </p:sp>
      <p:sp>
        <p:nvSpPr>
          <p:cNvPr id="10" name="TextBox 9"/>
          <p:cNvSpPr txBox="1"/>
          <p:nvPr/>
        </p:nvSpPr>
        <p:spPr>
          <a:xfrm>
            <a:off x="777240" y="531571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Apex: where the triangle's lines meet. The curved lines are Bollinger Bands, not discussed. After Point 2 the reversal runs past the chart's edge.</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PowerShares DB U.S. Dollar Bullish Fund. Narrow range candlesticks on high volume are circled at 1, near a low, and at 2, near a high, with lines down to their tall volume bars. At the left a triangle narrows into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Descending triangle: named in Chapter 4; its shape is in the book's Chapter 13.</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narrow range candlestick on high volume, around the beginning of November.</a:t>
            </a:r>
          </a:p>
          <a:p>
            <a:pPr algn="l">
              <a:lnSpc>
                <a:spcPct val="105000"/>
              </a:lnSpc>
              <a:spcBef>
                <a:spcPts val="0"/>
              </a:spcBef>
              <a:spcAft>
                <a:spcPts val="1100"/>
              </a:spcAft>
            </a:pPr>
            <a:r>
              <a:rPr sz="2000" b="0" i="0">
                <a:solidFill>
                  <a:srgbClr val="1A1A1A"/>
                </a:solidFill>
                <a:latin typeface="Arial"/>
              </a:rPr>
              <a:t>It led to a significant rebound in price.</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converse case: a high volume reversal bar in a decline is bullish.</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high volume reversal bar around May 23, 2011, after bearish divergence in volume and on the MACD.</a:t>
            </a:r>
          </a:p>
          <a:p>
            <a:pPr algn="l">
              <a:lnSpc>
                <a:spcPct val="105000"/>
              </a:lnSpc>
              <a:spcBef>
                <a:spcPts val="0"/>
              </a:spcBef>
              <a:spcAft>
                <a:spcPts val="1100"/>
              </a:spcAft>
            </a:pPr>
            <a:r>
              <a:rPr sz="1800" b="0" i="0">
                <a:solidFill>
                  <a:srgbClr val="1A1A1A"/>
                </a:solidFill>
                <a:latin typeface="Arial"/>
              </a:rPr>
              <a:t>It is potentially more reliable because it formed within a larger downtrend.</a:t>
            </a:r>
          </a:p>
          <a:p>
            <a:pPr algn="l">
              <a:lnSpc>
                <a:spcPct val="105000"/>
              </a:lnSpc>
              <a:spcBef>
                <a:spcPts val="0"/>
              </a:spcBef>
              <a:spcAft>
                <a:spcPts val="1100"/>
              </a:spcAft>
            </a:pPr>
            <a:r>
              <a:rPr sz="1800" b="0" i="0">
                <a:solidFill>
                  <a:srgbClr val="1A1A1A"/>
                </a:solidFill>
                <a:latin typeface="Arial"/>
              </a:rPr>
              <a:t>At Point X, a high volume continuation bar. Continuation bars too are more reliable in the direction of the predominant trend.</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bar that agrees with the larger trend is the more reliable.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PowerShares DB U.S. Dollar Bullish Fund in a long decline under its moving averages, with a circled high volume reversal bar at a short rally's top in late May, a falling line over volume and the MACD leading up to it, and a high volume continuation bar marked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MACD is used here and not taught; Chapter 4 met it. The figure's RSI panel and two moving averages are not discussed.</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high volume reversal bar around the end of October 2011.</a:t>
            </a:r>
          </a:p>
          <a:p>
            <a:pPr algn="l">
              <a:lnSpc>
                <a:spcPct val="105000"/>
              </a:lnSpc>
              <a:spcBef>
                <a:spcPts val="0"/>
              </a:spcBef>
              <a:spcAft>
                <a:spcPts val="1100"/>
              </a:spcAft>
            </a:pPr>
            <a:r>
              <a:rPr sz="2000" b="0" i="0">
                <a:solidFill>
                  <a:srgbClr val="1A1A1A"/>
                </a:solidFill>
                <a:latin typeface="Arial"/>
              </a:rPr>
              <a:t>It occurred at a historically overextended volume level, drawn on the chart.</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Two signals agree: the reversal bar, and Part 2's overextended volume.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14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Chapter 3: a constant volume chart draws a new bar once a set volume has traded.</a:t>
            </a:r>
          </a:p>
          <a:p>
            <a:pPr algn="l">
              <a:lnSpc>
                <a:spcPct val="105000"/>
              </a:lnSpc>
              <a:spcBef>
                <a:spcPts val="0"/>
              </a:spcBef>
              <a:spcAft>
                <a:spcPts val="1100"/>
              </a:spcAft>
            </a:pPr>
            <a:r>
              <a:rPr sz="1800" b="0" i="0">
                <a:solidFill>
                  <a:srgbClr val="1A1A1A"/>
                </a:solidFill>
                <a:latin typeface="Arial"/>
              </a:rPr>
              <a:t>Volume is fixed per bar, so a reversal bar is found from its range and height alone.</a:t>
            </a:r>
          </a:p>
          <a:p>
            <a:pPr algn="l">
              <a:lnSpc>
                <a:spcPct val="105000"/>
              </a:lnSpc>
              <a:spcBef>
                <a:spcPts val="0"/>
              </a:spcBef>
              <a:spcAft>
                <a:spcPts val="1100"/>
              </a:spcAft>
            </a:pPr>
            <a:r>
              <a:rPr sz="1800" b="0" i="0">
                <a:solidFill>
                  <a:srgbClr val="1A1A1A"/>
                </a:solidFill>
                <a:latin typeface="Arial"/>
              </a:rPr>
              <a:t>Figure 6.35: a narrow bar, bearish, sellers in control; a tall bar, no interest in the rise.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Especially useful for reversal bars on high or low volume.</a:t>
            </a:r>
          </a:p>
        </p:txBody>
      </p:sp>
      <p:sp>
        <p:nvSpPr>
          <p:cNvPr id="10" name="TextBox 9"/>
          <p:cNvSpPr txBox="1"/>
          <p:nvPr/>
        </p:nvSpPr>
        <p:spPr>
          <a:xfrm>
            <a:off x="777240" y="5315712"/>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High and low against the range: a narrow bar packs the fixed volume into little movement, a tall bar spreads it over a big one.</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bar chart, every volume bar the same height. Left: a rise topped by a narrow range bar on relatively high volume, bearish. Right: a rise topped by one overextended, very tall bar on relatively low volume,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Reversal bars on charts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 high volume reversal bar of Figure 6.33 regarded as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formed on a constant volume chart</a:t>
            </a:r>
          </a:p>
          <a:p>
            <a:pPr algn="l">
              <a:lnSpc>
                <a:spcPct val="112000"/>
              </a:lnSpc>
              <a:spcBef>
                <a:spcPts val="0"/>
              </a:spcBef>
              <a:spcAft>
                <a:spcPts val="900"/>
              </a:spcAft>
            </a:pPr>
            <a:r>
              <a:rPr sz="1500" b="0" i="0">
                <a:solidFill>
                  <a:srgbClr val="FFFFFF"/>
                </a:solidFill>
                <a:latin typeface="Arial"/>
              </a:rPr>
              <a:t>B.  It formed within a larger downtrend</a:t>
            </a:r>
          </a:p>
          <a:p>
            <a:pPr algn="l">
              <a:lnSpc>
                <a:spcPct val="112000"/>
              </a:lnSpc>
              <a:spcBef>
                <a:spcPts val="0"/>
              </a:spcBef>
              <a:spcAft>
                <a:spcPts val="900"/>
              </a:spcAft>
            </a:pPr>
            <a:r>
              <a:rPr sz="1500" b="0" i="0">
                <a:solidFill>
                  <a:srgbClr val="FFFFFF"/>
                </a:solidFill>
                <a:latin typeface="Arial"/>
              </a:rPr>
              <a:t>C.  Its volume was the lowest of the year</a:t>
            </a:r>
          </a:p>
          <a:p>
            <a:pPr algn="l">
              <a:lnSpc>
                <a:spcPct val="112000"/>
              </a:lnSpc>
              <a:spcBef>
                <a:spcPts val="0"/>
              </a:spcBef>
              <a:spcAft>
                <a:spcPts val="900"/>
              </a:spcAft>
            </a:pPr>
            <a:r>
              <a:rPr sz="1500" b="0" i="0">
                <a:solidFill>
                  <a:srgbClr val="FFFFFF"/>
                </a:solidFill>
                <a:latin typeface="Arial"/>
              </a:rPr>
              <a:t>D.  It formed on flat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a constant volume chart, potential reversal bars are found from:</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volume bars alone</a:t>
            </a:r>
          </a:p>
          <a:p>
            <a:pPr algn="l">
              <a:lnSpc>
                <a:spcPct val="112000"/>
              </a:lnSpc>
              <a:spcBef>
                <a:spcPts val="0"/>
              </a:spcBef>
              <a:spcAft>
                <a:spcPts val="900"/>
              </a:spcAft>
            </a:pPr>
            <a:r>
              <a:rPr sz="1500" b="0" i="0">
                <a:solidFill>
                  <a:srgbClr val="FFFFFF"/>
                </a:solidFill>
                <a:latin typeface="Arial"/>
              </a:rPr>
              <a:t>B.  The time axis</a:t>
            </a:r>
          </a:p>
          <a:p>
            <a:pPr algn="l">
              <a:lnSpc>
                <a:spcPct val="112000"/>
              </a:lnSpc>
              <a:spcBef>
                <a:spcPts val="0"/>
              </a:spcBef>
              <a:spcAft>
                <a:spcPts val="900"/>
              </a:spcAft>
            </a:pPr>
            <a:r>
              <a:rPr sz="1500" b="0" i="0">
                <a:solidFill>
                  <a:srgbClr val="FFFFFF"/>
                </a:solidFill>
                <a:latin typeface="Arial"/>
              </a:rPr>
              <a:t>C.  The open interest</a:t>
            </a:r>
          </a:p>
          <a:p>
            <a:pPr algn="l">
              <a:lnSpc>
                <a:spcPct val="112000"/>
              </a:lnSpc>
              <a:spcBef>
                <a:spcPts val="0"/>
              </a:spcBef>
              <a:spcAft>
                <a:spcPts val="900"/>
              </a:spcAft>
            </a:pPr>
            <a:r>
              <a:rPr sz="1500" b="0" i="0">
                <a:solidFill>
                  <a:srgbClr val="FFFFFF"/>
                </a:solidFill>
                <a:latin typeface="Arial"/>
              </a:rPr>
              <a:t>D.  The bar range alone and its height against the rest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15</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Reversal bars on charts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is the high volume reversal bar of Figure 6.33 regarded as potentially more reliable?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It formed within a larger downtrend</a:t>
            </a:r>
          </a:p>
          <a:p>
            <a:pPr algn="l">
              <a:lnSpc>
                <a:spcPct val="115000"/>
              </a:lnSpc>
              <a:spcBef>
                <a:spcPts val="700"/>
              </a:spcBef>
              <a:spcAft>
                <a:spcPts val="0"/>
              </a:spcAft>
            </a:pPr>
            <a:r>
              <a:rPr sz="1600" b="0" i="0">
                <a:solidFill>
                  <a:srgbClr val="1A1A1A"/>
                </a:solidFill>
                <a:latin typeface="Arial"/>
              </a:rPr>
              <a:t>The bearish reversal bar occurred within a larger downtrend, the direction of the predominant trend.</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a constant volume chart, potential reversal bars are found from:</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bar range alone and its height against the rest</a:t>
            </a:r>
          </a:p>
          <a:p>
            <a:pPr algn="l">
              <a:lnSpc>
                <a:spcPct val="115000"/>
              </a:lnSpc>
              <a:spcBef>
                <a:spcPts val="700"/>
              </a:spcBef>
              <a:spcAft>
                <a:spcPts val="0"/>
              </a:spcAft>
            </a:pPr>
            <a:r>
              <a:rPr sz="1600" b="0" i="0">
                <a:solidFill>
                  <a:srgbClr val="1A1A1A"/>
                </a:solidFill>
                <a:latin typeface="Arial"/>
              </a:rPr>
              <a:t>Volume is fixed for each bar, so reversal bars are identified by bar range and height alone.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Most practitioners agree that without participation, volume, price cannot move significantly.</a:t>
            </a:r>
          </a:p>
          <a:p>
            <a:pPr algn="l">
              <a:lnSpc>
                <a:spcPct val="105000"/>
              </a:lnSpc>
              <a:spcBef>
                <a:spcPts val="0"/>
              </a:spcBef>
              <a:spcAft>
                <a:spcPts val="1100"/>
              </a:spcAft>
            </a:pPr>
            <a:r>
              <a:rPr sz="1800" b="0" i="0">
                <a:solidFill>
                  <a:srgbClr val="1A1A1A"/>
                </a:solidFill>
                <a:latin typeface="Arial"/>
              </a:rPr>
              <a:t>Yet buy and sell signals need not have much volume to appear on the chart.</a:t>
            </a:r>
          </a:p>
          <a:p>
            <a:pPr algn="l">
              <a:lnSpc>
                <a:spcPct val="105000"/>
              </a:lnSpc>
              <a:spcBef>
                <a:spcPts val="0"/>
              </a:spcBef>
              <a:spcAft>
                <a:spcPts val="1100"/>
              </a:spcAft>
            </a:pPr>
            <a:r>
              <a:rPr sz="1800" b="0" i="0">
                <a:solidFill>
                  <a:srgbClr val="1A1A1A"/>
                </a:solidFill>
                <a:latin typeface="Arial"/>
              </a:rPr>
              <a:t>A small breakout of a very significant trendline may set off a larger one, inviting tremendous volume.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Then price leads volume: more often now, the book says.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chart is ours, on invented prices. Breakout of a trendline: Chapter 5's use of the word.</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rises and falls on a daily rhythm,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1:30 to 2:30 p.m. GMT is 9:30 to 10:30 p.m. in Manila. On our chart, price turns or breaks away at each peak.</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14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Almost every reversal on the 30-minute EURUSD comes at an intraday tick volume peak.</a:t>
            </a:r>
          </a:p>
          <a:p>
            <a:pPr algn="l">
              <a:lnSpc>
                <a:spcPct val="105000"/>
              </a:lnSpc>
              <a:spcBef>
                <a:spcPts val="0"/>
              </a:spcBef>
              <a:spcAft>
                <a:spcPts val="1100"/>
              </a:spcAft>
            </a:pPr>
            <a:r>
              <a:rPr sz="1700" b="0" i="0">
                <a:solidFill>
                  <a:srgbClr val="1A1A1A"/>
                </a:solidFill>
                <a:latin typeface="Arial"/>
              </a:rPr>
              <a:t>Especially useful when price retests a previous support or resistance level.</a:t>
            </a:r>
          </a:p>
          <a:p>
            <a:pPr algn="l">
              <a:lnSpc>
                <a:spcPct val="105000"/>
              </a:lnSpc>
              <a:spcBef>
                <a:spcPts val="0"/>
              </a:spcBef>
              <a:spcAft>
                <a:spcPts val="1100"/>
              </a:spcAft>
            </a:pPr>
            <a:r>
              <a:rPr sz="1700" b="0" i="0">
                <a:solidFill>
                  <a:srgbClr val="1A1A1A"/>
                </a:solidFill>
                <a:latin typeface="Arial"/>
              </a:rPr>
              <a:t>Many use a bidirectional, or straddle, entry at the peak, since price rarely stays unchanged.</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Know when the peak comes; catch price either way.</a:t>
            </a:r>
          </a:p>
        </p:txBody>
      </p:sp>
      <p:sp>
        <p:nvSpPr>
          <p:cNvPr id="10" name="TextBox 9"/>
          <p:cNvSpPr txBox="1"/>
          <p:nvPr/>
        </p:nvSpPr>
        <p:spPr>
          <a:xfrm>
            <a:off x="777240" y="5189220"/>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5's bidirectional entry: a trade either way, depending on the breakout.</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several weeks with support and resistance lines, a triangle and a channel, and daily volume cycles in the volume panel; price reverses at the volume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Bidirectional entry: a Chapter 5 term.</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On hourly EURUSD, price rebounds off trendline retests at Points 1, 4 and 5, each during a tick volume cycle peak.</a:t>
            </a:r>
          </a:p>
          <a:p>
            <a:pPr algn="l">
              <a:lnSpc>
                <a:spcPct val="105000"/>
              </a:lnSpc>
              <a:spcBef>
                <a:spcPts val="0"/>
              </a:spcBef>
              <a:spcAft>
                <a:spcPts val="1100"/>
              </a:spcAft>
            </a:pPr>
            <a:r>
              <a:rPr sz="1800" b="0" i="0">
                <a:solidFill>
                  <a:srgbClr val="1A1A1A"/>
                </a:solidFill>
                <a:latin typeface="Arial"/>
              </a:rPr>
              <a:t>A cycle-tuned stochastic oscillator showed oversold conditions there too.</a:t>
            </a:r>
          </a:p>
          <a:p>
            <a:pPr algn="l">
              <a:lnSpc>
                <a:spcPct val="105000"/>
              </a:lnSpc>
              <a:spcBef>
                <a:spcPts val="0"/>
              </a:spcBef>
              <a:spcAft>
                <a:spcPts val="1100"/>
              </a:spcAft>
            </a:pPr>
            <a:r>
              <a:rPr sz="1800" b="0" i="0">
                <a:solidFill>
                  <a:srgbClr val="1A1A1A"/>
                </a:solidFill>
                <a:latin typeface="Arial"/>
              </a:rPr>
              <a:t>At Points 2 and 3 the trendline failed. There the stochastic showed no clear oversold condition, at X and Y.</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volume peak times the retest; the oscillator confirms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An hourly EURUSD chart with three rising trendlines, retests marked at 1 to 5, a volume panel with daily volume cycles, and a stochastic panel whose oversold readings are marked under 1, 4 and 5, with circles at X and Y where it was not clearly oversold.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The cycle-tuned stochastic: named in Chapter 5; oscillators are Chapter 8.</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14</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Point and figure, Renko and three line break charts, Chapter 3: the time axis is not plotted in a linear fashion.</a:t>
            </a:r>
          </a:p>
          <a:p>
            <a:pPr algn="l">
              <a:lnSpc>
                <a:spcPct val="105000"/>
              </a:lnSpc>
              <a:spcBef>
                <a:spcPts val="0"/>
              </a:spcBef>
              <a:spcAft>
                <a:spcPts val="1100"/>
              </a:spcAft>
            </a:pPr>
            <a:r>
              <a:rPr sz="1800" b="0" i="0">
                <a:solidFill>
                  <a:srgbClr val="1A1A1A"/>
                </a:solidFill>
                <a:latin typeface="Arial"/>
              </a:rPr>
              <a:t>That affects the angle of trendlines, channels and chart patterns.</a:t>
            </a:r>
          </a:p>
          <a:p>
            <a:pPr algn="l">
              <a:lnSpc>
                <a:spcPct val="105000"/>
              </a:lnSpc>
              <a:spcBef>
                <a:spcPts val="0"/>
              </a:spcBef>
              <a:spcAft>
                <a:spcPts val="1100"/>
              </a:spcAft>
            </a:pPr>
            <a:r>
              <a:rPr sz="1800" b="0" i="0">
                <a:solidFill>
                  <a:srgbClr val="1A1A1A"/>
                </a:solidFill>
                <a:latin typeface="Arial"/>
              </a:rPr>
              <a:t>Equivolume charts are unique: constant time bars, but bar width varies with volume, so the time axis is non-linear too.</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62910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Figure 6.38: the same trendline is violated at different points on the two charts.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Two daily Apple charts of the same months, a standard chart with a linear time axis above and an equivolume chart with a non-linear time axis below. The same rising trendline is drawn on both, and circles mark where each is violated, at different places.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cycles and the time axis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 says the intraday volume cycle normally peaks around:</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market open</a:t>
            </a:r>
          </a:p>
          <a:p>
            <a:pPr algn="l">
              <a:lnSpc>
                <a:spcPct val="112000"/>
              </a:lnSpc>
              <a:spcBef>
                <a:spcPts val="0"/>
              </a:spcBef>
              <a:spcAft>
                <a:spcPts val="900"/>
              </a:spcAft>
            </a:pPr>
            <a:r>
              <a:rPr sz="1500" b="0" i="0">
                <a:solidFill>
                  <a:srgbClr val="FFFFFF"/>
                </a:solidFill>
                <a:latin typeface="Arial"/>
              </a:rPr>
              <a:t>B.  1:30 p.m. to 2:30 p.m. GMT</a:t>
            </a:r>
          </a:p>
          <a:p>
            <a:pPr algn="l">
              <a:lnSpc>
                <a:spcPct val="112000"/>
              </a:lnSpc>
              <a:spcBef>
                <a:spcPts val="0"/>
              </a:spcBef>
              <a:spcAft>
                <a:spcPts val="900"/>
              </a:spcAft>
            </a:pPr>
            <a:r>
              <a:rPr sz="1500" b="0" i="0">
                <a:solidFill>
                  <a:srgbClr val="FFFFFF"/>
                </a:solidFill>
                <a:latin typeface="Arial"/>
              </a:rPr>
              <a:t>C.  The market close</a:t>
            </a:r>
          </a:p>
          <a:p>
            <a:pPr algn="l">
              <a:lnSpc>
                <a:spcPct val="112000"/>
              </a:lnSpc>
              <a:spcBef>
                <a:spcPts val="0"/>
              </a:spcBef>
              <a:spcAft>
                <a:spcPts val="900"/>
              </a:spcAft>
            </a:pPr>
            <a:r>
              <a:rPr sz="1500" b="0" i="0">
                <a:solidFill>
                  <a:srgbClr val="FFFFFF"/>
                </a:solidFill>
                <a:latin typeface="Arial"/>
              </a:rPr>
              <a:t>D.  Midnight GMT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a trendline be violated at a different point on an equivolume chart than on a standard chart?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Equivolume charts ignore volume</a:t>
            </a:r>
          </a:p>
          <a:p>
            <a:pPr algn="l">
              <a:lnSpc>
                <a:spcPct val="112000"/>
              </a:lnSpc>
              <a:spcBef>
                <a:spcPts val="0"/>
              </a:spcBef>
              <a:spcAft>
                <a:spcPts val="900"/>
              </a:spcAft>
            </a:pPr>
            <a:r>
              <a:rPr sz="1500" b="0" i="0">
                <a:solidFill>
                  <a:srgbClr val="FFFFFF"/>
                </a:solidFill>
                <a:latin typeface="Arial"/>
              </a:rPr>
              <a:t>B.  Equivolume charts use closing prices only</a:t>
            </a:r>
          </a:p>
          <a:p>
            <a:pPr algn="l">
              <a:lnSpc>
                <a:spcPct val="112000"/>
              </a:lnSpc>
              <a:spcBef>
                <a:spcPts val="0"/>
              </a:spcBef>
              <a:spcAft>
                <a:spcPts val="900"/>
              </a:spcAft>
            </a:pPr>
            <a:r>
              <a:rPr sz="1500" b="0" i="0">
                <a:solidFill>
                  <a:srgbClr val="FFFFFF"/>
                </a:solidFill>
                <a:latin typeface="Arial"/>
              </a:rPr>
              <a:t>C.  Bar width varies with volume, so the time axis is non-linear</a:t>
            </a:r>
          </a:p>
          <a:p>
            <a:pPr algn="l">
              <a:lnSpc>
                <a:spcPct val="112000"/>
              </a:lnSpc>
              <a:spcBef>
                <a:spcPts val="0"/>
              </a:spcBef>
              <a:spcAft>
                <a:spcPts val="900"/>
              </a:spcAft>
            </a:pPr>
            <a:r>
              <a:rPr sz="1500" b="0" i="0">
                <a:solidFill>
                  <a:srgbClr val="FFFFFF"/>
                </a:solidFill>
                <a:latin typeface="Arial"/>
              </a:rPr>
              <a:t>D.  Equivolume charts are not constant time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16</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cycles and the time axis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book says the intraday volume cycle normally peaks around:</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1:30 p.m. to 2:30 p.m. GMT</a:t>
            </a:r>
          </a:p>
          <a:p>
            <a:pPr algn="l">
              <a:lnSpc>
                <a:spcPct val="115000"/>
              </a:lnSpc>
              <a:spcBef>
                <a:spcPts val="700"/>
              </a:spcBef>
              <a:spcAft>
                <a:spcPts val="0"/>
              </a:spcAft>
            </a:pPr>
            <a:r>
              <a:rPr sz="1600" b="0" i="0">
                <a:solidFill>
                  <a:srgbClr val="1A1A1A"/>
                </a:solidFill>
                <a:latin typeface="Arial"/>
              </a:rPr>
              <a:t>The intraday volume cycle normally peaks around 1:30 p.m. to 2:30 p.m. GMT.</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may a trendline be violated at a different point on an equivolume chart than on a standard chart?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Bar width varies with volume, so the time axis is non-linear</a:t>
            </a:r>
          </a:p>
          <a:p>
            <a:pPr algn="l">
              <a:lnSpc>
                <a:spcPct val="115000"/>
              </a:lnSpc>
              <a:spcBef>
                <a:spcPts val="700"/>
              </a:spcBef>
              <a:spcAft>
                <a:spcPts val="0"/>
              </a:spcAft>
            </a:pPr>
            <a:r>
              <a:rPr sz="1600" b="0" i="0">
                <a:solidFill>
                  <a:srgbClr val="1A1A1A"/>
                </a:solidFill>
                <a:latin typeface="Arial"/>
              </a:rPr>
              <a:t>Bars are constant time but their width varies with volume, so the time axis is non-linear and a line's angle changes.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16</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book's eight: the VWMA, the Accumulation Distribution Line (ADL),</a:t>
            </a:r>
          </a:p>
          <a:p>
            <a:pPr algn="l">
              <a:lnSpc>
                <a:spcPct val="118000"/>
              </a:lnSpc>
              <a:spcBef>
                <a:spcPts val="0"/>
              </a:spcBef>
              <a:spcAft>
                <a:spcPts val="1300"/>
              </a:spcAft>
            </a:pPr>
            <a:r>
              <a:rPr sz="2100" b="0" i="0">
                <a:solidFill>
                  <a:srgbClr val="1A1A1A"/>
                </a:solidFill>
                <a:latin typeface="Arial"/>
              </a:rPr>
              <a:t>On Balance Volume (OBV), the Chaikin Money Flow and Chaikin Oscillator,</a:t>
            </a:r>
          </a:p>
          <a:p>
            <a:pPr algn="l">
              <a:lnSpc>
                <a:spcPct val="118000"/>
              </a:lnSpc>
              <a:spcBef>
                <a:spcPts val="0"/>
              </a:spcBef>
              <a:spcAft>
                <a:spcPts val="1300"/>
              </a:spcAft>
            </a:pPr>
            <a:r>
              <a:rPr sz="2100" b="0" i="0">
                <a:solidFill>
                  <a:srgbClr val="1A1A1A"/>
                </a:solidFill>
                <a:latin typeface="Arial"/>
              </a:rPr>
              <a:t>the Demand Index, the Herrick Payoff Index, the NYSE Up/Down Volume Line.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Each is read by eight standard methods. Here: mostly divergence, plus oversold levels and trendlines on the indicator.</a:t>
            </a:r>
          </a:p>
        </p:txBody>
      </p:sp>
      <p:sp>
        <p:nvSpPr>
          <p:cNvPr id="10" name="TextBox 9"/>
          <p:cNvSpPr txBox="1"/>
          <p:nvPr/>
        </p:nvSpPr>
        <p:spPr>
          <a:xfrm>
            <a:off x="777240" y="479628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eight methods, Chapter 8: 1 OBOS overextended levels, 2 equilibrium and zero line crossovers, 3 signal line crossovers, 4 price-oscillator divergence, 5 to 7 geometrically, numerically and horizontally based oscillator pattern analysis, 8 oscillator-on-oscillator analysis. OBOS: overbought and oversold. The VWMA was Part 2; the Demand Index is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both lists, as printed. It refers the eight methods to Chapter 8.</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add the day's volume if the close rose, subtract it if the close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Closes PHP 50.00, 50.50, 50.20, 50.20, 50.80, 50.60; volumes after day 1: 2.0, 1.5, 1.0, 3.0, 1.0 million. OBV: 0, 2.0, 0.5, 0.5, 3.5, 2.5.</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 a disadvantage and a weakness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Disadvantage: its absolute value depends on the start date. Its relative changes do not, so the eight methods still work.</a:t>
            </a:r>
          </a:p>
          <a:p>
            <a:pPr algn="l">
              <a:lnSpc>
                <a:spcPct val="105000"/>
              </a:lnSpc>
              <a:spcBef>
                <a:spcPts val="0"/>
              </a:spcBef>
              <a:spcAft>
                <a:spcPts val="1100"/>
              </a:spcAft>
            </a:pPr>
            <a:r>
              <a:rPr sz="1800" b="0" i="0">
                <a:solidFill>
                  <a:srgbClr val="1A1A1A"/>
                </a:solidFill>
                <a:latin typeface="Arial"/>
              </a:rPr>
              <a:t>Weakness: volume is added or subtracted regardless of the bar's own behavior.</a:t>
            </a:r>
          </a:p>
          <a:p>
            <a:pPr algn="l">
              <a:lnSpc>
                <a:spcPct val="105000"/>
              </a:lnSpc>
              <a:spcBef>
                <a:spcPts val="0"/>
              </a:spcBef>
              <a:spcAft>
                <a:spcPts val="1100"/>
              </a:spcAft>
            </a:pPr>
            <a:r>
              <a:rPr sz="1800" b="0" i="0">
                <a:solidFill>
                  <a:srgbClr val="1A1A1A"/>
                </a:solidFill>
                <a:latin typeface="Arial"/>
              </a:rPr>
              <a:t>A bar closing just below the last close is subtracted, even after a new high far above the last bar's.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To redress it, many prefer the ADL or the two Chaikin indicators.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the weakness and its example are the book's. The chart is ours, on invented bars.</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Citigroup's price falls to a lower low while the OBV makes a higher one.</a:t>
            </a:r>
          </a:p>
          <a:p>
            <a:pPr algn="l">
              <a:lnSpc>
                <a:spcPct val="105000"/>
              </a:lnSpc>
              <a:spcBef>
                <a:spcPts val="0"/>
              </a:spcBef>
              <a:spcAft>
                <a:spcPts val="1100"/>
              </a:spcAft>
            </a:pPr>
            <a:r>
              <a:rPr sz="2000" b="0" i="0">
                <a:solidFill>
                  <a:srgbClr val="1A1A1A"/>
                </a:solidFill>
                <a:latin typeface="Arial"/>
              </a:rPr>
              <a:t>Prices rebound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OBV is price-based: bullish divergence is price falling while it rises.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Copper's price rises, twice, while the OBV falls.</a:t>
            </a:r>
          </a:p>
          <a:p>
            <a:pPr algn="l">
              <a:lnSpc>
                <a:spcPct val="105000"/>
              </a:lnSpc>
              <a:spcBef>
                <a:spcPts val="0"/>
              </a:spcBef>
              <a:spcAft>
                <a:spcPts val="1100"/>
              </a:spcAft>
            </a:pPr>
            <a:r>
              <a:rPr sz="2000" b="0" i="0">
                <a:solidFill>
                  <a:srgbClr val="1A1A1A"/>
                </a:solidFill>
                <a:latin typeface="Arial"/>
              </a:rPr>
              <a:t>Prices fell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Bearish divergence reads the same on both kinds: price up, the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rising to higher peaks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On Balance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Today's close is lower than yesterday's, on volume of 3 million shares. The OBV:</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Is unchanged</a:t>
            </a:r>
          </a:p>
          <a:p>
            <a:pPr algn="l">
              <a:lnSpc>
                <a:spcPct val="112000"/>
              </a:lnSpc>
              <a:spcBef>
                <a:spcPts val="0"/>
              </a:spcBef>
              <a:spcAft>
                <a:spcPts val="900"/>
              </a:spcAft>
            </a:pPr>
            <a:r>
              <a:rPr sz="1500" b="0" i="0">
                <a:solidFill>
                  <a:srgbClr val="FFFFFF"/>
                </a:solidFill>
                <a:latin typeface="Arial"/>
              </a:rPr>
              <a:t>B.  Rises by 3 million</a:t>
            </a:r>
          </a:p>
          <a:p>
            <a:pPr algn="l">
              <a:lnSpc>
                <a:spcPct val="112000"/>
              </a:lnSpc>
              <a:spcBef>
                <a:spcPts val="0"/>
              </a:spcBef>
              <a:spcAft>
                <a:spcPts val="900"/>
              </a:spcAft>
            </a:pPr>
            <a:r>
              <a:rPr sz="1500" b="0" i="0">
                <a:solidFill>
                  <a:srgbClr val="FFFFFF"/>
                </a:solidFill>
                <a:latin typeface="Arial"/>
              </a:rPr>
              <a:t>C.  Rises by part of 3 million</a:t>
            </a:r>
          </a:p>
          <a:p>
            <a:pPr algn="l">
              <a:lnSpc>
                <a:spcPct val="112000"/>
              </a:lnSpc>
              <a:spcBef>
                <a:spcPts val="0"/>
              </a:spcBef>
              <a:spcAft>
                <a:spcPts val="900"/>
              </a:spcAft>
            </a:pPr>
            <a:r>
              <a:rPr sz="1500" b="0" i="0">
                <a:solidFill>
                  <a:srgbClr val="FFFFFF"/>
                </a:solidFill>
                <a:latin typeface="Arial"/>
              </a:rPr>
              <a:t>D.  Falls by 3 million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book's disadvantage of the OBV is that: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absolute value depends on the start date</a:t>
            </a:r>
          </a:p>
          <a:p>
            <a:pPr algn="l">
              <a:lnSpc>
                <a:spcPct val="112000"/>
              </a:lnSpc>
              <a:spcBef>
                <a:spcPts val="0"/>
              </a:spcBef>
              <a:spcAft>
                <a:spcPts val="900"/>
              </a:spcAft>
            </a:pPr>
            <a:r>
              <a:rPr sz="1500" b="0" i="0">
                <a:solidFill>
                  <a:srgbClr val="FFFFFF"/>
                </a:solidFill>
                <a:latin typeface="Arial"/>
              </a:rPr>
              <a:t>B.  It cannot show divergence</a:t>
            </a:r>
          </a:p>
          <a:p>
            <a:pPr algn="l">
              <a:lnSpc>
                <a:spcPct val="112000"/>
              </a:lnSpc>
              <a:spcBef>
                <a:spcPts val="0"/>
              </a:spcBef>
              <a:spcAft>
                <a:spcPts val="900"/>
              </a:spcAft>
            </a:pPr>
            <a:r>
              <a:rPr sz="1500" b="0" i="0">
                <a:solidFill>
                  <a:srgbClr val="FFFFFF"/>
                </a:solidFill>
                <a:latin typeface="Arial"/>
              </a:rPr>
              <a:t>C.  It uses open interest</a:t>
            </a:r>
          </a:p>
          <a:p>
            <a:pPr algn="l">
              <a:lnSpc>
                <a:spcPct val="112000"/>
              </a:lnSpc>
              <a:spcBef>
                <a:spcPts val="0"/>
              </a:spcBef>
              <a:spcAft>
                <a:spcPts val="900"/>
              </a:spcAft>
            </a:pPr>
            <a:r>
              <a:rPr sz="1500" b="0" i="0">
                <a:solidFill>
                  <a:srgbClr val="FFFFFF"/>
                </a:solidFill>
                <a:latin typeface="Arial"/>
              </a:rPr>
              <a:t>D.  It ignores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17</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On Balance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Today's close is lower than yesterday's, on volume of 3 million shares. The OBV:</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Falls by 3 million</a:t>
            </a:r>
          </a:p>
          <a:p>
            <a:pPr algn="l">
              <a:lnSpc>
                <a:spcPct val="115000"/>
              </a:lnSpc>
              <a:spcBef>
                <a:spcPts val="700"/>
              </a:spcBef>
              <a:spcAft>
                <a:spcPts val="0"/>
              </a:spcAft>
            </a:pPr>
            <a:r>
              <a:rPr sz="1600" b="0" i="0">
                <a:solidFill>
                  <a:srgbClr val="1A1A1A"/>
                </a:solidFill>
                <a:latin typeface="Arial"/>
              </a:rPr>
              <a:t>If the close is lower than the preceding close, the period's whole volume is subtracted from the running total.</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book's disadvantage of the OBV is that: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Its absolute value depends on the start date</a:t>
            </a:r>
          </a:p>
          <a:p>
            <a:pPr algn="l">
              <a:lnSpc>
                <a:spcPct val="115000"/>
              </a:lnSpc>
              <a:spcBef>
                <a:spcPts val="700"/>
              </a:spcBef>
              <a:spcAft>
                <a:spcPts val="0"/>
              </a:spcAft>
            </a:pPr>
            <a:r>
              <a:rPr sz="1600" b="0" i="0">
                <a:solidFill>
                  <a:srgbClr val="1A1A1A"/>
                </a:solidFill>
                <a:latin typeface="Arial"/>
              </a:rPr>
              <a:t>Its absolute reading depends on the start date; its relative changes do not, so the eight methods still work.</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17</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each bar adding or subtracting a share of its volume by where it closed.</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High PHP 52, low PHP 48, 2 million shares. Close 52: add 2.0 million. Close 50, the middle: add nothing. Close 49: subtract 1.0 million.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the close, high and low of the bar, Chapter 1's OHLC. The bars and their volume are ours.</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close at the midpoint adds nothing: if C - L = H - C, then C = (H + L) / 2.</a:t>
            </a:r>
          </a:p>
          <a:p>
            <a:pPr algn="l">
              <a:lnSpc>
                <a:spcPct val="105000"/>
              </a:lnSpc>
              <a:spcBef>
                <a:spcPts val="0"/>
              </a:spcBef>
              <a:spcAft>
                <a:spcPts val="1100"/>
              </a:spcAft>
            </a:pPr>
            <a:r>
              <a:rPr sz="1800" b="0" i="0">
                <a:solidFill>
                  <a:srgbClr val="1A1A1A"/>
                </a:solidFill>
                <a:latin typeface="Arial"/>
              </a:rPr>
              <a:t>The further above the midpoint price closes, the more volume is added; below, the more subtracted.</a:t>
            </a:r>
          </a:p>
          <a:p>
            <a:pPr algn="l">
              <a:lnSpc>
                <a:spcPct val="105000"/>
              </a:lnSpc>
              <a:spcBef>
                <a:spcPts val="0"/>
              </a:spcBef>
              <a:spcAft>
                <a:spcPts val="1100"/>
              </a:spcAft>
            </a:pPr>
            <a:r>
              <a:rPr sz="1800" b="0" i="0">
                <a:solidFill>
                  <a:srgbClr val="1A1A1A"/>
                </a:solidFill>
                <a:latin typeface="Arial"/>
              </a:rPr>
              <a:t>At most the day's total volume is added: a close at the high makes the factor exactly 1.</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is the book's. The chart is ours: the factor drawn against where the close sits.</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ADL shows bullish confirmation, rising with price.</a:t>
            </a:r>
          </a:p>
          <a:p>
            <a:pPr algn="l">
              <a:lnSpc>
                <a:spcPct val="105000"/>
              </a:lnSpc>
              <a:spcBef>
                <a:spcPts val="0"/>
              </a:spcBef>
              <a:spcAft>
                <a:spcPts val="1100"/>
              </a:spcAft>
            </a:pPr>
            <a:r>
              <a:rPr sz="2000" b="0" i="0">
                <a:solidFill>
                  <a:srgbClr val="1A1A1A"/>
                </a:solidFill>
                <a:latin typeface="Arial"/>
              </a:rPr>
              <a:t>The volume bars show bearish divergence: an underlying weakness in the uptrend.</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trader should wait for price confirmation of a reversal before taking part.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When the OBV and the ADL rise or fall together, price trends in a decisive manner.</a:t>
            </a:r>
          </a:p>
          <a:p>
            <a:pPr algn="l">
              <a:lnSpc>
                <a:spcPct val="105000"/>
              </a:lnSpc>
              <a:spcBef>
                <a:spcPts val="0"/>
              </a:spcBef>
              <a:spcAft>
                <a:spcPts val="1100"/>
              </a:spcAft>
            </a:pPr>
            <a:r>
              <a:rPr sz="1800" b="0" i="0">
                <a:solidFill>
                  <a:srgbClr val="1A1A1A"/>
                </a:solidFill>
                <a:latin typeface="Arial"/>
              </a:rPr>
              <a:t>When they move in opposite directions, price tends to range or consolidate.</a:t>
            </a:r>
          </a:p>
          <a:p>
            <a:pPr algn="l">
              <a:lnSpc>
                <a:spcPct val="105000"/>
              </a:lnSpc>
              <a:spcBef>
                <a:spcPts val="0"/>
              </a:spcBef>
              <a:spcAft>
                <a:spcPts val="1100"/>
              </a:spcAft>
            </a:pPr>
            <a:r>
              <a:rPr sz="1800" b="0" i="0">
                <a:solidFill>
                  <a:srgbClr val="1A1A1A"/>
                </a:solidFill>
                <a:latin typeface="Arial"/>
              </a:rPr>
              <a:t>Useful for gauging behavioral or regime changes in the market.</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It may help decide between a trend-following and a range-bound strategy.</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ADL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bar closes exactly at the midpoint of its range. What does it add to the ADL?</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whole volume</a:t>
            </a:r>
          </a:p>
          <a:p>
            <a:pPr algn="l">
              <a:lnSpc>
                <a:spcPct val="112000"/>
              </a:lnSpc>
              <a:spcBef>
                <a:spcPts val="0"/>
              </a:spcBef>
              <a:spcAft>
                <a:spcPts val="900"/>
              </a:spcAft>
            </a:pPr>
            <a:r>
              <a:rPr sz="1500" b="0" i="0">
                <a:solidFill>
                  <a:srgbClr val="FFFFFF"/>
                </a:solidFill>
                <a:latin typeface="Arial"/>
              </a:rPr>
              <a:t>B.  Half its volume</a:t>
            </a:r>
          </a:p>
          <a:p>
            <a:pPr algn="l">
              <a:lnSpc>
                <a:spcPct val="112000"/>
              </a:lnSpc>
              <a:spcBef>
                <a:spcPts val="0"/>
              </a:spcBef>
              <a:spcAft>
                <a:spcPts val="900"/>
              </a:spcAft>
            </a:pPr>
            <a:r>
              <a:rPr sz="1500" b="0" i="0">
                <a:solidFill>
                  <a:srgbClr val="FFFFFF"/>
                </a:solidFill>
                <a:latin typeface="Arial"/>
              </a:rPr>
              <a:t>C.  Nothing</a:t>
            </a:r>
          </a:p>
          <a:p>
            <a:pPr algn="l">
              <a:lnSpc>
                <a:spcPct val="112000"/>
              </a:lnSpc>
              <a:spcBef>
                <a:spcPts val="0"/>
              </a:spcBef>
              <a:spcAft>
                <a:spcPts val="900"/>
              </a:spcAft>
            </a:pPr>
            <a:r>
              <a:rPr sz="1500" b="0" i="0">
                <a:solidFill>
                  <a:srgbClr val="FFFFFF"/>
                </a:solidFill>
                <a:latin typeface="Arial"/>
              </a:rPr>
              <a:t>D.  Minus its whole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OBV and the ADL move in opposite directions. Price tends to:</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decisively</a:t>
            </a:r>
          </a:p>
          <a:p>
            <a:pPr algn="l">
              <a:lnSpc>
                <a:spcPct val="112000"/>
              </a:lnSpc>
              <a:spcBef>
                <a:spcPts val="0"/>
              </a:spcBef>
              <a:spcAft>
                <a:spcPts val="900"/>
              </a:spcAft>
            </a:pPr>
            <a:r>
              <a:rPr sz="1500" b="0" i="0">
                <a:solidFill>
                  <a:srgbClr val="FFFFFF"/>
                </a:solidFill>
                <a:latin typeface="Arial"/>
              </a:rPr>
              <a:t>B.  Range or consolidate</a:t>
            </a:r>
          </a:p>
          <a:p>
            <a:pPr algn="l">
              <a:lnSpc>
                <a:spcPct val="112000"/>
              </a:lnSpc>
              <a:spcBef>
                <a:spcPts val="0"/>
              </a:spcBef>
              <a:spcAft>
                <a:spcPts val="900"/>
              </a:spcAft>
            </a:pPr>
            <a:r>
              <a:rPr sz="1500" b="0" i="0">
                <a:solidFill>
                  <a:srgbClr val="FFFFFF"/>
                </a:solidFill>
                <a:latin typeface="Arial"/>
              </a:rPr>
              <a:t>C.  Make a buying climax</a:t>
            </a:r>
          </a:p>
          <a:p>
            <a:pPr algn="l">
              <a:lnSpc>
                <a:spcPct val="112000"/>
              </a:lnSpc>
              <a:spcBef>
                <a:spcPts val="0"/>
              </a:spcBef>
              <a:spcAft>
                <a:spcPts val="900"/>
              </a:spcAft>
            </a:pPr>
            <a:r>
              <a:rPr sz="1500" b="0" i="0">
                <a:solidFill>
                  <a:srgbClr val="FFFFFF"/>
                </a:solidFill>
                <a:latin typeface="Arial"/>
              </a:rPr>
              <a:t>D.  Gap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18</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ADL</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bar closes exactly at the midpoint of its range. What does it add to the ADL?</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Nothing</a:t>
            </a:r>
          </a:p>
          <a:p>
            <a:pPr algn="l">
              <a:lnSpc>
                <a:spcPct val="115000"/>
              </a:lnSpc>
              <a:spcBef>
                <a:spcPts val="700"/>
              </a:spcBef>
              <a:spcAft>
                <a:spcPts val="0"/>
              </a:spcAft>
            </a:pPr>
            <a:r>
              <a:rPr sz="1600" b="0" i="0">
                <a:solidFill>
                  <a:srgbClr val="1A1A1A"/>
                </a:solidFill>
                <a:latin typeface="Arial"/>
              </a:rPr>
              <a:t>When C = (H + L) / 2, the factor (C - L) - (H - C) is zero, so nothing is added or subtracted.</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OBV and the ADL move in opposite directions. Price tends to:</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Range or consolidate</a:t>
            </a:r>
          </a:p>
          <a:p>
            <a:pPr algn="l">
              <a:lnSpc>
                <a:spcPct val="115000"/>
              </a:lnSpc>
              <a:spcBef>
                <a:spcPts val="700"/>
              </a:spcBef>
              <a:spcAft>
                <a:spcPts val="0"/>
              </a:spcAft>
            </a:pPr>
            <a:r>
              <a:rPr sz="1600" b="0" i="0">
                <a:solidFill>
                  <a:srgbClr val="1A1A1A"/>
                </a:solidFill>
                <a:latin typeface="Arial"/>
              </a:rPr>
              <a:t>When the two move in opposite directions there is a tendency for price to range or consolidate.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18</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the ADL's signed volume over N bars, over their volume. The oscillator: two averages of its running total.</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Signed volumes 2.0, 0 and -0.5 million on volumes 2.0, 1.0 and 1.0 million: CMF = 1.5 / 4.0 = 0.375.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is the multiplying factor times volume. N-period CMF: the N-period sum of S over the N-period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two EMA lengths. EMA: an exponential moving average, Chapter 11. N: a number of periods. The bars and volumes are ours.</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sell, or bearish, signal: each breaks the rising line drawn under it. The Chaikin oscillator breaks first, the CMF later.</a:t>
            </a:r>
          </a:p>
          <a:p>
            <a:pPr algn="l">
              <a:lnSpc>
                <a:spcPct val="105000"/>
              </a:lnSpc>
              <a:spcBef>
                <a:spcPts val="0"/>
              </a:spcBef>
              <a:spcAft>
                <a:spcPts val="1100"/>
              </a:spcAft>
            </a:pPr>
            <a:r>
              <a:rPr sz="2000" b="0" i="0">
                <a:solidFill>
                  <a:srgbClr val="1A1A1A"/>
                </a:solidFill>
                <a:latin typeface="Arial"/>
              </a:rPr>
              <a:t>Oversold levels on both point to a potential market bottom in copper around October 2011.</a:t>
            </a:r>
          </a:p>
        </p:txBody>
      </p:sp>
      <p:sp>
        <p:nvSpPr>
          <p:cNvPr id="8" name="Rectangle 7"/>
          <p:cNvSpPr/>
          <p:nvPr/>
        </p:nvSpPr>
        <p:spPr>
          <a:xfrm>
            <a:off x="777240" y="473659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73168"/>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Chaikin oscillator gives the earlier signal.</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figure prints CMF(20) and ChiOsc(3,10); the text gives no settings.</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14</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in the NYSE's rising stocks set against volume in its falling ones.</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6.44: the indicator breaks its rising trendline first, an early bearish signal; the NYSE Composite breaks later.</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price-based volume oscillator that also uses open interest, so it can only be used where there is open interest: futures and options.</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On a gold futures chart it can be read. On a PSE share, which has no open interest, it cannot.</a:t>
            </a:r>
          </a:p>
        </p:txBody>
      </p:sp>
      <p:sp>
        <p:nvSpPr>
          <p:cNvPr id="11" name="Rectangle 10"/>
          <p:cNvSpPr/>
          <p:nvPr/>
        </p:nvSpPr>
        <p:spPr>
          <a:xfrm>
            <a:off x="777240" y="4575556"/>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Bearish signals: money flowing out; bullish signals: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14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who holds the open positions in a futures market, group by group.</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Traders look for changes in the net commercial or non-commercial positions, and for a test of a significant or historical open interest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it does not define net. The chart is ours, on invented prices and open interest.</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other volume oscillators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the Herrick Payoff Index only be used with futures and options?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uses tick volume</a:t>
            </a:r>
          </a:p>
          <a:p>
            <a:pPr algn="l">
              <a:lnSpc>
                <a:spcPct val="112000"/>
              </a:lnSpc>
              <a:spcBef>
                <a:spcPts val="0"/>
              </a:spcBef>
              <a:spcAft>
                <a:spcPts val="900"/>
              </a:spcAft>
            </a:pPr>
            <a:r>
              <a:rPr sz="1500" b="0" i="0">
                <a:solidFill>
                  <a:srgbClr val="FFFFFF"/>
                </a:solidFill>
                <a:latin typeface="Arial"/>
              </a:rPr>
              <a:t>B.  It is non-price-based</a:t>
            </a:r>
          </a:p>
          <a:p>
            <a:pPr algn="l">
              <a:lnSpc>
                <a:spcPct val="112000"/>
              </a:lnSpc>
              <a:spcBef>
                <a:spcPts val="0"/>
              </a:spcBef>
              <a:spcAft>
                <a:spcPts val="900"/>
              </a:spcAft>
            </a:pPr>
            <a:r>
              <a:rPr sz="1500" b="0" i="0">
                <a:solidFill>
                  <a:srgbClr val="FFFFFF"/>
                </a:solidFill>
                <a:latin typeface="Arial"/>
              </a:rPr>
              <a:t>C.  It uses open interest in its calculations</a:t>
            </a:r>
          </a:p>
          <a:p>
            <a:pPr algn="l">
              <a:lnSpc>
                <a:spcPct val="112000"/>
              </a:lnSpc>
              <a:spcBef>
                <a:spcPts val="0"/>
              </a:spcBef>
              <a:spcAft>
                <a:spcPts val="900"/>
              </a:spcAft>
            </a:pPr>
            <a:r>
              <a:rPr sz="1500" b="0" i="0">
                <a:solidFill>
                  <a:srgbClr val="FFFFFF"/>
                </a:solidFill>
                <a:latin typeface="Arial"/>
              </a:rPr>
              <a:t>D.  It is released every Friday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the Chaikin Money Flow, three bars have signed volumes of 3.0, 1.0 and -2.0 million on volumes of 4.0, 2.0 and 2.0 million. The CMF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0.25</a:t>
            </a:r>
          </a:p>
          <a:p>
            <a:pPr algn="l">
              <a:lnSpc>
                <a:spcPct val="112000"/>
              </a:lnSpc>
              <a:spcBef>
                <a:spcPts val="0"/>
              </a:spcBef>
              <a:spcAft>
                <a:spcPts val="900"/>
              </a:spcAft>
            </a:pPr>
            <a:r>
              <a:rPr sz="1500" b="0" i="0">
                <a:solidFill>
                  <a:srgbClr val="FFFFFF"/>
                </a:solidFill>
                <a:latin typeface="Arial"/>
              </a:rPr>
              <a:t>B.  2.0</a:t>
            </a:r>
          </a:p>
          <a:p>
            <a:pPr algn="l">
              <a:lnSpc>
                <a:spcPct val="112000"/>
              </a:lnSpc>
              <a:spcBef>
                <a:spcPts val="0"/>
              </a:spcBef>
              <a:spcAft>
                <a:spcPts val="900"/>
              </a:spcAft>
            </a:pPr>
            <a:r>
              <a:rPr sz="1500" b="0" i="0">
                <a:solidFill>
                  <a:srgbClr val="FFFFFF"/>
                </a:solidFill>
                <a:latin typeface="Arial"/>
              </a:rPr>
              <a:t>C.  0.5</a:t>
            </a:r>
          </a:p>
          <a:p>
            <a:pPr algn="l">
              <a:lnSpc>
                <a:spcPct val="112000"/>
              </a:lnSpc>
              <a:spcBef>
                <a:spcPts val="0"/>
              </a:spcBef>
              <a:spcAft>
                <a:spcPts val="900"/>
              </a:spcAft>
            </a:pPr>
            <a:r>
              <a:rPr sz="1500" b="0" i="0">
                <a:solidFill>
                  <a:srgbClr val="FFFFFF"/>
                </a:solidFill>
                <a:latin typeface="Arial"/>
              </a:rPr>
              <a:t>D.  -2.0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19</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other volume oscillators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may the Herrick Payoff Index only be used with futures and options?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It uses open interest in its calculations</a:t>
            </a:r>
          </a:p>
          <a:p>
            <a:pPr algn="l">
              <a:lnSpc>
                <a:spcPct val="115000"/>
              </a:lnSpc>
              <a:spcBef>
                <a:spcPts val="700"/>
              </a:spcBef>
              <a:spcAft>
                <a:spcPts val="0"/>
              </a:spcAft>
            </a:pPr>
            <a:r>
              <a:rPr sz="1600" b="0" i="0">
                <a:solidFill>
                  <a:srgbClr val="1A1A1A"/>
                </a:solidFill>
                <a:latin typeface="Arial"/>
              </a:rPr>
              <a:t>The Herrick Payoff Index uses open interest, which only futures and options have.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the Chaikin Money Flow, three bars have signed volumes of 3.0, 1.0 and -2.0 million on volumes of 4.0, 2.0 and 2.0 million. The CMF 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0.25</a:t>
            </a:r>
          </a:p>
          <a:p>
            <a:pPr algn="l">
              <a:lnSpc>
                <a:spcPct val="115000"/>
              </a:lnSpc>
              <a:spcBef>
                <a:spcPts val="700"/>
              </a:spcBef>
              <a:spcAft>
                <a:spcPts val="0"/>
              </a:spcAft>
            </a:pPr>
            <a:r>
              <a:rPr sz="1600" b="0" i="0">
                <a:solidFill>
                  <a:srgbClr val="1A1A1A"/>
                </a:solidFill>
                <a:latin typeface="Arial"/>
              </a:rPr>
              <a:t>The sum of S, 2.0, divided by the sum of volume, 8.0, is 0.25.</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19</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is participation: moving with price, bullish; against it, bearish.</a:t>
            </a:r>
          </a:p>
          <a:p>
            <a:pPr algn="l">
              <a:lnSpc>
                <a:spcPct val="118000"/>
              </a:lnSpc>
              <a:spcBef>
                <a:spcPts val="0"/>
              </a:spcBef>
              <a:spcAft>
                <a:spcPts val="1300"/>
              </a:spcAft>
            </a:pPr>
            <a:r>
              <a:rPr sz="2100" b="0" i="0">
                <a:solidFill>
                  <a:srgbClr val="1A1A1A"/>
                </a:solidFill>
                <a:latin typeface="Arial"/>
              </a:rPr>
              <a:t>Volume falling is divergence, rising is confirmation, whatever price does.</a:t>
            </a:r>
          </a:p>
          <a:p>
            <a:pPr algn="l">
              <a:lnSpc>
                <a:spcPct val="118000"/>
              </a:lnSpc>
              <a:spcBef>
                <a:spcPts val="0"/>
              </a:spcBef>
              <a:spcAft>
                <a:spcPts val="1300"/>
              </a:spcAft>
            </a:pPr>
            <a:r>
              <a:rPr sz="2100" b="0" i="0">
                <a:solidFill>
                  <a:srgbClr val="1A1A1A"/>
                </a:solidFill>
                <a:latin typeface="Arial"/>
              </a:rPr>
              <a:t>Minimum volume times breakouts and reversals; extreme volume, climaxes.</a:t>
            </a:r>
          </a:p>
          <a:p>
            <a:pPr algn="l">
              <a:lnSpc>
                <a:spcPct val="118000"/>
              </a:lnSpc>
              <a:spcBef>
                <a:spcPts val="0"/>
              </a:spcBef>
              <a:spcAft>
                <a:spcPts val="1300"/>
              </a:spcAft>
            </a:pPr>
            <a:r>
              <a:rPr sz="2100" b="0" i="0">
                <a:solidFill>
                  <a:srgbClr val="1A1A1A"/>
                </a:solidFill>
                <a:latin typeface="Arial"/>
              </a:rPr>
              <a:t>Barriers, filters and volume by price pick out the volume that matters.</a:t>
            </a:r>
          </a:p>
          <a:p>
            <a:pPr algn="l">
              <a:lnSpc>
                <a:spcPct val="118000"/>
              </a:lnSpc>
              <a:spcBef>
                <a:spcPts val="0"/>
              </a:spcBef>
              <a:spcAft>
                <a:spcPts val="1300"/>
              </a:spcAft>
            </a:pPr>
            <a:r>
              <a:rPr sz="2100" b="0" i="0">
                <a:solidFill>
                  <a:srgbClr val="1A1A1A"/>
                </a:solidFill>
                <a:latin typeface="Arial"/>
              </a:rPr>
              <a:t>Open interest reads like volume; the OBV, ADL and Chaikin pair use price.</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book's summary: price-based volume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against tick volume?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Volume cycles: their use, and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questions, on six lines: the first and last lines carry two each.</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and where it says two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Used, not explained: overbought, oversold, Bollinger Bands and Bandwidth, MACD, EMA, the tick, the cycle-tuned stochastic.</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by chapter: oscillators 8, divergence 9, moving averages and the VWMA's calculation 11.</a:t>
            </a:r>
          </a:p>
          <a:p>
            <a:pPr algn="l">
              <a:lnSpc>
                <a:spcPct val="118000"/>
              </a:lnSpc>
              <a:spcBef>
                <a:spcPts val="0"/>
              </a:spcBef>
              <a:spcAft>
                <a:spcPts val="1300"/>
              </a:spcAft>
            </a:pPr>
            <a:r>
              <a:rPr sz="2100" b="0" i="0">
                <a:solidFill>
                  <a:srgbClr val="1A1A1A"/>
                </a:solidFill>
                <a:latin typeface="Arial"/>
              </a:rPr>
              <a:t>Two answers: above the VWMA, bullish or overvalued; a bullish TRIN, overbought or oversold; the up/down line, ratio or cumulative.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the book disagrees with itself, the slide says so.</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numbers after Sent ahead are the book's chapters.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