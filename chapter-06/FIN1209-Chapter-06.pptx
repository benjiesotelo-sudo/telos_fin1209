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both lines with the numbers. In each trend the big volume is on the move with the trend and the small volume on the move against it.</a:t>
            </a:r>
          </a:p>
          <a:p>
            <a:r>
              <a:rPr sz="1400"/>
              <a:t>- The trap the room falls into: price falling on rising volume sounds bullish. It is not. Name it now and the next two slides explain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question the room asks: more volume as price falls, is that not more demand? No. Each of those shares was sold by someone as well as bought.</a:t>
            </a:r>
          </a:p>
          <a:p>
            <a:r>
              <a:rPr sz="1400"/>
              <a:t>- Volume says how many take part. Price says which way they are pushing. Together they say whether the push has backing.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layers. The first is mechanical and needs only two arrows. The second brings in the trend, and asks whether the volume backs it.</a:t>
            </a:r>
          </a:p>
          <a:p>
            <a:r>
              <a:rPr sz="1400"/>
              <a:t>- Volume that does not confirm is the other kind: bearish volume in an uptrend, bullish volume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room will try to map bullish onto confirmation and bearish onto divergence. The second example breaks that mapping.</a:t>
            </a:r>
          </a:p>
          <a:p>
            <a:r>
              <a:rPr sz="1400"/>
              <a:t>- Keep both answers. The next slides put them together into one name.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phrases share a word. The tenet looks at the whole trend; volume confirmation looks at one stretch of volume.</a:t>
            </a:r>
          </a:p>
          <a:p>
            <a:r>
              <a:rPr sz="1400"/>
              <a:t>- So the uptrend dip on falling volume is bullish volume that confirms the trend, and on its own it is a bullish divergence. Both are the book's.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formal row is the book's own summary of all four scenarios, page 178. The next slide is what each one warns of.</a:t>
            </a:r>
          </a:p>
          <a:p>
            <a:r>
              <a:rPr sz="1400"/>
              <a:t>- Bullish or bearish comes from the term Bullish volume and bearish volume: together or apart. Divergence or confirmation from the term before this one: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name says something about participation, which is the two principles again: more or fewer want to take part in the move price is making.</a:t>
            </a:r>
          </a:p>
          <a:p>
            <a:r>
              <a:rPr sz="1400"/>
              <a:t>- Downtrend and uptrend are the book's words for where each divergence can occur. Figure 6.6 tests that, and the slide there says so.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The oscillators there were the MACD and the bar stochastic. Reverse divergence was named in Chapter 5 and left to Chapter 9; the book says volume has no such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a:p>
            <a:r>
              <a:rPr sz="1400"/>
              <a:t>- Chapter 4's Figure 4.18 was an intraday chart of this stock too.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a:p>
            <a:r>
              <a:rPr sz="1400"/>
              <a:t>- Period 3: the book says there is no divergence reading in a consolidation, because price moves sideways. Part 2 is where that page is taught.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here means an indicator drawn in its own panel under the price. That gloss is ours: this chapter never defines the word, and Chapter 8 is oscillators.</a:t>
            </a:r>
          </a:p>
          <a:p>
            <a:r>
              <a:rPr sz="1400"/>
              <a:t>- The example's second line starts at 0, adds 3 on the higher close, subtracts 1 on the lower: 0, 3, 2. It cannot be drawn without the closes. Part 6 names it the On Balance Volume.</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Read a price-based line the way you read price itself: up is bullish, down is bearish. Then compare it with price for divergence or confirmation.</a:t>
            </a:r>
          </a:p>
          <a:p>
            <a:r>
              <a:rPr sz="1400"/>
              <a:t>- Why the two kinds differ: the book gives the figure and no reason, so give none.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Only two of the figure's eight arrows change, and they are both with price falling. Read those two lines slowly.</a:t>
            </a:r>
          </a:p>
          <a:p>
            <a:r>
              <a:rPr sz="1400"/>
              <a:t>- Plain volume: up is confirmation, down is divergence. A price-based line: with price is confirmation, against price is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Read the numbers off the chart with the room: 2.5 million at the start, 0.42 at 1, 3.6 on the breakout bar at 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four steps in order. Step 2 is the one students miss: the orders that start the move were placed during the quiet range.</a:t>
            </a:r>
          </a:p>
          <a:p>
            <a:r>
              <a:rPr sz="1400"/>
              <a:t>- Step 4 is the book's either an upside or downside breakout. The signal is about timing only.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 Figure 6.9 has two, at its time lines 1 and 2.</a:t>
            </a:r>
          </a:p>
          <a:p>
            <a:r>
              <a:rPr sz="1400"/>
              <a:t>- The book gives a tendency and no rule for where the low volume level goes. Figure 6.9 draws it by eye, and so does this chart, as its footnote says.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The arithmetic is the next slide, and it is ours: the book leaves its own calculation to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plain average first, then the weighted one, and ask why the second is higher. The answer is the heavy day.</a:t>
            </a:r>
          </a:p>
          <a:p>
            <a:r>
              <a:rPr sz="1400"/>
              <a:t>- Say plainly this is our computation, the one the two VWMA charts use. The book's own is in Chapter 11 and is not examined here.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Ask for the two choices that make the four names: where the turn is, and whether volume is huge or tiny.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question a student asks first: if every share sold was bought, why call it a sell-off? Because of who is rushing, and which way price had been going.</a:t>
            </a:r>
          </a:p>
          <a:p>
            <a:r>
              <a:rPr sz="1400"/>
              <a:t>- The heavy volume of a selling climax is the panicked selling, and the informed buyers absorbing it. The quiet turns get their own figure after the climaxes,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arrows from the ellipse down to the volume panel: each joins a selling climax to its spike.</a:t>
            </a:r>
          </a:p>
          <a:p>
            <a:r>
              <a:rPr sz="1400"/>
              <a:t>- Upper for the big turns, lower for the corrections. What each tells, with the figure's numbers,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trap is the word lower. A lower overextended level is still high volume, only less extreme.</a:t>
            </a:r>
          </a:p>
          <a:p>
            <a:r>
              <a:rPr sz="1400"/>
              <a:t>- Which way the turn goes is the book's caution at the end of this part: overbought or oversold, only in retrospect.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Ask the room where they would draw it on this chart to catch only the circled spikes.</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it to the arithmetic. Part 3 teaches the sigma filter properly, with its own worked example and the bar-by-bar method.</a:t>
            </a:r>
          </a:p>
          <a:p>
            <a:r>
              <a:rPr sz="1400"/>
              <a:t>- The point for today is that the eye-drawn line and the computed one agree on Figure 6.14: the circled spikes clear both.</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lower, wavy stretch of the bottom panel is what the book calls noise.</a:t>
            </a:r>
          </a:p>
          <a:p>
            <a:r>
              <a:rPr sz="1400"/>
              <a:t>- This slide goes with the one before: drop both or neither.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tops are in late 2007, the clearest bottom in March 2009. The threshold is again drawn by eye.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This slide is where it is because the book puts the caution here, after the low volume tops and bottoms. Say so, and point back to the climaxes it is about.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answers why the deck goes back to high volume: it is the book's order, and the caution is about the spikes.</a:t>
            </a:r>
          </a:p>
          <a:p>
            <a:r>
              <a:rPr sz="1400"/>
              <a:t>- Do not extend the caution to the low volume turns. The book does not, so the course does not.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Work the two sums on the board: 67 million for the record day's month against 120 million for the busy month.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The jump explanation matches the chart's own footnote, here given as the reason instead of just the fact.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Follow each of the three arrows down to the surge under it. Then find the April 2011 top: a dotted upright, and no arrow.</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beside the two figures already shown.</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- 28 is the number of bars from trough 3, bar 44, to X, bar 72, on the step by step chart.</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of its own: it reads Figure 6.23, on the slide before, as a whole.</a:t>
            </a:r>
          </a:p>
          <a:p>
            <a:r>
              <a:rPr sz="1400"/>
              <a:t>- Look at the three ovals on the volume panel: they sit under 1, under 2 and 3, and under 5 and 6.</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of its own: the chart beside the term is these four days, one column each.</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these three steps as columns.</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finishes the book's rules from the last slide's figure. Do not settle the gaps; name them.</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two lines of the chart on the last slide, after the step 4 prices were found.</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of the term slide, done four times. Say each pair of numbers,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reasons, worked with numbers.</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two rest bars and sets them against Chapter 5.</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one sentence of reason.</a:t>
            </a:r>
          </a:p>
          <a:p>
            <a:r>
              <a:rPr sz="1400"/>
              <a:t>- The X reading is ours, from the figure. The book only says continuation bars are more reliable with the predominant trend.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behind the figure's two labels.</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last slide's small breakout with its numbers said aloud.</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geometry of the last slide's two charts, in numbers.</a:t>
            </a:r>
          </a:p>
          <a:p>
            <a:r>
              <a:rPr sz="1400"/>
              <a:t>- Count the steps: 15 on the daily chart, 10 plus 10 on the equivolume chart.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list without a figure, so this slide has no picture. Say the names and the kind of each.</a:t>
            </a:r>
          </a:p>
          <a:p>
            <a:r>
              <a:rPr sz="1400"/>
              <a:t>- Part 1's rule: on plain volume, divergence is volume falling; on a price-based oscillator, it is the oscillator moving against price.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letters in order on the chart. A is Part 1's divergence; B and C are the two other readings Figures 6.43 and 6.44 use.</a:t>
            </a:r>
          </a:p>
          <a:p>
            <a:r>
              <a:rPr sz="1400"/>
              <a:t>- Do not teach the other five methods: the book sends them to Chapter 8.</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by day, pointing at the middle panel: the sign comes from the close, the size from the volume.</a:t>
            </a:r>
          </a:p>
          <a:p>
            <a:r>
              <a:rPr sz="1400"/>
              <a:t>- Only the direction of the close matters, not how far it moved. That is the weakness a few slides on.</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numbers of the last slide's example. Ask the room what day 6 would read had it closed up.</a:t>
            </a:r>
          </a:p>
          <a:p>
            <a:r>
              <a:rPr sz="1400"/>
              <a:t>- Day 6 closing up would add 1.0 instead of taking it away: 3.5 + 1.0 = 4.5.</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Shift the start and the whole line moves up or down, but every rise and fall stays the same.</a:t>
            </a:r>
          </a:p>
          <a:p>
            <a:r>
              <a:rPr sz="1400"/>
              <a:t>- Absolute value and relative value are the book's words; level and changes are the plain ones.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bar went far higher and still counts as a down day, because it closed a little lower.</a:t>
            </a:r>
          </a:p>
          <a:p>
            <a:r>
              <a:rPr sz="1400"/>
              <a:t>- Redress is the book's word: to put right.</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lower low is a low below the last one; a higher low, above it. Point at the two lines: same weeks, opposite directions.</a:t>
            </a:r>
          </a:p>
          <a:p>
            <a:r>
              <a:rPr sz="1400"/>
              <a:t>- Part 1: divergence is an early indication of a potential reversal. Here the fall did reverse.</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on price and an arrow down on the OBV. The first price arrow, March to April, holds level.</a:t>
            </a:r>
          </a:p>
          <a:p>
            <a:r>
              <a:rPr sz="1400"/>
              <a:t>- Plain volume falling as price rises would also be bearish divergence: this is the case the two kinds read alike.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The next slide works all three bars.</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the last slide's example in numbers. Point back at the three bars as you go.</a:t>
            </a:r>
          </a:p>
          <a:p>
            <a:r>
              <a:rPr sz="1400"/>
              <a:t>- Ask the room for a close at 51: (3 - 1) / 4 = 0.5, so add 1.0 million.</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one bar read two ways. Draw it on the board if the room wants it.</a:t>
            </a:r>
          </a:p>
          <a:p>
            <a:r>
              <a:rPr sz="1400"/>
              <a:t>- Today closed near the top of its own range, which the ADL counts as buying. The OBV counts only the tiny fall from 50.00.</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Taking part, its word, means trading on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the figure calls it a lack of clarity and strength. Right ellipse: both rise, and price trends.</a:t>
            </a:r>
          </a:p>
          <a:p>
            <a:r>
              <a:rPr sz="1400"/>
              <a:t>- Range or consolidate, the book's words: Chapter 4's consolidation, price going sideways between a high and a low.</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factor times the bar's volume. N is the number of bars, as in Part 3's lookback.</a:t>
            </a:r>
          </a:p>
          <a:p>
            <a:r>
              <a:rPr sz="1400"/>
              <a:t>- What the CMF's number means comes next, then the oscillator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number. Ask what the CMF would be had all three bars closed at their highs: 6.0 / 6.0 = 1.</a:t>
            </a:r>
          </a:p>
          <a:p>
            <a:r>
              <a:rPr sz="1400"/>
              <a:t>- Do not call a positive CMF bullish on the book's authority: the book does not say so.</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steps down the chart: the black total, the two averages that trail it, and their gap in the bottom panel.</a:t>
            </a:r>
          </a:p>
          <a:p>
            <a:r>
              <a:rPr sz="1400"/>
              <a:t>- The gold average follows the total closely, the green one slowly. When the total turns down, gold crosses below green and the oscillator goes negative.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chart in words. The book gives no lengths; its figure prints them.</a:t>
            </a:r>
          </a:p>
          <a:p>
            <a:r>
              <a:rPr sz="1400"/>
              <a:t>- A rising total means the CMFs being added are positive, by the last slides'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near 4.5 in early August: the oscillator's comes first.</a:t>
            </a:r>
          </a:p>
          <a:p>
            <a:r>
              <a:rPr sz="1400"/>
              <a:t>- Readings B and C of the part's second slide: a line on the indicator, and an oversold level, used and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ratio and no example; the numbers are ours. Up and down volume were read the same way for the TRIN in Part 4.</a:t>
            </a:r>
          </a:p>
          <a:p>
            <a:r>
              <a:rPr sz="1400"/>
              <a:t>- Non-price-based: it holds no price of its own, so it is read like plain volume: falling is divergence, rising confirmation; with price, bullish.</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NYSE Composite Index is the price the indicator is read against. The arrow joins the two breaks.</a:t>
            </a:r>
          </a:p>
          <a:p>
            <a:r>
              <a:rPr sz="1400"/>
              <a:t>- Say the gap plainly: a ratio of two volumes cannot be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Price-based, so Part 1's rule: rising is bullish, falling bearish; against price, divergence. It may be read with any or all of the eight methods.</a:t>
            </a:r>
          </a:p>
          <a:p>
            <a:r>
              <a:rPr sz="1400"/>
              <a:t>- Money flowing out and in are the book's words for what a bearish and a bullish signal indicate.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Hedgers were named in Chapter 1 among the participants. Commercial and non-commercial are the report's own groups.</a:t>
            </a:r>
          </a:p>
          <a:p>
            <a:r>
              <a:rPr sz="1400"/>
              <a:t>- A test means open interest coming back to a level it reached before, the way price retests a barrier in Part 3.</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uses. Do not supply a formula for net; the book gives none.</a:t>
            </a:r>
          </a:p>
          <a:p>
            <a:r>
              <a:rPr sz="1400"/>
              <a:t>- Commercials are hedgers, Chapter 1's participants; non-commercials are hedge funds, financial institutions and large traders.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through. The next slide says where in the deck each is answered.</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each part's name as you read its line, so the room can find the slides again.</a:t>
            </a:r>
          </a:p>
          <a:p>
            <a:r>
              <a:rPr sz="1400"/>
              <a:t>- Question 3's answer is the slide on standard divergence against volume divergence, in Part 1.</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Question 5 is the four filters of Part 3; question 8 is the intraday volume cycle of Part 5.</a:t>
            </a:r>
          </a:p>
          <a:p>
            <a:r>
              <a:rPr sz="1400"/>
              <a:t>- Question 7 is Part 4's opening: relative volume compares, absolute volume measures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Do not teach any of these today. Each is named where it appears.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pick a side for the book. Say both readings and move on.</a:t>
            </a:r>
          </a:p>
          <a:p>
            <a:r>
              <a:rPr sz="1400"/>
              <a:t>- The captions that disagree with their charts are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0" i="0">
                <a:solidFill>
                  <a:srgbClr val="1A1A1A"/>
                </a:solidFill>
                <a:latin typeface="Arial"/>
              </a:rPr>
              <a:t>Uptrend: volume rises as price rises, falls on the dips. The book calls this bullish volume action.</a:t>
            </a:r>
          </a:p>
          <a:p>
            <a:pPr algn="l">
              <a:lnSpc>
                <a:spcPct val="105000"/>
              </a:lnSpc>
              <a:spcBef>
                <a:spcPts val="0"/>
              </a:spcBef>
              <a:spcAft>
                <a:spcPts val="1100"/>
              </a:spcAft>
            </a:pPr>
            <a:r>
              <a:rPr sz="1700" b="0" i="0">
                <a:solidFill>
                  <a:srgbClr val="1A1A1A"/>
                </a:solidFill>
                <a:latin typeface="Arial"/>
              </a:rPr>
              <a:t>Downtrend: volume rises as price falls, falls on the bounces. The book calls this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about 260 in 2001 to 1,900 in 2011 as volume expands: bullish. Then to about 1,200 in 2013 as volume declines: bullish too.</a:t>
            </a:r>
          </a:p>
        </p:txBody>
      </p:sp>
      <p:sp>
        <p:nvSpPr>
          <p:cNvPr id="8" name="Rectangle 7"/>
          <p:cNvSpPr/>
          <p:nvPr/>
        </p:nvSpPr>
        <p:spPr>
          <a:xfrm>
            <a:off x="777240" y="422452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1511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0" i="0">
                <a:solidFill>
                  <a:srgbClr val="1A1A1A"/>
                </a:solidFill>
                <a:latin typeface="Arial"/>
              </a:rPr>
              <a:t>Uptrend, ours: PHP 40 to 46 as volume shrinks 4 to 2 million, dip to 44 as it grows to 3. Opposite ways: bearish volume, a potentially weak uptrend.</a:t>
            </a:r>
          </a:p>
          <a:p>
            <a:pPr algn="l">
              <a:lnSpc>
                <a:spcPct val="105000"/>
              </a:lnSpc>
              <a:spcBef>
                <a:spcPts val="0"/>
              </a:spcBef>
              <a:spcAft>
                <a:spcPts val="1100"/>
              </a:spcAft>
            </a:pPr>
            <a:r>
              <a:rPr sz="1700" b="0" i="0">
                <a:solidFill>
                  <a:srgbClr val="1A1A1A"/>
                </a:solidFill>
                <a:latin typeface="Arial"/>
              </a:rPr>
              <a:t>Downtrend, ours: PHP 50 to 46 as volume shrinks 4 to 2 million, bounce to 48 as it grows to 3. Same way: bullish volume, a potentially bullish downtrend.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Price and volume fall together: bullish volume. In an uptrend bullish volume is the confirming kind, so D is wrong too.</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Price down, volume up: opposite ways, bearish volume. In a downtrend that is the confirming kind: volume expanding with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Figure 6.6, below, does the same: bullish volume overall, with two dips labelled bullish divergence.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 Figure 6.6: p.178.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volume falling as price rises: fewer will buy higher, a potential downside reversal. Confirmation: a potential continuation.</a:t>
            </a:r>
          </a:p>
          <a:p>
            <a:pPr algn="l">
              <a:lnSpc>
                <a:spcPct val="118000"/>
              </a:lnSpc>
              <a:spcBef>
                <a:spcPts val="0"/>
              </a:spcBef>
              <a:spcAft>
                <a:spcPts val="1300"/>
              </a:spcAft>
            </a:pPr>
            <a:r>
              <a:rPr sz="2100" b="0" i="0">
                <a:solidFill>
                  <a:srgbClr val="1A1A1A"/>
                </a:solidFill>
                <a:latin typeface="Arial"/>
              </a:rPr>
              <a:t>The book says bullish divergence can only occur in a downtrend, bearish only in an uptrend (p.176), yet Figure 6.6 finds bullish divergence in uptrend dips.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Our reading: the p.178 summary on any stretch, so a dip inside an uptrend can be bullish divergence. 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 Where each can occur is its p.176 to 177 wording.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volume falls as price falls: volume falling, divergence; with price, bullish. Fewer are willing to sell lower.</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7 and 9: price and volume rise, bullish confirmation. 4 and 6: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Non-price-based, plain volume included: bullish if it moves with price, bearish if against. Divergence if it falls, confirmation if it rises.</a:t>
            </a:r>
          </a:p>
          <a:p>
            <a:pPr algn="l">
              <a:lnSpc>
                <a:spcPct val="105000"/>
              </a:lnSpc>
              <a:spcBef>
                <a:spcPts val="0"/>
              </a:spcBef>
              <a:spcAft>
                <a:spcPts val="1100"/>
              </a:spcAft>
            </a:pPr>
            <a:r>
              <a:rPr sz="1700" b="0" i="0">
                <a:solidFill>
                  <a:srgbClr val="1A1A1A"/>
                </a:solidFill>
                <a:latin typeface="Arial"/>
              </a:rPr>
              <a:t>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box plain volume, right box price-based. Only two volume arrows flip.</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01091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four names on both kinds. The prices and the volume and OBV numbers are ours.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25</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trust rises from about 129 to 133, October to January.</a:t>
            </a:r>
          </a:p>
          <a:p>
            <a:pPr algn="l">
              <a:lnSpc>
                <a:spcPct val="105000"/>
              </a:lnSpc>
              <a:spcBef>
                <a:spcPts val="0"/>
              </a:spcBef>
              <a:spcAft>
                <a:spcPts val="1100"/>
              </a:spcAft>
            </a:pPr>
            <a:r>
              <a:rPr sz="1700" b="0" i="0">
                <a:solidFill>
                  <a:srgbClr val="1A1A1A"/>
                </a:solidFill>
                <a:latin typeface="Arial"/>
              </a:rPr>
              <a:t>Volume and smoothed volume, a 20-day average, non-price-based: falling, against price: bearish divergence.</a:t>
            </a:r>
          </a:p>
          <a:p>
            <a:pPr algn="l">
              <a:lnSpc>
                <a:spcPct val="105000"/>
              </a:lnSpc>
              <a:spcBef>
                <a:spcPts val="0"/>
              </a:spcBef>
              <a:spcAft>
                <a:spcPts val="1100"/>
              </a:spcAft>
            </a:pPr>
            <a:r>
              <a:rPr sz="1700" b="0" i="0">
                <a:solidFill>
                  <a:srgbClr val="1A1A1A"/>
                </a:solidFill>
                <a:latin typeface="Arial"/>
              </a:rPr>
              <a:t>The PVO, a detrended volume oscillator the book never explains: non-price-based, falling: bearish divergence too.</a:t>
            </a:r>
          </a:p>
          <a:p>
            <a:pPr algn="l">
              <a:lnSpc>
                <a:spcPct val="105000"/>
              </a:lnSpc>
              <a:spcBef>
                <a:spcPts val="0"/>
              </a:spcBef>
              <a:spcAft>
                <a:spcPts val="1100"/>
              </a:spcAft>
            </a:pPr>
            <a:r>
              <a:rPr sz="1700" b="0" i="0">
                <a:solidFill>
                  <a:srgbClr val="1A1A1A"/>
                </a:solidFill>
                <a:latin typeface="Arial"/>
              </a:rPr>
              <a:t>ADL, price-based: rising, with price: bullish confirmation.</a:t>
            </a:r>
          </a:p>
        </p:txBody>
      </p:sp>
      <p:sp>
        <p:nvSpPr>
          <p:cNvPr id="8" name="Rectangle 7"/>
          <p:cNvSpPr/>
          <p:nvPr/>
        </p:nvSpPr>
        <p:spPr>
          <a:xfrm>
            <a:off x="777240" y="4729734"/>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61081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kind read by its own rule.</a:t>
            </a:r>
          </a:p>
        </p:txBody>
      </p:sp>
      <p:sp>
        <p:nvSpPr>
          <p:cNvPr id="10" name="TextBox 9"/>
          <p:cNvSpPr txBox="1"/>
          <p:nvPr/>
        </p:nvSpPr>
        <p:spPr>
          <a:xfrm>
            <a:off x="777240" y="5351526"/>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 Smoothed volume: Part 3.</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PVO and detrending are on the figure and not explained by the book.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rising is bullish and moving against price is divergence: bullish divergence.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 (Chapters 2 and 4).</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volume falls from about 2.5 million shares a bar to 0.42 million at 1, its lowest. At 2 price breaks out above PHP 52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low volume says when, not which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expect a breakout soon, and let price show the way.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 from the last slide's chart.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24</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yet a trade: price is in a range and volume sinks to its lowest level.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63093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the box marked Accumulation, lower right, is the range, informed buyers gathering shares (Chapters 2 and 4). The circle under it is volume touching the dashed low volume level.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24</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 rise into a fall or a fall into a rise, as volume sits at its minimum. In a range the lowest volume times a breakout; in a trend it can mark a turn.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from about 2.5 to 0.55 million as price climbs to PHP 56 at 1, and price turns down; again to 0.55 million as it falls to PHP 47 at 2, and it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Both draw the low level by eye.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1, 2 and 3.</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24</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the volume-weighted line, labelled VWAP; the book treats VWAP and VWMA as one line here.</a:t>
            </a:r>
          </a:p>
          <a:p>
            <a:pPr algn="l">
              <a:lnSpc>
                <a:spcPct val="105000"/>
              </a:lnSpc>
              <a:spcBef>
                <a:spcPts val="0"/>
              </a:spcBef>
              <a:spcAft>
                <a:spcPts val="1100"/>
              </a:spcAft>
            </a:pPr>
            <a:r>
              <a:rPr sz="1600" b="0" i="0">
                <a:solidFill>
                  <a:srgbClr val="1A1A1A"/>
                </a:solidFill>
                <a:latin typeface="Arial"/>
              </a:rPr>
              <a:t>Price rises decisively each time it crosses above the line, and falls after crossing below.</a:t>
            </a:r>
          </a:p>
          <a:p>
            <a:pPr algn="l">
              <a:lnSpc>
                <a:spcPct val="105000"/>
              </a:lnSpc>
              <a:spcBef>
                <a:spcPts val="0"/>
              </a:spcBef>
              <a:spcAft>
                <a:spcPts val="1100"/>
              </a:spcAft>
            </a:pPr>
            <a:r>
              <a:rPr sz="1600" b="0" i="0">
                <a:solidFill>
                  <a:srgbClr val="1A1A1A"/>
                </a:solidFill>
                <a:latin typeface="Arial"/>
              </a:rPr>
              <a:t>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the timing. Labels also mark the line as support, a floor, and resistance, a ceiling (Chapter 5).</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The book also calls a stock undervalued below the VWMA and overvalued above it: words it defines only by the side of the line.</a:t>
            </a:r>
          </a:p>
          <a:p>
            <a:pPr algn="l">
              <a:lnSpc>
                <a:spcPct val="105000"/>
              </a:lnSpc>
              <a:spcBef>
                <a:spcPts val="0"/>
              </a:spcBef>
              <a:spcAft>
                <a:spcPts val="1100"/>
              </a:spcAft>
            </a:pPr>
            <a:r>
              <a:rPr sz="1500" b="0" i="0">
                <a:solidFill>
                  <a:srgbClr val="1A1A1A"/>
                </a:solidFill>
                <a:latin typeface="Arial"/>
              </a:rPr>
              <a:t>Many institutional traders look for buy signals only below the line, sell signals only above. Ours, line at PHP 50: a buy signal at PHP 48 is taken, at PHP 52 passed over.</a:t>
            </a:r>
          </a:p>
          <a:p>
            <a:pPr algn="l">
              <a:lnSpc>
                <a:spcPct val="105000"/>
              </a:lnSpc>
              <a:spcBef>
                <a:spcPts val="0"/>
              </a:spcBef>
              <a:spcAft>
                <a:spcPts val="1100"/>
              </a:spcAft>
            </a:pPr>
            <a:r>
              <a:rPr sz="1500" b="0" i="0">
                <a:solidFill>
                  <a:srgbClr val="1A1A1A"/>
                </a:solidFill>
                <a:latin typeface="Arial"/>
              </a:rPr>
              <a:t>So above the line is potentially bullish, and also where institutions look to sell.</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Two readings of one line, both the book's.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Learn both, each in its own words. The book does not reconcile them or say which to act on.</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every turn is a stampede. The quiet pair are this part's low volume reversals, named by where price turns.</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turn on a stampede, or on silence: both are timing clues.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24</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under the ellipse, sets the upper level.</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Off Figure 6.12's scale: most days trade under 40 million shares; the lower line sits a little under 70 million, the upper a little above 120 million.</a:t>
            </a:r>
          </a:p>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The figure shows only bottoms; the book says the same level signals tops too.</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 Correction: Chapter 5. Not a promise: the book's word potential, said plainly.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then up to the top above it.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cross the dashed level. At the far right price breaks a significant support,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6.14 also draws a computed line, the rolling 100-day 2-sigma level; the book notes the spikes are all above it.</a:t>
            </a:r>
          </a:p>
          <a:p>
            <a:pPr algn="l">
              <a:lnSpc>
                <a:spcPct val="118000"/>
              </a:lnSpc>
              <a:spcBef>
                <a:spcPts val="0"/>
              </a:spcBef>
              <a:spcAft>
                <a:spcPts val="1300"/>
              </a:spcAft>
            </a:pPr>
            <a:r>
              <a:rPr sz="2100" b="0" i="0">
                <a:solidFill>
                  <a:srgbClr val="1A1A1A"/>
                </a:solidFill>
                <a:latin typeface="Arial"/>
              </a:rPr>
              <a:t>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Part 3 builds one bar by bar.</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line. Ours: the arithmetic, and the 20 and 10 million. Part 3's sigma filter is the full method, bar by bar.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to volume crossing the overextension lines, and up to turns in price.</a:t>
            </a:r>
          </a:p>
          <a:p>
            <a:pPr algn="l">
              <a:lnSpc>
                <a:spcPct val="105000"/>
              </a:lnSpc>
              <a:spcBef>
                <a:spcPts val="0"/>
              </a:spcBef>
              <a:spcAft>
                <a:spcPts val="1100"/>
              </a:spcAft>
            </a:pPr>
            <a:r>
              <a:rPr sz="1600" b="0" i="0">
                <a:solidFill>
                  <a:srgbClr val="1A1A1A"/>
                </a:solidFill>
                <a:latin typeface="Arial"/>
              </a:rPr>
              <a:t>At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Noise: most of the time the oscillator wanders low. Many practitioners filter out volatility below a threshold and regard it as noise.</a:t>
            </a:r>
          </a:p>
          <a:p>
            <a:pPr algn="l">
              <a:lnSpc>
                <a:spcPct val="118000"/>
              </a:lnSpc>
              <a:spcBef>
                <a:spcPts val="0"/>
              </a:spcBef>
              <a:spcAft>
                <a:spcPts val="1300"/>
              </a:spcAft>
            </a:pPr>
            <a:r>
              <a:rPr sz="2100" b="0" i="0">
                <a:solidFill>
                  <a:srgbClr val="1A1A1A"/>
                </a:solidFill>
                <a:latin typeface="Arial"/>
              </a:rPr>
              <a:t>On Figure 6.15 the threshold is the historical volatility level; the circled spikes rise above it.</a:t>
            </a:r>
          </a:p>
          <a:p>
            <a:pPr algn="l">
              <a:lnSpc>
                <a:spcPct val="118000"/>
              </a:lnSpc>
              <a:spcBef>
                <a:spcPts val="0"/>
              </a:spcBef>
              <a:spcAft>
                <a:spcPts val="1300"/>
              </a:spcAft>
            </a:pPr>
            <a:r>
              <a:rPr sz="2100" b="0" i="0">
                <a:solidFill>
                  <a:srgbClr val="1A1A1A"/>
                </a:solidFill>
                <a:latin typeface="Arial"/>
              </a:rPr>
              <a:t>The book shows the agreement and gives no rule for weighing it.</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idea as the overextension line: only readings above it count.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Evidence that corroborates: the chapter's first slide, p.173.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24</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drawn by eye. Each time line runs up to a turn, top or bottom: the touch does not say which.</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name the overextension today; overbought or oversold once price turns.</a:t>
            </a:r>
          </a:p>
          <a:p>
            <a:pPr algn="l">
              <a:lnSpc>
                <a:spcPct val="118000"/>
              </a:lnSpc>
              <a:spcBef>
                <a:spcPts val="0"/>
              </a:spcBef>
              <a:spcAft>
                <a:spcPts val="1300"/>
              </a:spcAft>
            </a:pPr>
            <a:r>
              <a:rPr sz="2100" b="0" i="0">
                <a:solidFill>
                  <a:srgbClr val="1A1A1A"/>
                </a:solidFill>
                <a:latin typeface="Arial"/>
              </a:rPr>
              <a:t>Why back to the spikes: the book puts this caution after the quiet turns, and it is about extreme volume, the climaxes and the overextended levels.</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24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600" b="0" i="0">
                <a:solidFill>
                  <a:srgbClr val="1A1A1A"/>
                </a:solidFill>
                <a:latin typeface="Arial"/>
              </a:rPr>
              <a:t>Figure 6.17, gold: daily and weekly volume peak in 2013, circled at far right; monthly, quarterly and yearly peak in 2011.</a:t>
            </a:r>
          </a:p>
          <a:p>
            <a:pPr algn="l">
              <a:lnSpc>
                <a:spcPct val="105000"/>
              </a:lnSpc>
              <a:spcBef>
                <a:spcPts val="0"/>
              </a:spcBef>
              <a:spcAft>
                <a:spcPts val="1100"/>
              </a:spcAft>
            </a:pPr>
            <a:r>
              <a:rPr sz="1600" b="0" i="0">
                <a:solidFill>
                  <a:srgbClr val="1A1A1A"/>
                </a:solidFill>
                <a:latin typeface="Arial"/>
              </a:rPr>
              <a:t>Ours: a record 2013 day of 10 million, in a month of 19 quiet days of 3 million: 10 + 57 = 67 million.</a:t>
            </a:r>
          </a:p>
          <a:p>
            <a:pPr algn="l">
              <a:lnSpc>
                <a:spcPct val="105000"/>
              </a:lnSpc>
              <a:spcBef>
                <a:spcPts val="0"/>
              </a:spcBef>
              <a:spcAft>
                <a:spcPts val="1100"/>
              </a:spcAft>
            </a:pPr>
            <a:r>
              <a:rPr sz="1600" b="0" i="0">
                <a:solidFill>
                  <a:srgbClr val="1A1A1A"/>
                </a:solidFill>
                <a:latin typeface="Arial"/>
              </a:rPr>
              <a:t>A 2011 month with no record day, 20 days of 6 million: 120 million, the monthly peak.</a:t>
            </a:r>
          </a:p>
        </p:txBody>
      </p:sp>
      <p:sp>
        <p:nvSpPr>
          <p:cNvPr id="8" name="Rectangle 7"/>
          <p:cNvSpPr/>
          <p:nvPr/>
        </p:nvSpPr>
        <p:spPr>
          <a:xfrm>
            <a:off x="777240" y="487375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10328"/>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Lower timeframes are more sensitive: one day's burst shows. Higher ones show the overall trend of volume.</a:t>
            </a:r>
          </a:p>
        </p:txBody>
      </p:sp>
      <p:sp>
        <p:nvSpPr>
          <p:cNvPr id="10" name="TextBox 9"/>
          <p:cNvSpPr txBox="1"/>
          <p:nvPr/>
        </p:nvSpPr>
        <p:spPr>
          <a:xfrm>
            <a:off x="777240" y="573938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daily to spot a single burst, monthly or higher to see the trend in volume.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 The 10, 3 and 6 million are ours, to show the arithmetic.</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