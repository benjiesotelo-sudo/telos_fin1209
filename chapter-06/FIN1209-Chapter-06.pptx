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both lines with the numbers. In each trend the big volume is on the move with the trend and the small volume on the move against it.</a:t>
            </a:r>
          </a:p>
          <a:p>
            <a:r>
              <a:rPr sz="1400"/>
              <a:t>- The trap the room falls into: price falling on rising volume sounds bullish. It is not. Name it now and the next two slides explain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question the room asks: more volume as price falls, is that not more demand? No. Each of those shares was sold by someone as well as bought.</a:t>
            </a:r>
          </a:p>
          <a:p>
            <a:r>
              <a:rPr sz="1400"/>
              <a:t>- Volume says how many take part. Price says which way they are pushing. Together they say whether the push has backing.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layers. The first is mechanical and needs only two arrows. The second brings in the trend, and asks whether the volume backs it.</a:t>
            </a:r>
          </a:p>
          <a:p>
            <a:r>
              <a:rPr sz="1400"/>
              <a:t>- Volume that does not confirm is the other kind: bearish volume in an uptrend, bullish volume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room will try to map bullish onto confirmation and bearish onto divergence. The second example breaks that mapping.</a:t>
            </a:r>
          </a:p>
          <a:p>
            <a:r>
              <a:rPr sz="1400"/>
              <a:t>- Keep both answers. The next slides put them together into one name.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formal row is the book's own summary of all four scenarios, page 178. The next slide is what each one warns of.</a:t>
            </a:r>
          </a:p>
          <a:p>
            <a:r>
              <a:rPr sz="1400"/>
              <a:t>- Bullish or bearish comes from the term Bullish volume and bearish volume: together or apart. Divergence or confirmation from the term before this one: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name says something about participation, which is the two principles again: more or fewer want to take part in the move price is making.</a:t>
            </a:r>
          </a:p>
          <a:p>
            <a:r>
              <a:rPr sz="1400"/>
              <a:t>- Downtrend and uptrend are the book's words for where each divergence can occur. Figure 6.6 tests that, and the slide there says so.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The oscillators there were the MACD and the bar stochastic. Reverse divergence was named in Chapter 5 and left to Chapter 9; the book says volume has no such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a:p>
            <a:r>
              <a:rPr sz="1400"/>
              <a:t>- Chapter 4's Figure 4.18 was an intraday chart of this stock too.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a:p>
            <a:r>
              <a:rPr sz="1400"/>
              <a:t>- Period 3: the book says there is no divergence reading in a consolidation, because price moves sideways. Part 2 is where that page is taught.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is the book's word for any indicator drawn in its own panel under the price. Chapter 8 is oscillators; nothing more about them is needed today.</a:t>
            </a:r>
          </a:p>
          <a:p>
            <a:r>
              <a:rPr sz="1400"/>
              <a:t>- The example's second line starts at 0, adds 3 on the higher close, subtracts 1 on the lower: 0, 3, 2. It cannot be drawn without the closes. Part 6 names it the On Balance Volume.</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Read a price-based line the way you read price itself: up is bullish, down is bearish. Then compare it with price for divergence or confirmation.</a:t>
            </a:r>
          </a:p>
          <a:p>
            <a:r>
              <a:rPr sz="1400"/>
              <a:t>- Why the two kinds differ: the book gives the figure and no reason, so give none.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Only two of the figure's eight arrows change, and they are both with price falling. Read those two lines slowly.</a:t>
            </a:r>
          </a:p>
          <a:p>
            <a:r>
              <a:rPr sz="1400"/>
              <a:t>- Plain volume: up is confirmation, down is divergence. A price-based line: with price is confirmation, against price is divergence.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Two volume panels fall under it, bearish divergence; the ADL rises with it,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The stops are stop orders, Chapter 1 and Chapter 5: buy stops above the range, sell stops below it. Whichever side is hit first starts the move.</a:t>
            </a:r>
          </a:p>
          <a:p>
            <a:r>
              <a:rPr sz="1400"/>
              <a:t>- The book says either an upside or a downside breakout. Low volume does not say which way.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a:t>
            </a:r>
          </a:p>
          <a:p>
            <a:r>
              <a:rPr sz="1400"/>
              <a:t>- The book gives a tendency and no rule for where the low volume level goes. Figure 6.9 draws it by eye,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How the average is weighted is Chapter 11. Today it is a line over price, and what matters is which side of it price is on.</a:t>
            </a:r>
          </a:p>
          <a:p>
            <a:r>
              <a:rPr sz="1400"/>
              <a:t>- Moving averages were met in Chapters 4 and 5 and are taught in Chapter 11.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The low volume top and bottom get their own slide after the climax figures,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spikes under the ellipse: each is a selling climax, and each reaches the upper line.</a:t>
            </a:r>
          </a:p>
          <a:p>
            <a:r>
              <a:rPr sz="1400"/>
              <a:t>- Upper for the big turns, lower for the corrections. Where to draw them is the slide after next.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The 2-sigma level is a second, computed line, and Part 3 builds one.</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 The lower, wavy stretch is what the book calls noise.</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threshold is again drawn by eye, and the circles are where volume tests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That is the book's reason for not calling volume overbought or oversold in advance.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One day's spike dominates a daily panel. Added into a month or a year, it is outweighed by the busy months around it.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Point at the touch in each sketch, then at the volume bar under it: tallest in the top row, shortest in the bottom row.</a:t>
            </a:r>
          </a:p>
          <a:p>
            <a:r>
              <a:rPr sz="1400"/>
              <a:t>- Barrier is Chapter 5's word, from barrier proximity: a support below price or a resistance above it. Retest was Chapter 5's too, price returning to a level it touched before.</a:t>
            </a:r>
          </a:p>
          <a:p>
            <a:r>
              <a:rPr sz="1400"/>
              <a:t>- Why the peak wins comes on the next slide,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 first: the biggest push of the move hit PHP 60 and still failed. Then B: nobody pushed, so the level was never really tested.</a:t>
            </a:r>
          </a:p>
          <a:p>
            <a:r>
              <a:rPr sz="1400"/>
              <a:t>- The chart does not draw what happens at the retest. The book says only which barrier is more reliable, not that B will break.</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two cases of Figure 6.18. Increasing, decreasing and flatlining are new.</a:t>
            </a:r>
          </a:p>
          <a:p>
            <a:r>
              <a:rPr sz="1400"/>
              <a:t>- In every sketch the price curve is the same; only the volume bars change. Read the bars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This slide takes increasing alone: what volume does, then what price does next.</a:t>
            </a:r>
          </a:p>
          <a:p>
            <a:r>
              <a:rPr sz="1400"/>
              <a:t>- Price down with volume up is bearish confirmation, Part 1's name for it: at a resistance the rising volume is the selling that drives price down.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Decreasing volume across the barrier is the one to watch: the book says it tends to see a retest, and in more extreme circumstances price may return to penetrate it.</a:t>
            </a:r>
          </a:p>
          <a:p>
            <a:r>
              <a:rPr sz="1400"/>
              <a:t>- Figure 6.19 draws price turning cleanly in every case. The retests on our chart are drawn from the book's words, and the chart gives them no volume because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volume peak and the volume dip of Figure 6.18, now with numbers. Flatlining is the only new one.</a:t>
            </a:r>
          </a:p>
          <a:p>
            <a:r>
              <a:rPr sz="1400"/>
              <a:t>- Flatlining is not a weak barrier or a strong one. The book says it gives too little information to tell.</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 the smoothed volume filter, then the two- or three-sigma filter.</a:t>
            </a:r>
          </a:p>
          <a:p>
            <a:r>
              <a:rPr sz="1400"/>
              <a:t>- Prior volume peaks: the book names them on p.188 and never explains them. Part 2's upper overextended volume level was set at the volume of earlier climaxes, which is the nearest the book comes; that reading is ours and is not examinable.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twice rule is ours, to make the reading concrete. The book says only that a spike above the line is significant, and its own Figure 6.20 marks only the tallest spikes.</a:t>
            </a:r>
          </a:p>
          <a:p>
            <a:r>
              <a:rPr sz="1400"/>
              <a:t>- Filter 2's line here is a stand-in, the average plus a fixed amount. The real line, the two- or three-sigma filter, is computed on its own slides after the smoothed volume filter.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through the book's two rules of thumb, not a new reading of a chart. Figure 6.20 was the last slide's.</a:t>
            </a:r>
          </a:p>
          <a:p>
            <a:r>
              <a:rPr sz="1400"/>
              <a:t>- Walk the backtest sentence slowly: try N = 10, 20 and 50 on last year's chart, and see which flagged the real turns.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how far values typically spread from their average.</a:t>
            </a:r>
          </a:p>
          <a:p>
            <a:r>
              <a:rPr sz="1400"/>
              <a:t>- Bollinger Bands were named in Chapter 1, in the mean reverting approach, and are not explained there either.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the two gaps the review found: the divisor and the window. Both are read straight from the code that drew the chart.</a:t>
            </a:r>
          </a:p>
          <a:p>
            <a:r>
              <a:rPr sz="1400"/>
              <a:t>- The jump explanation matches the chart's own footnote, here given as the reason instead of just the fact.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Figure 6.20, the same market. The threshold here is higher, so only the largest surges cross it.</a:t>
            </a:r>
          </a:p>
          <a:p>
            <a:r>
              <a:rPr sz="1400"/>
              <a:t>- Follow each of the three arrows down to the surge under it. Then find the April 2011 top: a dotted upright, and no arrow.</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reads the book's one sentence on the oscillator, beside the two figures already shown.</a:t>
            </a:r>
          </a:p>
          <a:p>
            <a:r>
              <a:rPr sz="1400"/>
              <a:t>- Oscillator is Part 1's word: an indicator in a panel under price.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steps against the chart: each bar number and price is printed on it.</a:t>
            </a:r>
          </a:p>
          <a:p>
            <a:r>
              <a:rPr sz="1400"/>
              <a:t>- A turn on 2.0 million would pass the book's definition and fail its example's line. The book does not settle that, and neither do we: our chart has no turn in between.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two arrows from the oval up to points 1 and 3, then 2. Those are the only points used.</a:t>
            </a:r>
          </a:p>
          <a:p>
            <a:r>
              <a:rPr sz="1400"/>
              <a:t>- Falls through it: the book says the market reversed downward, violating the rising channel.</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- 28 is the number of bars from trough 3, bar 44, to X, bar 72, on the step by step chart.</a:t>
            </a:r>
          </a:p>
          <a:p>
            <a:r>
              <a:rPr sz="1400"/>
              <a:t>- Why only heavily traded turns? The book says only that it shows the importance of significant inflection points; the next figure's slide quotes it. Part 3's first rule, a barrier formed at a volume peak is the most reliable, fits, and that link is ours.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five lines, every one at the slope of the line from 1 to 2.</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of its own: it reads Figure 6.23, on the slide before, as a whole.</a:t>
            </a:r>
          </a:p>
          <a:p>
            <a:r>
              <a:rPr sz="1400"/>
              <a:t>- Look at the three ovals on the volume panel: they sit under 1, under 2 and 3, and under 5 and 6.</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double out loud: 3 million today, 1.5 million usually, so twice the usual. That comparison is relative volume.</a:t>
            </a:r>
          </a:p>
          <a:p>
            <a:r>
              <a:rPr sz="1400"/>
              <a:t>- This is review question 7, which is more useful. The book's answer: relative, for reading trends; absolute has the uses two slides on.</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ties the book's two sentences to Parts 1 and 2, which drew them.</a:t>
            </a:r>
          </a:p>
          <a:p>
            <a:r>
              <a:rPr sz="1400"/>
              <a:t>- Peaks and troughs both count: the book says historical volume peaks and troughs give the reference level.</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The book says many investors treat a paper loss as no loss, and so they hold. Breakeven is the price at which you neither gain nor lose.</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Absolute volume is the raw count of the first slide of this part. Work the turnover out loud: 5 million of 2,000 million is a quarter of one percent; 1 million of 40 million is two and a half percent.</a:t>
            </a:r>
          </a:p>
          <a:p>
            <a:r>
              <a:rPr sz="1400"/>
              <a:t>- Liquidity is the book's word, used here and not defined in this chapter. Do not define it for them.</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example is ours and only shows the size of the problem: the bar counts every share, whoever traded it.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Long and short are Chapter 1's go long and go short.</a:t>
            </a:r>
          </a:p>
          <a:p>
            <a:r>
              <a:rPr sz="1400"/>
              <a:t>- The chart is the next slide's four days, one column a day. Read its labels against the three rules in the example row.</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of its own: the chart beside the term is these four days, one column each.</a:t>
            </a:r>
          </a:p>
          <a:p>
            <a:r>
              <a:rPr sz="1400"/>
              <a:t>- On day 4, D buying back is covering and C selling is liquidating: Chapter 1's words for closing a short and a long.</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 Both words, both rules: the book says open interest divergence is read as for non-price-based volume oscillators.</a:t>
            </a:r>
          </a:p>
          <a:p>
            <a:r>
              <a:rPr sz="1400"/>
              <a:t>- The book's reason for the last case: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four sketches of the last slide. The names are Part 1's: bullish or bearish, confirmation or divergence.</a:t>
            </a:r>
          </a:p>
          <a:p>
            <a:r>
              <a:rPr sz="1400"/>
              <a:t>- Ask the room to name the case before you read the answer: price up, open interest down, volume down.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fx and proxy are spelled out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already counts the same trades both ways.</a:t>
            </a:r>
          </a:p>
          <a:p>
            <a:r>
              <a:rPr sz="1400"/>
              <a:t>- Relative levels is the book's phrase: higher or lower than before, as on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these three steps as columns.</a:t>
            </a:r>
          </a:p>
          <a:p>
            <a:r>
              <a:rPr sz="1400"/>
              <a:t>- Step 3 is only the same division rearranged. Check it on the board: 0.8 / 0.4 = 2.0.</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short-term rule, then point at the box: the tick dips and the TRIN rises, the opposite of the rule's bullish case. Say so; do not reconcile it.</a:t>
            </a:r>
          </a:p>
          <a:p>
            <a:r>
              <a:rPr sz="1400"/>
              <a:t>- The converse, the longer-term rule and the book's gaps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finishes the book's rules from the last slide's figure. Do not settle the gaps; name them.</a:t>
            </a:r>
          </a:p>
          <a:p>
            <a:r>
              <a:rPr sz="1400"/>
              <a:t>- No check rests on these rules. The check after this part tests only tick volume and the TRIN's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short-term rule two slides back. Point at the boxed stretch, then at the shaded tick stretch labelled bearish after 1:45.</a:t>
            </a:r>
          </a:p>
          <a:p>
            <a:r>
              <a:rPr sz="1400"/>
              <a:t>- Uptick is the figure's word and is not defined by the book. Read it only as the label on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 same sum done over 100 days.</a:t>
            </a:r>
          </a:p>
          <a:p>
            <a:r>
              <a:rPr sz="1400"/>
              <a:t>- Do the sum on the board: which days closed between 48 and 50? Days 1, 2 and 4.</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The figure's own labels also mark bearish confirmation and bearish divergence on the volume panel: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book takes the nearest turn either side of the intersection. The next slide says what our two levels then did.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two lines of the chart on the last slide, after the step 4 prices were found.</a:t>
            </a:r>
          </a:p>
          <a:p>
            <a:r>
              <a:rPr sz="1400"/>
              <a:t>- Do not add a rule for the break.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at about $80, at the top of the zone, and support at about $72.50, below it. The overextended volume level on the volume panel is Part 2's.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Do the subtraction out loud: 52.00 minus 51.20 is 0.80. That is all bar range means.</a:t>
            </a:r>
          </a:p>
          <a:p>
            <a:r>
              <a:rPr sz="1400"/>
              <a:t>- The figure is the book's whole picture of them: a box for the range, a box for the volume. The next slides name each and put it in a trend.</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next slide works all four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of the term slide, done four times. Say each pair of numbers, then the name.</a:t>
            </a:r>
          </a:p>
          <a:p>
            <a:r>
              <a:rPr sz="1400"/>
              <a:t>- Ask the room for a fifth: PHP 0.90 on 2.1 million. Neither narrow nor wide, neither low nor high: an ordinary bar, no name.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find the tall gold volume bar, then the tiny price bar above it. Right cell: the short gold volume bar, then the long price bar above it.</a:t>
            </a:r>
          </a:p>
          <a:p>
            <a:r>
              <a:rPr sz="1400"/>
              <a:t>- In both cells price falls after the named bar, because both are drawn in an uptrend, where both are bearish.</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reasons, worked with numbers.</a:t>
            </a:r>
          </a:p>
          <a:p>
            <a:r>
              <a:rPr sz="1400"/>
              <a:t>- Participation is the book's word for volume: how many shares changed hands.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kind of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two rest bars and sets them against Chapter 5.</a:t>
            </a:r>
          </a:p>
          <a:p>
            <a:r>
              <a:rPr sz="1400"/>
              <a:t>- The change from Chapter 5 is the one to say twice: a quiet bar was only a brake there. Here it can be a turn.</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points are reversal bars after a fall, so the converse applies: bullish. Point 1 ends a decline, Point 2 a short dip near the highs; price turns up after each, as the book says.</a:t>
            </a:r>
          </a:p>
          <a:p>
            <a:r>
              <a:rPr sz="1400"/>
              <a:t>- The triangle on the left is Part 2's low volume breakout signal again: volume falling into the apex, then surging. The book calls it a descending triangle; its shape is the book's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bars under it are some of the tallest on the chart.</a:t>
            </a:r>
          </a:p>
          <a:p>
            <a:r>
              <a:rPr sz="1400"/>
              <a:t>- Converse is the book's word: in a downtrend the same bar is bullish.</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puts numbers on the last slide's one sentence of reason.</a:t>
            </a:r>
          </a:p>
          <a:p>
            <a:r>
              <a:rPr sz="1400"/>
              <a:t>- The X reading is ours, from the figure. The book only says continuation bars are more reliable with the predominant trend.</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 Here it runs through the September peaks.</a:t>
            </a:r>
          </a:p>
          <a:p>
            <a:r>
              <a:rPr sz="1400"/>
              <a:t>- The book says only that the bar sat at the level; which way price went is read off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this part's two reversal bars, read off a chart where volume never changes. The next slide puts numbers on it.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arithmetic behind the figure's two labels.</a:t>
            </a:r>
          </a:p>
          <a:p>
            <a:r>
              <a:rPr sz="1400"/>
              <a:t>- Divide shares by pesos of range, three times: 100,000 over 1.00, over 0.20, over 4.00.</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last slide's small breakout with its numbers said aloud.</a:t>
            </a:r>
          </a:p>
          <a:p>
            <a:r>
              <a:rPr sz="1400"/>
              <a:t>- Do not turn this into a rule. The book describes the case and gives no test for when a light volume break will draw volume in.</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use of the cycle, with the straddle worked in one market.</a:t>
            </a:r>
          </a:p>
          <a:p>
            <a:r>
              <a:rPr sz="1400"/>
              <a:t>- The 20-point distance is ours. The book gives no distance for the two orders, and does not say what is done with the one not filled.</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Wide bars on heavy days stretch the axis, so the line's angle changes and so does where price crosses it.</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geometry of the last slide's two charts, in numbers.</a:t>
            </a:r>
          </a:p>
          <a:p>
            <a:r>
              <a:rPr sz="1400"/>
              <a:t>- Count the steps: 15 on the daily chart, 10 plus 10 on the equivolume chart. If heavy days fell between the two lows instead, the line's angle itself would change, which is the book's word: angle.</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list without a figure, so this slide has no picture. Say the names and the kind of each.</a:t>
            </a:r>
          </a:p>
          <a:p>
            <a:r>
              <a:rPr sz="1400"/>
              <a:t>- Part 1's rule: on plain volume, divergence is volume falling; on a price-based oscillator, it is the oscillator moving against price.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letters in order on the chart. A is Part 1's divergence; B and C are the two other readings Figures 6.43 and 6.44 use.</a:t>
            </a:r>
          </a:p>
          <a:p>
            <a:r>
              <a:rPr sz="1400"/>
              <a:t>- Do not teach the other five methods: the book sends them to Chapter 8.</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by day, pointing at the middle panel: the sign comes from the close, the size from the volume.</a:t>
            </a:r>
          </a:p>
          <a:p>
            <a:r>
              <a:rPr sz="1400"/>
              <a:t>- Only the direction of the close matters, not how far it moved. That is the weakness a few slides on.</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numbers of the last slide's example. Ask the room what day 6 would read had it closed up.</a:t>
            </a:r>
          </a:p>
          <a:p>
            <a:r>
              <a:rPr sz="1400"/>
              <a:t>- Day 6 closing up would add 1.0 instead of taking it away: 3.5 + 1.0 = 4.5.</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Shift the start and the whole line moves up or down, but every rise and fall stays the same.</a:t>
            </a:r>
          </a:p>
          <a:p>
            <a:r>
              <a:rPr sz="1400"/>
              <a:t>- Absolute value and relative value are the book's words; level and changes are the plain ones.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second bar went far higher and still counts as a down day, because it closed a little lower.</a:t>
            </a:r>
          </a:p>
          <a:p>
            <a:r>
              <a:rPr sz="1400"/>
              <a:t>- Redress is the book's word: to put right.</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lower low is a low below the last one; a higher low, above it. Point at the two lines: same weeks, opposite directions.</a:t>
            </a:r>
          </a:p>
          <a:p>
            <a:r>
              <a:rPr sz="1400"/>
              <a:t>- Part 1: divergence is an early indication of a potential reversal. Here the fall did reverse.</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on price and an arrow down on the OBV. The first price arrow, March to April, holds level.</a:t>
            </a:r>
          </a:p>
          <a:p>
            <a:r>
              <a:rPr sz="1400"/>
              <a:t>- Plain volume falling as price rises would also be bearish divergence: this is the case the two kinds read alike.</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The next slide works all three bars.</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the last slide's example in numbers. Point back at the three bars as you go.</a:t>
            </a:r>
          </a:p>
          <a:p>
            <a:r>
              <a:rPr sz="1400"/>
              <a:t>- Ask the room for a close at 51: (3 - 1) / 4 = 0.5, so add 1.0 million.</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one bar read two ways. Draw it on the board if the room wants it.</a:t>
            </a:r>
          </a:p>
          <a:p>
            <a:r>
              <a:rPr sz="1400"/>
              <a:t>- Today closed near the top of its own range, which the ADL counts as buying. The OBV counts only the tiny fall from 50.00.</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Taking part, its word, means trading on the signal.</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the figure calls it a lack of clarity and strength. Right ellipse: both rise, and price trends.</a:t>
            </a:r>
          </a:p>
          <a:p>
            <a:r>
              <a:rPr sz="1400"/>
              <a:t>- Range or consolidate, the book's words: Chapter 4's consolidation, price going sideways between a high and a low.</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factor times the bar's volume. N is the number of bars, as in Part 3's lookback.</a:t>
            </a:r>
          </a:p>
          <a:p>
            <a:r>
              <a:rPr sz="1400"/>
              <a:t>- What the CMF's number means comes next, then the oscillator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last slide's number. Ask what the CMF would be had all three bars closed at their highs: 6.0 / 6.0 = 1.</a:t>
            </a:r>
          </a:p>
          <a:p>
            <a:r>
              <a:rPr sz="1400"/>
              <a:t>- Do not call a positive CMF bullish on the book's authority: the book does not say so.</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steps down the chart: the black total, the two averages that trail it, and their gap in the bottom panel.</a:t>
            </a:r>
          </a:p>
          <a:p>
            <a:r>
              <a:rPr sz="1400"/>
              <a:t>- The gold average follows the total closely, the green one slowly. When the total turns down, gold crosses below green and the oscillator goes negative.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reads the last slide's chart in words. The book gives no lengths; its figure prints them.</a:t>
            </a:r>
          </a:p>
          <a:p>
            <a:r>
              <a:rPr sz="1400"/>
              <a:t>- A rising total means the CMFs being added are positive, by the last slides'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near 4.5 in early August: the oscillator's comes first.</a:t>
            </a:r>
          </a:p>
          <a:p>
            <a:r>
              <a:rPr sz="1400"/>
              <a:t>- Readings B and C of the part's second slide: a line on the indicator, and an oversold level, used and not defined.</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ratio and no example; the numbers are ours. Up and down volume were read the same way for the TRIN in Part 4.</a:t>
            </a:r>
          </a:p>
          <a:p>
            <a:r>
              <a:rPr sz="1400"/>
              <a:t>- Non-price-based: it holds no price of its own, so it is read like plain volume: falling is divergence, rising confirmation; with price, bullish.</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NYSE Composite Index is the price the indicator is read against. The arrow joins the two breaks.</a:t>
            </a:r>
          </a:p>
          <a:p>
            <a:r>
              <a:rPr sz="1400"/>
              <a:t>- Say the gap plainly: a ratio of two volumes cannot be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Price-based, so Part 1's rule: rising is bullish, falling bearish; against price, divergence. It may be read with any or all of the eight methods.</a:t>
            </a:r>
          </a:p>
          <a:p>
            <a:r>
              <a:rPr sz="1400"/>
              <a:t>- Money flowing out and in are the book's words for what a bearish and a bullish signal indicate.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Hedgers were named in Chapter 1 among the participants. Commercial and non-commercial are the report's own groups.</a:t>
            </a:r>
          </a:p>
          <a:p>
            <a:r>
              <a:rPr sz="1400"/>
              <a:t>- A test means open interest coming back to a level it reached before, the way price retests a barrier in Part 3.</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two uses. Do not supply a formula for net; the book gives none.</a:t>
            </a:r>
          </a:p>
          <a:p>
            <a:r>
              <a:rPr sz="1400"/>
              <a:t>- Commercials are hedgers, Chapter 1's participants; non-commercials are hedge funds, financial institutions and large traders.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them through. The next slide says where in the deck each is answered.</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each part's name as you read its line, so the room can find the slides again.</a:t>
            </a:r>
          </a:p>
          <a:p>
            <a:r>
              <a:rPr sz="1400"/>
              <a:t>- Question 3's answer is the slide on standard divergence against volume divergence, in Part 1.</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Question 5 is the four filters of Part 3; question 8 is the intraday volume cycle of Part 5.</a:t>
            </a:r>
          </a:p>
          <a:p>
            <a:r>
              <a:rPr sz="1400"/>
              <a:t>- Question 7 is Part 4's opening: relative volume compares, absolute volume measures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Do not teach any of these today. Each is named where it appears.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pick a side for the book. Say both readings and move on.</a:t>
            </a:r>
          </a:p>
          <a:p>
            <a:r>
              <a:rPr sz="1400"/>
              <a:t>- The captions that disagree with their charts are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labelling slips in the book, not ideas to learn.</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 Every other idea here gets its own slide when its part comes.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volume-weighted moving average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Arms Index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future price.</a:t>
            </a:r>
          </a:p>
          <a:p>
            <a:pPr algn="l">
              <a:lnSpc>
                <a:spcPct val="105000"/>
              </a:lnSpc>
              <a:spcBef>
                <a:spcPts val="0"/>
              </a:spcBef>
              <a:spcAft>
                <a:spcPts val="1100"/>
              </a:spcAft>
            </a:pPr>
            <a:r>
              <a:rPr sz="1700" b="0" i="0">
                <a:solidFill>
                  <a:srgbClr val="1A1A1A"/>
                </a:solidFill>
                <a:latin typeface="Arial"/>
              </a:rPr>
              <a:t>Volume and open interest are extra evidence: they back up, or corroborate, a bullish or bearish setup, show weakness, time breakouts.</a:t>
            </a:r>
          </a:p>
          <a:p>
            <a:pPr algn="l">
              <a:lnSpc>
                <a:spcPct val="105000"/>
              </a:lnSpc>
              <a:spcBef>
                <a:spcPts val="0"/>
              </a:spcBef>
              <a:spcAft>
                <a:spcPts val="1100"/>
              </a:spcAft>
            </a:pPr>
            <a:r>
              <a:rPr sz="1700" b="0" i="0">
                <a:solidFill>
                  <a:srgbClr val="1A1A1A"/>
                </a:solidFill>
                <a:latin typeface="Arial"/>
              </a:rPr>
              <a:t>Chart A, ours: every chart today has price bars on top, one volume bar under each. Day 40: PHP 52.40, 2.4 million shares.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73328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Part 2. Volume: defined below. Open interest: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24</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Dow Theory: volume should expand in the direction of the trend. Big on moves with the trend, small on retracements, the moves against it.</a:t>
            </a:r>
          </a:p>
          <a:p>
            <a:pPr algn="l">
              <a:lnSpc>
                <a:spcPct val="105000"/>
              </a:lnSpc>
              <a:spcBef>
                <a:spcPts val="0"/>
              </a:spcBef>
              <a:spcAft>
                <a:spcPts val="1100"/>
              </a:spcAft>
            </a:pPr>
            <a:r>
              <a:rPr sz="1700" b="0" i="0">
                <a:solidFill>
                  <a:srgbClr val="1A1A1A"/>
                </a:solidFill>
                <a:latin typeface="Arial"/>
              </a:rPr>
              <a:t>Uptrend: volume rises as price rises, falls on the dips. The book calls this bullish volume action.</a:t>
            </a:r>
          </a:p>
          <a:p>
            <a:pPr algn="l">
              <a:lnSpc>
                <a:spcPct val="105000"/>
              </a:lnSpc>
              <a:spcBef>
                <a:spcPts val="0"/>
              </a:spcBef>
              <a:spcAft>
                <a:spcPts val="1100"/>
              </a:spcAft>
            </a:pPr>
            <a:r>
              <a:rPr sz="1700" b="0" i="0">
                <a:solidFill>
                  <a:srgbClr val="1A1A1A"/>
                </a:solidFill>
                <a:latin typeface="Arial"/>
              </a:rPr>
              <a:t>Downtrend: volume rises as price falls, falls on the bounces. The book calls this bearish volume action.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confirm their trend. Numbers on the next slide.</a:t>
            </a:r>
          </a:p>
        </p:txBody>
      </p:sp>
      <p:sp>
        <p:nvSpPr>
          <p:cNvPr id="10" name="TextBox 9"/>
          <p:cNvSpPr txBox="1"/>
          <p:nvPr/>
        </p:nvSpPr>
        <p:spPr>
          <a:xfrm>
            <a:off x="777240" y="546125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is a supporting, or secondary, indicator. Volume doing the opposite: an uptrend may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tenet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Uptrend, ours: price climbs PHP 40 to 46 as volume grows from 2 to 4 million shares a day, then dips to 44 on 1 million. Confirmed.</a:t>
            </a:r>
          </a:p>
          <a:p>
            <a:pPr algn="l">
              <a:lnSpc>
                <a:spcPct val="118000"/>
              </a:lnSpc>
              <a:spcBef>
                <a:spcPts val="0"/>
              </a:spcBef>
              <a:spcAft>
                <a:spcPts val="1300"/>
              </a:spcAft>
            </a:pPr>
            <a:r>
              <a:rPr sz="2100" b="0" i="0">
                <a:solidFill>
                  <a:srgbClr val="1A1A1A"/>
                </a:solidFill>
                <a:latin typeface="Arial"/>
              </a:rPr>
              <a:t>Downtrend, ours: price falls PHP 50 to 46 as volume grows from 2 to 4 million a day, then bounces to 48 on 1 million. Confirmed.</a:t>
            </a:r>
          </a:p>
          <a:p>
            <a:pPr algn="l">
              <a:lnSpc>
                <a:spcPct val="118000"/>
              </a:lnSpc>
              <a:spcBef>
                <a:spcPts val="0"/>
              </a:spcBef>
              <a:spcAft>
                <a:spcPts val="1300"/>
              </a:spcAft>
            </a:pPr>
            <a:r>
              <a:rPr sz="2100" b="0" i="0">
                <a:solidFill>
                  <a:srgbClr val="1A1A1A"/>
                </a:solidFill>
                <a:latin typeface="Arial"/>
              </a:rPr>
              <a:t>Same pattern, big with the trend and small against it, but two names. Uptrend: price and volume move the same way, bullish. Downtrend: opposite ways, bearish.</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here is not a warning. It is volume backing a fall.</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Why opposite ways is called bearish: the term Bullish volume and bearish volume, and the slide after it.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states the tenet and its two names. The prices and share counts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Rising volume: more want price to keep going the trend's way, and will buy higher in an uptrend or sell lower in a downtrend.</a:t>
            </a:r>
          </a:p>
          <a:p>
            <a:pPr algn="l">
              <a:lnSpc>
                <a:spcPct val="105000"/>
              </a:lnSpc>
              <a:spcBef>
                <a:spcPts val="0"/>
              </a:spcBef>
              <a:spcAft>
                <a:spcPts val="1100"/>
              </a:spcAft>
            </a:pPr>
            <a:r>
              <a:rPr sz="1800" b="0" i="0">
                <a:solidFill>
                  <a:srgbClr val="1A1A1A"/>
                </a:solidFill>
                <a:latin typeface="Arial"/>
              </a:rPr>
              <a:t>2  Declining volume: losing interest. They would rather buy lower in an uptrend, sell higher in a downtrend, or leave.</a:t>
            </a:r>
          </a:p>
          <a:p>
            <a:pPr algn="l">
              <a:lnSpc>
                <a:spcPct val="105000"/>
              </a:lnSpc>
              <a:spcBef>
                <a:spcPts val="0"/>
              </a:spcBef>
              <a:spcAft>
                <a:spcPts val="1100"/>
              </a:spcAft>
            </a:pPr>
            <a:r>
              <a:rPr sz="1800" b="0" i="0">
                <a:solidFill>
                  <a:srgbClr val="1A1A1A"/>
                </a:solidFill>
                <a:latin typeface="Arial"/>
              </a:rPr>
              <a:t>Chart C: rally 1, PHP 40 to 47, on volume rising 1.1 to 2.9 million. Rally 2, 44.5 to 51, on volume falling 2.4 to 0.9 million.</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measures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in plainer words. The chart is ours, on invented prices; the numbers are read off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Compare price's direction with volume's. Same way: bullish volume. Opposite: bearish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Price 50 to 46 as volume shrinks 4 to 2 million: same way, bullish.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 The numbers are 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falling price on rising volume is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counts shares that changed hands. Every share traded has a buyer and a seller, so volume alone never says buyers outnumber sellers.</a:t>
            </a:r>
          </a:p>
          <a:p>
            <a:pPr algn="l">
              <a:lnSpc>
                <a:spcPct val="118000"/>
              </a:lnSpc>
              <a:spcBef>
                <a:spcPts val="0"/>
              </a:spcBef>
              <a:spcAft>
                <a:spcPts val="1300"/>
              </a:spcAft>
            </a:pPr>
            <a:r>
              <a:rPr sz="2100" b="0" i="0">
                <a:solidFill>
                  <a:srgbClr val="1A1A1A"/>
                </a:solidFill>
                <a:latin typeface="Arial"/>
              </a:rPr>
              <a:t>Principle 1: rising volume means more people take part in the move price is making. Price PHP 50 to 46 on 2 to 4 million: more willing to sell lower.</a:t>
            </a:r>
          </a:p>
          <a:p>
            <a:pPr algn="l">
              <a:lnSpc>
                <a:spcPct val="118000"/>
              </a:lnSpc>
              <a:spcBef>
                <a:spcPts val="0"/>
              </a:spcBef>
              <a:spcAft>
                <a:spcPts val="1300"/>
              </a:spcAft>
            </a:pPr>
            <a:r>
              <a:rPr sz="2100" b="0" i="0">
                <a:solidFill>
                  <a:srgbClr val="1A1A1A"/>
                </a:solidFill>
                <a:latin typeface="Arial"/>
              </a:rPr>
              <a:t>Principle 2, the other way: price 50 to 46 on 4 to 2 million shares: fewer willing to sell lower. The fall is losing its backing, so bullish.</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Rising volume is not demand. It is more trading in the direction price is already going.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definition and the two principles. Ours: the buyer and seller point, which follows from the definition, and the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Declining volume does not necessarily imply bearishness. Rising volume does not imply bullishness. It depends on price's direction.</a:t>
            </a:r>
          </a:p>
          <a:p>
            <a:pPr algn="l">
              <a:lnSpc>
                <a:spcPct val="105000"/>
              </a:lnSpc>
              <a:spcBef>
                <a:spcPts val="0"/>
              </a:spcBef>
              <a:spcAft>
                <a:spcPts val="1100"/>
              </a:spcAft>
            </a:pPr>
            <a:r>
              <a:rPr sz="1700" b="0" i="0">
                <a:solidFill>
                  <a:srgbClr val="1A1A1A"/>
                </a:solidFill>
                <a:latin typeface="Arial"/>
              </a:rPr>
              <a:t>Figure 6.2, gold: in the primary bull trend from 2001, volume expands as price rises, same way, bullish. In the retracement at the end, both fall: bullish too.</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price's direction first, then volume's.</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calls reading volume alone, falling means bad, a simple mistake many novices make.</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24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Confirming volume is big with the trend, small on retracements. Not confirming is the reverse: small with the trend, big on retracements.</a:t>
            </a:r>
          </a:p>
          <a:p>
            <a:pPr algn="l">
              <a:lnSpc>
                <a:spcPct val="105000"/>
              </a:lnSpc>
              <a:spcBef>
                <a:spcPts val="0"/>
              </a:spcBef>
              <a:spcAft>
                <a:spcPts val="1100"/>
              </a:spcAft>
            </a:pPr>
            <a:r>
              <a:rPr sz="1700" b="0" i="0">
                <a:solidFill>
                  <a:srgbClr val="1A1A1A"/>
                </a:solidFill>
                <a:latin typeface="Arial"/>
              </a:rPr>
              <a:t>Uptrend: price and volume move opposite ways, bearish volume. A potentially weak or bearish uptrend.</a:t>
            </a:r>
          </a:p>
          <a:p>
            <a:pPr algn="l">
              <a:lnSpc>
                <a:spcPct val="105000"/>
              </a:lnSpc>
              <a:spcBef>
                <a:spcPts val="0"/>
              </a:spcBef>
              <a:spcAft>
                <a:spcPts val="1100"/>
              </a:spcAft>
            </a:pPr>
            <a:r>
              <a:rPr sz="1700" b="0" i="0">
                <a:solidFill>
                  <a:srgbClr val="1A1A1A"/>
                </a:solidFill>
                <a:latin typeface="Arial"/>
              </a:rPr>
              <a:t>Downtrend: price and volume move the same way, bullish volume. A potentially bullish downtrend.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trend goes one way, its volume says the other. A warning, not a reversal.</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questions, asked in order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Bullish or bearish volume? Price and volume only: same direction, bullish; opposite, bearish. The trend does not come into it.</a:t>
            </a:r>
          </a:p>
          <a:p>
            <a:pPr algn="l">
              <a:lnSpc>
                <a:spcPct val="118000"/>
              </a:lnSpc>
              <a:spcBef>
                <a:spcPts val="0"/>
              </a:spcBef>
              <a:spcAft>
                <a:spcPts val="1300"/>
              </a:spcAft>
            </a:pPr>
            <a:r>
              <a:rPr sz="2100" b="0" i="0">
                <a:solidFill>
                  <a:srgbClr val="1A1A1A"/>
                </a:solidFill>
                <a:latin typeface="Arial"/>
              </a:rPr>
              <a:t>2  Does it confirm the trend? Now the trend counts. In an uptrend, bullish volume confirms. In a downtrend, bearish volume confirms.</a:t>
            </a:r>
          </a:p>
          <a:p>
            <a:pPr algn="l">
              <a:lnSpc>
                <a:spcPct val="118000"/>
              </a:lnSpc>
              <a:spcBef>
                <a:spcPts val="0"/>
              </a:spcBef>
              <a:spcAft>
                <a:spcPts val="1300"/>
              </a:spcAft>
            </a:pPr>
            <a:r>
              <a:rPr sz="2100" b="0" i="0">
                <a:solidFill>
                  <a:srgbClr val="1A1A1A"/>
                </a:solidFill>
                <a:latin typeface="Arial"/>
              </a:rPr>
              <a:t>Ours: a downtrend, price PHP 50 to 46, volume 2 to 4 million. 1: opposite ways, bearish volume. 2: bearish in a downtrend, so it confirms.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is not the same as not confirming.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Volume that does not confirm is the other kind: bearish volume in an uptrend, bullish volume in a downtrend.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summary of the book's pp.174-175, which states both for each trend. The prices and share counts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Price and volume fall together: bullish volume. In an uptrend bullish volume is the confirming kind, so D is wrong too.</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Price down, volume up: opposite ways, bearish volume. In a downtrend that is the confirming kind: volume expanding with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Leave price out. Volume falling: divergence. Volume rising: confirmation, or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40 to 46 as volume shrinks 3 to 1 million: divergence. Volume 3 to 5 million instead: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prices and share counts are ours; the chart is ours, sketches, not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bullish and bearish renamed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or bearish asks about price and volume together. Divergence or confirmation asks about volume alone. Two questions, two answers.</a:t>
            </a:r>
          </a:p>
          <a:p>
            <a:pPr algn="l">
              <a:lnSpc>
                <a:spcPct val="118000"/>
              </a:lnSpc>
              <a:spcBef>
                <a:spcPts val="0"/>
              </a:spcBef>
              <a:spcAft>
                <a:spcPts val="1300"/>
              </a:spcAft>
            </a:pPr>
            <a:r>
              <a:rPr sz="2100" b="0" i="0">
                <a:solidFill>
                  <a:srgbClr val="1A1A1A"/>
                </a:solidFill>
                <a:latin typeface="Arial"/>
              </a:rPr>
              <a:t>Ours: price PHP 40 to 46 on volume 2 to 4 million. Same way: bullish. Volume up: confirmation. Here the two answers line up.</a:t>
            </a:r>
          </a:p>
          <a:p>
            <a:pPr algn="l">
              <a:lnSpc>
                <a:spcPct val="118000"/>
              </a:lnSpc>
              <a:spcBef>
                <a:spcPts val="0"/>
              </a:spcBef>
              <a:spcAft>
                <a:spcPts val="1300"/>
              </a:spcAft>
            </a:pPr>
            <a:r>
              <a:rPr sz="2100" b="0" i="0">
                <a:solidFill>
                  <a:srgbClr val="1A1A1A"/>
                </a:solidFill>
                <a:latin typeface="Arial"/>
              </a:rPr>
              <a:t>Price PHP 50 to 46 on volume 2 to 4 million. Opposite ways: bearish. Volume up: still confirmation. Here they do not.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or bearish needs price. Divergence or confirmation needs only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pairs. The comparison and the numbers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Divergence: participants lose interest in price going further. Bearish for an uptrend, bullish for a downtrend.</a:t>
            </a:r>
          </a:p>
          <a:p>
            <a:pPr algn="l">
              <a:lnSpc>
                <a:spcPct val="105000"/>
              </a:lnSpc>
              <a:spcBef>
                <a:spcPts val="0"/>
              </a:spcBef>
              <a:spcAft>
                <a:spcPts val="1100"/>
              </a:spcAft>
            </a:pPr>
            <a:r>
              <a:rPr sz="1700" b="0" i="0">
                <a:solidFill>
                  <a:srgbClr val="1A1A1A"/>
                </a:solidFill>
                <a:latin typeface="Arial"/>
              </a:rPr>
              <a:t>Confirmation: they want to take part. Bullish for an uptrend, bearish for a downtrend.</a:t>
            </a:r>
          </a:p>
          <a:p>
            <a:pPr algn="l">
              <a:lnSpc>
                <a:spcPct val="105000"/>
              </a:lnSpc>
              <a:spcBef>
                <a:spcPts val="0"/>
              </a:spcBef>
              <a:spcAft>
                <a:spcPts val="1100"/>
              </a:spcAft>
            </a:pPr>
            <a:r>
              <a:rPr sz="1700" b="0" i="0">
                <a:solidFill>
                  <a:srgbClr val="1A1A1A"/>
                </a:solidFill>
                <a:latin typeface="Arial"/>
              </a:rPr>
              <a:t>Chart F: left, PHP 40 to 55 on volume rising 0.9 to 3.4 million, it continues. Right, 40 to 51 on volume falling 2.9 to 0.8, it turns.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Confirmation: a potential continuation. Divergence: a potential reversal.</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 the numbers are read off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from two answers: bullish or bearish, then divergence or confirmation.</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Volume up: confirmation. Bearish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and price declining together: bullish divergence. Rising together: bullish confirmation. Volume declining, price rising: bearish divergence. Volume rising, price declining: bearish confirmation.</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formal row is its p.178 summary. The ATR on the figure is in no sentence of the text. The numbers are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four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divergence, both falling: fewer want to sell lower. It can only occur in a downtrend: a potential upside reversal.</a:t>
            </a:r>
          </a:p>
          <a:p>
            <a:pPr algn="l">
              <a:lnSpc>
                <a:spcPct val="118000"/>
              </a:lnSpc>
              <a:spcBef>
                <a:spcPts val="0"/>
              </a:spcBef>
              <a:spcAft>
                <a:spcPts val="1300"/>
              </a:spcAft>
            </a:pPr>
            <a:r>
              <a:rPr sz="2100" b="0" i="0">
                <a:solidFill>
                  <a:srgbClr val="1A1A1A"/>
                </a:solidFill>
                <a:latin typeface="Arial"/>
              </a:rPr>
              <a:t>Bearish divergence, volume falling as price rises: fewer want to buy higher. Only in an uptrend: a potential downside reversal.</a:t>
            </a:r>
          </a:p>
          <a:p>
            <a:pPr algn="l">
              <a:lnSpc>
                <a:spcPct val="118000"/>
              </a:lnSpc>
              <a:spcBef>
                <a:spcPts val="0"/>
              </a:spcBef>
              <a:spcAft>
                <a:spcPts val="1300"/>
              </a:spcAft>
            </a:pPr>
            <a:r>
              <a:rPr sz="2100" b="0" i="0">
                <a:solidFill>
                  <a:srgbClr val="1A1A1A"/>
                </a:solidFill>
                <a:latin typeface="Arial"/>
              </a:rPr>
              <a:t>Bullish and bearish confirmation, volume rising with a rise or a fall: more take part in the move. A potential continuation.</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Divergence warns of a turn. Confirmation, of backing.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divergence always indicates potential weakness in a trend, confirmation always potential strength. Figure 6.6, three slides on, breaks the only-in rule; that slide says so.</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pp.175-177: what each name indicates, from its two principles on p.174. Where each can occur is its p.176 to 177 wording.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compare two peaks. Ours: price peaks at PHP 58, then higher at 60; an oscillator peaks at 80, then lower at 62.</a:t>
            </a:r>
          </a:p>
          <a:p>
            <a:pPr algn="l">
              <a:lnSpc>
                <a:spcPct val="105000"/>
              </a:lnSpc>
              <a:spcBef>
                <a:spcPts val="0"/>
              </a:spcBef>
              <a:spcAft>
                <a:spcPts val="1100"/>
              </a:spcAft>
            </a:pPr>
            <a:r>
              <a:rPr sz="1700" b="0" i="0">
                <a:solidFill>
                  <a:srgbClr val="1A1A1A"/>
                </a:solidFill>
                <a:latin typeface="Arial"/>
              </a:rPr>
              <a:t>Volume divergence compares no peaks: volume declining, whatever price does. Price's direction still decides bullish or bearish.</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Reverse divergence was named in Chapter 5 and is taught in Chapter 9. Chapter 4 gave the volume case: falling price on decreasing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 its peaks are read off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Isis Pharmaceuticals falls from about 12 to about 9 and curves into a rounding bottom, a bullish pattern from Chapter 4.</a:t>
            </a:r>
          </a:p>
          <a:p>
            <a:pPr algn="l">
              <a:lnSpc>
                <a:spcPct val="105000"/>
              </a:lnSpc>
              <a:spcBef>
                <a:spcPts val="0"/>
              </a:spcBef>
              <a:spcAft>
                <a:spcPts val="1100"/>
              </a:spcAft>
            </a:pPr>
            <a:r>
              <a:rPr sz="1700" b="0" i="0">
                <a:solidFill>
                  <a:srgbClr val="1A1A1A"/>
                </a:solidFill>
                <a:latin typeface="Arial"/>
              </a:rPr>
              <a:t>In two stretches volume falls as price falls: volume falling, divergence; with price, bullish. Fewer are willing to sell lower.</a:t>
            </a:r>
          </a:p>
        </p:txBody>
      </p:sp>
      <p:sp>
        <p:nvSpPr>
          <p:cNvPr id="8" name="Rectangle 7"/>
          <p:cNvSpPr/>
          <p:nvPr/>
        </p:nvSpPr>
        <p:spPr>
          <a:xfrm>
            <a:off x="777240" y="412851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provides additional evidence of a bullish chart formation.</a:t>
            </a:r>
          </a:p>
        </p:txBody>
      </p:sp>
      <p:sp>
        <p:nvSpPr>
          <p:cNvPr id="10" name="TextBox 9"/>
          <p:cNvSpPr txBox="1"/>
          <p:nvPr/>
        </p:nvSpPr>
        <p:spPr>
          <a:xfrm>
            <a:off x="777240" y="50246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note: Isis rose past the previous day's close though the Dow Jones Industrial Average fell 219 points, a bullish indication.</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its prices read off the figure. Its caption says daily; the chart is labelled 10 min. Rounding bottom: Chapter 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3, 7 and 9: price and volume rise, bullish confirmation. 4 and 6: price dips as volume falls, bullish divergence. 5: volume flat, no reading.</a:t>
            </a:r>
          </a:p>
          <a:p>
            <a:pPr algn="l">
              <a:lnSpc>
                <a:spcPct val="105000"/>
              </a:lnSpc>
              <a:spcBef>
                <a:spcPts val="0"/>
              </a:spcBef>
              <a:spcAft>
                <a:spcPts val="1100"/>
              </a:spcAft>
            </a:pPr>
            <a:r>
              <a:rPr sz="1700" b="0" i="0">
                <a:solidFill>
                  <a:srgbClr val="1A1A1A"/>
                </a:solidFill>
                <a:latin typeface="Arial"/>
              </a:rPr>
              <a:t>2, 8 and 10: volume falls as price moves sideways, a consolidation (Chapter 4). At volume's minimum, price breaks out.</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a consolidation, volume times the breakout: Part 2.</a:t>
            </a:r>
          </a:p>
        </p:txBody>
      </p:sp>
      <p:sp>
        <p:nvSpPr>
          <p:cNvPr id="10" name="TextBox 9"/>
          <p:cNvSpPr txBox="1"/>
          <p:nvPr/>
        </p:nvSpPr>
        <p:spPr>
          <a:xfrm>
            <a:off x="777240" y="529666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19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PHP 40 to 48, volume about 1.2 to 3.3 million: both rise, bullish confirmation.</a:t>
            </a:r>
          </a:p>
          <a:p>
            <a:pPr algn="l">
              <a:lnSpc>
                <a:spcPct val="105000"/>
              </a:lnSpc>
              <a:spcBef>
                <a:spcPts val="0"/>
              </a:spcBef>
              <a:spcAft>
                <a:spcPts val="1100"/>
              </a:spcAft>
            </a:pPr>
            <a:r>
              <a:rPr sz="1700" b="0" i="0">
                <a:solidFill>
                  <a:srgbClr val="1A1A1A"/>
                </a:solidFill>
                <a:latin typeface="Arial"/>
              </a:rPr>
              <a:t>2  Dip to 45.5, volume about 2.7 to 1.4 million: both fall, bullish divergence.</a:t>
            </a:r>
          </a:p>
          <a:p>
            <a:pPr algn="l">
              <a:lnSpc>
                <a:spcPct val="105000"/>
              </a:lnSpc>
              <a:spcBef>
                <a:spcPts val="0"/>
              </a:spcBef>
              <a:spcAft>
                <a:spcPts val="1100"/>
              </a:spcAft>
            </a:pPr>
            <a:r>
              <a:rPr sz="1700" b="0" i="0">
                <a:solidFill>
                  <a:srgbClr val="1A1A1A"/>
                </a:solidFill>
                <a:latin typeface="Arial"/>
              </a:rPr>
              <a:t>3  Sideways, 45.5 to 47.3, volume down to 0.5 million: a consolidation.</a:t>
            </a:r>
          </a:p>
          <a:p>
            <a:pPr algn="l">
              <a:lnSpc>
                <a:spcPct val="105000"/>
              </a:lnSpc>
              <a:spcBef>
                <a:spcPts val="0"/>
              </a:spcBef>
              <a:spcAft>
                <a:spcPts val="1100"/>
              </a:spcAft>
            </a:pPr>
            <a:r>
              <a:rPr sz="1700" b="0" i="0">
                <a:solidFill>
                  <a:srgbClr val="1A1A1A"/>
                </a:solidFill>
                <a:latin typeface="Arial"/>
              </a:rPr>
              <a:t>4  Breakout, 46 to 55, volume about 2.5 to 3 million: bullish confirmation.</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3 price has no direction, so no reading (book p.180).</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prices and volumes are ours, read off the chart.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under price. Price-based: price built in. Non-price-based: volume only.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closes PHP 50, 51, 50.5 on 2, 3, 1 million. Volume bars: 2, 3, 1. Add volume on a higher close, subtract on a lower: 0, 3,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numbers are ours. The chart is ours, on invented prices; its line is computed by the rule taught in Part 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a:p>
            <a:pPr algn="l">
              <a:lnSpc>
                <a:spcPct val="118000"/>
              </a:lnSpc>
              <a:spcBef>
                <a:spcPts val="0"/>
              </a:spcBef>
              <a:spcAft>
                <a:spcPts val="1300"/>
              </a:spcAft>
            </a:pPr>
            <a:r>
              <a:rPr sz="2100" b="0" i="0">
                <a:solidFill>
                  <a:srgbClr val="1A1A1A"/>
                </a:solidFill>
                <a:latin typeface="Arial"/>
              </a:rPr>
              <a:t>So plain volume bars count as a non-price-based volume oscillator.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22 of 24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Non-price-based, plain volume included: bullish if it moves with price, bearish if against. Divergence if it falls, confirmation if it rises.</a:t>
            </a:r>
          </a:p>
          <a:p>
            <a:pPr algn="l">
              <a:lnSpc>
                <a:spcPct val="105000"/>
              </a:lnSpc>
              <a:spcBef>
                <a:spcPts val="0"/>
              </a:spcBef>
              <a:spcAft>
                <a:spcPts val="1100"/>
              </a:spcAft>
            </a:pPr>
            <a:r>
              <a:rPr sz="1800" b="0" i="0">
                <a:solidFill>
                  <a:srgbClr val="1A1A1A"/>
                </a:solidFill>
                <a:latin typeface="Arial"/>
              </a:rPr>
              <a:t>Price-based, such as the OBV: bullish if it rises, bearish if it falls. Divergence if it moves against price, confirmation if with it.</a:t>
            </a:r>
          </a:p>
        </p:txBody>
      </p:sp>
      <p:sp>
        <p:nvSpPr>
          <p:cNvPr id="8" name="Rectangle 7"/>
          <p:cNvSpPr/>
          <p:nvPr/>
        </p:nvSpPr>
        <p:spPr>
          <a:xfrm>
            <a:off x="777240" y="4512564"/>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01091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First ask which kind you are reading.</a:t>
            </a:r>
          </a:p>
        </p:txBody>
      </p:sp>
      <p:sp>
        <p:nvSpPr>
          <p:cNvPr id="10" name="TextBox 9"/>
          <p:cNvSpPr txBox="1"/>
          <p:nvPr/>
        </p:nvSpPr>
        <p:spPr>
          <a:xfrm>
            <a:off x="777240" y="5149596"/>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the two differ only in bullish divergence and bearish confirmation, where the price-based arrow points the other way.</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two rules are our summary of the figure's eight arrows; the book gives no reason the two kinds differ.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names on both kinds,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23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rising, PHP 46 to 50: both kinds read alike. Volume 3 to 5 million, OBV 5 to 7: bullish confirmation. Both down: bearish divergence.</a:t>
            </a:r>
          </a:p>
          <a:p>
            <a:pPr algn="l">
              <a:lnSpc>
                <a:spcPct val="118000"/>
              </a:lnSpc>
              <a:spcBef>
                <a:spcPts val="0"/>
              </a:spcBef>
              <a:spcAft>
                <a:spcPts val="1300"/>
              </a:spcAft>
            </a:pPr>
            <a:r>
              <a:rPr sz="2100" b="0" i="0">
                <a:solidFill>
                  <a:srgbClr val="1A1A1A"/>
                </a:solidFill>
                <a:latin typeface="Arial"/>
              </a:rPr>
              <a:t>Price falling, 50 to 46, bullish divergence: volume falls 3 to 1 million, with price; the OBV rises 5 to 7 million, against price.</a:t>
            </a:r>
          </a:p>
          <a:p>
            <a:pPr algn="l">
              <a:lnSpc>
                <a:spcPct val="118000"/>
              </a:lnSpc>
              <a:spcBef>
                <a:spcPts val="0"/>
              </a:spcBef>
              <a:spcAft>
                <a:spcPts val="1300"/>
              </a:spcAft>
            </a:pPr>
            <a:r>
              <a:rPr sz="2100" b="0" i="0">
                <a:solidFill>
                  <a:srgbClr val="1A1A1A"/>
                </a:solidFill>
                <a:latin typeface="Arial"/>
              </a:rPr>
              <a:t>Price falling, 50 to 46, bearish confirmation: volume rises 3 to 5 million, against price; the OBV falls 5 to 3 million, with price.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falling: same names, opposite arrows.</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Plain volume: rising is confirmation. A price-based line: moving with price is confirmation.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four names on both kinds. The prices and the volume and OBV numbers are ours.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24 of 24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Euro Trust rises along the arrow, October to January.</a:t>
            </a:r>
          </a:p>
          <a:p>
            <a:pPr algn="l">
              <a:lnSpc>
                <a:spcPct val="105000"/>
              </a:lnSpc>
              <a:spcBef>
                <a:spcPts val="0"/>
              </a:spcBef>
              <a:spcAft>
                <a:spcPts val="1100"/>
              </a:spcAft>
            </a:pPr>
            <a:r>
              <a:rPr sz="1700" b="0" i="0">
                <a:solidFill>
                  <a:srgbClr val="1A1A1A"/>
                </a:solidFill>
                <a:latin typeface="Arial"/>
              </a:rPr>
              <a:t>Volume and smoothed volume, non-price-based: falling, against price: bearish divergence.</a:t>
            </a:r>
          </a:p>
          <a:p>
            <a:pPr algn="l">
              <a:lnSpc>
                <a:spcPct val="105000"/>
              </a:lnSpc>
              <a:spcBef>
                <a:spcPts val="0"/>
              </a:spcBef>
              <a:spcAft>
                <a:spcPts val="1100"/>
              </a:spcAft>
            </a:pPr>
            <a:r>
              <a:rPr sz="1700" b="0" i="0">
                <a:solidFill>
                  <a:srgbClr val="1A1A1A"/>
                </a:solidFill>
                <a:latin typeface="Arial"/>
              </a:rPr>
              <a:t>The PVO, a detrended volume oscillator the book never explains: non-price-based, falling: bearish divergence too.</a:t>
            </a:r>
          </a:p>
          <a:p>
            <a:pPr algn="l">
              <a:lnSpc>
                <a:spcPct val="105000"/>
              </a:lnSpc>
              <a:spcBef>
                <a:spcPts val="0"/>
              </a:spcBef>
              <a:spcAft>
                <a:spcPts val="1100"/>
              </a:spcAft>
            </a:pPr>
            <a:r>
              <a:rPr sz="1700" b="0" i="0">
                <a:solidFill>
                  <a:srgbClr val="1A1A1A"/>
                </a:solidFill>
                <a:latin typeface="Arial"/>
              </a:rPr>
              <a:t>The ADL, price-based: rising, with price: bullish confirmation.</a:t>
            </a:r>
          </a:p>
        </p:txBody>
      </p:sp>
      <p:sp>
        <p:nvSpPr>
          <p:cNvPr id="8" name="Rectangle 7"/>
          <p:cNvSpPr/>
          <p:nvPr/>
        </p:nvSpPr>
        <p:spPr>
          <a:xfrm>
            <a:off x="777240" y="4729734"/>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61081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kind read by its own rule.</a:t>
            </a:r>
          </a:p>
        </p:txBody>
      </p:sp>
      <p:sp>
        <p:nvSpPr>
          <p:cNvPr id="10" name="TextBox 9"/>
          <p:cNvSpPr txBox="1"/>
          <p:nvPr/>
        </p:nvSpPr>
        <p:spPr>
          <a:xfrm>
            <a:off x="777240" y="5351526"/>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which reading to believe. Smoothed volume, an average of volume, is taught in Part 3.</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rising is bullish and moving against price is divergence: bullish divergence.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Support 1.</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Support 2.</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0" i="0">
                <a:solidFill>
                  <a:srgbClr val="1A1A1A"/>
                </a:solidFill>
                <a:latin typeface="Arial"/>
              </a:rPr>
              <a:t>1 Increasing: each bar taller. 2 Decreasing: each shorter. 3 Peaking: tallest at the touch.</a:t>
            </a:r>
          </a:p>
          <a:p>
            <a:pPr algn="l">
              <a:lnSpc>
                <a:spcPct val="105000"/>
              </a:lnSpc>
              <a:spcBef>
                <a:spcPts val="0"/>
              </a:spcBef>
              <a:spcAft>
                <a:spcPts val="1100"/>
              </a:spcAft>
            </a:pPr>
            <a:r>
              <a:rPr sz="1700" b="0" i="0">
                <a:solidFill>
                  <a:srgbClr val="1A1A1A"/>
                </a:solidFill>
                <a:latin typeface="Arial"/>
              </a:rPr>
              <a:t>4 Bottoming: shortest at the touch. 5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Figure 6.18's peak: most reliable.</a:t>
            </a:r>
          </a:p>
          <a:p>
            <a:pPr algn="l">
              <a:lnSpc>
                <a:spcPct val="105000"/>
              </a:lnSpc>
              <a:spcBef>
                <a:spcPts val="0"/>
              </a:spcBef>
              <a:spcAft>
                <a:spcPts val="1100"/>
              </a:spcAft>
            </a:pPr>
            <a:r>
              <a:rPr sz="1700" b="0" i="0">
                <a:solidFill>
                  <a:srgbClr val="1A1A1A"/>
                </a:solidFill>
                <a:latin typeface="Arial"/>
              </a:rPr>
              <a:t>Bottoming: 7, 4, 2, 1 at the touch, 2, 4, 7. Figure 6.18's dip: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21</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the three-sigma filter, on daily USDJPY. The book marks three surges over it,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the highest price, that 6.20 caught.</a:t>
            </a:r>
          </a:p>
          <a:p>
            <a:pPr algn="l">
              <a:lnSpc>
                <a:spcPct val="105000"/>
              </a:lnSpc>
              <a:spcBef>
                <a:spcPts val="0"/>
              </a:spcBef>
              <a:spcAft>
                <a:spcPts val="1100"/>
              </a:spcAft>
            </a:pPr>
            <a:r>
              <a:rPr sz="1700" b="0" i="0">
                <a:solidFill>
                  <a:srgbClr val="1A1A1A"/>
                </a:solidFill>
                <a:latin typeface="Arial"/>
              </a:rPr>
              <a:t>The two lower lines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Figure 6.21's line stays high for months after the March spike, far beyond our 20 bars. The book never gives its 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then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X is bar 72, 28 bars after trough 3 at bar 44. The lower line is there at 49.00 + 28 x 0.10 = PHP 51.80; price touches it and turns up.</a:t>
            </a:r>
          </a:p>
          <a:p>
            <a:pPr algn="l">
              <a:lnSpc>
                <a:spcPct val="118000"/>
              </a:lnSpc>
              <a:spcBef>
                <a:spcPts val="0"/>
              </a:spcBef>
              <a:spcAft>
                <a:spcPts val="1300"/>
              </a:spcAft>
            </a:pPr>
            <a:r>
              <a:rPr sz="2100" b="0" i="0">
                <a:solidFill>
                  <a:srgbClr val="1A1A1A"/>
                </a:solidFill>
                <a:latin typeface="Arial"/>
              </a:rPr>
              <a:t>Silver's April bars (labelled High tick volume level) and late September bars reach the line too; the channel uses only July to August, unexplained.</a:t>
            </a:r>
          </a:p>
          <a:p>
            <a:pPr algn="l">
              <a:lnSpc>
                <a:spcPct val="118000"/>
              </a:lnSpc>
              <a:spcBef>
                <a:spcPts val="0"/>
              </a:spcBef>
              <a:spcAft>
                <a:spcPts val="1300"/>
              </a:spcAft>
            </a:pPr>
            <a:r>
              <a:rPr sz="2100" b="0" i="0">
                <a:solidFill>
                  <a:srgbClr val="1A1A1A"/>
                </a:solidFill>
                <a:latin typeface="Arial"/>
              </a:rPr>
              <a:t>Chapter 5's uptrend line joined troughs; here the book joins two peaks and gives no reason. Either way, two parallels make the channel.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at the lower line, look for a short-term buy, as at silver's X. Falling through it violates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the arithmetic at X, and what the figure's volume panel shows.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a:t>
            </a:r>
          </a:p>
          <a:p>
            <a:pPr algn="l">
              <a:lnSpc>
                <a:spcPct val="105000"/>
              </a:lnSpc>
              <a:spcBef>
                <a:spcPts val="0"/>
              </a:spcBef>
              <a:spcAft>
                <a:spcPts val="1100"/>
              </a:spcAft>
            </a:pPr>
            <a:r>
              <a:rPr sz="1700" b="0" i="0">
                <a:solidFill>
                  <a:srgbClr val="1A1A1A"/>
                </a:solidFill>
                <a:latin typeface="Arial"/>
              </a:rPr>
              <a:t>A parallel from 4, carried back, meets the trough at X,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The 5 and 6 channel: resistance at its top, support at its bottom. The book's lesson: build patterns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peaks and troughs are used to construct volume filtered trendlines and channels?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Every peak and trough on the chart</a:t>
            </a:r>
          </a:p>
          <a:p>
            <a:pPr algn="l">
              <a:lnSpc>
                <a:spcPct val="112000"/>
              </a:lnSpc>
              <a:spcBef>
                <a:spcPts val="0"/>
              </a:spcBef>
              <a:spcAft>
                <a:spcPts val="900"/>
              </a:spcAft>
            </a:pPr>
            <a:r>
              <a:rPr sz="1500" b="0" i="0">
                <a:solidFill>
                  <a:srgbClr val="FFFFFF"/>
                </a:solidFill>
                <a:latin typeface="Arial"/>
              </a:rPr>
              <a:t>B.  Only those associated with above average volume</a:t>
            </a:r>
          </a:p>
          <a:p>
            <a:pPr algn="l">
              <a:lnSpc>
                <a:spcPct val="112000"/>
              </a:lnSpc>
              <a:spcBef>
                <a:spcPts val="0"/>
              </a:spcBef>
              <a:spcAft>
                <a:spcPts val="900"/>
              </a:spcAft>
            </a:pPr>
            <a:r>
              <a:rPr sz="1500" b="0" i="0">
                <a:solidFill>
                  <a:srgbClr val="FFFFFF"/>
                </a:solidFill>
                <a:latin typeface="Arial"/>
              </a:rPr>
              <a:t>C.  Only those formed on minimal volume</a:t>
            </a:r>
          </a:p>
          <a:p>
            <a:pPr algn="l">
              <a:lnSpc>
                <a:spcPct val="112000"/>
              </a:lnSpc>
              <a:spcBef>
                <a:spcPts val="0"/>
              </a:spcBef>
              <a:spcAft>
                <a:spcPts val="900"/>
              </a:spcAft>
            </a:pPr>
            <a:r>
              <a:rPr sz="1500" b="0" i="0">
                <a:solidFill>
                  <a:srgbClr val="FFFFFF"/>
                </a:solidFill>
                <a:latin typeface="Arial"/>
              </a:rPr>
              <a:t>D.  Only those within a consolidation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6.22, how is the volume threshold drawn?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By visual inspection, so only the most significant peaks reach it</a:t>
            </a:r>
          </a:p>
          <a:p>
            <a:pPr algn="l">
              <a:lnSpc>
                <a:spcPct val="112000"/>
              </a:lnSpc>
              <a:spcBef>
                <a:spcPts val="0"/>
              </a:spcBef>
              <a:spcAft>
                <a:spcPts val="900"/>
              </a:spcAft>
            </a:pPr>
            <a:r>
              <a:rPr sz="1500" b="0" i="0">
                <a:solidFill>
                  <a:srgbClr val="FFFFFF"/>
                </a:solidFill>
                <a:latin typeface="Arial"/>
              </a:rPr>
              <a:t>B.  As a 100-day moving average</a:t>
            </a:r>
          </a:p>
          <a:p>
            <a:pPr algn="l">
              <a:lnSpc>
                <a:spcPct val="112000"/>
              </a:lnSpc>
              <a:spcBef>
                <a:spcPts val="0"/>
              </a:spcBef>
              <a:spcAft>
                <a:spcPts val="900"/>
              </a:spcAft>
            </a:pPr>
            <a:r>
              <a:rPr sz="1500" b="0" i="0">
                <a:solidFill>
                  <a:srgbClr val="FFFFFF"/>
                </a:solidFill>
                <a:latin typeface="Arial"/>
              </a:rPr>
              <a:t>C.  At three standard deviations</a:t>
            </a:r>
          </a:p>
          <a:p>
            <a:pPr algn="l">
              <a:lnSpc>
                <a:spcPct val="112000"/>
              </a:lnSpc>
              <a:spcBef>
                <a:spcPts val="0"/>
              </a:spcBef>
              <a:spcAft>
                <a:spcPts val="900"/>
              </a:spcAft>
            </a:pPr>
            <a:r>
              <a:rPr sz="1500" b="0" i="0">
                <a:solidFill>
                  <a:srgbClr val="FFFFFF"/>
                </a:solidFill>
                <a:latin typeface="Arial"/>
              </a:rPr>
              <a:t>D.  At the lowest historical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700"/>
              </a:spcBef>
              <a:spcAft>
                <a:spcPts val="0"/>
              </a:spcAft>
            </a:pPr>
            <a:r>
              <a:rPr sz="1600" b="0" i="0">
                <a:solidFill>
                  <a:srgbClr val="1A1A1A"/>
                </a:solidFill>
                <a:latin typeface="Arial"/>
              </a:rPr>
              <a:t>Only significant inflection points are used: those associated with above average volume.</a:t>
            </a:r>
          </a:p>
        </p:txBody>
      </p:sp>
      <p:sp>
        <p:nvSpPr>
          <p:cNvPr id="10" name="Rectangle 9"/>
          <p:cNvSpPr/>
          <p:nvPr/>
        </p:nvSpPr>
        <p:spPr>
          <a:xfrm>
            <a:off x="777240" y="3082036"/>
            <a:ext cx="10637215" cy="19202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9202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700"/>
              </a:spcBef>
              <a:spcAft>
                <a:spcPts val="0"/>
              </a:spcAft>
            </a:pPr>
            <a:r>
              <a:rPr sz="1600" b="0" i="0">
                <a:solidFill>
                  <a:srgbClr val="1A1A1A"/>
                </a:solidFill>
                <a:latin typeface="Arial"/>
              </a:rPr>
              <a:t>The book draws a simple tick volume overextension level by visual inspection.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441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44170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A to B: volume peaks higher at 1, bullish confirmation; open interest peaks lower at 2, bearish divergence. They disagree; the book reads open interest: longs liquidating, early.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TRIN up to about 2.2, both at levels it labels oversold. The index then rose.</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318760"/>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line 200 + 2 x 300 = 800; above it, oversold. A daily TRIN of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TRIN: overbought in the text, oversold in Figure 6.25.</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 reasons for either rule. Figure 6.25's oversold tick sits at its low, not above two sigma.</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the tick barely rises above zero and twice drops to about -1,000,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6.27, iShares Silver Trust: sideways bars longest around $17. The book's volume turnover here is shares traded, not the turnover ratio.</a:t>
            </a:r>
          </a:p>
          <a:p>
            <a:pPr algn="l">
              <a:lnSpc>
                <a:spcPct val="105000"/>
              </a:lnSpc>
              <a:spcBef>
                <a:spcPts val="0"/>
              </a:spcBef>
              <a:spcAft>
                <a:spcPts val="1100"/>
              </a:spcAft>
            </a:pPr>
            <a:r>
              <a:rPr sz="1600" b="0" i="0">
                <a:solidFill>
                  <a:srgbClr val="1A1A1A"/>
                </a:solidFill>
                <a:latin typeface="Arial"/>
              </a:rPr>
              <a:t>So $17 represents a significant support: a floor where a fall may stop. The figure: significant capital commitment.</a:t>
            </a:r>
          </a:p>
          <a:p>
            <a:pPr algn="l">
              <a:lnSpc>
                <a:spcPct val="105000"/>
              </a:lnSpc>
              <a:spcBef>
                <a:spcPts val="0"/>
              </a:spcBef>
              <a:spcAft>
                <a:spcPts val="1100"/>
              </a:spcAft>
            </a:pPr>
            <a:r>
              <a:rPr sz="1600" b="0" i="0">
                <a:solidFill>
                  <a:srgbClr val="1A1A1A"/>
                </a:solidFill>
                <a:latin typeface="Arial"/>
              </a:rPr>
              <a:t>Also marked: high volume at about $35, a new consolidation level, not in the text.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Ordinary volume bars show when, not at what price.</a:t>
            </a:r>
          </a:p>
        </p:txBody>
      </p:sp>
      <p:sp>
        <p:nvSpPr>
          <p:cNvPr id="10" name="TextBox 9"/>
          <p:cNvSpPr txBox="1"/>
          <p:nvPr/>
        </p:nvSpPr>
        <p:spPr>
          <a:xfrm>
            <a:off x="777240" y="55747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6.28, 3M: the longest sideways bars, bracketed, $77 to $86: the most traded range, more shares than at any other price.</a:t>
            </a:r>
          </a:p>
          <a:p>
            <a:pPr algn="l">
              <a:lnSpc>
                <a:spcPct val="105000"/>
              </a:lnSpc>
              <a:spcBef>
                <a:spcPts val="0"/>
              </a:spcBef>
              <a:spcAft>
                <a:spcPts val="1100"/>
              </a:spcAft>
            </a:pPr>
            <a:r>
              <a:rPr sz="1500" b="0" i="0">
                <a:solidFill>
                  <a:srgbClr val="1A1A1A"/>
                </a:solidFill>
                <a:latin typeface="Arial"/>
              </a:rPr>
              <a:t>With 3M last at about $88, $77 to $86 lies below: potential support, the figure's label. $90 to $92 above: some resistance, says the book, not how it was found.</a:t>
            </a:r>
          </a:p>
          <a:p>
            <a:pPr algn="l">
              <a:lnSpc>
                <a:spcPct val="105000"/>
              </a:lnSpc>
              <a:spcBef>
                <a:spcPts val="0"/>
              </a:spcBef>
              <a:spcAft>
                <a:spcPts val="1100"/>
              </a:spcAft>
            </a:pPr>
            <a:r>
              <a:rPr sz="1500" b="0" i="0">
                <a:solidFill>
                  <a:srgbClr val="1A1A1A"/>
                </a:solidFill>
                <a:latin typeface="Arial"/>
              </a:rPr>
              <a:t>Volume panel lines, Part 1's names: bearish confirmation, price falling on rising volume; bearish divergence, price rising on falling volume.</a:t>
            </a:r>
          </a:p>
        </p:txBody>
      </p:sp>
      <p:sp>
        <p:nvSpPr>
          <p:cNvPr id="8" name="Rectangle 7"/>
          <p:cNvSpPr/>
          <p:nvPr/>
        </p:nvSpPr>
        <p:spPr>
          <a:xfrm>
            <a:off x="777240" y="506120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Support at PHP 47.50: price turned up near it twice, at PHP 47.40 and PHP 47.50.</a:t>
            </a:r>
          </a:p>
          <a:p>
            <a:pPr algn="l">
              <a:lnSpc>
                <a:spcPct val="118000"/>
              </a:lnSpc>
              <a:spcBef>
                <a:spcPts val="0"/>
              </a:spcBef>
              <a:spcAft>
                <a:spcPts val="1300"/>
              </a:spcAft>
            </a:pPr>
            <a:r>
              <a:rPr sz="2100" b="0" i="0">
                <a:solidFill>
                  <a:srgbClr val="1A1A1A"/>
                </a:solidFill>
                <a:latin typeface="Arial"/>
              </a:rPr>
              <a:t>Resistance at PHP 50.80: price turned down near it twice, at PHP 50.90 and PHP 50.80, then broke above it and rose to about PHP 58.60.</a:t>
            </a:r>
          </a:p>
          <a:p>
            <a:pPr algn="l">
              <a:lnSpc>
                <a:spcPct val="118000"/>
              </a:lnSpc>
              <a:spcBef>
                <a:spcPts val="0"/>
              </a:spcBef>
              <a:spcAft>
                <a:spcPts val="1300"/>
              </a:spcAft>
            </a:pPr>
            <a:r>
              <a:rPr sz="21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level from the four steps is potential: ours held twice, then broke.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largest volume by price range, the dark sideways bars.</a:t>
            </a:r>
          </a:p>
          <a:p>
            <a:pPr algn="l">
              <a:lnSpc>
                <a:spcPct val="105000"/>
              </a:lnSpc>
              <a:spcBef>
                <a:spcPts val="0"/>
              </a:spcBef>
              <a:spcAft>
                <a:spcPts val="1100"/>
              </a:spcAft>
            </a:pPr>
            <a:r>
              <a:rPr sz="1700" b="0" i="0">
                <a:solidFill>
                  <a:srgbClr val="1A1A1A"/>
                </a:solidFill>
                <a:latin typeface="Arial"/>
              </a:rPr>
              <a:t>2 and 3  The dark columns, where volume reaches the dotted overextended volume level (Part 2),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1 to 4, as an empty box, the range, over a black box, the volume.</a:t>
            </a:r>
          </a:p>
          <a:p>
            <a:pPr algn="l">
              <a:lnSpc>
                <a:spcPct val="105000"/>
              </a:lnSpc>
              <a:spcBef>
                <a:spcPts val="0"/>
              </a:spcBef>
              <a:spcAft>
                <a:spcPts val="1100"/>
              </a:spcAft>
            </a:pPr>
            <a:r>
              <a:rPr sz="1700" b="0" i="0">
                <a:solidFill>
                  <a:srgbClr val="1A1A1A"/>
                </a:solidFill>
                <a:latin typeface="Arial"/>
              </a:rPr>
              <a:t>1 short range, low volume; 2 short, high; 3 tall, low; 4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an empty box for the bar range over a black box for the volume. 1 short on low, 2 short on high, 3 tall on low, 4 tall on high.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its word for volume: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1 and 2: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at a low, and 2, at a dip near the highs, lined to tall volume bars; a triangle at the left.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our reading as the book gives none: the whole move. Ours: PHP 60 to 45 in six months, then a rally to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by eye, as the book does not say: rising against the larger downtrend, the less reliable kind. Its rally lasted about two and a half weeks.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 high volume reversal bar of Figure 6.33 regarded as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formed on a constant volume chart</a:t>
            </a:r>
          </a:p>
          <a:p>
            <a:pPr algn="l">
              <a:lnSpc>
                <a:spcPct val="112000"/>
              </a:lnSpc>
              <a:spcBef>
                <a:spcPts val="0"/>
              </a:spcBef>
              <a:spcAft>
                <a:spcPts val="900"/>
              </a:spcAft>
            </a:pPr>
            <a:r>
              <a:rPr sz="1500" b="0" i="0">
                <a:solidFill>
                  <a:srgbClr val="FFFFFF"/>
                </a:solidFill>
                <a:latin typeface="Arial"/>
              </a:rPr>
              <a:t>B.  It formed within a larger downtrend</a:t>
            </a:r>
          </a:p>
          <a:p>
            <a:pPr algn="l">
              <a:lnSpc>
                <a:spcPct val="112000"/>
              </a:lnSpc>
              <a:spcBef>
                <a:spcPts val="0"/>
              </a:spcBef>
              <a:spcAft>
                <a:spcPts val="900"/>
              </a:spcAft>
            </a:pPr>
            <a:r>
              <a:rPr sz="1500" b="0" i="0">
                <a:solidFill>
                  <a:srgbClr val="FFFFFF"/>
                </a:solidFill>
                <a:latin typeface="Arial"/>
              </a:rPr>
              <a:t>C.  Its volume was the lowest of the year</a:t>
            </a:r>
          </a:p>
          <a:p>
            <a:pPr algn="l">
              <a:lnSpc>
                <a:spcPct val="112000"/>
              </a:lnSpc>
              <a:spcBef>
                <a:spcPts val="0"/>
              </a:spcBef>
              <a:spcAft>
                <a:spcPts val="900"/>
              </a:spcAft>
            </a:pPr>
            <a:r>
              <a:rPr sz="1500" b="0" i="0">
                <a:solidFill>
                  <a:srgbClr val="FFFFFF"/>
                </a:solidFill>
                <a:latin typeface="Arial"/>
              </a:rPr>
              <a:t>D.  It formed on flat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volume chart, potential reversal bars are found from:</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volume bars alone</a:t>
            </a:r>
          </a:p>
          <a:p>
            <a:pPr algn="l">
              <a:lnSpc>
                <a:spcPct val="112000"/>
              </a:lnSpc>
              <a:spcBef>
                <a:spcPts val="0"/>
              </a:spcBef>
              <a:spcAft>
                <a:spcPts val="900"/>
              </a:spcAft>
            </a:pPr>
            <a:r>
              <a:rPr sz="1500" b="0" i="0">
                <a:solidFill>
                  <a:srgbClr val="FFFFFF"/>
                </a:solidFill>
                <a:latin typeface="Arial"/>
              </a:rPr>
              <a:t>B.  The time axis</a:t>
            </a:r>
          </a:p>
          <a:p>
            <a:pPr algn="l">
              <a:lnSpc>
                <a:spcPct val="112000"/>
              </a:lnSpc>
              <a:spcBef>
                <a:spcPts val="0"/>
              </a:spcBef>
              <a:spcAft>
                <a:spcPts val="900"/>
              </a:spcAft>
            </a:pPr>
            <a:r>
              <a:rPr sz="1500" b="0" i="0">
                <a:solidFill>
                  <a:srgbClr val="FFFFFF"/>
                </a:solidFill>
                <a:latin typeface="Arial"/>
              </a:rPr>
              <a:t>C.  The open interest</a:t>
            </a:r>
          </a:p>
          <a:p>
            <a:pPr algn="l">
              <a:lnSpc>
                <a:spcPct val="112000"/>
              </a:lnSpc>
              <a:spcBef>
                <a:spcPts val="0"/>
              </a:spcBef>
              <a:spcAft>
                <a:spcPts val="900"/>
              </a:spcAft>
            </a:pPr>
            <a:r>
              <a:rPr sz="1500" b="0" i="0">
                <a:solidFill>
                  <a:srgbClr val="FFFFFF"/>
                </a:solidFill>
                <a:latin typeface="Arial"/>
              </a:rPr>
              <a:t>D.  The bar range alone and its height against the rest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the high volume reversal bar of Figure 6.33 regarded as potentially more reliable?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formed within a larger downtrend</a:t>
            </a:r>
          </a:p>
          <a:p>
            <a:pPr algn="l">
              <a:lnSpc>
                <a:spcPct val="115000"/>
              </a:lnSpc>
              <a:spcBef>
                <a:spcPts val="700"/>
              </a:spcBef>
              <a:spcAft>
                <a:spcPts val="0"/>
              </a:spcAft>
            </a:pPr>
            <a:r>
              <a:rPr sz="1600" b="0" i="0">
                <a:solidFill>
                  <a:srgbClr val="1A1A1A"/>
                </a:solidFill>
                <a:latin typeface="Arial"/>
              </a:rPr>
              <a:t>The bearish reversal bar occurred within a larger downtrend, the direction of the predominant trend.</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constant volume chart, potential reversal bars are found from:</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range alone and its height against the rest</a:t>
            </a:r>
          </a:p>
          <a:p>
            <a:pPr algn="l">
              <a:lnSpc>
                <a:spcPct val="115000"/>
              </a:lnSpc>
              <a:spcBef>
                <a:spcPts val="700"/>
              </a:spcBef>
              <a:spcAft>
                <a:spcPts val="0"/>
              </a:spcAft>
            </a:pPr>
            <a:r>
              <a:rPr sz="1600" b="0" i="0">
                <a:solidFill>
                  <a:srgbClr val="1A1A1A"/>
                </a:solidFill>
                <a:latin typeface="Arial"/>
              </a:rPr>
              <a:t>Volume is fixed for each bar, so reversal bars are identified by bar range and height alone.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Chart, 1: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Chart, 2: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light volume on the break does not cancel the signal: watch whether volume arrives in the days after. The book gives no rule for how long to wait.</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a:t>
            </a:r>
          </a:p>
          <a:p>
            <a:pPr algn="l">
              <a:lnSpc>
                <a:spcPct val="105000"/>
              </a:lnSpc>
              <a:spcBef>
                <a:spcPts val="0"/>
              </a:spcBef>
              <a:spcAft>
                <a:spcPts val="1100"/>
              </a:spcAft>
            </a:pPr>
            <a:r>
              <a:rPr sz="1800" b="0" i="0">
                <a:solidFill>
                  <a:srgbClr val="1A1A1A"/>
                </a:solidFill>
                <a:latin typeface="Arial"/>
              </a:rPr>
              <a:t>Follow the solid line down from Market bottom: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weeks, with support and resistance lines, a triangle and a channel, over daily volume cycles; price turns at the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1, 4 and 5 price rebounds off a rising trendline, each time at a tick volume peak.</a:t>
            </a:r>
          </a:p>
          <a:p>
            <a:pPr algn="l">
              <a:lnSpc>
                <a:spcPct val="105000"/>
              </a:lnSpc>
              <a:spcBef>
                <a:spcPts val="0"/>
              </a:spcBef>
              <a:spcAft>
                <a:spcPts val="1100"/>
              </a:spcAft>
            </a:pPr>
            <a:r>
              <a:rPr sz="1700" b="0" i="0">
                <a:solidFill>
                  <a:srgbClr val="1A1A1A"/>
                </a:solidFill>
                <a:latin typeface="Arial"/>
              </a:rPr>
              <a:t>A cycle-tuned stochastic, bottom panel, read oversold there: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the stochastic was still mid-panel, not clearly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Hourly EURUSD with rising trendlines and retests 1 to 5, daily volume cycles below, and a stochastic panel: oversold under 1, 4 and 5, not at X and 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lows of PHP 100 and PHP 110, ten ordinary days apart, each day one step wide on both charts. The line rises PHP 1.00 a step.</a:t>
            </a:r>
          </a:p>
          <a:p>
            <a:pPr algn="l">
              <a:lnSpc>
                <a:spcPct val="118000"/>
              </a:lnSpc>
              <a:spcBef>
                <a:spcPts val="0"/>
              </a:spcBef>
              <a:spcAft>
                <a:spcPts val="1300"/>
              </a:spcAft>
            </a:pPr>
            <a:r>
              <a:rPr sz="2100" b="0" i="0">
                <a:solidFill>
                  <a:srgbClr val="1A1A1A"/>
                </a:solidFill>
                <a:latin typeface="Arial"/>
              </a:rPr>
              <a:t>Then five heavy days: one step each on the daily chart, two each on the equivolume chart. Five days on, the daily line is at PHP 115, the equivolume line at PHP 120.</a:t>
            </a:r>
          </a:p>
          <a:p>
            <a:pPr algn="l">
              <a:lnSpc>
                <a:spcPct val="118000"/>
              </a:lnSpc>
              <a:spcBef>
                <a:spcPts val="0"/>
              </a:spcBef>
              <a:spcAft>
                <a:spcPts val="1300"/>
              </a:spcAft>
            </a:pPr>
            <a:r>
              <a:rPr sz="2100" b="0" i="0">
                <a:solidFill>
                  <a:srgbClr val="1A1A1A"/>
                </a:solidFill>
                <a:latin typeface="Arial"/>
              </a:rPr>
              <a:t>A low of PHP 117 that day holds above the daily line and cuts the equivolume one. Equal widths would move nothing: unequal widths move the cut.</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24</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(Figure 6.43).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sets no start; we start at 0 on day 1, with no day before it. Up days: 2.0 + 3.0 = 5.0 million; down days: 1.5 + 1.0 = 2.5. OBV: 2.5.</a:t>
            </a:r>
          </a:p>
          <a:p>
            <a:pPr algn="l">
              <a:lnSpc>
                <a:spcPct val="118000"/>
              </a:lnSpc>
              <a:spcBef>
                <a:spcPts val="0"/>
              </a:spcBef>
              <a:spcAft>
                <a:spcPts val="1300"/>
              </a:spcAft>
            </a:pPr>
            <a:r>
              <a:rPr sz="2100" b="0" i="0">
                <a:solidFill>
                  <a:srgbClr val="1A1A1A"/>
                </a:solidFill>
                <a:latin typeface="Arial"/>
              </a:rPr>
              <a:t>Rising OBV: more volume on up closes than down closes. Falling: the reverse.</a:t>
            </a:r>
          </a:p>
          <a:p>
            <a:pPr algn="l">
              <a:lnSpc>
                <a:spcPct val="118000"/>
              </a:lnSpc>
              <a:spcBef>
                <a:spcPts val="0"/>
              </a:spcBef>
              <a:spcAft>
                <a:spcPts val="1300"/>
              </a:spcAft>
            </a:pPr>
            <a:r>
              <a:rPr sz="21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it by rises and falls against price, not by level: next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is ours, on the last slide's six days. The reading rule is Part 1's, Figure 6.7.</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not 2.5.</a:t>
            </a:r>
          </a:p>
          <a:p>
            <a:pPr algn="l">
              <a:lnSpc>
                <a:spcPct val="105000"/>
              </a:lnSpc>
              <a:spcBef>
                <a:spcPts val="0"/>
              </a:spcBef>
              <a:spcAft>
                <a:spcPts val="1100"/>
              </a:spcAft>
            </a:pPr>
            <a:r>
              <a:rPr sz="1800" b="0" i="0">
                <a:solidFill>
                  <a:srgbClr val="1A1A1A"/>
                </a:solidFill>
                <a:latin typeface="Arial"/>
              </a:rPr>
              <a:t>Its changes, the relative value, do not. Day 3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is added or subtracted regardless of the bar's own behavior.</a:t>
            </a:r>
          </a:p>
          <a:p>
            <a:pPr algn="l">
              <a:lnSpc>
                <a:spcPct val="105000"/>
              </a:lnSpc>
              <a:spcBef>
                <a:spcPts val="0"/>
              </a:spcBef>
              <a:spcAft>
                <a:spcPts val="1100"/>
              </a:spcAft>
            </a:pPr>
            <a:r>
              <a:rPr sz="1700" b="0" i="0">
                <a:solidFill>
                  <a:srgbClr val="1A1A1A"/>
                </a:solidFill>
                <a:latin typeface="Arial"/>
              </a:rPr>
              <a:t>Ours: bar 1 has a high of 51.00 and closes 50.80. Bar 2 rallies to a new high of 54.00, far above, and closes 50.70, just under 50.80.</a:t>
            </a:r>
          </a:p>
          <a:p>
            <a:pPr algn="l">
              <a:lnSpc>
                <a:spcPct val="105000"/>
              </a:lnSpc>
              <a:spcBef>
                <a:spcPts val="0"/>
              </a:spcBef>
              <a:spcAft>
                <a:spcPts val="1100"/>
              </a:spcAft>
            </a:pPr>
            <a:r>
              <a:rPr sz="1700" b="0" i="0">
                <a:solidFill>
                  <a:srgbClr val="1A1A1A"/>
                </a:solidFill>
                <a:latin typeface="Arial"/>
              </a:rPr>
              <a:t>Bar 2 closed lower, so all its 3.0 million is subtracted.</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 redress it, that is, to put it right, many prefer the ADL or the two Chaikin indicators: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a lower low, August to October 2011: the falling line.</a:t>
            </a:r>
          </a:p>
          <a:p>
            <a:pPr algn="l">
              <a:lnSpc>
                <a:spcPct val="105000"/>
              </a:lnSpc>
              <a:spcBef>
                <a:spcPts val="0"/>
              </a:spcBef>
              <a:spcAft>
                <a:spcPts val="1100"/>
              </a:spcAft>
            </a:pPr>
            <a:r>
              <a:rPr sz="1700" b="0" i="0">
                <a:solidFill>
                  <a:srgbClr val="1A1A1A"/>
                </a:solidFill>
                <a:latin typeface="Arial"/>
              </a:rPr>
              <a:t>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0" i="0">
                <a:solidFill>
                  <a:srgbClr val="1A1A1A"/>
                </a:solidFill>
                <a:latin typeface="Arial"/>
              </a:rPr>
              <a:t>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First arrow, March to April 2011: equal peaks near 4.5; the OBV falls.</a:t>
            </a:r>
          </a:p>
          <a:p>
            <a:pPr algn="l">
              <a:lnSpc>
                <a:spcPct val="105000"/>
              </a:lnSpc>
              <a:spcBef>
                <a:spcPts val="0"/>
              </a:spcBef>
              <a:spcAft>
                <a:spcPts val="1100"/>
              </a:spcAft>
            </a:pPr>
            <a:r>
              <a:rPr sz="1700" b="0" i="0">
                <a:solidFill>
                  <a:srgbClr val="1A1A1A"/>
                </a:solidFill>
                <a:latin typeface="Arial"/>
              </a:rPr>
              <a:t>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while price holds or rises.</a:t>
            </a:r>
          </a:p>
          <a:p>
            <a:pPr algn="l">
              <a:lnSpc>
                <a:spcPct val="105000"/>
              </a:lnSpc>
              <a:spcBef>
                <a:spcPts val="0"/>
              </a:spcBef>
              <a:spcAft>
                <a:spcPts val="1100"/>
              </a:spcAft>
            </a:pPr>
            <a:r>
              <a:rPr sz="1700" b="0" i="0">
                <a:solidFill>
                  <a:srgbClr val="1A1A1A"/>
                </a:solidFill>
                <a:latin typeface="Arial"/>
              </a:rPr>
              <a:t>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Each bar: low L = 48, high H = 52, range H - L = 4, volume 2.0 million. C - L: the close's height above the low. H - C: its depth below the high.</a:t>
            </a:r>
          </a:p>
          <a:p>
            <a:pPr algn="l">
              <a:lnSpc>
                <a:spcPct val="118000"/>
              </a:lnSpc>
              <a:spcBef>
                <a:spcPts val="0"/>
              </a:spcBef>
              <a:spcAft>
                <a:spcPts val="1300"/>
              </a:spcAft>
            </a:pPr>
            <a:r>
              <a:rPr sz="2100" b="0" i="0">
                <a:solidFill>
                  <a:srgbClr val="1A1A1A"/>
                </a:solidFill>
                <a:latin typeface="Arial"/>
              </a:rPr>
              <a:t>Close 52: (4 - 0) / 4 = 1, add 2.0.   Close 50: (2 - 2) / 4 = 0, add nothing.   Close 49: (1 - 3) / 4 = -0.5, take 1.0.</a:t>
            </a:r>
          </a:p>
          <a:p>
            <a:pPr algn="l">
              <a:lnSpc>
                <a:spcPct val="118000"/>
              </a:lnSpc>
              <a:spcBef>
                <a:spcPts val="0"/>
              </a:spcBef>
              <a:spcAft>
                <a:spcPts val="1300"/>
              </a:spcAft>
            </a:pPr>
            <a:r>
              <a:rPr sz="2100" b="0" i="0">
                <a:solidFill>
                  <a:srgbClr val="1A1A1A"/>
                </a:solidFill>
                <a:latin typeface="Arial"/>
              </a:rPr>
              <a:t>The running total, bar by bar: 2.0, then 2.0 + 0 = 2.0, then 2.0 - 1.0 = 1.0. That total is the ADL.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factor scores where the close sits: -1 at the low, 0 at the midpoint, +1 at the high.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and arithmetic are ours, the last slide's.</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0" i="0">
                <a:solidFill>
                  <a:srgbClr val="1A1A1A"/>
                </a:solidFill>
                <a:latin typeface="Arial"/>
              </a:rPr>
              <a:t>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yesterday closed 50.00. Today runs from 46.00 to 51.00 on 2.0 million shares and closes at 49.75.</a:t>
            </a:r>
          </a:p>
          <a:p>
            <a:pPr algn="l">
              <a:lnSpc>
                <a:spcPct val="118000"/>
              </a:lnSpc>
              <a:spcBef>
                <a:spcPts val="0"/>
              </a:spcBef>
              <a:spcAft>
                <a:spcPts val="1300"/>
              </a:spcAft>
            </a:pPr>
            <a:r>
              <a:rPr sz="2100" b="0" i="0">
                <a:solidFill>
                  <a:srgbClr val="1A1A1A"/>
                </a:solidFill>
                <a:latin typeface="Arial"/>
              </a:rPr>
              <a:t>OBV: 49.75 is below 50.00, so subtract all 2.0 million.</a:t>
            </a:r>
          </a:p>
          <a:p>
            <a:pPr algn="l">
              <a:lnSpc>
                <a:spcPct val="118000"/>
              </a:lnSpc>
              <a:spcBef>
                <a:spcPts val="0"/>
              </a:spcBef>
              <a:spcAft>
                <a:spcPts val="1300"/>
              </a:spcAft>
            </a:pPr>
            <a:r>
              <a:rPr sz="2100" b="0" i="0">
                <a:solidFill>
                  <a:srgbClr val="1A1A1A"/>
                </a:solidFill>
                <a:latin typeface="Arial"/>
              </a:rPr>
              <a:t>ADL: C - L = 3.75, H - C = 1.25, range 5. Factor (3.75 - 1.25) / 5 = 0.5: add 1.0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OBV sees only yesterday's close; the ADL sees where today closed in today's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read by the book's two rules from pp.203 and 205.</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June 2011: price makes new highs.</a:t>
            </a:r>
          </a:p>
          <a:p>
            <a:pPr algn="l">
              <a:lnSpc>
                <a:spcPct val="105000"/>
              </a:lnSpc>
              <a:spcBef>
                <a:spcPts val="0"/>
              </a:spcBef>
              <a:spcAft>
                <a:spcPts val="1100"/>
              </a:spcAft>
            </a:pPr>
            <a:r>
              <a:rPr sz="1700" b="0" i="0">
                <a:solidFill>
                  <a:srgbClr val="1A1A1A"/>
                </a:solidFill>
                <a:latin typeface="Arial"/>
              </a:rPr>
              <a:t>ADL, price-based: rising with price, so bullish confirmation.</a:t>
            </a:r>
          </a:p>
          <a:p>
            <a:pPr algn="l">
              <a:lnSpc>
                <a:spcPct val="105000"/>
              </a:lnSpc>
              <a:spcBef>
                <a:spcPts val="0"/>
              </a:spcBef>
              <a:spcAft>
                <a:spcPts val="1100"/>
              </a:spcAft>
            </a:pPr>
            <a:r>
              <a:rPr sz="1700" b="0" i="0">
                <a:solidFill>
                  <a:srgbClr val="1A1A1A"/>
                </a:solidFill>
                <a:latin typeface="Arial"/>
              </a:rPr>
              <a:t>Volume, plain: falling as price rises, so bearish divergence: an underlying weakness, the book says.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disagree: wait for price to confirm a reversal, as in Figure 6.44, where price breaks its own trendline.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Both rising, or both falling: price trends in a decisive manner. Right ellipse.</a:t>
            </a:r>
          </a:p>
          <a:p>
            <a:pPr algn="l">
              <a:lnSpc>
                <a:spcPct val="105000"/>
              </a:lnSpc>
              <a:spcBef>
                <a:spcPts val="0"/>
              </a:spcBef>
              <a:spcAft>
                <a:spcPts val="1100"/>
              </a:spcAft>
            </a:pPr>
            <a:r>
              <a:rPr sz="1700" b="0" i="0">
                <a:solidFill>
                  <a:srgbClr val="1A1A1A"/>
                </a:solidFill>
                <a:latin typeface="Arial"/>
              </a:rPr>
              <a:t>Opposite directions: price tends to range or consolidate, going sideways. Left ellipse.</a:t>
            </a:r>
          </a:p>
          <a:p>
            <a:pPr algn="l">
              <a:lnSpc>
                <a:spcPct val="105000"/>
              </a:lnSpc>
              <a:spcBef>
                <a:spcPts val="0"/>
              </a:spcBef>
              <a:spcAft>
                <a:spcPts val="1100"/>
              </a:spcAft>
            </a:pPr>
            <a:r>
              <a:rPr sz="17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it may help choose. Together, trend-following; apart, range-bound.</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ADL's factor runs from -1 to +1, so no S is bigger than its bar's volume. So the CMF also runs from -1 to +1.</a:t>
            </a:r>
          </a:p>
          <a:p>
            <a:pPr algn="l">
              <a:lnSpc>
                <a:spcPct val="118000"/>
              </a:lnSpc>
              <a:spcBef>
                <a:spcPts val="0"/>
              </a:spcBef>
              <a:spcAft>
                <a:spcPts val="1300"/>
              </a:spcAft>
            </a:pPr>
            <a:r>
              <a:rPr sz="2100" b="0" i="0">
                <a:solidFill>
                  <a:srgbClr val="1A1A1A"/>
                </a:solidFill>
                <a:latin typeface="Arial"/>
              </a:rPr>
              <a:t>+1: every bar closed at its high. -1: every bar closed at its low. 0: on balance, the closes sat at their midpoints.</a:t>
            </a:r>
          </a:p>
          <a:p>
            <a:pPr algn="l">
              <a:lnSpc>
                <a:spcPct val="118000"/>
              </a:lnSpc>
              <a:spcBef>
                <a:spcPts val="0"/>
              </a:spcBef>
              <a:spcAft>
                <a:spcPts val="1300"/>
              </a:spcAft>
            </a:pPr>
            <a:r>
              <a:rPr sz="2100" b="0" i="0">
                <a:solidFill>
                  <a:srgbClr val="1A1A1A"/>
                </a:solidFill>
                <a:latin typeface="Arial"/>
              </a:rPr>
              <a:t>Our 0.17: of 6.0 million traded, a net 1.0 million counts as added. Above 0, on balance the volume came with closes above their midpoints.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reading is our arithmetic. The book reads the CMF only by a line and an oversold level, Figure 6.43.</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The book gives no reading of the CMF's value.</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Each bar's CMF, over its last N bars.</a:t>
            </a:r>
          </a:p>
          <a:p>
            <a:pPr algn="l">
              <a:lnSpc>
                <a:spcPct val="105000"/>
              </a:lnSpc>
              <a:spcBef>
                <a:spcPts val="0"/>
              </a:spcBef>
              <a:spcAft>
                <a:spcPts val="1100"/>
              </a:spcAft>
            </a:pPr>
            <a:r>
              <a:rPr sz="1800" b="0" i="0">
                <a:solidFill>
                  <a:srgbClr val="1A1A1A"/>
                </a:solidFill>
                <a:latin typeface="Arial"/>
              </a:rPr>
              <a:t>2  A running total of the CMF, as for the ADL: black.</a:t>
            </a:r>
          </a:p>
          <a:p>
            <a:pPr algn="l">
              <a:lnSpc>
                <a:spcPct val="105000"/>
              </a:lnSpc>
              <a:spcBef>
                <a:spcPts val="0"/>
              </a:spcBef>
              <a:spcAft>
                <a:spcPts val="1100"/>
              </a:spcAft>
            </a:pPr>
            <a:r>
              <a:rPr sz="1800" b="0" i="0">
                <a:solidFill>
                  <a:srgbClr val="1A1A1A"/>
                </a:solidFill>
                <a:latin typeface="Arial"/>
              </a:rPr>
              <a:t>3  Two EMAs of that total, here over 3 and 10 bars: gold and green.</a:t>
            </a:r>
          </a:p>
          <a:p>
            <a:pPr algn="l">
              <a:lnSpc>
                <a:spcPct val="105000"/>
              </a:lnSpc>
              <a:spcBef>
                <a:spcPts val="0"/>
              </a:spcBef>
              <a:spcAft>
                <a:spcPts val="1100"/>
              </a:spcAft>
            </a:pPr>
            <a:r>
              <a:rPr sz="1800" b="0" i="0">
                <a:solidFill>
                  <a:srgbClr val="1A1A1A"/>
                </a:solidFill>
                <a:latin typeface="Arial"/>
              </a:rPr>
              <a:t>4  Oscillator = shorter EMA - longer EMA, bottom panel. At the dashed lines: 1.0 - 0.5 = +0.5; 0.6 - 0.8 = -0.2.</a:t>
            </a:r>
          </a:p>
        </p:txBody>
      </p:sp>
      <p:sp>
        <p:nvSpPr>
          <p:cNvPr id="8" name="Rectangle 7"/>
          <p:cNvSpPr/>
          <p:nvPr/>
        </p:nvSpPr>
        <p:spPr>
          <a:xfrm>
            <a:off x="777240" y="484174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8324"/>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EMA, exponential moving average: a moving average of the last few values, like Part 3's smoothed volume. This chapter never says how it weights them.</a:t>
            </a:r>
          </a:p>
          <a:p>
            <a:pPr algn="l">
              <a:lnSpc>
                <a:spcPct val="118000"/>
              </a:lnSpc>
              <a:spcBef>
                <a:spcPts val="0"/>
              </a:spcBef>
              <a:spcAft>
                <a:spcPts val="1300"/>
              </a:spcAft>
            </a:pPr>
            <a:r>
              <a:rPr sz="2100" b="0" i="0">
                <a:solidFill>
                  <a:srgbClr val="1A1A1A"/>
                </a:solidFill>
                <a:latin typeface="Arial"/>
              </a:rPr>
              <a:t>A 3-bar EMA follows the running total closely; a 10-bar one follows it slowly.</a:t>
            </a:r>
          </a:p>
          <a:p>
            <a:pPr algn="l">
              <a:lnSpc>
                <a:spcPct val="118000"/>
              </a:lnSpc>
              <a:spcBef>
                <a:spcPts val="0"/>
              </a:spcBef>
              <a:spcAft>
                <a:spcPts val="1300"/>
              </a:spcAft>
            </a:pPr>
            <a:r>
              <a:rPr sz="2100" b="0" i="0">
                <a:solidFill>
                  <a:srgbClr val="1A1A1A"/>
                </a:solidFill>
                <a:latin typeface="Arial"/>
              </a:rPr>
              <a:t>Above 0, the recent average is above the longer one: the total has been rising lately. Below 0, falling. Ours: the book gives no reading of the sign.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Figure 6.43, next: CMF(20) is N = 20; ChiOsc(3,10) is EMAs of 3 and 10 bars.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the indicator falls through its rising trendline in mid 2011: an early bearish signal.</a:t>
            </a:r>
          </a:p>
          <a:p>
            <a:pPr algn="l">
              <a:lnSpc>
                <a:spcPct val="105000"/>
              </a:lnSpc>
              <a:spcBef>
                <a:spcPts val="0"/>
              </a:spcBef>
              <a:spcAft>
                <a:spcPts val="1100"/>
              </a:spcAft>
            </a:pPr>
            <a:r>
              <a:rPr sz="1700" b="0" i="0">
                <a:solidFill>
                  <a:srgbClr val="1A1A1A"/>
                </a:solidFill>
                <a:latin typeface="Arial"/>
              </a:rPr>
              <a:t>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Commercials: hedgers, holding non-cash positions, a phrase the book never explains.</a:t>
            </a:r>
          </a:p>
          <a:p>
            <a:pPr algn="l">
              <a:lnSpc>
                <a:spcPct val="118000"/>
              </a:lnSpc>
              <a:spcBef>
                <a:spcPts val="0"/>
              </a:spcBef>
              <a:spcAft>
                <a:spcPts val="1300"/>
              </a:spcAft>
            </a:pPr>
            <a:r>
              <a:rPr sz="2100" b="0" i="0">
                <a:solidFill>
                  <a:srgbClr val="1A1A1A"/>
                </a:solidFill>
                <a:latin typeface="Arial"/>
              </a:rPr>
              <a:t>The book: traders use it to identify potential tops and bottoms, by two things.</a:t>
            </a:r>
          </a:p>
          <a:p>
            <a:pPr algn="l">
              <a:lnSpc>
                <a:spcPct val="118000"/>
              </a:lnSpc>
              <a:spcBef>
                <a:spcPts val="0"/>
              </a:spcBef>
              <a:spcAft>
                <a:spcPts val="1300"/>
              </a:spcAft>
            </a:pPr>
            <a:r>
              <a:rPr sz="2100" b="0" i="0">
                <a:solidFill>
                  <a:srgbClr val="1A1A1A"/>
                </a:solidFill>
                <a:latin typeface="Arial"/>
              </a:rPr>
              <a:t>1  Changes in net commercial or non-commercial positions. Net: never defined.</a:t>
            </a:r>
          </a:p>
          <a:p>
            <a:pPr algn="l">
              <a:lnSpc>
                <a:spcPct val="118000"/>
              </a:lnSpc>
              <a:spcBef>
                <a:spcPts val="0"/>
              </a:spcBef>
              <a:spcAft>
                <a:spcPts val="1300"/>
              </a:spcAft>
            </a:pPr>
            <a:r>
              <a:rPr sz="2100" b="0" i="0">
                <a:solidFill>
                  <a:srgbClr val="1A1A1A"/>
                </a:solidFill>
                <a:latin typeface="Arial"/>
              </a:rPr>
              <a:t>2  Open interest testing a significant or historical level: back at an old level.</a:t>
            </a:r>
          </a:p>
        </p:txBody>
      </p:sp>
      <p:sp>
        <p:nvSpPr>
          <p:cNvPr id="8" name="Rectangle 7"/>
          <p:cNvSpPr/>
          <p:nvPr/>
        </p:nvSpPr>
        <p:spPr>
          <a:xfrm>
            <a:off x="777240" y="4896612"/>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Ours: treat either as a warning, and wait for price to confirm (Figure 6.41).</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Above the VWMA (Part 2): the text calls price potentially bullish, then a paragraph later overvalued.</a:t>
            </a:r>
          </a:p>
          <a:p>
            <a:pPr algn="l">
              <a:lnSpc>
                <a:spcPct val="118000"/>
              </a:lnSpc>
              <a:spcBef>
                <a:spcPts val="0"/>
              </a:spcBef>
              <a:spcAft>
                <a:spcPts val="1300"/>
              </a:spcAft>
            </a:pPr>
            <a:r>
              <a:rPr sz="2100" b="0" i="0">
                <a:solidFill>
                  <a:srgbClr val="1A1A1A"/>
                </a:solidFill>
                <a:latin typeface="Arial"/>
              </a:rPr>
              <a:t>A bullish TRIN (Part 4): overbought in the text, oversold in Figure 6.25.</a:t>
            </a:r>
          </a:p>
          <a:p>
            <a:pPr algn="l">
              <a:lnSpc>
                <a:spcPct val="118000"/>
              </a:lnSpc>
              <a:spcBef>
                <a:spcPts val="0"/>
              </a:spcBef>
              <a:spcAft>
                <a:spcPts val="1300"/>
              </a:spcAft>
            </a:pPr>
            <a:r>
              <a:rPr sz="2100" b="0" i="0">
                <a:solidFill>
                  <a:srgbClr val="1A1A1A"/>
                </a:solidFill>
                <a:latin typeface="Arial"/>
              </a:rPr>
              <a:t>NYSE Up/Down Volume (Part 6): a ratio in the text; Figure 6.44's line runs below zero, which a ratio cannot.</a:t>
            </a:r>
          </a:p>
          <a:p>
            <a:pPr algn="l">
              <a:lnSpc>
                <a:spcPct val="118000"/>
              </a:lnSpc>
              <a:spcBef>
                <a:spcPts val="0"/>
              </a:spcBef>
              <a:spcAft>
                <a:spcPts val="1300"/>
              </a:spcAft>
            </a:pPr>
            <a:r>
              <a:rPr sz="2100" b="0" i="0">
                <a:solidFill>
                  <a:srgbClr val="1A1A1A"/>
                </a:solidFill>
                <a:latin typeface="Arial"/>
              </a:rPr>
              <a:t>Bullish divergence (Part 1): downtrends only, says the text; Figure 6.6 shows it in dips inside an uptrend.</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If asked, give both readings.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Each is also named on its own slide.</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figure captions that disagree with their chart or 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Figure 6.6 (Part 1): captioned daily; the chart itself is labelled weekly.</a:t>
            </a:r>
          </a:p>
          <a:p>
            <a:pPr algn="l">
              <a:lnSpc>
                <a:spcPct val="118000"/>
              </a:lnSpc>
              <a:spcBef>
                <a:spcPts val="0"/>
              </a:spcBef>
              <a:spcAft>
                <a:spcPts val="1300"/>
              </a:spcAft>
            </a:pPr>
            <a:r>
              <a:rPr sz="2100" b="0" i="0">
                <a:solidFill>
                  <a:srgbClr val="1A1A1A"/>
                </a:solidFill>
                <a:latin typeface="Arial"/>
              </a:rPr>
              <a:t>Figure 6.11 (Part 2): captioned a VWMA on a daily chart; it is a VWAP on 10-minute bars.</a:t>
            </a:r>
          </a:p>
          <a:p>
            <a:pPr algn="l">
              <a:lnSpc>
                <a:spcPct val="118000"/>
              </a:lnSpc>
              <a:spcBef>
                <a:spcPts val="0"/>
              </a:spcBef>
              <a:spcAft>
                <a:spcPts val="1300"/>
              </a:spcAft>
            </a:pPr>
            <a:r>
              <a:rPr sz="2100" b="0" i="0">
                <a:solidFill>
                  <a:srgbClr val="1A1A1A"/>
                </a:solidFill>
                <a:latin typeface="Arial"/>
              </a:rPr>
              <a:t>Figure 6.23 (Part 3): captioned silver; the text calls it USDJPY, then silver.</a:t>
            </a:r>
          </a:p>
          <a:p>
            <a:pPr algn="l">
              <a:lnSpc>
                <a:spcPct val="118000"/>
              </a:lnSpc>
              <a:spcBef>
                <a:spcPts val="0"/>
              </a:spcBef>
              <a:spcAft>
                <a:spcPts val="1300"/>
              </a:spcAft>
            </a:pPr>
            <a:r>
              <a:rPr sz="2100" b="0" i="0">
                <a:solidFill>
                  <a:srgbClr val="1A1A1A"/>
                </a:solidFill>
                <a:latin typeface="Arial"/>
              </a:rPr>
              <a:t>Figures 6.25 and 6.26 (Part 4): captioned daily; both charts are intraday.</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Read the chart, and name both.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Each is also named on its own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