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round the chart 1 to 4. For each, say the range against the grey bars, then the volume against the grey columns,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tall gold volume column, then the tiny boxed bar above it: a lot of volume, almost no movement.</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short gold volume column, then the long boxed bar above it: a big move that few shares paid for.</a:t>
            </a:r>
          </a:p>
          <a:p>
            <a:r>
              <a:rPr sz="1400"/>
              <a:t>- Both reversal bars warn of a turn; neither is a signal to trade on its own, the book gives no entry rule.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boxed bar in both cells; only the slope before it differs. Point at the slope first, then the bar.</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figure as the last slide, read for its one sentence of reason: trace the fall at 1 with a finger, then the circle at 2.</a:t>
            </a:r>
          </a:p>
          <a:p>
            <a:r>
              <a:rPr sz="1400"/>
              <a:t>- The reversal bar points down, the same way as the six-month fall. That agreement is all the book means by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X: a wide bar up on heavy volume, but inside a decline. The book gives no reading of it; this one is ours.</a:t>
            </a:r>
          </a:p>
          <a:p>
            <a:r>
              <a:rPr sz="1400"/>
              <a:t>- The rally after X ran about two and a half weeks, then the decline resumed: the less reliable kind, as the rule would say.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again, for its two labels: 1 is the narrow bar on the left, 2 the tall bar on the right. Every volume bar under them is the same height.</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chart in the slide's order: the close above the line at 1, the ordinary column under it at 2, the tall gold columns at 3.</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grey box to the retest above it on the last slide: 1, 4 and 5. The failures, Y and X, had the oscillator mid-panel.</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This is the top half of the book's figure. Find the line first, then the circle: price holds above it.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prices, same line as the last slide. Point at the wide bars in early May: heavy days, so wide.</a:t>
            </a:r>
          </a:p>
          <a:p>
            <a:r>
              <a:rPr sz="1400"/>
              <a:t>- On top price held above the line in late May; here it cuts through. The next slide puts numbers on why.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steps on the chart: 15 on the daily chart at 1, 10 plus 10 on the equivolume chart at 2. The grey boxes are the five heavy days.</a:t>
            </a:r>
          </a:p>
          <a:p>
            <a:r>
              <a:rPr sz="1400"/>
              <a: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gold columns for 1, the grey ones for 2, and the last point of the line for 3.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bar 3 off the chart: the green measure is C - L, 1; the gold one H - C, 3. So (1 - 3) / 4 = -0.5.</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Today closed near the top of its own range, which the ADL counts as buying. The OBV counts only the tiny fall from 50.00, the dashed line.</a:t>
            </a:r>
          </a:p>
          <a:p>
            <a:r>
              <a:rPr sz="1400"/>
              <a:t>- The two columns are the whole point: one bar, minus 2.0 by one rule, plus 1.0 by the other.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0.17 sits just above the 0 column: a little more volume counted as added than taken away.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gold line hugging the black and the green one lagging. Where gold is above green, the columns below are gold, 1; where below, grey, 2.</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as the last slide, cut to its two indicator panels so the labels can be read.</a:t>
            </a:r>
          </a:p>
          <a:p>
            <a:r>
              <a:rPr sz="1400"/>
              <a:t>- The 3 and 10 are the two EMAs of the oscillator slides; the 20 is the CMF's N. The book's text never states them.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1 has no picture because the book never says what net is. Use 2 is on the chart: open interest back at the dashed line.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label in box 1 is the book's own, on its own figure.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words are opposites. The book uses both for the same reading and never reconciles them.</a:t>
            </a:r>
          </a:p>
          <a:p>
            <a:r>
              <a:rPr sz="1400"/>
              <a:t>- The caption's own slip on this figure is on a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ratio of two volumes is never negative. Point at the two boxes 2: the low, and the scale beside it reading below 0.</a:t>
            </a:r>
          </a:p>
          <a:p>
            <a:r>
              <a:rPr sz="1400"/>
              <a:t>- Cumulative, box 1, suggests a running total. The book never says it is one.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boxed dips: price falls for a while, inside a rise of several years.</a:t>
            </a:r>
          </a:p>
          <a:p>
            <a:r>
              <a:rPr sz="1400"/>
              <a:t>- Our reading in Part 1 was a downtrend as price falling, for any stretch, and we said that reading was ours.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A VWAP is not a VWMA; the chapter names the VWAP only here, on the book's own figure.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Read the time axis aloud: 10:00, 11:00, 12:00. That is one day, not a daily chart.</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The label is unreadable in the book itself, not only on the slide; do not guess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3157432" y="987552"/>
            <a:ext cx="5876829"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276304" y="1106424"/>
            <a:ext cx="5639085"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276304" y="1106424"/>
            <a:ext cx="563908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550624" y="1380744"/>
            <a:ext cx="5090445"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3445477" y="1958546"/>
            <a:ext cx="5300740" cy="0"/>
          </a:xfrm>
          <a:prstGeom prst="line">
            <a:avLst/>
          </a:prstGeom>
          <a:ln w="44450">
            <a:solidFill>
              <a:srgbClr val="E09B00"/>
            </a:solidFill>
          </a:ln>
        </p:spPr>
      </p:cxnSp>
      <p:sp>
        <p:nvSpPr>
          <p:cNvPr id="11" name="Oval 10"/>
          <p:cNvSpPr/>
          <p:nvPr/>
        </p:nvSpPr>
        <p:spPr>
          <a:xfrm>
            <a:off x="3290029" y="1803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1714636" y="987552"/>
            <a:ext cx="8762422" cy="202437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833508" y="1106424"/>
            <a:ext cx="8524678" cy="178663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833508" y="1106424"/>
            <a:ext cx="8524678"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107828" y="1380744"/>
            <a:ext cx="7976038" cy="13294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2089248" y="2394588"/>
            <a:ext cx="8013198" cy="0"/>
          </a:xfrm>
          <a:prstGeom prst="line">
            <a:avLst/>
          </a:prstGeom>
          <a:ln w="44450">
            <a:solidFill>
              <a:srgbClr val="E09B00"/>
            </a:solidFill>
          </a:ln>
        </p:spPr>
      </p:cxnSp>
      <p:sp>
        <p:nvSpPr>
          <p:cNvPr id="11" name="Oval 10"/>
          <p:cNvSpPr/>
          <p:nvPr/>
        </p:nvSpPr>
        <p:spPr>
          <a:xfrm>
            <a:off x="1933800" y="22391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03371"/>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3776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5605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4262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3776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5605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41925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26</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800" b="0" i="0">
                <a:solidFill>
                  <a:srgbClr val="1A1A1A"/>
                </a:solidFill>
                <a:latin typeface="Arial"/>
              </a:rPr>
              <a:t>Step 2, compare. </a:t>
            </a:r>
            <a:r>
              <a:rPr sz="1800" b="1" i="0">
                <a:solidFill>
                  <a:srgbClr val="E09B00"/>
                </a:solidFill>
                <a:latin typeface="Arial"/>
              </a:rPr>
              <a:t>(1)</a:t>
            </a:r>
            <a:r>
              <a:rPr sz="1800" b="0" i="0">
                <a:solidFill>
                  <a:srgbClr val="1A1A1A"/>
                </a:solidFill>
                <a:latin typeface="Arial"/>
              </a:rPr>
              <a:t> PHP 0.20 on 1 million: narrow, low: Low Volume Rest Bar. </a:t>
            </a:r>
            <a:r>
              <a:rPr sz="1800" b="1" i="0">
                <a:solidFill>
                  <a:srgbClr val="C62828"/>
                </a:solidFill>
                <a:latin typeface="Arial"/>
              </a:rPr>
              <a:t>(2)</a:t>
            </a:r>
            <a:r>
              <a:rPr sz="1800" b="0" i="0">
                <a:solidFill>
                  <a:srgbClr val="1A1A1A"/>
                </a:solidFill>
                <a:latin typeface="Arial"/>
              </a:rPr>
              <a:t> PHP 0.20 on 5 million: narrow, high: High Volume Reversal Bar.</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PHP 2.50 on 1 million: wide, low: Low Volume Reversal Bar. </a:t>
            </a:r>
            <a:r>
              <a:rPr sz="1800" b="1" i="0">
                <a:solidFill>
                  <a:srgbClr val="007A33"/>
                </a:solidFill>
                <a:latin typeface="Arial"/>
              </a:rPr>
              <a:t>(4)</a:t>
            </a:r>
            <a:r>
              <a:rPr sz="1800" b="0" i="0">
                <a:solidFill>
                  <a:srgbClr val="1A1A1A"/>
                </a:solidFill>
                <a:latin typeface="Arial"/>
              </a:rPr>
              <a:t> PHP 2.50 on 5 million: wide, high: High Volume Continuation Bar.</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Judge each bar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25698" y="2350739"/>
            <a:ext cx="257696"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0416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25698" y="3930822"/>
            <a:ext cx="257696"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0416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392820" y="265176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3961"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392820"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483961" y="430206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519671" y="1929384"/>
            <a:ext cx="4775910" cy="3383671"/>
          </a:xfrm>
          <a:prstGeom prst="rect">
            <a:avLst/>
          </a:prstGeom>
        </p:spPr>
      </p:pic>
      <p:sp>
        <p:nvSpPr>
          <p:cNvPr id="12" name="Rectangle 11"/>
          <p:cNvSpPr/>
          <p:nvPr/>
        </p:nvSpPr>
        <p:spPr>
          <a:xfrm>
            <a:off x="7880806" y="2369261"/>
            <a:ext cx="186260" cy="2706937"/>
          </a:xfrm>
          <a:prstGeom prst="rect">
            <a:avLst/>
          </a:prstGeom>
          <a:noFill/>
          <a:ln w="44450">
            <a:solidFill>
              <a:srgbClr val="E09B00"/>
            </a:solidFill>
          </a:ln>
        </p:spPr>
        <p:txBody>
          <a:bodyPr rtlCol="0" anchor="ctr"/>
          <a:lstStyle/>
          <a:p>
            <a:pPr algn="ctr"/>
          </a:p>
        </p:txBody>
      </p:sp>
      <p:sp>
        <p:nvSpPr>
          <p:cNvPr id="13" name="Rectangle 12"/>
          <p:cNvSpPr/>
          <p:nvPr/>
        </p:nvSpPr>
        <p:spPr>
          <a:xfrm>
            <a:off x="10235330" y="2369261"/>
            <a:ext cx="186260" cy="2706937"/>
          </a:xfrm>
          <a:prstGeom prst="rect">
            <a:avLst/>
          </a:prstGeom>
          <a:noFill/>
          <a:ln w="44450">
            <a:solidFill>
              <a:srgbClr val="C62828"/>
            </a:solidFill>
          </a:ln>
        </p:spPr>
        <p:txBody>
          <a:bodyPr rtlCol="0" anchor="ctr"/>
          <a:lstStyle/>
          <a:p>
            <a:pPr algn="ctr"/>
          </a:p>
        </p:txBody>
      </p:sp>
      <p:sp>
        <p:nvSpPr>
          <p:cNvPr id="14" name="Oval 13"/>
          <p:cNvSpPr/>
          <p:nvPr/>
        </p:nvSpPr>
        <p:spPr>
          <a:xfrm>
            <a:off x="8131311" y="36349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19266" y="35334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2000" b="0" i="0">
                <a:solidFill>
                  <a:srgbClr val="1A1A1A"/>
                </a:solidFill>
                <a:latin typeface="Arial"/>
              </a:rPr>
              <a:t>The book: were that volume buying, the range would be much wider. So sellers are attempting to take control. In a downtrend, the converse.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warning of a potential turn, not a certainty: the book gives no entry rule.</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650376" y="2420965"/>
            <a:ext cx="246961"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and the converse is its word for the downtrend case. Ours: every number, and the chart: a sketch, not prices.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 volume reversal bar warns,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price jumps PHP 3.00 on 0.7 million shares, a third of the usual 2 million.</a:t>
            </a:r>
          </a:p>
          <a:p>
            <a:pPr algn="l">
              <a:lnSpc>
                <a:spcPct val="105000"/>
              </a:lnSpc>
              <a:spcBef>
                <a:spcPts val="0"/>
              </a:spcBef>
              <a:spcAft>
                <a:spcPts val="1100"/>
              </a:spcAft>
            </a:pPr>
            <a:r>
              <a:rPr sz="2000" b="0" i="0">
                <a:solidFill>
                  <a:srgbClr val="1A1A1A"/>
                </a:solidFill>
                <a:latin typeface="Arial"/>
              </a:rPr>
              <a:t>The book: a large move on little participation, its word for volume: a lack of interest. Bearish in an uptrend, bullish in a downtrend.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Too little volume for the move: a potential reversal.</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n.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650376" y="2420965"/>
            <a:ext cx="246961"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JN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Ours: every number, and the chart: a sketch,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220340" y="2561417"/>
            <a:ext cx="163549"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96363" y="2877433"/>
            <a:ext cx="153637"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481419" y="2947659"/>
            <a:ext cx="158593" cy="2247229"/>
          </a:xfrm>
          <a:prstGeom prst="rect">
            <a:avLst/>
          </a:prstGeom>
          <a:noFill/>
          <a:ln w="44450">
            <a:solidFill>
              <a:srgbClr val="1F5FAD"/>
            </a:solidFill>
          </a:ln>
        </p:spPr>
        <p:txBody>
          <a:bodyPr rtlCol="0" anchor="ctr"/>
          <a:lstStyle/>
          <a:p>
            <a:pPr algn="ctr"/>
          </a:p>
        </p:txBody>
      </p:sp>
      <p:sp>
        <p:nvSpPr>
          <p:cNvPr id="15" name="Oval 14"/>
          <p:cNvSpPr/>
          <p:nvPr/>
        </p:nvSpPr>
        <p:spPr>
          <a:xfrm>
            <a:off x="7421727" y="35998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12937"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73213" y="265176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210306" y="2561417"/>
            <a:ext cx="173205"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208507" y="2947659"/>
            <a:ext cx="164756" cy="2177003"/>
          </a:xfrm>
          <a:prstGeom prst="rect">
            <a:avLst/>
          </a:prstGeom>
          <a:noFill/>
          <a:ln w="44450">
            <a:solidFill>
              <a:srgbClr val="C62828"/>
            </a:solidFill>
          </a:ln>
        </p:spPr>
        <p:txBody>
          <a:bodyPr rtlCol="0" anchor="ctr"/>
          <a:lstStyle/>
          <a:p>
            <a:pPr algn="ctr"/>
          </a:p>
        </p:txBody>
      </p:sp>
      <p:sp>
        <p:nvSpPr>
          <p:cNvPr id="14" name="Oval 13"/>
          <p:cNvSpPr/>
          <p:nvPr/>
        </p:nvSpPr>
        <p:spPr>
          <a:xfrm>
            <a:off x="8392820" y="34242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871405"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299646" y="3274505"/>
            <a:ext cx="826745" cy="1317098"/>
          </a:xfrm>
          <a:prstGeom prst="rect">
            <a:avLst/>
          </a:prstGeom>
          <a:noFill/>
          <a:ln w="44450">
            <a:solidFill>
              <a:srgbClr val="1F5FAD"/>
            </a:solidFill>
          </a:ln>
        </p:spPr>
        <p:txBody>
          <a:bodyPr rtlCol="0" anchor="ctr"/>
          <a:lstStyle/>
          <a:p>
            <a:pPr algn="ctr"/>
          </a:p>
        </p:txBody>
      </p:sp>
      <p:sp>
        <p:nvSpPr>
          <p:cNvPr id="17" name="Oval 16"/>
          <p:cNvSpPr/>
          <p:nvPr/>
        </p:nvSpPr>
        <p:spPr>
          <a:xfrm>
            <a:off x="8843619" y="30349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359319" y="21382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60476" y="309103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89574" y="35551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2879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21498" y="43693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02862" y="357205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Larger, or predominant, trend: the whole move, our reading, as the book gives none. </a:t>
            </a:r>
            <a:r>
              <a:rPr sz="2000" b="1" i="0">
                <a:solidFill>
                  <a:srgbClr val="E09B00"/>
                </a:solidFill>
                <a:latin typeface="Arial"/>
              </a:rPr>
              <a:t>(1)</a:t>
            </a:r>
            <a:r>
              <a:rPr sz="2000" b="0" i="0">
                <a:solidFill>
                  <a:srgbClr val="1A1A1A"/>
                </a:solidFill>
                <a:latin typeface="Arial"/>
              </a:rPr>
              <a:t> Here, about 23.4 in January down to 21.0 in May.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circled high volume reversal bar is bearish, with that fall: potentially more reliable, the book says.</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and the larger trend read as the whole move. The book does not define the larger trend.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X: a continuation bar against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continuation bars, too, are more reliable in the direction of the predominant trend.</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X, our reading, as the book does not say: a high volume continuation bar rising against the larger downtrend, so the less reliable kind.</a:t>
            </a:r>
          </a:p>
          <a:p>
            <a:pPr algn="l">
              <a:lnSpc>
                <a:spcPct val="105000"/>
              </a:lnSpc>
              <a:spcBef>
                <a:spcPts val="0"/>
              </a:spcBef>
              <a:spcAft>
                <a:spcPts val="1100"/>
              </a:spcAft>
            </a:pPr>
            <a:r>
              <a:rPr sz="1800" b="0" i="0">
                <a:solidFill>
                  <a:srgbClr val="1A1A1A"/>
                </a:solidFill>
                <a:latin typeface="Arial"/>
              </a:rPr>
              <a:t>Its rally lasted about two and a half weeks before the fall went on.</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5595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the larger trend: more reliable. Against it: less.</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with X marking a high volume continuation bar in early May that rises against the decline.</a:t>
            </a:r>
          </a:p>
        </p:txBody>
      </p:sp>
      <p:sp>
        <p:nvSpPr>
          <p:cNvPr id="14" name="Oval 13"/>
          <p:cNvSpPr/>
          <p:nvPr/>
        </p:nvSpPr>
        <p:spPr>
          <a:xfrm>
            <a:off x="9985128" y="3863207"/>
            <a:ext cx="317045" cy="339267"/>
          </a:xfrm>
          <a:prstGeom prst="ellipse">
            <a:avLst/>
          </a:prstGeom>
          <a:noFill/>
          <a:ln w="44450">
            <a:solidFill>
              <a:srgbClr val="E09B00"/>
            </a:solidFill>
          </a:ln>
        </p:spPr>
        <p:txBody>
          <a:bodyPr rtlCol="0" anchor="ctr"/>
          <a:lstStyle/>
          <a:p>
            <a:pPr algn="ctr"/>
          </a:p>
        </p:txBody>
      </p:sp>
      <p:sp>
        <p:nvSpPr>
          <p:cNvPr id="15" name="Oval 14"/>
          <p:cNvSpPr/>
          <p:nvPr/>
        </p:nvSpPr>
        <p:spPr>
          <a:xfrm>
            <a:off x="9702862" y="3572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the reading of X, and its length read by eye. The book does not discuss X.</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103749" y="315921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023262" y="3076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8269490" y="23439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1528" y="26739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14546" y="41439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every bar holds 100,000 shares; a usual bar spans PHP 1.00: 100,000 shares a peso of range.</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 PHP 4.00 bar: 100,000 shares over 4 pesos, 25,000 a peso, a quarter of usual. Its label: relatively low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3766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is fixed, so the range alone says if it was a lot or a little.</a:t>
            </a:r>
          </a:p>
        </p:txBody>
      </p:sp>
      <p:sp>
        <p:nvSpPr>
          <p:cNvPr id="10" name="Rectangle 9"/>
          <p:cNvSpPr/>
          <p:nvPr/>
        </p:nvSpPr>
        <p:spPr>
          <a:xfrm>
            <a:off x="6766559" y="1810512"/>
            <a:ext cx="4647894" cy="311831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88056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42336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054122" y="2303857"/>
            <a:ext cx="330761" cy="331265"/>
          </a:xfrm>
          <a:prstGeom prst="rect">
            <a:avLst/>
          </a:prstGeom>
          <a:noFill/>
          <a:ln w="44450">
            <a:solidFill>
              <a:srgbClr val="E09B00"/>
            </a:solidFill>
          </a:ln>
        </p:spPr>
        <p:txBody>
          <a:bodyPr rtlCol="0" anchor="ctr"/>
          <a:lstStyle/>
          <a:p>
            <a:pPr algn="ctr"/>
          </a:p>
        </p:txBody>
      </p:sp>
      <p:sp>
        <p:nvSpPr>
          <p:cNvPr id="15" name="Rectangle 14"/>
          <p:cNvSpPr/>
          <p:nvPr/>
        </p:nvSpPr>
        <p:spPr>
          <a:xfrm>
            <a:off x="10567908" y="2073412"/>
            <a:ext cx="264609" cy="1584312"/>
          </a:xfrm>
          <a:prstGeom prst="rect">
            <a:avLst/>
          </a:prstGeom>
          <a:noFill/>
          <a:ln w="44450">
            <a:solidFill>
              <a:srgbClr val="C62828"/>
            </a:solidFill>
          </a:ln>
        </p:spPr>
        <p:txBody>
          <a:bodyPr rtlCol="0" anchor="ctr"/>
          <a:lstStyle/>
          <a:p>
            <a:pPr algn="ctr"/>
          </a:p>
        </p:txBody>
      </p:sp>
      <p:sp>
        <p:nvSpPr>
          <p:cNvPr id="16" name="Oval 15"/>
          <p:cNvSpPr/>
          <p:nvPr/>
        </p:nvSpPr>
        <p:spPr>
          <a:xfrm>
            <a:off x="8383790" y="23212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58104" y="263810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020264"/>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3215850" y="987552"/>
            <a:ext cx="5759994"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334722" y="1106424"/>
            <a:ext cx="5522250"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334722" y="1106424"/>
            <a:ext cx="5522250"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609042" y="1380744"/>
            <a:ext cx="4973610"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900" b="0" i="0">
                <a:solidFill>
                  <a:srgbClr val="1A1A1A"/>
                </a:solidFill>
                <a:latin typeface="Palatino"/>
              </a:rPr>
              <a:t>A band of the price panel of the daily dollar fund, February to June: the decline, and a circled high volume reversal bar at a short rally's top in late May.</a:t>
            </a:r>
          </a:p>
        </p:txBody>
      </p:sp>
      <p:sp>
        <p:nvSpPr>
          <p:cNvPr id="10" name="Oval 9"/>
          <p:cNvSpPr/>
          <p:nvPr/>
        </p:nvSpPr>
        <p:spPr>
          <a:xfrm>
            <a:off x="7575810" y="1200972"/>
            <a:ext cx="618492" cy="780028"/>
          </a:xfrm>
          <a:prstGeom prst="ellipse">
            <a:avLst/>
          </a:prstGeom>
          <a:noFill/>
          <a:ln w="44450">
            <a:solidFill>
              <a:srgbClr val="E09B00"/>
            </a:solidFill>
          </a:ln>
        </p:spPr>
        <p:txBody>
          <a:bodyPr rtlCol="0" anchor="ctr"/>
          <a:lstStyle/>
          <a:p>
            <a:pPr algn="ctr"/>
          </a:p>
        </p:txBody>
      </p:sp>
      <p:sp>
        <p:nvSpPr>
          <p:cNvPr id="11" name="Oval 10"/>
          <p:cNvSpPr/>
          <p:nvPr/>
        </p:nvSpPr>
        <p:spPr>
          <a:xfrm>
            <a:off x="7238128" y="111643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It formed on a constant volume chart</a:t>
            </a:r>
          </a:p>
          <a:p>
            <a:pPr algn="l">
              <a:lnSpc>
                <a:spcPct val="112000"/>
              </a:lnSpc>
              <a:spcBef>
                <a:spcPts val="0"/>
              </a:spcBef>
              <a:spcAft>
                <a:spcPts val="600"/>
              </a:spcAft>
            </a:pPr>
            <a:r>
              <a:rPr sz="1400" b="0" i="0">
                <a:solidFill>
                  <a:srgbClr val="FFFFFF"/>
                </a:solidFill>
                <a:latin typeface="Arial"/>
              </a:rPr>
              <a:t>B.  It formed within a larger downtrend</a:t>
            </a:r>
          </a:p>
          <a:p>
            <a:pPr algn="l">
              <a:lnSpc>
                <a:spcPct val="112000"/>
              </a:lnSpc>
              <a:spcBef>
                <a:spcPts val="0"/>
              </a:spcBef>
              <a:spcAft>
                <a:spcPts val="600"/>
              </a:spcAft>
            </a:pPr>
            <a:r>
              <a:rPr sz="1400" b="0" i="0">
                <a:solidFill>
                  <a:srgbClr val="FFFFFF"/>
                </a:solidFill>
                <a:latin typeface="Arial"/>
              </a:rPr>
              <a:t>C.  Its volume was the lowest of the year</a:t>
            </a:r>
          </a:p>
          <a:p>
            <a:pPr algn="l">
              <a:lnSpc>
                <a:spcPct val="112000"/>
              </a:lnSpc>
              <a:spcBef>
                <a:spcPts val="0"/>
              </a:spcBef>
              <a:spcAft>
                <a:spcPts val="600"/>
              </a:spcAft>
            </a:pPr>
            <a:r>
              <a:rPr sz="1400" b="0" i="0">
                <a:solidFill>
                  <a:srgbClr val="FFFFFF"/>
                </a:solidFill>
                <a:latin typeface="Arial"/>
              </a:rPr>
              <a:t>D.  It formed on flat volume</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The volume bars alone</a:t>
            </a:r>
          </a:p>
          <a:p>
            <a:pPr algn="l">
              <a:lnSpc>
                <a:spcPct val="112000"/>
              </a:lnSpc>
              <a:spcBef>
                <a:spcPts val="0"/>
              </a:spcBef>
              <a:spcAft>
                <a:spcPts val="600"/>
              </a:spcAft>
            </a:pPr>
            <a:r>
              <a:rPr sz="1400" b="0" i="0">
                <a:solidFill>
                  <a:srgbClr val="FFFFFF"/>
                </a:solidFill>
                <a:latin typeface="Arial"/>
              </a:rPr>
              <a:t>B.  The time axis</a:t>
            </a:r>
          </a:p>
          <a:p>
            <a:pPr algn="l">
              <a:lnSpc>
                <a:spcPct val="112000"/>
              </a:lnSpc>
              <a:spcBef>
                <a:spcPts val="0"/>
              </a:spcBef>
              <a:spcAft>
                <a:spcPts val="600"/>
              </a:spcAft>
            </a:pPr>
            <a:r>
              <a:rPr sz="1400" b="0" i="0">
                <a:solidFill>
                  <a:srgbClr val="FFFFFF"/>
                </a:solidFill>
                <a:latin typeface="Arial"/>
              </a:rPr>
              <a:t>C.  The open interest</a:t>
            </a:r>
          </a:p>
          <a:p>
            <a:pPr algn="l">
              <a:lnSpc>
                <a:spcPct val="112000"/>
              </a:lnSpc>
              <a:spcBef>
                <a:spcPts val="0"/>
              </a:spcBef>
              <a:spcAft>
                <a:spcPts val="600"/>
              </a:spcAft>
            </a:pPr>
            <a:r>
              <a:rPr sz="1400" b="0" i="0">
                <a:solidFill>
                  <a:srgbClr val="FFFFFF"/>
                </a:solidFill>
                <a:latin typeface="Arial"/>
              </a:rPr>
              <a:t>D.  The bar range alone and its height against the rest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1666463" y="987552"/>
            <a:ext cx="8858768" cy="208280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785335" y="1106424"/>
            <a:ext cx="8621024" cy="184505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785335" y="1106424"/>
            <a:ext cx="862102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059655" y="1380744"/>
            <a:ext cx="8072384" cy="13878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A band of the price panel of the daily dollar fund, February to June: the decline, and a circled high volume reversal bar at a short rally's top in late May.</a:t>
            </a:r>
          </a:p>
        </p:txBody>
      </p:sp>
      <p:sp>
        <p:nvSpPr>
          <p:cNvPr id="10" name="Oval 9"/>
          <p:cNvSpPr/>
          <p:nvPr/>
        </p:nvSpPr>
        <p:spPr>
          <a:xfrm>
            <a:off x="8406281" y="1254028"/>
            <a:ext cx="965554" cy="1217736"/>
          </a:xfrm>
          <a:prstGeom prst="ellipse">
            <a:avLst/>
          </a:prstGeom>
          <a:noFill/>
          <a:ln w="44450">
            <a:solidFill>
              <a:srgbClr val="E09B00"/>
            </a:solidFill>
          </a:ln>
        </p:spPr>
        <p:txBody>
          <a:bodyPr rtlCol="0" anchor="ctr"/>
          <a:lstStyle/>
          <a:p>
            <a:pPr algn="ctr"/>
          </a:p>
        </p:txBody>
      </p:sp>
      <p:sp>
        <p:nvSpPr>
          <p:cNvPr id="11" name="Oval 10"/>
          <p:cNvSpPr/>
          <p:nvPr/>
        </p:nvSpPr>
        <p:spPr>
          <a:xfrm>
            <a:off x="7966340" y="12092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61792"/>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3" name="Rectangle 12"/>
          <p:cNvSpPr/>
          <p:nvPr/>
        </p:nvSpPr>
        <p:spPr>
          <a:xfrm>
            <a:off x="777240" y="3436112"/>
            <a:ext cx="5090007" cy="255320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436112"/>
            <a:ext cx="91440" cy="255320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61899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16" name="TextBox 15"/>
          <p:cNvSpPr txBox="1"/>
          <p:nvPr/>
        </p:nvSpPr>
        <p:spPr>
          <a:xfrm>
            <a:off x="1097280" y="4484623"/>
            <a:ext cx="4541367" cy="14864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500"/>
              </a:spcBef>
              <a:spcAft>
                <a:spcPts val="0"/>
              </a:spcAft>
            </a:pPr>
            <a:r>
              <a:rPr sz="1600" b="0" i="0">
                <a:solidFill>
                  <a:srgbClr val="1A1A1A"/>
                </a:solidFill>
                <a:latin typeface="Arial"/>
              </a:rPr>
              <a:t>The bearish reversal bar occurred within a larger downtrend, the direction of the predominant trend.</a:t>
            </a:r>
          </a:p>
        </p:txBody>
      </p:sp>
      <p:sp>
        <p:nvSpPr>
          <p:cNvPr id="17" name="Rectangle 16"/>
          <p:cNvSpPr/>
          <p:nvPr/>
        </p:nvSpPr>
        <p:spPr>
          <a:xfrm>
            <a:off x="6324447" y="3436112"/>
            <a:ext cx="5090007" cy="255320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436112"/>
            <a:ext cx="91440" cy="255320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61899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20" name="TextBox 19"/>
          <p:cNvSpPr txBox="1"/>
          <p:nvPr/>
        </p:nvSpPr>
        <p:spPr>
          <a:xfrm>
            <a:off x="6644487" y="4250944"/>
            <a:ext cx="4541367" cy="172008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500"/>
              </a:spcBef>
              <a:spcAft>
                <a:spcPts val="0"/>
              </a:spcAft>
            </a:pPr>
            <a:r>
              <a:rPr sz="1600" b="0" i="0">
                <a:solidFill>
                  <a:srgbClr val="1A1A1A"/>
                </a:solidFill>
                <a:latin typeface="Arial"/>
              </a:rPr>
              <a:t>Volume is fixed for each bar, so reversal bars are identified by bar range and height alone.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16016"/>
          </a:xfrm>
          <a:prstGeom prst="ellipse">
            <a:avLst/>
          </a:prstGeom>
          <a:noFill/>
          <a:ln w="44450">
            <a:solidFill>
              <a:srgbClr val="E09B00"/>
            </a:solidFill>
          </a:ln>
        </p:spPr>
        <p:txBody>
          <a:bodyPr rtlCol="0" anchor="ctr"/>
          <a:lstStyle/>
          <a:p>
            <a:pPr algn="ctr"/>
          </a:p>
        </p:txBody>
      </p:sp>
      <p:sp>
        <p:nvSpPr>
          <p:cNvPr id="13" name="Rectangle 12"/>
          <p:cNvSpPr/>
          <p:nvPr/>
        </p:nvSpPr>
        <p:spPr>
          <a:xfrm>
            <a:off x="10278221" y="4229282"/>
            <a:ext cx="892088" cy="807598"/>
          </a:xfrm>
          <a:prstGeom prst="rect">
            <a:avLst/>
          </a:prstGeom>
          <a:noFill/>
          <a:ln w="44450">
            <a:solidFill>
              <a:srgbClr val="C62828"/>
            </a:solidFill>
          </a:ln>
        </p:spPr>
        <p:txBody>
          <a:bodyPr rtlCol="0" anchor="ctr"/>
          <a:lstStyle/>
          <a:p>
            <a:pPr algn="ctr"/>
          </a:p>
        </p:txBody>
      </p:sp>
      <p:sp>
        <p:nvSpPr>
          <p:cNvPr id="14" name="Oval 13"/>
          <p:cNvSpPr/>
          <p:nvPr/>
        </p:nvSpPr>
        <p:spPr>
          <a:xfrm>
            <a:off x="9651949" y="2721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14862" y="38807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a usual day trades 1.3 million. </a:t>
            </a:r>
            <a:r>
              <a:rPr sz="1700" b="1" i="0">
                <a:solidFill>
                  <a:srgbClr val="E09B00"/>
                </a:solidFill>
                <a:latin typeface="Arial"/>
              </a:rPr>
              <a:t>(1)</a:t>
            </a:r>
            <a:r>
              <a:rPr sz="1700" b="0" i="0">
                <a:solidFill>
                  <a:srgbClr val="1A1A1A"/>
                </a:solidFill>
                <a:latin typeface="Arial"/>
              </a:rPr>
              <a:t> Price closes PHP 0.80 above a two-month falling trendline, </a:t>
            </a:r>
            <a:r>
              <a:rPr sz="1700" b="1" i="0">
                <a:solidFill>
                  <a:srgbClr val="C62828"/>
                </a:solidFill>
                <a:latin typeface="Arial"/>
              </a:rPr>
              <a:t>(2)</a:t>
            </a:r>
            <a:r>
              <a:rPr sz="1700" b="0" i="0">
                <a:solidFill>
                  <a:srgbClr val="1A1A1A"/>
                </a:solidFill>
                <a:latin typeface="Arial"/>
              </a:rPr>
              <a:t> on 1.3 million: an ordinary day.</a:t>
            </a:r>
          </a:p>
          <a:p>
            <a:pPr algn="l">
              <a:lnSpc>
                <a:spcPct val="105000"/>
              </a:lnSpc>
              <a:spcBef>
                <a:spcPts val="0"/>
              </a:spcBef>
              <a:spcAft>
                <a:spcPts val="1100"/>
              </a:spcAft>
            </a:pPr>
            <a:r>
              <a:rPr sz="1700" b="0" i="0">
                <a:solidFill>
                  <a:srgbClr val="1A1A1A"/>
                </a:solidFill>
                <a:latin typeface="Arial"/>
              </a:rPr>
              <a:t>By volume alone, nothing happened. But the break shows on every chart: </a:t>
            </a:r>
            <a:r>
              <a:rPr sz="1700" b="1" i="0">
                <a:solidFill>
                  <a:srgbClr val="1F5FAD"/>
                </a:solidFill>
                <a:latin typeface="Arial"/>
              </a:rPr>
              <a:t>(3)</a:t>
            </a:r>
            <a:r>
              <a:rPr sz="1700" b="0" i="0">
                <a:solidFill>
                  <a:srgbClr val="1A1A1A"/>
                </a:solidFill>
                <a:latin typeface="Arial"/>
              </a:rPr>
              <a:t> days later, 3 million trade.</a:t>
            </a:r>
          </a:p>
          <a:p>
            <a:pPr algn="l">
              <a:lnSpc>
                <a:spcPct val="105000"/>
              </a:lnSpc>
              <a:spcBef>
                <a:spcPts val="0"/>
              </a:spcBef>
              <a:spcAft>
                <a:spcPts val="1100"/>
              </a:spcAft>
            </a:pPr>
            <a:r>
              <a:rPr sz="1700" b="0" i="0">
                <a:solidFill>
                  <a:srgbClr val="1A1A1A"/>
                </a:solidFill>
                <a:latin typeface="Arial"/>
              </a:rPr>
              <a:t>Light volume on a break does not cancel it: watch whether volume follows. The book does not say for how long.</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can follow the signal: more often now, the book says, as technical analysis is widely used.</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040111" y="3105668"/>
            <a:ext cx="308701"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136581" y="4562856"/>
            <a:ext cx="135056" cy="456468"/>
          </a:xfrm>
          <a:prstGeom prst="rect">
            <a:avLst/>
          </a:prstGeom>
          <a:noFill/>
          <a:ln w="44450">
            <a:solidFill>
              <a:srgbClr val="C62828"/>
            </a:solidFill>
          </a:ln>
        </p:spPr>
        <p:txBody>
          <a:bodyPr rtlCol="0" anchor="ctr"/>
          <a:lstStyle/>
          <a:p>
            <a:pPr algn="ctr"/>
          </a:p>
        </p:txBody>
      </p:sp>
      <p:sp>
        <p:nvSpPr>
          <p:cNvPr id="14" name="Rectangle 13"/>
          <p:cNvSpPr/>
          <p:nvPr/>
        </p:nvSpPr>
        <p:spPr>
          <a:xfrm>
            <a:off x="10503164" y="4036161"/>
            <a:ext cx="694578" cy="1000719"/>
          </a:xfrm>
          <a:prstGeom prst="rect">
            <a:avLst/>
          </a:prstGeom>
          <a:noFill/>
          <a:ln w="44450">
            <a:solidFill>
              <a:srgbClr val="1F5FAD"/>
            </a:solidFill>
          </a:ln>
        </p:spPr>
        <p:txBody>
          <a:bodyPr rtlCol="0" anchor="ctr"/>
          <a:lstStyle/>
          <a:p>
            <a:pPr algn="ctr"/>
          </a:p>
        </p:txBody>
      </p:sp>
      <p:sp>
        <p:nvSpPr>
          <p:cNvPr id="15" name="Oval 14"/>
          <p:cNvSpPr/>
          <p:nvPr/>
        </p:nvSpPr>
        <p:spPr>
          <a:xfrm>
            <a:off x="10058308" y="35120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26782" y="47234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80881" y="40211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202350"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374428" y="2846344"/>
            <a:ext cx="323331" cy="348020"/>
          </a:xfrm>
          <a:prstGeom prst="ellipse">
            <a:avLst/>
          </a:prstGeom>
          <a:noFill/>
          <a:ln w="44450">
            <a:solidFill>
              <a:srgbClr val="C62828"/>
            </a:solidFill>
          </a:ln>
        </p:spPr>
        <p:txBody>
          <a:bodyPr rtlCol="0" anchor="ctr"/>
          <a:lstStyle/>
          <a:p>
            <a:pPr algn="ctr"/>
          </a:p>
        </p:txBody>
      </p:sp>
      <p:sp>
        <p:nvSpPr>
          <p:cNvPr id="18" name="Oval 17"/>
          <p:cNvSpPr/>
          <p:nvPr/>
        </p:nvSpPr>
        <p:spPr>
          <a:xfrm>
            <a:off x="10526298" y="254578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05445" y="36400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9077523" y="307055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55848" y="23428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30-minute EURUSD: almost every reversal comes at a peak in tick volume, Part 4's count of trades: the daily spikes in the bottom panel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Follow the solid line down from Market bottom </a:t>
            </a:r>
            <a:r>
              <a:rPr sz="1700" b="1" i="0">
                <a:solidFill>
                  <a:srgbClr val="E09B00"/>
                </a:solidFill>
                <a:latin typeface="Arial"/>
              </a:rPr>
              <a:t>(1)</a:t>
            </a:r>
            <a:r>
              <a:rPr sz="1700" b="0" i="0">
                <a:solidFill>
                  <a:srgbClr val="1A1A1A"/>
                </a:solidFill>
                <a:latin typeface="Arial"/>
              </a:rPr>
              <a:t>: it lands on one of the tallest spikes </a:t>
            </a:r>
            <a:r>
              <a:rPr sz="1700" b="1" i="0">
                <a:solidFill>
                  <a:srgbClr val="007A33"/>
                </a:solidFill>
                <a:latin typeface="Arial"/>
              </a:rPr>
              <a:t>(4)</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Especially useful when price retests a support or resistance level </a:t>
            </a:r>
            <a:r>
              <a:rPr sz="1700" b="1" i="0">
                <a:solidFill>
                  <a:srgbClr val="1F5FAD"/>
                </a:solidFill>
                <a:latin typeface="Arial"/>
              </a:rPr>
              <a:t>(3)</a:t>
            </a:r>
            <a:r>
              <a:rPr sz="1700" b="0" i="0">
                <a:solidFill>
                  <a:srgbClr val="1A1A1A"/>
                </a:solidFill>
                <a:latin typeface="Arial"/>
              </a:rPr>
              <a:t>: comes back to one it turned at before.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straddle the peak: catch price either way.</a:t>
            </a:r>
          </a:p>
        </p:txBody>
      </p:sp>
      <p:sp>
        <p:nvSpPr>
          <p:cNvPr id="10" name="Rectangle 9"/>
          <p:cNvSpPr/>
          <p:nvPr/>
        </p:nvSpPr>
        <p:spPr>
          <a:xfrm>
            <a:off x="6400799" y="1810512"/>
            <a:ext cx="5013655" cy="268944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45169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9944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119602" y="3559764"/>
            <a:ext cx="262675" cy="208394"/>
          </a:xfrm>
          <a:prstGeom prst="ellipse">
            <a:avLst/>
          </a:prstGeom>
          <a:noFill/>
          <a:ln w="44450">
            <a:solidFill>
              <a:srgbClr val="E09B00"/>
            </a:solidFill>
          </a:ln>
        </p:spPr>
        <p:txBody>
          <a:bodyPr rtlCol="0" anchor="ctr"/>
          <a:lstStyle/>
          <a:p>
            <a:pPr algn="ctr"/>
          </a:p>
        </p:txBody>
      </p:sp>
      <p:sp>
        <p:nvSpPr>
          <p:cNvPr id="15" name="Rectangle 14"/>
          <p:cNvSpPr/>
          <p:nvPr/>
        </p:nvSpPr>
        <p:spPr>
          <a:xfrm>
            <a:off x="6615190" y="4050104"/>
            <a:ext cx="4584874" cy="269686"/>
          </a:xfrm>
          <a:prstGeom prst="rect">
            <a:avLst/>
          </a:prstGeom>
          <a:noFill/>
          <a:ln w="44450">
            <a:solidFill>
              <a:srgbClr val="C62828"/>
            </a:solidFill>
          </a:ln>
        </p:spPr>
        <p:txBody>
          <a:bodyPr rtlCol="0" anchor="ctr"/>
          <a:lstStyle/>
          <a:p>
            <a:pPr algn="ctr"/>
          </a:p>
        </p:txBody>
      </p:sp>
      <p:sp>
        <p:nvSpPr>
          <p:cNvPr id="16" name="Rectangle 15"/>
          <p:cNvSpPr/>
          <p:nvPr/>
        </p:nvSpPr>
        <p:spPr>
          <a:xfrm>
            <a:off x="8668831" y="2713927"/>
            <a:ext cx="859663" cy="588407"/>
          </a:xfrm>
          <a:prstGeom prst="rect">
            <a:avLst/>
          </a:prstGeom>
          <a:noFill/>
          <a:ln w="44450">
            <a:solidFill>
              <a:srgbClr val="1F5FAD"/>
            </a:solidFill>
          </a:ln>
        </p:spPr>
        <p:txBody>
          <a:bodyPr rtlCol="0" anchor="ctr"/>
          <a:lstStyle/>
          <a:p>
            <a:pPr algn="ctr"/>
          </a:p>
        </p:txBody>
      </p:sp>
      <p:cxnSp>
        <p:nvCxnSpPr>
          <p:cNvPr id="17" name="Connector 16"/>
          <p:cNvCxnSpPr/>
          <p:nvPr/>
        </p:nvCxnSpPr>
        <p:spPr>
          <a:xfrm flipH="1">
            <a:off x="8296310" y="3890743"/>
            <a:ext cx="372521" cy="208395"/>
          </a:xfrm>
          <a:prstGeom prst="line">
            <a:avLst/>
          </a:prstGeom>
          <a:ln w="44450">
            <a:solidFill>
              <a:srgbClr val="007A33"/>
            </a:solidFill>
            <a:tailEnd type="triangle" w="med" len="med"/>
          </a:ln>
        </p:spPr>
      </p:cxnSp>
      <p:sp>
        <p:nvSpPr>
          <p:cNvPr id="18" name="Oval 17"/>
          <p:cNvSpPr/>
          <p:nvPr/>
        </p:nvSpPr>
        <p:spPr>
          <a:xfrm>
            <a:off x="7844756" y="3441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1068496" y="40294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417865" y="25094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608902" y="37107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400799" y="4591395"/>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Hourly EURUSD: price rebounds off a rising trendline at the book's 1 </a:t>
            </a:r>
            <a:r>
              <a:rPr sz="2000" b="1" i="0">
                <a:solidFill>
                  <a:srgbClr val="E09B00"/>
                </a:solidFill>
                <a:latin typeface="Arial"/>
              </a:rPr>
              <a:t>(1)</a:t>
            </a:r>
            <a:r>
              <a:rPr sz="2000" b="0" i="0">
                <a:solidFill>
                  <a:srgbClr val="1A1A1A"/>
                </a:solidFill>
                <a:latin typeface="Arial"/>
              </a:rPr>
              <a:t> and at its 4 and 5 </a:t>
            </a:r>
            <a:r>
              <a:rPr sz="2000" b="1" i="0">
                <a:solidFill>
                  <a:srgbClr val="C62828"/>
                </a:solidFill>
                <a:latin typeface="Arial"/>
              </a:rPr>
              <a:t>(2)</a:t>
            </a:r>
            <a:r>
              <a:rPr sz="2000" b="0" i="0">
                <a:solidFill>
                  <a:srgbClr val="1A1A1A"/>
                </a:solidFill>
                <a:latin typeface="Arial"/>
              </a:rPr>
              <a:t>, each time at a tick volume peak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At the book's 2 and 3, the trendline failed.</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2793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Retests at a volume peak: the line held three times of five.</a:t>
            </a:r>
          </a:p>
        </p:txBody>
      </p:sp>
      <p:sp>
        <p:nvSpPr>
          <p:cNvPr id="10" name="Rectangle 9"/>
          <p:cNvSpPr/>
          <p:nvPr/>
        </p:nvSpPr>
        <p:spPr>
          <a:xfrm>
            <a:off x="5669279" y="1810512"/>
            <a:ext cx="5745175" cy="294276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270502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2478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5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5870763" y="2294562"/>
            <a:ext cx="1569618" cy="459854"/>
          </a:xfrm>
          <a:prstGeom prst="line">
            <a:avLst/>
          </a:prstGeom>
          <a:ln w="44450">
            <a:solidFill>
              <a:srgbClr val="E09B00"/>
            </a:solidFill>
          </a:ln>
        </p:spPr>
      </p:cxnSp>
      <p:cxnSp>
        <p:nvCxnSpPr>
          <p:cNvPr id="15" name="Connector 14"/>
          <p:cNvCxnSpPr/>
          <p:nvPr/>
        </p:nvCxnSpPr>
        <p:spPr>
          <a:xfrm flipV="1">
            <a:off x="9340444" y="2835567"/>
            <a:ext cx="1707304" cy="459854"/>
          </a:xfrm>
          <a:prstGeom prst="line">
            <a:avLst/>
          </a:prstGeom>
          <a:ln w="44450">
            <a:solidFill>
              <a:srgbClr val="C62828"/>
            </a:solidFill>
          </a:ln>
        </p:spPr>
      </p:cxnSp>
      <p:sp>
        <p:nvSpPr>
          <p:cNvPr id="16" name="Rectangle 15"/>
          <p:cNvSpPr/>
          <p:nvPr/>
        </p:nvSpPr>
        <p:spPr>
          <a:xfrm>
            <a:off x="5815689" y="3620024"/>
            <a:ext cx="5452356" cy="270502"/>
          </a:xfrm>
          <a:prstGeom prst="rect">
            <a:avLst/>
          </a:prstGeom>
          <a:noFill/>
          <a:ln w="44450">
            <a:solidFill>
              <a:srgbClr val="1F5FAD"/>
            </a:solidFill>
          </a:ln>
        </p:spPr>
        <p:txBody>
          <a:bodyPr rtlCol="0" anchor="ctr"/>
          <a:lstStyle/>
          <a:p>
            <a:pPr algn="ctr"/>
          </a:p>
        </p:txBody>
      </p:sp>
      <p:sp>
        <p:nvSpPr>
          <p:cNvPr id="17" name="Oval 16"/>
          <p:cNvSpPr/>
          <p:nvPr/>
        </p:nvSpPr>
        <p:spPr>
          <a:xfrm>
            <a:off x="5715315" y="27477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47311" y="32075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1057523" y="33563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5669279" y="484472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Retests and the stochastic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Bottom panel: a cycle-tuned stochastic. At the book's 1, 4 and 5 it read oversold: its line on the lower line, the grey boxes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At 2 and 3 the trendline failed: at circles Y </a:t>
            </a:r>
            <a:r>
              <a:rPr sz="1700" b="1" i="0">
                <a:solidFill>
                  <a:srgbClr val="C62828"/>
                </a:solidFill>
                <a:latin typeface="Arial"/>
              </a:rPr>
              <a:t>(2)</a:t>
            </a:r>
            <a:r>
              <a:rPr sz="1700" b="0" i="0">
                <a:solidFill>
                  <a:srgbClr val="1A1A1A"/>
                </a:solidFill>
                <a:latin typeface="Arial"/>
              </a:rPr>
              <a:t> and X </a:t>
            </a:r>
            <a:r>
              <a:rPr sz="1700" b="1" i="0">
                <a:solidFill>
                  <a:srgbClr val="1F5FAD"/>
                </a:solidFill>
                <a:latin typeface="Arial"/>
              </a:rPr>
              <a:t>(3)</a:t>
            </a:r>
            <a:r>
              <a:rPr sz="1700" b="0" i="0">
                <a:solidFill>
                  <a:srgbClr val="1A1A1A"/>
                </a:solidFill>
                <a:latin typeface="Arial"/>
              </a:rPr>
              <a:t> the stochastic was still mid-panel, not clearly oversold.</a:t>
            </a:r>
          </a:p>
          <a:p>
            <a:pPr algn="l">
              <a:lnSpc>
                <a:spcPct val="105000"/>
              </a:lnSpc>
              <a:spcBef>
                <a:spcPts val="0"/>
              </a:spcBef>
              <a:spcAft>
                <a:spcPts val="1100"/>
              </a:spcAft>
            </a:pPr>
            <a:r>
              <a:rPr sz="1700" b="0" i="0">
                <a:solidFill>
                  <a:srgbClr val="1A1A1A"/>
                </a:solidFill>
                <a:latin typeface="Arial"/>
              </a:rPr>
              <a:t>The book never defines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2793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5669279" y="1810512"/>
            <a:ext cx="5745175" cy="145500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121726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7600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900" b="0" i="0">
                <a:solidFill>
                  <a:srgbClr val="1A1A1A"/>
                </a:solidFill>
                <a:latin typeface="Palatino"/>
              </a:rPr>
              <a:t>The volume and stochastic panels of Figure 6.37, enlarged: grey boxes where its line sits on the lower line, under the book's retests 1, 4 and 5, and circles Y and X where it does not.</a:t>
            </a:r>
          </a:p>
        </p:txBody>
      </p:sp>
      <p:sp>
        <p:nvSpPr>
          <p:cNvPr id="14" name="Rectangle 13"/>
          <p:cNvSpPr/>
          <p:nvPr/>
        </p:nvSpPr>
        <p:spPr>
          <a:xfrm>
            <a:off x="6228746" y="2854502"/>
            <a:ext cx="4791464" cy="146071"/>
          </a:xfrm>
          <a:prstGeom prst="rect">
            <a:avLst/>
          </a:prstGeom>
          <a:noFill/>
          <a:ln w="44450">
            <a:solidFill>
              <a:srgbClr val="E09B00"/>
            </a:solidFill>
          </a:ln>
        </p:spPr>
        <p:txBody>
          <a:bodyPr rtlCol="0" anchor="ctr"/>
          <a:lstStyle/>
          <a:p>
            <a:pPr algn="ctr"/>
          </a:p>
        </p:txBody>
      </p:sp>
      <p:sp>
        <p:nvSpPr>
          <p:cNvPr id="15" name="Oval 14"/>
          <p:cNvSpPr/>
          <p:nvPr/>
        </p:nvSpPr>
        <p:spPr>
          <a:xfrm>
            <a:off x="7054861" y="2635395"/>
            <a:ext cx="385520" cy="243452"/>
          </a:xfrm>
          <a:prstGeom prst="ellipse">
            <a:avLst/>
          </a:prstGeom>
          <a:noFill/>
          <a:ln w="44450">
            <a:solidFill>
              <a:srgbClr val="C62828"/>
            </a:solidFill>
          </a:ln>
        </p:spPr>
        <p:txBody>
          <a:bodyPr rtlCol="0" anchor="ctr"/>
          <a:lstStyle/>
          <a:p>
            <a:pPr algn="ctr"/>
          </a:p>
        </p:txBody>
      </p:sp>
      <p:sp>
        <p:nvSpPr>
          <p:cNvPr id="16" name="Oval 15"/>
          <p:cNvSpPr/>
          <p:nvPr/>
        </p:nvSpPr>
        <p:spPr>
          <a:xfrm>
            <a:off x="8652016" y="2635395"/>
            <a:ext cx="385520" cy="243452"/>
          </a:xfrm>
          <a:prstGeom prst="ellipse">
            <a:avLst/>
          </a:prstGeom>
          <a:noFill/>
          <a:ln w="44450">
            <a:solidFill>
              <a:srgbClr val="1F5FAD"/>
            </a:solidFill>
          </a:ln>
        </p:spPr>
        <p:txBody>
          <a:bodyPr rtlCol="0" anchor="ctr"/>
          <a:lstStyle/>
          <a:p>
            <a:pPr algn="ctr"/>
          </a:p>
        </p:txBody>
      </p:sp>
      <p:sp>
        <p:nvSpPr>
          <p:cNvPr id="17" name="Oval 16"/>
          <p:cNvSpPr/>
          <p:nvPr/>
        </p:nvSpPr>
        <p:spPr>
          <a:xfrm>
            <a:off x="5853001" y="277209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734190" y="24556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331345" y="24556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5669279" y="3356957"/>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its volume and stochastic panels. Oversold and the cycle-tuned stochastic are named, not taught: oscillators are the book's Chapter 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24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2000" b="0" i="0">
                <a:solidFill>
                  <a:srgbClr val="1A1A1A"/>
                </a:solidFill>
                <a:latin typeface="Arial"/>
              </a:rPr>
              <a:t>That changes the angle of trendlines, channels and chart patterns. Figure 6.38, top: Apple on a standard daily chart, with a trendline </a:t>
            </a:r>
            <a:r>
              <a:rPr sz="2000" b="1" i="0">
                <a:solidFill>
                  <a:srgbClr val="C62828"/>
                </a:solidFill>
                <a:latin typeface="Arial"/>
              </a:rPr>
              <a:t>(2)</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standard chart, price stays above the line.</a:t>
            </a:r>
          </a:p>
        </p:txBody>
      </p:sp>
      <p:sp>
        <p:nvSpPr>
          <p:cNvPr id="10" name="Rectangle 9"/>
          <p:cNvSpPr/>
          <p:nvPr/>
        </p:nvSpPr>
        <p:spPr>
          <a:xfrm>
            <a:off x="6949440" y="1810512"/>
            <a:ext cx="4465014" cy="286321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62546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16826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9942856" y="3084590"/>
            <a:ext cx="464999" cy="498839"/>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040584" y="3176481"/>
            <a:ext cx="2916817" cy="1128952"/>
          </a:xfrm>
          <a:prstGeom prst="line">
            <a:avLst/>
          </a:prstGeom>
          <a:ln w="44450">
            <a:solidFill>
              <a:srgbClr val="C62828"/>
            </a:solidFill>
          </a:ln>
        </p:spPr>
      </p:cxnSp>
      <p:sp>
        <p:nvSpPr>
          <p:cNvPr id="16" name="Oval 15"/>
          <p:cNvSpPr/>
          <p:nvPr/>
        </p:nvSpPr>
        <p:spPr>
          <a:xfrm>
            <a:off x="9956499" y="29028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85136" y="39924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76516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800" b="0" i="0">
                <a:solidFill>
                  <a:srgbClr val="1A1A1A"/>
                </a:solidFill>
                <a:latin typeface="Arial"/>
              </a:rPr>
              <a:t>Figure 6.38, bottom: the same Apple prices on an equivolume chart, and the same trendline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So the same line meets late May at a different place.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E09B00"/>
                </a:solidFill>
                <a:latin typeface="Arial"/>
              </a:rPr>
              <a:t>(1)</a:t>
            </a:r>
            <a:r>
              <a:rPr sz="19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808156" y="27905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1600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26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lows of PHP 100 and 110, ten ordinary days apart, one step a day on both charts: the line rises PHP 1.00 a step.</a:t>
            </a:r>
          </a:p>
          <a:p>
            <a:pPr algn="l">
              <a:lnSpc>
                <a:spcPct val="105000"/>
              </a:lnSpc>
              <a:spcBef>
                <a:spcPts val="0"/>
              </a:spcBef>
              <a:spcAft>
                <a:spcPts val="1100"/>
              </a:spcAft>
            </a:pPr>
            <a:r>
              <a:rPr sz="1700" b="0" i="0">
                <a:solidFill>
                  <a:srgbClr val="1A1A1A"/>
                </a:solidFill>
                <a:latin typeface="Arial"/>
              </a:rPr>
              <a:t>Then five heavy days: </a:t>
            </a:r>
            <a:r>
              <a:rPr sz="1700" b="1" i="0">
                <a:solidFill>
                  <a:srgbClr val="E09B00"/>
                </a:solidFill>
                <a:latin typeface="Arial"/>
              </a:rPr>
              <a:t>(1)</a:t>
            </a:r>
            <a:r>
              <a:rPr sz="1700" b="0" i="0">
                <a:solidFill>
                  <a:srgbClr val="1A1A1A"/>
                </a:solidFill>
                <a:latin typeface="Arial"/>
              </a:rPr>
              <a:t> one step each on the daily chart, </a:t>
            </a:r>
            <a:r>
              <a:rPr sz="1700" b="1" i="0">
                <a:solidFill>
                  <a:srgbClr val="C62828"/>
                </a:solidFill>
                <a:latin typeface="Arial"/>
              </a:rPr>
              <a:t>(2)</a:t>
            </a:r>
            <a:r>
              <a:rPr sz="1700" b="0" i="0">
                <a:solidFill>
                  <a:srgbClr val="1A1A1A"/>
                </a:solidFill>
                <a:latin typeface="Arial"/>
              </a:rPr>
              <a:t> two each on the equivolume one. The lines reach PHP 115 and PHP 120.</a:t>
            </a:r>
          </a:p>
          <a:p>
            <a:pPr algn="l">
              <a:lnSpc>
                <a:spcPct val="105000"/>
              </a:lnSpc>
              <a:spcBef>
                <a:spcPts val="0"/>
              </a:spcBef>
              <a:spcAft>
                <a:spcPts val="1100"/>
              </a:spcAft>
            </a:pPr>
            <a:r>
              <a:rPr sz="17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shows the discrepancy, not which break to trust.</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117287" y="2298070"/>
            <a:ext cx="27011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850453" y="3807927"/>
            <a:ext cx="270113" cy="351129"/>
          </a:xfrm>
          <a:prstGeom prst="ellipse">
            <a:avLst/>
          </a:prstGeom>
          <a:noFill/>
          <a:ln w="44450">
            <a:solidFill>
              <a:srgbClr val="C62828"/>
            </a:solidFill>
          </a:ln>
        </p:spPr>
        <p:txBody>
          <a:bodyPr rtlCol="0" anchor="ctr"/>
          <a:lstStyle/>
          <a:p>
            <a:pPr algn="ctr"/>
          </a:p>
        </p:txBody>
      </p:sp>
      <p:sp>
        <p:nvSpPr>
          <p:cNvPr id="14" name="Oval 13"/>
          <p:cNvSpPr/>
          <p:nvPr/>
        </p:nvSpPr>
        <p:spPr>
          <a:xfrm>
            <a:off x="10521360"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03706" y="41440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25</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81101" y="2210287"/>
            <a:ext cx="1454993" cy="228234"/>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491910"/>
            <a:ext cx="1657075" cy="228234"/>
          </a:xfrm>
          <a:prstGeom prst="rect">
            <a:avLst/>
          </a:prstGeom>
          <a:noFill/>
          <a:ln w="44450">
            <a:solidFill>
              <a:srgbClr val="C62828"/>
            </a:solidFill>
          </a:ln>
        </p:spPr>
        <p:txBody>
          <a:bodyPr rtlCol="0" anchor="ctr"/>
          <a:lstStyle/>
          <a:p>
            <a:pPr algn="ctr"/>
          </a:p>
        </p:txBody>
      </p:sp>
      <p:sp>
        <p:nvSpPr>
          <p:cNvPr id="14" name="Oval 13"/>
          <p:cNvSpPr/>
          <p:nvPr/>
        </p:nvSpPr>
        <p:spPr>
          <a:xfrm>
            <a:off x="10344424" y="408883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9522104" y="21601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980" y="344180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13349"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a:t>
            </a:r>
            <a:r>
              <a:rPr sz="1800" b="1" i="0">
                <a:solidFill>
                  <a:srgbClr val="C62828"/>
                </a:solidFill>
                <a:latin typeface="Arial"/>
              </a:rPr>
              <a:t>(2)</a:t>
            </a:r>
            <a:r>
              <a:rPr sz="1800" b="0" i="0">
                <a:solidFill>
                  <a:srgbClr val="1A1A1A"/>
                </a:solidFill>
                <a:latin typeface="Arial"/>
              </a:rPr>
              <a:t>, not 2.5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Its changes, the relative value, do not. From day 3 </a:t>
            </a:r>
            <a:r>
              <a:rPr sz="1800" b="1" i="0">
                <a:solidFill>
                  <a:srgbClr val="1F5FAD"/>
                </a:solidFill>
                <a:latin typeface="Arial"/>
              </a:rPr>
              <a:t>(3)</a:t>
            </a:r>
            <a:r>
              <a:rPr sz="1800" b="0" i="0">
                <a:solidFill>
                  <a:srgbClr val="1A1A1A"/>
                </a:solidFill>
                <a:latin typeface="Arial"/>
              </a:rPr>
              <a:t>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519671" y="1929384"/>
            <a:ext cx="4775910" cy="3383671"/>
          </a:xfrm>
          <a:prstGeom prst="rect">
            <a:avLst/>
          </a:prstGeom>
        </p:spPr>
      </p:pic>
      <p:sp>
        <p:nvSpPr>
          <p:cNvPr id="12" name="Oval 11"/>
          <p:cNvSpPr/>
          <p:nvPr/>
        </p:nvSpPr>
        <p:spPr>
          <a:xfrm>
            <a:off x="10197123" y="2741465"/>
            <a:ext cx="286554" cy="406040"/>
          </a:xfrm>
          <a:prstGeom prst="ellipse">
            <a:avLst/>
          </a:prstGeom>
          <a:noFill/>
          <a:ln w="44450">
            <a:solidFill>
              <a:srgbClr val="E09B00"/>
            </a:solidFill>
          </a:ln>
        </p:spPr>
        <p:txBody>
          <a:bodyPr rtlCol="0" anchor="ctr"/>
          <a:lstStyle/>
          <a:p>
            <a:pPr algn="ctr"/>
          </a:p>
        </p:txBody>
      </p:sp>
      <p:sp>
        <p:nvSpPr>
          <p:cNvPr id="13" name="Oval 12"/>
          <p:cNvSpPr/>
          <p:nvPr/>
        </p:nvSpPr>
        <p:spPr>
          <a:xfrm>
            <a:off x="10197123" y="3181342"/>
            <a:ext cx="286554" cy="270693"/>
          </a:xfrm>
          <a:prstGeom prst="ellipse">
            <a:avLst/>
          </a:prstGeom>
          <a:noFill/>
          <a:ln w="44450">
            <a:solidFill>
              <a:srgbClr val="C62828"/>
            </a:solidFill>
          </a:ln>
        </p:spPr>
        <p:txBody>
          <a:bodyPr rtlCol="0" anchor="ctr"/>
          <a:lstStyle/>
          <a:p>
            <a:pPr algn="ctr"/>
          </a:p>
        </p:txBody>
      </p:sp>
      <p:sp>
        <p:nvSpPr>
          <p:cNvPr id="14" name="Rectangle 13"/>
          <p:cNvSpPr/>
          <p:nvPr/>
        </p:nvSpPr>
        <p:spPr>
          <a:xfrm>
            <a:off x="8191240" y="3756566"/>
            <a:ext cx="620868" cy="710570"/>
          </a:xfrm>
          <a:prstGeom prst="rect">
            <a:avLst/>
          </a:prstGeom>
          <a:noFill/>
          <a:ln w="44450">
            <a:solidFill>
              <a:srgbClr val="1F5FAD"/>
            </a:solidFill>
          </a:ln>
        </p:spPr>
        <p:txBody>
          <a:bodyPr rtlCol="0" anchor="ctr"/>
          <a:lstStyle/>
          <a:p>
            <a:pPr algn="ctr"/>
          </a:p>
        </p:txBody>
      </p:sp>
      <p:sp>
        <p:nvSpPr>
          <p:cNvPr id="15" name="Oval 14"/>
          <p:cNvSpPr/>
          <p:nvPr/>
        </p:nvSpPr>
        <p:spPr>
          <a:xfrm>
            <a:off x="10519266" y="25183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19266" y="3364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7697" y="44470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87421" y="2148101"/>
            <a:ext cx="264609" cy="218717"/>
          </a:xfrm>
          <a:prstGeom prst="ellipse">
            <a:avLst/>
          </a:prstGeom>
          <a:noFill/>
          <a:ln w="44450">
            <a:solidFill>
              <a:srgbClr val="E09B00"/>
            </a:solidFill>
          </a:ln>
        </p:spPr>
        <p:txBody>
          <a:bodyPr rtlCol="0" anchor="ctr"/>
          <a:lstStyle/>
          <a:p>
            <a:pPr algn="ctr"/>
          </a:p>
        </p:txBody>
      </p:sp>
      <p:sp>
        <p:nvSpPr>
          <p:cNvPr id="13" name="Oval 12"/>
          <p:cNvSpPr/>
          <p:nvPr/>
        </p:nvSpPr>
        <p:spPr>
          <a:xfrm>
            <a:off x="9531522" y="2960480"/>
            <a:ext cx="441015" cy="218717"/>
          </a:xfrm>
          <a:prstGeom prst="ellipse">
            <a:avLst/>
          </a:prstGeom>
          <a:noFill/>
          <a:ln w="44450">
            <a:solidFill>
              <a:srgbClr val="C62828"/>
            </a:solidFill>
          </a:ln>
        </p:spPr>
        <p:txBody>
          <a:bodyPr rtlCol="0" anchor="ctr"/>
          <a:lstStyle/>
          <a:p>
            <a:pPr algn="ctr"/>
          </a:p>
        </p:txBody>
      </p:sp>
      <p:sp>
        <p:nvSpPr>
          <p:cNvPr id="14" name="Rectangle 13"/>
          <p:cNvSpPr/>
          <p:nvPr/>
        </p:nvSpPr>
        <p:spPr>
          <a:xfrm>
            <a:off x="9266913" y="4085313"/>
            <a:ext cx="705624" cy="499925"/>
          </a:xfrm>
          <a:prstGeom prst="rect">
            <a:avLst/>
          </a:prstGeom>
          <a:noFill/>
          <a:ln w="44450">
            <a:solidFill>
              <a:srgbClr val="1F5FAD"/>
            </a:solidFill>
          </a:ln>
        </p:spPr>
        <p:txBody>
          <a:bodyPr rtlCol="0" anchor="ctr"/>
          <a:lstStyle/>
          <a:p>
            <a:pPr algn="ctr"/>
          </a:p>
        </p:txBody>
      </p:sp>
      <p:sp>
        <p:nvSpPr>
          <p:cNvPr id="15" name="Oval 14"/>
          <p:cNvSpPr/>
          <p:nvPr/>
        </p:nvSpPr>
        <p:spPr>
          <a:xfrm>
            <a:off x="9772988" y="20863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49394" y="271129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935059" y="417982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650248" y="3712713"/>
            <a:ext cx="668417" cy="426106"/>
          </a:xfrm>
          <a:prstGeom prst="line">
            <a:avLst/>
          </a:prstGeom>
          <a:ln w="44450">
            <a:solidFill>
              <a:srgbClr val="E09B00"/>
            </a:solidFill>
          </a:ln>
        </p:spPr>
      </p:cxnSp>
      <p:cxnSp>
        <p:nvCxnSpPr>
          <p:cNvPr id="15" name="Connector 14"/>
          <p:cNvCxnSpPr/>
          <p:nvPr/>
        </p:nvCxnSpPr>
        <p:spPr>
          <a:xfrm flipV="1">
            <a:off x="9547414" y="4848994"/>
            <a:ext cx="668418" cy="110472"/>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391966" y="34783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289133" y="47251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48842" y="284709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823757" y="2349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72132" y="25507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823757" y="378802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983259" y="234938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350026"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602937"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8767" y="30380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674705" y="2315626"/>
            <a:ext cx="297362" cy="280903"/>
          </a:xfrm>
          <a:prstGeom prst="ellipse">
            <a:avLst/>
          </a:prstGeom>
          <a:noFill/>
          <a:ln w="44450">
            <a:solidFill>
              <a:srgbClr val="C62828"/>
            </a:solidFill>
          </a:ln>
        </p:spPr>
        <p:txBody>
          <a:bodyPr rtlCol="0" anchor="ctr"/>
          <a:lstStyle/>
          <a:p>
            <a:pPr algn="ctr"/>
          </a:p>
        </p:txBody>
      </p:sp>
      <p:sp>
        <p:nvSpPr>
          <p:cNvPr id="14" name="Oval 13"/>
          <p:cNvSpPr/>
          <p:nvPr/>
        </p:nvSpPr>
        <p:spPr>
          <a:xfrm>
            <a:off x="8784640" y="312578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68817"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256745" y="3038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22337"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cxnSp>
        <p:nvCxnSpPr>
          <p:cNvPr id="16" name="Connector 15"/>
          <p:cNvCxnSpPr/>
          <p:nvPr/>
        </p:nvCxnSpPr>
        <p:spPr>
          <a:xfrm>
            <a:off x="8467663" y="4132957"/>
            <a:ext cx="1336835" cy="206182"/>
          </a:xfrm>
          <a:prstGeom prst="line">
            <a:avLst/>
          </a:prstGeom>
          <a:ln w="44450">
            <a:solidFill>
              <a:srgbClr val="1F5FAD"/>
            </a:solidFill>
          </a:ln>
        </p:spPr>
      </p:cxnSp>
      <p:sp>
        <p:nvSpPr>
          <p:cNvPr id="17" name="Oval 16"/>
          <p:cNvSpPr/>
          <p:nvPr/>
        </p:nvSpPr>
        <p:spPr>
          <a:xfrm>
            <a:off x="8569299" y="21863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620716" y="332030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209382" y="38873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9031327" y="38807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91753" y="51447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ADL's factor runs from -1 to +1, so no S exceeds its bar's volume: the CMF also runs from -1 to +1.</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-1: every bar closed at its low. </a:t>
            </a:r>
            <a:r>
              <a:rPr sz="1700" b="1" i="0">
                <a:solidFill>
                  <a:srgbClr val="C62828"/>
                </a:solidFill>
                <a:latin typeface="Arial"/>
              </a:rPr>
              <a:t>(2)</a:t>
            </a:r>
            <a:r>
              <a:rPr sz="17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Our 0.17: of 6.0 million traded, a net 1.0 million counts as added: volume came, on balance, with closes above their midpoints.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 arithmetic. The book reads the CMF only by a line and an oversold level, three slides 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303391" y="3298789"/>
            <a:ext cx="444581" cy="1123614"/>
          </a:xfrm>
          <a:prstGeom prst="rect">
            <a:avLst/>
          </a:prstGeom>
          <a:noFill/>
          <a:ln w="44450">
            <a:solidFill>
              <a:srgbClr val="E09B00"/>
            </a:solidFill>
          </a:ln>
        </p:spPr>
        <p:txBody>
          <a:bodyPr rtlCol="0" anchor="ctr"/>
          <a:lstStyle/>
          <a:p>
            <a:pPr algn="ctr"/>
          </a:p>
        </p:txBody>
      </p:sp>
      <p:sp>
        <p:nvSpPr>
          <p:cNvPr id="13" name="Oval 12"/>
          <p:cNvSpPr/>
          <p:nvPr/>
        </p:nvSpPr>
        <p:spPr>
          <a:xfrm>
            <a:off x="8990472" y="3123224"/>
            <a:ext cx="242498" cy="245790"/>
          </a:xfrm>
          <a:prstGeom prst="ellipse">
            <a:avLst/>
          </a:prstGeom>
          <a:noFill/>
          <a:ln w="44450">
            <a:solidFill>
              <a:srgbClr val="C62828"/>
            </a:solidFill>
          </a:ln>
        </p:spPr>
        <p:txBody>
          <a:bodyPr rtlCol="0" anchor="ctr"/>
          <a:lstStyle/>
          <a:p>
            <a:pPr algn="ctr"/>
          </a:p>
        </p:txBody>
      </p:sp>
      <p:sp>
        <p:nvSpPr>
          <p:cNvPr id="14" name="Rectangle 13"/>
          <p:cNvSpPr/>
          <p:nvPr/>
        </p:nvSpPr>
        <p:spPr>
          <a:xfrm>
            <a:off x="9495678" y="2982772"/>
            <a:ext cx="424373" cy="386242"/>
          </a:xfrm>
          <a:prstGeom prst="rect">
            <a:avLst/>
          </a:prstGeom>
          <a:noFill/>
          <a:ln w="44450">
            <a:solidFill>
              <a:srgbClr val="1F5FAD"/>
            </a:solidFill>
          </a:ln>
        </p:spPr>
        <p:txBody>
          <a:bodyPr rtlCol="0" anchor="ctr"/>
          <a:lstStyle/>
          <a:p>
            <a:pPr algn="ctr"/>
          </a:p>
        </p:txBody>
      </p:sp>
      <p:sp>
        <p:nvSpPr>
          <p:cNvPr id="15" name="Oval 14"/>
          <p:cNvSpPr/>
          <p:nvPr/>
        </p:nvSpPr>
        <p:spPr>
          <a:xfrm>
            <a:off x="7986278" y="37051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956273" y="342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85852" y="28273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Each bar's CMF, over its last N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A running total of the CMF, as for the ADL: black.</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Two EMAs of that total, here over 3 and 10 bars: gold and green.</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Oscillator = shorter EMA - longer EMA, bottom panel. At the dashed lines: 1.0 - 0.5 = +0.5; 0.6 - 0.8 = -0.2.</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cxnSp>
        <p:nvCxnSpPr>
          <p:cNvPr id="12" name="Connector 11"/>
          <p:cNvCxnSpPr/>
          <p:nvPr/>
        </p:nvCxnSpPr>
        <p:spPr>
          <a:xfrm flipH="1">
            <a:off x="9859426" y="2140061"/>
            <a:ext cx="424373" cy="245791"/>
          </a:xfrm>
          <a:prstGeom prst="line">
            <a:avLst/>
          </a:prstGeom>
          <a:ln w="44450">
            <a:solidFill>
              <a:srgbClr val="C62828"/>
            </a:solidFill>
            <a:tailEnd type="triangle" w="med" len="med"/>
          </a:ln>
        </p:spPr>
      </p:cxnSp>
      <p:sp>
        <p:nvSpPr>
          <p:cNvPr id="13" name="Rectangle 12"/>
          <p:cNvSpPr/>
          <p:nvPr/>
        </p:nvSpPr>
        <p:spPr>
          <a:xfrm>
            <a:off x="7414229" y="2280513"/>
            <a:ext cx="3758732" cy="983162"/>
          </a:xfrm>
          <a:prstGeom prst="rect">
            <a:avLst/>
          </a:prstGeom>
          <a:noFill/>
          <a:ln w="44450">
            <a:solidFill>
              <a:srgbClr val="1F5FAD"/>
            </a:solidFill>
          </a:ln>
        </p:spPr>
        <p:txBody>
          <a:bodyPr rtlCol="0" anchor="ctr"/>
          <a:lstStyle/>
          <a:p>
            <a:pPr algn="ctr"/>
          </a:p>
        </p:txBody>
      </p:sp>
      <p:sp>
        <p:nvSpPr>
          <p:cNvPr id="14" name="Rectangle 13"/>
          <p:cNvSpPr/>
          <p:nvPr/>
        </p:nvSpPr>
        <p:spPr>
          <a:xfrm>
            <a:off x="7414229" y="3965935"/>
            <a:ext cx="3718316" cy="877824"/>
          </a:xfrm>
          <a:prstGeom prst="rect">
            <a:avLst/>
          </a:prstGeom>
          <a:noFill/>
          <a:ln w="44450">
            <a:solidFill>
              <a:srgbClr val="007A33"/>
            </a:solidFill>
          </a:ln>
        </p:spPr>
        <p:txBody>
          <a:bodyPr rtlCol="0" anchor="ctr"/>
          <a:lstStyle/>
          <a:p>
            <a:pPr algn="ctr"/>
          </a:p>
        </p:txBody>
      </p:sp>
      <p:sp>
        <p:nvSpPr>
          <p:cNvPr id="15" name="Oval 14"/>
          <p:cNvSpPr/>
          <p:nvPr/>
        </p:nvSpPr>
        <p:spPr>
          <a:xfrm>
            <a:off x="10209184" y="1984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7177948" y="261664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Oval 16"/>
          <p:cNvSpPr/>
          <p:nvPr/>
        </p:nvSpPr>
        <p:spPr>
          <a:xfrm>
            <a:off x="7177948"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sign says which of the two averages is on top.</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350026" y="42318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258781" y="43196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479550"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107791" y="20548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68721" y="419673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pair's settings, read off Figure 6.43</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gives no lengths for the CMF or its EMAs. Figure 6.43's panel labels print them.</a:t>
            </a:r>
          </a:p>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ChiOsc(3,10): the Chaikin oscillator, from EMAs of 3 and 10 bars.</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CMF(20): the Chaikin Money Flow over N = 20 bars.</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Read the brackets as the settings: lengths in bars.</a:t>
            </a:r>
          </a:p>
        </p:txBody>
      </p:sp>
      <p:sp>
        <p:nvSpPr>
          <p:cNvPr id="10" name="Rectangle 9"/>
          <p:cNvSpPr/>
          <p:nvPr/>
        </p:nvSpPr>
        <p:spPr>
          <a:xfrm>
            <a:off x="6217919" y="1810512"/>
            <a:ext cx="5196535" cy="291855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68080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2236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two indicator panels of Figure 6.43, enlarged: the label ChiOsc(3,10) on the Chaikin oscillator and the label CMF(20) on the Chaikin Money Flow.</a:t>
            </a:r>
          </a:p>
        </p:txBody>
      </p:sp>
      <p:sp>
        <p:nvSpPr>
          <p:cNvPr id="14" name="Rectangle 13"/>
          <p:cNvSpPr/>
          <p:nvPr/>
        </p:nvSpPr>
        <p:spPr>
          <a:xfrm>
            <a:off x="6634319" y="2090232"/>
            <a:ext cx="1834752" cy="268080"/>
          </a:xfrm>
          <a:prstGeom prst="rect">
            <a:avLst/>
          </a:prstGeom>
          <a:noFill/>
          <a:ln w="44450">
            <a:solidFill>
              <a:srgbClr val="E09B00"/>
            </a:solidFill>
          </a:ln>
        </p:spPr>
        <p:txBody>
          <a:bodyPr rtlCol="0" anchor="ctr"/>
          <a:lstStyle/>
          <a:p>
            <a:pPr algn="ctr"/>
          </a:p>
        </p:txBody>
      </p:sp>
      <p:sp>
        <p:nvSpPr>
          <p:cNvPr id="15" name="Rectangle 14"/>
          <p:cNvSpPr/>
          <p:nvPr/>
        </p:nvSpPr>
        <p:spPr>
          <a:xfrm>
            <a:off x="6634319" y="3377020"/>
            <a:ext cx="1487637" cy="268080"/>
          </a:xfrm>
          <a:prstGeom prst="rect">
            <a:avLst/>
          </a:prstGeom>
          <a:noFill/>
          <a:ln w="44450">
            <a:solidFill>
              <a:srgbClr val="C62828"/>
            </a:solidFill>
          </a:ln>
        </p:spPr>
        <p:txBody>
          <a:bodyPr rtlCol="0" anchor="ctr"/>
          <a:lstStyle/>
          <a:p>
            <a:pPr algn="ctr"/>
          </a:p>
        </p:txBody>
      </p:sp>
      <p:sp>
        <p:nvSpPr>
          <p:cNvPr id="16" name="Oval 15"/>
          <p:cNvSpPr/>
          <p:nvPr/>
        </p:nvSpPr>
        <p:spPr>
          <a:xfrm>
            <a:off x="8511975" y="20688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64860" y="3355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4820504"/>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its two indicator panels. The text gives no settings; the figure's labels print them.</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801261" y="2048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23582" y="40015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123514" y="34828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25</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25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70850" y="34944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95223"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2000" b="0" i="0">
                <a:solidFill>
                  <a:srgbClr val="1A1A1A"/>
                </a:solidFill>
                <a:latin typeface="Arial"/>
              </a:rPr>
              <a:t>Figure 6.11, the book's VWMA picture, prints price above its line as bullish </a:t>
            </a:r>
            <a:r>
              <a:rPr sz="2000" b="1" i="0">
                <a:solidFill>
                  <a:srgbClr val="E09B00"/>
                </a:solidFill>
                <a:latin typeface="Arial"/>
              </a:rPr>
              <a:t>(1)</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If asked, give both readings.</a:t>
            </a:r>
          </a:p>
        </p:txBody>
      </p:sp>
      <p:sp>
        <p:nvSpPr>
          <p:cNvPr id="10" name="Rectangle 9"/>
          <p:cNvSpPr/>
          <p:nvPr/>
        </p:nvSpPr>
        <p:spPr>
          <a:xfrm>
            <a:off x="6217919" y="1810512"/>
            <a:ext cx="5196535" cy="259110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35335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89615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Part of Figure 6.11's price panel, enlarged: the label Price &gt; VWAP = Bullish over price bars above the dotted VWAP line.</a:t>
            </a:r>
          </a:p>
        </p:txBody>
      </p:sp>
      <p:sp>
        <p:nvSpPr>
          <p:cNvPr id="14" name="Rectangle 13"/>
          <p:cNvSpPr/>
          <p:nvPr/>
        </p:nvSpPr>
        <p:spPr>
          <a:xfrm>
            <a:off x="7725253" y="2376522"/>
            <a:ext cx="1636401" cy="353003"/>
          </a:xfrm>
          <a:prstGeom prst="rect">
            <a:avLst/>
          </a:prstGeom>
          <a:noFill/>
          <a:ln w="44450">
            <a:solidFill>
              <a:srgbClr val="E09B00"/>
            </a:solidFill>
          </a:ln>
        </p:spPr>
        <p:txBody>
          <a:bodyPr rtlCol="0" anchor="ctr"/>
          <a:lstStyle/>
          <a:p>
            <a:pPr algn="ctr"/>
          </a:p>
        </p:txBody>
      </p:sp>
      <p:sp>
        <p:nvSpPr>
          <p:cNvPr id="15" name="Oval 14"/>
          <p:cNvSpPr/>
          <p:nvPr/>
        </p:nvSpPr>
        <p:spPr>
          <a:xfrm>
            <a:off x="7371453" y="2221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49305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its price panel. Each is also named on its own slide.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a:t>
            </a:r>
          </a:p>
          <a:p>
            <a:pPr algn="l">
              <a:lnSpc>
                <a:spcPct val="105000"/>
              </a:lnSpc>
              <a:spcBef>
                <a:spcPts val="0"/>
              </a:spcBef>
              <a:spcAft>
                <a:spcPts val="1100"/>
              </a:spcAft>
            </a:pPr>
            <a:r>
              <a:rPr sz="2000" b="0" i="0">
                <a:solidFill>
                  <a:srgbClr val="1A1A1A"/>
                </a:solidFill>
                <a:latin typeface="Arial"/>
              </a:rPr>
              <a:t>Figure 6.25 labels the same reading TRIN oversold </a:t>
            </a:r>
            <a:r>
              <a:rPr sz="2000" b="1" i="0">
                <a:solidFill>
                  <a:srgbClr val="E09B00"/>
                </a:solidFill>
                <a:latin typeface="Arial"/>
              </a:rPr>
              <a:t>(1)</a:t>
            </a:r>
            <a:r>
              <a:rPr sz="2000" b="0" i="0">
                <a:solidFill>
                  <a:srgbClr val="1A1A1A"/>
                </a:solidFill>
                <a:latin typeface="Arial"/>
              </a:rPr>
              <a: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217919" y="1810512"/>
            <a:ext cx="5196535" cy="31734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357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4785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tick and TRIN panels of Figure 6.25, enlarged: dotted arrows labelled TICK oversold and TRIN oversold.</a:t>
            </a:r>
          </a:p>
        </p:txBody>
      </p:sp>
      <p:sp>
        <p:nvSpPr>
          <p:cNvPr id="14" name="Rectangle 13"/>
          <p:cNvSpPr/>
          <p:nvPr/>
        </p:nvSpPr>
        <p:spPr>
          <a:xfrm>
            <a:off x="9411242" y="3573398"/>
            <a:ext cx="1388461" cy="322931"/>
          </a:xfrm>
          <a:prstGeom prst="rect">
            <a:avLst/>
          </a:prstGeom>
          <a:noFill/>
          <a:ln w="44450">
            <a:solidFill>
              <a:srgbClr val="E09B00"/>
            </a:solidFill>
          </a:ln>
        </p:spPr>
        <p:txBody>
          <a:bodyPr rtlCol="0" anchor="ctr"/>
          <a:lstStyle/>
          <a:p>
            <a:pPr algn="ctr"/>
          </a:p>
        </p:txBody>
      </p:sp>
      <p:sp>
        <p:nvSpPr>
          <p:cNvPr id="15" name="Oval 14"/>
          <p:cNvSpPr/>
          <p:nvPr/>
        </p:nvSpPr>
        <p:spPr>
          <a:xfrm>
            <a:off x="9057442" y="356473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50754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its tick and TRIN panels. Each is also named on its own slide.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to about -4,500 in March 2009, which a ratio of two volumes cannot.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035040" y="1810512"/>
            <a:ext cx="5379414" cy="26108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3730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19158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upper panel of Figure 6.44: the label $NYUD (Daily) Cumulative, and the line dipping below the zero of its scale in March 2009.</a:t>
            </a:r>
          </a:p>
        </p:txBody>
      </p:sp>
      <p:sp>
        <p:nvSpPr>
          <p:cNvPr id="14" name="Rectangle 13"/>
          <p:cNvSpPr/>
          <p:nvPr/>
        </p:nvSpPr>
        <p:spPr>
          <a:xfrm>
            <a:off x="6153912" y="2142961"/>
            <a:ext cx="2159501" cy="142384"/>
          </a:xfrm>
          <a:prstGeom prst="rect">
            <a:avLst/>
          </a:prstGeom>
          <a:noFill/>
          <a:ln w="44450">
            <a:solidFill>
              <a:srgbClr val="E09B00"/>
            </a:solidFill>
          </a:ln>
        </p:spPr>
        <p:txBody>
          <a:bodyPr rtlCol="0" anchor="ctr"/>
          <a:lstStyle/>
          <a:p>
            <a:pPr algn="ctr"/>
          </a:p>
        </p:txBody>
      </p:sp>
      <p:sp>
        <p:nvSpPr>
          <p:cNvPr id="15" name="Rectangle 14"/>
          <p:cNvSpPr/>
          <p:nvPr/>
        </p:nvSpPr>
        <p:spPr>
          <a:xfrm>
            <a:off x="6462412" y="3875308"/>
            <a:ext cx="359916" cy="284769"/>
          </a:xfrm>
          <a:prstGeom prst="rect">
            <a:avLst/>
          </a:prstGeom>
          <a:noFill/>
          <a:ln w="44450">
            <a:solidFill>
              <a:srgbClr val="C62828"/>
            </a:solidFill>
          </a:ln>
        </p:spPr>
        <p:txBody>
          <a:bodyPr rtlCol="0" anchor="ctr"/>
          <a:lstStyle/>
          <a:p>
            <a:pPr algn="ctr"/>
          </a:p>
        </p:txBody>
      </p:sp>
      <p:sp>
        <p:nvSpPr>
          <p:cNvPr id="16" name="Rectangle 15"/>
          <p:cNvSpPr/>
          <p:nvPr/>
        </p:nvSpPr>
        <p:spPr>
          <a:xfrm>
            <a:off x="10729999" y="3804116"/>
            <a:ext cx="385625" cy="355961"/>
          </a:xfrm>
          <a:prstGeom prst="rect">
            <a:avLst/>
          </a:prstGeom>
          <a:noFill/>
          <a:ln w="44450">
            <a:solidFill>
              <a:srgbClr val="C62828"/>
            </a:solidFill>
          </a:ln>
        </p:spPr>
        <p:txBody>
          <a:bodyPr rtlCol="0" anchor="ctr"/>
          <a:lstStyle/>
          <a:p>
            <a:pPr algn="ctr"/>
          </a:p>
        </p:txBody>
      </p:sp>
      <p:sp>
        <p:nvSpPr>
          <p:cNvPr id="17" name="Oval 16"/>
          <p:cNvSpPr/>
          <p:nvPr/>
        </p:nvSpPr>
        <p:spPr>
          <a:xfrm>
            <a:off x="8363632" y="20587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872548" y="3672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20301" y="357747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TextBox 19"/>
          <p:cNvSpPr txBox="1"/>
          <p:nvPr/>
        </p:nvSpPr>
        <p:spPr>
          <a:xfrm>
            <a:off x="6035040" y="45127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its upper panel. Each is also named on its own slide.</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If asked, give both readings.</a:t>
            </a:r>
          </a:p>
        </p:txBody>
      </p:sp>
      <p:sp>
        <p:nvSpPr>
          <p:cNvPr id="10" name="Rectangle 9"/>
          <p:cNvSpPr/>
          <p:nvPr/>
        </p:nvSpPr>
        <p:spPr>
          <a:xfrm>
            <a:off x="6217919" y="1810512"/>
            <a:ext cx="5196535" cy="338392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146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6889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price panel of Figure 6.6, enlarged: the SPDR Gold Trust rising over four years, with dotted lines dividing numbered periods; periods 4 and 6 are dips.</a:t>
            </a:r>
          </a:p>
        </p:txBody>
      </p:sp>
      <p:sp>
        <p:nvSpPr>
          <p:cNvPr id="14" name="Rectangle 13"/>
          <p:cNvSpPr/>
          <p:nvPr/>
        </p:nvSpPr>
        <p:spPr>
          <a:xfrm>
            <a:off x="10130267" y="2558620"/>
            <a:ext cx="347115" cy="2485484"/>
          </a:xfrm>
          <a:prstGeom prst="rect">
            <a:avLst/>
          </a:prstGeom>
          <a:noFill/>
          <a:ln w="44450">
            <a:solidFill>
              <a:srgbClr val="E09B00"/>
            </a:solidFill>
          </a:ln>
        </p:spPr>
        <p:txBody>
          <a:bodyPr rtlCol="0" anchor="ctr"/>
          <a:lstStyle/>
          <a:p>
            <a:pPr algn="ctr"/>
          </a:p>
        </p:txBody>
      </p:sp>
      <p:sp>
        <p:nvSpPr>
          <p:cNvPr id="15" name="Rectangle 14"/>
          <p:cNvSpPr/>
          <p:nvPr/>
        </p:nvSpPr>
        <p:spPr>
          <a:xfrm>
            <a:off x="10824497" y="2715929"/>
            <a:ext cx="371909" cy="2328175"/>
          </a:xfrm>
          <a:prstGeom prst="rect">
            <a:avLst/>
          </a:prstGeom>
          <a:noFill/>
          <a:ln w="44450">
            <a:solidFill>
              <a:srgbClr val="C62828"/>
            </a:solidFill>
          </a:ln>
        </p:spPr>
        <p:txBody>
          <a:bodyPr rtlCol="0" anchor="ctr"/>
          <a:lstStyle/>
          <a:p>
            <a:pPr algn="ctr"/>
          </a:p>
        </p:txBody>
      </p:sp>
      <p:sp>
        <p:nvSpPr>
          <p:cNvPr id="16" name="Oval 15"/>
          <p:cNvSpPr/>
          <p:nvPr/>
        </p:nvSpPr>
        <p:spPr>
          <a:xfrm>
            <a:off x="10148376" y="22458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867401" y="24031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28587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its price panel. Each is also named on its own slide.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6.11 (Part 2) is captioned a VWMA on a daily chart.</a:t>
            </a:r>
          </a:p>
          <a:p>
            <a:pPr algn="l">
              <a:lnSpc>
                <a:spcPct val="105000"/>
              </a:lnSpc>
              <a:spcBef>
                <a:spcPts val="0"/>
              </a:spcBef>
              <a:spcAft>
                <a:spcPts val="1100"/>
              </a:spcAft>
            </a:pPr>
            <a:r>
              <a:rPr sz="2000" b="0" i="0">
                <a:solidFill>
                  <a:srgbClr val="1A1A1A"/>
                </a:solidFill>
                <a:latin typeface="Arial"/>
              </a:rPr>
              <a:t>Its own label reads SPY (10 min), over a line labelled VWAP </a:t>
            </a:r>
            <a:r>
              <a:rPr sz="2000" b="1" i="0">
                <a:solidFill>
                  <a:srgbClr val="E09B00"/>
                </a:solidFill>
                <a:latin typeface="Arial"/>
              </a:rPr>
              <a:t>(1)</a:t>
            </a:r>
            <a:r>
              <a:rPr sz="2000" b="0" i="0">
                <a:solidFill>
                  <a:srgbClr val="1A1A1A"/>
                </a:solidFill>
                <a:latin typeface="Arial"/>
              </a:rPr>
              <a:t>: 10-minute bars and a VWAP.</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217919" y="1810512"/>
            <a:ext cx="5196535" cy="225117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01343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5562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top left corner of Figure 6.11, enlarged: the labels SPY (10 min) 141.56 and VWAP 142.40.</a:t>
            </a:r>
          </a:p>
        </p:txBody>
      </p:sp>
      <p:sp>
        <p:nvSpPr>
          <p:cNvPr id="14" name="Rectangle 13"/>
          <p:cNvSpPr/>
          <p:nvPr/>
        </p:nvSpPr>
        <p:spPr>
          <a:xfrm>
            <a:off x="6386379" y="2271667"/>
            <a:ext cx="1735576" cy="261745"/>
          </a:xfrm>
          <a:prstGeom prst="rect">
            <a:avLst/>
          </a:prstGeom>
          <a:noFill/>
          <a:ln w="44450">
            <a:solidFill>
              <a:srgbClr val="E09B00"/>
            </a:solidFill>
          </a:ln>
        </p:spPr>
        <p:txBody>
          <a:bodyPr rtlCol="0" anchor="ctr"/>
          <a:lstStyle/>
          <a:p>
            <a:pPr algn="ctr"/>
          </a:p>
        </p:txBody>
      </p:sp>
      <p:sp>
        <p:nvSpPr>
          <p:cNvPr id="15" name="Oval 14"/>
          <p:cNvSpPr/>
          <p:nvPr/>
        </p:nvSpPr>
        <p:spPr>
          <a:xfrm>
            <a:off x="8412799" y="18947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153126"/>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p.181 and Figure 6.11 (Part 2), its top left corner.</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Figure 6.25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6.25 (Part 4) is captioned daily.</a:t>
            </a:r>
          </a:p>
          <a:p>
            <a:pPr algn="l">
              <a:lnSpc>
                <a:spcPct val="105000"/>
              </a:lnSpc>
              <a:spcBef>
                <a:spcPts val="0"/>
              </a:spcBef>
              <a:spcAft>
                <a:spcPts val="1100"/>
              </a:spcAft>
            </a:pPr>
            <a:r>
              <a:rPr sz="2000" b="0" i="0">
                <a:solidFill>
                  <a:srgbClr val="1A1A1A"/>
                </a:solidFill>
                <a:latin typeface="Arial"/>
              </a:rPr>
              <a:t>Its own label reads $SPX (1 min) </a:t>
            </a:r>
            <a:r>
              <a:rPr sz="2000" b="1" i="0">
                <a:solidFill>
                  <a:srgbClr val="E09B00"/>
                </a:solidFill>
                <a:latin typeface="Arial"/>
              </a:rPr>
              <a:t>(1)</a:t>
            </a:r>
            <a:r>
              <a:rPr sz="2000" b="0" i="0">
                <a:solidFill>
                  <a:srgbClr val="1A1A1A"/>
                </a:solidFill>
                <a:latin typeface="Arial"/>
              </a:rPr>
              <a:t>, and its time axis </a:t>
            </a:r>
            <a:r>
              <a:rPr sz="2000" b="1" i="0">
                <a:solidFill>
                  <a:srgbClr val="C62828"/>
                </a:solidFill>
                <a:latin typeface="Arial"/>
              </a:rPr>
              <a:t>(2)</a:t>
            </a:r>
            <a:r>
              <a:rPr sz="2000" b="0" i="0">
                <a:solidFill>
                  <a:srgbClr val="1A1A1A"/>
                </a:solidFill>
                <a:latin typeface="Arial"/>
              </a:rPr>
              <a:t> runs from 10:00 to 3:00 within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991319" y="1810512"/>
            <a:ext cx="364973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110191" y="1929384"/>
            <a:ext cx="341199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110191" y="1929384"/>
            <a:ext cx="341199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84511" y="2203703"/>
            <a:ext cx="28633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left half of Figure 6.25's price panel, enlarged: the label $SPX (1 min) 1400.42 and a time axis from 10:00 to 3:00.</a:t>
            </a:r>
          </a:p>
        </p:txBody>
      </p:sp>
      <p:sp>
        <p:nvSpPr>
          <p:cNvPr id="14" name="Rectangle 13"/>
          <p:cNvSpPr/>
          <p:nvPr/>
        </p:nvSpPr>
        <p:spPr>
          <a:xfrm>
            <a:off x="7314910" y="2192731"/>
            <a:ext cx="1262437" cy="140451"/>
          </a:xfrm>
          <a:prstGeom prst="rect">
            <a:avLst/>
          </a:prstGeom>
          <a:noFill/>
          <a:ln w="44450">
            <a:solidFill>
              <a:srgbClr val="E09B00"/>
            </a:solidFill>
          </a:ln>
        </p:spPr>
        <p:txBody>
          <a:bodyPr rtlCol="0" anchor="ctr"/>
          <a:lstStyle/>
          <a:p>
            <a:pPr algn="ctr"/>
          </a:p>
        </p:txBody>
      </p:sp>
      <p:sp>
        <p:nvSpPr>
          <p:cNvPr id="15" name="Rectangle 14"/>
          <p:cNvSpPr/>
          <p:nvPr/>
        </p:nvSpPr>
        <p:spPr>
          <a:xfrm>
            <a:off x="7110191" y="5282671"/>
            <a:ext cx="3377872" cy="154497"/>
          </a:xfrm>
          <a:prstGeom prst="rect">
            <a:avLst/>
          </a:prstGeom>
          <a:noFill/>
          <a:ln w="44450">
            <a:solidFill>
              <a:srgbClr val="C62828"/>
            </a:solidFill>
          </a:ln>
        </p:spPr>
        <p:txBody>
          <a:bodyPr rtlCol="0" anchor="ctr"/>
          <a:lstStyle/>
          <a:p>
            <a:pPr algn="ctr"/>
          </a:p>
        </p:txBody>
      </p:sp>
      <p:sp>
        <p:nvSpPr>
          <p:cNvPr id="16" name="Oval 15"/>
          <p:cNvSpPr/>
          <p:nvPr/>
        </p:nvSpPr>
        <p:spPr>
          <a:xfrm>
            <a:off x="7040043" y="21075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057103" y="500432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p.193 and Figure 6.25 (Part 4), its left half.</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6.23 (Part 3) is captioned silver.</a:t>
            </a:r>
          </a:p>
          <a:p>
            <a:pPr algn="l">
              <a:lnSpc>
                <a:spcPct val="105000"/>
              </a:lnSpc>
              <a:spcBef>
                <a:spcPts val="0"/>
              </a:spcBef>
              <a:spcAft>
                <a:spcPts val="1100"/>
              </a:spcAft>
            </a:pPr>
            <a:r>
              <a:rPr sz="19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1900" b="0" i="0">
                <a:solidFill>
                  <a:srgbClr val="1A1A1A"/>
                </a:solidFill>
                <a:latin typeface="Arial"/>
              </a:rPr>
              <a:t>The chart's own label </a:t>
            </a:r>
            <a:r>
              <a:rPr sz="1900" b="1" i="0">
                <a:solidFill>
                  <a:srgbClr val="E09B00"/>
                </a:solidFill>
                <a:latin typeface="Arial"/>
              </a:rPr>
              <a:t>(1)</a:t>
            </a:r>
            <a:r>
              <a:rPr sz="1900" b="0" i="0">
                <a:solidFill>
                  <a:srgbClr val="1A1A1A"/>
                </a:solidFill>
                <a:latin typeface="Arial"/>
              </a:rPr>
              <a:t> is too blurred in the book's print to read, so the figure cannot settle it.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it. Name both readings.</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top left of Figure 6.23, enlarged: its market label, blurred past reading, over the start of the price line.</a:t>
            </a:r>
          </a:p>
        </p:txBody>
      </p:sp>
      <p:sp>
        <p:nvSpPr>
          <p:cNvPr id="14" name="Rectangle 13"/>
          <p:cNvSpPr/>
          <p:nvPr/>
        </p:nvSpPr>
        <p:spPr>
          <a:xfrm>
            <a:off x="6386379" y="1929384"/>
            <a:ext cx="1636401" cy="225172"/>
          </a:xfrm>
          <a:prstGeom prst="rect">
            <a:avLst/>
          </a:prstGeom>
          <a:noFill/>
          <a:ln w="44450">
            <a:solidFill>
              <a:srgbClr val="E09B00"/>
            </a:solidFill>
          </a:ln>
        </p:spPr>
        <p:txBody>
          <a:bodyPr rtlCol="0" anchor="ctr"/>
          <a:lstStyle/>
          <a:p>
            <a:pPr algn="ctr"/>
          </a:p>
        </p:txBody>
      </p:sp>
      <p:sp>
        <p:nvSpPr>
          <p:cNvPr id="15" name="Oval 14"/>
          <p:cNvSpPr/>
          <p:nvPr/>
        </p:nvSpPr>
        <p:spPr>
          <a:xfrm>
            <a:off x="8065684" y="18990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 its top left corner.</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Figure 6.26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reads $SPX (1 min) </a:t>
            </a:r>
            <a:r>
              <a:rPr sz="2000" b="1" i="0">
                <a:solidFill>
                  <a:srgbClr val="E09B00"/>
                </a:solidFill>
                <a:latin typeface="Arial"/>
              </a:rPr>
              <a:t>(1)</a:t>
            </a:r>
            <a:r>
              <a:rPr sz="2000" b="0" i="0">
                <a:solidFill>
                  <a:srgbClr val="1A1A1A"/>
                </a:solidFill>
                <a:latin typeface="Arial"/>
              </a:rPr>
              <a:t>: 1-minute bars, the S&amp;P 500 within one afternoon,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217919" y="1810512"/>
            <a:ext cx="5196535" cy="292773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68999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23279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top left of Figure 6.26's price panel, enlarged: the label $SPX (1 min) 1414.20 over the falling S&amp;P 500.</a:t>
            </a:r>
          </a:p>
        </p:txBody>
      </p:sp>
      <p:sp>
        <p:nvSpPr>
          <p:cNvPr id="14" name="Rectangle 13"/>
          <p:cNvSpPr/>
          <p:nvPr/>
        </p:nvSpPr>
        <p:spPr>
          <a:xfrm>
            <a:off x="6584731" y="2225283"/>
            <a:ext cx="1636401" cy="147949"/>
          </a:xfrm>
          <a:prstGeom prst="rect">
            <a:avLst/>
          </a:prstGeom>
          <a:noFill/>
          <a:ln w="44450">
            <a:solidFill>
              <a:srgbClr val="E09B00"/>
            </a:solidFill>
          </a:ln>
        </p:spPr>
        <p:txBody>
          <a:bodyPr rtlCol="0" anchor="ctr"/>
          <a:lstStyle/>
          <a:p>
            <a:pPr algn="ctr"/>
          </a:p>
        </p:txBody>
      </p:sp>
      <p:sp>
        <p:nvSpPr>
          <p:cNvPr id="15" name="Oval 14"/>
          <p:cNvSpPr/>
          <p:nvPr/>
        </p:nvSpPr>
        <p:spPr>
          <a:xfrm>
            <a:off x="8264036" y="215053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82968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 its top left corner.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