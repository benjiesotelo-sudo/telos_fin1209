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gold arrow, mark 1, across the volume panel: bigger volume as the trend rises. Then the two circles, marks 2 and 3, the dips.</a:t>
            </a:r>
          </a:p>
          <a:p>
            <a:r>
              <a:rPr sz="1400"/>
              <a:t>- Both readings are the book's, on one chart: the whole trend confirmed, and each dip a bullish divergence.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eight cases change between the kinds,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boxes first: price rising, the two kinds agree. Then red, then blue: the two cases where the price-based arrow points the other way.</a:t>
            </a:r>
          </a:p>
          <a:p>
            <a:r>
              <a:rPr sz="1400"/>
              <a:t>- The numbers on the slide before are these arrows: 3 to 1 million falling, the OBV 5 to 7 rising.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mark 1. The volume panel under it falls, mark 2: non-price-based and falling, so bearish divergence.</a:t>
            </a:r>
          </a:p>
          <a:p>
            <a:r>
              <a:rPr sz="1400"/>
              <a:t>- The figure is cut in two so each panel can be read; the PVO and the ADL under it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PVO falls, mark 1, bearish divergence; the ADL rises with price, mark 2,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number on the chart is the step of the same number on the slide before. Walk them in order.</a:t>
            </a:r>
          </a:p>
          <a:p>
            <a:r>
              <a:rPr sz="1400"/>
              <a:t>- This one broke up. The same range could have broken down through the sell stops: price decides.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scale with the room: the gold box is an ordinary day, the red line the lower level, the blue line the upper.</a:t>
            </a:r>
          </a:p>
          <a:p>
            <a:r>
              <a:rPr sz="1400"/>
              <a:t>- The two green circles are the selling climaxes from the term slide, the only spikes to reach the upper level.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next slide finds this line on the gold chart and shows it moving.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solid line first, mark 1. Then the step up under the August 2011 spikes, mark 2, and where it drops back, mark 3.</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gold line is what the figure labels noise. Then the red line: only two spikes reach it.</a:t>
            </a:r>
          </a:p>
          <a:p>
            <a:r>
              <a:rPr sz="1400"/>
              <a:t>- The book's own labels 1 and 2 on the price are the two lows; the coloured numbers are 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Volume and volatility are two separate measures. When both cross their high lines on the same day, two kinds of evidence agree.</a:t>
            </a:r>
          </a:p>
          <a:p>
            <a:r>
              <a:rPr sz="1400"/>
              <a:t>- This slide goes with the two before: drop all three or none.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Lower timeframes are more sensitive: the one-day burst shows on daily and weekly bars and vanishes into the monthly ones.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two sums on the board: 67 million for the record day's month against 120 million for the busy month.</a:t>
            </a:r>
          </a:p>
          <a:p>
            <a:r>
              <a:rPr sz="1400"/>
              <a:t>- One big day cannot outweigh twenty busy ones once the days are added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No picture: nothing here is read off a chart.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of the three arrows down to the surge under it: marks 1, 2 and 3 ring where they reach price. Then find the April 2011 top, mark 4: a dotted upright, and no arrow.</a:t>
            </a:r>
          </a:p>
          <a:p>
            <a:r>
              <a:rPr sz="1400"/>
              <a:t>- The smoothed filter on the same market, Figure 6.20, marked six; this stricter line marks three.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stepped line, and follow it from the March spike, mark 2: it stays up for months, then steps.</a:t>
            </a:r>
          </a:p>
          <a:p>
            <a:r>
              <a:rPr sz="1400"/>
              <a:t>- Marks 5 and 6 are the two lines under it. The book draws them and never says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not a chart. The overlay it praises is the line on the last slide.</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states the book's rules; the next one sets them against its figure.</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numbered as on the slide before last.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Read the price axis on the right: $88 now, the bracket below it, $90 to $92 above.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volume line rising under the falling price, then mark 5, the volume line falling under the rising price.</a:t>
            </a:r>
          </a:p>
          <a:p>
            <a:r>
              <a:rPr sz="1400"/>
              <a:t>- The figure's own labels name both: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round the chart 1 to 4. For each, say the range against the grey bars, then the volume against the grey columns,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on the chart: the tall gold volume column, the tiny boxed bar above it. Then 2: the short gold column, the long boxed bar.</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boxed bar in both cells; only the slope before it differs. Point at the slope first, then the bar.</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figure as the last slide, read for the one sentence of reason: trace the fall at 1 with a finger, then the circle at 2, then X at 3.</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again, for its two labels: 1 is the narrow bar on the left, 2 the tall bar on the right. Every volume bar under them is the same height.</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chart in the slide's order: the close above the line at 1, the ordinary column under it at 2, the tall gold columns at 3.</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This is the top half of the book's figure. Find the line first, then the circle: price holds above it.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prices, same line as the last slide. Point at the wide bars in early May: heavy days, so wide.</a:t>
            </a:r>
          </a:p>
          <a:p>
            <a:r>
              <a:rPr sz="1400"/>
              <a:t>- On top price held above the line in late May; here it cuts through. The next slide puts numbers on why.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steps on the chart: 15 on the daily chart at 1, 10 plus 10 on the equivolume chart at 2. The grey boxes are the five heavy days.</a:t>
            </a:r>
          </a:p>
          <a:p>
            <a:r>
              <a:rPr sz="1400"/>
              <a: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gold columns for 1, the grey ones for 2, and the last point of the line for 3.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bar 3 off the chart: the green measure is C - L, 1; the gold one H - C, 3. So (1 - 3) / 4 = -0.5.</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Today closed near the top of its own range, which the ADL counts as buying. The OBV counts only the tiny fall from 50.00, the dashed line.</a:t>
            </a:r>
          </a:p>
          <a:p>
            <a:r>
              <a:rPr sz="1400"/>
              <a:t>- The two columns are the whole point: one bar, minus 2.0 by one rule, plus 1.0 by the other.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0.17 sits just above the 0 column: a little more volume counted as added than taken away.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gold line hugging the black and the green one lagging. Where gold is above green, the columns below are gold, 1; where below, grey, 2.</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1 has no picture because the book never says what net is. Use 2 is on the chart: open interest back at the dashed line.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Box 2 is the chart's own label: 10 min and VWAP, against a caption that says daily and VWMA.</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words are opposites. The book uses both for the same reading and never reconciles them.</a:t>
            </a:r>
          </a:p>
          <a:p>
            <a:r>
              <a:rPr sz="1400"/>
              <a:t>- Read the time axis aloud: 10:00, 11:00, 12:00. That is one day, not a daily chart.</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ratio of two volumes is never negative. Point at box 2: the line is below the zero on the scale.</a:t>
            </a:r>
          </a:p>
          <a:p>
            <a:r>
              <a:rPr sz="1400"/>
              <a:t>- Cumulative, box 1, suggests a running total. The book never says it is one.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boxed dips: the price is falling for a while, but inside a rise from about 40 to 120.</a:t>
            </a:r>
          </a:p>
          <a:p>
            <a:r>
              <a:rPr sz="1400"/>
              <a:t>- Our reading in Part 1 was a downtrend as price falling, for any stretch, and we said that reading was ours.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The channel itself was Part 3's subject. Here only the label matters.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3157432" y="987552"/>
            <a:ext cx="5876829" cy="14196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3276304" y="1106424"/>
            <a:ext cx="5639085" cy="118186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3276304" y="1106424"/>
            <a:ext cx="5639085"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3550624" y="1380744"/>
            <a:ext cx="5090445" cy="7246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3445477" y="1958546"/>
            <a:ext cx="5300740" cy="0"/>
          </a:xfrm>
          <a:prstGeom prst="line">
            <a:avLst/>
          </a:prstGeom>
          <a:ln w="44450">
            <a:solidFill>
              <a:srgbClr val="E09B00"/>
            </a:solidFill>
          </a:ln>
        </p:spPr>
      </p:cxnSp>
      <p:sp>
        <p:nvSpPr>
          <p:cNvPr id="11" name="Oval 10"/>
          <p:cNvSpPr/>
          <p:nvPr/>
        </p:nvSpPr>
        <p:spPr>
          <a:xfrm>
            <a:off x="3290029" y="1803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498597"/>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27729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2484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16" name="TextBox 15"/>
          <p:cNvSpPr txBox="1"/>
          <p:nvPr/>
        </p:nvSpPr>
        <p:spPr>
          <a:xfrm>
            <a:off x="1051560"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Every peak and trough on the chart</a:t>
            </a:r>
          </a:p>
          <a:p>
            <a:pPr algn="l">
              <a:lnSpc>
                <a:spcPct val="112000"/>
              </a:lnSpc>
              <a:spcBef>
                <a:spcPts val="0"/>
              </a:spcBef>
              <a:spcAft>
                <a:spcPts val="600"/>
              </a:spcAft>
            </a:pPr>
            <a:r>
              <a:rPr sz="1400" b="0" i="0">
                <a:solidFill>
                  <a:srgbClr val="FFFFFF"/>
                </a:solidFill>
                <a:latin typeface="Arial"/>
              </a:rPr>
              <a:t>B.  Only those associated with above average volume</a:t>
            </a:r>
          </a:p>
          <a:p>
            <a:pPr algn="l">
              <a:lnSpc>
                <a:spcPct val="112000"/>
              </a:lnSpc>
              <a:spcBef>
                <a:spcPts val="0"/>
              </a:spcBef>
              <a:spcAft>
                <a:spcPts val="600"/>
              </a:spcAft>
            </a:pPr>
            <a:r>
              <a:rPr sz="1400" b="0" i="0">
                <a:solidFill>
                  <a:srgbClr val="FFFFFF"/>
                </a:solidFill>
                <a:latin typeface="Arial"/>
              </a:rPr>
              <a:t>C.  Only those formed on minimal volume</a:t>
            </a:r>
          </a:p>
          <a:p>
            <a:pPr algn="l">
              <a:lnSpc>
                <a:spcPct val="112000"/>
              </a:lnSpc>
              <a:spcBef>
                <a:spcPts val="0"/>
              </a:spcBef>
              <a:spcAft>
                <a:spcPts val="600"/>
              </a:spcAft>
            </a:pPr>
            <a:r>
              <a:rPr sz="1400" b="0" i="0">
                <a:solidFill>
                  <a:srgbClr val="FFFFFF"/>
                </a:solidFill>
                <a:latin typeface="Arial"/>
              </a:rPr>
              <a:t>D.  Only those within a consolidation</a:t>
            </a:r>
          </a:p>
        </p:txBody>
      </p:sp>
      <p:sp>
        <p:nvSpPr>
          <p:cNvPr id="17" name="Rectangle 16"/>
          <p:cNvSpPr/>
          <p:nvPr/>
        </p:nvSpPr>
        <p:spPr>
          <a:xfrm>
            <a:off x="6415887" y="27729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2484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20" name="TextBox 19"/>
          <p:cNvSpPr txBox="1"/>
          <p:nvPr/>
        </p:nvSpPr>
        <p:spPr>
          <a:xfrm>
            <a:off x="6690207"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By visual inspection, so only the most significant peaks reach it</a:t>
            </a:r>
          </a:p>
          <a:p>
            <a:pPr algn="l">
              <a:lnSpc>
                <a:spcPct val="112000"/>
              </a:lnSpc>
              <a:spcBef>
                <a:spcPts val="0"/>
              </a:spcBef>
              <a:spcAft>
                <a:spcPts val="600"/>
              </a:spcAft>
            </a:pPr>
            <a:r>
              <a:rPr sz="1400" b="0" i="0">
                <a:solidFill>
                  <a:srgbClr val="FFFFFF"/>
                </a:solidFill>
                <a:latin typeface="Arial"/>
              </a:rPr>
              <a:t>B.  As a 100-day moving average</a:t>
            </a:r>
          </a:p>
          <a:p>
            <a:pPr algn="l">
              <a:lnSpc>
                <a:spcPct val="112000"/>
              </a:lnSpc>
              <a:spcBef>
                <a:spcPts val="0"/>
              </a:spcBef>
              <a:spcAft>
                <a:spcPts val="600"/>
              </a:spcAft>
            </a:pPr>
            <a:r>
              <a:rPr sz="1400" b="0" i="0">
                <a:solidFill>
                  <a:srgbClr val="FFFFFF"/>
                </a:solidFill>
                <a:latin typeface="Arial"/>
              </a:rPr>
              <a:t>C.  At three standard deviations</a:t>
            </a:r>
          </a:p>
          <a:p>
            <a:pPr algn="l">
              <a:lnSpc>
                <a:spcPct val="112000"/>
              </a:lnSpc>
              <a:spcBef>
                <a:spcPts val="0"/>
              </a:spcBef>
              <a:spcAft>
                <a:spcPts val="600"/>
              </a:spcAft>
            </a:pPr>
            <a:r>
              <a:rPr sz="1400" b="0" i="0">
                <a:solidFill>
                  <a:srgbClr val="FFFFFF"/>
                </a:solidFill>
                <a:latin typeface="Arial"/>
              </a:rPr>
              <a:t>D.  At the lowest historical volume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1714636" y="987552"/>
            <a:ext cx="8762422" cy="202437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1833508" y="1106424"/>
            <a:ext cx="8524678" cy="1786635"/>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833508" y="1106424"/>
            <a:ext cx="8524678"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107828" y="1380744"/>
            <a:ext cx="7976038" cy="13294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2089248" y="2394588"/>
            <a:ext cx="8013198" cy="0"/>
          </a:xfrm>
          <a:prstGeom prst="line">
            <a:avLst/>
          </a:prstGeom>
          <a:ln w="44450">
            <a:solidFill>
              <a:srgbClr val="E09B00"/>
            </a:solidFill>
          </a:ln>
        </p:spPr>
      </p:cxnSp>
      <p:sp>
        <p:nvSpPr>
          <p:cNvPr id="11" name="Oval 10"/>
          <p:cNvSpPr/>
          <p:nvPr/>
        </p:nvSpPr>
        <p:spPr>
          <a:xfrm>
            <a:off x="1933800" y="22391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3103371"/>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377691"/>
            <a:ext cx="91440" cy="261162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56057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16" name="TextBox 15"/>
          <p:cNvSpPr txBox="1"/>
          <p:nvPr/>
        </p:nvSpPr>
        <p:spPr>
          <a:xfrm>
            <a:off x="1097280" y="4426204"/>
            <a:ext cx="4541367" cy="154482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7" name="Rectangle 16"/>
          <p:cNvSpPr/>
          <p:nvPr/>
        </p:nvSpPr>
        <p:spPr>
          <a:xfrm>
            <a:off x="6324447"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377691"/>
            <a:ext cx="91440" cy="261162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56057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20" name="TextBox 19"/>
          <p:cNvSpPr txBox="1"/>
          <p:nvPr/>
        </p:nvSpPr>
        <p:spPr>
          <a:xfrm>
            <a:off x="6644487" y="4192523"/>
            <a:ext cx="4541367" cy="17785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23</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23</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Step 1, the usual bar, grey: about PHP 1.00 high to low, on 2 million shares. Ours, as the book gives no number.</a:t>
            </a:r>
          </a:p>
          <a:p>
            <a:pPr algn="l">
              <a:lnSpc>
                <a:spcPct val="105000"/>
              </a:lnSpc>
              <a:spcBef>
                <a:spcPts val="0"/>
              </a:spcBef>
              <a:spcAft>
                <a:spcPts val="1100"/>
              </a:spcAft>
            </a:pPr>
            <a:r>
              <a:rPr sz="1600" b="0" i="0">
                <a:solidFill>
                  <a:srgbClr val="1A1A1A"/>
                </a:solidFill>
                <a:latin typeface="Arial"/>
              </a:rPr>
              <a:t>Step 2, compare. </a:t>
            </a:r>
            <a:r>
              <a:rPr sz="1600" b="1" i="0">
                <a:solidFill>
                  <a:srgbClr val="E09B00"/>
                </a:solidFill>
                <a:latin typeface="Arial"/>
              </a:rPr>
              <a:t>(1)</a:t>
            </a:r>
            <a:r>
              <a:rPr sz="1600" b="0" i="0">
                <a:solidFill>
                  <a:srgbClr val="1A1A1A"/>
                </a:solidFill>
                <a:latin typeface="Arial"/>
              </a:rPr>
              <a:t> PHP 0.20 on 1 million: narrow, low: Low Volume Rest Bar. </a:t>
            </a:r>
            <a:r>
              <a:rPr sz="1600" b="1" i="0">
                <a:solidFill>
                  <a:srgbClr val="C62828"/>
                </a:solidFill>
                <a:latin typeface="Arial"/>
              </a:rPr>
              <a:t>(2)</a:t>
            </a:r>
            <a:r>
              <a:rPr sz="1600" b="0" i="0">
                <a:solidFill>
                  <a:srgbClr val="1A1A1A"/>
                </a:solidFill>
                <a:latin typeface="Arial"/>
              </a:rPr>
              <a:t> PHP 0.20 on 5 million: narrow, high: High Volume Reversal Bar.</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PHP 2.50 on 1 million: wide, low: Low Volume Reversal Bar. </a:t>
            </a:r>
            <a:r>
              <a:rPr sz="1600" b="1" i="0">
                <a:solidFill>
                  <a:srgbClr val="007A33"/>
                </a:solidFill>
                <a:latin typeface="Arial"/>
              </a:rPr>
              <a:t>(4)</a:t>
            </a:r>
            <a:r>
              <a:rPr sz="1600" b="0" i="0">
                <a:solidFill>
                  <a:srgbClr val="1A1A1A"/>
                </a:solidFill>
                <a:latin typeface="Arial"/>
              </a:rPr>
              <a:t> PHP 2.50 on 5 million: wide, high: High Volume Continuation Bar.</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Judge each bar's range and volume against the bars around it.</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a.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738372" y="2350739"/>
            <a:ext cx="253471" cy="1088501"/>
          </a:xfrm>
          <a:prstGeom prst="rect">
            <a:avLst/>
          </a:prstGeom>
          <a:noFill/>
          <a:ln w="44450">
            <a:solidFill>
              <a:srgbClr val="E09B00"/>
            </a:solidFill>
          </a:ln>
        </p:spPr>
        <p:txBody>
          <a:bodyPr rtlCol="0" anchor="ctr"/>
          <a:lstStyle/>
          <a:p>
            <a:pPr algn="ctr"/>
          </a:p>
        </p:txBody>
      </p:sp>
      <p:sp>
        <p:nvSpPr>
          <p:cNvPr id="13" name="Rectangle 12"/>
          <p:cNvSpPr/>
          <p:nvPr/>
        </p:nvSpPr>
        <p:spPr>
          <a:xfrm>
            <a:off x="10850636" y="2350739"/>
            <a:ext cx="253471" cy="1088501"/>
          </a:xfrm>
          <a:prstGeom prst="rect">
            <a:avLst/>
          </a:prstGeom>
          <a:noFill/>
          <a:ln w="44450">
            <a:solidFill>
              <a:srgbClr val="C62828"/>
            </a:solidFill>
          </a:ln>
        </p:spPr>
        <p:txBody>
          <a:bodyPr rtlCol="0" anchor="ctr"/>
          <a:lstStyle/>
          <a:p>
            <a:pPr algn="ctr"/>
          </a:p>
        </p:txBody>
      </p:sp>
      <p:sp>
        <p:nvSpPr>
          <p:cNvPr id="14" name="Rectangle 13"/>
          <p:cNvSpPr/>
          <p:nvPr/>
        </p:nvSpPr>
        <p:spPr>
          <a:xfrm>
            <a:off x="8738372" y="3930822"/>
            <a:ext cx="253471" cy="1018275"/>
          </a:xfrm>
          <a:prstGeom prst="rect">
            <a:avLst/>
          </a:prstGeom>
          <a:noFill/>
          <a:ln w="44450">
            <a:solidFill>
              <a:srgbClr val="1F5FAD"/>
            </a:solidFill>
          </a:ln>
        </p:spPr>
        <p:txBody>
          <a:bodyPr rtlCol="0" anchor="ctr"/>
          <a:lstStyle/>
          <a:p>
            <a:pPr algn="ctr"/>
          </a:p>
        </p:txBody>
      </p:sp>
      <p:sp>
        <p:nvSpPr>
          <p:cNvPr id="15" name="Rectangle 14"/>
          <p:cNvSpPr/>
          <p:nvPr/>
        </p:nvSpPr>
        <p:spPr>
          <a:xfrm>
            <a:off x="10850636" y="3930822"/>
            <a:ext cx="253471" cy="1018275"/>
          </a:xfrm>
          <a:prstGeom prst="rect">
            <a:avLst/>
          </a:prstGeom>
          <a:noFill/>
          <a:ln w="44450">
            <a:solidFill>
              <a:srgbClr val="007A33"/>
            </a:solidFill>
          </a:ln>
        </p:spPr>
        <p:txBody>
          <a:bodyPr rtlCol="0" anchor="ctr"/>
          <a:lstStyle/>
          <a:p>
            <a:pPr algn="ctr"/>
          </a:p>
        </p:txBody>
      </p:sp>
      <p:sp>
        <p:nvSpPr>
          <p:cNvPr id="16" name="Oval 15"/>
          <p:cNvSpPr/>
          <p:nvPr/>
        </p:nvSpPr>
        <p:spPr>
          <a:xfrm>
            <a:off x="8582924" y="21952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695188" y="21952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582924" y="377537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695188" y="3775374"/>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JA - FIN1209 teaching chart, drawn for this course. Illustrative data, not a real instrument.</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the comparison with the usual bar, which the book does not put a number on, and the chart: sketches, not prices.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High Volume Reversal Bar, narrow on high volume, chart left: a strong potential for reversal. Bearish in an uptrend; the converse, bullish, in a downtrend.</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Low Volume Reversal Bar, wide on low volume, right: a potential for reversal. The longer the bar, the more bearish in an uptrend, bullish in a downtrend.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Rectangle 11"/>
          <p:cNvSpPr/>
          <p:nvPr/>
        </p:nvSpPr>
        <p:spPr>
          <a:xfrm>
            <a:off x="7651516" y="2385852"/>
            <a:ext cx="346923" cy="2809036"/>
          </a:xfrm>
          <a:prstGeom prst="rect">
            <a:avLst/>
          </a:prstGeom>
          <a:noFill/>
          <a:ln w="44450">
            <a:solidFill>
              <a:srgbClr val="E09B00"/>
            </a:solidFill>
          </a:ln>
        </p:spPr>
        <p:txBody>
          <a:bodyPr rtlCol="0" anchor="ctr"/>
          <a:lstStyle/>
          <a:p>
            <a:pPr algn="ctr"/>
          </a:p>
        </p:txBody>
      </p:sp>
      <p:sp>
        <p:nvSpPr>
          <p:cNvPr id="13" name="Rectangle 12"/>
          <p:cNvSpPr/>
          <p:nvPr/>
        </p:nvSpPr>
        <p:spPr>
          <a:xfrm>
            <a:off x="10129540" y="2385852"/>
            <a:ext cx="346923" cy="2809036"/>
          </a:xfrm>
          <a:prstGeom prst="rect">
            <a:avLst/>
          </a:prstGeom>
          <a:noFill/>
          <a:ln w="44450">
            <a:solidFill>
              <a:srgbClr val="C62828"/>
            </a:solidFill>
          </a:ln>
        </p:spPr>
        <p:txBody>
          <a:bodyPr rtlCol="0" anchor="ctr"/>
          <a:lstStyle/>
          <a:p>
            <a:pPr algn="ctr"/>
          </a:p>
        </p:txBody>
      </p:sp>
      <p:sp>
        <p:nvSpPr>
          <p:cNvPr id="14" name="Oval 13"/>
          <p:cNvSpPr/>
          <p:nvPr/>
        </p:nvSpPr>
        <p:spPr>
          <a:xfrm>
            <a:off x="7496068" y="22304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974092" y="22304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Ours: the usual bar moves PHP 1.00 on 2 million shares. Today 5 million trade, 2.5 times usual, and price moves only PHP 0.20.</a:t>
            </a:r>
          </a:p>
          <a:p>
            <a:pPr algn="l">
              <a:lnSpc>
                <a:spcPct val="105000"/>
              </a:lnSpc>
              <a:spcBef>
                <a:spcPts val="0"/>
              </a:spcBef>
              <a:spcAft>
                <a:spcPts val="1100"/>
              </a:spcAft>
            </a:pPr>
            <a:r>
              <a:rPr sz="1600" b="0" i="0">
                <a:solidFill>
                  <a:srgbClr val="1A1A1A"/>
                </a:solidFill>
                <a:latin typeface="Arial"/>
              </a:rPr>
              <a:t>The book: were that volume buying, the range would be much wider, so sellers are attempting to take control. In a downtrend, the converse.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Ours: price jumps PHP 3.00 on 0.7 million, a third of usual. The book: a large move on little participation, its word for volume: a lack of interest.</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warning of a potential turn, not a certainty: no entry rule.</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b.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231428" y="2420965"/>
            <a:ext cx="274594" cy="2598359"/>
          </a:xfrm>
          <a:prstGeom prst="rect">
            <a:avLst/>
          </a:prstGeom>
          <a:noFill/>
          <a:ln w="44450">
            <a:solidFill>
              <a:srgbClr val="E09B00"/>
            </a:solidFill>
          </a:ln>
        </p:spPr>
        <p:txBody>
          <a:bodyPr rtlCol="0" anchor="ctr"/>
          <a:lstStyle/>
          <a:p>
            <a:pPr algn="ctr"/>
          </a:p>
        </p:txBody>
      </p:sp>
      <p:sp>
        <p:nvSpPr>
          <p:cNvPr id="13" name="Rectangle 12"/>
          <p:cNvSpPr/>
          <p:nvPr/>
        </p:nvSpPr>
        <p:spPr>
          <a:xfrm>
            <a:off x="10322570" y="2420965"/>
            <a:ext cx="253471" cy="2598359"/>
          </a:xfrm>
          <a:prstGeom prst="rect">
            <a:avLst/>
          </a:prstGeom>
          <a:noFill/>
          <a:ln w="44450">
            <a:solidFill>
              <a:srgbClr val="C62828"/>
            </a:solidFill>
          </a:ln>
        </p:spPr>
        <p:txBody>
          <a:bodyPr rtlCol="0" anchor="ctr"/>
          <a:lstStyle/>
          <a:p>
            <a:pPr algn="ctr"/>
          </a:p>
        </p:txBody>
      </p:sp>
      <p:sp>
        <p:nvSpPr>
          <p:cNvPr id="14" name="Oval 13"/>
          <p:cNvSpPr/>
          <p:nvPr/>
        </p:nvSpPr>
        <p:spPr>
          <a:xfrm>
            <a:off x="8075980" y="226551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67122" y="226551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 and the chart: sketches, not prices.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a:t>
            </a:r>
            <a:r>
              <a:rPr sz="1700" b="1" i="0">
                <a:solidFill>
                  <a:srgbClr val="E09B00"/>
                </a:solidFill>
                <a:latin typeface="Arial"/>
              </a:rPr>
              <a:t>(1)</a:t>
            </a:r>
            <a:r>
              <a:rPr sz="1700" b="0" i="0">
                <a:solidFill>
                  <a:srgbClr val="1A1A1A"/>
                </a:solidFill>
                <a:latin typeface="Arial"/>
              </a:rPr>
              <a:t>, a potential reversal; in a weak to average one </a:t>
            </a:r>
            <a:r>
              <a:rPr sz="1700" b="1" i="0">
                <a:solidFill>
                  <a:srgbClr val="C62828"/>
                </a:solidFill>
                <a:latin typeface="Arial"/>
              </a:rPr>
              <a:t>(2)</a:t>
            </a:r>
            <a:r>
              <a:rPr sz="1700" b="0" i="0">
                <a:solidFill>
                  <a:srgbClr val="1A1A1A"/>
                </a:solidFill>
                <a:latin typeface="Arial"/>
              </a:rPr>
              <a:t>, a point of rest.</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High Volume Continuation Bar, wide on high volume: backed by very large participation. Bullish in an uptrend, bearish in a downtrend.</a:t>
            </a:r>
          </a:p>
        </p:txBody>
      </p:sp>
      <p:sp>
        <p:nvSpPr>
          <p:cNvPr id="8" name="Rectangle 7"/>
          <p:cNvSpPr/>
          <p:nvPr/>
        </p:nvSpPr>
        <p:spPr>
          <a:xfrm>
            <a:off x="777240" y="4400550"/>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Rectangle 11"/>
          <p:cNvSpPr/>
          <p:nvPr/>
        </p:nvSpPr>
        <p:spPr>
          <a:xfrm>
            <a:off x="7131131" y="2561417"/>
            <a:ext cx="322143" cy="2633472"/>
          </a:xfrm>
          <a:prstGeom prst="rect">
            <a:avLst/>
          </a:prstGeom>
          <a:noFill/>
          <a:ln w="44450">
            <a:solidFill>
              <a:srgbClr val="E09B00"/>
            </a:solidFill>
          </a:ln>
        </p:spPr>
        <p:txBody>
          <a:bodyPr rtlCol="0" anchor="ctr"/>
          <a:lstStyle/>
          <a:p>
            <a:pPr algn="ctr"/>
          </a:p>
        </p:txBody>
      </p:sp>
      <p:sp>
        <p:nvSpPr>
          <p:cNvPr id="13" name="Rectangle 12"/>
          <p:cNvSpPr/>
          <p:nvPr/>
        </p:nvSpPr>
        <p:spPr>
          <a:xfrm>
            <a:off x="8717066" y="2877433"/>
            <a:ext cx="322143" cy="2317455"/>
          </a:xfrm>
          <a:prstGeom prst="rect">
            <a:avLst/>
          </a:prstGeom>
          <a:noFill/>
          <a:ln w="44450">
            <a:solidFill>
              <a:srgbClr val="C62828"/>
            </a:solidFill>
          </a:ln>
        </p:spPr>
        <p:txBody>
          <a:bodyPr rtlCol="0" anchor="ctr"/>
          <a:lstStyle/>
          <a:p>
            <a:pPr algn="ctr"/>
          </a:p>
        </p:txBody>
      </p:sp>
      <p:sp>
        <p:nvSpPr>
          <p:cNvPr id="14" name="Rectangle 13"/>
          <p:cNvSpPr/>
          <p:nvPr/>
        </p:nvSpPr>
        <p:spPr>
          <a:xfrm>
            <a:off x="10377342" y="2947659"/>
            <a:ext cx="346923" cy="2247229"/>
          </a:xfrm>
          <a:prstGeom prst="rect">
            <a:avLst/>
          </a:prstGeom>
          <a:noFill/>
          <a:ln w="44450">
            <a:solidFill>
              <a:srgbClr val="1F5FAD"/>
            </a:solidFill>
          </a:ln>
        </p:spPr>
        <p:txBody>
          <a:bodyPr rtlCol="0" anchor="ctr"/>
          <a:lstStyle/>
          <a:p>
            <a:pPr algn="ctr"/>
          </a:p>
        </p:txBody>
      </p:sp>
      <p:sp>
        <p:nvSpPr>
          <p:cNvPr id="15" name="Oval 14"/>
          <p:cNvSpPr/>
          <p:nvPr/>
        </p:nvSpPr>
        <p:spPr>
          <a:xfrm>
            <a:off x="6975683" y="24059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561618" y="27219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221894" y="27922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Ours: a rise of PHP 1.60 a bar stalls on a PHP 0.30 bar with a quarter of the usual volume. That fast, then that quiet: a potential reversal.</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The same quiet bar in a rise of PHP 0.45 a bar: a point of rest, a pause before the rise goes on. The book gives no speed for strong and rapid.</a:t>
            </a:r>
          </a:p>
          <a:p>
            <a:pPr algn="l">
              <a:lnSpc>
                <a:spcPct val="105000"/>
              </a:lnSpc>
              <a:spcBef>
                <a:spcPts val="0"/>
              </a:spcBef>
              <a:spcAft>
                <a:spcPts val="1100"/>
              </a:spcAft>
            </a:pPr>
            <a:r>
              <a:rPr sz="18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the rest bar with the trend's speed.</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c.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168060" y="2561417"/>
            <a:ext cx="253471" cy="2563246"/>
          </a:xfrm>
          <a:prstGeom prst="rect">
            <a:avLst/>
          </a:prstGeom>
          <a:noFill/>
          <a:ln w="44450">
            <a:solidFill>
              <a:srgbClr val="E09B00"/>
            </a:solidFill>
          </a:ln>
        </p:spPr>
        <p:txBody>
          <a:bodyPr rtlCol="0" anchor="ctr"/>
          <a:lstStyle/>
          <a:p>
            <a:pPr algn="ctr"/>
          </a:p>
        </p:txBody>
      </p:sp>
      <p:sp>
        <p:nvSpPr>
          <p:cNvPr id="13" name="Rectangle 12"/>
          <p:cNvSpPr/>
          <p:nvPr/>
        </p:nvSpPr>
        <p:spPr>
          <a:xfrm>
            <a:off x="10174711" y="2947659"/>
            <a:ext cx="253471" cy="2177003"/>
          </a:xfrm>
          <a:prstGeom prst="rect">
            <a:avLst/>
          </a:prstGeom>
          <a:noFill/>
          <a:ln w="44450">
            <a:solidFill>
              <a:srgbClr val="C62828"/>
            </a:solidFill>
          </a:ln>
        </p:spPr>
        <p:txBody>
          <a:bodyPr rtlCol="0" anchor="ctr"/>
          <a:lstStyle/>
          <a:p>
            <a:pPr algn="ctr"/>
          </a:p>
        </p:txBody>
      </p:sp>
      <p:sp>
        <p:nvSpPr>
          <p:cNvPr id="14" name="Oval 13"/>
          <p:cNvSpPr/>
          <p:nvPr/>
        </p:nvSpPr>
        <p:spPr>
          <a:xfrm>
            <a:off x="8012612" y="240596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019263" y="279221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JC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the chart, and a pause as the plain reading of point of rest. The book gives no reason speed matters.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a:t>
            </a:r>
            <a:r>
              <a:rPr sz="1700" b="1" i="0">
                <a:solidFill>
                  <a:srgbClr val="E09B00"/>
                </a:solidFill>
                <a:latin typeface="Arial"/>
              </a:rPr>
              <a:t>(1)</a:t>
            </a:r>
            <a:r>
              <a:rPr sz="1700" b="0" i="0">
                <a:solidFill>
                  <a:srgbClr val="1A1A1A"/>
                </a:solidFill>
                <a:latin typeface="Arial"/>
              </a:rPr>
              <a:t> and </a:t>
            </a:r>
            <a:r>
              <a:rPr sz="1700" b="1" i="0">
                <a:solidFill>
                  <a:srgbClr val="C62828"/>
                </a:solidFill>
                <a:latin typeface="Arial"/>
              </a:rPr>
              <a:t>(2)</a:t>
            </a:r>
            <a:r>
              <a:rPr sz="1700" b="0" i="0">
                <a:solidFill>
                  <a:srgbClr val="1A1A1A"/>
                </a:solidFill>
                <a:latin typeface="Arial"/>
              </a:rPr>
              <a:t>: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04008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0233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4513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6.31</a:t>
            </a:r>
          </a:p>
          <a:p>
            <a:pPr algn="l">
              <a:lnSpc>
                <a:spcPct val="115000"/>
              </a:lnSpc>
              <a:spcBef>
                <a:spcPts val="0"/>
              </a:spcBef>
              <a:spcAft>
                <a:spcPts val="0"/>
              </a:spcAft>
            </a:pPr>
            <a:r>
              <a:rPr sz="1500" b="0" i="0">
                <a:solidFill>
                  <a:srgbClr val="1A1A1A"/>
                </a:solidFill>
                <a:latin typeface="Palatino"/>
              </a:rPr>
              <a:t>The daily dollar fund: narrow range candlesticks on high volume circled at 1, at a low, and 2, at a dip near the highs, lined to tall volume bars; a triangle at the left.</a:t>
            </a:r>
          </a:p>
        </p:txBody>
      </p:sp>
      <p:sp>
        <p:nvSpPr>
          <p:cNvPr id="14" name="Oval 13"/>
          <p:cNvSpPr/>
          <p:nvPr/>
        </p:nvSpPr>
        <p:spPr>
          <a:xfrm>
            <a:off x="9044997" y="3302529"/>
            <a:ext cx="505233" cy="476397"/>
          </a:xfrm>
          <a:prstGeom prst="ellipse">
            <a:avLst/>
          </a:prstGeom>
          <a:noFill/>
          <a:ln w="44450">
            <a:solidFill>
              <a:srgbClr val="E09B00"/>
            </a:solidFill>
          </a:ln>
        </p:spPr>
        <p:txBody>
          <a:bodyPr rtlCol="0" anchor="ctr"/>
          <a:lstStyle/>
          <a:p>
            <a:pPr algn="ctr"/>
          </a:p>
        </p:txBody>
      </p:sp>
      <p:sp>
        <p:nvSpPr>
          <p:cNvPr id="15" name="Oval 14"/>
          <p:cNvSpPr/>
          <p:nvPr/>
        </p:nvSpPr>
        <p:spPr>
          <a:xfrm>
            <a:off x="10629593" y="2377757"/>
            <a:ext cx="390407" cy="364303"/>
          </a:xfrm>
          <a:prstGeom prst="ellipse">
            <a:avLst/>
          </a:prstGeom>
          <a:noFill/>
          <a:ln w="44450">
            <a:solidFill>
              <a:srgbClr val="C62828"/>
            </a:solidFill>
          </a:ln>
        </p:spPr>
        <p:txBody>
          <a:bodyPr rtlCol="0" anchor="ctr"/>
          <a:lstStyle/>
          <a:p>
            <a:pPr algn="ctr"/>
          </a:p>
        </p:txBody>
      </p:sp>
      <p:sp>
        <p:nvSpPr>
          <p:cNvPr id="16" name="Rectangle 15"/>
          <p:cNvSpPr/>
          <p:nvPr/>
        </p:nvSpPr>
        <p:spPr>
          <a:xfrm>
            <a:off x="7024064" y="3162412"/>
            <a:ext cx="1148257" cy="784654"/>
          </a:xfrm>
          <a:prstGeom prst="rect">
            <a:avLst/>
          </a:prstGeom>
          <a:noFill/>
          <a:ln w="44450">
            <a:solidFill>
              <a:srgbClr val="1F5FAD"/>
            </a:solidFill>
          </a:ln>
        </p:spPr>
        <p:txBody>
          <a:bodyPr rtlCol="0" anchor="ctr"/>
          <a:lstStyle/>
          <a:p>
            <a:pPr algn="ctr"/>
          </a:p>
        </p:txBody>
      </p:sp>
      <p:sp>
        <p:nvSpPr>
          <p:cNvPr id="17" name="Oval 16"/>
          <p:cNvSpPr/>
          <p:nvPr/>
        </p:nvSpPr>
        <p:spPr>
          <a:xfrm>
            <a:off x="8889549" y="314708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474145" y="22223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868616" y="30069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42033"/>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23</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a:t>
            </a:r>
            <a:r>
              <a:rPr sz="1900" b="1" i="0">
                <a:solidFill>
                  <a:srgbClr val="C62828"/>
                </a:solidFill>
                <a:latin typeface="Arial"/>
              </a:rPr>
              <a:t>(2)</a:t>
            </a:r>
            <a:r>
              <a:rPr sz="1900" b="0" i="0">
                <a:solidFill>
                  <a:srgbClr val="1A1A1A"/>
                </a:solidFill>
                <a:latin typeface="Arial"/>
              </a:rPr>
              <a:t>,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24642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19671" y="1929384"/>
            <a:ext cx="4775911" cy="222653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93991" y="2203703"/>
            <a:ext cx="4227271" cy="17693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6.32</a:t>
            </a:r>
          </a:p>
          <a:p>
            <a:pPr algn="l">
              <a:lnSpc>
                <a:spcPct val="115000"/>
              </a:lnSpc>
              <a:spcBef>
                <a:spcPts val="0"/>
              </a:spcBef>
              <a:spcAft>
                <a:spcPts val="0"/>
              </a:spcAft>
            </a:pPr>
            <a:r>
              <a:rPr sz="1500" b="0" i="0">
                <a:solidFill>
                  <a:srgbClr val="1A1A1A"/>
                </a:solidFill>
                <a:latin typeface="Palatino"/>
              </a:rPr>
              <a:t>The daily PowerShares DB U.S. Dollar Bullish Fund with a narrow range candlestick on high volume circled at a low at the start of November, followed by a strong rise.</a:t>
            </a:r>
          </a:p>
        </p:txBody>
      </p:sp>
      <p:sp>
        <p:nvSpPr>
          <p:cNvPr id="14" name="Oval 13"/>
          <p:cNvSpPr/>
          <p:nvPr/>
        </p:nvSpPr>
        <p:spPr>
          <a:xfrm>
            <a:off x="6997263" y="3688344"/>
            <a:ext cx="549229" cy="445306"/>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474854" y="2307894"/>
            <a:ext cx="740266" cy="1269123"/>
          </a:xfrm>
          <a:prstGeom prst="line">
            <a:avLst/>
          </a:prstGeom>
          <a:ln w="44450">
            <a:solidFill>
              <a:srgbClr val="C62828"/>
            </a:solidFill>
            <a:tailEnd type="triangle" w="med" len="med"/>
          </a:ln>
        </p:spPr>
      </p:cxnSp>
      <p:sp>
        <p:nvSpPr>
          <p:cNvPr id="16" name="Oval 15"/>
          <p:cNvSpPr/>
          <p:nvPr/>
        </p:nvSpPr>
        <p:spPr>
          <a:xfrm>
            <a:off x="6841815" y="353289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319406" y="342156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436622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t>
            </a:r>
            <a:r>
              <a:rPr sz="1700" b="1" i="0">
                <a:solidFill>
                  <a:srgbClr val="E09B00"/>
                </a:solidFill>
                <a:latin typeface="Arial"/>
              </a:rPr>
              <a:t>(1)</a:t>
            </a:r>
            <a:r>
              <a:rPr sz="1700" b="0" i="0">
                <a:solidFill>
                  <a:srgbClr val="1A1A1A"/>
                </a:solidFill>
                <a:latin typeface="Arial"/>
              </a:rPr>
              <a:t>, about 23.4 in January to 21.0 in May. A short rally ends at a circled high volume reversal bar </a:t>
            </a:r>
            <a:r>
              <a:rPr sz="1700" b="1" i="0">
                <a:solidFill>
                  <a:srgbClr val="C62828"/>
                </a:solidFill>
                <a:latin typeface="Arial"/>
              </a:rPr>
              <a:t>(2)</a:t>
            </a:r>
            <a:r>
              <a:rPr sz="1700" b="0" i="0">
                <a:solidFill>
                  <a:srgbClr val="1A1A1A"/>
                </a:solidFill>
                <a:latin typeface="Arial"/>
              </a:rPr>
              <a:t>, May 23.</a:t>
            </a:r>
          </a:p>
          <a:p>
            <a:pPr algn="l">
              <a:lnSpc>
                <a:spcPct val="105000"/>
              </a:lnSpc>
              <a:spcBef>
                <a:spcPts val="0"/>
              </a:spcBef>
              <a:spcAft>
                <a:spcPts val="1100"/>
              </a:spcAft>
            </a:pPr>
            <a:r>
              <a:rPr sz="1700" b="0" i="0">
                <a:solidFill>
                  <a:srgbClr val="1A1A1A"/>
                </a:solidFill>
                <a:latin typeface="Arial"/>
              </a:rPr>
              <a:t>Before it, bearish divergence </a:t>
            </a:r>
            <a:r>
              <a:rPr sz="1700" b="1" i="0">
                <a:solidFill>
                  <a:srgbClr val="1F5FAD"/>
                </a:solidFill>
                <a:latin typeface="Arial"/>
              </a:rPr>
              <a:t>(3)</a:t>
            </a:r>
            <a:r>
              <a:rPr sz="1700" b="0" i="0">
                <a:solidFill>
                  <a:srgbClr val="1A1A1A"/>
                </a:solidFill>
                <a:latin typeface="Arial"/>
              </a:rPr>
              <a:t>: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a circled high volume reversal bar at a short rally's top in late May, falling lines over volume and the MACD before it, and a continuation bar at X.</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Rectangle 15"/>
          <p:cNvSpPr/>
          <p:nvPr/>
        </p:nvSpPr>
        <p:spPr>
          <a:xfrm>
            <a:off x="10281037" y="3964988"/>
            <a:ext cx="634090" cy="407120"/>
          </a:xfrm>
          <a:prstGeom prst="rect">
            <a:avLst/>
          </a:prstGeom>
          <a:noFill/>
          <a:ln w="44450">
            <a:solidFill>
              <a:srgbClr val="1F5FAD"/>
            </a:solidFill>
          </a:ln>
        </p:spPr>
        <p:txBody>
          <a:bodyPr rtlCol="0" anchor="ctr"/>
          <a:lstStyle/>
          <a:p>
            <a:pPr algn="ctr"/>
          </a:p>
        </p:txBody>
      </p:sp>
      <p:sp>
        <p:nvSpPr>
          <p:cNvPr id="17" name="Oval 16"/>
          <p:cNvSpPr/>
          <p:nvPr/>
        </p:nvSpPr>
        <p:spPr>
          <a:xfrm>
            <a:off x="9985128" y="3863207"/>
            <a:ext cx="317045" cy="339267"/>
          </a:xfrm>
          <a:prstGeom prst="ellipse">
            <a:avLst/>
          </a:prstGeom>
          <a:noFill/>
          <a:ln w="44450">
            <a:solidFill>
              <a:srgbClr val="007A33"/>
            </a:solidFill>
          </a:ln>
        </p:spPr>
        <p:txBody>
          <a:bodyPr rtlCol="0" anchor="ctr"/>
          <a:lstStyle/>
          <a:p>
            <a:pPr algn="ctr"/>
          </a:p>
        </p:txBody>
      </p:sp>
      <p:sp>
        <p:nvSpPr>
          <p:cNvPr id="18" name="Oval 17"/>
          <p:cNvSpPr/>
          <p:nvPr/>
        </p:nvSpPr>
        <p:spPr>
          <a:xfrm>
            <a:off x="7631500" y="26221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94680" y="336849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25589" y="380954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829680" y="370775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Larger, or predominant, trend: the whole move, our reading; the book gives none. </a:t>
            </a:r>
            <a:r>
              <a:rPr sz="1600" b="1" i="0">
                <a:solidFill>
                  <a:srgbClr val="E09B00"/>
                </a:solidFill>
                <a:latin typeface="Arial"/>
              </a:rPr>
              <a:t>(1)</a:t>
            </a:r>
            <a:r>
              <a:rPr sz="1600" b="0" i="0">
                <a:solidFill>
                  <a:srgbClr val="1A1A1A"/>
                </a:solidFill>
                <a:latin typeface="Arial"/>
              </a:rPr>
              <a:t> Here, about 23.4 in January to 21.0 in May.</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The circled high volume reversal bar is bearish, with that fall: potentially more reliable. The book says the same of continuation bars.</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X, our reading: rising against the larger downtrend, the less reliable kind. Its rally lasted about two and a half weeks.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Ask which way the larger trend runs. The book gives no further reason.</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a circled high volume reversal bar at a short rally's top in late May, and a continuation bar at X in early May.</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Oval 15"/>
          <p:cNvSpPr/>
          <p:nvPr/>
        </p:nvSpPr>
        <p:spPr>
          <a:xfrm>
            <a:off x="9985128" y="3863207"/>
            <a:ext cx="317045" cy="339267"/>
          </a:xfrm>
          <a:prstGeom prst="ellipse">
            <a:avLst/>
          </a:prstGeom>
          <a:noFill/>
          <a:ln w="44450">
            <a:solidFill>
              <a:srgbClr val="1F5FAD"/>
            </a:solidFill>
          </a:ln>
        </p:spPr>
        <p:txBody>
          <a:bodyPr rtlCol="0" anchor="ctr"/>
          <a:lstStyle/>
          <a:p>
            <a:pPr algn="ctr"/>
          </a:p>
        </p:txBody>
      </p:sp>
      <p:sp>
        <p:nvSpPr>
          <p:cNvPr id="17" name="Oval 16"/>
          <p:cNvSpPr/>
          <p:nvPr/>
        </p:nvSpPr>
        <p:spPr>
          <a:xfrm>
            <a:off x="7631500" y="26221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94680" y="336849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829680" y="370775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levels read by eye, the larger trend read as the whole move, and X. The book does not define the larger trend.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23</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volume reaches the line across the volume panel </a:t>
            </a:r>
            <a:r>
              <a:rPr sz="1700" b="1" i="0">
                <a:solidFill>
                  <a:srgbClr val="C62828"/>
                </a:solidFill>
                <a:latin typeface="Arial"/>
              </a:rPr>
              <a:t>(2)</a:t>
            </a:r>
            <a:r>
              <a:rPr sz="1700" b="0" i="0">
                <a:solidFill>
                  <a:srgbClr val="1A1A1A"/>
                </a:solidFill>
                <a:latin typeface="Arial"/>
              </a:rPr>
              <a:t>,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a:t>
            </a:r>
            <a:r>
              <a:rPr sz="1700" b="1" i="0">
                <a:solidFill>
                  <a:srgbClr val="1F5FAD"/>
                </a:solidFill>
                <a:latin typeface="Arial"/>
              </a:rPr>
              <a:t>(3)</a:t>
            </a:r>
            <a:r>
              <a:rPr sz="1700" b="0" i="0">
                <a:solidFill>
                  <a:srgbClr val="1A1A1A"/>
                </a:solidFill>
                <a:latin typeface="Arial"/>
              </a:rPr>
              <a:t>.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766559" y="1810512"/>
            <a:ext cx="4647895" cy="23053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06758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161038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6.34</a:t>
            </a:r>
          </a:p>
          <a:p>
            <a:pPr algn="l">
              <a:lnSpc>
                <a:spcPct val="115000"/>
              </a:lnSpc>
              <a:spcBef>
                <a:spcPts val="0"/>
              </a:spcBef>
              <a:spcAft>
                <a:spcPts val="0"/>
              </a:spcAft>
            </a:pPr>
            <a:r>
              <a:rPr sz="13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p:txBody>
      </p:sp>
      <p:sp>
        <p:nvSpPr>
          <p:cNvPr id="14" name="Oval 13"/>
          <p:cNvSpPr/>
          <p:nvPr/>
        </p:nvSpPr>
        <p:spPr>
          <a:xfrm>
            <a:off x="10215096" y="3293987"/>
            <a:ext cx="396913" cy="537571"/>
          </a:xfrm>
          <a:prstGeom prst="ellipse">
            <a:avLst/>
          </a:prstGeom>
          <a:noFill/>
          <a:ln w="44450">
            <a:solidFill>
              <a:srgbClr val="E09B00"/>
            </a:solidFill>
          </a:ln>
        </p:spPr>
        <p:txBody>
          <a:bodyPr rtlCol="0" anchor="ctr"/>
          <a:lstStyle/>
          <a:p>
            <a:pPr algn="ctr"/>
          </a:p>
        </p:txBody>
      </p:sp>
      <p:cxnSp>
        <p:nvCxnSpPr>
          <p:cNvPr id="15" name="Connector 14"/>
          <p:cNvCxnSpPr/>
          <p:nvPr/>
        </p:nvCxnSpPr>
        <p:spPr>
          <a:xfrm>
            <a:off x="8825898" y="3387028"/>
            <a:ext cx="2160974" cy="0"/>
          </a:xfrm>
          <a:prstGeom prst="line">
            <a:avLst/>
          </a:prstGeom>
          <a:ln w="44450">
            <a:solidFill>
              <a:srgbClr val="C62828"/>
            </a:solidFill>
          </a:ln>
        </p:spPr>
      </p:cxnSp>
      <p:sp>
        <p:nvSpPr>
          <p:cNvPr id="16" name="Oval 15"/>
          <p:cNvSpPr/>
          <p:nvPr/>
        </p:nvSpPr>
        <p:spPr>
          <a:xfrm>
            <a:off x="9134609" y="3211284"/>
            <a:ext cx="926131" cy="392840"/>
          </a:xfrm>
          <a:prstGeom prst="ellipse">
            <a:avLst/>
          </a:prstGeom>
          <a:noFill/>
          <a:ln w="44450">
            <a:solidFill>
              <a:srgbClr val="1F5FAD"/>
            </a:solidFill>
          </a:ln>
        </p:spPr>
        <p:txBody>
          <a:bodyPr rtlCol="0" anchor="ctr"/>
          <a:lstStyle/>
          <a:p>
            <a:pPr algn="ctr"/>
          </a:p>
        </p:txBody>
      </p:sp>
      <p:sp>
        <p:nvSpPr>
          <p:cNvPr id="17" name="Oval 16"/>
          <p:cNvSpPr/>
          <p:nvPr/>
        </p:nvSpPr>
        <p:spPr>
          <a:xfrm>
            <a:off x="10059648" y="31385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831424" y="32315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979161" y="30558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766559" y="420727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a:t>
            </a:r>
            <a:r>
              <a:rPr sz="1700" b="1" i="0">
                <a:solidFill>
                  <a:srgbClr val="E09B00"/>
                </a:solidFill>
                <a:latin typeface="Arial"/>
              </a:rPr>
              <a:t>(1)</a:t>
            </a:r>
            <a:r>
              <a:rPr sz="1700" b="0" i="0">
                <a:solidFill>
                  <a:srgbClr val="1A1A1A"/>
                </a:solidFill>
                <a:latin typeface="Arial"/>
              </a:rPr>
              <a:t>, sellers taking control; a very tall bar </a:t>
            </a:r>
            <a:r>
              <a:rPr sz="1700" b="1" i="0">
                <a:solidFill>
                  <a:srgbClr val="C62828"/>
                </a:solidFill>
                <a:latin typeface="Arial"/>
              </a:rPr>
              <a:t>(2)</a:t>
            </a:r>
            <a:r>
              <a:rPr sz="1700" b="0" i="0">
                <a:solidFill>
                  <a:srgbClr val="1A1A1A"/>
                </a:solidFill>
                <a:latin typeface="Arial"/>
              </a:rPr>
              <a:t>,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2377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0000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5428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Left: a rise topped by a narrow bar on relatively high volume. Right: by a very tall bar on relatively low volume. Both bearish.</a:t>
            </a:r>
          </a:p>
        </p:txBody>
      </p:sp>
      <p:sp>
        <p:nvSpPr>
          <p:cNvPr id="14" name="Rectangle 13"/>
          <p:cNvSpPr/>
          <p:nvPr/>
        </p:nvSpPr>
        <p:spPr>
          <a:xfrm>
            <a:off x="7919705" y="2319386"/>
            <a:ext cx="344477" cy="345002"/>
          </a:xfrm>
          <a:prstGeom prst="rect">
            <a:avLst/>
          </a:prstGeom>
          <a:noFill/>
          <a:ln w="44450">
            <a:solidFill>
              <a:srgbClr val="E09B00"/>
            </a:solidFill>
          </a:ln>
        </p:spPr>
        <p:txBody>
          <a:bodyPr rtlCol="0" anchor="ctr"/>
          <a:lstStyle/>
          <a:p>
            <a:pPr algn="ctr"/>
          </a:p>
        </p:txBody>
      </p:sp>
      <p:sp>
        <p:nvSpPr>
          <p:cNvPr id="15" name="Rectangle 14"/>
          <p:cNvSpPr/>
          <p:nvPr/>
        </p:nvSpPr>
        <p:spPr>
          <a:xfrm>
            <a:off x="10537732" y="2079385"/>
            <a:ext cx="275581" cy="1650011"/>
          </a:xfrm>
          <a:prstGeom prst="rect">
            <a:avLst/>
          </a:prstGeom>
          <a:noFill/>
          <a:ln w="44450">
            <a:solidFill>
              <a:srgbClr val="C62828"/>
            </a:solidFill>
          </a:ln>
        </p:spPr>
        <p:txBody>
          <a:bodyPr rtlCol="0" anchor="ctr"/>
          <a:lstStyle/>
          <a:p>
            <a:pPr algn="ctr"/>
          </a:p>
        </p:txBody>
      </p:sp>
      <p:sp>
        <p:nvSpPr>
          <p:cNvPr id="16" name="Rectangle 15"/>
          <p:cNvSpPr/>
          <p:nvPr/>
        </p:nvSpPr>
        <p:spPr>
          <a:xfrm>
            <a:off x="7207785" y="4419400"/>
            <a:ext cx="1584595" cy="495003"/>
          </a:xfrm>
          <a:prstGeom prst="rect">
            <a:avLst/>
          </a:prstGeom>
          <a:noFill/>
          <a:ln w="44450">
            <a:solidFill>
              <a:srgbClr val="1F5FAD"/>
            </a:solidFill>
          </a:ln>
        </p:spPr>
        <p:txBody>
          <a:bodyPr rtlCol="0" anchor="ctr"/>
          <a:lstStyle/>
          <a:p>
            <a:pPr algn="ctr"/>
          </a:p>
        </p:txBody>
      </p:sp>
      <p:sp>
        <p:nvSpPr>
          <p:cNvPr id="17" name="Oval 16"/>
          <p:cNvSpPr/>
          <p:nvPr/>
        </p:nvSpPr>
        <p:spPr>
          <a:xfrm>
            <a:off x="7764257" y="21639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382284" y="192393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052337" y="426395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1397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Ours: every bar holds 100,000 shares; a usual bar spans PHP 1.00. That is 100,000 shares for each peso of range.</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A PHP 0.20 bar: 100,000 shares moved price 20 centavos, 500,000 a peso, five times usual. Figure 6.35's label: relatively high volume.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A PHP 4.00 bar: 100,000 shares moved price 4 pesos, 25,000 a peso, a quarter of usual. Its label: relatively low volume.</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Volume is fixed, so the range alone says if it was a lot or a little.</a:t>
            </a:r>
          </a:p>
        </p:txBody>
      </p:sp>
      <p:sp>
        <p:nvSpPr>
          <p:cNvPr id="10" name="Rectangle 9"/>
          <p:cNvSpPr/>
          <p:nvPr/>
        </p:nvSpPr>
        <p:spPr>
          <a:xfrm>
            <a:off x="6949440" y="1810512"/>
            <a:ext cx="4465014" cy="299886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276111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3039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1, left: a rise topped by a narrow bar labelled relatively high volume. 2, right: a rise topped by a very tall bar labelled relatively low volume.</a:t>
            </a:r>
          </a:p>
        </p:txBody>
      </p:sp>
      <p:sp>
        <p:nvSpPr>
          <p:cNvPr id="14" name="Rectangle 13"/>
          <p:cNvSpPr/>
          <p:nvPr/>
        </p:nvSpPr>
        <p:spPr>
          <a:xfrm>
            <a:off x="8188538" y="2288329"/>
            <a:ext cx="317045" cy="317528"/>
          </a:xfrm>
          <a:prstGeom prst="rect">
            <a:avLst/>
          </a:prstGeom>
          <a:noFill/>
          <a:ln w="44450">
            <a:solidFill>
              <a:srgbClr val="E09B00"/>
            </a:solidFill>
          </a:ln>
        </p:spPr>
        <p:txBody>
          <a:bodyPr rtlCol="0" anchor="ctr"/>
          <a:lstStyle/>
          <a:p>
            <a:pPr algn="ctr"/>
          </a:p>
        </p:txBody>
      </p:sp>
      <p:sp>
        <p:nvSpPr>
          <p:cNvPr id="15" name="Rectangle 14"/>
          <p:cNvSpPr/>
          <p:nvPr/>
        </p:nvSpPr>
        <p:spPr>
          <a:xfrm>
            <a:off x="10598083" y="2067439"/>
            <a:ext cx="253636" cy="1518614"/>
          </a:xfrm>
          <a:prstGeom prst="rect">
            <a:avLst/>
          </a:prstGeom>
          <a:noFill/>
          <a:ln w="44450">
            <a:solidFill>
              <a:srgbClr val="C62828"/>
            </a:solidFill>
          </a:ln>
        </p:spPr>
        <p:txBody>
          <a:bodyPr rtlCol="0" anchor="ctr"/>
          <a:lstStyle/>
          <a:p>
            <a:pPr algn="ctr"/>
          </a:p>
        </p:txBody>
      </p:sp>
      <p:sp>
        <p:nvSpPr>
          <p:cNvPr id="16" name="Oval 15"/>
          <p:cNvSpPr/>
          <p:nvPr/>
        </p:nvSpPr>
        <p:spPr>
          <a:xfrm>
            <a:off x="8033090" y="213288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42635" y="19119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4900813"/>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6035040" cy="2176271"/>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371600"/>
            <a:ext cx="55778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618488"/>
            <a:ext cx="5577840" cy="441959"/>
          </a:xfrm>
          <a:prstGeom prst="rect">
            <a:avLst/>
          </a:prstGeom>
          <a:noFill/>
        </p:spPr>
        <p:txBody>
          <a:bodyPr wrap="square" anchor="t" lIns="0" rIns="0" tIns="0" bIns="0">
            <a:spAutoFit/>
          </a:bodyPr>
          <a:lstStyle/>
          <a:p>
            <a:pPr algn="l">
              <a:lnSpc>
                <a:spcPct val="115000"/>
              </a:lnSpc>
              <a:spcBef>
                <a:spcPts val="0"/>
              </a:spcBef>
              <a:spcAft>
                <a:spcPts val="0"/>
              </a:spcAft>
            </a:pPr>
            <a:r>
              <a:rPr sz="1200" b="1" i="0">
                <a:solidFill>
                  <a:srgbClr val="FFFFFF"/>
                </a:solidFill>
                <a:latin typeface="Arial"/>
              </a:rPr>
              <a:t>Why is the high volume reversal bar of Figure 6.33 regarded as potentially more reliable?</a:t>
            </a:r>
          </a:p>
        </p:txBody>
      </p:sp>
      <p:sp>
        <p:nvSpPr>
          <p:cNvPr id="9" name="TextBox 8"/>
          <p:cNvSpPr txBox="1"/>
          <p:nvPr/>
        </p:nvSpPr>
        <p:spPr>
          <a:xfrm>
            <a:off x="1005840" y="2133600"/>
            <a:ext cx="5577840" cy="1277111"/>
          </a:xfrm>
          <a:prstGeom prst="rect">
            <a:avLst/>
          </a:prstGeom>
          <a:noFill/>
        </p:spPr>
        <p:txBody>
          <a:bodyPr wrap="square" anchor="t" lIns="0" rIns="0" tIns="0" bIns="0">
            <a:spAutoFit/>
          </a:bodyPr>
          <a:lstStyle/>
          <a:p>
            <a:pPr algn="l">
              <a:lnSpc>
                <a:spcPct val="112000"/>
              </a:lnSpc>
              <a:spcBef>
                <a:spcPts val="0"/>
              </a:spcBef>
              <a:spcAft>
                <a:spcPts val="600"/>
              </a:spcAft>
            </a:pPr>
            <a:r>
              <a:rPr sz="1200" b="0" i="0">
                <a:solidFill>
                  <a:srgbClr val="FFFFFF"/>
                </a:solidFill>
                <a:latin typeface="Arial"/>
              </a:rPr>
              <a:t>A.  It formed on a constant volume chart</a:t>
            </a:r>
          </a:p>
          <a:p>
            <a:pPr algn="l">
              <a:lnSpc>
                <a:spcPct val="112000"/>
              </a:lnSpc>
              <a:spcBef>
                <a:spcPts val="0"/>
              </a:spcBef>
              <a:spcAft>
                <a:spcPts val="600"/>
              </a:spcAft>
            </a:pPr>
            <a:r>
              <a:rPr sz="1200" b="0" i="0">
                <a:solidFill>
                  <a:srgbClr val="FFFFFF"/>
                </a:solidFill>
                <a:latin typeface="Arial"/>
              </a:rPr>
              <a:t>B.  It formed within a larger downtrend</a:t>
            </a:r>
          </a:p>
          <a:p>
            <a:pPr algn="l">
              <a:lnSpc>
                <a:spcPct val="112000"/>
              </a:lnSpc>
              <a:spcBef>
                <a:spcPts val="0"/>
              </a:spcBef>
              <a:spcAft>
                <a:spcPts val="600"/>
              </a:spcAft>
            </a:pPr>
            <a:r>
              <a:rPr sz="1200" b="0" i="0">
                <a:solidFill>
                  <a:srgbClr val="FFFFFF"/>
                </a:solidFill>
                <a:latin typeface="Arial"/>
              </a:rPr>
              <a:t>C.  Its volume was the lowest of the year</a:t>
            </a:r>
          </a:p>
          <a:p>
            <a:pPr algn="l">
              <a:lnSpc>
                <a:spcPct val="112000"/>
              </a:lnSpc>
              <a:spcBef>
                <a:spcPts val="0"/>
              </a:spcBef>
              <a:spcAft>
                <a:spcPts val="600"/>
              </a:spcAft>
            </a:pPr>
            <a:r>
              <a:rPr sz="1200" b="0" i="0">
                <a:solidFill>
                  <a:srgbClr val="FFFFFF"/>
                </a:solidFill>
                <a:latin typeface="Arial"/>
              </a:rPr>
              <a:t>D.  It formed on flat volume</a:t>
            </a:r>
          </a:p>
        </p:txBody>
      </p:sp>
      <p:sp>
        <p:nvSpPr>
          <p:cNvPr id="10" name="Rectangle 9"/>
          <p:cNvSpPr/>
          <p:nvPr/>
        </p:nvSpPr>
        <p:spPr>
          <a:xfrm>
            <a:off x="777240" y="3547872"/>
            <a:ext cx="6035040" cy="2001011"/>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712463"/>
            <a:ext cx="55778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959352"/>
            <a:ext cx="5577840" cy="266699"/>
          </a:xfrm>
          <a:prstGeom prst="rect">
            <a:avLst/>
          </a:prstGeom>
          <a:noFill/>
        </p:spPr>
        <p:txBody>
          <a:bodyPr wrap="square" anchor="t" lIns="0" rIns="0" tIns="0" bIns="0">
            <a:spAutoFit/>
          </a:bodyPr>
          <a:lstStyle/>
          <a:p>
            <a:pPr algn="l">
              <a:lnSpc>
                <a:spcPct val="115000"/>
              </a:lnSpc>
              <a:spcBef>
                <a:spcPts val="0"/>
              </a:spcBef>
              <a:spcAft>
                <a:spcPts val="0"/>
              </a:spcAft>
            </a:pPr>
            <a:r>
              <a:rPr sz="1200" b="1" i="0">
                <a:solidFill>
                  <a:srgbClr val="FFFFFF"/>
                </a:solidFill>
                <a:latin typeface="Arial"/>
              </a:rPr>
              <a:t>On a constant volume chart, potential reversal bars are found from:</a:t>
            </a:r>
          </a:p>
        </p:txBody>
      </p:sp>
      <p:sp>
        <p:nvSpPr>
          <p:cNvPr id="13" name="TextBox 12"/>
          <p:cNvSpPr txBox="1"/>
          <p:nvPr/>
        </p:nvSpPr>
        <p:spPr>
          <a:xfrm>
            <a:off x="1005840" y="4299204"/>
            <a:ext cx="5577840" cy="1277111"/>
          </a:xfrm>
          <a:prstGeom prst="rect">
            <a:avLst/>
          </a:prstGeom>
          <a:noFill/>
        </p:spPr>
        <p:txBody>
          <a:bodyPr wrap="square" anchor="t" lIns="0" rIns="0" tIns="0" bIns="0">
            <a:spAutoFit/>
          </a:bodyPr>
          <a:lstStyle/>
          <a:p>
            <a:pPr algn="l">
              <a:lnSpc>
                <a:spcPct val="112000"/>
              </a:lnSpc>
              <a:spcBef>
                <a:spcPts val="0"/>
              </a:spcBef>
              <a:spcAft>
                <a:spcPts val="600"/>
              </a:spcAft>
            </a:pPr>
            <a:r>
              <a:rPr sz="1200" b="0" i="0">
                <a:solidFill>
                  <a:srgbClr val="FFFFFF"/>
                </a:solidFill>
                <a:latin typeface="Arial"/>
              </a:rPr>
              <a:t>A.  The volume bars alone</a:t>
            </a:r>
          </a:p>
          <a:p>
            <a:pPr algn="l">
              <a:lnSpc>
                <a:spcPct val="112000"/>
              </a:lnSpc>
              <a:spcBef>
                <a:spcPts val="0"/>
              </a:spcBef>
              <a:spcAft>
                <a:spcPts val="600"/>
              </a:spcAft>
            </a:pPr>
            <a:r>
              <a:rPr sz="1200" b="0" i="0">
                <a:solidFill>
                  <a:srgbClr val="FFFFFF"/>
                </a:solidFill>
                <a:latin typeface="Arial"/>
              </a:rPr>
              <a:t>B.  The time axis</a:t>
            </a:r>
          </a:p>
          <a:p>
            <a:pPr algn="l">
              <a:lnSpc>
                <a:spcPct val="112000"/>
              </a:lnSpc>
              <a:spcBef>
                <a:spcPts val="0"/>
              </a:spcBef>
              <a:spcAft>
                <a:spcPts val="600"/>
              </a:spcAft>
            </a:pPr>
            <a:r>
              <a:rPr sz="1200" b="0" i="0">
                <a:solidFill>
                  <a:srgbClr val="FFFFFF"/>
                </a:solidFill>
                <a:latin typeface="Arial"/>
              </a:rPr>
              <a:t>C.  The open interest</a:t>
            </a:r>
          </a:p>
          <a:p>
            <a:pPr algn="l">
              <a:lnSpc>
                <a:spcPct val="112000"/>
              </a:lnSpc>
              <a:spcBef>
                <a:spcPts val="0"/>
              </a:spcBef>
              <a:spcAft>
                <a:spcPts val="600"/>
              </a:spcAft>
            </a:pPr>
            <a:r>
              <a:rPr sz="1200" b="0" i="0">
                <a:solidFill>
                  <a:srgbClr val="FFFFFF"/>
                </a:solidFill>
                <a:latin typeface="Arial"/>
              </a:rPr>
              <a:t>D.  The bar range alone and its height against the rest</a:t>
            </a:r>
          </a:p>
        </p:txBody>
      </p:sp>
      <p:sp>
        <p:nvSpPr>
          <p:cNvPr id="14" name="Rectangle 13"/>
          <p:cNvSpPr/>
          <p:nvPr/>
        </p:nvSpPr>
        <p:spPr>
          <a:xfrm>
            <a:off x="7132319" y="1207008"/>
            <a:ext cx="4282135" cy="348364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1325880"/>
            <a:ext cx="4044391" cy="324589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1325880"/>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1600200"/>
            <a:ext cx="3495751" cy="278869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with a circled high volume reversal bar at a short rally's top in late May.</a:t>
            </a:r>
          </a:p>
        </p:txBody>
      </p:sp>
      <p:sp>
        <p:nvSpPr>
          <p:cNvPr id="18" name="Oval 17"/>
          <p:cNvSpPr/>
          <p:nvPr/>
        </p:nvSpPr>
        <p:spPr>
          <a:xfrm>
            <a:off x="10486704" y="2851452"/>
            <a:ext cx="485326" cy="389507"/>
          </a:xfrm>
          <a:prstGeom prst="ellipse">
            <a:avLst/>
          </a:prstGeom>
          <a:noFill/>
          <a:ln w="44450">
            <a:solidFill>
              <a:srgbClr val="E09B00"/>
            </a:solidFill>
          </a:ln>
        </p:spPr>
        <p:txBody>
          <a:bodyPr rtlCol="0" anchor="ctr"/>
          <a:lstStyle/>
          <a:p>
            <a:pPr algn="ctr"/>
          </a:p>
        </p:txBody>
      </p:sp>
      <p:sp>
        <p:nvSpPr>
          <p:cNvPr id="19" name="Oval 18"/>
          <p:cNvSpPr/>
          <p:nvPr/>
        </p:nvSpPr>
        <p:spPr>
          <a:xfrm>
            <a:off x="10331256" y="26960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47820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6035040" cy="1870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0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5486400"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Q1   Why is the high volume reversal bar of Figure 6.33 regarded as potentially more reliable?</a:t>
            </a:r>
          </a:p>
        </p:txBody>
      </p:sp>
      <p:sp>
        <p:nvSpPr>
          <p:cNvPr id="9" name="TextBox 8"/>
          <p:cNvSpPr txBox="1"/>
          <p:nvPr/>
        </p:nvSpPr>
        <p:spPr>
          <a:xfrm>
            <a:off x="1097280" y="2010918"/>
            <a:ext cx="5486400" cy="106679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It formed within a larger downtrend</a:t>
            </a:r>
          </a:p>
          <a:p>
            <a:pPr algn="l">
              <a:lnSpc>
                <a:spcPct val="115000"/>
              </a:lnSpc>
              <a:spcBef>
                <a:spcPts val="500"/>
              </a:spcBef>
              <a:spcAft>
                <a:spcPts val="0"/>
              </a:spcAft>
            </a:pPr>
            <a:r>
              <a:rPr sz="15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260598"/>
            <a:ext cx="6035040" cy="2133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260598"/>
            <a:ext cx="91440" cy="21336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443478"/>
            <a:ext cx="5486400" cy="529590"/>
          </a:xfrm>
          <a:prstGeom prst="rect">
            <a:avLst/>
          </a:prstGeom>
          <a:noFill/>
        </p:spPr>
        <p:txBody>
          <a:bodyPr wrap="square" anchor="t" lIns="0" rIns="0" tIns="0" bIns="0">
            <a:spAutoFit/>
          </a:bodyPr>
          <a:lstStyle/>
          <a:p>
            <a:pPr algn="l">
              <a:lnSpc>
                <a:spcPct val="115000"/>
              </a:lnSpc>
              <a:spcBef>
                <a:spcPts val="0"/>
              </a:spcBef>
              <a:spcAft>
                <a:spcPts val="0"/>
              </a:spcAft>
            </a:pPr>
            <a:r>
              <a:rPr sz="1500" b="0" i="0">
                <a:solidFill>
                  <a:srgbClr val="818181"/>
                </a:solidFill>
                <a:latin typeface="Arial"/>
              </a:rPr>
              <a:t>Q2   On a constant volume chart, potential reversal bars are found from:</a:t>
            </a:r>
          </a:p>
        </p:txBody>
      </p:sp>
      <p:sp>
        <p:nvSpPr>
          <p:cNvPr id="13" name="TextBox 12"/>
          <p:cNvSpPr txBox="1"/>
          <p:nvPr/>
        </p:nvSpPr>
        <p:spPr>
          <a:xfrm>
            <a:off x="1097280" y="4064508"/>
            <a:ext cx="5486400" cy="13296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bar range alone and its height against the rest</a:t>
            </a:r>
          </a:p>
          <a:p>
            <a:pPr algn="l">
              <a:lnSpc>
                <a:spcPct val="115000"/>
              </a:lnSpc>
              <a:spcBef>
                <a:spcPts val="500"/>
              </a:spcBef>
              <a:spcAft>
                <a:spcPts val="0"/>
              </a:spcAft>
            </a:pPr>
            <a:r>
              <a:rPr sz="1500" b="0" i="0">
                <a:solidFill>
                  <a:srgbClr val="1A1A1A"/>
                </a:solidFill>
                <a:latin typeface="Arial"/>
              </a:rPr>
              <a:t>Volume is fixed for each bar, so reversal bars are identified by bar range and height alone.</a:t>
            </a:r>
          </a:p>
        </p:txBody>
      </p:sp>
      <p:sp>
        <p:nvSpPr>
          <p:cNvPr id="14" name="Rectangle 13"/>
          <p:cNvSpPr/>
          <p:nvPr/>
        </p:nvSpPr>
        <p:spPr>
          <a:xfrm>
            <a:off x="7132319" y="1207008"/>
            <a:ext cx="4282135" cy="348364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1325880"/>
            <a:ext cx="4044391" cy="324589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1325880"/>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1600200"/>
            <a:ext cx="3495751" cy="278869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with a circled high volume reversal bar at a short rally's top in late May.</a:t>
            </a:r>
          </a:p>
        </p:txBody>
      </p:sp>
      <p:sp>
        <p:nvSpPr>
          <p:cNvPr id="18" name="Oval 17"/>
          <p:cNvSpPr/>
          <p:nvPr/>
        </p:nvSpPr>
        <p:spPr>
          <a:xfrm>
            <a:off x="10486704" y="2851452"/>
            <a:ext cx="485326" cy="389507"/>
          </a:xfrm>
          <a:prstGeom prst="ellipse">
            <a:avLst/>
          </a:prstGeom>
          <a:noFill/>
          <a:ln w="44450">
            <a:solidFill>
              <a:srgbClr val="E09B00"/>
            </a:solidFill>
          </a:ln>
        </p:spPr>
        <p:txBody>
          <a:bodyPr rtlCol="0" anchor="ctr"/>
          <a:lstStyle/>
          <a:p>
            <a:pPr algn="ctr"/>
          </a:p>
        </p:txBody>
      </p:sp>
      <p:sp>
        <p:nvSpPr>
          <p:cNvPr id="19" name="Oval 18"/>
          <p:cNvSpPr/>
          <p:nvPr/>
        </p:nvSpPr>
        <p:spPr>
          <a:xfrm>
            <a:off x="10331256" y="269600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47820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a:t>
            </a:r>
            <a:r>
              <a:rPr sz="1700" b="1" i="0">
                <a:solidFill>
                  <a:srgbClr val="E09B00"/>
                </a:solidFill>
                <a:latin typeface="Arial"/>
              </a:rPr>
              <a:t>(1)</a:t>
            </a:r>
            <a:r>
              <a:rPr sz="1700" b="0" i="0">
                <a:solidFill>
                  <a:srgbClr val="1A1A1A"/>
                </a:solidFill>
                <a:latin typeface="Arial"/>
              </a:rPr>
              <a:t>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a:t>
            </a:r>
            <a:r>
              <a:rPr sz="1700" b="1" i="0">
                <a:solidFill>
                  <a:srgbClr val="C62828"/>
                </a:solidFill>
                <a:latin typeface="Arial"/>
              </a:rPr>
              <a:t>(2)</a:t>
            </a:r>
            <a:r>
              <a:rPr sz="1700" b="0" i="0">
                <a:solidFill>
                  <a:srgbClr val="1A1A1A"/>
                </a:solidFill>
                <a:latin typeface="Arial"/>
              </a:rPr>
              <a:t>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9633935" y="3088111"/>
            <a:ext cx="396483" cy="351129"/>
          </a:xfrm>
          <a:prstGeom prst="ellipse">
            <a:avLst/>
          </a:prstGeom>
          <a:noFill/>
          <a:ln w="44450">
            <a:solidFill>
              <a:srgbClr val="E09B00"/>
            </a:solidFill>
          </a:ln>
        </p:spPr>
        <p:txBody>
          <a:bodyPr rtlCol="0" anchor="ctr"/>
          <a:lstStyle/>
          <a:p>
            <a:pPr algn="ctr"/>
          </a:p>
        </p:txBody>
      </p:sp>
      <p:sp>
        <p:nvSpPr>
          <p:cNvPr id="13" name="Rectangle 12"/>
          <p:cNvSpPr/>
          <p:nvPr/>
        </p:nvSpPr>
        <p:spPr>
          <a:xfrm>
            <a:off x="10253441" y="4106387"/>
            <a:ext cx="941649" cy="912936"/>
          </a:xfrm>
          <a:prstGeom prst="rect">
            <a:avLst/>
          </a:prstGeom>
          <a:noFill/>
          <a:ln w="44450">
            <a:solidFill>
              <a:srgbClr val="C62828"/>
            </a:solidFill>
          </a:ln>
        </p:spPr>
        <p:txBody>
          <a:bodyPr rtlCol="0" anchor="ctr"/>
          <a:lstStyle/>
          <a:p>
            <a:pPr algn="ctr"/>
          </a:p>
        </p:txBody>
      </p:sp>
      <p:sp>
        <p:nvSpPr>
          <p:cNvPr id="14" name="Oval 13"/>
          <p:cNvSpPr/>
          <p:nvPr/>
        </p:nvSpPr>
        <p:spPr>
          <a:xfrm>
            <a:off x="9478487" y="29326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39642" y="486387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Ours: a usual day trades 1.3 million. </a:t>
            </a:r>
            <a:r>
              <a:rPr sz="1600" b="1" i="0">
                <a:solidFill>
                  <a:srgbClr val="E09B00"/>
                </a:solidFill>
                <a:latin typeface="Arial"/>
              </a:rPr>
              <a:t>(1)</a:t>
            </a:r>
            <a:r>
              <a:rPr sz="1600" b="0" i="0">
                <a:solidFill>
                  <a:srgbClr val="1A1A1A"/>
                </a:solidFill>
                <a:latin typeface="Arial"/>
              </a:rPr>
              <a:t> Price closes PHP 0.80 above a two-month falling trendline, </a:t>
            </a:r>
            <a:r>
              <a:rPr sz="1600" b="1" i="0">
                <a:solidFill>
                  <a:srgbClr val="C62828"/>
                </a:solidFill>
                <a:latin typeface="Arial"/>
              </a:rPr>
              <a:t>(2)</a:t>
            </a:r>
            <a:r>
              <a:rPr sz="1600" b="0" i="0">
                <a:solidFill>
                  <a:srgbClr val="1A1A1A"/>
                </a:solidFill>
                <a:latin typeface="Arial"/>
              </a:rPr>
              <a:t> on 1.3 million: an ordinary day.</a:t>
            </a:r>
          </a:p>
          <a:p>
            <a:pPr algn="l">
              <a:lnSpc>
                <a:spcPct val="105000"/>
              </a:lnSpc>
              <a:spcBef>
                <a:spcPts val="0"/>
              </a:spcBef>
              <a:spcAft>
                <a:spcPts val="1100"/>
              </a:spcAft>
            </a:pPr>
            <a:r>
              <a:rPr sz="1600" b="0" i="0">
                <a:solidFill>
                  <a:srgbClr val="1A1A1A"/>
                </a:solidFill>
                <a:latin typeface="Arial"/>
              </a:rPr>
              <a:t>By volume alone, nothing happened. But the break shows on every chart: </a:t>
            </a:r>
            <a:r>
              <a:rPr sz="1600" b="1" i="0">
                <a:solidFill>
                  <a:srgbClr val="1F5FAD"/>
                </a:solidFill>
                <a:latin typeface="Arial"/>
              </a:rPr>
              <a:t>(3)</a:t>
            </a:r>
            <a:r>
              <a:rPr sz="1600" b="0" i="0">
                <a:solidFill>
                  <a:srgbClr val="1A1A1A"/>
                </a:solidFill>
                <a:latin typeface="Arial"/>
              </a:rPr>
              <a:t> days later, 3 million trade.</a:t>
            </a:r>
          </a:p>
          <a:p>
            <a:pPr algn="l">
              <a:lnSpc>
                <a:spcPct val="105000"/>
              </a:lnSpc>
              <a:spcBef>
                <a:spcPts val="0"/>
              </a:spcBef>
              <a:spcAft>
                <a:spcPts val="1100"/>
              </a:spcAft>
            </a:pPr>
            <a:r>
              <a:rPr sz="1600" b="0" i="0">
                <a:solidFill>
                  <a:srgbClr val="1A1A1A"/>
                </a:solidFill>
                <a:latin typeface="Arial"/>
              </a:rPr>
              <a:t>So light volume on a break does not cancel it: watch whether volume follows. The book gives no rule for how long to wait.</a:t>
            </a:r>
          </a:p>
        </p:txBody>
      </p:sp>
      <p:sp>
        <p:nvSpPr>
          <p:cNvPr id="8" name="Rectangle 7"/>
          <p:cNvSpPr/>
          <p:nvPr/>
        </p:nvSpPr>
        <p:spPr>
          <a:xfrm>
            <a:off x="777240" y="4709160"/>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Volume can follow the signal, and more often now, the book says: technical analysis is widely used.</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e.png"/>
          <p:cNvPicPr>
            <a:picLocks noChangeAspect="1"/>
          </p:cNvPicPr>
          <p:nvPr/>
        </p:nvPicPr>
        <p:blipFill>
          <a:blip r:embed="rId2"/>
          <a:stretch>
            <a:fillRect/>
          </a:stretch>
        </p:blipFill>
        <p:spPr>
          <a:xfrm>
            <a:off x="7069683" y="1929384"/>
            <a:ext cx="4224528" cy="3511296"/>
          </a:xfrm>
          <a:prstGeom prst="rect">
            <a:avLst/>
          </a:prstGeom>
        </p:spPr>
      </p:pic>
      <p:sp>
        <p:nvSpPr>
          <p:cNvPr id="12" name="Oval 11"/>
          <p:cNvSpPr/>
          <p:nvPr/>
        </p:nvSpPr>
        <p:spPr>
          <a:xfrm>
            <a:off x="9900117" y="3052998"/>
            <a:ext cx="380207" cy="386242"/>
          </a:xfrm>
          <a:prstGeom prst="ellipse">
            <a:avLst/>
          </a:prstGeom>
          <a:noFill/>
          <a:ln w="44450">
            <a:solidFill>
              <a:srgbClr val="E09B00"/>
            </a:solidFill>
          </a:ln>
        </p:spPr>
        <p:txBody>
          <a:bodyPr rtlCol="0" anchor="ctr"/>
          <a:lstStyle/>
          <a:p>
            <a:pPr algn="ctr"/>
          </a:p>
        </p:txBody>
      </p:sp>
      <p:sp>
        <p:nvSpPr>
          <p:cNvPr id="13" name="Rectangle 12"/>
          <p:cNvSpPr/>
          <p:nvPr/>
        </p:nvSpPr>
        <p:spPr>
          <a:xfrm>
            <a:off x="9942362" y="4492630"/>
            <a:ext cx="211226" cy="526694"/>
          </a:xfrm>
          <a:prstGeom prst="rect">
            <a:avLst/>
          </a:prstGeom>
          <a:noFill/>
          <a:ln w="44450">
            <a:solidFill>
              <a:srgbClr val="C62828"/>
            </a:solidFill>
          </a:ln>
        </p:spPr>
        <p:txBody>
          <a:bodyPr rtlCol="0" anchor="ctr"/>
          <a:lstStyle/>
          <a:p>
            <a:pPr algn="ctr"/>
          </a:p>
        </p:txBody>
      </p:sp>
      <p:sp>
        <p:nvSpPr>
          <p:cNvPr id="14" name="Rectangle 13"/>
          <p:cNvSpPr/>
          <p:nvPr/>
        </p:nvSpPr>
        <p:spPr>
          <a:xfrm>
            <a:off x="10428183" y="4106387"/>
            <a:ext cx="739292" cy="912936"/>
          </a:xfrm>
          <a:prstGeom prst="rect">
            <a:avLst/>
          </a:prstGeom>
          <a:noFill/>
          <a:ln w="44450">
            <a:solidFill>
              <a:srgbClr val="1F5FAD"/>
            </a:solidFill>
          </a:ln>
        </p:spPr>
        <p:txBody>
          <a:bodyPr rtlCol="0" anchor="ctr"/>
          <a:lstStyle/>
          <a:p>
            <a:pPr algn="ctr"/>
          </a:p>
        </p:txBody>
      </p:sp>
      <p:sp>
        <p:nvSpPr>
          <p:cNvPr id="15" name="Oval 14"/>
          <p:cNvSpPr/>
          <p:nvPr/>
        </p:nvSpPr>
        <p:spPr>
          <a:xfrm>
            <a:off x="9744669" y="28975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786914" y="433718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1012027" y="486387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JE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and the chart, Chart AK's line with its numbers. The book gives no test for when a light volume signal will draw volume in.</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a:t>
            </a:r>
            <a:r>
              <a:rPr sz="1700" b="1" i="0">
                <a:solidFill>
                  <a:srgbClr val="E09B00"/>
                </a:solidFill>
                <a:latin typeface="Arial"/>
              </a:rPr>
              <a:t>(1)</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a continuation at </a:t>
            </a:r>
            <a:r>
              <a:rPr sz="1700" b="1" i="0">
                <a:solidFill>
                  <a:srgbClr val="C62828"/>
                </a:solidFill>
                <a:latin typeface="Arial"/>
              </a:rPr>
              <a:t>(2)</a:t>
            </a:r>
            <a:r>
              <a:rPr sz="1700" b="0" i="0">
                <a:solidFill>
                  <a:srgbClr val="1A1A1A"/>
                </a:solidFill>
                <a:latin typeface="Arial"/>
              </a:rPr>
              <a:t>.</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Oval 15"/>
          <p:cNvSpPr/>
          <p:nvPr/>
        </p:nvSpPr>
        <p:spPr>
          <a:xfrm>
            <a:off x="8101309" y="3400013"/>
            <a:ext cx="323331" cy="348020"/>
          </a:xfrm>
          <a:prstGeom prst="ellipse">
            <a:avLst/>
          </a:prstGeom>
          <a:noFill/>
          <a:ln w="44450">
            <a:solidFill>
              <a:srgbClr val="E09B00"/>
            </a:solidFill>
          </a:ln>
        </p:spPr>
        <p:txBody>
          <a:bodyPr rtlCol="0" anchor="ctr"/>
          <a:lstStyle/>
          <a:p>
            <a:pPr algn="ctr"/>
          </a:p>
        </p:txBody>
      </p:sp>
      <p:sp>
        <p:nvSpPr>
          <p:cNvPr id="17" name="Oval 16"/>
          <p:cNvSpPr/>
          <p:nvPr/>
        </p:nvSpPr>
        <p:spPr>
          <a:xfrm>
            <a:off x="9131929" y="2877982"/>
            <a:ext cx="323331" cy="316382"/>
          </a:xfrm>
          <a:prstGeom prst="ellipse">
            <a:avLst/>
          </a:prstGeom>
          <a:noFill/>
          <a:ln w="44450">
            <a:solidFill>
              <a:srgbClr val="C62828"/>
            </a:solidFill>
          </a:ln>
        </p:spPr>
        <p:txBody>
          <a:bodyPr rtlCol="0" anchor="ctr"/>
          <a:lstStyle/>
          <a:p>
            <a:pPr algn="ctr"/>
          </a:p>
        </p:txBody>
      </p:sp>
      <p:sp>
        <p:nvSpPr>
          <p:cNvPr id="18" name="Oval 17"/>
          <p:cNvSpPr/>
          <p:nvPr/>
        </p:nvSpPr>
        <p:spPr>
          <a:xfrm>
            <a:off x="10485881" y="2529961"/>
            <a:ext cx="323331" cy="348020"/>
          </a:xfrm>
          <a:prstGeom prst="ellipse">
            <a:avLst/>
          </a:prstGeom>
          <a:noFill/>
          <a:ln w="44450">
            <a:solidFill>
              <a:srgbClr val="1F5FAD"/>
            </a:solidFill>
          </a:ln>
        </p:spPr>
        <p:txBody>
          <a:bodyPr rtlCol="0" anchor="ctr"/>
          <a:lstStyle/>
          <a:p>
            <a:pPr algn="ctr"/>
          </a:p>
        </p:txBody>
      </p:sp>
      <p:sp>
        <p:nvSpPr>
          <p:cNvPr id="19" name="Oval 18"/>
          <p:cNvSpPr/>
          <p:nvPr/>
        </p:nvSpPr>
        <p:spPr>
          <a:xfrm>
            <a:off x="7945861" y="32445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6481" y="27225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330433" y="237451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TextBox 2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Follow the solid line down from Market bottom </a:t>
            </a:r>
            <a:r>
              <a:rPr sz="1800" b="1" i="0">
                <a:solidFill>
                  <a:srgbClr val="E09B00"/>
                </a:solidFill>
                <a:latin typeface="Arial"/>
              </a:rPr>
              <a:t>(1)</a:t>
            </a:r>
            <a:r>
              <a:rPr sz="1800" b="0" i="0">
                <a:solidFill>
                  <a:srgbClr val="1A1A1A"/>
                </a:solidFill>
                <a:latin typeface="Arial"/>
              </a:rPr>
              <a:t>: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a:t>
            </a:r>
            <a:r>
              <a:rPr sz="1800" b="1" i="0">
                <a:solidFill>
                  <a:srgbClr val="1F5FAD"/>
                </a:solidFill>
                <a:latin typeface="Arial"/>
              </a:rPr>
              <a:t>(3)</a:t>
            </a:r>
            <a:r>
              <a:rPr sz="1800" b="0" i="0">
                <a:solidFill>
                  <a:srgbClr val="1A1A1A"/>
                </a:solidFill>
                <a:latin typeface="Arial"/>
              </a:rPr>
              <a:t>: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259556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5781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9006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6.36</a:t>
            </a:r>
          </a:p>
          <a:p>
            <a:pPr algn="l">
              <a:lnSpc>
                <a:spcPct val="115000"/>
              </a:lnSpc>
              <a:spcBef>
                <a:spcPts val="0"/>
              </a:spcBef>
              <a:spcAft>
                <a:spcPts val="0"/>
              </a:spcAft>
            </a:pPr>
            <a:r>
              <a:rPr sz="1500" b="0" i="0">
                <a:solidFill>
                  <a:srgbClr val="1A1A1A"/>
                </a:solidFill>
                <a:latin typeface="Palatino"/>
              </a:rPr>
              <a:t>A 30-minute EURUSD chart over weeks, with support and resistance lines, a triangle and a channel, over daily volume cycles; price turns at the peaks.</a:t>
            </a:r>
          </a:p>
        </p:txBody>
      </p:sp>
      <p:sp>
        <p:nvSpPr>
          <p:cNvPr id="14" name="Oval 13"/>
          <p:cNvSpPr/>
          <p:nvPr/>
        </p:nvSpPr>
        <p:spPr>
          <a:xfrm>
            <a:off x="8287147" y="3461966"/>
            <a:ext cx="367442" cy="235781"/>
          </a:xfrm>
          <a:prstGeom prst="ellipse">
            <a:avLst/>
          </a:prstGeom>
          <a:noFill/>
          <a:ln w="44450">
            <a:solidFill>
              <a:srgbClr val="E09B00"/>
            </a:solidFill>
          </a:ln>
        </p:spPr>
        <p:txBody>
          <a:bodyPr rtlCol="0" anchor="ctr"/>
          <a:lstStyle/>
          <a:p>
            <a:pPr algn="ctr"/>
          </a:p>
        </p:txBody>
      </p:sp>
      <p:sp>
        <p:nvSpPr>
          <p:cNvPr id="15" name="Rectangle 14"/>
          <p:cNvSpPr/>
          <p:nvPr/>
        </p:nvSpPr>
        <p:spPr>
          <a:xfrm>
            <a:off x="6794412" y="3886373"/>
            <a:ext cx="4409309" cy="341883"/>
          </a:xfrm>
          <a:prstGeom prst="rect">
            <a:avLst/>
          </a:prstGeom>
          <a:noFill/>
          <a:ln w="44450">
            <a:solidFill>
              <a:srgbClr val="C62828"/>
            </a:solidFill>
          </a:ln>
        </p:spPr>
        <p:txBody>
          <a:bodyPr rtlCol="0" anchor="ctr"/>
          <a:lstStyle/>
          <a:p>
            <a:pPr algn="ctr"/>
          </a:p>
        </p:txBody>
      </p:sp>
      <p:sp>
        <p:nvSpPr>
          <p:cNvPr id="16" name="Rectangle 15"/>
          <p:cNvSpPr/>
          <p:nvPr/>
        </p:nvSpPr>
        <p:spPr>
          <a:xfrm>
            <a:off x="8769415" y="2683886"/>
            <a:ext cx="826745" cy="565876"/>
          </a:xfrm>
          <a:prstGeom prst="rect">
            <a:avLst/>
          </a:prstGeom>
          <a:noFill/>
          <a:ln w="44450">
            <a:solidFill>
              <a:srgbClr val="1F5FAD"/>
            </a:solidFill>
          </a:ln>
        </p:spPr>
        <p:txBody>
          <a:bodyPr rtlCol="0" anchor="ctr"/>
          <a:lstStyle/>
          <a:p>
            <a:pPr algn="ctr"/>
          </a:p>
        </p:txBody>
      </p:sp>
      <p:sp>
        <p:nvSpPr>
          <p:cNvPr id="17" name="Oval 16"/>
          <p:cNvSpPr/>
          <p:nvPr/>
        </p:nvSpPr>
        <p:spPr>
          <a:xfrm>
            <a:off x="8131699" y="33065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638964" y="37309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613967" y="25284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497514"/>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23</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the book's 1, 4 and 5 price rebounds off a rising trendline </a:t>
            </a:r>
            <a:r>
              <a:rPr sz="1700" b="1" i="0">
                <a:solidFill>
                  <a:srgbClr val="E09B00"/>
                </a:solidFill>
                <a:latin typeface="Arial"/>
              </a:rPr>
              <a:t>(1)</a:t>
            </a:r>
            <a:r>
              <a:rPr sz="1700" b="0" i="0">
                <a:solidFill>
                  <a:srgbClr val="1A1A1A"/>
                </a:solidFill>
                <a:latin typeface="Arial"/>
              </a:rPr>
              <a:t>, each time at a tick volume peak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cycle-tuned stochastic, bottom panel, read oversold there </a:t>
            </a:r>
            <a:r>
              <a:rPr sz="1700" b="1" i="0">
                <a:solidFill>
                  <a:srgbClr val="1F5FAD"/>
                </a:solidFill>
                <a:latin typeface="Arial"/>
              </a:rPr>
              <a:t>(3)</a:t>
            </a:r>
            <a:r>
              <a:rPr sz="1700" b="0" i="0">
                <a:solidFill>
                  <a:srgbClr val="1A1A1A"/>
                </a:solidFill>
                <a:latin typeface="Arial"/>
              </a:rPr>
              <a:t>: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a:t>
            </a:r>
            <a:r>
              <a:rPr sz="1700" b="1" i="0">
                <a:solidFill>
                  <a:srgbClr val="007A33"/>
                </a:solidFill>
                <a:latin typeface="Arial"/>
              </a:rPr>
              <a:t>(4)</a:t>
            </a:r>
            <a:r>
              <a:rPr sz="1700" b="0" i="0">
                <a:solidFill>
                  <a:srgbClr val="1A1A1A"/>
                </a:solidFill>
                <a:latin typeface="Arial"/>
              </a:rPr>
              <a:t> the stochastic was still mid-panel, not clearly oversold.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7424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7132319" y="1810512"/>
            <a:ext cx="4282135" cy="222418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51191" y="1929384"/>
            <a:ext cx="4044391" cy="19864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51191" y="1929384"/>
            <a:ext cx="40443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25511" y="2203703"/>
            <a:ext cx="3495751" cy="1529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6.37</a:t>
            </a:r>
          </a:p>
          <a:p>
            <a:pPr algn="l">
              <a:lnSpc>
                <a:spcPct val="115000"/>
              </a:lnSpc>
              <a:spcBef>
                <a:spcPts val="0"/>
              </a:spcBef>
              <a:spcAft>
                <a:spcPts val="0"/>
              </a:spcAft>
            </a:pPr>
            <a:r>
              <a:rPr sz="1300" b="0" i="0">
                <a:solidFill>
                  <a:srgbClr val="1A1A1A"/>
                </a:solidFill>
                <a:latin typeface="Palatino"/>
              </a:rPr>
              <a:t>Hourly EURUSD with rising trendlines and retests 1 to 5, daily volume cycles below, and a stochastic panel: oversold under 1, 4 and 5, not at X and Y.</a:t>
            </a:r>
          </a:p>
        </p:txBody>
      </p:sp>
      <p:cxnSp>
        <p:nvCxnSpPr>
          <p:cNvPr id="14" name="Connector 13"/>
          <p:cNvCxnSpPr/>
          <p:nvPr/>
        </p:nvCxnSpPr>
        <p:spPr>
          <a:xfrm flipV="1">
            <a:off x="9859824" y="2594841"/>
            <a:ext cx="1253761" cy="337694"/>
          </a:xfrm>
          <a:prstGeom prst="line">
            <a:avLst/>
          </a:prstGeom>
          <a:ln w="44450">
            <a:solidFill>
              <a:srgbClr val="E09B00"/>
            </a:solidFill>
          </a:ln>
        </p:spPr>
      </p:cxnSp>
      <p:sp>
        <p:nvSpPr>
          <p:cNvPr id="15" name="Rectangle 14"/>
          <p:cNvSpPr/>
          <p:nvPr/>
        </p:nvSpPr>
        <p:spPr>
          <a:xfrm>
            <a:off x="7271413" y="3170908"/>
            <a:ext cx="4003947" cy="198643"/>
          </a:xfrm>
          <a:prstGeom prst="rect">
            <a:avLst/>
          </a:prstGeom>
          <a:noFill/>
          <a:ln w="44450">
            <a:solidFill>
              <a:srgbClr val="C62828"/>
            </a:solidFill>
          </a:ln>
        </p:spPr>
        <p:txBody>
          <a:bodyPr rtlCol="0" anchor="ctr"/>
          <a:lstStyle/>
          <a:p>
            <a:pPr algn="ctr"/>
          </a:p>
        </p:txBody>
      </p:sp>
      <p:sp>
        <p:nvSpPr>
          <p:cNvPr id="16" name="Rectangle 15"/>
          <p:cNvSpPr/>
          <p:nvPr/>
        </p:nvSpPr>
        <p:spPr>
          <a:xfrm>
            <a:off x="7574743" y="3697315"/>
            <a:ext cx="3518620" cy="139050"/>
          </a:xfrm>
          <a:prstGeom prst="rect">
            <a:avLst/>
          </a:prstGeom>
          <a:noFill/>
          <a:ln w="44450">
            <a:solidFill>
              <a:srgbClr val="1F5FAD"/>
            </a:solidFill>
          </a:ln>
        </p:spPr>
        <p:txBody>
          <a:bodyPr rtlCol="0" anchor="ctr"/>
          <a:lstStyle/>
          <a:p>
            <a:pPr algn="ctr"/>
          </a:p>
        </p:txBody>
      </p:sp>
      <p:sp>
        <p:nvSpPr>
          <p:cNvPr id="17" name="Rectangle 16"/>
          <p:cNvSpPr/>
          <p:nvPr/>
        </p:nvSpPr>
        <p:spPr>
          <a:xfrm>
            <a:off x="8100514" y="3498671"/>
            <a:ext cx="1577312" cy="178779"/>
          </a:xfrm>
          <a:prstGeom prst="rect">
            <a:avLst/>
          </a:prstGeom>
          <a:noFill/>
          <a:ln w="44450">
            <a:solidFill>
              <a:srgbClr val="007A33"/>
            </a:solidFill>
          </a:ln>
        </p:spPr>
        <p:txBody>
          <a:bodyPr rtlCol="0" anchor="ctr"/>
          <a:lstStyle/>
          <a:p>
            <a:pPr algn="ctr"/>
          </a:p>
        </p:txBody>
      </p:sp>
      <p:sp>
        <p:nvSpPr>
          <p:cNvPr id="18" name="Oval 17"/>
          <p:cNvSpPr/>
          <p:nvPr/>
        </p:nvSpPr>
        <p:spPr>
          <a:xfrm>
            <a:off x="9704376" y="277708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115965" y="30154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19295" y="35418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945066" y="334322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132319" y="4126135"/>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6.37 -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23</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7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700" b="0" i="0">
                <a:solidFill>
                  <a:srgbClr val="1A1A1A"/>
                </a:solidFill>
                <a:latin typeface="Arial"/>
              </a:rPr>
              <a:t>That changes the angle of trendlines, channels and chart patterns. Figure 6.38, top: Apple on a standard daily chart, with a trendline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E09B00"/>
                </a:solidFill>
                <a:latin typeface="Arial"/>
              </a:rPr>
              <a:t>(1)</a:t>
            </a:r>
            <a:r>
              <a:rPr sz="1800" b="1" i="0">
                <a:solidFill>
                  <a:srgbClr val="1A1A1A"/>
                </a:solidFill>
                <a:latin typeface="Arial"/>
              </a:rPr>
              <a:t> Circled, late May: on the standard chart, price stays above the line.</a:t>
            </a:r>
          </a:p>
        </p:txBody>
      </p:sp>
      <p:sp>
        <p:nvSpPr>
          <p:cNvPr id="10" name="Rectangle 9"/>
          <p:cNvSpPr/>
          <p:nvPr/>
        </p:nvSpPr>
        <p:spPr>
          <a:xfrm>
            <a:off x="7132319" y="1810512"/>
            <a:ext cx="4282135" cy="27496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51191" y="1929384"/>
            <a:ext cx="4044391" cy="25118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51191" y="1929384"/>
            <a:ext cx="40443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25511" y="2203703"/>
            <a:ext cx="3495751" cy="2054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upper panel of Figure 6.38: Apple on a standard daily chart, a rising trendline under it, and a circle in late May where price stays above the line.</a:t>
            </a:r>
          </a:p>
        </p:txBody>
      </p:sp>
      <p:sp>
        <p:nvSpPr>
          <p:cNvPr id="14" name="Oval 13"/>
          <p:cNvSpPr/>
          <p:nvPr/>
        </p:nvSpPr>
        <p:spPr>
          <a:xfrm>
            <a:off x="10122709" y="2984376"/>
            <a:ext cx="444883" cy="477258"/>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8181401" y="3122530"/>
            <a:ext cx="2790630" cy="1080111"/>
          </a:xfrm>
          <a:prstGeom prst="line">
            <a:avLst/>
          </a:prstGeom>
          <a:ln w="44450">
            <a:solidFill>
              <a:srgbClr val="C62828"/>
            </a:solidFill>
          </a:ln>
        </p:spPr>
      </p:cxnSp>
      <p:sp>
        <p:nvSpPr>
          <p:cNvPr id="16" name="Oval 15"/>
          <p:cNvSpPr/>
          <p:nvPr/>
        </p:nvSpPr>
        <p:spPr>
          <a:xfrm>
            <a:off x="9967261" y="282892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025953" y="404719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132319" y="465158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upper panel. Point and figure, Renko, three line break and equivolume charts were Chapter 3 terms.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line on the equivolume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6.38, bottom: the same Apple prices on an equivolume chart, and the same trendline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Bars on heavy days are drawn wider, so the time axis stretches and the line meets late May at a different place.</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E09B00"/>
                </a:solidFill>
                <a:latin typeface="Arial"/>
              </a:rPr>
              <a:t>(1)</a:t>
            </a:r>
            <a:r>
              <a:rPr sz="2100" b="1" i="0">
                <a:solidFill>
                  <a:srgbClr val="1A1A1A"/>
                </a:solidFill>
                <a:latin typeface="Arial"/>
              </a:rPr>
              <a:t> Circled, late May: on the equivolume chart, price cuts through the line.</a:t>
            </a:r>
          </a:p>
        </p:txBody>
      </p:sp>
      <p:sp>
        <p:nvSpPr>
          <p:cNvPr id="10" name="Rectangle 9"/>
          <p:cNvSpPr/>
          <p:nvPr/>
        </p:nvSpPr>
        <p:spPr>
          <a:xfrm>
            <a:off x="6583679" y="1810512"/>
            <a:ext cx="4830775" cy="30615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38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66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lower panel of Figure 6.38: the same Apple prices on an equivolume chart, the same trendline, and a circle in late May where price cuts through the line.</a:t>
            </a:r>
          </a:p>
        </p:txBody>
      </p:sp>
      <p:sp>
        <p:nvSpPr>
          <p:cNvPr id="14" name="Oval 13"/>
          <p:cNvSpPr/>
          <p:nvPr/>
        </p:nvSpPr>
        <p:spPr>
          <a:xfrm>
            <a:off x="9917673" y="2917721"/>
            <a:ext cx="551163" cy="564764"/>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850809" y="3016555"/>
            <a:ext cx="2709889" cy="1468386"/>
          </a:xfrm>
          <a:prstGeom prst="line">
            <a:avLst/>
          </a:prstGeom>
          <a:ln w="44450">
            <a:solidFill>
              <a:srgbClr val="C62828"/>
            </a:solidFill>
          </a:ln>
        </p:spPr>
      </p:cxnSp>
      <p:sp>
        <p:nvSpPr>
          <p:cNvPr id="16" name="Oval 15"/>
          <p:cNvSpPr/>
          <p:nvPr/>
        </p:nvSpPr>
        <p:spPr>
          <a:xfrm>
            <a:off x="9762225" y="276227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695361" y="432949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35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lower panel: the same prices and the same line as the slide before, on an equivolume chart.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23 of 23</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Ours: lows of PHP 100 and PHP 110, ten ordinary days apart, one step a day on both charts. The line rises PHP 1.00 a step.</a:t>
            </a:r>
          </a:p>
          <a:p>
            <a:pPr algn="l">
              <a:lnSpc>
                <a:spcPct val="105000"/>
              </a:lnSpc>
              <a:spcBef>
                <a:spcPts val="0"/>
              </a:spcBef>
              <a:spcAft>
                <a:spcPts val="1100"/>
              </a:spcAft>
            </a:pPr>
            <a:r>
              <a:rPr sz="1600" b="0" i="0">
                <a:solidFill>
                  <a:srgbClr val="1A1A1A"/>
                </a:solidFill>
                <a:latin typeface="Arial"/>
              </a:rPr>
              <a:t>Then five heavy days: </a:t>
            </a:r>
            <a:r>
              <a:rPr sz="1600" b="1" i="0">
                <a:solidFill>
                  <a:srgbClr val="E09B00"/>
                </a:solidFill>
                <a:latin typeface="Arial"/>
              </a:rPr>
              <a:t>(1)</a:t>
            </a:r>
            <a:r>
              <a:rPr sz="1600" b="0" i="0">
                <a:solidFill>
                  <a:srgbClr val="1A1A1A"/>
                </a:solidFill>
                <a:latin typeface="Arial"/>
              </a:rPr>
              <a:t> one step each on the daily chart, </a:t>
            </a:r>
            <a:r>
              <a:rPr sz="1600" b="1" i="0">
                <a:solidFill>
                  <a:srgbClr val="C62828"/>
                </a:solidFill>
                <a:latin typeface="Arial"/>
              </a:rPr>
              <a:t>(2)</a:t>
            </a:r>
            <a:r>
              <a:rPr sz="1600" b="0" i="0">
                <a:solidFill>
                  <a:srgbClr val="1A1A1A"/>
                </a:solidFill>
                <a:latin typeface="Arial"/>
              </a:rPr>
              <a:t> two each on the equivolume one. The daily line reaches PHP 115, the equivolume PHP 120.</a:t>
            </a:r>
          </a:p>
          <a:p>
            <a:pPr algn="l">
              <a:lnSpc>
                <a:spcPct val="105000"/>
              </a:lnSpc>
              <a:spcBef>
                <a:spcPts val="0"/>
              </a:spcBef>
              <a:spcAft>
                <a:spcPts val="1100"/>
              </a:spcAft>
            </a:pPr>
            <a:r>
              <a:rPr sz="1600" b="0" i="0">
                <a:solidFill>
                  <a:srgbClr val="1A1A1A"/>
                </a:solidFill>
                <a:latin typeface="Arial"/>
              </a:rPr>
              <a:t>That day's low of PHP 117 holds above the daily line and cuts the equivolume one. Equal widths would move nothing.</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book shows the discrepancy, not which break to trust.</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g.png"/>
          <p:cNvPicPr>
            <a:picLocks noChangeAspect="1"/>
          </p:cNvPicPr>
          <p:nvPr/>
        </p:nvPicPr>
        <p:blipFill>
          <a:blip r:embed="rId2"/>
          <a:stretch>
            <a:fillRect/>
          </a:stretch>
        </p:blipFill>
        <p:spPr>
          <a:xfrm>
            <a:off x="7069683" y="1929384"/>
            <a:ext cx="4224528" cy="3511296"/>
          </a:xfrm>
          <a:prstGeom prst="rect">
            <a:avLst/>
          </a:prstGeom>
        </p:spPr>
      </p:pic>
      <p:sp>
        <p:nvSpPr>
          <p:cNvPr id="12" name="Oval 11"/>
          <p:cNvSpPr/>
          <p:nvPr/>
        </p:nvSpPr>
        <p:spPr>
          <a:xfrm>
            <a:off x="10005730" y="2280513"/>
            <a:ext cx="295716" cy="351129"/>
          </a:xfrm>
          <a:prstGeom prst="ellipse">
            <a:avLst/>
          </a:prstGeom>
          <a:noFill/>
          <a:ln w="44450">
            <a:solidFill>
              <a:srgbClr val="E09B00"/>
            </a:solidFill>
          </a:ln>
        </p:spPr>
        <p:txBody>
          <a:bodyPr rtlCol="0" anchor="ctr"/>
          <a:lstStyle/>
          <a:p>
            <a:pPr algn="ctr"/>
          </a:p>
        </p:txBody>
      </p:sp>
      <p:sp>
        <p:nvSpPr>
          <p:cNvPr id="13" name="Oval 12"/>
          <p:cNvSpPr/>
          <p:nvPr/>
        </p:nvSpPr>
        <p:spPr>
          <a:xfrm>
            <a:off x="10808390" y="3790370"/>
            <a:ext cx="295716" cy="351129"/>
          </a:xfrm>
          <a:prstGeom prst="ellipse">
            <a:avLst/>
          </a:prstGeom>
          <a:noFill/>
          <a:ln w="44450">
            <a:solidFill>
              <a:srgbClr val="C62828"/>
            </a:solidFill>
          </a:ln>
        </p:spPr>
        <p:txBody>
          <a:bodyPr rtlCol="0" anchor="ctr"/>
          <a:lstStyle/>
          <a:p>
            <a:pPr algn="ctr"/>
          </a:p>
        </p:txBody>
      </p:sp>
      <p:sp>
        <p:nvSpPr>
          <p:cNvPr id="14" name="Oval 13"/>
          <p:cNvSpPr/>
          <p:nvPr/>
        </p:nvSpPr>
        <p:spPr>
          <a:xfrm>
            <a:off x="9850282" y="21250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652942" y="36349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and the chart. The book says the angle is affected and shows the result in Figure 6.38; it does not work the arithmetic.</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(the Chaikin pair, later).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sets no start; we start at 0 on day 1, with no day before it. </a:t>
            </a:r>
            <a:r>
              <a:rPr sz="1700" b="1" i="0">
                <a:solidFill>
                  <a:srgbClr val="E09B00"/>
                </a:solidFill>
                <a:latin typeface="Arial"/>
              </a:rPr>
              <a:t>(1)</a:t>
            </a:r>
            <a:r>
              <a:rPr sz="1700" b="0" i="0">
                <a:solidFill>
                  <a:srgbClr val="1A1A1A"/>
                </a:solidFill>
                <a:latin typeface="Arial"/>
              </a:rPr>
              <a:t> Up days: 2.0 + 3.0 = 5.0 million; </a:t>
            </a:r>
            <a:r>
              <a:rPr sz="1700" b="1" i="0">
                <a:solidFill>
                  <a:srgbClr val="C62828"/>
                </a:solidFill>
                <a:latin typeface="Arial"/>
              </a:rPr>
              <a:t>(2)</a:t>
            </a:r>
            <a:r>
              <a:rPr sz="1700" b="0" i="0">
                <a:solidFill>
                  <a:srgbClr val="1A1A1A"/>
                </a:solidFill>
                <a:latin typeface="Arial"/>
              </a:rPr>
              <a:t> down days: 1.5 + 1.0 = 2.5. </a:t>
            </a:r>
            <a:r>
              <a:rPr sz="1700" b="1" i="0">
                <a:solidFill>
                  <a:srgbClr val="1F5FAD"/>
                </a:solidFill>
                <a:latin typeface="Arial"/>
              </a:rPr>
              <a:t>(3)</a:t>
            </a:r>
            <a:r>
              <a:rPr sz="1700" b="0" i="0">
                <a:solidFill>
                  <a:srgbClr val="1A1A1A"/>
                </a:solidFill>
                <a:latin typeface="Arial"/>
              </a:rPr>
              <a:t> OBV: 2.5.</a:t>
            </a:r>
          </a:p>
          <a:p>
            <a:pPr algn="l">
              <a:lnSpc>
                <a:spcPct val="105000"/>
              </a:lnSpc>
              <a:spcBef>
                <a:spcPts val="0"/>
              </a:spcBef>
              <a:spcAft>
                <a:spcPts val="1100"/>
              </a:spcAft>
            </a:pPr>
            <a:r>
              <a:rPr sz="1700" b="0" i="0">
                <a:solidFill>
                  <a:srgbClr val="1A1A1A"/>
                </a:solidFill>
                <a:latin typeface="Arial"/>
              </a:rPr>
              <a:t>Rising OBV: more volume on up closes than down closes. Falling: the reverse.</a:t>
            </a:r>
          </a:p>
          <a:p>
            <a:pPr algn="l">
              <a:lnSpc>
                <a:spcPct val="105000"/>
              </a:lnSpc>
              <a:spcBef>
                <a:spcPts val="0"/>
              </a:spcBef>
              <a:spcAft>
                <a:spcPts val="1100"/>
              </a:spcAft>
            </a:pPr>
            <a:r>
              <a:rPr sz="17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it by rises and falls against price, not by level: next slide.</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h.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060893" y="2262957"/>
            <a:ext cx="1475201" cy="245790"/>
          </a:xfrm>
          <a:prstGeom prst="rect">
            <a:avLst/>
          </a:prstGeom>
          <a:noFill/>
          <a:ln w="44450">
            <a:solidFill>
              <a:srgbClr val="E09B00"/>
            </a:solidFill>
          </a:ln>
        </p:spPr>
        <p:txBody>
          <a:bodyPr rtlCol="0" anchor="ctr"/>
          <a:lstStyle/>
          <a:p>
            <a:pPr algn="ctr"/>
          </a:p>
        </p:txBody>
      </p:sp>
      <p:sp>
        <p:nvSpPr>
          <p:cNvPr id="13" name="Rectangle 12"/>
          <p:cNvSpPr/>
          <p:nvPr/>
        </p:nvSpPr>
        <p:spPr>
          <a:xfrm>
            <a:off x="9495678" y="3369015"/>
            <a:ext cx="1657075" cy="245790"/>
          </a:xfrm>
          <a:prstGeom prst="rect">
            <a:avLst/>
          </a:prstGeom>
          <a:noFill/>
          <a:ln w="44450">
            <a:solidFill>
              <a:srgbClr val="C62828"/>
            </a:solidFill>
          </a:ln>
        </p:spPr>
        <p:txBody>
          <a:bodyPr rtlCol="0" anchor="ctr"/>
          <a:lstStyle/>
          <a:p>
            <a:pPr algn="ctr"/>
          </a:p>
        </p:txBody>
      </p:sp>
      <p:sp>
        <p:nvSpPr>
          <p:cNvPr id="14" name="Oval 13"/>
          <p:cNvSpPr/>
          <p:nvPr/>
        </p:nvSpPr>
        <p:spPr>
          <a:xfrm>
            <a:off x="10344424" y="4036161"/>
            <a:ext cx="282915" cy="316016"/>
          </a:xfrm>
          <a:prstGeom prst="ellipse">
            <a:avLst/>
          </a:prstGeom>
          <a:noFill/>
          <a:ln w="44450">
            <a:solidFill>
              <a:srgbClr val="1F5FAD"/>
            </a:solidFill>
          </a:ln>
        </p:spPr>
        <p:txBody>
          <a:bodyPr rtlCol="0" anchor="ctr"/>
          <a:lstStyle/>
          <a:p>
            <a:pPr algn="ctr"/>
          </a:p>
        </p:txBody>
      </p:sp>
      <p:sp>
        <p:nvSpPr>
          <p:cNvPr id="15" name="Oval 14"/>
          <p:cNvSpPr/>
          <p:nvPr/>
        </p:nvSpPr>
        <p:spPr>
          <a:xfrm>
            <a:off x="7905445" y="21075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40230" y="32135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88976" y="388071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JH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and the chart are ours, on Chart AM's six days. The reading rule is Part 1's, Figure 6.7.</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Its level, the book's absolute value, depends on the start date. Start our six days on day 3: day 6 reads 2.0 </a:t>
            </a:r>
            <a:r>
              <a:rPr sz="1700" b="1" i="0">
                <a:solidFill>
                  <a:srgbClr val="C62828"/>
                </a:solidFill>
                <a:latin typeface="Arial"/>
              </a:rPr>
              <a:t>(2)</a:t>
            </a:r>
            <a:r>
              <a:rPr sz="1700" b="0" i="0">
                <a:solidFill>
                  <a:srgbClr val="1A1A1A"/>
                </a:solidFill>
                <a:latin typeface="Arial"/>
              </a:rPr>
              <a:t>, not 2.5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changes, the relative value, do not. From day 3 </a:t>
            </a:r>
            <a:r>
              <a:rPr sz="1700" b="1" i="0">
                <a:solidFill>
                  <a:srgbClr val="1F5FAD"/>
                </a:solidFill>
                <a:latin typeface="Arial"/>
              </a:rPr>
              <a:t>(3)</a:t>
            </a:r>
            <a:r>
              <a:rPr sz="1700" b="0" i="0">
                <a:solidFill>
                  <a:srgbClr val="1A1A1A"/>
                </a:solidFill>
                <a:latin typeface="Arial"/>
              </a:rPr>
              <a:t> to day 6, both lines rise 2.0: 0.5 to 2.5, 0 to 2.0.</a:t>
            </a:r>
          </a:p>
          <a:p>
            <a:pPr algn="l">
              <a:lnSpc>
                <a:spcPct val="105000"/>
              </a:lnSpc>
              <a:spcBef>
                <a:spcPts val="0"/>
              </a:spcBef>
              <a:spcAft>
                <a:spcPts val="1100"/>
              </a:spcAft>
            </a:pPr>
            <a:r>
              <a:rPr sz="1700" b="0" i="0">
                <a:solidFill>
                  <a:srgbClr val="1A1A1A"/>
                </a:solidFill>
                <a:latin typeface="Arial"/>
              </a:rPr>
              <a:t>The book: so all eight methods may still be used. Divergence reads rises and falls.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10129540" y="2842320"/>
            <a:ext cx="346923" cy="368686"/>
          </a:xfrm>
          <a:prstGeom prst="ellipse">
            <a:avLst/>
          </a:prstGeom>
          <a:noFill/>
          <a:ln w="44450">
            <a:solidFill>
              <a:srgbClr val="E09B00"/>
            </a:solidFill>
          </a:ln>
        </p:spPr>
        <p:txBody>
          <a:bodyPr rtlCol="0" anchor="ctr"/>
          <a:lstStyle/>
          <a:p>
            <a:pPr algn="ctr"/>
          </a:p>
        </p:txBody>
      </p:sp>
      <p:sp>
        <p:nvSpPr>
          <p:cNvPr id="13" name="Oval 12"/>
          <p:cNvSpPr/>
          <p:nvPr/>
        </p:nvSpPr>
        <p:spPr>
          <a:xfrm>
            <a:off x="10129540" y="3211007"/>
            <a:ext cx="346923" cy="316016"/>
          </a:xfrm>
          <a:prstGeom prst="ellipse">
            <a:avLst/>
          </a:prstGeom>
          <a:noFill/>
          <a:ln w="44450">
            <a:solidFill>
              <a:srgbClr val="C62828"/>
            </a:solidFill>
          </a:ln>
        </p:spPr>
        <p:txBody>
          <a:bodyPr rtlCol="0" anchor="ctr"/>
          <a:lstStyle/>
          <a:p>
            <a:pPr algn="ctr"/>
          </a:p>
        </p:txBody>
      </p:sp>
      <p:sp>
        <p:nvSpPr>
          <p:cNvPr id="14" name="Rectangle 13"/>
          <p:cNvSpPr/>
          <p:nvPr/>
        </p:nvSpPr>
        <p:spPr>
          <a:xfrm>
            <a:off x="8320582" y="3878153"/>
            <a:ext cx="396483" cy="632033"/>
          </a:xfrm>
          <a:prstGeom prst="rect">
            <a:avLst/>
          </a:prstGeom>
          <a:noFill/>
          <a:ln w="44450">
            <a:solidFill>
              <a:srgbClr val="1F5FAD"/>
            </a:solidFill>
          </a:ln>
        </p:spPr>
        <p:txBody>
          <a:bodyPr rtlCol="0" anchor="ctr"/>
          <a:lstStyle/>
          <a:p>
            <a:pPr algn="ctr"/>
          </a:p>
        </p:txBody>
      </p:sp>
      <p:sp>
        <p:nvSpPr>
          <p:cNvPr id="15" name="Oval 14"/>
          <p:cNvSpPr/>
          <p:nvPr/>
        </p:nvSpPr>
        <p:spPr>
          <a:xfrm>
            <a:off x="9974092" y="26868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74092" y="305555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165134" y="37227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Volume is added or subtracted regardless of the bar's own behavior.</a:t>
            </a:r>
          </a:p>
          <a:p>
            <a:pPr algn="l">
              <a:lnSpc>
                <a:spcPct val="105000"/>
              </a:lnSpc>
              <a:spcBef>
                <a:spcPts val="0"/>
              </a:spcBef>
              <a:spcAft>
                <a:spcPts val="1100"/>
              </a:spcAft>
            </a:pPr>
            <a:r>
              <a:rPr sz="1800" b="0" i="0">
                <a:solidFill>
                  <a:srgbClr val="1A1A1A"/>
                </a:solidFill>
                <a:latin typeface="Arial"/>
              </a:rPr>
              <a:t>Ours: bar 1 has a high of 51.00 and closes 50.80. Bar 2 rallies to a new high of 54.00 </a:t>
            </a:r>
            <a:r>
              <a:rPr sz="1800" b="1" i="0">
                <a:solidFill>
                  <a:srgbClr val="E09B00"/>
                </a:solidFill>
                <a:latin typeface="Arial"/>
              </a:rPr>
              <a:t>(1)</a:t>
            </a:r>
            <a:r>
              <a:rPr sz="1800" b="0" i="0">
                <a:solidFill>
                  <a:srgbClr val="1A1A1A"/>
                </a:solidFill>
                <a:latin typeface="Arial"/>
              </a:rPr>
              <a:t>, far above, and closes 50.70 </a:t>
            </a:r>
            <a:r>
              <a:rPr sz="1800" b="1" i="0">
                <a:solidFill>
                  <a:srgbClr val="C62828"/>
                </a:solidFill>
                <a:latin typeface="Arial"/>
              </a:rPr>
              <a:t>(2)</a:t>
            </a:r>
            <a:r>
              <a:rPr sz="1800" b="0" i="0">
                <a:solidFill>
                  <a:srgbClr val="1A1A1A"/>
                </a:solidFill>
                <a:latin typeface="Arial"/>
              </a:rPr>
              <a:t>, just under 50.80.</a:t>
            </a:r>
          </a:p>
          <a:p>
            <a:pPr algn="l">
              <a:lnSpc>
                <a:spcPct val="105000"/>
              </a:lnSpc>
              <a:spcBef>
                <a:spcPts val="0"/>
              </a:spcBef>
              <a:spcAft>
                <a:spcPts val="1100"/>
              </a:spcAft>
            </a:pPr>
            <a:r>
              <a:rPr sz="1800" b="0" i="0">
                <a:solidFill>
                  <a:srgbClr val="1A1A1A"/>
                </a:solidFill>
                <a:latin typeface="Arial"/>
              </a:rPr>
              <a:t>Bar 2 closed lower, so all its 3.0 million is subtracted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3766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that is, to put it right, many prefer the ADL or the two Chaikin indicators: next.</a:t>
            </a:r>
          </a:p>
        </p:txBody>
      </p:sp>
      <p:sp>
        <p:nvSpPr>
          <p:cNvPr id="10" name="Rectangle 9"/>
          <p:cNvSpPr/>
          <p:nvPr/>
        </p:nvSpPr>
        <p:spPr>
          <a:xfrm>
            <a:off x="6766559" y="1810512"/>
            <a:ext cx="4647894" cy="336227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885431" y="1929384"/>
            <a:ext cx="4410151" cy="3124535"/>
          </a:xfrm>
          <a:prstGeom prst="rect">
            <a:avLst/>
          </a:prstGeom>
        </p:spPr>
      </p:pic>
      <p:sp>
        <p:nvSpPr>
          <p:cNvPr id="12" name="Oval 11"/>
          <p:cNvSpPr/>
          <p:nvPr/>
        </p:nvSpPr>
        <p:spPr>
          <a:xfrm>
            <a:off x="9421268" y="2085610"/>
            <a:ext cx="396913" cy="312453"/>
          </a:xfrm>
          <a:prstGeom prst="ellipse">
            <a:avLst/>
          </a:prstGeom>
          <a:noFill/>
          <a:ln w="44450">
            <a:solidFill>
              <a:srgbClr val="E09B00"/>
            </a:solidFill>
          </a:ln>
        </p:spPr>
        <p:txBody>
          <a:bodyPr rtlCol="0" anchor="ctr"/>
          <a:lstStyle/>
          <a:p>
            <a:pPr algn="ctr"/>
          </a:p>
        </p:txBody>
      </p:sp>
      <p:sp>
        <p:nvSpPr>
          <p:cNvPr id="13" name="Oval 12"/>
          <p:cNvSpPr/>
          <p:nvPr/>
        </p:nvSpPr>
        <p:spPr>
          <a:xfrm>
            <a:off x="9487421" y="2897989"/>
            <a:ext cx="529218" cy="281208"/>
          </a:xfrm>
          <a:prstGeom prst="ellipse">
            <a:avLst/>
          </a:prstGeom>
          <a:noFill/>
          <a:ln w="44450">
            <a:solidFill>
              <a:srgbClr val="C62828"/>
            </a:solidFill>
          </a:ln>
        </p:spPr>
        <p:txBody>
          <a:bodyPr rtlCol="0" anchor="ctr"/>
          <a:lstStyle/>
          <a:p>
            <a:pPr algn="ctr"/>
          </a:p>
        </p:txBody>
      </p:sp>
      <p:sp>
        <p:nvSpPr>
          <p:cNvPr id="14" name="Rectangle 13"/>
          <p:cNvSpPr/>
          <p:nvPr/>
        </p:nvSpPr>
        <p:spPr>
          <a:xfrm>
            <a:off x="9244862" y="4069690"/>
            <a:ext cx="749725" cy="359321"/>
          </a:xfrm>
          <a:prstGeom prst="rect">
            <a:avLst/>
          </a:prstGeom>
          <a:noFill/>
          <a:ln w="44450">
            <a:solidFill>
              <a:srgbClr val="1F5FAD"/>
            </a:solidFill>
          </a:ln>
        </p:spPr>
        <p:txBody>
          <a:bodyPr rtlCol="0" anchor="ctr"/>
          <a:lstStyle/>
          <a:p>
            <a:pPr algn="ctr"/>
          </a:p>
        </p:txBody>
      </p:sp>
      <p:sp>
        <p:nvSpPr>
          <p:cNvPr id="15" name="Oval 14"/>
          <p:cNvSpPr/>
          <p:nvPr/>
        </p:nvSpPr>
        <p:spPr>
          <a:xfrm>
            <a:off x="9265820" y="19301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331973" y="274254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89414" y="391424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766559" y="52642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Price: a lower low, August to October 2011: the falling line.</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39407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315633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699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6.39</a:t>
            </a:r>
          </a:p>
          <a:p>
            <a:pPr algn="l">
              <a:lnSpc>
                <a:spcPct val="115000"/>
              </a:lnSpc>
              <a:spcBef>
                <a:spcPts val="0"/>
              </a:spcBef>
              <a:spcAft>
                <a:spcPts val="0"/>
              </a:spcAft>
            </a:pPr>
            <a:r>
              <a:rPr sz="15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p:txBody>
      </p:sp>
      <p:cxnSp>
        <p:nvCxnSpPr>
          <p:cNvPr id="14" name="Connector 13"/>
          <p:cNvCxnSpPr/>
          <p:nvPr/>
        </p:nvCxnSpPr>
        <p:spPr>
          <a:xfrm>
            <a:off x="9855915" y="3681150"/>
            <a:ext cx="565583" cy="489232"/>
          </a:xfrm>
          <a:prstGeom prst="line">
            <a:avLst/>
          </a:prstGeom>
          <a:ln w="44450">
            <a:solidFill>
              <a:srgbClr val="E09B00"/>
            </a:solidFill>
          </a:ln>
        </p:spPr>
      </p:cxnSp>
      <p:cxnSp>
        <p:nvCxnSpPr>
          <p:cNvPr id="15" name="Connector 14"/>
          <p:cNvCxnSpPr/>
          <p:nvPr/>
        </p:nvCxnSpPr>
        <p:spPr>
          <a:xfrm flipV="1">
            <a:off x="9907331" y="4817431"/>
            <a:ext cx="591292" cy="126253"/>
          </a:xfrm>
          <a:prstGeom prst="line">
            <a:avLst/>
          </a:prstGeom>
          <a:ln w="44450">
            <a:solidFill>
              <a:srgbClr val="C62828"/>
            </a:solidFill>
          </a:ln>
        </p:spPr>
      </p:cxnSp>
      <p:cxnSp>
        <p:nvCxnSpPr>
          <p:cNvPr id="16" name="Connector 15"/>
          <p:cNvCxnSpPr/>
          <p:nvPr/>
        </p:nvCxnSpPr>
        <p:spPr>
          <a:xfrm flipV="1">
            <a:off x="10447207" y="3097228"/>
            <a:ext cx="205667" cy="915337"/>
          </a:xfrm>
          <a:prstGeom prst="line">
            <a:avLst/>
          </a:prstGeom>
          <a:ln w="44450">
            <a:solidFill>
              <a:srgbClr val="1F5FAD"/>
            </a:solidFill>
            <a:tailEnd type="triangle" w="med" len="med"/>
          </a:ln>
        </p:spPr>
      </p:cxnSp>
      <p:sp>
        <p:nvSpPr>
          <p:cNvPr id="17" name="Oval 16"/>
          <p:cNvSpPr/>
          <p:nvPr/>
        </p:nvSpPr>
        <p:spPr>
          <a:xfrm>
            <a:off x="9700467" y="35257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51883" y="478823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91759" y="385711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29603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First arrow, March to April 2011: equal peaks near 4.5; the OBV falls.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a:t>
            </a:r>
            <a:r>
              <a:rPr sz="1700" b="1" i="0">
                <a:solidFill>
                  <a:srgbClr val="1F5FAD"/>
                </a:solidFill>
                <a:latin typeface="Arial"/>
              </a:rPr>
              <a:t>(3)</a:t>
            </a:r>
            <a:r>
              <a:rPr sz="1700" b="0" i="0">
                <a:solidFill>
                  <a:srgbClr val="1A1A1A"/>
                </a:solidFill>
                <a:latin typeface="Arial"/>
              </a:rPr>
              <a:t> while price holds or rises.</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11500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87726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4200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6.40</a:t>
            </a:r>
          </a:p>
          <a:p>
            <a:pPr algn="l">
              <a:lnSpc>
                <a:spcPct val="115000"/>
              </a:lnSpc>
              <a:spcBef>
                <a:spcPts val="0"/>
              </a:spcBef>
              <a:spcAft>
                <a:spcPts val="0"/>
              </a:spcAft>
            </a:pPr>
            <a:r>
              <a:rPr sz="15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p:txBody>
      </p:sp>
      <p:sp>
        <p:nvSpPr>
          <p:cNvPr id="14" name="Rectangle 13"/>
          <p:cNvSpPr/>
          <p:nvPr/>
        </p:nvSpPr>
        <p:spPr>
          <a:xfrm>
            <a:off x="8107746" y="2130792"/>
            <a:ext cx="617000" cy="230181"/>
          </a:xfrm>
          <a:prstGeom prst="rect">
            <a:avLst/>
          </a:prstGeom>
          <a:noFill/>
          <a:ln w="44450">
            <a:solidFill>
              <a:srgbClr val="E09B00"/>
            </a:solidFill>
          </a:ln>
        </p:spPr>
        <p:txBody>
          <a:bodyPr rtlCol="0" anchor="ctr"/>
          <a:lstStyle/>
          <a:p>
            <a:pPr algn="ctr"/>
          </a:p>
        </p:txBody>
      </p:sp>
      <p:sp>
        <p:nvSpPr>
          <p:cNvPr id="15" name="Rectangle 14"/>
          <p:cNvSpPr/>
          <p:nvPr/>
        </p:nvSpPr>
        <p:spPr>
          <a:xfrm>
            <a:off x="8981831" y="2102019"/>
            <a:ext cx="719833" cy="517907"/>
          </a:xfrm>
          <a:prstGeom prst="rect">
            <a:avLst/>
          </a:prstGeom>
          <a:noFill/>
          <a:ln w="44450">
            <a:solidFill>
              <a:srgbClr val="C62828"/>
            </a:solidFill>
          </a:ln>
        </p:spPr>
        <p:txBody>
          <a:bodyPr rtlCol="0" anchor="ctr"/>
          <a:lstStyle/>
          <a:p>
            <a:pPr algn="ctr"/>
          </a:p>
        </p:txBody>
      </p:sp>
      <p:sp>
        <p:nvSpPr>
          <p:cNvPr id="16" name="Rectangle 15"/>
          <p:cNvSpPr/>
          <p:nvPr/>
        </p:nvSpPr>
        <p:spPr>
          <a:xfrm>
            <a:off x="8107746" y="4029786"/>
            <a:ext cx="1799584" cy="345271"/>
          </a:xfrm>
          <a:prstGeom prst="rect">
            <a:avLst/>
          </a:prstGeom>
          <a:noFill/>
          <a:ln w="44450">
            <a:solidFill>
              <a:srgbClr val="1F5FAD"/>
            </a:solidFill>
          </a:ln>
        </p:spPr>
        <p:txBody>
          <a:bodyPr rtlCol="0" anchor="ctr"/>
          <a:lstStyle/>
          <a:p>
            <a:pPr algn="ctr"/>
          </a:p>
        </p:txBody>
      </p:sp>
      <p:cxnSp>
        <p:nvCxnSpPr>
          <p:cNvPr id="17" name="Connector 16"/>
          <p:cNvCxnSpPr/>
          <p:nvPr/>
        </p:nvCxnSpPr>
        <p:spPr>
          <a:xfrm>
            <a:off x="9881623" y="2562382"/>
            <a:ext cx="488459" cy="1208451"/>
          </a:xfrm>
          <a:prstGeom prst="line">
            <a:avLst/>
          </a:prstGeom>
          <a:ln w="44450">
            <a:solidFill>
              <a:srgbClr val="007A33"/>
            </a:solidFill>
            <a:tailEnd type="triangle" w="med" len="med"/>
          </a:ln>
        </p:spPr>
      </p:cxnSp>
      <p:sp>
        <p:nvSpPr>
          <p:cNvPr id="18" name="Oval 17"/>
          <p:cNvSpPr/>
          <p:nvPr/>
        </p:nvSpPr>
        <p:spPr>
          <a:xfrm>
            <a:off x="7952298" y="19753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826383" y="19465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952298" y="38743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26175" y="2406934"/>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035040" y="501696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bar: low L = 48, high H = 52, range H - L = 4, volume 2.0 million. C - L: the close's height above the low. H - C: its depth below the high.</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Close 52: (4 - 0) / 4 = 1, add 2.0.   </a:t>
            </a:r>
            <a:r>
              <a:rPr sz="1700" b="1" i="0">
                <a:solidFill>
                  <a:srgbClr val="C62828"/>
                </a:solidFill>
                <a:latin typeface="Arial"/>
              </a:rPr>
              <a:t>(2)</a:t>
            </a:r>
            <a:r>
              <a:rPr sz="1700" b="0" i="0">
                <a:solidFill>
                  <a:srgbClr val="1A1A1A"/>
                </a:solidFill>
                <a:latin typeface="Arial"/>
              </a:rPr>
              <a:t> Close 50: (2 - 2) / 4 = 0, add nothing.   </a:t>
            </a:r>
            <a:r>
              <a:rPr sz="1700" b="1" i="0">
                <a:solidFill>
                  <a:srgbClr val="1F5FAD"/>
                </a:solidFill>
                <a:latin typeface="Arial"/>
              </a:rPr>
              <a:t>(3)</a:t>
            </a:r>
            <a:r>
              <a:rPr sz="1700" b="0" i="0">
                <a:solidFill>
                  <a:srgbClr val="1A1A1A"/>
                </a:solidFill>
                <a:latin typeface="Arial"/>
              </a:rPr>
              <a:t> Close 49: (1 - 3) / 4 = -0.5, take 1.0.</a:t>
            </a:r>
          </a:p>
          <a:p>
            <a:pPr algn="l">
              <a:lnSpc>
                <a:spcPct val="105000"/>
              </a:lnSpc>
              <a:spcBef>
                <a:spcPts val="0"/>
              </a:spcBef>
              <a:spcAft>
                <a:spcPts val="1100"/>
              </a:spcAft>
            </a:pPr>
            <a:r>
              <a:rPr sz="1700" b="0" i="0">
                <a:solidFill>
                  <a:srgbClr val="1A1A1A"/>
                </a:solidFill>
                <a:latin typeface="Arial"/>
              </a:rPr>
              <a:t>The running total, bar by bar: 2.0, then 2.0 + 0 = 2.0, then 2.0 - 1.0 = 1.0. That total is the ADL.</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factor scores where the close sits: -1 at the low, 0 at the midpoint, +1 at the high.</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i.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26723" y="2034722"/>
            <a:ext cx="484997" cy="983162"/>
          </a:xfrm>
          <a:prstGeom prst="rect">
            <a:avLst/>
          </a:prstGeom>
          <a:noFill/>
          <a:ln w="44450">
            <a:solidFill>
              <a:srgbClr val="E09B00"/>
            </a:solidFill>
          </a:ln>
        </p:spPr>
        <p:txBody>
          <a:bodyPr rtlCol="0" anchor="ctr"/>
          <a:lstStyle/>
          <a:p>
            <a:pPr algn="ctr"/>
          </a:p>
        </p:txBody>
      </p:sp>
      <p:sp>
        <p:nvSpPr>
          <p:cNvPr id="13" name="Rectangle 12"/>
          <p:cNvSpPr/>
          <p:nvPr/>
        </p:nvSpPr>
        <p:spPr>
          <a:xfrm>
            <a:off x="9273387" y="2034722"/>
            <a:ext cx="484997" cy="983162"/>
          </a:xfrm>
          <a:prstGeom prst="rect">
            <a:avLst/>
          </a:prstGeom>
          <a:noFill/>
          <a:ln w="44450">
            <a:solidFill>
              <a:srgbClr val="C62828"/>
            </a:solidFill>
          </a:ln>
        </p:spPr>
        <p:txBody>
          <a:bodyPr rtlCol="0" anchor="ctr"/>
          <a:lstStyle/>
          <a:p>
            <a:pPr algn="ctr"/>
          </a:p>
        </p:txBody>
      </p:sp>
      <p:sp>
        <p:nvSpPr>
          <p:cNvPr id="14" name="Rectangle 13"/>
          <p:cNvSpPr/>
          <p:nvPr/>
        </p:nvSpPr>
        <p:spPr>
          <a:xfrm>
            <a:off x="9920051" y="2034722"/>
            <a:ext cx="444581" cy="983162"/>
          </a:xfrm>
          <a:prstGeom prst="rect">
            <a:avLst/>
          </a:prstGeom>
          <a:noFill/>
          <a:ln w="44450">
            <a:solidFill>
              <a:srgbClr val="1F5FAD"/>
            </a:solidFill>
          </a:ln>
        </p:spPr>
        <p:txBody>
          <a:bodyPr rtlCol="0" anchor="ctr"/>
          <a:lstStyle/>
          <a:p>
            <a:pPr algn="ctr"/>
          </a:p>
        </p:txBody>
      </p:sp>
      <p:sp>
        <p:nvSpPr>
          <p:cNvPr id="15" name="Oval 14"/>
          <p:cNvSpPr/>
          <p:nvPr/>
        </p:nvSpPr>
        <p:spPr>
          <a:xfrm>
            <a:off x="8471275" y="18792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117939" y="187927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764603" y="187927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JI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arithmetic and chart are ours, Chart AO's three bars.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8890528" y="3246120"/>
            <a:ext cx="39648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526024" y="2298070"/>
            <a:ext cx="396483" cy="316016"/>
          </a:xfrm>
          <a:prstGeom prst="ellipse">
            <a:avLst/>
          </a:prstGeom>
          <a:noFill/>
          <a:ln w="44450">
            <a:solidFill>
              <a:srgbClr val="C62828"/>
            </a:solidFill>
          </a:ln>
        </p:spPr>
        <p:txBody>
          <a:bodyPr rtlCol="0" anchor="ctr"/>
          <a:lstStyle/>
          <a:p>
            <a:pPr algn="ctr"/>
          </a:p>
        </p:txBody>
      </p:sp>
      <p:sp>
        <p:nvSpPr>
          <p:cNvPr id="14" name="Oval 13"/>
          <p:cNvSpPr/>
          <p:nvPr/>
        </p:nvSpPr>
        <p:spPr>
          <a:xfrm>
            <a:off x="8735080" y="30906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370576" y="21426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yesterday closed 50.00. Today runs from 46.00 to 51.00 on 2.0 million shares and closes at 49.75.</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OBV: 49.75 is below 50.00, so subtract all 2.0 million.</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C - L = 3.75, H - C = 1.25, range 5. Factor (3.75 - 1.25) / 5 = 0.5: add 1.0 million.</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OBV sees only yesterday's close; the ADL sees where today closed in today's bar.</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j.png"/>
          <p:cNvPicPr>
            <a:picLocks noChangeAspect="1"/>
          </p:cNvPicPr>
          <p:nvPr/>
        </p:nvPicPr>
        <p:blipFill>
          <a:blip r:embed="rId2"/>
          <a:stretch>
            <a:fillRect/>
          </a:stretch>
        </p:blipFill>
        <p:spPr>
          <a:xfrm>
            <a:off x="6703923" y="1929384"/>
            <a:ext cx="4590288" cy="3511296"/>
          </a:xfrm>
          <a:prstGeom prst="rect">
            <a:avLst/>
          </a:prstGeom>
        </p:spPr>
      </p:pic>
      <p:sp>
        <p:nvSpPr>
          <p:cNvPr id="12" name="Rectangle 11"/>
          <p:cNvSpPr/>
          <p:nvPr/>
        </p:nvSpPr>
        <p:spPr>
          <a:xfrm>
            <a:off x="9549902" y="3333902"/>
            <a:ext cx="527883" cy="1264066"/>
          </a:xfrm>
          <a:prstGeom prst="rect">
            <a:avLst/>
          </a:prstGeom>
          <a:noFill/>
          <a:ln w="44450">
            <a:solidFill>
              <a:srgbClr val="E09B00"/>
            </a:solidFill>
          </a:ln>
        </p:spPr>
        <p:txBody>
          <a:bodyPr rtlCol="0" anchor="ctr"/>
          <a:lstStyle/>
          <a:p>
            <a:pPr algn="ctr"/>
          </a:p>
        </p:txBody>
      </p:sp>
      <p:sp>
        <p:nvSpPr>
          <p:cNvPr id="13" name="Rectangle 12"/>
          <p:cNvSpPr/>
          <p:nvPr/>
        </p:nvSpPr>
        <p:spPr>
          <a:xfrm>
            <a:off x="10215493" y="2666756"/>
            <a:ext cx="550834" cy="772485"/>
          </a:xfrm>
          <a:prstGeom prst="rect">
            <a:avLst/>
          </a:prstGeom>
          <a:noFill/>
          <a:ln w="44450">
            <a:solidFill>
              <a:srgbClr val="C62828"/>
            </a:solidFill>
          </a:ln>
        </p:spPr>
        <p:txBody>
          <a:bodyPr rtlCol="0" anchor="ctr"/>
          <a:lstStyle/>
          <a:p>
            <a:pPr algn="ctr"/>
          </a:p>
        </p:txBody>
      </p:sp>
      <p:sp>
        <p:nvSpPr>
          <p:cNvPr id="14" name="Oval 13"/>
          <p:cNvSpPr/>
          <p:nvPr/>
        </p:nvSpPr>
        <p:spPr>
          <a:xfrm>
            <a:off x="9394454" y="317845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060045" y="25113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JJ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and the chart, read by the book's two rules from pp.203 and 205.</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Hourly EURUSD, June 2011: price makes new highs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price-based: rising with price, so bullish confirmation.</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Volume, plain: falling as price rises, so bearish divergence: an underlying weakness, the book says.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They disagree: wait for price itself to confirm a reversal, by breaking its own trendline.</a:t>
            </a:r>
          </a:p>
        </p:txBody>
      </p:sp>
      <p:sp>
        <p:nvSpPr>
          <p:cNvPr id="10" name="Rectangle 9"/>
          <p:cNvSpPr/>
          <p:nvPr/>
        </p:nvSpPr>
        <p:spPr>
          <a:xfrm>
            <a:off x="6035040" y="1810512"/>
            <a:ext cx="5379414" cy="281502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57727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1200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6.41</a:t>
            </a:r>
          </a:p>
          <a:p>
            <a:pPr algn="l">
              <a:lnSpc>
                <a:spcPct val="115000"/>
              </a:lnSpc>
              <a:spcBef>
                <a:spcPts val="0"/>
              </a:spcBef>
              <a:spcAft>
                <a:spcPts val="0"/>
              </a:spcAft>
            </a:pPr>
            <a:r>
              <a:rPr sz="15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p:txBody>
      </p:sp>
      <p:sp>
        <p:nvSpPr>
          <p:cNvPr id="14" name="Rectangle 13"/>
          <p:cNvSpPr/>
          <p:nvPr/>
        </p:nvSpPr>
        <p:spPr>
          <a:xfrm>
            <a:off x="8878997" y="2419066"/>
            <a:ext cx="1285417" cy="438137"/>
          </a:xfrm>
          <a:prstGeom prst="rect">
            <a:avLst/>
          </a:prstGeom>
          <a:noFill/>
          <a:ln w="44450">
            <a:solidFill>
              <a:srgbClr val="E09B00"/>
            </a:solidFill>
          </a:ln>
        </p:spPr>
        <p:txBody>
          <a:bodyPr rtlCol="0" anchor="ctr"/>
          <a:lstStyle/>
          <a:p>
            <a:pPr algn="ctr"/>
          </a:p>
        </p:txBody>
      </p:sp>
      <p:sp>
        <p:nvSpPr>
          <p:cNvPr id="15" name="Rectangle 14"/>
          <p:cNvSpPr/>
          <p:nvPr/>
        </p:nvSpPr>
        <p:spPr>
          <a:xfrm>
            <a:off x="8930414" y="3527296"/>
            <a:ext cx="1079750" cy="206182"/>
          </a:xfrm>
          <a:prstGeom prst="rect">
            <a:avLst/>
          </a:prstGeom>
          <a:noFill/>
          <a:ln w="44450">
            <a:solidFill>
              <a:srgbClr val="C62828"/>
            </a:solidFill>
          </a:ln>
        </p:spPr>
        <p:txBody>
          <a:bodyPr rtlCol="0" anchor="ctr"/>
          <a:lstStyle/>
          <a:p>
            <a:pPr algn="ctr"/>
          </a:p>
        </p:txBody>
      </p:sp>
      <p:sp>
        <p:nvSpPr>
          <p:cNvPr id="16" name="Rectangle 15"/>
          <p:cNvSpPr/>
          <p:nvPr/>
        </p:nvSpPr>
        <p:spPr>
          <a:xfrm>
            <a:off x="8519080" y="3991206"/>
            <a:ext cx="1953834" cy="386591"/>
          </a:xfrm>
          <a:prstGeom prst="rect">
            <a:avLst/>
          </a:prstGeom>
          <a:noFill/>
          <a:ln w="44450">
            <a:solidFill>
              <a:srgbClr val="1F5FAD"/>
            </a:solidFill>
          </a:ln>
        </p:spPr>
        <p:txBody>
          <a:bodyPr rtlCol="0" anchor="ctr"/>
          <a:lstStyle/>
          <a:p>
            <a:pPr algn="ctr"/>
          </a:p>
        </p:txBody>
      </p:sp>
      <p:sp>
        <p:nvSpPr>
          <p:cNvPr id="17" name="Oval 16"/>
          <p:cNvSpPr/>
          <p:nvPr/>
        </p:nvSpPr>
        <p:spPr>
          <a:xfrm>
            <a:off x="8723549" y="22636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74966" y="33718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363632" y="3835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4716974"/>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Both rising, or both falling: price trends in a decisive manner. Right ellipse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Opposite directions: price tends to range or consolidate, going sideways. Left ellipse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it may help choose. Together, trend-following; apart, range-bound.</a:t>
            </a:r>
          </a:p>
        </p:txBody>
      </p:sp>
      <p:sp>
        <p:nvSpPr>
          <p:cNvPr id="10" name="Rectangle 9"/>
          <p:cNvSpPr/>
          <p:nvPr/>
        </p:nvSpPr>
        <p:spPr>
          <a:xfrm>
            <a:off x="6462521" y="1810512"/>
            <a:ext cx="489021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1393" y="1929384"/>
            <a:ext cx="465246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1393" y="1929384"/>
            <a:ext cx="465246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55713" y="2203703"/>
            <a:ext cx="41038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6.42</a:t>
            </a:r>
          </a:p>
          <a:p>
            <a:pPr algn="l">
              <a:lnSpc>
                <a:spcPct val="115000"/>
              </a:lnSpc>
              <a:spcBef>
                <a:spcPts val="0"/>
              </a:spcBef>
              <a:spcAft>
                <a:spcPts val="0"/>
              </a:spcAft>
            </a:pPr>
            <a:r>
              <a:rPr sz="15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p:txBody>
      </p:sp>
      <p:sp>
        <p:nvSpPr>
          <p:cNvPr id="14" name="Oval 13"/>
          <p:cNvSpPr/>
          <p:nvPr/>
        </p:nvSpPr>
        <p:spPr>
          <a:xfrm>
            <a:off x="9140250" y="4001048"/>
            <a:ext cx="1581838" cy="1299179"/>
          </a:xfrm>
          <a:prstGeom prst="ellipse">
            <a:avLst/>
          </a:prstGeom>
          <a:noFill/>
          <a:ln w="44450">
            <a:solidFill>
              <a:srgbClr val="E09B00"/>
            </a:solidFill>
          </a:ln>
        </p:spPr>
        <p:txBody>
          <a:bodyPr rtlCol="0" anchor="ctr"/>
          <a:lstStyle/>
          <a:p>
            <a:pPr algn="ctr"/>
          </a:p>
        </p:txBody>
      </p:sp>
      <p:sp>
        <p:nvSpPr>
          <p:cNvPr id="15" name="Oval 14"/>
          <p:cNvSpPr/>
          <p:nvPr/>
        </p:nvSpPr>
        <p:spPr>
          <a:xfrm>
            <a:off x="6674443" y="3930822"/>
            <a:ext cx="2233184" cy="1474744"/>
          </a:xfrm>
          <a:prstGeom prst="ellipse">
            <a:avLst/>
          </a:prstGeom>
          <a:noFill/>
          <a:ln w="44450">
            <a:solidFill>
              <a:srgbClr val="C62828"/>
            </a:solidFill>
          </a:ln>
        </p:spPr>
        <p:txBody>
          <a:bodyPr rtlCol="0" anchor="ctr"/>
          <a:lstStyle/>
          <a:p>
            <a:pPr algn="ctr"/>
          </a:p>
        </p:txBody>
      </p:sp>
      <p:sp>
        <p:nvSpPr>
          <p:cNvPr id="16" name="Oval 15"/>
          <p:cNvSpPr/>
          <p:nvPr/>
        </p:nvSpPr>
        <p:spPr>
          <a:xfrm>
            <a:off x="8984802" y="38456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518995" y="377537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ADL's factor runs from -1 to +1, so no S is bigger than its bar's volume, and the CMF also runs from -1 to +1.</a:t>
            </a:r>
          </a:p>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-1: every bar closed at its low. </a:t>
            </a:r>
            <a:r>
              <a:rPr sz="1600" b="1" i="0">
                <a:solidFill>
                  <a:srgbClr val="C62828"/>
                </a:solidFill>
                <a:latin typeface="Arial"/>
              </a:rPr>
              <a:t>(2)</a:t>
            </a:r>
            <a:r>
              <a:rPr sz="1600" b="0" i="0">
                <a:solidFill>
                  <a:srgbClr val="1A1A1A"/>
                </a:solidFill>
                <a:latin typeface="Arial"/>
              </a:rPr>
              <a:t> 0: on balance, closes at their midpoints. +1: every bar closed at its high.</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Our 0.17: of 6.0 million traded, a net 1.0 million counts as added: on balance, volume came with closes above their midpoints.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5595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Our arithmetic. The book reads the CMF only by a line and an oversold level, three slides on.</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k.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168060" y="3298789"/>
            <a:ext cx="506943" cy="983162"/>
          </a:xfrm>
          <a:prstGeom prst="rect">
            <a:avLst/>
          </a:prstGeom>
          <a:noFill/>
          <a:ln w="44450">
            <a:solidFill>
              <a:srgbClr val="E09B00"/>
            </a:solidFill>
          </a:ln>
        </p:spPr>
        <p:txBody>
          <a:bodyPr rtlCol="0" anchor="ctr"/>
          <a:lstStyle/>
          <a:p>
            <a:pPr algn="ctr"/>
          </a:p>
        </p:txBody>
      </p:sp>
      <p:sp>
        <p:nvSpPr>
          <p:cNvPr id="13" name="Oval 12"/>
          <p:cNvSpPr/>
          <p:nvPr/>
        </p:nvSpPr>
        <p:spPr>
          <a:xfrm>
            <a:off x="8843985" y="3158337"/>
            <a:ext cx="422452" cy="386242"/>
          </a:xfrm>
          <a:prstGeom prst="ellipse">
            <a:avLst/>
          </a:prstGeom>
          <a:noFill/>
          <a:ln w="44450">
            <a:solidFill>
              <a:srgbClr val="C62828"/>
            </a:solidFill>
          </a:ln>
        </p:spPr>
        <p:txBody>
          <a:bodyPr rtlCol="0" anchor="ctr"/>
          <a:lstStyle/>
          <a:p>
            <a:pPr algn="ctr"/>
          </a:p>
        </p:txBody>
      </p:sp>
      <p:sp>
        <p:nvSpPr>
          <p:cNvPr id="14" name="Rectangle 13"/>
          <p:cNvSpPr/>
          <p:nvPr/>
        </p:nvSpPr>
        <p:spPr>
          <a:xfrm>
            <a:off x="9456541" y="3017885"/>
            <a:ext cx="506943" cy="456468"/>
          </a:xfrm>
          <a:prstGeom prst="rect">
            <a:avLst/>
          </a:prstGeom>
          <a:noFill/>
          <a:ln w="44450">
            <a:solidFill>
              <a:srgbClr val="1F5FAD"/>
            </a:solidFill>
          </a:ln>
        </p:spPr>
        <p:txBody>
          <a:bodyPr rtlCol="0" anchor="ctr"/>
          <a:lstStyle/>
          <a:p>
            <a:pPr algn="ctr"/>
          </a:p>
        </p:txBody>
      </p:sp>
      <p:sp>
        <p:nvSpPr>
          <p:cNvPr id="15" name="Oval 14"/>
          <p:cNvSpPr/>
          <p:nvPr/>
        </p:nvSpPr>
        <p:spPr>
          <a:xfrm>
            <a:off x="8012612" y="31433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8537" y="30028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01093" y="286243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JK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and the chart. The book gives no reading of the CMF's value.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EMA, exponential moving average: a moving average of the last few values, like Part 3's smoothed volume. This chapter never says how it weights them.</a:t>
            </a:r>
          </a:p>
          <a:p>
            <a:pPr algn="l">
              <a:lnSpc>
                <a:spcPct val="105000"/>
              </a:lnSpc>
              <a:spcBef>
                <a:spcPts val="0"/>
              </a:spcBef>
              <a:spcAft>
                <a:spcPts val="1100"/>
              </a:spcAft>
            </a:pPr>
            <a:r>
              <a:rPr sz="1700" b="0" i="0">
                <a:solidFill>
                  <a:srgbClr val="1A1A1A"/>
                </a:solidFill>
                <a:latin typeface="Arial"/>
              </a:rPr>
              <a:t>A 3-bar EMA follows the running total closely; a 10-bar one follows it slowly.</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Above 0, the recent average is above the longer one: the total has been rising lately. </a:t>
            </a:r>
            <a:r>
              <a:rPr sz="1700" b="1" i="0">
                <a:solidFill>
                  <a:srgbClr val="C62828"/>
                </a:solidFill>
                <a:latin typeface="Arial"/>
              </a:rPr>
              <a:t>(2)</a:t>
            </a:r>
            <a:r>
              <a:rPr sz="1700" b="0" i="0">
                <a:solidFill>
                  <a:srgbClr val="1A1A1A"/>
                </a:solidFill>
                <a:latin typeface="Arial"/>
              </a:rPr>
              <a:t> Below 0, falling. Ours: the book gives no reading of the sign.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a label CMF(20) as N = 20, and ChiOsc(3,10) as EMAs of 3 and 10 bars.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l.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67140" y="4141500"/>
            <a:ext cx="1758116" cy="561807"/>
          </a:xfrm>
          <a:prstGeom prst="rect">
            <a:avLst/>
          </a:prstGeom>
          <a:noFill/>
          <a:ln w="44450">
            <a:solidFill>
              <a:srgbClr val="E09B00"/>
            </a:solidFill>
          </a:ln>
        </p:spPr>
        <p:txBody>
          <a:bodyPr rtlCol="0" anchor="ctr"/>
          <a:lstStyle/>
          <a:p>
            <a:pPr algn="ctr"/>
          </a:p>
        </p:txBody>
      </p:sp>
      <p:sp>
        <p:nvSpPr>
          <p:cNvPr id="13" name="Rectangle 12"/>
          <p:cNvSpPr/>
          <p:nvPr/>
        </p:nvSpPr>
        <p:spPr>
          <a:xfrm>
            <a:off x="7535478" y="4615525"/>
            <a:ext cx="1212494" cy="263347"/>
          </a:xfrm>
          <a:prstGeom prst="rect">
            <a:avLst/>
          </a:prstGeom>
          <a:noFill/>
          <a:ln w="44450">
            <a:solidFill>
              <a:srgbClr val="C62828"/>
            </a:solidFill>
          </a:ln>
        </p:spPr>
        <p:txBody>
          <a:bodyPr rtlCol="0" anchor="ctr"/>
          <a:lstStyle/>
          <a:p>
            <a:pPr algn="ctr"/>
          </a:p>
        </p:txBody>
      </p:sp>
      <p:sp>
        <p:nvSpPr>
          <p:cNvPr id="14" name="Oval 13"/>
          <p:cNvSpPr/>
          <p:nvPr/>
        </p:nvSpPr>
        <p:spPr>
          <a:xfrm>
            <a:off x="8511692" y="39860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380030" y="44600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 the chart is Chart FD's invented values.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t>
            </a:r>
            <a:r>
              <a:rPr sz="1700" b="1" i="0">
                <a:solidFill>
                  <a:srgbClr val="1F5FAD"/>
                </a:solidFill>
                <a:latin typeface="Arial"/>
              </a:rPr>
              <a:t>(3)</a:t>
            </a:r>
            <a:r>
              <a:rPr sz="1700" b="0" i="0">
                <a:solidFill>
                  <a:srgbClr val="1A1A1A"/>
                </a:solidFill>
                <a:latin typeface="Arial"/>
              </a:rPr>
              <a:t>: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362157" y="1810512"/>
            <a:ext cx="472518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81029" y="1929384"/>
            <a:ext cx="448743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81029" y="1929384"/>
            <a:ext cx="448743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55349" y="2203703"/>
            <a:ext cx="39387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6.43</a:t>
            </a:r>
          </a:p>
          <a:p>
            <a:pPr algn="l">
              <a:lnSpc>
                <a:spcPct val="115000"/>
              </a:lnSpc>
              <a:spcBef>
                <a:spcPts val="0"/>
              </a:spcBef>
              <a:spcAft>
                <a:spcPts val="0"/>
              </a:spcAft>
            </a:pPr>
            <a:r>
              <a:rPr sz="15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p:txBody>
      </p:sp>
      <p:sp>
        <p:nvSpPr>
          <p:cNvPr id="14" name="Rectangle 13"/>
          <p:cNvSpPr/>
          <p:nvPr/>
        </p:nvSpPr>
        <p:spPr>
          <a:xfrm>
            <a:off x="8769621" y="4071274"/>
            <a:ext cx="987235" cy="1193840"/>
          </a:xfrm>
          <a:prstGeom prst="rect">
            <a:avLst/>
          </a:prstGeom>
          <a:noFill/>
          <a:ln w="44450">
            <a:solidFill>
              <a:srgbClr val="E09B00"/>
            </a:solidFill>
          </a:ln>
        </p:spPr>
        <p:txBody>
          <a:bodyPr rtlCol="0" anchor="ctr"/>
          <a:lstStyle/>
          <a:p>
            <a:pPr algn="ctr"/>
          </a:p>
        </p:txBody>
      </p:sp>
      <p:sp>
        <p:nvSpPr>
          <p:cNvPr id="15" name="Oval 14"/>
          <p:cNvSpPr/>
          <p:nvPr/>
        </p:nvSpPr>
        <p:spPr>
          <a:xfrm>
            <a:off x="9218365" y="2175174"/>
            <a:ext cx="493617" cy="386242"/>
          </a:xfrm>
          <a:prstGeom prst="ellipse">
            <a:avLst/>
          </a:prstGeom>
          <a:noFill/>
          <a:ln w="44450">
            <a:solidFill>
              <a:srgbClr val="C62828"/>
            </a:solidFill>
          </a:ln>
        </p:spPr>
        <p:txBody>
          <a:bodyPr rtlCol="0" anchor="ctr"/>
          <a:lstStyle/>
          <a:p>
            <a:pPr algn="ctr"/>
          </a:p>
        </p:txBody>
      </p:sp>
      <p:sp>
        <p:nvSpPr>
          <p:cNvPr id="16" name="Rectangle 15"/>
          <p:cNvSpPr/>
          <p:nvPr/>
        </p:nvSpPr>
        <p:spPr>
          <a:xfrm>
            <a:off x="9958792" y="4492630"/>
            <a:ext cx="381432" cy="790041"/>
          </a:xfrm>
          <a:prstGeom prst="rect">
            <a:avLst/>
          </a:prstGeom>
          <a:noFill/>
          <a:ln w="44450">
            <a:solidFill>
              <a:srgbClr val="1F5FAD"/>
            </a:solidFill>
          </a:ln>
        </p:spPr>
        <p:txBody>
          <a:bodyPr rtlCol="0" anchor="ctr"/>
          <a:lstStyle/>
          <a:p>
            <a:pPr algn="ctr"/>
          </a:p>
        </p:txBody>
      </p:sp>
      <p:sp>
        <p:nvSpPr>
          <p:cNvPr id="17" name="Oval 16"/>
          <p:cNvSpPr/>
          <p:nvPr/>
        </p:nvSpPr>
        <p:spPr>
          <a:xfrm>
            <a:off x="8614173" y="391582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062917" y="201972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803344" y="433718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Top: the indicator falls through its rising trendline in mid 2011: an early bearish signal.</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a:t>
            </a:r>
            <a:r>
              <a:rPr sz="1700" b="1" i="0">
                <a:solidFill>
                  <a:srgbClr val="1F5FAD"/>
                </a:solidFill>
                <a:latin typeface="Arial"/>
              </a:rPr>
              <a:t>(3)</a:t>
            </a:r>
            <a:r>
              <a:rPr sz="1700" b="0" i="0">
                <a:solidFill>
                  <a:srgbClr val="1A1A1A"/>
                </a:solidFill>
                <a:latin typeface="Arial"/>
              </a:rPr>
              <a:t>.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2893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30515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943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p:txBody>
      </p:sp>
      <p:sp>
        <p:nvSpPr>
          <p:cNvPr id="14" name="Oval 13"/>
          <p:cNvSpPr/>
          <p:nvPr/>
        </p:nvSpPr>
        <p:spPr>
          <a:xfrm>
            <a:off x="9907121" y="2173509"/>
            <a:ext cx="446291" cy="396703"/>
          </a:xfrm>
          <a:prstGeom prst="ellipse">
            <a:avLst/>
          </a:prstGeom>
          <a:noFill/>
          <a:ln w="44450">
            <a:solidFill>
              <a:srgbClr val="E09B00"/>
            </a:solidFill>
          </a:ln>
        </p:spPr>
        <p:txBody>
          <a:bodyPr rtlCol="0" anchor="ctr"/>
          <a:lstStyle/>
          <a:p>
            <a:pPr algn="ctr"/>
          </a:p>
        </p:txBody>
      </p:sp>
      <p:sp>
        <p:nvSpPr>
          <p:cNvPr id="15" name="Oval 14"/>
          <p:cNvSpPr/>
          <p:nvPr/>
        </p:nvSpPr>
        <p:spPr>
          <a:xfrm>
            <a:off x="10229442" y="4126509"/>
            <a:ext cx="396703" cy="427218"/>
          </a:xfrm>
          <a:prstGeom prst="ellipse">
            <a:avLst/>
          </a:prstGeom>
          <a:noFill/>
          <a:ln w="44450">
            <a:solidFill>
              <a:srgbClr val="C62828"/>
            </a:solidFill>
          </a:ln>
        </p:spPr>
        <p:txBody>
          <a:bodyPr rtlCol="0" anchor="ctr"/>
          <a:lstStyle/>
          <a:p>
            <a:pPr algn="ctr"/>
          </a:p>
        </p:txBody>
      </p:sp>
      <p:sp>
        <p:nvSpPr>
          <p:cNvPr id="16" name="Rectangle 15"/>
          <p:cNvSpPr/>
          <p:nvPr/>
        </p:nvSpPr>
        <p:spPr>
          <a:xfrm>
            <a:off x="6535143" y="3760322"/>
            <a:ext cx="595054" cy="335672"/>
          </a:xfrm>
          <a:prstGeom prst="rect">
            <a:avLst/>
          </a:prstGeom>
          <a:noFill/>
          <a:ln w="44450">
            <a:solidFill>
              <a:srgbClr val="1F5FAD"/>
            </a:solidFill>
          </a:ln>
        </p:spPr>
        <p:txBody>
          <a:bodyPr rtlCol="0" anchor="ctr"/>
          <a:lstStyle/>
          <a:p>
            <a:pPr algn="ctr"/>
          </a:p>
        </p:txBody>
      </p:sp>
      <p:sp>
        <p:nvSpPr>
          <p:cNvPr id="17" name="Oval 16"/>
          <p:cNvSpPr/>
          <p:nvPr/>
        </p:nvSpPr>
        <p:spPr>
          <a:xfrm>
            <a:off x="9751673" y="201806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73994" y="39710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379695" y="360487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519125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Commercials: hedgers, holding non-cash positions, a phrase the book never explains.</a:t>
            </a:r>
          </a:p>
          <a:p>
            <a:pPr algn="l">
              <a:lnSpc>
                <a:spcPct val="105000"/>
              </a:lnSpc>
              <a:spcBef>
                <a:spcPts val="0"/>
              </a:spcBef>
              <a:spcAft>
                <a:spcPts val="1100"/>
              </a:spcAft>
            </a:pPr>
            <a:r>
              <a:rPr sz="1700" b="0" i="0">
                <a:solidFill>
                  <a:srgbClr val="1A1A1A"/>
                </a:solidFill>
                <a:latin typeface="Arial"/>
              </a:rPr>
              <a:t>The book: traders use it to identify potential tops and bottoms, by two things.</a:t>
            </a:r>
          </a:p>
          <a:p>
            <a:pPr algn="l">
              <a:lnSpc>
                <a:spcPct val="105000"/>
              </a:lnSpc>
              <a:spcBef>
                <a:spcPts val="0"/>
              </a:spcBef>
              <a:spcAft>
                <a:spcPts val="1100"/>
              </a:spcAft>
            </a:pPr>
            <a:r>
              <a:rPr sz="1700" b="0" i="0">
                <a:solidFill>
                  <a:srgbClr val="1A1A1A"/>
                </a:solidFill>
                <a:latin typeface="Arial"/>
              </a:rPr>
              <a:t>One: changes in net commercial or non-commercial positions. Net: never defined, so not drawn.</a:t>
            </a:r>
          </a:p>
          <a:p>
            <a:pPr algn="l">
              <a:lnSpc>
                <a:spcPct val="105000"/>
              </a:lnSpc>
              <a:spcBef>
                <a:spcPts val="0"/>
              </a:spcBef>
              <a:spcAft>
                <a:spcPts val="1100"/>
              </a:spcAft>
            </a:pPr>
            <a:r>
              <a:rPr sz="1700" b="0" i="0">
                <a:solidFill>
                  <a:srgbClr val="1A1A1A"/>
                </a:solidFill>
                <a:latin typeface="Arial"/>
              </a:rPr>
              <a:t>Two: open interest testing a significant or historical level: back at an old level </a:t>
            </a:r>
            <a:r>
              <a:rPr sz="1700" b="1" i="0">
                <a:solidFill>
                  <a:srgbClr val="E09B00"/>
                </a:solidFill>
                <a:latin typeface="Arial"/>
              </a:rPr>
              <a:t>(1)</a:t>
            </a:r>
            <a:r>
              <a:rPr sz="1700" b="0" i="0">
                <a:solidFill>
                  <a:srgbClr val="1A1A1A"/>
                </a:solidFill>
                <a:latin typeface="Arial"/>
              </a:rPr>
              <a: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Ours: treat either as a warning, and wait for price to confirm </a:t>
            </a:r>
            <a:r>
              <a:rPr sz="1800" b="1" i="0">
                <a:solidFill>
                  <a:srgbClr val="C62828"/>
                </a:solidFill>
                <a:latin typeface="Arial"/>
              </a:rPr>
              <a:t>(2)</a:t>
            </a:r>
            <a:r>
              <a:rPr sz="1800" b="1" i="0">
                <a:solidFill>
                  <a:srgbClr val="1A1A1A"/>
                </a:solidFill>
                <a:latin typeface="Arial"/>
              </a:rPr>
              <a:t>, as for the ADL.</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m.png"/>
          <p:cNvPicPr>
            <a:picLocks noChangeAspect="1"/>
          </p:cNvPicPr>
          <p:nvPr/>
        </p:nvPicPr>
        <p:blipFill>
          <a:blip r:embed="rId2"/>
          <a:stretch>
            <a:fillRect/>
          </a:stretch>
        </p:blipFill>
        <p:spPr>
          <a:xfrm>
            <a:off x="7252563" y="1929384"/>
            <a:ext cx="4041648" cy="3511296"/>
          </a:xfrm>
          <a:prstGeom prst="rect">
            <a:avLst/>
          </a:prstGeom>
        </p:spPr>
      </p:pic>
      <p:sp>
        <p:nvSpPr>
          <p:cNvPr id="12" name="Oval 11"/>
          <p:cNvSpPr/>
          <p:nvPr/>
        </p:nvSpPr>
        <p:spPr>
          <a:xfrm>
            <a:off x="10485881" y="3614806"/>
            <a:ext cx="323331" cy="351129"/>
          </a:xfrm>
          <a:prstGeom prst="ellipse">
            <a:avLst/>
          </a:prstGeom>
          <a:noFill/>
          <a:ln w="44450">
            <a:solidFill>
              <a:srgbClr val="E09B00"/>
            </a:solidFill>
          </a:ln>
        </p:spPr>
        <p:txBody>
          <a:bodyPr rtlCol="0" anchor="ctr"/>
          <a:lstStyle/>
          <a:p>
            <a:pPr algn="ctr"/>
          </a:p>
        </p:txBody>
      </p:sp>
      <p:sp>
        <p:nvSpPr>
          <p:cNvPr id="13" name="Oval 12"/>
          <p:cNvSpPr/>
          <p:nvPr/>
        </p:nvSpPr>
        <p:spPr>
          <a:xfrm>
            <a:off x="10910254" y="2245400"/>
            <a:ext cx="323331" cy="421355"/>
          </a:xfrm>
          <a:prstGeom prst="ellipse">
            <a:avLst/>
          </a:prstGeom>
          <a:noFill/>
          <a:ln w="44450">
            <a:solidFill>
              <a:srgbClr val="C62828"/>
            </a:solidFill>
          </a:ln>
        </p:spPr>
        <p:txBody>
          <a:bodyPr rtlCol="0" anchor="ctr"/>
          <a:lstStyle/>
          <a:p>
            <a:pPr algn="ctr"/>
          </a:p>
        </p:txBody>
      </p:sp>
      <p:sp>
        <p:nvSpPr>
          <p:cNvPr id="14" name="Oval 13"/>
          <p:cNvSpPr/>
          <p:nvPr/>
        </p:nvSpPr>
        <p:spPr>
          <a:xfrm>
            <a:off x="10330433" y="345935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754806" y="20899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 the chart is ours, invented.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VWMA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Above the VWMA (Part 2): the text calls price potentially bullish, then, a paragraph later, overvalued, where institutions look to sell.</a:t>
            </a:r>
          </a:p>
          <a:p>
            <a:pPr algn="l">
              <a:lnSpc>
                <a:spcPct val="105000"/>
              </a:lnSpc>
              <a:spcBef>
                <a:spcPts val="0"/>
              </a:spcBef>
              <a:spcAft>
                <a:spcPts val="1100"/>
              </a:spcAft>
            </a:pPr>
            <a:r>
              <a:rPr sz="1900" b="0" i="0">
                <a:solidFill>
                  <a:srgbClr val="1A1A1A"/>
                </a:solidFill>
                <a:latin typeface="Arial"/>
              </a:rPr>
              <a:t>Figure 6.11, the book's VWMA picture, prints price above its line as bullish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Its caption says a VWMA on a daily chart; its own labels say VWAP on 10-minute bars </a:t>
            </a:r>
            <a:r>
              <a:rPr sz="1900" b="1" i="0">
                <a:solidFill>
                  <a:srgbClr val="C62828"/>
                </a:solidFill>
                <a:latin typeface="Arial"/>
              </a:rPr>
              <a:t>(2)</a:t>
            </a:r>
            <a:r>
              <a:rPr sz="1900" b="0" i="0">
                <a:solidFill>
                  <a:srgbClr val="1A1A1A"/>
                </a:solidFill>
                <a:latin typeface="Arial"/>
              </a:rPr>
              <a:t>.</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No check rests on any of these. If asked, give both readings.</a:t>
            </a:r>
          </a:p>
        </p:txBody>
      </p:sp>
      <p:sp>
        <p:nvSpPr>
          <p:cNvPr id="10" name="Rectangle 9"/>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The SPY on 10-minute bars with its VWAP line: the label price above VWAP, bullish, and the chart's own labels, SPY 10 min and VWAP, top left.</a:t>
            </a:r>
          </a:p>
        </p:txBody>
      </p:sp>
      <p:sp>
        <p:nvSpPr>
          <p:cNvPr id="14" name="Rectangle 13"/>
          <p:cNvSpPr/>
          <p:nvPr/>
        </p:nvSpPr>
        <p:spPr>
          <a:xfrm>
            <a:off x="8976102" y="2169159"/>
            <a:ext cx="918606" cy="146529"/>
          </a:xfrm>
          <a:prstGeom prst="rect">
            <a:avLst/>
          </a:prstGeom>
          <a:noFill/>
          <a:ln w="44450">
            <a:solidFill>
              <a:srgbClr val="E09B00"/>
            </a:solidFill>
          </a:ln>
        </p:spPr>
        <p:txBody>
          <a:bodyPr rtlCol="0" anchor="ctr"/>
          <a:lstStyle/>
          <a:p>
            <a:pPr algn="ctr"/>
          </a:p>
        </p:txBody>
      </p:sp>
      <p:sp>
        <p:nvSpPr>
          <p:cNvPr id="15" name="Rectangle 14"/>
          <p:cNvSpPr/>
          <p:nvPr/>
        </p:nvSpPr>
        <p:spPr>
          <a:xfrm>
            <a:off x="6702551" y="2009309"/>
            <a:ext cx="803780" cy="173171"/>
          </a:xfrm>
          <a:prstGeom prst="rect">
            <a:avLst/>
          </a:prstGeom>
          <a:noFill/>
          <a:ln w="44450">
            <a:solidFill>
              <a:srgbClr val="C62828"/>
            </a:solidFill>
          </a:ln>
        </p:spPr>
        <p:txBody>
          <a:bodyPr rtlCol="0" anchor="ctr"/>
          <a:lstStyle/>
          <a:p>
            <a:pPr algn="ctr"/>
          </a:p>
        </p:txBody>
      </p:sp>
      <p:sp>
        <p:nvSpPr>
          <p:cNvPr id="16" name="Oval 15"/>
          <p:cNvSpPr/>
          <p:nvPr/>
        </p:nvSpPr>
        <p:spPr>
          <a:xfrm>
            <a:off x="8820654" y="20137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547103" y="18538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p.181 and Figure 6.11 (Part 2). Each is also named on its own slide.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TRIN (Part 4): the text calls it overbought. Figure 6.25 labels it TRIN oversold </a:t>
            </a:r>
            <a:r>
              <a:rPr sz="2000" b="1" i="0">
                <a:solidFill>
                  <a:srgbClr val="E09B00"/>
                </a:solidFill>
                <a:latin typeface="Arial"/>
              </a:rPr>
              <a:t>(1)</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Its caption says a daily chart; its own label and its time axis say 1-minute bars </a:t>
            </a:r>
            <a:r>
              <a:rPr sz="2000" b="1" i="0">
                <a:solidFill>
                  <a:srgbClr val="C62828"/>
                </a:solidFill>
                <a:latin typeface="Arial"/>
              </a:rPr>
              <a:t>(2)</a:t>
            </a:r>
            <a:r>
              <a:rPr sz="2000" b="0" i="0">
                <a:solidFill>
                  <a:srgbClr val="1A1A1A"/>
                </a:solidFill>
                <a:latin typeface="Arial"/>
              </a:rPr>
              <a:t>, within one day.</a:t>
            </a:r>
          </a:p>
        </p:txBody>
      </p:sp>
      <p:sp>
        <p:nvSpPr>
          <p:cNvPr id="8" name="Rectangle 7"/>
          <p:cNvSpPr/>
          <p:nvPr/>
        </p:nvSpPr>
        <p:spPr>
          <a:xfrm>
            <a:off x="777240" y="4416552"/>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Name both.</a:t>
            </a:r>
          </a:p>
        </p:txBody>
      </p:sp>
      <p:sp>
        <p:nvSpPr>
          <p:cNvPr id="10" name="Rectangle 9"/>
          <p:cNvSpPr/>
          <p:nvPr/>
        </p:nvSpPr>
        <p:spPr>
          <a:xfrm>
            <a:off x="6583679" y="1810512"/>
            <a:ext cx="4830775" cy="35612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3234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662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S&amp;P 500 on 1-minute bars over its tick and TRIN panels, with the TRIN's high marked TRIN oversold and the chart's own label, SPX 1 min, top left.</a:t>
            </a:r>
          </a:p>
        </p:txBody>
      </p:sp>
      <p:sp>
        <p:nvSpPr>
          <p:cNvPr id="14" name="Rectangle 13"/>
          <p:cNvSpPr/>
          <p:nvPr/>
        </p:nvSpPr>
        <p:spPr>
          <a:xfrm>
            <a:off x="9527266" y="4621392"/>
            <a:ext cx="1630526" cy="232642"/>
          </a:xfrm>
          <a:prstGeom prst="rect">
            <a:avLst/>
          </a:prstGeom>
          <a:noFill/>
          <a:ln w="44450">
            <a:solidFill>
              <a:srgbClr val="E09B00"/>
            </a:solidFill>
          </a:ln>
        </p:spPr>
        <p:txBody>
          <a:bodyPr rtlCol="0" anchor="ctr"/>
          <a:lstStyle/>
          <a:p>
            <a:pPr algn="ctr"/>
          </a:p>
        </p:txBody>
      </p:sp>
      <p:sp>
        <p:nvSpPr>
          <p:cNvPr id="15" name="Rectangle 14"/>
          <p:cNvSpPr/>
          <p:nvPr/>
        </p:nvSpPr>
        <p:spPr>
          <a:xfrm>
            <a:off x="6771447" y="2029088"/>
            <a:ext cx="918606" cy="132938"/>
          </a:xfrm>
          <a:prstGeom prst="rect">
            <a:avLst/>
          </a:prstGeom>
          <a:noFill/>
          <a:ln w="44450">
            <a:solidFill>
              <a:srgbClr val="C62828"/>
            </a:solidFill>
          </a:ln>
        </p:spPr>
        <p:txBody>
          <a:bodyPr rtlCol="0" anchor="ctr"/>
          <a:lstStyle/>
          <a:p>
            <a:pPr algn="ctr"/>
          </a:p>
        </p:txBody>
      </p:sp>
      <p:sp>
        <p:nvSpPr>
          <p:cNvPr id="16" name="Oval 15"/>
          <p:cNvSpPr/>
          <p:nvPr/>
        </p:nvSpPr>
        <p:spPr>
          <a:xfrm>
            <a:off x="9371818" y="44659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615999" y="18736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46316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p.193 and Figure 6.25 (Part 4). Each is also named on its own slide.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NYSE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NYSE Up/Down Volume (Part 6): the text calls it the ratio of advancing volume over declining volume.</a:t>
            </a:r>
          </a:p>
          <a:p>
            <a:pPr algn="l">
              <a:lnSpc>
                <a:spcPct val="105000"/>
              </a:lnSpc>
              <a:spcBef>
                <a:spcPts val="0"/>
              </a:spcBef>
              <a:spcAft>
                <a:spcPts val="1100"/>
              </a:spcAft>
            </a:pPr>
            <a:r>
              <a:rPr sz="2000" b="0" i="0">
                <a:solidFill>
                  <a:srgbClr val="1A1A1A"/>
                </a:solidFill>
                <a:latin typeface="Arial"/>
              </a:rPr>
              <a:t>Figure 6.44 labels its line cumulative </a:t>
            </a:r>
            <a:r>
              <a:rPr sz="2000" b="1" i="0">
                <a:solidFill>
                  <a:srgbClr val="E09B00"/>
                </a:solidFill>
                <a:latin typeface="Arial"/>
              </a:rPr>
              <a:t>(1)</a:t>
            </a:r>
            <a:r>
              <a:rPr sz="2000" b="0" i="0">
                <a:solidFill>
                  <a:srgbClr val="1A1A1A"/>
                </a:solidFill>
                <a:latin typeface="Arial"/>
              </a:rPr>
              <a:t>, and the line runs below zero </a:t>
            </a:r>
            <a:r>
              <a:rPr sz="2000" b="1" i="0">
                <a:solidFill>
                  <a:srgbClr val="C62828"/>
                </a:solidFill>
                <a:latin typeface="Arial"/>
              </a:rPr>
              <a:t>(2)</a:t>
            </a:r>
            <a:r>
              <a:rPr sz="2000" b="0" i="0">
                <a:solidFill>
                  <a:srgbClr val="1A1A1A"/>
                </a:solidFill>
                <a:latin typeface="Arial"/>
              </a:rPr>
              <a:t>, which a ratio of two volumes cannot.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reconcile them. If asked, give both.</a:t>
            </a:r>
          </a:p>
        </p:txBody>
      </p:sp>
      <p:sp>
        <p:nvSpPr>
          <p:cNvPr id="10" name="Rectangle 9"/>
          <p:cNvSpPr/>
          <p:nvPr/>
        </p:nvSpPr>
        <p:spPr>
          <a:xfrm>
            <a:off x="6583679" y="1810512"/>
            <a:ext cx="4830775" cy="30642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648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928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The NYSE Advance-Decline Volume line, labelled cumulative top left, dipping below zero in early 2009, over the NYSE Composite Index.</a:t>
            </a:r>
          </a:p>
        </p:txBody>
      </p:sp>
      <p:sp>
        <p:nvSpPr>
          <p:cNvPr id="14" name="Rectangle 13"/>
          <p:cNvSpPr/>
          <p:nvPr/>
        </p:nvSpPr>
        <p:spPr>
          <a:xfrm>
            <a:off x="6702551" y="2028310"/>
            <a:ext cx="1837212" cy="127191"/>
          </a:xfrm>
          <a:prstGeom prst="rect">
            <a:avLst/>
          </a:prstGeom>
          <a:noFill/>
          <a:ln w="44450">
            <a:solidFill>
              <a:srgbClr val="E09B00"/>
            </a:solidFill>
          </a:ln>
        </p:spPr>
        <p:txBody>
          <a:bodyPr rtlCol="0" anchor="ctr"/>
          <a:lstStyle/>
          <a:p>
            <a:pPr algn="ctr"/>
          </a:p>
        </p:txBody>
      </p:sp>
      <p:sp>
        <p:nvSpPr>
          <p:cNvPr id="15" name="Rectangle 14"/>
          <p:cNvSpPr/>
          <p:nvPr/>
        </p:nvSpPr>
        <p:spPr>
          <a:xfrm>
            <a:off x="6886273" y="3611139"/>
            <a:ext cx="574128" cy="325045"/>
          </a:xfrm>
          <a:prstGeom prst="rect">
            <a:avLst/>
          </a:prstGeom>
          <a:noFill/>
          <a:ln w="44450">
            <a:solidFill>
              <a:srgbClr val="C62828"/>
            </a:solidFill>
          </a:ln>
        </p:spPr>
        <p:txBody>
          <a:bodyPr rtlCol="0" anchor="ctr"/>
          <a:lstStyle/>
          <a:p>
            <a:pPr algn="ctr"/>
          </a:p>
        </p:txBody>
      </p:sp>
      <p:sp>
        <p:nvSpPr>
          <p:cNvPr id="16" name="Oval 15"/>
          <p:cNvSpPr/>
          <p:nvPr/>
        </p:nvSpPr>
        <p:spPr>
          <a:xfrm>
            <a:off x="6547103" y="18728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730825" y="345569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617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p.206 and Figure 6.44 (Part 6). Each is also named on its own slide.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Bullish divergence (Part 1): the text says it can only occur in a downtrend.</a:t>
            </a:r>
          </a:p>
          <a:p>
            <a:pPr algn="l">
              <a:lnSpc>
                <a:spcPct val="105000"/>
              </a:lnSpc>
              <a:spcBef>
                <a:spcPts val="0"/>
              </a:spcBef>
              <a:spcAft>
                <a:spcPts val="1100"/>
              </a:spcAft>
            </a:pPr>
            <a:r>
              <a:rPr sz="2000" b="0" i="0">
                <a:solidFill>
                  <a:srgbClr val="1A1A1A"/>
                </a:solidFill>
                <a:latin typeface="Arial"/>
              </a:rPr>
              <a:t>Yet the book reads periods 4 </a:t>
            </a:r>
            <a:r>
              <a:rPr sz="2000" b="1" i="0">
                <a:solidFill>
                  <a:srgbClr val="E09B00"/>
                </a:solidFill>
                <a:latin typeface="Arial"/>
              </a:rPr>
              <a:t>(1)</a:t>
            </a:r>
            <a:r>
              <a:rPr sz="2000" b="0" i="0">
                <a:solidFill>
                  <a:srgbClr val="1A1A1A"/>
                </a:solidFill>
                <a:latin typeface="Arial"/>
              </a:rPr>
              <a:t> and 6 </a:t>
            </a:r>
            <a:r>
              <a:rPr sz="2000" b="1" i="0">
                <a:solidFill>
                  <a:srgbClr val="C62828"/>
                </a:solidFill>
                <a:latin typeface="Arial"/>
              </a:rPr>
              <a:t>(2)</a:t>
            </a:r>
            <a:r>
              <a:rPr sz="2000" b="0" i="0">
                <a:solidFill>
                  <a:srgbClr val="1A1A1A"/>
                </a:solidFill>
                <a:latin typeface="Arial"/>
              </a:rPr>
              <a:t> of Figure 6.6 as bullish divergence: dips inside a four-year uptrend.</a:t>
            </a:r>
          </a:p>
          <a:p>
            <a:pPr algn="l">
              <a:lnSpc>
                <a:spcPct val="105000"/>
              </a:lnSpc>
              <a:spcBef>
                <a:spcPts val="0"/>
              </a:spcBef>
              <a:spcAft>
                <a:spcPts val="1100"/>
              </a:spcAft>
            </a:pPr>
            <a:r>
              <a:rPr sz="2000" b="0" i="0">
                <a:solidFill>
                  <a:srgbClr val="1A1A1A"/>
                </a:solidFill>
                <a:latin typeface="Arial"/>
              </a:rPr>
              <a:t>Its caption says a daily chart; its own label says weekly </a:t>
            </a:r>
            <a:r>
              <a:rPr sz="2000" b="1" i="0">
                <a:solidFill>
                  <a:srgbClr val="1F5FAD"/>
                </a:solidFill>
                <a:latin typeface="Arial"/>
              </a:rPr>
              <a:t>(3)</a:t>
            </a:r>
            <a:r>
              <a:rPr sz="2000" b="0" i="0">
                <a:solidFill>
                  <a:srgbClr val="1A1A1A"/>
                </a:solidFill>
                <a:latin typeface="Arial"/>
              </a:rPr>
              <a:t>.</a:t>
            </a:r>
          </a:p>
        </p:txBody>
      </p:sp>
      <p:sp>
        <p:nvSpPr>
          <p:cNvPr id="8" name="Rectangle 7"/>
          <p:cNvSpPr/>
          <p:nvPr/>
        </p:nvSpPr>
        <p:spPr>
          <a:xfrm>
            <a:off x="777240" y="4901183"/>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any of these. If asked, give both readings.</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in ten numbered periods: periods 4 and 6 are dips inside the uptrend, and the label top left says weekly.</a:t>
            </a:r>
          </a:p>
        </p:txBody>
      </p:sp>
      <p:sp>
        <p:nvSpPr>
          <p:cNvPr id="14" name="Rectangle 13"/>
          <p:cNvSpPr/>
          <p:nvPr/>
        </p:nvSpPr>
        <p:spPr>
          <a:xfrm>
            <a:off x="9113893" y="2324200"/>
            <a:ext cx="298547" cy="526421"/>
          </a:xfrm>
          <a:prstGeom prst="rect">
            <a:avLst/>
          </a:prstGeom>
          <a:noFill/>
          <a:ln w="44450">
            <a:solidFill>
              <a:srgbClr val="E09B00"/>
            </a:solidFill>
          </a:ln>
        </p:spPr>
        <p:txBody>
          <a:bodyPr rtlCol="0" anchor="ctr"/>
          <a:lstStyle/>
          <a:p>
            <a:pPr algn="ctr"/>
          </a:p>
        </p:txBody>
      </p:sp>
      <p:sp>
        <p:nvSpPr>
          <p:cNvPr id="15" name="Rectangle 14"/>
          <p:cNvSpPr/>
          <p:nvPr/>
        </p:nvSpPr>
        <p:spPr>
          <a:xfrm>
            <a:off x="9504300" y="2455805"/>
            <a:ext cx="275581" cy="690928"/>
          </a:xfrm>
          <a:prstGeom prst="rect">
            <a:avLst/>
          </a:prstGeom>
          <a:noFill/>
          <a:ln w="44450">
            <a:solidFill>
              <a:srgbClr val="C62828"/>
            </a:solidFill>
          </a:ln>
        </p:spPr>
        <p:txBody>
          <a:bodyPr rtlCol="0" anchor="ctr"/>
          <a:lstStyle/>
          <a:p>
            <a:pPr algn="ctr"/>
          </a:p>
        </p:txBody>
      </p:sp>
      <p:sp>
        <p:nvSpPr>
          <p:cNvPr id="16" name="Rectangle 15"/>
          <p:cNvSpPr/>
          <p:nvPr/>
        </p:nvSpPr>
        <p:spPr>
          <a:xfrm>
            <a:off x="6702551" y="2044538"/>
            <a:ext cx="1033431" cy="148056"/>
          </a:xfrm>
          <a:prstGeom prst="rect">
            <a:avLst/>
          </a:prstGeom>
          <a:noFill/>
          <a:ln w="44450">
            <a:solidFill>
              <a:srgbClr val="1F5FAD"/>
            </a:solidFill>
          </a:ln>
        </p:spPr>
        <p:txBody>
          <a:bodyPr rtlCol="0" anchor="ctr"/>
          <a:lstStyle/>
          <a:p>
            <a:pPr algn="ctr"/>
          </a:p>
        </p:txBody>
      </p:sp>
      <p:sp>
        <p:nvSpPr>
          <p:cNvPr id="17" name="Oval 16"/>
          <p:cNvSpPr/>
          <p:nvPr/>
        </p:nvSpPr>
        <p:spPr>
          <a:xfrm>
            <a:off x="8958445" y="21687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348852" y="230035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547103" y="188909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pp.176 and 178 and Figure 6.6 (Part 1). Each is also named on its own slide.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silver or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6.23 (Part 3) is captioned silver.</a:t>
            </a:r>
          </a:p>
          <a:p>
            <a:pPr algn="l">
              <a:lnSpc>
                <a:spcPct val="105000"/>
              </a:lnSpc>
              <a:spcBef>
                <a:spcPts val="0"/>
              </a:spcBef>
              <a:spcAft>
                <a:spcPts val="1100"/>
              </a:spcAft>
            </a:pPr>
            <a:r>
              <a:rPr sz="2000" b="0" i="0">
                <a:solidFill>
                  <a:srgbClr val="1A1A1A"/>
                </a:solidFill>
                <a:latin typeface="Arial"/>
              </a:rPr>
              <a:t>The text calls 6.23 the same daily chart of USDJPY, then, a sentence on, the Silver market.</a:t>
            </a:r>
          </a:p>
          <a:p>
            <a:pPr algn="l">
              <a:lnSpc>
                <a:spcPct val="105000"/>
              </a:lnSpc>
              <a:spcBef>
                <a:spcPts val="0"/>
              </a:spcBef>
              <a:spcAft>
                <a:spcPts val="1100"/>
              </a:spcAft>
            </a:pPr>
            <a:r>
              <a:rPr sz="2000" b="0" i="0">
                <a:solidFill>
                  <a:srgbClr val="1A1A1A"/>
                </a:solidFill>
                <a:latin typeface="Arial"/>
              </a:rPr>
              <a:t>The chart's own label, top left </a:t>
            </a:r>
            <a:r>
              <a:rPr sz="2000" b="1" i="0">
                <a:solidFill>
                  <a:srgbClr val="E09B00"/>
                </a:solidFill>
                <a:latin typeface="Arial"/>
              </a:rPr>
              <a:t>(1)</a:t>
            </a:r>
            <a:r>
              <a:rPr sz="2000" b="0" i="0">
                <a:solidFill>
                  <a:srgbClr val="1A1A1A"/>
                </a:solidFill>
                <a:latin typeface="Arial"/>
              </a:rPr>
              <a:t>, names its market; the book never refers to it.</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A daily chart with a volume filtered channel drawn through numbered turns, X and 1 to 6, and the chart's own label top left.</a:t>
            </a:r>
          </a:p>
        </p:txBody>
      </p:sp>
      <p:sp>
        <p:nvSpPr>
          <p:cNvPr id="14" name="Rectangle 13"/>
          <p:cNvSpPr/>
          <p:nvPr/>
        </p:nvSpPr>
        <p:spPr>
          <a:xfrm>
            <a:off x="6702551" y="1929384"/>
            <a:ext cx="987501" cy="104281"/>
          </a:xfrm>
          <a:prstGeom prst="rect">
            <a:avLst/>
          </a:prstGeom>
          <a:noFill/>
          <a:ln w="44450">
            <a:solidFill>
              <a:srgbClr val="E09B00"/>
            </a:solidFill>
          </a:ln>
        </p:spPr>
        <p:txBody>
          <a:bodyPr rtlCol="0" anchor="ctr"/>
          <a:lstStyle/>
          <a:p>
            <a:pPr algn="ctr"/>
          </a:p>
        </p:txBody>
      </p:sp>
      <p:sp>
        <p:nvSpPr>
          <p:cNvPr id="15" name="Oval 14"/>
          <p:cNvSpPr/>
          <p:nvPr/>
        </p:nvSpPr>
        <p:spPr>
          <a:xfrm>
            <a:off x="6547103" y="177393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pp.189-190 and Figure 6.23 (Part 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daily or intraday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6.26 (Part 4) is captioned daily.</a:t>
            </a:r>
          </a:p>
          <a:p>
            <a:pPr algn="l">
              <a:lnSpc>
                <a:spcPct val="105000"/>
              </a:lnSpc>
              <a:spcBef>
                <a:spcPts val="0"/>
              </a:spcBef>
              <a:spcAft>
                <a:spcPts val="1100"/>
              </a:spcAft>
            </a:pPr>
            <a:r>
              <a:rPr sz="2000" b="0" i="0">
                <a:solidFill>
                  <a:srgbClr val="1A1A1A"/>
                </a:solidFill>
                <a:latin typeface="Arial"/>
              </a:rPr>
              <a:t>Its own label says 1-minute bars </a:t>
            </a:r>
            <a:r>
              <a:rPr sz="2000" b="1" i="0">
                <a:solidFill>
                  <a:srgbClr val="E09B00"/>
                </a:solidFill>
                <a:latin typeface="Arial"/>
              </a:rPr>
              <a:t>(1)</a:t>
            </a:r>
            <a:r>
              <a:rPr sz="2000" b="0" i="0">
                <a:solidFill>
                  <a:srgbClr val="1A1A1A"/>
                </a:solidFill>
                <a:latin typeface="Arial"/>
              </a:rPr>
              <a:t>, and its time axis runs from 10:00 to 3:30 </a:t>
            </a:r>
            <a:r>
              <a:rPr sz="2000" b="1" i="0">
                <a:solidFill>
                  <a:srgbClr val="C62828"/>
                </a:solidFill>
                <a:latin typeface="Arial"/>
              </a:rPr>
              <a:t>(2)</a:t>
            </a:r>
            <a:r>
              <a:rPr sz="2000" b="0" i="0">
                <a:solidFill>
                  <a:srgbClr val="1A1A1A"/>
                </a:solidFill>
                <a:latin typeface="Arial"/>
              </a:rPr>
              <a:t>: one day, an intraday chart.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583679" y="1810512"/>
            <a:ext cx="4830775" cy="351613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7839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2119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The S&amp;P 500 on 1-minute bars over its tick and TRIN panels, the label SPX 1 min top left and a time axis from 10:00 to 3:30.</a:t>
            </a:r>
          </a:p>
        </p:txBody>
      </p:sp>
      <p:sp>
        <p:nvSpPr>
          <p:cNvPr id="14" name="Rectangle 13"/>
          <p:cNvSpPr/>
          <p:nvPr/>
        </p:nvSpPr>
        <p:spPr>
          <a:xfrm>
            <a:off x="6771447" y="2044127"/>
            <a:ext cx="918606" cy="131135"/>
          </a:xfrm>
          <a:prstGeom prst="rect">
            <a:avLst/>
          </a:prstGeom>
          <a:noFill/>
          <a:ln w="44450">
            <a:solidFill>
              <a:srgbClr val="E09B00"/>
            </a:solidFill>
          </a:ln>
        </p:spPr>
        <p:txBody>
          <a:bodyPr rtlCol="0" anchor="ctr"/>
          <a:lstStyle/>
          <a:p>
            <a:pPr algn="ctr"/>
          </a:p>
        </p:txBody>
      </p:sp>
      <p:sp>
        <p:nvSpPr>
          <p:cNvPr id="15" name="Rectangle 14"/>
          <p:cNvSpPr/>
          <p:nvPr/>
        </p:nvSpPr>
        <p:spPr>
          <a:xfrm>
            <a:off x="6794412" y="5060250"/>
            <a:ext cx="3858146" cy="140970"/>
          </a:xfrm>
          <a:prstGeom prst="rect">
            <a:avLst/>
          </a:prstGeom>
          <a:noFill/>
          <a:ln w="44450">
            <a:solidFill>
              <a:srgbClr val="C62828"/>
            </a:solidFill>
          </a:ln>
        </p:spPr>
        <p:txBody>
          <a:bodyPr rtlCol="0" anchor="ctr"/>
          <a:lstStyle/>
          <a:p>
            <a:pPr algn="ctr"/>
          </a:p>
        </p:txBody>
      </p:sp>
      <p:sp>
        <p:nvSpPr>
          <p:cNvPr id="16" name="Oval 15"/>
          <p:cNvSpPr/>
          <p:nvPr/>
        </p:nvSpPr>
        <p:spPr>
          <a:xfrm>
            <a:off x="6615999" y="18886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6638964" y="49048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418090"/>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p.194 and Figure 6.26 (Part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