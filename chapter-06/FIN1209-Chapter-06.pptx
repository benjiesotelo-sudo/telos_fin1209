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Downtrend and uptrend are the book's words for where each divergence can occur. Figure 6.6 tests that, and the slide there says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figure's eight arrows change,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point for today is that the eye-drawn line and the computed one agree on Figure 6.14: the circled spikes clear both.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dashed line is what the figure labels noise. Point at the two small circles on the historical volatility level, under 1 and 2.</a:t>
            </a:r>
          </a:p>
          <a:p>
            <a:r>
              <a:rPr sz="1400"/>
              <a:t>- This slide goes with the one before: drop both or neither.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Work the two sums on the board: 67 million for the record day's month against 120 million for the busy month.</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1, where the line leaps as the spike comes in, then count along twenty bars to 2, where it drops as the spike goes out.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No picture: nothing here is read off a chart.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of the three arrows down to the surge under it: marks 1, 2 and 3 ring where they reach price. Then find the April 2011 top, mark 4: a dotted upright, and no arrow.</a:t>
            </a:r>
          </a:p>
          <a:p>
            <a:r>
              <a:rPr sz="1400"/>
              <a:t>- The smoothed filter on the same market, Figure 6.20, marked six; this stricter line marks three.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stepped line, and follow it from the March spike, mark 2: it stays up for months, then steps.</a:t>
            </a:r>
          </a:p>
          <a:p>
            <a:r>
              <a:rPr sz="1400"/>
              <a:t>- Marks 5 and 6 are the two lines under it. The book draws them and never says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not a chart. The overlay it praises is the line on the last slide.</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along the shaded stretch: trough 3 at bar 44 to X at bar 72 is 28 bars, and 28 times 0.10 is 2.80 on top of 49.00.</a:t>
            </a:r>
          </a:p>
          <a:p>
            <a:r>
              <a:rPr sz="1400"/>
              <a:t>- The buy at the lower line is the book's reading of silver's X on the last slide's figure; here it is worked on our own numbers.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ringed July to August bars, then at marks 5 and 6: both reach the threshold, and neither is used. The marks start at 4 so they are not taken for the figure's own Points 1 to 3.</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7, the line from 1 to 2, and lay a ruler along it: every other line has its angle. The marks start at 7 so they are not taken for the figure's own points 1 to 6.</a:t>
            </a:r>
          </a:p>
          <a:p>
            <a:r>
              <a:rPr sz="1400"/>
              <a:t>- Then mark 8, the channel from 5 and 6, and mark 9: no oval under 4, and none under X at the far left either, though each anchors a line.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day's line, then its column: the label under the column is the line's rule.</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Mark 1 is the rise from A to B; mark 2 the fall after it. The next slide reads the two panels under this one at B.</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volume peak at B, taller than the one at A; then mark 2, the open interest peak at B, lower than the one at A.</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step on the slide is the cell with its number on the chart: read the columns, then the division under them.</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states the book's rules; the next one sets them against its figure.</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numbered as on the slide before last. Point at mark 2, the TRIN the figure calls oversold, then read the text's rule: a bullish TRIN is overbought. Do not settle the gap; name it.</a:t>
            </a:r>
          </a:p>
          <a:p>
            <a:r>
              <a:rPr sz="1400"/>
              <a:t>- Then mark 1, the tick at its low. The text's longer-term oversold tick is above a two-sigma level, so the figure is not that rule either.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Read the price axis on the right: $88 now, the bracket below it, $90 to $92 above.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volume line rising under the falling price, then mark 5, the volume line falling under the rising price.</a:t>
            </a:r>
          </a:p>
          <a:p>
            <a:r>
              <a:rPr sz="1400"/>
              <a:t>- The figure's own labels name both: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numbers in order: two turns up at support, two turns down at resistance, then the break.</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about 260 in 2001 to 1,900 in 2011 as volume expands: bullish. Then to about 1,200 in 2013 as volume declines: bullish too.</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1511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0" i="0">
                <a:solidFill>
                  <a:srgbClr val="1A1A1A"/>
                </a:solidFill>
                <a:latin typeface="Arial"/>
              </a:rPr>
              <a:t>Uptrend, ours: PHP 40 to 46 as volume shrinks 4 to 2 million, dip to 44 as it grows to 3. Opposite ways: bearish volume, a potentially weak uptrend.</a:t>
            </a:r>
          </a:p>
          <a:p>
            <a:pPr algn="l">
              <a:lnSpc>
                <a:spcPct val="105000"/>
              </a:lnSpc>
              <a:spcBef>
                <a:spcPts val="0"/>
              </a:spcBef>
              <a:spcAft>
                <a:spcPts val="1100"/>
              </a:spcAft>
            </a:pPr>
            <a:r>
              <a:rPr sz="1700" b="0" i="0">
                <a:solidFill>
                  <a:srgbClr val="1A1A1A"/>
                </a:solidFill>
                <a:latin typeface="Arial"/>
              </a:rPr>
              <a:t>Downtrend, ours: PHP 50 to 46 as volume shrinks 4 to 2 million, bounce to 48 as it grows to 3. Same way: bullish volume, a potentially bullish downtrend.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6.6, below, does the same: bullish volume overall, with two dips labelled bullish divergence.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 Figure 6.6: p.178.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will buy higher, a potential downside reversal. Confirmation: a potential continuation.</a:t>
            </a:r>
          </a:p>
          <a:p>
            <a:pPr algn="l">
              <a:lnSpc>
                <a:spcPct val="118000"/>
              </a:lnSpc>
              <a:spcBef>
                <a:spcPts val="0"/>
              </a:spcBef>
              <a:spcAft>
                <a:spcPts val="1300"/>
              </a:spcAft>
            </a:pPr>
            <a:r>
              <a:rPr sz="2100" b="0" i="0">
                <a:solidFill>
                  <a:srgbClr val="1A1A1A"/>
                </a:solidFill>
                <a:latin typeface="Arial"/>
              </a:rPr>
              <a:t>The book says bullish divergence can only occur in a downtrend, bearish only in an uptrend (p.176), yet Figure 6.6 finds bullish divergence in uptrend dips.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Our reading: the p.178 summary on any stretch, so a dip inside an uptrend can be bullish divergence. 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700" b="0" i="0">
                <a:solidFill>
                  <a:srgbClr val="1A1A1A"/>
                </a:solidFill>
                <a:latin typeface="Arial"/>
              </a:rPr>
              <a:t>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box plain volume, right box price-based. Only two volume arrows flip.</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01091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trust rises from about 129 to 133, October to January.</a:t>
            </a:r>
          </a:p>
          <a:p>
            <a:pPr algn="l">
              <a:lnSpc>
                <a:spcPct val="105000"/>
              </a:lnSpc>
              <a:spcBef>
                <a:spcPts val="0"/>
              </a:spcBef>
              <a:spcAft>
                <a:spcPts val="1100"/>
              </a:spcAft>
            </a:pPr>
            <a:r>
              <a:rPr sz="1700" b="0" i="0">
                <a:solidFill>
                  <a:srgbClr val="1A1A1A"/>
                </a:solidFill>
                <a:latin typeface="Arial"/>
              </a:rPr>
              <a:t>Volume and smoothed volume, a 20-day average,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 from the last slide's chart.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3093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dashed level sits at earlier lows, touched at time lines 1 and 2. In late March, inside the Accumulation box (a buying range, Chapters 2 and 4), volume falls back to it;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1, 2 and 3.</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25</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the line labelled VWAP, volume-weighted average price; the book treats VWAP and VWMA as one line here.</a:t>
            </a:r>
          </a:p>
          <a:p>
            <a:pPr algn="l">
              <a:lnSpc>
                <a:spcPct val="105000"/>
              </a:lnSpc>
              <a:spcBef>
                <a:spcPts val="0"/>
              </a:spcBef>
              <a:spcAft>
                <a:spcPts val="1100"/>
              </a:spcAft>
            </a:pPr>
            <a:r>
              <a:rPr sz="1600" b="0" i="0">
                <a:solidFill>
                  <a:srgbClr val="1A1A1A"/>
                </a:solidFill>
                <a:latin typeface="Arial"/>
              </a:rPr>
              <a:t>Price rises decisively each time it crosses above the line, and falls after crossing below.</a:t>
            </a:r>
          </a:p>
          <a:p>
            <a:pPr algn="l">
              <a:lnSpc>
                <a:spcPct val="105000"/>
              </a:lnSpc>
              <a:spcBef>
                <a:spcPts val="0"/>
              </a:spcBef>
              <a:spcAft>
                <a:spcPts val="1100"/>
              </a:spcAft>
            </a:pPr>
            <a:r>
              <a:rPr sz="1600" b="0" i="0">
                <a:solidFill>
                  <a:srgbClr val="1A1A1A"/>
                </a:solidFill>
                <a:latin typeface="Arial"/>
              </a:rPr>
              <a:t>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under the ellipse, sets the upper level.</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Off Figure 6.12's scale: most days trade under 40 million shares; the lower line sits a little under 70 million, the upper a little above 120 million.</a:t>
            </a:r>
          </a:p>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The figure shows only bottoms; the book says the same level signals tops too.</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then up to the top above it.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cross the dashed level. At the far right price breaks a significant support,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Figure 6.14: the solid line stepping under the dashed level.</a:t>
            </a:r>
          </a:p>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The August 2011 spikes lift it; some 100 days later, as they leave the window, it drops back.</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and notes the spikes are all above it. Ours: the arithmetic, the 20 and 10 million, and which line it is, by eye.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to volume crossing the overextension lines,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Two lines, by eye off the scale: below the dashed one, near 15, is noise, which many practitioners filter out. All four circled spikes clear it.</a:t>
            </a:r>
          </a:p>
          <a:p>
            <a:pPr algn="l">
              <a:lnSpc>
                <a:spcPct val="118000"/>
              </a:lnSpc>
              <a:spcBef>
                <a:spcPts val="0"/>
              </a:spcBef>
              <a:spcAft>
                <a:spcPts val="1300"/>
              </a:spcAft>
            </a:pPr>
            <a:r>
              <a:rPr sz="2100" b="0" i="0">
                <a:solidFill>
                  <a:srgbClr val="1A1A1A"/>
                </a:solidFill>
                <a:latin typeface="Arial"/>
              </a:rPr>
              <a:t>Only the spikes at 1 and 2 reach the historical volatility level, near 40: the major turns,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the book does not say how it is set. Each time line runs up to a turn, top or bottom.</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25</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600" b="0" i="0">
                <a:solidFill>
                  <a:srgbClr val="1A1A1A"/>
                </a:solidFill>
                <a:latin typeface="Arial"/>
              </a:rPr>
              <a:t>Figure 6.17, gold: daily and weekly volume peak in 2013, circled at far right; monthly, quarterly and yearly peak in 2011.</a:t>
            </a:r>
          </a:p>
          <a:p>
            <a:pPr algn="l">
              <a:lnSpc>
                <a:spcPct val="105000"/>
              </a:lnSpc>
              <a:spcBef>
                <a:spcPts val="0"/>
              </a:spcBef>
              <a:spcAft>
                <a:spcPts val="1100"/>
              </a:spcAft>
            </a:pPr>
            <a:r>
              <a:rPr sz="16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600" b="0" i="0">
                <a:solidFill>
                  <a:srgbClr val="1A1A1A"/>
                </a:solidFill>
                <a:latin typeface="Arial"/>
              </a:rPr>
              <a:t>A 2011 month with no record day, 20 days of 6 million: 120 million, the monthly peak.</a:t>
            </a:r>
          </a:p>
        </p:txBody>
      </p:sp>
      <p:sp>
        <p:nvSpPr>
          <p:cNvPr id="8" name="Rectangle 7"/>
          <p:cNvSpPr/>
          <p:nvPr/>
        </p:nvSpPr>
        <p:spPr>
          <a:xfrm>
            <a:off x="777240" y="487375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10328"/>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73938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6400800" cy="2293112"/>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371600"/>
            <a:ext cx="59436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618488"/>
            <a:ext cx="5943600" cy="500379"/>
          </a:xfrm>
          <a:prstGeom prst="rect">
            <a:avLst/>
          </a:prstGeom>
          <a:noFill/>
        </p:spPr>
        <p:txBody>
          <a:bodyPr wrap="square" anchor="t" lIns="0" rIns="0" tIns="0" bIns="0">
            <a:spAutoFit/>
          </a:bodyPr>
          <a:lstStyle/>
          <a:p>
            <a:pPr algn="l">
              <a:lnSpc>
                <a:spcPct val="115000"/>
              </a:lnSpc>
              <a:spcBef>
                <a:spcPts val="0"/>
              </a:spcBef>
              <a:spcAft>
                <a:spcPts val="0"/>
              </a:spcAft>
            </a:pPr>
            <a:r>
              <a:rPr sz="1400" b="1" i="0">
                <a:solidFill>
                  <a:srgbClr val="FFFFFF"/>
                </a:solidFill>
                <a:latin typeface="Arial"/>
              </a:rPr>
              <a:t>Which peaks and troughs are used to construct volume filtered trendlines and channels?</a:t>
            </a:r>
          </a:p>
        </p:txBody>
      </p:sp>
      <p:sp>
        <p:nvSpPr>
          <p:cNvPr id="9" name="TextBox 8"/>
          <p:cNvSpPr txBox="1"/>
          <p:nvPr/>
        </p:nvSpPr>
        <p:spPr>
          <a:xfrm>
            <a:off x="1005840" y="2192020"/>
            <a:ext cx="5943600" cy="1335531"/>
          </a:xfrm>
          <a:prstGeom prst="rect">
            <a:avLst/>
          </a:prstGeom>
          <a:noFill/>
        </p:spPr>
        <p:txBody>
          <a:bodyPr wrap="square" anchor="t" lIns="0" rIns="0" tIns="0" bIns="0">
            <a:spAutoFit/>
          </a:bodyPr>
          <a:lstStyle/>
          <a:p>
            <a:pPr algn="l">
              <a:lnSpc>
                <a:spcPct val="112000"/>
              </a:lnSpc>
              <a:spcBef>
                <a:spcPts val="0"/>
              </a:spcBef>
              <a:spcAft>
                <a:spcPts val="600"/>
              </a:spcAft>
            </a:pPr>
            <a:r>
              <a:rPr sz="1300" b="0" i="0">
                <a:solidFill>
                  <a:srgbClr val="FFFFFF"/>
                </a:solidFill>
                <a:latin typeface="Arial"/>
              </a:rPr>
              <a:t>A.  Every peak and trough on the chart</a:t>
            </a:r>
          </a:p>
          <a:p>
            <a:pPr algn="l">
              <a:lnSpc>
                <a:spcPct val="112000"/>
              </a:lnSpc>
              <a:spcBef>
                <a:spcPts val="0"/>
              </a:spcBef>
              <a:spcAft>
                <a:spcPts val="600"/>
              </a:spcAft>
            </a:pPr>
            <a:r>
              <a:rPr sz="1300" b="0" i="0">
                <a:solidFill>
                  <a:srgbClr val="FFFFFF"/>
                </a:solidFill>
                <a:latin typeface="Arial"/>
              </a:rPr>
              <a:t>B.  Only those associated with above average volume</a:t>
            </a:r>
          </a:p>
          <a:p>
            <a:pPr algn="l">
              <a:lnSpc>
                <a:spcPct val="112000"/>
              </a:lnSpc>
              <a:spcBef>
                <a:spcPts val="0"/>
              </a:spcBef>
              <a:spcAft>
                <a:spcPts val="600"/>
              </a:spcAft>
            </a:pPr>
            <a:r>
              <a:rPr sz="1300" b="0" i="0">
                <a:solidFill>
                  <a:srgbClr val="FFFFFF"/>
                </a:solidFill>
                <a:latin typeface="Arial"/>
              </a:rPr>
              <a:t>C.  Only those formed on minimal volume</a:t>
            </a:r>
          </a:p>
          <a:p>
            <a:pPr algn="l">
              <a:lnSpc>
                <a:spcPct val="112000"/>
              </a:lnSpc>
              <a:spcBef>
                <a:spcPts val="0"/>
              </a:spcBef>
              <a:spcAft>
                <a:spcPts val="600"/>
              </a:spcAft>
            </a:pPr>
            <a:r>
              <a:rPr sz="1300" b="0" i="0">
                <a:solidFill>
                  <a:srgbClr val="FFFFFF"/>
                </a:solidFill>
                <a:latin typeface="Arial"/>
              </a:rPr>
              <a:t>D.  Only those within a consolidation</a:t>
            </a:r>
          </a:p>
        </p:txBody>
      </p:sp>
      <p:sp>
        <p:nvSpPr>
          <p:cNvPr id="10" name="Rectangle 9"/>
          <p:cNvSpPr/>
          <p:nvPr/>
        </p:nvSpPr>
        <p:spPr>
          <a:xfrm>
            <a:off x="777240" y="3664712"/>
            <a:ext cx="6400800" cy="2088642"/>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829304"/>
            <a:ext cx="59436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4076192"/>
            <a:ext cx="5943600" cy="295909"/>
          </a:xfrm>
          <a:prstGeom prst="rect">
            <a:avLst/>
          </a:prstGeom>
          <a:noFill/>
        </p:spPr>
        <p:txBody>
          <a:bodyPr wrap="square" anchor="t" lIns="0" rIns="0" tIns="0" bIns="0">
            <a:spAutoFit/>
          </a:bodyPr>
          <a:lstStyle/>
          <a:p>
            <a:pPr algn="l">
              <a:lnSpc>
                <a:spcPct val="115000"/>
              </a:lnSpc>
              <a:spcBef>
                <a:spcPts val="0"/>
              </a:spcBef>
              <a:spcAft>
                <a:spcPts val="0"/>
              </a:spcAft>
            </a:pPr>
            <a:r>
              <a:rPr sz="1400" b="1" i="0">
                <a:solidFill>
                  <a:srgbClr val="FFFFFF"/>
                </a:solidFill>
                <a:latin typeface="Arial"/>
              </a:rPr>
              <a:t>On Figure 6.22, how is the volume threshold drawn?</a:t>
            </a:r>
          </a:p>
        </p:txBody>
      </p:sp>
      <p:sp>
        <p:nvSpPr>
          <p:cNvPr id="13" name="TextBox 12"/>
          <p:cNvSpPr txBox="1"/>
          <p:nvPr/>
        </p:nvSpPr>
        <p:spPr>
          <a:xfrm>
            <a:off x="1005840" y="4445254"/>
            <a:ext cx="5943600" cy="1335532"/>
          </a:xfrm>
          <a:prstGeom prst="rect">
            <a:avLst/>
          </a:prstGeom>
          <a:noFill/>
        </p:spPr>
        <p:txBody>
          <a:bodyPr wrap="square" anchor="t" lIns="0" rIns="0" tIns="0" bIns="0">
            <a:spAutoFit/>
          </a:bodyPr>
          <a:lstStyle/>
          <a:p>
            <a:pPr algn="l">
              <a:lnSpc>
                <a:spcPct val="112000"/>
              </a:lnSpc>
              <a:spcBef>
                <a:spcPts val="0"/>
              </a:spcBef>
              <a:spcAft>
                <a:spcPts val="600"/>
              </a:spcAft>
            </a:pPr>
            <a:r>
              <a:rPr sz="1300" b="0" i="0">
                <a:solidFill>
                  <a:srgbClr val="FFFFFF"/>
                </a:solidFill>
                <a:latin typeface="Arial"/>
              </a:rPr>
              <a:t>A.  By visual inspection, so only the most significant peaks reach it</a:t>
            </a:r>
          </a:p>
          <a:p>
            <a:pPr algn="l">
              <a:lnSpc>
                <a:spcPct val="112000"/>
              </a:lnSpc>
              <a:spcBef>
                <a:spcPts val="0"/>
              </a:spcBef>
              <a:spcAft>
                <a:spcPts val="600"/>
              </a:spcAft>
            </a:pPr>
            <a:r>
              <a:rPr sz="1300" b="0" i="0">
                <a:solidFill>
                  <a:srgbClr val="FFFFFF"/>
                </a:solidFill>
                <a:latin typeface="Arial"/>
              </a:rPr>
              <a:t>B.  As a 100-day moving average</a:t>
            </a:r>
          </a:p>
          <a:p>
            <a:pPr algn="l">
              <a:lnSpc>
                <a:spcPct val="112000"/>
              </a:lnSpc>
              <a:spcBef>
                <a:spcPts val="0"/>
              </a:spcBef>
              <a:spcAft>
                <a:spcPts val="600"/>
              </a:spcAft>
            </a:pPr>
            <a:r>
              <a:rPr sz="1300" b="0" i="0">
                <a:solidFill>
                  <a:srgbClr val="FFFFFF"/>
                </a:solidFill>
                <a:latin typeface="Arial"/>
              </a:rPr>
              <a:t>C.  At three standard deviations</a:t>
            </a:r>
          </a:p>
          <a:p>
            <a:pPr algn="l">
              <a:lnSpc>
                <a:spcPct val="112000"/>
              </a:lnSpc>
              <a:spcBef>
                <a:spcPts val="0"/>
              </a:spcBef>
              <a:spcAft>
                <a:spcPts val="600"/>
              </a:spcAft>
            </a:pPr>
            <a:r>
              <a:rPr sz="1300" b="0" i="0">
                <a:solidFill>
                  <a:srgbClr val="FFFFFF"/>
                </a:solidFill>
                <a:latin typeface="Arial"/>
              </a:rPr>
              <a:t>D.  At the lowest historical volume</a:t>
            </a:r>
          </a:p>
        </p:txBody>
      </p:sp>
      <p:sp>
        <p:nvSpPr>
          <p:cNvPr id="14" name="Rectangle 13"/>
          <p:cNvSpPr/>
          <p:nvPr/>
        </p:nvSpPr>
        <p:spPr>
          <a:xfrm>
            <a:off x="7498079" y="1207008"/>
            <a:ext cx="3916374" cy="142175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16951" y="1325880"/>
            <a:ext cx="3678631" cy="118400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616951" y="1325880"/>
            <a:ext cx="36786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891271" y="1600200"/>
            <a:ext cx="3129990" cy="72680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8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8" name="Connector 17"/>
          <p:cNvCxnSpPr/>
          <p:nvPr/>
        </p:nvCxnSpPr>
        <p:spPr>
          <a:xfrm>
            <a:off x="7727310" y="2295582"/>
            <a:ext cx="3457914" cy="0"/>
          </a:xfrm>
          <a:prstGeom prst="line">
            <a:avLst/>
          </a:prstGeom>
          <a:ln w="44450">
            <a:solidFill>
              <a:srgbClr val="E09B00"/>
            </a:solidFill>
          </a:ln>
        </p:spPr>
      </p:cxnSp>
      <p:sp>
        <p:nvSpPr>
          <p:cNvPr id="19" name="Oval 18"/>
          <p:cNvSpPr/>
          <p:nvPr/>
        </p:nvSpPr>
        <p:spPr>
          <a:xfrm>
            <a:off x="7571862" y="214013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498079" y="2720200"/>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6.22 -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6400800" cy="22504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5852160"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097280" y="2040128"/>
            <a:ext cx="5852160" cy="141732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5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640328"/>
            <a:ext cx="6400800" cy="201676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8"/>
            <a:ext cx="91440" cy="201676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5852160"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097280" y="4239768"/>
            <a:ext cx="5852160" cy="141732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500"/>
              </a:spcBef>
              <a:spcAft>
                <a:spcPts val="0"/>
              </a:spcAft>
            </a:pPr>
            <a:r>
              <a:rPr sz="1600" b="0" i="0">
                <a:solidFill>
                  <a:srgbClr val="1A1A1A"/>
                </a:solidFill>
                <a:latin typeface="Arial"/>
              </a:rPr>
              <a:t>The book draws a simple tick volume overextension level </a:t>
            </a:r>
            <a:r>
              <a:rPr sz="1600" b="1" i="0">
                <a:solidFill>
                  <a:srgbClr val="E09B00"/>
                </a:solidFill>
                <a:latin typeface="Arial"/>
              </a:rPr>
              <a:t>(1)</a:t>
            </a:r>
            <a:r>
              <a:rPr sz="1600" b="0" i="0">
                <a:solidFill>
                  <a:srgbClr val="1A1A1A"/>
                </a:solidFill>
                <a:latin typeface="Arial"/>
              </a:rPr>
              <a:t> by visual inspection.</a:t>
            </a:r>
          </a:p>
        </p:txBody>
      </p:sp>
      <p:sp>
        <p:nvSpPr>
          <p:cNvPr id="14" name="Rectangle 13"/>
          <p:cNvSpPr/>
          <p:nvPr/>
        </p:nvSpPr>
        <p:spPr>
          <a:xfrm>
            <a:off x="7498079" y="1207008"/>
            <a:ext cx="3916374" cy="142175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16951" y="1325880"/>
            <a:ext cx="3678631" cy="118400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616951" y="1325880"/>
            <a:ext cx="36786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891271" y="1600200"/>
            <a:ext cx="3129990" cy="72680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8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8" name="Connector 17"/>
          <p:cNvCxnSpPr/>
          <p:nvPr/>
        </p:nvCxnSpPr>
        <p:spPr>
          <a:xfrm>
            <a:off x="7727310" y="2295582"/>
            <a:ext cx="3457914" cy="0"/>
          </a:xfrm>
          <a:prstGeom prst="line">
            <a:avLst/>
          </a:prstGeom>
          <a:ln w="44450">
            <a:solidFill>
              <a:srgbClr val="E09B00"/>
            </a:solidFill>
          </a:ln>
        </p:spPr>
      </p:cxnSp>
      <p:sp>
        <p:nvSpPr>
          <p:cNvPr id="19" name="Oval 18"/>
          <p:cNvSpPr/>
          <p:nvPr/>
        </p:nvSpPr>
        <p:spPr>
          <a:xfrm>
            <a:off x="7571862" y="214013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498079" y="2720200"/>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6.22 -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