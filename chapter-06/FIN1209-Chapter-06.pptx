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gold arrow, mark 1, across the volume panel: bigger volume as the trend rises. Then the two circles, marks 2 and 3, the dips.</a:t>
            </a:r>
          </a:p>
          <a:p>
            <a:r>
              <a:rPr sz="1400"/>
              <a:t>- Both readings are the book's, on one chart: the whole trend confirmed, and each dip a bullish divergence.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eight cases change between the kinds,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boxes first: price rising, the two kinds agree. Then red, then blue: the two cases where the price-based arrow points the other way.</a:t>
            </a:r>
          </a:p>
          <a:p>
            <a:r>
              <a:rPr sz="1400"/>
              <a:t>- The numbers on the slide before are these arrows: 3 to 1 million falling, the OBV 5 to 7 rising.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mark 1. The volume panel under it falls, mark 2: non-price-based and falling, so bearish divergence.</a:t>
            </a:r>
          </a:p>
          <a:p>
            <a:r>
              <a:rPr sz="1400"/>
              <a:t>- The figure is cut in two so each panel can be read; the PVO and the ADL under it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PVO falls, mark 1, bearish divergence; the ADL rises with price, mark 2,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number on the chart is the step of the same number on the slide before. Walk them in order.</a:t>
            </a:r>
          </a:p>
          <a:p>
            <a:r>
              <a:rPr sz="1400"/>
              <a:t>- This one broke up. The same range could have broken down through the sell stops: price decides.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scale with the room: the gold box is an ordinary day, the red line the lower level, the blue line the upper.</a:t>
            </a:r>
          </a:p>
          <a:p>
            <a:r>
              <a:rPr sz="1400"/>
              <a:t>- The two green circles are the selling climaxes from the term slide, the only spikes to reach the upper level.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next slide finds this line on the gold chart and shows it moving.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solid line first, mark 1. Then the step up under the August 2011 spikes, mark 2, and where it drops back, mark 3.</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gold line is what the figure labels noise. Then the red line: only two spikes reach it.</a:t>
            </a:r>
          </a:p>
          <a:p>
            <a:r>
              <a:rPr sz="1400"/>
              <a:t>- The book's own labels 1 and 2 on the price are the two lows; the coloured numbers are 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Volume and volatility are two separate measures. When both cross their high lines on the same day, two kinds of evidence agree.</a:t>
            </a:r>
          </a:p>
          <a:p>
            <a:r>
              <a:rPr sz="1400"/>
              <a:t>- This slide goes with the two before: drop all three or none.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Lower timeframes are more sensitive: the one-day burst shows on daily and weekly bars and vanishes into the monthly ones.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two sums on the board: 67 million for the record day's month against 120 million for the busy month.</a:t>
            </a:r>
          </a:p>
          <a:p>
            <a:r>
              <a:rPr sz="1400"/>
              <a:t>- One big day cannot outweigh twenty busy ones once the days are added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No picture: nothing here is read off a chart.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of the three arrows down to the surge under it: marks 1, 2 and 3 ring where they reach price. Then find the April 2011 top, mark 4: a dotted upright, and no arrow.</a:t>
            </a:r>
          </a:p>
          <a:p>
            <a:r>
              <a:rPr sz="1400"/>
              <a:t>- The smoothed filter on the same market, Figure 6.20, marked six; this stricter line marks three.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stepped line, and follow it from the March spike, mark 2: it stays up for months, then steps.</a:t>
            </a:r>
          </a:p>
          <a:p>
            <a:r>
              <a:rPr sz="1400"/>
              <a:t>- Marks 5 and 6 are the two lines under it. The book draws them and never says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not a chart. The overlay it praises is the line on the last slide.</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states the book's rules; the next one sets them against its figure.</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numbered as on the slide before last.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Read the price axis on the right: $88 now, the bracket below it, $90 to $92 above.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volume line rising under the falling price, then mark 5, the volume line falling under the rising price.</a:t>
            </a:r>
          </a:p>
          <a:p>
            <a:r>
              <a:rPr sz="1400"/>
              <a:t>- The figure's own labels name both: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4837033" y="1051560"/>
            <a:ext cx="2517628" cy="97154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4955905" y="1170431"/>
            <a:ext cx="2279884" cy="733805"/>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955905" y="1170431"/>
            <a:ext cx="2279884"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5230225" y="1444751"/>
            <a:ext cx="1731244" cy="2766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5024301" y="1771419"/>
            <a:ext cx="2143092" cy="0"/>
          </a:xfrm>
          <a:prstGeom prst="line">
            <a:avLst/>
          </a:prstGeom>
          <a:ln w="44450">
            <a:solidFill>
              <a:srgbClr val="E09B00"/>
            </a:solidFill>
          </a:ln>
        </p:spPr>
      </p:cxnSp>
      <p:sp>
        <p:nvSpPr>
          <p:cNvPr id="11" name="Oval 10"/>
          <p:cNvSpPr/>
          <p:nvPr/>
        </p:nvSpPr>
        <p:spPr>
          <a:xfrm>
            <a:off x="4868853" y="161597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114549"/>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25443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7454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0198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16" name="TextBox 15"/>
          <p:cNvSpPr txBox="1"/>
          <p:nvPr/>
        </p:nvSpPr>
        <p:spPr>
          <a:xfrm>
            <a:off x="1051560" y="40782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Every peak and trough on the chart</a:t>
            </a:r>
          </a:p>
          <a:p>
            <a:pPr algn="l">
              <a:lnSpc>
                <a:spcPct val="112000"/>
              </a:lnSpc>
              <a:spcBef>
                <a:spcPts val="0"/>
              </a:spcBef>
              <a:spcAft>
                <a:spcPts val="600"/>
              </a:spcAft>
            </a:pPr>
            <a:r>
              <a:rPr sz="1400" b="0" i="0">
                <a:solidFill>
                  <a:srgbClr val="FFFFFF"/>
                </a:solidFill>
                <a:latin typeface="Arial"/>
              </a:rPr>
              <a:t>B.  Only those associated with above average volume</a:t>
            </a:r>
          </a:p>
          <a:p>
            <a:pPr algn="l">
              <a:lnSpc>
                <a:spcPct val="112000"/>
              </a:lnSpc>
              <a:spcBef>
                <a:spcPts val="0"/>
              </a:spcBef>
              <a:spcAft>
                <a:spcPts val="600"/>
              </a:spcAft>
            </a:pPr>
            <a:r>
              <a:rPr sz="1400" b="0" i="0">
                <a:solidFill>
                  <a:srgbClr val="FFFFFF"/>
                </a:solidFill>
                <a:latin typeface="Arial"/>
              </a:rPr>
              <a:t>C.  Only those formed on minimal volume</a:t>
            </a:r>
          </a:p>
          <a:p>
            <a:pPr algn="l">
              <a:lnSpc>
                <a:spcPct val="112000"/>
              </a:lnSpc>
              <a:spcBef>
                <a:spcPts val="0"/>
              </a:spcBef>
              <a:spcAft>
                <a:spcPts val="600"/>
              </a:spcAft>
            </a:pPr>
            <a:r>
              <a:rPr sz="1400" b="0" i="0">
                <a:solidFill>
                  <a:srgbClr val="FFFFFF"/>
                </a:solidFill>
                <a:latin typeface="Arial"/>
              </a:rPr>
              <a:t>D.  Only those within a consolidation</a:t>
            </a:r>
          </a:p>
        </p:txBody>
      </p:sp>
      <p:sp>
        <p:nvSpPr>
          <p:cNvPr id="17" name="Rectangle 16"/>
          <p:cNvSpPr/>
          <p:nvPr/>
        </p:nvSpPr>
        <p:spPr>
          <a:xfrm>
            <a:off x="6415887" y="25443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7454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0198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20" name="TextBox 19"/>
          <p:cNvSpPr txBox="1"/>
          <p:nvPr/>
        </p:nvSpPr>
        <p:spPr>
          <a:xfrm>
            <a:off x="6690207" y="40782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By visual inspection, so only the most significant peaks reach it</a:t>
            </a:r>
          </a:p>
          <a:p>
            <a:pPr algn="l">
              <a:lnSpc>
                <a:spcPct val="112000"/>
              </a:lnSpc>
              <a:spcBef>
                <a:spcPts val="0"/>
              </a:spcBef>
              <a:spcAft>
                <a:spcPts val="600"/>
              </a:spcAft>
            </a:pPr>
            <a:r>
              <a:rPr sz="1400" b="0" i="0">
                <a:solidFill>
                  <a:srgbClr val="FFFFFF"/>
                </a:solidFill>
                <a:latin typeface="Arial"/>
              </a:rPr>
              <a:t>B.  As a 100-day moving average</a:t>
            </a:r>
          </a:p>
          <a:p>
            <a:pPr algn="l">
              <a:lnSpc>
                <a:spcPct val="112000"/>
              </a:lnSpc>
              <a:spcBef>
                <a:spcPts val="0"/>
              </a:spcBef>
              <a:spcAft>
                <a:spcPts val="600"/>
              </a:spcAft>
            </a:pPr>
            <a:r>
              <a:rPr sz="1400" b="0" i="0">
                <a:solidFill>
                  <a:srgbClr val="FFFFFF"/>
                </a:solidFill>
                <a:latin typeface="Arial"/>
              </a:rPr>
              <a:t>C.  At three standard deviations</a:t>
            </a:r>
          </a:p>
          <a:p>
            <a:pPr algn="l">
              <a:lnSpc>
                <a:spcPct val="112000"/>
              </a:lnSpc>
              <a:spcBef>
                <a:spcPts val="0"/>
              </a:spcBef>
              <a:spcAft>
                <a:spcPts val="600"/>
              </a:spcAft>
            </a:pPr>
            <a:r>
              <a:rPr sz="1400" b="0" i="0">
                <a:solidFill>
                  <a:srgbClr val="FFFFFF"/>
                </a:solidFill>
                <a:latin typeface="Arial"/>
              </a:rPr>
              <a:t>D.  At the lowest historical volume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3897538" y="1051560"/>
            <a:ext cx="4396618" cy="1576323"/>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4016410" y="1170431"/>
            <a:ext cx="4158874" cy="133857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016410" y="1170431"/>
            <a:ext cx="4158874"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4290730" y="1444751"/>
            <a:ext cx="3610234" cy="8813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4141176" y="2266729"/>
            <a:ext cx="3909342" cy="0"/>
          </a:xfrm>
          <a:prstGeom prst="line">
            <a:avLst/>
          </a:prstGeom>
          <a:ln w="44450">
            <a:solidFill>
              <a:srgbClr val="E09B00"/>
            </a:solidFill>
          </a:ln>
        </p:spPr>
      </p:cxnSp>
      <p:sp>
        <p:nvSpPr>
          <p:cNvPr id="11" name="Oval 10"/>
          <p:cNvSpPr/>
          <p:nvPr/>
        </p:nvSpPr>
        <p:spPr>
          <a:xfrm>
            <a:off x="3985728" y="211128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719323"/>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31490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149091"/>
            <a:ext cx="91440" cy="261162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33197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16" name="TextBox 15"/>
          <p:cNvSpPr txBox="1"/>
          <p:nvPr/>
        </p:nvSpPr>
        <p:spPr>
          <a:xfrm>
            <a:off x="1097280" y="4197604"/>
            <a:ext cx="4541367" cy="154482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7" name="Rectangle 16"/>
          <p:cNvSpPr/>
          <p:nvPr/>
        </p:nvSpPr>
        <p:spPr>
          <a:xfrm>
            <a:off x="6324447" y="31490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149091"/>
            <a:ext cx="91440" cy="261162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33197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20" name="TextBox 19"/>
          <p:cNvSpPr txBox="1"/>
          <p:nvPr/>
        </p:nvSpPr>
        <p:spPr>
          <a:xfrm>
            <a:off x="6644487" y="3963923"/>
            <a:ext cx="4541367" cy="17785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