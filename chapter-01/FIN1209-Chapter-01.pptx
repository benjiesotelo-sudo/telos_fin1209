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  <p:sldId id="451" r:id="rId203"/>
    <p:sldId id="452" r:id="rId204"/>
    <p:sldId id="453" r:id="rId205"/>
    <p:sldId id="454" r:id="rId206"/>
    <p:sldId id="455" r:id="rId207"/>
    <p:sldId id="456" r:id="rId208"/>
    <p:sldId id="457" r:id="rId209"/>
    <p:sldId id="458" r:id="rId210"/>
    <p:sldId id="459" r:id="rId211"/>
    <p:sldId id="460" r:id="rId212"/>
    <p:sldId id="461" r:id="rId213"/>
    <p:sldId id="462" r:id="rId214"/>
    <p:sldId id="463" r:id="rId215"/>
    <p:sldId id="464" r:id="rId2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Relationship Id="rId203" Type="http://schemas.openxmlformats.org/officeDocument/2006/relationships/slide" Target="slides/slide196.xml"/><Relationship Id="rId204" Type="http://schemas.openxmlformats.org/officeDocument/2006/relationships/slide" Target="slides/slide197.xml"/><Relationship Id="rId205" Type="http://schemas.openxmlformats.org/officeDocument/2006/relationships/slide" Target="slides/slide198.xml"/><Relationship Id="rId206" Type="http://schemas.openxmlformats.org/officeDocument/2006/relationships/slide" Target="slides/slide199.xml"/><Relationship Id="rId207" Type="http://schemas.openxmlformats.org/officeDocument/2006/relationships/slide" Target="slides/slide200.xml"/><Relationship Id="rId208" Type="http://schemas.openxmlformats.org/officeDocument/2006/relationships/slide" Target="slides/slide201.xml"/><Relationship Id="rId209" Type="http://schemas.openxmlformats.org/officeDocument/2006/relationships/slide" Target="slides/slide202.xml"/><Relationship Id="rId210" Type="http://schemas.openxmlformats.org/officeDocument/2006/relationships/slide" Target="slides/slide203.xml"/><Relationship Id="rId211" Type="http://schemas.openxmlformats.org/officeDocument/2006/relationships/slide" Target="slides/slide204.xml"/><Relationship Id="rId212" Type="http://schemas.openxmlformats.org/officeDocument/2006/relationships/slide" Target="slides/slide205.xml"/><Relationship Id="rId213" Type="http://schemas.openxmlformats.org/officeDocument/2006/relationships/slide" Target="slides/slide206.xml"/><Relationship Id="rId214" Type="http://schemas.openxmlformats.org/officeDocument/2006/relationships/slide" Target="slides/slide207.xml"/><Relationship Id="rId215" Type="http://schemas.openxmlformats.org/officeDocument/2006/relationships/slide" Target="slides/slide208.xml"/><Relationship Id="rId216" Type="http://schemas.openxmlformats.org/officeDocument/2006/relationships/slide" Target="slides/slide20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Greet the room, then say what today buys them: after this session they can read a chart argument and say what it does and does not claim.</a:t>
            </a:r>
          </a:p>
          <a:p>
            <a:r>
              <a:rPr sz="1400"/>
              <a:t>- Point at the roadmap slide next and promise a clean stopping point every twenty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these out once, slowly. These are the exact learning objectives in the course booklet for this week.</a:t>
            </a:r>
          </a:p>
          <a:p>
            <a:r>
              <a:rPr sz="1400"/>
              <a:t>- Tell them every one of these is examinable.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these out once, slowly. These are the exact learning objectives in the course booklet for this week.</a:t>
            </a:r>
          </a:p>
          <a:p>
            <a:r>
              <a:rPr sz="1400"/>
              <a:t>- Tell them every one of these is examinable.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shape of the session out loud: six parts, roughly twenty five minutes each.</a:t>
            </a:r>
          </a:p>
          <a:p>
            <a:r>
              <a:rPr sz="1400"/>
              <a:t>- Tell them the checks are for reading the room, not for marks.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1 of 6.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which of the three they would give up last. Let two people answer.</a:t>
            </a:r>
          </a:p>
          <a:p>
            <a:r>
              <a:rPr sz="1400"/>
              <a:t>- Say that the text opens here on purpose: markets are a survival behavior before they are a financial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at the herd line and say we will meet it again in Part 5 when the market overreacts.</a:t>
            </a:r>
          </a:p>
          <a:p>
            <a:r>
              <a:rPr sz="1400"/>
              <a:t>- Keep this fast. It is background, not an exam item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for one thing they own whose value changed this year. Take one answer.</a:t>
            </a:r>
          </a:p>
          <a:p>
            <a:r>
              <a:rPr sz="1400"/>
              <a:t>- Land the accent line, then move straight to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why price beats the alternatives: it is cheap to observe and it is the same number for everyone.</a:t>
            </a:r>
          </a:p>
          <a:p>
            <a:r>
              <a:rPr sz="1400"/>
              <a:t>- Tell them price is the single most important input in this subject, followed by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rule out loud and let it sound obvious, because it is.</a:t>
            </a:r>
          </a:p>
          <a:p>
            <a:r>
              <a:rPr sz="1400"/>
              <a:t>- Then set the trap: ask them how they know today's price is a low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plainly: everything else this semester is an attempt to answer those two questions.</a:t>
            </a:r>
          </a:p>
          <a:p>
            <a:r>
              <a:rPr sz="1400"/>
              <a:t>- Warn them that the honest answer is always a probability, never a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Draw the two axes in the air. Say profit needs effective action in both dimensions, price and time.</a:t>
            </a:r>
          </a:p>
          <a:p>
            <a:r>
              <a:rPr sz="1400"/>
              <a:t>- Tell them a fundamental analyst can give them the price axis but rarely the time axis.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Hold up two fingers and keep them up. Identification, then forecasting.</a:t>
            </a:r>
          </a:p>
          <a:p>
            <a:r>
              <a:rPr sz="1400"/>
              <a:t>- Say that job one is a record and job two is an opinion, and students must never confuse the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half is objective. The chart is a historical record and it does not argue with you.</a:t>
            </a:r>
          </a:p>
          <a:p>
            <a:r>
              <a:rPr sz="1400"/>
              <a:t>- List two or three things a chart tells you before you interpret anything: volatility, extremes, liquidity.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forecasting half rests entirely on one assumption: that price behavior repeats to some reasonable degree.</a:t>
            </a:r>
          </a:p>
          <a:p>
            <a:r>
              <a:rPr sz="1400"/>
              <a:t>- Promise them we will test that assumption properly in Part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is the part students skip and professionals never skip.</a:t>
            </a:r>
          </a:p>
          <a:p>
            <a:r>
              <a:rPr sz="1400"/>
              <a:t>- Ask them which of the four they would most want to know before buying.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Write the word long on the board and keep it there. All four verbs go up together.</a:t>
            </a:r>
          </a:p>
          <a:p>
            <a:r>
              <a:rPr sz="1400"/>
              <a:t>- Say that long simply means you profit if price 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Stress that liquidating is not the same as going short. It only closes what you had.</a:t>
            </a:r>
          </a:p>
          <a:p>
            <a:r>
              <a:rPr sz="1400"/>
              <a:t>- Pair it visually with go long on the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Acknowledge that shorting feels backwards the first time. Say it slowly.</a:t>
            </a:r>
          </a:p>
          <a:p>
            <a:r>
              <a:rPr sz="1400"/>
              <a:t>- Note that in the Philippine market short selling is restricted, but the concept is examinable.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Complete the square on the board: long and liquidate, short and cover.</a:t>
            </a:r>
          </a:p>
          <a:p>
            <a:r>
              <a:rPr sz="1400"/>
              <a:t>- Say buying is not always bullish. Covering is a buy that ends a bearish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Warn them explicitly: the quiz asks about buy high and sell higher. It counts.</a:t>
            </a:r>
          </a:p>
          <a:p>
            <a:r>
              <a:rPr sz="1400"/>
              <a:t>- Say the only losing pattern is buying high and selling lower, which is not on this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Trace the left column with your finger, then the right, saying go long and go short as you land on them.</a:t>
            </a:r>
          </a:p>
          <a:p>
            <a:r>
              <a:rPr sz="1400"/>
              <a:t>- Point at the bottom row: every trade on this page is either demand or supply. Nothing else is happening.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list, then ask the room to name any two without looking.</a:t>
            </a:r>
          </a:p>
          <a:p>
            <a:r>
              <a:rPr sz="1400"/>
              <a:t>- This is a clean stopping point if you are running behind.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2 of 6.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none of the three is the enemy. They answer different halves of the question.</a:t>
            </a:r>
          </a:p>
          <a:p>
            <a:r>
              <a:rPr sz="1400"/>
              <a:t>- Tell them we take each in turn, and that technical analysis gets the longest look.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across the three columns, then stop on the middle one and say the whole course lives under that arrow.</a:t>
            </a:r>
          </a:p>
          <a:p>
            <a:r>
              <a:rPr sz="1400"/>
              <a:t>- Point at the eight items under technical analysis and say they meet every one of them by Chapter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who has already taken a financial statement analysis subject. Connect to it.</a:t>
            </a:r>
          </a:p>
          <a:p>
            <a:r>
              <a:rPr sz="1400"/>
              <a:t>- Say fundamental analysis answers what to buy, and rarely when to buy.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is the single most examinable term in Part 2. Make them write it down.</a:t>
            </a:r>
          </a:p>
          <a:p>
            <a:r>
              <a:rPr sz="1400"/>
              <a:t>- Note the technical analyst usually cannot compute this, and does not 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trap out loud: a stock is overvalued when price is ABOVE intrinsic value, not below.</a:t>
            </a:r>
          </a:p>
          <a:p>
            <a:r>
              <a:rPr sz="1400"/>
              <a:t>- Ask the room to say which one generates demand before you reveal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at the two numbers first, then at the arrow. The gap between them is the whole argument.</a:t>
            </a:r>
          </a:p>
          <a:p>
            <a:r>
              <a:rPr sz="1400"/>
              <a:t>- Ask what the fundamentalist expects next, and make them say the word demand.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is the previous slide turned upside down, and let them spot the flip themselves.</a:t>
            </a:r>
          </a:p>
          <a:p>
            <a:r>
              <a:rPr sz="1400"/>
              <a:t>- Note the sell or stay in cash line. A fundamentalist waits; a technical analyst can go short.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Do not teach the ratios here. Name them and move. They belong to another subject.</a:t>
            </a:r>
          </a:p>
          <a:p>
            <a:r>
              <a:rPr sz="1400"/>
              <a:t>- Say CAPM out loud and repeat the phrase over a risk free rate. The department has quizzed it.</a:t>
            </a:r>
          </a:p>
          <a:p>
            <a:r>
              <a:rPr sz="1400"/>
              <a:t>- Land the accent: none of these has a time axis.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Draw a funnel in the air, wide at the top.</a:t>
            </a:r>
          </a:p>
          <a:p>
            <a:r>
              <a:rPr sz="1400"/>
              <a:t>- Say this is how active asset allocation and sector rotation strategies are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Contrast in one sentence with top-down. Do not belabor it.</a:t>
            </a:r>
          </a:p>
          <a:p>
            <a:r>
              <a:rPr sz="1400"/>
              <a:t>- Call back to CAPM from the ratios slide: it is the formal attempt to balance risk against expected return over a risk free 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third point is the one that matters for this course.</a:t>
            </a:r>
          </a:p>
          <a:p>
            <a:r>
              <a:rPr sz="1400"/>
              <a:t>- Be fair: say fundamental analysis is genuinely valuable, just not for timing.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how many of them have bought or sold anything because of something they read online.</a:t>
            </a:r>
          </a:p>
          <a:p>
            <a:r>
              <a:rPr sz="1400"/>
              <a:t>- Then deliver the bad news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Be clear on the law: insider trading is illegal in the equity markets, full stop.</a:t>
            </a:r>
          </a:p>
          <a:p>
            <a:r>
              <a:rPr sz="1400"/>
              <a:t>- Land the accent line, because it is the whole argument for technical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technician studies the effect, not the cause. That distinction is examinable.</a:t>
            </a:r>
          </a:p>
          <a:p>
            <a:r>
              <a:rPr sz="1400"/>
              <a:t>- Tell them the next six slides are quotable definitions and they should copy them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definition to give if an exam asks for one. Say so.</a:t>
            </a:r>
          </a:p>
          <a:p>
            <a:r>
              <a:rPr sz="1400"/>
              <a:t>- Point at the two working words: charts, and forecasting.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out the word probable. Nothing here is promised.</a:t>
            </a:r>
          </a:p>
          <a:p>
            <a:r>
              <a:rPr sz="1400"/>
              <a:t>- Say this definition is the one that names the raw material: recorded history.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is the cleanest one line separation between technical and fundamental analysis.</a:t>
            </a:r>
          </a:p>
          <a:p>
            <a:r>
              <a:rPr sz="1400"/>
              <a:t>- Use a concrete pair: the share price of a mining firm, versus the ore in the 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Note the chapter title calls this an art and a science. This quote is the art half.</a:t>
            </a:r>
          </a:p>
          <a:p>
            <a:r>
              <a:rPr sz="1400"/>
              <a:t>- Say the second half matters as much as the first: you stay until evidence says otherwise.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If they remember one sentence from today, make it this one.</a:t>
            </a:r>
          </a:p>
          <a:p>
            <a:r>
              <a:rPr sz="1400"/>
              <a:t>- Say that any classmate who promises a certain trade has just failed this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patterns repeat because people repeat. Fear, greed, hope, anger and regret do not update.</a:t>
            </a:r>
          </a:p>
          <a:p>
            <a:r>
              <a:rPr sz="1400"/>
              <a:t>- Connect forward to Part 5, where repeatability becomes a formal assumption.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quote is the bridge into the discounting assumption in Part 5.</a:t>
            </a:r>
          </a:p>
          <a:p>
            <a:r>
              <a:rPr sz="1400"/>
              <a:t>- Say price is a reflection of all known information acted upon in the markets.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Do not read all four aloud. Read two and let them read the rest.</a:t>
            </a:r>
          </a:p>
          <a:p>
            <a:r>
              <a:rPr sz="1400"/>
              <a:t>- Land the accent: precision is the technician's whole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Tell them this slide is a preview of the syllabus. They are not expected to do any of it yet.</a:t>
            </a:r>
          </a:p>
          <a:p>
            <a:r>
              <a:rPr sz="1400"/>
              <a:t>- Point at cycle and seasonality and name the chapter it arrives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Make them notice the repeated phrase themselves before you point it out.</a:t>
            </a:r>
          </a:p>
          <a:p>
            <a:r>
              <a:rPr sz="1400"/>
              <a:t>- Be fair to the fundamentalist: they answer what, we answer when.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fourth line twice. It is the one the department quizzes.</a:t>
            </a:r>
          </a:p>
          <a:p>
            <a:r>
              <a:rPr sz="1400"/>
              <a:t>- Keep the pace up; the contrast slide is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Put the two three word summaries side by side out loud: cause, company, value against effect, price, timing.</a:t>
            </a:r>
          </a:p>
          <a:p>
            <a:r>
              <a:rPr sz="1400"/>
              <a:t>- Say the honest professional position is that these are complements, not rivals.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Make them count six on their fingers. This list is a standing exam item.</a:t>
            </a:r>
          </a:p>
          <a:p>
            <a:r>
              <a:rPr sz="1400"/>
              <a:t>- Flag the margin debt point explicitly; it appeared on a past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Draw a single bar and label the four points.</a:t>
            </a:r>
          </a:p>
          <a:p>
            <a:r>
              <a:rPr sz="1400"/>
              <a:t>- Stress that OHLC is not only daily. Any interval has an OHLC.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for the six streams of market action out loud before you move on.</a:t>
            </a:r>
          </a:p>
          <a:p>
            <a:r>
              <a:rPr sz="1400"/>
              <a:t>- This is the natural stop if the session is being split across two meetings.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3 of 6.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these four are a filing system. Every tool in the book lands in one of them.</a:t>
            </a:r>
          </a:p>
          <a:p>
            <a:r>
              <a:rPr sz="1400"/>
              <a:t>- Warn them the fourth one, behavioral, is about the analyst as much as the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bottom line of the diagram aloud: everything above it is interpreted through filters and biases unique to each analyst.</a:t>
            </a:r>
          </a:p>
          <a:p>
            <a:r>
              <a:rPr sz="1400"/>
              <a:t>- Say that bottom line is Part 4 arriving early, and that it is the reason Part 4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is most of what this course teaches, and it is qualitative by nature.</a:t>
            </a:r>
          </a:p>
          <a:p>
            <a:r>
              <a:rPr sz="1400"/>
              <a:t>- Name two examples they will already recognize from the app on their 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Contrast in one line: classical is qualitative, statistical is quantitative.</a:t>
            </a:r>
          </a:p>
          <a:p>
            <a:r>
              <a:rPr sz="1400"/>
              <a:t>- Reassure them that no statistics is examined today; only the classification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what the mood of the room is right now. Use it as the joke that anchors the term.</a:t>
            </a:r>
          </a:p>
          <a:p>
            <a:r>
              <a:rPr sz="1400"/>
              <a:t>- Note that sentiment data is where flow of funds and margin debt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branch studies the participant, not the price. That is the difference from sentiment.</a:t>
            </a:r>
          </a:p>
          <a:p>
            <a:r>
              <a:rPr sz="1400"/>
              <a:t>- Name one bias, confirmation bias, and promise it returns in Part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which bet feels more natural to them. Take a show of hands.</a:t>
            </a:r>
          </a:p>
          <a:p>
            <a:r>
              <a:rPr sz="1400"/>
              <a:t>- Say neither is right. They are right at different times, which is the whole difficulty.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Do not read all of it. Pick the entry rows and contrast them: cycle extremes against cycle midpoints.</a:t>
            </a:r>
          </a:p>
          <a:p>
            <a:r>
              <a:rPr sz="1400"/>
              <a:t>- Land the last row: one is a counter-trend trader, the other is a trend trader. That is the whole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contrarians prefer consolidations to trends, and limit entry orders to stop orders.</a:t>
            </a:r>
          </a:p>
          <a:p>
            <a:r>
              <a:rPr sz="1400"/>
              <a:t>- List two tools only, then move. The tools get their own chapters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trader longs the breach of resistance and shorts the breach of support, the exact opposite of the contrarian.</a:t>
            </a:r>
          </a:p>
          <a:p>
            <a:r>
              <a:rPr sz="1400"/>
              <a:t>- Name Darvas Box out loud; the department has quizzed it as a momentum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order type gives away the trader's belief. That is the point of this slide.</a:t>
            </a:r>
          </a:p>
          <a:p>
            <a:r>
              <a:rPr sz="1400"/>
              <a:t>- Ask which order type a contrarian prefers before you show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Contrast with the fundamentalist, who must learn each company from scratch.</a:t>
            </a:r>
          </a:p>
          <a:p>
            <a:r>
              <a:rPr sz="1400"/>
              <a:t>- Say the visual point matters more than students expect; numbers hide volatility, charts show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Tease the self-fulfilling prophecy here without naming it yet.</a:t>
            </a:r>
          </a:p>
          <a:p>
            <a:r>
              <a:rPr sz="1400"/>
              <a:t>- Say the same fact is listed by the text as both an advantage and a disadvantage.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first disadvantage is so important it gets the whole of Part 4.</a:t>
            </a:r>
          </a:p>
          <a:p>
            <a:r>
              <a:rPr sz="1400"/>
              <a:t>- Be honest here. A course that only sells the method is a bad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Name all three, then say clearly that only the third is taught in this part.</a:t>
            </a:r>
          </a:p>
          <a:p>
            <a:r>
              <a:rPr sz="1400"/>
              <a:t>- Promise them Part 5 answers the other two properly.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is an objection that can be turned into a tool: pick only the clear and obvious signals.</a:t>
            </a:r>
          </a:p>
          <a:p>
            <a:r>
              <a:rPr sz="1400"/>
              <a:t>- Warn them the effect does not last, and show the cycle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three stages into a six stage cycle, so stop them from relaxing.</a:t>
            </a:r>
          </a:p>
          <a:p>
            <a:r>
              <a:rPr sz="1400"/>
              <a:t>- Ask what they think happens when a strategy becomes too popular.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cruel part out loud: the crowd destroys the edge it created.</a:t>
            </a:r>
          </a:p>
          <a:p>
            <a:r>
              <a:rPr sz="1400"/>
              <a:t>- Name preempting here, since it returns as a challenge in Part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Walk the circle once with your finger, naming each stage, then show them the two brackets down the sides.</a:t>
            </a:r>
          </a:p>
          <a:p>
            <a:r>
              <a:rPr sz="1400"/>
              <a:t>- Ask where in the loop they would want to be trading. The answer is the right hand bracket.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for the four branches without looking. That is the highest value item here.</a:t>
            </a:r>
          </a:p>
          <a:p>
            <a:r>
              <a:rPr sz="1400"/>
              <a:t>- Clean stopping point. Part 4 is a self contained topic.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4 of 6.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part is the one students find uncomfortable, and that is the point.</a:t>
            </a:r>
          </a:p>
          <a:p>
            <a:r>
              <a:rPr sz="1400"/>
              <a:t>- Repeat: objective record, subjective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Number them on your fingers and make them repeat the three back.</a:t>
            </a:r>
          </a:p>
          <a:p>
            <a:r>
              <a:rPr sz="1400"/>
              <a:t>- Say most students assume only step three is subjective. Step one already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crucial line: this is not a flaw unique to technical analysis. Every kind of analysis has it.</a:t>
            </a:r>
          </a:p>
          <a:p>
            <a:r>
              <a:rPr sz="1400"/>
              <a:t>- Ask them to hold that thought until the end of Part 4, when we prove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List two or three of the caption items aloud, then say the list is not exhaustive.</a:t>
            </a:r>
          </a:p>
          <a:p>
            <a:r>
              <a:rPr sz="1400"/>
              <a:t>- Say these are the questions that plague novices, and that they are supposed to feel unresolved.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is the objective half. Nobody in the room can disagree with this picture.</a:t>
            </a:r>
          </a:p>
          <a:p>
            <a:r>
              <a:rPr sz="1400"/>
              <a:t>- Tell them the next six slides are this identical chart, and to watch what people put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every line on this slide was a human choice about which two points to connect.</a:t>
            </a:r>
          </a:p>
          <a:p>
            <a:r>
              <a:rPr sz="1400"/>
              <a:t>- Ask which of the four lines matters most. They will not agree, and that is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out the buy and short labels, then say the chart never used those words. The reader did.</a:t>
            </a:r>
          </a:p>
          <a:p>
            <a:r>
              <a:rPr sz="1400"/>
              <a:t>- Note that a different average length moves every one of those labels.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how many patterns they can see before you name them. Usually one or two.</a:t>
            </a:r>
          </a:p>
          <a:p>
            <a:r>
              <a:rPr sz="1400"/>
              <a:t>- Say a trained eye sees all six here, and a different trained eye sees a different six.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Make them look at the two panels together. Price up, indicator down. That gap is the signal.</a:t>
            </a:r>
          </a:p>
          <a:p>
            <a:r>
              <a:rPr sz="1400"/>
              <a:t>- Say this reading forecasts a reversal, which none of the previous four slides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at the volume spike and the price spike above it and say they happened on the same bar.</a:t>
            </a:r>
          </a:p>
          <a:p>
            <a:r>
              <a:rPr sz="1400"/>
              <a:t>- This is the same forecast as the last slide, reached by a completely different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it out loud: seven slides, one chart, seven defensible readings, and not one of them was wrong.</a:t>
            </a:r>
          </a:p>
          <a:p>
            <a:r>
              <a:rPr sz="1400"/>
              <a:t>- That is the argument of Part 4. Stop here for a moment before you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is inevitable, not a malfunction. Each oscillator is built differently.</a:t>
            </a:r>
          </a:p>
          <a:p>
            <a:r>
              <a:rPr sz="1400"/>
              <a:t>- Promise a resolution rule before the end of this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confirmation is comfortable and therefore dangerous; it feeds the bias in the next term.</a:t>
            </a:r>
          </a:p>
          <a:p>
            <a:r>
              <a:rPr sz="1400"/>
              <a:t>- Keep this short. It is the easiest of the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Walk the CCI example slowly. This is the single most useful idea in Part 4.</a:t>
            </a:r>
          </a:p>
          <a:p>
            <a:r>
              <a:rPr sz="1400"/>
              <a:t>- Say the astute trader looks for cheap on both horizons at once, and enters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if anyone has seen two apps show different indicator readings. Someone always has.</a:t>
            </a:r>
          </a:p>
          <a:p>
            <a:r>
              <a:rPr sz="1400"/>
              <a:t>- Define tick volume from the caption: number of transactions, not size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Circle the two readings with your hand and ask the room which one to obey.</a:t>
            </a:r>
          </a:p>
          <a:p>
            <a:r>
              <a:rPr sz="1400"/>
              <a:t>- Then give them the answer from the last section: different periods, so this is complementary, not contradictory.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review question three from the chapter. Say so, and tell them to write the rule down.</a:t>
            </a:r>
          </a:p>
          <a:p>
            <a:r>
              <a:rPr sz="1400"/>
              <a:t>- Give the caution: an upside break of a large bearish formation can be violent, because it is unexpected.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Name the three patterns, then ask which one wins. Apply the rule: the largest formation takes precedence.</a:t>
            </a:r>
          </a:p>
          <a:p>
            <a:r>
              <a:rPr sz="1400"/>
              <a:t>- The ascending triangle is the largest here, so it stays bullish until the neckline breaks.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Contrast this with the last slide: different shapes, but every one of them points the same way.</a:t>
            </a:r>
          </a:p>
          <a:p>
            <a:r>
              <a:rPr sz="1400"/>
              <a:t>- Say this is what confirmation looks like on a chart, and why it feels so comfortable.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which reading they prefer, then point out both are defensible.</a:t>
            </a:r>
          </a:p>
          <a:p>
            <a:r>
              <a:rPr sz="1400"/>
              <a:t>- Land the caption hard: this objection applies to every kind of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is the most expensive habit in the room, and every one of them will do it.</a:t>
            </a:r>
          </a:p>
          <a:p>
            <a:r>
              <a:rPr sz="1400"/>
              <a:t>- Give the antidote: a disagreeing signal is the most informative thing on your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at the word ignore written across the MACD panel. Somebody drew that, and meant it.</a:t>
            </a:r>
          </a:p>
          <a:p>
            <a:r>
              <a:rPr sz="1400"/>
              <a:t>- Ask what that trader actually did: kept two signals, deleted one, and called it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review question four. Flag it as almost certain to appear.</a:t>
            </a:r>
          </a:p>
          <a:p>
            <a:r>
              <a:rPr sz="1400"/>
              <a:t>- Use the program trading point to stop them believing automation escapes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Make them choose out loud between trendline A and trendline B before you say anything.</a:t>
            </a:r>
          </a:p>
          <a:p>
            <a:r>
              <a:rPr sz="1400"/>
              <a:t>- Both are correctly drawn. That is individually objective and collectively subjective, in one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all three filters exist to solve one problem: the false breakout.</a:t>
            </a:r>
          </a:p>
          <a:p>
            <a:r>
              <a:rPr sz="1400"/>
              <a:t>- Note these get a full treatment in Chapter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which filter is more patient. The answer is obvious and that is fine.</a:t>
            </a:r>
          </a:p>
          <a:p>
            <a:r>
              <a:rPr sz="1400"/>
              <a:t>- Say a time filter costs you price but buys you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Name the three filter families together: price, time, algorithmic.</a:t>
            </a:r>
          </a:p>
          <a:p>
            <a:r>
              <a:rPr sz="1400"/>
              <a:t>- Say the choice between them is itself subjective, which is the joke of this whole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three headings A, B and C only. Do not read the sub-items; those are Chapter 5.</a:t>
            </a:r>
          </a:p>
          <a:p>
            <a:r>
              <a:rPr sz="1400"/>
              <a:t>- Point at the question mark on the chart and say every filter on the right is an answer to it.</a:t>
            </a:r>
          </a:p>
          <a:p>
            <a:r>
              <a:rPr sz="1400"/>
              <a:t>- Name the disagreement honestly: the book's prose calls the third family algorithmic, this diagram of its own calls it event-based, and the book never resolves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Set the exercise: two students, one chart, draw trendlines separately and compare.</a:t>
            </a:r>
          </a:p>
          <a:p>
            <a:r>
              <a:rPr sz="1400"/>
              <a:t>- Say the point of the exercise is to be comfortable with the difference, not to find a winner.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for the three kinds of signal and the rule for resolving pattern conflicts.</a:t>
            </a:r>
          </a:p>
          <a:p>
            <a:r>
              <a:rPr sz="1400"/>
              <a:t>- Good place to break. Part 5 is the heaviest section of the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5 of 6.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these three are the load bearing walls. Everything else is decoration.</a:t>
            </a:r>
          </a:p>
          <a:p>
            <a:r>
              <a:rPr sz="1400"/>
              <a:t>- Tell them assumption one takes the longest, because it has two famous rivals.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is the assumption without which technical analysis would be pointless.</a:t>
            </a:r>
          </a:p>
          <a:p>
            <a:r>
              <a:rPr sz="1400"/>
              <a:t>- Give the standard caveat straight away: the market discounts everything except acts of God.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two CANNOT lines twice. That is where the exam question lives.</a:t>
            </a:r>
          </a:p>
          <a:p>
            <a:r>
              <a:rPr sz="1400"/>
              <a:t>- Explain the insider point: the information is non-public, but the trading is visible in the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five lines at pace; the effect is cumulative, not individual.</a:t>
            </a:r>
          </a:p>
          <a:p>
            <a:r>
              <a:rPr sz="1400"/>
              <a:t>- The caption is the practical payoff. Give a local example if one is fresh.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Trace one dashed curve with your finger and say that curve is the hour after a jobs report.</a:t>
            </a:r>
          </a:p>
          <a:p>
            <a:r>
              <a:rPr sz="1400"/>
              <a:t>- Say the gradual bend is where a technical analyst earns a living. A vertical line would leave nothing to trade.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Find the labelled release on the chart, then walk the annotations left to right in order.</a:t>
            </a:r>
          </a:p>
          <a:p>
            <a:r>
              <a:rPr sz="1400"/>
              <a:t>- Say the market took hours, not milliseconds, to settle. That is the semi-efficient market, observed.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is the most serious academic objection to the whole subject, so treat it seriously.</a:t>
            </a:r>
          </a:p>
          <a:p>
            <a:r>
              <a:rPr sz="1400"/>
              <a:t>- Warn them the difference between EMH and market discounting is review question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caption is the answer to review question two. Dictate it if you have to.</a:t>
            </a:r>
          </a:p>
          <a:p>
            <a:r>
              <a:rPr sz="1400"/>
              <a:t>- Say EMH demands perfection; market discounting demands only that the market absorbs what reaches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at the vertical jumps and say this is what instantaneous means. No slope, no delay, nothing to trade.</a:t>
            </a:r>
          </a:p>
          <a:p>
            <a:r>
              <a:rPr sz="1400"/>
              <a:t>- Ask whether any chart they have ever seen looks like this. Their answer is the answer to EMH.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Actually do the handclap test with the room. It takes ten seconds and it lands.</a:t>
            </a:r>
          </a:p>
          <a:p>
            <a:r>
              <a:rPr sz="1400"/>
              <a:t>- Say that if a hundred students cannot coordinate, neither can a million traders.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is the author's position, and it is the defensible one.</a:t>
            </a:r>
          </a:p>
          <a:p>
            <a:r>
              <a:rPr sz="1400"/>
              <a:t>- Land the conclusion: technical analysis stays valid until markets become perfectly efficient, which they are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plainly which analysis each form kills. Weak form kills technical analysis.</a:t>
            </a:r>
          </a:p>
          <a:p>
            <a:r>
              <a:rPr sz="1400"/>
              <a:t>- Make them write the three forms in order; the department quizzes them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semi-strong form kills fundamental analysis as well as technical analysis.</a:t>
            </a:r>
          </a:p>
          <a:p>
            <a:r>
              <a:rPr sz="1400"/>
              <a:t>- That escalation is the pattern they should memorize.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Complete the ladder: weak kills technical, semi-strong adds fundamental, strong kills everything.</a:t>
            </a:r>
          </a:p>
          <a:p>
            <a:r>
              <a:rPr sz="1400"/>
              <a:t>- Ask which form is hardest to believe. The answer is the strong form, and reality agrees.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Name the Markovian condition: current price has no influence on future price.</a:t>
            </a:r>
          </a:p>
          <a:p>
            <a:r>
              <a:rPr sz="1400"/>
              <a:t>- Say this is review question five, and the author's answer is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five consequences in the right hand box out loud. They are deliberately uncomfortable.</a:t>
            </a:r>
          </a:p>
          <a:p>
            <a:r>
              <a:rPr sz="1400"/>
              <a:t>- Then say the rest of this chapter is an argument that the premises on the left do not 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distinction in one sentence: EMH says the market is too fast, random walk says it is meaningless.</a:t>
            </a:r>
          </a:p>
          <a:p>
            <a:r>
              <a:rPr sz="1400"/>
              <a:t>- Give the answer to review question five: no, random walk is not a true reflection of the markets.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herd line from the first section. Close the loop.</a:t>
            </a:r>
          </a:p>
          <a:p>
            <a:r>
              <a:rPr sz="1400"/>
              <a:t>- Say this is why a chart looks nothing like a coin flip.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at where the curve starts moving, then at where the news arrives. Mind the gap between them.</a:t>
            </a:r>
          </a:p>
          <a:p>
            <a:r>
              <a:rPr sz="1400"/>
              <a:t>- Say this is why the market discounts non-public information: the trading is visible even when the information is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Show them the overshoot above the step, then the fall back. That bulge is the crowd arriving late.</a:t>
            </a:r>
          </a:p>
          <a:p>
            <a:r>
              <a:rPr sz="1400"/>
              <a:t>- Name it: this is the herding instinct from Part 1, drawn as a price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them for an example of something priced far above what it is worth. They will have one.</a:t>
            </a:r>
          </a:p>
          <a:p>
            <a:r>
              <a:rPr sz="1400"/>
              <a:t>- Say this reconciles Parts 2 and 5: intrinsic value is real, and price is still about expectation.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the caption to defend the method: criticizing technical analysis for using past data condemns all forecasting.</a:t>
            </a:r>
          </a:p>
          <a:p>
            <a:r>
              <a:rPr sz="1400"/>
              <a:t>- Connect back to the Pring quote from Part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Compare the shallow angle with the steeper one, then compare the two falls that followed them.</a:t>
            </a:r>
          </a:p>
          <a:p>
            <a:r>
              <a:rPr sz="1400"/>
              <a:t>- Say the market did not have to behave this way. It did, and it does, and that is assumption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word on the chart is semi-random, not random, and that the difference is this whole course.</a:t>
            </a:r>
          </a:p>
          <a:p>
            <a:r>
              <a:rPr sz="1400"/>
              <a:t>- Warn them honestly: you can draw lines on noise too. That is why Part 4 came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preempting is the same stage 4 they met in Part 3. Reward them for remembering.</a:t>
            </a:r>
          </a:p>
          <a:p>
            <a:r>
              <a:rPr sz="1400"/>
              <a:t>- Do not let this become gloom. The assumption still holds well enough to trade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to define a trend. Their answers will disagree, which proves Part 4.</a:t>
            </a:r>
          </a:p>
          <a:p>
            <a:r>
              <a:rPr sz="1400"/>
              <a:t>- Say the peaks and troughs definition is the one to write down for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Emphasize low winning percentage. Students assume a good method wins most trades. It does not.</a:t>
            </a:r>
          </a:p>
          <a:p>
            <a:r>
              <a:rPr sz="1400"/>
              <a:t>- Say back and forward testing is also listed as a difficulty, and we will meet it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all four are examinable as a set. Number them on the board.</a:t>
            </a:r>
          </a:p>
          <a:p>
            <a:r>
              <a:rPr sz="1400"/>
              <a:t>- Take them one at a time on the next four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is the grand premise from which most other assumptions derive.</a:t>
            </a:r>
          </a:p>
          <a:p>
            <a:r>
              <a:rPr sz="1400"/>
              <a:t>- Give the practical version: do not fight the market until it gives you a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Part 4. This assumption is the formal statement of what subjectivity means.</a:t>
            </a:r>
          </a:p>
          <a:p>
            <a:r>
              <a:rPr sz="1400"/>
              <a:t>- Say this is why you always need a plan for being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the words explicitly and implicitly; the text does, and it is a clean distinction.</a:t>
            </a:r>
          </a:p>
          <a:p>
            <a:r>
              <a:rPr sz="1400"/>
              <a:t>- Note the exception: this does not always hold for cumulative indicators.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is the self-fulfilling prophecy in formal dress. Close that loop from Part 3.</a:t>
            </a:r>
          </a:p>
          <a:p>
            <a:r>
              <a:rPr sz="1400"/>
              <a:t>- Deliver the uncomfortable corollary: even a badly designed indicator becomes reliable if enough capital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this quietly contradicts what most beginners assume, which is that short term is pure noise.</a:t>
            </a:r>
          </a:p>
          <a:p>
            <a:r>
              <a:rPr sz="1400"/>
              <a:t>- Explain the stop size argument in one sentence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for the three forms of EMH in order. Do not move on until someone gets it.</a:t>
            </a:r>
          </a:p>
          <a:p>
            <a:r>
              <a:rPr sz="1400"/>
              <a:t>- This is the heaviest recap in the chapter. Take a full minute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6 of 6.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a trade requires two people who disagree about price and agree on a number.</a:t>
            </a:r>
          </a:p>
          <a:p>
            <a:r>
              <a:rPr sz="1400"/>
              <a:t>- Ask which of these groups the students themselves would be. Most will say retail.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size is the real difference, and size changes what strategies are even possible.</a:t>
            </a:r>
          </a:p>
          <a:p>
            <a:r>
              <a:rPr sz="1400"/>
              <a:t>- Note institutions cannot enter or exit quickly, which is a disadvantage the retail trader has.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word speculator is not an insult. Speculators supply the liquidity everyone else uses.</a:t>
            </a:r>
          </a:p>
          <a:p>
            <a:r>
              <a:rPr sz="1400"/>
              <a:t>- Draw the line by holding period, not by attitude.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plainly that this is the one pair in the chapter the book leaves undefined, and that we are not going to invent a ruling.</a:t>
            </a:r>
          </a:p>
          <a:p>
            <a:r>
              <a:rPr sz="1400"/>
              <a:t>- Give the industry reading first, then the producer and consumer reading, and tell them to say which one they mean.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novice is a stage, not a verdict, and every professional was one.</a:t>
            </a:r>
          </a:p>
          <a:p>
            <a:r>
              <a:rPr sz="1400"/>
              <a:t>- Connect to Part 4: subjectivity in pattern recognition falls with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Remind them of Part 4: even a nondiscretionary system was designed subjectively.</a:t>
            </a:r>
          </a:p>
          <a:p>
            <a:r>
              <a:rPr sz="1400"/>
              <a:t>- Ask which one they think they would be. Most say nondiscretionary and most are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which rung they would want to be on. Then ask which one has the most screen time.</a:t>
            </a:r>
          </a:p>
          <a:p>
            <a:r>
              <a:rPr sz="1400"/>
              <a:t>- Say the course objective explicitly names categorizing participants by time in markets.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five boxes left to right and let the holding period stretch as you go.</a:t>
            </a:r>
          </a:p>
          <a:p>
            <a:r>
              <a:rPr sz="1400"/>
              <a:t>- Ask them to place themselves on the diagram. Most will land between swing and investor.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Close the loop with Part 3 explicitly; these are the same two bets in different clothes.</a:t>
            </a:r>
          </a:p>
          <a:p>
            <a:r>
              <a:rPr sz="1400"/>
              <a:t>- Give the warning on scale trading plainly. It is the one item here with a real hazard.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Hold this beside the previous diagram: the same word scalper, but sorted by method rather than by clock.</a:t>
            </a:r>
          </a:p>
          <a:p>
            <a:r>
              <a:rPr sz="1400"/>
              <a:t>- Point at reversal traders and trend traders and say those are the two bets from Part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Count five. Ask which of the five they have personally participated in.</a:t>
            </a:r>
          </a:p>
          <a:p>
            <a:r>
              <a:rPr sz="1400"/>
              <a:t>- Bridge to derivatives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right hand column first: those are the real things. Then the left: those are claims on them.</a:t>
            </a:r>
          </a:p>
          <a:p>
            <a:r>
              <a:rPr sz="1400"/>
              <a:t>- Say both lists run to five, and both are the kind of list a quiz asks you to reproduce.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word derivative simply means derived from. That deflates most of the fear around it.</a:t>
            </a:r>
          </a:p>
          <a:p>
            <a:r>
              <a:rPr sz="1400"/>
              <a:t>- Name the five instrument types once; they are a list students are expected to reproduce.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Walk down the list and ask which one requires a vault. Only the first.</a:t>
            </a:r>
          </a:p>
          <a:p>
            <a:r>
              <a:rPr sz="1400"/>
              <a:t>- Say the choice of instrument is a separate decision from the choice of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Ask for a show of hands on each option before you advance.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Reveal one at a time. Say the reason out loud, not just the letter.</a:t>
            </a:r>
          </a:p>
          <a:p>
            <a:r>
              <a:rPr sz="1400"/>
              <a:t>- If more than a third of the room missed one, step back and reteach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for the eight categories. Accept six and prompt for the rest.</a:t>
            </a:r>
          </a:p>
          <a:p>
            <a:r>
              <a:rPr sz="1400"/>
              <a:t>- That is the whole chapter. Move to the wrap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all five slowly. This is the summary students should copy verbatim.</a:t>
            </a:r>
          </a:p>
          <a:p>
            <a:r>
              <a:rPr sz="1400"/>
              <a:t>- Return to the Pring quote and end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Tell them where each answer sits: Part 2, Part 3, Part 3, Part 5, Part 4, Part 5.</a:t>
            </a:r>
          </a:p>
          <a:p>
            <a:r>
              <a:rPr sz="1400"/>
              <a:t>- Say lines four and five each carry two of the book's eight questions.</a:t>
            </a:r>
          </a:p>
          <a:p>
            <a:r>
              <a:rPr sz="1400"/>
              <a:t>- Set the expectation that these appear on the quiz in the department's four statement format.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Name the exact preparation you want done before the next meeting.</a:t>
            </a:r>
          </a:p>
          <a:p>
            <a:r>
              <a:rPr sz="1400"/>
              <a:t>- Remind them that quiz 1 covers chapters 1 and 2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9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0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1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4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5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6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8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9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0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1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3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4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8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9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0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1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3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4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5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6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8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9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1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2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3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5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6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9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0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1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2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3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4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5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6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8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9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0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1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2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3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4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5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6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FIN1209  Technical Analysis in 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57400"/>
            <a:ext cx="14630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6372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alatino"/>
              </a:rPr>
              <a:t>Chapter 1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Palatino"/>
              </a:rPr>
              <a:t>Introduction to the Art and Science of Technical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Institute of Accounts, Business and Finance  |  Far Eastern University Manila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2A900"/>
                </a:solidFill>
                <a:latin typeface="Arial"/>
              </a:rPr>
              <a:t>Benjamin C. Sotelo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1 - 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Understand the key concepts underlying technical analysis.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Identify the different forms of chart analysis.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Describe the objectives of technical analysis.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Understand what subjectivity means in technical analysis.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you will be able to do,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1 - 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Recognize the strengths and weaknesses of technical analysis.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Categorize market participants by style and time in markets.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Identify the various styles and approaches in technical analysis.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How today is laid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1 -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1  Why anybody analyzes a market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2  Three ways to forecast a price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3  Classifying technical analysis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4  Subjectivity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5  The assumptions underneath everything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6  Who is in the market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262371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298947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Six parts, a check every few terms, and a clean stop at every boundary.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1 of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Why Anybody Analyzes a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Where the urge to make a profit actually comes from.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The one rule every trade in the world is trying to satisfy.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The two jobs technical analysis does, and the four words for a trade.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>About 25 minutes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Markets run on three instincts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1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 The instinct to survive.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 The instinct for comfort.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3.  The instinct to propagate.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Survival is the strongest of the three. It usually comes first.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the survival instinct contains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2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Stay alive.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Satisfy hunger.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Seek safety, which means staying with the group or herd.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Avoid danger, through natural fears of fire, loud noise, heights.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Notice the third one. Herding will come back on almost every chart we read.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To make a profit, something has to change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3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You cannot profit from something that never moves.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You need a variable of change: something you own whose value shifts.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could be a house, a sack of rice, a currency, or a share.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Markets exist because value moves. Analysis exists because we want to know which way.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Price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Price is the most convenient variable of change we have. It is visible, it is public, and it updates constantly.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Jollibee shares closed at 240 pesos yesterday and 244 pesos today. You did not need anyone's permission to see that.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Price is the observable variable of change on which market participants act, and the primary data of technical analysis.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4 of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buy low, sell high principle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 simple mechanical rule that would guarantee a profit every single time: buy when the price is low and sell when it is higher.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Buy at 40 pesos, sell at 52 pesos, keep 12 pesos a share. Nothing clever happened.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The buy low, sell high principle is the mechanical rule that profit is realized by acquiring at a lower price and disposing at a higher one.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5 of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Instincts, price, and the basic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instinct does the text treat as the strongest driver of market behavior?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The instinct for comfort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The instinct to propagate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The instinct to survive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The instinct to compete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Price is described as a variable of change mainly because: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It moves, and everyone can observe it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It is set by the company's accountants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It is fixed for the trading day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It equals the intrinsic value of the asset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6 - Why we analyze  |  Check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Instincts, price, and the basic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Which instinct does the text treat as the strongest driver of market behavior?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The instinct to survive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Survival almost always precedes the need for comfort or to propagate.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Price is described as a variable of change mainly because: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0949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It moves, and everyone can observe it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Price is popular precisely because it is both changing and openly observable.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Check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rule is easy. Obeying it is not.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6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To buy low you must first know that today's price is low.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To sell high you must know that today's price is high.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Both of those are statements about the future, not the present.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This is where chance enters, and this is why the subject exists.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price-time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 picture with price up the side and time along the bottom. It is how traders keep track of two things at once.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Any chart on your trading app. The vertical axis is pesos, the horizontal axis is days.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price-time chart is a two dimensional visualization that plots price on the vertical axis against time on the horizontal axis.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7 of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Technical analysis does exactly two jobs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8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Job one: it identifies and describes what already happened.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Job two: it forecasts what might happen next.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272028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308604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Everything in this course is one of those two jobs.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77385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This is called the dual function of technical analysis.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Identification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record keeping job. The chart tells you what the market has already done, with no opinion attached.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From a five year chart you can read the highest price ever paid, the calmest month, and the days that gapped.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Identification is the descriptive function of technical analysis: it records and describes past and present price and market action.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9 of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Forecasting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opinion job. You take what the chart recorded and make a claim about what comes next, and the claim worth most is where a new trend begins.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Prices bounced off 100 pesos four times, so you expect buyers to show up there again.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108851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11982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Forecasting is the inferential function of technical analysis: it interprets identified market action to infer potential future price behavior, especially the start of a new trend.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10 of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The chart and the two jobs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price-time chart tracks which two dimensions?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Price and time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Price and volume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Volume and open interest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Value and time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Recording that a stock's widest daily range last year was 8 pesos is an example of: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Forecasting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Intrinsic valuation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Identification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Sentiment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6 - Why we analyze  |  Check 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The chart and the two jobs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A price-time chart tracks which two dimensions?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Price and time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Price sits on the vertical axis and time on the horizontal axis.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Recording that a stock's widest daily range last year was 8 pesos is an example of: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0949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Identification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Describing what already happened is the identification function, with no claim about the future.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Check 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identification hands you before you risk a peso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11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average size of a normal day's move.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highest and lowest prices ever paid.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Where the market usually stalls and goes sideways.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How much trading actually happens, and how often price gaps.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This is the homework you do before any trade, and it is free.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To go long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To buy in order to open a new position. You now own it and you want the price to rise.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You buy 1,000 shares of Ayala at 620 pesos. You are long Ayala.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To go long means to buy to open a new position.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12 of 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To liquidate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To sell in order to close a position you already held. It is the exit from a long.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You sell those 1,000 Ayala shares at 660 pesos. You have liquidated.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To liquidate means to sell to close a position previously held.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13 of 17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To go short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To sell in order to open a new position, before you own it. You want the price to fall.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You sell 1,000 borrowed shares at 660 pesos hoping to buy them back cheaper.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To go short means to sell to open a new position.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14 of 17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To cover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533527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To buy in order to close a position you had shorted. It is the exit from a short.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139567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93847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You buy back those 1,000 shares at 610 pesos and return them. You have covered.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020566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974846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To cover means to buy to close a position previously shorted.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15 of 17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3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The four words for a trade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Selling to close a position you already held is called: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Liquidating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Going short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Covering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Going long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1084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trader borrows shares and sells them at 90 pesos. Two weeks later they buy them back at 74 pesos. The second action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Going long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Covering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Liquidating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Scaling 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6 - Why we analyze  |  Check 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The four words for a trade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Selling to close a position you already held is called: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Liquidating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Liquidating is selling to close; covering is buying to close a short.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18618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186181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A trader borrows shares and sells them at 90 pesos. Two weeks later they buy them back at 74 pesos. The second action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4317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Covering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Buying to close a previously shorted position is covering.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Check 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four ways a trade actually makes money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16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 Long at a low price, liquidate at a higher price.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 Long at a high price, liquidate at an even higher price.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3.  Short at a high price, cover at a lower price.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4.  Short at a relatively low price, cover at an even lower price.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Buy low, sell high is only scenario 1. Three other ways exist.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72557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The department's quiz has asked which of these count as buy low, sell high. Read them carefully.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mechanics of profiting from a change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17 of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1.1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The two ways to profit side by side: buy low then sell high, or sell high then buy back low, with the jargon and the demand or supply behind each.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1.1 - Lim, The Handbook of Technical Analysis (Wiley, 2016)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1800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You now know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815687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three motivational instincts, and why survival leads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Variable of change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Price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buy low, sell high principle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price-time chart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41567" y="1965960"/>
            <a:ext cx="4815687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dual function of technical analysis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Identification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Forecasting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To go long, and to liquidate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To go short, and to cover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four profitable trade scenarios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6 - Why we analyze  |  recap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2 of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Three Ways to Forecast a Price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Fundamental analysis, information analysis, and technical analysis.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Six definitions of technical analysis worth memorizing.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What each approach can and cannot tell you about timing.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>About 30 minutes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Three approaches, one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1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 Fundamental analysis: what is this thing worth?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 Information analysis: what does the news say?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3.  Technical analysis: what is the market itself doing?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All three are trying to answer the same question: where does price go next?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three approaches on one 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2 of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1.2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Fundamental analysis using intrinsic value, technical analysis using price, volume and sentiment, information analysis using public and non-public information.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1.2 - Lim, The Handbook of Technical Analysis (Wiley, 2016)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Fundamental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Working out what a company is really worth by reading its financial statements, then comparing that to the price.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You read San Miguel's annual report, decide the business is worth 130 pesos a share, and see it trading at 98 pesos.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Fundamental analysis estimates the value of a security from its financial performance and position, in order to judge whether the current price is justified.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3 of 28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Intrinsic value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What the security is genuinely worth once you account for everything the business owns, owes, and earns.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Holdings, debt, earnings, dividends, income, balance sheet activity and cash flow, all reduced to one number per share.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Intrinsic value is the worth of a security in light of all its holdings, debt, earnings, dividends, income, balance sheet activity, and cash flow.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4 of 28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Undervalued and overvalued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5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Price below intrinsic value means undervalued. Buyers should appear, creating demand.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Price above intrinsic value means overvalued. Sellers should appear, creating supply.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901439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938015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Undervalued means cheap relative to worth. It does not mean the price will rise today.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28107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The department's quiz has reversed this pair to catch inattentive students.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Undervalued: price below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6 of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1.3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Intrinsic value of 25 dollars against a current price of 20 dollars, so the stock is underpriced and the expected reaction is potential demand.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1.3 - Lim, The Handbook of Technical Analysis (Wiley, 2016)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Overvalued: price above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7 of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1.4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The same diagram inverted: a current price of 25 dollars against intrinsic value of 20 dollars, so the stock is overpriced and the expected reaction is potential supply.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1.4 - Lim, The Handbook of Technical Analysis (Wiley, 2016)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4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Value and the three approaches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share trades at 45 pesos and its estimated intrinsic value is 60 pesos. The share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01624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Overvalued, and supply should be generated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Undervalued, and demand should be generated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Fairly valued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Overbought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207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Select the accurate statements. I. Fundamental analysis estimates intrinsic value. II. Technical analysis asks what a business is worth. III. Information analysis draws on public sources such as news reports. IV. All three try to forecast future price.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401624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Only I, III, and IV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Only I and II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Only II and III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All are correct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6 - Forecasting  |  Check 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Value and the three approaches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A share trades at 45 pesos and its estimated intrinsic value is 60 pesos. The share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Undervalued, and demand should be generated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Price below estimated intrinsic value means undervalued, which potentially generates demand.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209549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209549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792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Select the accurate statements. I. Fundamental analysis estimates intrinsic value. II. Technical analysis asks what a business is worth. III. Information analysis draws on public sources such as news reports. IV. All three try to forecast future price.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27685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Only I, III, and IV are correct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Statement II is false: valuing the business is the fundamentalist's job, not the technician's.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Check 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How a fundamentalist turns accounts into a number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8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Price to earnings, or P/E. Price to earnings growth, or PEG.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Price to book, and price to sales.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Debt to equity, and earnings per share.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Asset pricing models like the capital asset pricing model, or CAPM.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CAPM seeks the best balance between risk and expected returns over a risk free rate.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79492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116068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None of this tells you what to do at 9:31 tomorrow morning.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top-down approach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Start with the big picture, then narrow down. Pick the strong sector first, then the best company inside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You decide banking will do well this year, then you compare BDO, BPI and Metrobank.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top-down approach studies broad market factors and sector rotation models in order to select stocks within a strengthening industry or sector.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9 of 28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bottom-up approach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Start with the company. If the business is excellent, you buy it whatever the sector is doing.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You like one shipping firm's balance sheet and buy it even though shipping as a whole is weak.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bottom-up approach relies primarily on a specific company's own fundamental performance rather than on sector or market conditions.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10 of 28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Where fundamental analysis runs out of road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11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Accounts can be dressed up, misreported, or outright falsified.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By the time an audited report is published, the information is already old.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never gives you a precise price or a precise moment to act.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Fundamental data suits long term investment. It is poor at short term timing.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5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Approaches and their limits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1084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An analyst first identifies a strengthening industry, then screens for the best company inside it. This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A bottom-up approach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A top-down approach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A contrarian approach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Information analysis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main weakness of fundamental analysis, for a trader, is that it: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Cannot value a company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Ignores a company's debt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Cannot provide clear short term price and time levels to act 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Requires a chart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6 - Forecasting  |  Check 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Approaches and their limits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8618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86181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An analyst first identifies a strengthening industry, then screens for the best company inside it. This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16814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A top-down approach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Starting from broad market or sector conditions and narrowing down is top-down.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15716"/>
            <a:ext cx="10637215" cy="19202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15716"/>
            <a:ext cx="91440" cy="192023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55346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The main weakness of fundamental analysis, for a trader, is that it: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43172"/>
            <a:ext cx="9905695" cy="149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Cannot provide clear short term price and time levels to act on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Its stated main weakness is the inability to give specific short term price levels or timing.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Check 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Information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Forecasting from what you read: newspapers, bulletins, online reports, company announcements.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quarterly result beats expectations, so you expect the share to open higher tomorrow.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Information analysis forms an opinion about potential market action from information gleaned from public sources.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12 of 28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Why public information is usually 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13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Those with non-public material information have already moved the market.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By the time it is public, only an inconsequential amount of the move is left.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Acting on non-public material information is insider trading, and it is illegal.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084320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120896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technical analyst sees the move on the chart and acts, without waiting for the reason.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110988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In unregulated over the counter markets, brokers front running large client orders is the same problem wearing a different name.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Technical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Reading the market's own behavior, mainly price, volume and open interest, to work out what it is likely to do next.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You do not know why the buyers came. You only know they came at 250 pesos, three times.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Technical analysis is the identification and forecasting of potential market behavior based largely on the action and dynamics of the market itself.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14 of 28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325880"/>
            <a:ext cx="109728" cy="171323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18181"/>
                </a:solidFill>
                <a:latin typeface="Arial"/>
              </a:rPr>
              <a:t>A definition worth writing 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1371600"/>
            <a:ext cx="10253167" cy="1713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Palatino"/>
              </a:rPr>
              <a:t>"Technical analysis is the study of market action, primarily through the use of charts, for the purpose of forecasting future price trends."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1400" b="0" i="0">
                <a:solidFill>
                  <a:srgbClr val="818181"/>
                </a:solidFill>
                <a:latin typeface="Arial"/>
              </a:rPr>
              <a:t>John Murphy, Technical Analysis of the Financial Markets (NYIF, 1999)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404870"/>
            <a:ext cx="106372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What it tells us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7A33"/>
                </a:solidFill>
                <a:latin typeface="Arial"/>
              </a:rPr>
              <a:t>Charting is the main tool, and the target is future price trends.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15 of 28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6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Information, and the first definition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Why is publicly available information usually of limited forecasting value?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2653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Those with non-public material information have already moved the market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It is difficult to find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It is always inaccurate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It cannot be plotted on a chart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Murphy's definition identifies the main tool of technical analysis as: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52653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Financial statements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Polls and surveys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Regression models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Charts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6 - Forecasting  |  Check 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Information, and the first definition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9202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92023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Why is publicly available information usually of limited forecasting value?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49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Those with non-public material information have already moved the market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By the time news is public, the substantial move has usually already happened.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74135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74135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611879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Murphy's definition identifies the main tool of technical analysis as: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101591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Charts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Murphy defines it as the study of market action primarily through the use of charts.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Check 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325880"/>
            <a:ext cx="109728" cy="171323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18181"/>
                </a:solidFill>
                <a:latin typeface="Arial"/>
              </a:rPr>
              <a:t>A definition worth writing 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1371600"/>
            <a:ext cx="10253167" cy="1713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Palatino"/>
              </a:rPr>
              <a:t>"Technical analysis is the science of recording, usually in graphic form, the actual history of trading ... then deducing from that pictured history the probable future trend."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1400" b="0" i="0">
                <a:solidFill>
                  <a:srgbClr val="818181"/>
                </a:solidFill>
                <a:latin typeface="Arial"/>
              </a:rPr>
              <a:t>Edwards and Magee, Technical Analysis of Stock Trends (AMACOM, 2007)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404870"/>
            <a:ext cx="106372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What it tells us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7A33"/>
                </a:solidFill>
                <a:latin typeface="Arial"/>
              </a:rPr>
              <a:t>Past information, recorded as a picture, is what the forecast is built from.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16 of 28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325880"/>
            <a:ext cx="109728" cy="133223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18181"/>
                </a:solidFill>
                <a:latin typeface="Arial"/>
              </a:rPr>
              <a:t>A definition worth writing 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1371600"/>
            <a:ext cx="10253167" cy="1332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Palatino"/>
              </a:rPr>
              <a:t>"It refers to the study of the action of the market itself as opposed to the study of the goods in which the market deals."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1400" b="0" i="0">
                <a:solidFill>
                  <a:srgbClr val="818181"/>
                </a:solidFill>
                <a:latin typeface="Arial"/>
              </a:rPr>
              <a:t>Edwards and Magee, Technical Analysis of Stock Trends (AMACOM, 2007)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23870"/>
            <a:ext cx="106372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What it tells us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7A33"/>
                </a:solidFill>
                <a:latin typeface="Arial"/>
              </a:rPr>
              <a:t>You study the market, not the product the market trades.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17 of 28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325880"/>
            <a:ext cx="109728" cy="209423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18181"/>
                </a:solidFill>
                <a:latin typeface="Arial"/>
              </a:rPr>
              <a:t>A definition worth writing 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1371600"/>
            <a:ext cx="10253167" cy="2094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Palatino"/>
              </a:rPr>
              <a:t>"The art of technical analysis, for it is an art, is to identify a trend reversal at a relatively early stage and ride on that trend until the weight of the evidence shows or proves that the trend has reversed."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1400" b="0" i="0">
                <a:solidFill>
                  <a:srgbClr val="818181"/>
                </a:solidFill>
                <a:latin typeface="Arial"/>
              </a:rPr>
              <a:t>Martin Pring, Technical Analysis Explained, 4th Edition (McGraw-Hill, 2002)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785870"/>
            <a:ext cx="106372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What it tells us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7A33"/>
                </a:solidFill>
                <a:latin typeface="Arial"/>
              </a:rPr>
              <a:t>The goal is to catch a reversal early, and then to stay until the evidence turns.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18 of 28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7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Three definitions in a row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1084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definition draws the line between studying the market and studying the goods the market deals 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Murphy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Pring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Lim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Edwards and Magee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Pring describes the art of technical analysis as identifying: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The intrinsic value of a stock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The exact top of a market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A trend reversal at a relatively early stage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The cause of a price move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6 - Forecasting  |  Check 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Three definitions in a row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8618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86181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Which definition draws the line between studying the market and studying the goods the market deals 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16814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Edwards and Magee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That line is Edwards and Magee's, from Technical Analysis of Stock Trends.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15716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15716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55346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Pring describes the art of technical analysis as identifying: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4317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A trend reversal at a relatively early stage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Pring's phrasing is to identify a trend reversal at a relatively early stage and ride the trend.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Check 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325880"/>
            <a:ext cx="109728" cy="133223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18181"/>
                </a:solidFill>
                <a:latin typeface="Arial"/>
              </a:rPr>
              <a:t>A definition worth writing 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1371600"/>
            <a:ext cx="10253167" cy="1332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Palatino"/>
              </a:rPr>
              <a:t>"Technical analysis deals in probabilities, never in certainties."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1400" b="0" i="0">
                <a:solidFill>
                  <a:srgbClr val="818181"/>
                </a:solidFill>
                <a:latin typeface="Arial"/>
              </a:rPr>
              <a:t>Martin Pring, Technical Analysis Explained, 4th Edition (McGraw-Hill, 2002)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23870"/>
            <a:ext cx="106372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What it tells us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7A33"/>
                </a:solidFill>
                <a:latin typeface="Arial"/>
              </a:rPr>
              <a:t>This is the definition that keeps you solvent. Weigh risk against return, every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19 of 28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325880"/>
            <a:ext cx="109728" cy="133223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18181"/>
                </a:solidFill>
                <a:latin typeface="Arial"/>
              </a:rPr>
              <a:t>A definition worth writing 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1371600"/>
            <a:ext cx="10253167" cy="1332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Palatino"/>
              </a:rPr>
              <a:t>"Technical analysis is based on the assumption that people will continue to make the same mistakes they have made in the past."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1400" b="0" i="0">
                <a:solidFill>
                  <a:srgbClr val="818181"/>
                </a:solidFill>
                <a:latin typeface="Arial"/>
              </a:rPr>
              <a:t>Martin Pring, Technical Analysis Explained, 4th Edition (McGraw-Hill, 2002)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23870"/>
            <a:ext cx="106372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What it tells us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7A33"/>
                </a:solidFill>
                <a:latin typeface="Arial"/>
              </a:rPr>
              <a:t>This is the behavioral reason the whole subject works at all.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20 of 28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325880"/>
            <a:ext cx="109728" cy="133223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18181"/>
                </a:solidFill>
                <a:latin typeface="Arial"/>
              </a:rPr>
              <a:t>A definition worth writing 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1371600"/>
            <a:ext cx="10253167" cy="1332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Palatino"/>
              </a:rPr>
              <a:t>"Market price tends to lead the known fundamentals ... Market price acts as a leading indicator of the fundamentals."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1400" b="0" i="0">
                <a:solidFill>
                  <a:srgbClr val="818181"/>
                </a:solidFill>
                <a:latin typeface="Arial"/>
              </a:rPr>
              <a:t>John Murphy, Technical Analysis of the Financial Markets (NYIF, 1999)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23870"/>
            <a:ext cx="106372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What it tells us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7A33"/>
                </a:solidFill>
                <a:latin typeface="Arial"/>
              </a:rPr>
              <a:t>Price often moves before the news explains why. That is the timing advantage.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21 of 28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technically based timing gives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22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Precise entry and exit prices, and the precise time of entry and exit.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Real time bullish and bearish signals, and real time price triggers.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ability to scale in and out at significant price levels.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Entries and exits timed to volatility behavior and to market order flow.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Notice how many of these contain the word precise.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technically based timing gives you,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23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Exit an extended trend at a technically significant reversal level.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Define risk as a percentage, in terms of real price levels.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Use volume and open interest to gauge the strength of a move.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Use market breadth and sentiment to gauge that strength more broadly.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Forecast peaks and troughs through cycle and seasonality analysis.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64786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01362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Every one of these is a technique we will build over the semester.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fundamentally based timing gives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24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Undervalued stocks that could appreciate, with no precise price or time to go long.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Overvalued stocks that could depreciate, with no precise price or time to go short.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Fundamentally strong stocks to rotate into, again with no precise price or 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Read the ending of all three lines. The gap is always timing.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8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Timing, and who answers which question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is offered by technically based market timing but not by fundamentally based market timing?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264533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Identifying an undervalued stock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An estimate of intrinsic value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A precise price and time of entry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A view on a company's debt level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23260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Pick the accurate statements. I. A technical analyst is more concerned with effects than causes. II. A fundamentalist is mainly concerned with intrinsic value. III. A technical analyst usually cannot determine intrinsic value. IV. A fundamentalist can tell you the most advantageous moment to enter.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4264533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Only I, II, and III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Only I and II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Only II and IV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All are correct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6 - Forecasting  |  Check 8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Timing, and who answers which question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8618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86181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Which is offered by technically based market timing but not by fundamentally based market timing?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16814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A precise price and time of entry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Precise entry and exit price and time is exactly what fundamental timing lacks.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15716"/>
            <a:ext cx="10637215" cy="23291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15716"/>
            <a:ext cx="91440" cy="232918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553460"/>
            <a:ext cx="9905695" cy="102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Pick the accurate statements. I. A technical analyst is more concerned with effects than causes. II. A fundamentalist is mainly concerned with intrinsic value. III. A technical analyst usually cannot determine intrinsic value. IV. A fundamentalist can tell you the most advantageous moment to enter.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74421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Only I, II, and III are correct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Statement IV is false: the fundamentalist can tell you which company, not the best moment.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Check 8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fundamentalist, in four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25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Mainly concerned with intrinsic value.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Strives to understand the underlying cause of a market move.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Focused on which company to participate in.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Can tell you which company to buy, but not the best moment to start.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Cause, company, value.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technical analyst, in four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26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Mainly concerned with the structure and dynamics of price and market action.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More concerned with the effects of a move than with its cause.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Usually cannot determine intrinsic value or whether a stock is under or overvalued.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Can determine precisely when to start, purely from price performance.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81905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18481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Effect, price, timing.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287263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Neither column is complete on its own. Most professionals use both.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six streams of market 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27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Price action, and volume action.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Open interest action.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Sentiment, and market breadth.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Flow of funds.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Price is the most important, followed closely by volume.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72557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Flow of funds includes things like margin debt. The department has quizzed exactly that.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OHLC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four numbers that describe any single bar on a chart: where it opened, its high, its low, and where it closed.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daily bar for Globe: opened 1,800, high 1,845, low 1,792, closed 1,838.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OHLC denotes the opening, high, low, and closing prices of a bar over any chosen interval, from one minute to one year.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28 of 28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9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Market action and its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Flow of funds analysis involves the study of: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2653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Oscillators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Linear regression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Point and figure charts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Margin debt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Of all the data technical analysts use, the most important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52653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Open interest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Sentiment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Price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Market breadth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6 - Forecasting  |  Check 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Market action and its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Flow of funds analysis involves the study of: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Margin debt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Margin debt is a flow of funds measure; the other three are chart or statistical studies.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Of all the data technical analysts use, the most important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0949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Price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Price is the most important, followed closely by volume action.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Check 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1800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You now know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815687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Fundamental, information and technical analysis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Intrinsic value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Undervalued and overvalued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Top-down and bottom-up approaches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Non-public material information and insider trading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Murphy: study of market action through charts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Edwards and Magee: recording history, deducing the probable trend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41567" y="1965960"/>
            <a:ext cx="4815687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Edwards and Magee: the market itself, not the goods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Pring: an art, catching a reversal early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Pring: probabilities, never certainties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Pring: people repeat their mistakes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Murphy: price leads the known fundamentals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Technically and fundamentally based market timing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The fundamentalist and the technical analyst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▪  The six streams of market action, and OHLC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6 - Forecasting  |  recap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3 of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Classifying Technical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The four branches every technique in this course belongs to.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The two opposite bets a trader can make about price.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The honest advantages and disadvantages of the whole method.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>About 25 minutes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Four branches, one subject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1 of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 Classical technical analysis.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 Statistical analysis.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3.  Sentiment analysis.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4.  Behavioral analysis.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Whatever branch you use, you still interpret it through your own biases.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four branches on one 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2 of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1.6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Classical, statistical, sentiment and behavioral analysis, each with its own list of studies, all funnelling into one line at the bottom.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1.6 - Lim, The Handbook of Technical Analysis (Wiley, 2016)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Classical technical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traditional, visual, hand-drawn kind. Patterns on charts, and indicators drawn over or under the price.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Bar and candlestick patterns, support and resistance, oscillators, market breadth, cycle analysis.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108851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11982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Classical technical analysis uses conventional bar, chart and candlestick patterns, oscillator and overlay indicators, market breadth, relative strength, and cycle analysis.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3 of 19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Statistical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mathematical kind. Instead of looking at a shape you compute a number and test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Volatility, linear regression, correlation, time series analysis, hypothesis testing.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108851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11982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Statistical analysis is the quantitative branch, studying dispersion, central tendency, skewness, volatility, regression, hypothesis testing, correlation and covariance.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4 of 19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Sentiment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Measuring the mood of the crowd. How optimistic or pessimistic are participants right now?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Put to call ratios, short interest, margin debt, bullish percent readings, opinion polls of professionals.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Sentiment analysis studies the psychology of market participants through polls and surveys, flow of funds, and the positions taken by large institutions and hedgers.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5 of 19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Behavioral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Studying how participants actually react, including their biases and their bad habits.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Herd behavior, loss aversion, confirmation bias, overconfidence, the gambler's fallacy.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108851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11982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Behavioral analysis studies how market participants react to news, to profits and losses, to the actions of others, and to their own psychological and emotional biases.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6 of 19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10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The four branches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Studying skewness, regression and volatility of returns belongs to which branch?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Statistical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Classical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Sentiment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Behavioral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Japanese candlestick patterns and overlay indicators belong to: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Classical technical analysis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Statistical analysis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Sentiment analysis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Behavioral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6 - Classifications  |  Check 10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The four branches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Studying skewness, regression and volatility of returns belongs to which branch?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Statistical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Those are quantitative measures, which is the statistical branch.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Japanese candlestick patterns and overlay indicators belong to: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0949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Classical technical analysis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Candlesticks, oscillators and overlays are the conventional, classical toolkit.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Check 10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Two opposite bets about price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7 of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Bet one: price has gone far enough and will come back.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Bet two: price is going somewhere and will keep going.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272028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308604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Almost every strategy you will ever meet is one of these two.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77385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The technical studies you choose follow directly from which bet you are making.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Mean reverting against non-mean reverting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8 of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1.7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The two camps compared column by column: their study preferences, their order types, where each one enters, and the rationale behind each.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1.7 - Lim, The Handbook of Technical Analysis (Wiley, 2016)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mean reverting or contrarian approach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533527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You expect price to snap back to an average. You do not expect it to travel far.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139567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93847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You buy at support and short at resistance, using divergence, regression lines, moving average bands and Bollinger bands.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108851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11982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mean reverting approach expects price to return to an average or to a balance between supply and demand, enters at cycle extremes, and acts on the overbought and oversold conditions its studies pinpoint.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9 of 19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non-mean reverting or momentum approach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You expect price to keep travelling. Demand creates more demand, supply creates more supply.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You buy the breakout of a chart pattern, a moving average, a Darvas Box or a Donchian channel.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108851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11982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non-mean reverting approach expects trends to continue through a positive feedback cycle, enters at cycle midpoints, and acts on the crossover of the oscillator equilibrium level.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10 of 19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Limit and stop entry orders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 limit order buys only at your price or better. A stop order buys only once price has pushed through a level.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Contrarians prefer limit orders, because they want a good price. Momentum traders prefer stop orders, because they want confirmation.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Limit entry orders execute at a specified price or better; stop entry orders trigger once price trades through a specified level.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11 of 19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11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The two approaches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trader who buys at support, shorts at resistance and prefers limit entry orders is following: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01624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A momentum seeking approach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A mean reverting approach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An arbitrage approach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A random walk approach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207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Pick the accurate statements. I. A momentum seeking approach is usually trend based. II. Darvas Box trading is an example of a momentum seeking approach. III. Contrarians expect price to be more mean reverting. IV. Contrarians look for impending reversals.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401624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Only I is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Only I, II, and IV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Only I and IV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All are correct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6 - Classifications  |  Check 11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The two approaches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209549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9549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A trader who buys at support, shorts at resistance and prefers limit entry orders is following: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16814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A mean reverting approach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Buying support, shorting resistance and using limit orders is the contrarian, mean reverting profile.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549396"/>
            <a:ext cx="10637215" cy="209549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549396"/>
            <a:ext cx="91440" cy="209549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787140"/>
            <a:ext cx="9905695" cy="792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Pick the accurate statements. I. A momentum seeking approach is usually trend based. II. Darvas Box trading is an example of a momentum seeking approach. III. Contrarians expect price to be more mean reverting. IV. Contrarians look for impending reversals.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74421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All are correct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All four statements are accurate descriptions of the two approaches.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Check 11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technical analysis is genuinely good at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12 of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works the same way on every market, instrument and timeframe.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You do not need to learn a new company to trade a new stock.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is visual, so market risk and volatility are easy to see.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One skill, applied everywhere. That is the strongest practical argument for it.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technical analysis is genuinely good at,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13 of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gives timely, precise entry and exit levels.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Those levels arrive with a signal, bullish or bearish, before the move.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When many participants act on the same obvious level, the reaction is more reliable.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084320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120896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That last advantage has a name, and it is also a criticism. We meet it shortly.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honest disadvantages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14 of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is subjective. The same pattern can be read several ways.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repeating tendency can be disrupted by shocks, or by algorithmic and high frequency trading.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Reading a chart takes practice; inferring from it takes much more.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084320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120896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Every bullish reading has an equal and opposite bearish reading.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three big objections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15 of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Random walk: prices are pure chance, so patterns mean nothing.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strong form of the Efficient Market Hypothesis: price already reflects everything.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self-fulfilling prophecy: signals work only because everyone watches them.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084320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120896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We take the first two apart in Part 5. We take the third apart right now.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self-fulfilling prophecy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claim that a technical signal works not because it is meaningful, but because enough people act on it at the same moment.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trendline breaks and thousands of traders buy on the break, so price rises, so the trendline looks like it worked.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108851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11982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The self-fulfilling prophecy holds that prices react to technical signals because of the concerted action of participants acting on those signals rather than because of the signals themselves.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16 of 19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self-fulfilling prophecy cycle, stages one to three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17 of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 A clear and obvious signal attracts participants.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 Their concerted action creates reliable price reactions.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3.  Reliable reactions attract even more participants.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These three stages are the advantage. This is when the signal is worth trading.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cycle, stages four to six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18 of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4.  Participants start to preempt each other for better fills.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5.  Reactions drift from expected entry levels and participants abandon the signal.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6.  With preempting gone, reliable reactions begin to appear again.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084320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120896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Then the process repeats. The signal is never permanently dead or permanently alive.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six stages as one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19 of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1.8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The self-fulfilling prophecy cycle drawn as a circle, with stages one to three bracketed as advantageous entries and stages four to six as disadvantageous.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1.8 - Lim, The Handbook of Technical Analysis (Wiley, 2016)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12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Strengths, weaknesses, and the prophecy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random walk view of the market implies that: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Technical analysis is still useful because patterns may arise by chance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Technical analysis is unreliable only in volatile markets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Technical analysis works only on long timeframes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Technical analysis is pointless because chart patterns arise out of pure chance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In the self-fulfilling prophecy cycle, participants preempting each other for better fills happens at: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Stage 1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Stage 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Stage 4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Stage 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6 - Classifications  |  Check 12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Strengths, weaknesses, and the prophecy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9202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92023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A random walk view of the market implies that: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49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Technical analysis is pointless because chart patterns arise out of pure chance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If all action is random, patterns carry no information and analysis is pointless.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74135"/>
            <a:ext cx="10637215" cy="18618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74135"/>
            <a:ext cx="91440" cy="186181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611879"/>
            <a:ext cx="9905695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In the self-fulfilling prophecy cycle, participants preempting each other for better fills happens at: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33527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Stage 4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Preempting is stage 4, and it is what erodes the reliability of the signal.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Check 12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1800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You now know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815687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Classical technical analysis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Statistical analysis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Sentiment analysis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Behavioral analysis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mean reverting or contrarian approach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non-mean reverting or momentum 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41567" y="1965960"/>
            <a:ext cx="4815687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Limit entry orders and stop entry orders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Darvas Box and Donchian channel breakouts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advantages of technical analysis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disadvantages of technical analysis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self-fulfilling prophecy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six stage prophecy cycle, and preempting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6 - Classifications  |  recap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4 of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Subjectivity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Which half of technical analysis is objective, and which half is not.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Why two honest analysts read the same chart differently.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How to resolve conflicting signals instead of freezing.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>About 30 minutes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Objective and subjective at the same 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1 of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chart is objective. It is a historical record and it does not argue.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analysis is subjective. It happens inside a human being.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272028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308604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data is not the problem. The reader is.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Analysis is three separate activities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2 of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 Identifying price and indicator patterns.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 Interpreting what the data means.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3.  Inferring what price might do next.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Subjectivity enters at every one of the three, not just the last.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Subjectivity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Two competent analysts, given exactly the same chart, can reach different and equally defensible conclusions.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One reads an overbought oscillator as a strong trend continuing. Another reads it as a market about to reverse.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Subjectivity is the dependence of analysis on behavioral traits, filters and biases unique to each analyst or observer.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3 of 29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problem is twofold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4 of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First: which form of analysis should be applied to this chart at all?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Second: which indicators should be applied to it?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272028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308604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Neither question has a correct answer. Both have consequences.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77385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One plain chart can carry trendlines, moving averages, chart patterns, regression bands, divergence, volatility bands and volume study.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One chart, reading one: nothing on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5 of 29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1.9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A plain price chart with no analysis drawn on it at all, the raw record before anybody has interpreted it.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1.9 - Lim, The Handbook of Technical Analysis (Wiley, 2016)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Reading two: trendlines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6 of 29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1.10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The same chart with a short-term downtrend line, a longer-term uptrend line, an uptrend line and a downtrend line drawn across it.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1.10 - Lim, The Handbook of Technical Analysis (Wiley, 2016)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Reading three: moving averages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7 of 29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1.11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The same chart with a moving average through it, marked where it acts as support with buy points and where it acts as resistance with a short.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1.11 - Lim, The Handbook of Technical Analysis (Wiley, 2016)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Reading four: chart patterns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8 of 29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1.12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The same chart annotated with an ascending triangle, a head and shoulders, a parabolic move, a symmetrical triangle breakout and a channel retest.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1.12 - Lim, The Handbook of Technical Analysis (Wiley, 2016)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Reading five: regression and divergence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9 of 29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1.13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The same chart with regression lines showing higher highs in price while the CCI panel below makes lower highs, marked standard bearish divergence.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1.13 - Lim, The Handbook of Technical Analysis (Wiley, 2016)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Reading six: regression with volume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10 of 29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1.14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The same chart with regression lines and a volume panel underneath, marking a parabolic buying climax with a volume spike at the blow off.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1.14 - Lim, The Handbook of Technical Analysis (Wiley, 2016)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Reading seven: volatility bands, volume and MACD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11 of 29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1.15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The same chart again with volatility bands, price exceeding the upper band, the volume spike, and MACD at a historically overbought level.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1.15 - Lim, The Handbook of Technical Analysis (Wiley, 2016)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13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Where subjectivity lives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part of technical analysis is described as objective?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2653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The interpretation of indicators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The chart as a historical record of price and market action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The inference of future price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The choice of which indicator to apply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Analyzing price and market action consists of which three activities?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52653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Buying, holding, selling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Recording, charting, publishing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Screening, valuing, timing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Identifying, interpreting, inferring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4 of 6 - Subjectivity  |  Check 13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Where subjectivity lives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Which part of technical analysis is described as objective?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The chart as a historical record of price and market action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chart is an objective record; everything done to it afterwards is subjective.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18618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186181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Analyzing price and market action consists of which three activities?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0949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Identifying, interpreting, inferring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three activities are identifying patterns, interpreting the data, and inferring future behavior.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Check 13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Contradictory signals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533527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Two indicators point in opposite directions at the same moment.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139567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93847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The MACD says the market is strengthening while the stochastic says it is exhausted.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02056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97484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Contradictory signals are indications from two or more studies that are in clear and direct opposition to one another.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12 of 29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Confirmatory signals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533527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Two indicators agree, so your confidence in the reading goes up.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139567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93847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chart pattern breaks upward and volume expands on the same bar.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02056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97484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Confirmatory signals are indications from separate studies that agree with and reinforce the same conclusion.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13 of 29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Complementary signals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Two signals look contradictory but are actually describing different time horizons, and together they say more than either alone.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20 period reading says slightly overbought while a 100 period reading says slightly oversold: cheap for the long term, stretched for the short term.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Complementary signals are apparently opposing indications that, once their differing time horizons are recognized, combine into a fuller reading of the market.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14 of 29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14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Three kinds of signal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1084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20 period oscillator reads overbought while a 100 period oscillator on the same chart reads oversold. This is best described as: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A contradiction that invalidates both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A complementary reading across two time horizons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A confirmatory signal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A data error on the platform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Signals that agree with each other and reinforce the same conclusion are: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Confirmatory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Contradictory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Complementary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Contrarian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4 of 6 - Subjectivity  |  Check 14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Three kinds of signal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209549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9549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A 20 period oscillator reads overbought while a 100 period oscillator on the same chart reads oversold. This is best described as: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16814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A complementary reading across two time horizons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Different time horizons are not a real conflict; read together they describe short and long term position.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549396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549396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78714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Signals that agree with each other and reinforce the same conclusion are: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27685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Confirmatory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Agreement and reinforcement is the definition of a confirmatory signal.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Check 14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Why indicators disagree in the first place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15 of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mathematics behind each indicator is different.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Each one tracks a different time horizon.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Data may be missing on one charting platform.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Data quality, accuracy and type vary between platforms.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Two identical indicators on two platforms can honestly disagree.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72557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Tick volume, which counts transactions regardless of size, is one common source of the difference.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Two oscillators, one chart, opposite answers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16 of 29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1.16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A daily Alcoa chart with two oscillators below it: the faster one reads overbought at the same moment the slower one reads oversold.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1.16 - Lim, The Handbook of Technical Analysis (Wiley, 2016)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Resolving conflicting chart patterns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17 of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First, measure the size of each pattern.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sentiment of the larger formation takes precedence.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Larger patterns speak for the longer term, smaller ones for the short term.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 bullish ascending triangle that contains a bearish head and shoulders stays bullish until the neckline breaks.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9628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This one rule removes a large slice of the subjectivity in reading chart formations.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Conflicting patterns in one formation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18 of 29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1.17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An ascending triangle marked bullish, a symmetrical triangle marked neutral, and a complex head and shoulders marked bearish, all in the same stretch of price.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1.17 - Lim, The Handbook of Technical Analysis (Wiley, 2016)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Patterns that agree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19 of 29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1.18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A larger descending triangle and a smaller descending triangle, both bearish, over a complex head and shoulders that is also bearish.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1.18 - Lim, The Handbook of Technical Analysis (Wiley, 2016)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same fact, read two 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20 of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Oil rises sharply. One analyst calls it bearish: costs go up across the economy.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Another calls it bullish: demand is rising, so the economy is healthy.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Both are reading the identical fact.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084320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120896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For every bullish interpretation there is an equal and opposite bearish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110988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Notice that both of those analysts are fundamentalists. Subjectivity is not a technical problem.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15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Conflicts, and how to settle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Two identical oscillators on two different platforms give different readings. The most likely reason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One platform is fraudulent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Oscillators are random by design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The market was closed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Differences in data availability, accuracy or type between the platforms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1084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large bullish ascending triangle contains a smaller bearish complex head and shoulders. Until the neckline breaks, the formation is read as: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Bearish, because the smaller pattern is more recent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Bullish, because the larger formation takes precedence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Neutral, because the signals cancel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Unreadable, because the patterns conflict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4 of 6 - Subjectivity  |  Check 15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Conflicts, and how to settle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205168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5168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529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8181"/>
                </a:solidFill>
                <a:latin typeface="Arial"/>
              </a:rPr>
              <a:t>Q1   Two identical oscillators on two different platforms give different readings. The most likely reason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138933"/>
            <a:ext cx="9905695" cy="14401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Differences in data availability, accuracy or type between the platforms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Missing data, or variation in data quality and type between platforms, produces inconsistent readings.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505581"/>
            <a:ext cx="10637215" cy="200787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505581"/>
            <a:ext cx="91440" cy="200787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743325"/>
            <a:ext cx="9905695" cy="529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8181"/>
                </a:solidFill>
                <a:latin typeface="Arial"/>
              </a:rPr>
              <a:t>Q2   A large bullish ascending triangle contains a smaller bearish complex head and shoulders. Until the neckline breaks, the formation is read as: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437507"/>
            <a:ext cx="9905695" cy="11772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Bullish, because the larger formation takes precedence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The larger formation carries the longer term sentiment and takes precedence until its own level is breached.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Check 15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Selective perception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533527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Quietly ignoring the signals that disagree with the view you already hold.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139567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93847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You use three oscillators. Two are bullish, one is not, so you decide the third one is unreliable today.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Selective perception is the tendency to heed only those signals that support a preconceived view of the market, discarding those that conflict with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21 of 29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Selective perception, drawn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22 of 29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1.19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A head and shoulders in price with three oscillators below it. MACD is bullish and is crossed out with the word ignore written across it; RSI and stochastics are bearish.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1.19 - Lim, The Handbook of Technical Analysis (Wiley, 2016)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Even the entry point is subjective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23 of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trendline break looks like a hard, objective fact.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But you chose which two troughs to connect, and another analyst chose differently.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Each act of identification is objective. The choice between them is not.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084320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120896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Individually objective, collectively subjective.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89678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The same is true of automated trading: the moment a parameter can be adjusted, subjectivity returns.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Which trendline calls the reversal?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24 of 29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1.20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One market top with two different uptrend lines drawn under it, A and B, each penetrated at a different price and a different moment.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1.20 - Lim, The Handbook of Technical Analysis (Wiley, 2016)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price filter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You require price to move a set distance past the level before you accept the breakout.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fixed peso excursion, a percentage of the breakout price, or a multiple of average true range.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price-based filter validates a breakout by requiring a specified absolute, relative, or volatility-scaled price excursion beyond the trigger level.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25 of 29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time filter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You require the market to hold beyond the level for a set amount of time before you accept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Wait for a set number of bars to close beyond the trendline before entering.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time-based filter validates a breakout by requiring the market to sustain the excursion for a specified duration or number of closed bars.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26 of 29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algorithmic filter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533527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You require a specific sequence of events, not just a distance or a delay.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139567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93847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particular sequence of closed bars, or a sequence of new peaks or troughs, or a retest of the barrier after the break.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An algorithmic filter validates a breakout by requiring a defined sequence of price events, such as bar sequences, successive peaks or troughs, or a barrier retest.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27 of 29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three filter families beside the trade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28 of 29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1.21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A trendline penetration on the left with a question mark on the entry, and on the right the full list: price-based, time-based and event-based filters.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1.21 - Lim, The Handbook of Technical Analysis (Wiley, 2016)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16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Bias, entries, and filters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chartist uses three oscillators and disregards the one that disagrees with their bullish view. This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Complementary analysis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A confirmatory signal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Selective perception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Mean reversion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Requiring price to close beyond a trendline for a set number of bars before entering is an example of: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A time filter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A price filter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An algorithmic filter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A limit entry order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4 of 6 - Subjectivity  |  Check 16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Bias, entries, and filters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8618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86181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A chartist uses three oscillators and disregards the one that disagrees with their bullish view. This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16814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Selective perception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Heeding only signals that support a preconceived view is selective perception.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15716"/>
            <a:ext cx="10637215" cy="18618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15716"/>
            <a:ext cx="91440" cy="186181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553460"/>
            <a:ext cx="9905695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Requiring price to close beyond a trendline for a set number of bars before entering is an example of: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27685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A time filter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A requirement expressed in duration or closed bars is a time-based filter.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Check 16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Subjectivity shrinks with practice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29 of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novice cannot see the trendlines, the patterns or the angles at first.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With enough chart hours, the same formations become obvious.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subjectivity never reaches zero, but it falls a long way.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Nothing on this slide can be achieved by reading. Only by looking at charts.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9628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Draw trendlines on the same chart as a classmate. Differences are not errors, they are a consequence of subjectivity.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1800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You now know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815687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Objective chart, subjective analysis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Identifying, interpreting, inferring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Subjectivity in the choice of analysis and studies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Contradictory signals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Confirmatory signals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Complementary signals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41567" y="1965960"/>
            <a:ext cx="4815687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Why indicators disagree, and tick volume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larger formation takes precedence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Equal and opposite interpretations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Selective perception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Individually objective, collectively subjective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Price, time and algorithmic filters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6 - Subjectivity  |  recap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5 of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The Assumptions Underneath Everything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The three assumptions that make technical analysis possible.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Market discounting, the Efficient Market Hypothesis, and random walk.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The four assumptions you apply at the chart.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>About 30 minutes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Three assumptions hold the subject up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1 of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 The market discounts everything.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 Market behavior tends to repeat itself.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3.  The market tends to move in trends.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Remove any one of these and technical analysis stops making sense.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Market discounting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price you see already contains everything the market knows and expects. You do not need to hunt for the reason.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share drifts up for two weeks before good news is announced. The market was already discounting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Market discounting is the assumption that market action, including price action, reflects all known information in the markets.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2 of 33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the market can and cannot discount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3 of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CAN discount known information.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CAN discount expectations about known information.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CAN discount expectations about potential events.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CANNOT discount unexpected events.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CANNOT discount unknown information.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64786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01362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Insider activity counts as known information, because the insider's buying moves the price.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the market is really discounting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4 of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Information about actual events.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Expectation about actual events.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Information about expected events.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Expectation about expected events.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Expectation about the possibility of unexpected events.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64786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01362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Not the news alone, but what everyone expects about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70144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This is why a company can beat expectations and still fall. The good result was already priced.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A semi-efficient market absorbing news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5 of 33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1.28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Three data releases on a price and time axis, with dashed curves showing price adjusting gradually rather than instantly at each one.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1.28 - Lim, The Handbook of Technical Analysis (Wiley, 2016)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same thing, on a real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6 of 33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1.29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A EURUSD chart around the non-farm payrolls release of 2 August 2013, annotated with the range before the data, the breakout, the traders buying the news and the early traders exiting into it.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1.29 - Lim, The Handbook of Technical Analysis (Wiley, 2016)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17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Discounting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Under the basic assumption of technical analysis, the market cannot discount: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Known information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Expectations about known information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Insider buying and selling activity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Unexpected events and unknown information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company reports strong earnings and the share price falls. The best explanation is that: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The market is irrational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The strong result was already discounted by expectation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Technical analysis has failed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The earnings report was false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5 of 6 - Assumptions  |  Check 17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Discounting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Under the basic assumption of technical analysis, the market cannot discount: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Unexpected events and unknown information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Unexpected events and unknown information are the two things the market cannot discount.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18618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186181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A company reports strong earnings and the share price falls. The best explanation is that: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0949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The strong result was already discounted by expectation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Markets discount expectations as well as events, so an anticipated result is already in the price.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Check 17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Efficient Market Hypothesis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 rival theory saying the market prices everything so perfectly and so fast that no analysis can beat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If EMH held completely, reading a chart or an annual report would both be a waste of an afternoon.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108851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11982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The Efficient Market Hypothesis states that for a market to efficiently discount and reflect all information perfectly, all participants must act on all information in the same rational manner instantaneously.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7 of 33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Efficient, under EMH, means two things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8 of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 Participants react instantaneously to all market information.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 Participants react rationally to all market information.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272028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308604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Both conditions must hold. Failing either one is enough to break the hypothesis.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98695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Technical analysis needs neither condition. It only assumes the market discounts what becomes known to it.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a perfectly efficient market would look like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9 of 33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1.27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The same three data releases, but price jumps vertically at each one with the time taken to adjust marked as zero.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1.27 - Lim, The Handbook of Technical Analysis (Wiley, 2016)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Why perfect efficiency cannot happen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10 of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Not everyone reacts the same way. Some trade against the news.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Not everyone reacts at the same time. Some act early, some act late.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Not everyone can access the information, and information is never free.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Ask a hundred people to clap the instant a bell rings. You will not get one sound.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semi-efficient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realistic middle ground. The market does absorb new information, just gradually and imperfectly.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After a jobs report, price swings back and forth for an hour as traders compete for fills, then settles.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semi-efficient market discounts new information at a slower rate, adjusting gradually as participants compete with one another for the best fills.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11 of 33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18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EMH against market discounting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Efficient, under EMH, requires that participants react: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Eventually and profitably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Instantaneously and rationally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Collectively and cautiously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Gradually and competitively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1084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key difference between market discounting in technical analysis and efficient discounting under EMH is that: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Technical analysis requires perfect efficiency, EMH does not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EMH ignores insider activity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There is no real difference between them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Technical analysis requires only that the market discounts what becomes known to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5 of 6 - Assumptions  |  Check 18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EMH against market discounting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Efficient, under EMH, requires that participants react: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Instantaneously and rationally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EMH requires instantaneous and rational reaction to all market information.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238759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238759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The key difference between market discounting in technical analysis and efficient discounting under EMH is that: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43172"/>
            <a:ext cx="9905695" cy="149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Technical analysis requires only that the market discounts what becomes known to it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Technical analysis imposes no requirement of perfect efficiency, only that everything known is discounted.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Check 18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weak form of EMH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Current prices already reflect all past price information, so past prices cannot help you.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If it were true, no chart pattern, trendline or moving average could ever have value.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The weak form of EMH suggests that all current prices have already fully discounted all past price information and therefore cannot impact future prices.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12 of 33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semi-strong form of EMH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Once information is public it is already in the price, so public information is useless too.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Reading the annual report the day it is published gains you nothing.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The semi-strong form of EMH suggests that all information, once public, is already reflected in price, making its use unprofitable and pointless.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13 of 33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The strong form of EMH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533527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Everything is in the price, public or private. Nothing anyone knows can help.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139567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93847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Even an insider with genuinely secret information could not profit from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020566"/>
            <a:ext cx="64008" cy="108851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974846"/>
            <a:ext cx="10362895" cy="11982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The strong form of EMH suggests that all information, whether public or private, is already fully reflected in current price, so all forms of analysis and forecasting are pointless.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14 of 33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19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The three forms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form of EMH holds that even non-public information is already reflected in price?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01624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The strong form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The weak form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The semi-strong form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The random walk form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207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Select the accurate statements. I. The weak form implies technical analysis is pointless. II. The semi-strong form implies fundamental analysis is pointless. III. The strong form implies all analysis is pointless. IV. The weak form implies insider information is worthless.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401624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Only I and II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Only II and III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Only I, II, and III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All are correct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5 of 6 - Assumptions  |  Check 19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The three forms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Which form of EMH holds that even non-public information is already reflected in price?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The strong form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strong form covers all information, public and private alike.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23291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232918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792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Select the accurate statements. I. The weak form implies technical analysis is pointless. II. The semi-strong form implies fundamental analysis is pointless. III. The strong form implies all analysis is pointless. IV. The weak form implies insider information is worthless.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27685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Only I, II, and III are correct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Statement IV is false: it is the strong form, not the weak form, that covers non-public information.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Check 19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Random walk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claim that prices move purely by chance, so nothing that happened before tells you anything.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Flipping a coin every minute and plotting the running total. It will look like a chart, and it will mean nothing.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Random walk suggests that prices move in a purely random manner, that past prices do not influence current price, and that current price does not influence future price.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15 of 33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Random walk, EMH, and what they would imply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16 of 33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1.30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Random walk feeding into the three forms of EMH, and both feeding a box listing the consequences: no technical, fundamental or behavioral analysis, no active investing, nobody beats the market.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1.30 - Lim, The Handbook of Technical Analysis (Wiley, 2016)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Random walk is not the same as EMH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17 of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Under EMH, prices do adjust, they just adjust instantly to new information.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Under random walk, prices do not adjust to anything. The motion is purely random.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586734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623310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Markets are driven by perception and expectation, not by random acts of buying and selling.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61340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Watch how precisely price reacts at a round number or an old high. Chance does not aim.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actually happens in the real world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18 of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Insiders accumulate before the announcement, so price starts moving early.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public joins after the news is published.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More participants join the now obvious move, and the market overreacts.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insiders sell into that enthusiasm, and a top forms.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This is herding, and it is the survival instinct from Part 1 doing its work.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Insider activity moving price before the news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19 of 33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1.31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Accumulation curving up ahead of each bullish release and distribution curving down ahead of the bearish one, in every case before the announcement.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1.31 - Lim, The Handbook of Technical Analysis (Wiley, 2016)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Market inertia, and the overreaction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20 of 33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1.32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The same releases again, with herd behavior carrying price past the level it should have settled at, then inefficient discounting pulling it back.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1.32 - Lim, The Handbook of Technical Analysis (Wiley, 2016)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Price is not the same as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21 of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stock valued at 10 pesos can trade at 30 pesos with no change in its fundamentals.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What is being traded is expectation, not absolute worth.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Current price is the result of expectations about future price and value.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084320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120896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Market action is the collective expectation of all its participants.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20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Random walk and real markets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Markovian condition in random walk states that: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Current price has no influence on future price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Past prices determine current price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Prices always revert to a mean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Volume must confirm the trend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1084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stock valued at 10 pesos trades at 30 pesos with no change in fundamentals. This best illustrates that: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The market is inefficient by definition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Price reflects expectation rather than absolute intrinsic value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Random walk is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The intrinsic value was miscalculated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5 of 6 - Assumptions  |  Check 20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Random walk and real markets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The Markovian condition in random walk states that: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Current price has no influence on future price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Markovian condition is that current price carries no influence over future price.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21539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215391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A stock valued at 10 pesos trades at 30 pesos with no change in fundamentals. This best illustrates that: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43172"/>
            <a:ext cx="9905695" cy="149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Price reflects expectation rather than absolute intrinsic value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What is traded is expected value, so price and intrinsic value can diverge widely.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Check 20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Assumption two: behavior repeats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22 of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Past price and chart patterns give a reasonable basis for forecasting.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reason is human psychology, which changes very slowly.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Fear, greed, hope, anger and regret do not get software updates.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Patterns repeat because people repeat.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47497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Every other forecasting method also uses past data: accounting, regression, behavioral finance.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Repetition you can see: angular symmetries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23 of 33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1.25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A four-hourly USDCAD bar chart with a shallow angle of ascent and a steeper one marked, and the correction that followed each.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1.25 - Lim, The Handbook of Technical Analysis (Wiley, 2016)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underlying ordered structure of price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24 of 33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1.26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The same USDCAD chart overlaid with a converging channel and a lattice of symmetry lines, labelled visual evidence of the semi-random nature of price behavior.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1.26 - Lim, The Handbook of Technical Analysis (Wiley, 2016)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Three things that erode repeatability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25 of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Preempting: traders outbid each other ahead of the trigger, from the self-fulfilling prophecy.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Program trading: machines trade in ways humans cannot replicate.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New participants: each new cohort brings a slightly different approach.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084320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120896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assumption is reasonable, not guaranteed. That is why Pring said probabilities.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Assumption three: the market moves in trends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26 of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Trends give the largest profit over the shortest time in the market.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That is why trend based methods dominate the field.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But what exactly is a trend, and when does it stop being one?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Successively higher or lower peaks and troughs is the most widely accepted definition.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9628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A trend on one timeframe can be a sideways market on another. Chapter 5 settles the definitions.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Trend following is not free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27 of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Poor performance in ranging markets, and whipsaws during consolidation.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Low winning percentages, which means large drawdowns.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Trend changes are hard to identify early, and fast markets produce slippage.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Too many trend systems chasing the same move produce inefficient fills.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Every method in this course has a cost. Know the cost before you use the method.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21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Repetition and trends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underlying reason market behavior tends to repeat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2653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Regulation forces similar outcomes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Prices are mathematically periodic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Human psychology seldom changes over time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Charting software enforces patterns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is listed as a challenge to trend following?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52653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It cannot be applied to currencies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It requires knowledge of intrinsic value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It only works on daily charts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Large drawdowns caused by low winning percentages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5 of 6 - Assumptions  |  Check 21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Repetition and trends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The underlying reason market behavior tends to repeat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Human psychology seldom changes over time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Repetition rests on the reliability and consistency of human behavior.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Which is listed as a challenge to trend following?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0949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Large drawdowns caused by low winning percentages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Low winning percentages and the resulting drawdowns are an explicit challenge to trend following.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Check 21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Four assumptions you apply at the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28 of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 Price behavior persists until there is evidence to the contrary.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 Every bullish reading has an equal and opposite bearish reading.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3.  Extreme bullishness is potentially bearish, and the reverse.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4.  A technical tool matters only because participants say it does.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These four are applied assumptions. They govern what you do, not what you believe.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Applied assumption one: persistence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Whatever the market is currently doing, assume it keeps doing it until something proves otherwise.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trend is assumed to continue, a consolidation is assumed to keep ranging, a cycle is assumed to hold until it clearly fails.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Price behavior is expected to persist until there is evidence to the contrary. Persistence is the assumed status quo.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29 of 33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Applied assumption two: equal and opposite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Any signal you can read as bullish, someone competent can read as bearish, from the same data.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Rising oil prices as evidence of a recovering economy, or as evidence of rising costs.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For every bullish indication or interpretation, there exists an equal and opposite bearish indication or interpretation for the same price behavior.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30 of 33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Applied assumption three: extremes invert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 reading that is extremely bullish is also a warning, because the market may be exhausted.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stochastic reading of 100 percent is explicitly bullish and implicitly bearish at the same time.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Extreme bullishness is potentially bearish, and extreme bearishness is potentially bullish, because extremes indicate overextension or exhaustion.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31 of 33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Applied assumption four: significance is attributed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An indicator has no power of its own. It has exactly as much power as the number of people acting on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famous trendline produces a big penetration bar because it is famous, not because the line is magic.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technical tool or indicator has no real significance except that attributed to it by market participants.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32 of 33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22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The four applied assumptions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1084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stochastic reading of 100 percent is explicitly bullish but potentially bearish. This illustrates which applied assumption?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Persistence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Equal and opposite readings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Significance is attributed by participants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Extreme bullishness is potentially bearish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1084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poorly designed indicator starts producing reliable signals because a large number of traders risk capital on it. This illustrates: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3023107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The weak form of EMH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Random walk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Applied assumption four, significance attributed by participants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Mean reversion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5 of 6 - Assumptions  |  Check 22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The four applied assumptions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8618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86181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A stochastic reading of 100 percent is explicitly bullish but potentially bearish. This illustrates which applied assumption?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16814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Extreme bullishness is potentially bearish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An extreme reading signals overextension, so extreme bullishness carries a bearish warning.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15716"/>
            <a:ext cx="10637215" cy="238759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15716"/>
            <a:ext cx="91440" cy="238759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553460"/>
            <a:ext cx="9905695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A poorly designed indicator starts producing reliable signals because a large number of traders risk capital on it. This illustrates: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276852"/>
            <a:ext cx="9905695" cy="149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Applied assumption four, significance attributed by participants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A tool has only the significance participants give it, which is the self-fulfilling prophecy formalized.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Check 22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Where technical analysis works best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33 of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On long timeframes, fundamental analysis carries a lot of the forecasting load.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On very short timeframes, fundamental analysis is nearly useless.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smaller your stop, the more the forecast depends on technical work.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This is why technical analysis is generally more reliable at lower timeframes.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1800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You now know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815687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Market discounting, and what it cannot discount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What markets are really discounting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Efficient Market Hypothesis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Instantaneous and rational reaction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semi-efficient market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weak, semi-strong and strong forms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41567" y="1965960"/>
            <a:ext cx="4815687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Random walk and the Markovian condition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Real world discounting, insiders and overreaction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Price versus value, and expected value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Behavior repeats, and what erodes it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market moves in trends, and what that costs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four assumptions in application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6 - Assumptions  |  recap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6 of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Who Is In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The eight categories of market participant.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Two other ways to sort them: by time, and by method.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The main markets, and the instruments derived from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>About 25 minutes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cast of a market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1 of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Average investors and traders. Financial institutions.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Commercial banks and central banks. Hedgers and arbitrageurs.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Brokers, hedge funds, mutual funds and pension funds.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Every price you see is one of these people disagreeing with another one.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Retail and institutional participants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Retail means individuals trading their own money. Institutional means organisations trading other people's money at scale.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You with a 20,000 peso account are retail. A pension fund moving 200 million pesos is institutional.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108851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11982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Retail participants trade their own capital in comparatively small size; institutional participants deploy pooled or corporate capital in size sufficient to move markets.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2 of 14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Speculators and investors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 speculator is paid for taking on price risk over a shorter horizon. An investor holds for the longer term return.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speculator buys expecting a move this month. An investor buys expecting dividends and growth for a decade.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Speculators assume price risk in pursuit of gain from price movement; investors commit capital for longer term return from the asset itself.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3 of 14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23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Who is who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pension fund deploying pooled retirement contributions is best classified as: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An institutional participant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A retail participant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A hedger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A novice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How many main categories of market participant does the chapter identify?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Four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Six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Eight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Ten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6 of 6 - Participants  |  Check 23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Who is who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A pension fund deploying pooled retirement contributions is best classified as: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An institutional participant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Institutional participants deploy pooled or corporate capital at scale.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18618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186181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How many main categories of market participant does the chapter identify?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0949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Eight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Eight: retail, institutional, speculator, supply side, demand side, professional, investor and novice.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Check 23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Supply side and demand side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common industry reading is that the supply side provides the market service and the demand side consumes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On that reading brokers, exchanges, market makers and data vendors are supply side, and the funds and traders who use them are demand side.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108851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11982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The textbook lists both categories among its eight and defines neither. A second reading is equally available: the supply side as producers hedging their output, the demand side as consumers hedging their input.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4 of 14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Professionals and novices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 professional does this for a living, with a process. A novice is still building one.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53352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Everyone in this room is a novice today. That is the correct and useful answer.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Professionals participate as an occupation, with defined process and risk control; novices participate without established process or experience.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5 of 14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Discretionary and nondiscretionary traders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 discretionary trader decides each trade themselves. A nondiscretionary trader follows a fixed system without overriding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Reading the chart and deciding is discretionary. Letting a coded rule fire the order is nondiscretionary.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Discretionary traders exercise judgement on each decision; nondiscretionary traders execute a predefined rule set without discretionary intervention.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6 of 14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24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Categories and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trader who executes a fully coded rule set without overriding it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Nondiscretionary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Discretionary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A hedger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Supply side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pair is distinguished mainly by holding period and by who is paid for taking on price risk?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774822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Retail and institutional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Speculator and investor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Professional and novice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Discretionary and nondiscretionary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6 of 6 - Participants  |  Check 24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Categories and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A trader who executes a fully coded rule set without overriding it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Nondiscretionary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Nondiscretionary means following the predefined rules without discretionary intervention.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209549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209549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Which pair is distinguished mainly by holding period and by who is paid for taking on price risk?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4317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Speculator and investor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A speculator is paid for assuming price risk over a shorter horizon; an investor commits capital for the longer term return from the asset itself.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Check 24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Sorted by time spent in the market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7 of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Scalpers: in and out within seconds or minutes.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Day traders: every trade closed within the same trading day.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Swing traders: technical reversals lasting a few days to a week.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Position traders: a few months up to a year.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Investors: buy and hold.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64786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01362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Same market, five completely different jobs.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Participants by time in the market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8 of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1.33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Scalpers, day traders, swing traders, position traders and investors laid out left to right, from seconds at one end to buy and hold at the other.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1.33 - Lim, The Handbook of Technical Analysis (Wiley, 2016)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Sorted by method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9 of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Scalpers: very rapid long and short trades, buying the bid and selling the ask.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Trend traders: catching trends and trailing the position.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Reversal traders: catching key levels, often through mean reversion.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Scale traders: averaging against price until it turns.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Investors: buy and hold.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64786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01362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same two bets from Part 3, wearing different clothes.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70144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Scale trading is the highest risk method on this list. Averaging into a loss is how accounts end.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Participants by trading methodology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10 of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1.34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The same five columns re-sorted by method: scalpers, trend traders, reversal traders, scale traders and investors, each with what it is attempting to do.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1.34 - Lim, The Handbook of Technical Analysis (Wiley, 2016)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main markets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11 of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Stocks. Fixed income.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Foreign exchange. Commodities.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Real estate.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These are the underlying markets. Everything else is built on top of them.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markets, and the instruments built on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12 of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6807" y="1810512"/>
            <a:ext cx="7498079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46807" y="1810512"/>
            <a:ext cx="749807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5447" y="2450591"/>
            <a:ext cx="6400799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818181"/>
                </a:solidFill>
                <a:latin typeface="Arial"/>
              </a:rPr>
              <a:t>FIGURE 1.35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Palatino"/>
              </a:rPr>
              <a:t>Five underlying markets on the right, stocks through real estate, and five derivative instruments on the left, options through exchange traded funds.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69280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18181"/>
                </a:solidFill>
                <a:latin typeface="Arial"/>
              </a:rPr>
              <a:t>Figure 1.35 - Lim, The Handbook of Technical Analysis (Wiley, 2016)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Derivative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An instrument whose value comes from something else. You get exposure to the thing without owning the thing.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Options, futures, contracts for difference, spread betting, and exchange traded funds.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derivative is an instrument that provides access to an underlying market, deriving its value from that underlying.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13 of 14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Five ways to own gold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14 of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Buy physical gold. That is the main market.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Buy or sell a gold futures contract. Derivative.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Buy or sell a gold options contract. Derivative.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Buy shares in a gold backed exchange traded fund. Derivative.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Trade gold through a contract for difference. Derivative.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64786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01362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One underlying, five different instruments, five different risk profiles.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25 OF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Markets and instruments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Buying shares in a gold backed exchange traded fund is participation in gold 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01624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The main market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A derivative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A hedge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Arbitrage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207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Select the accurate statements. I. Scalpers are normally in and out within seconds or minutes. II. Position traders hold for a few months to a year. III. Swing traders close all trades within the same day. IV. Investors follow a buy and hold strategy.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401624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Only I and II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Only II, III, and IV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Only I, II, and IV are correct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All are correct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6 of 6 - Participants  |  Check 25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Markets and instruments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Buying shares in a gold backed exchange traded fund is participation in gold 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A derivative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Only buying the physical metal is main market participation; an ETF derives its value from gold.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209549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209549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792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Select the accurate statements. I. Scalpers are normally in and out within seconds or minutes. II. Position traders hold for a few months to a year. III. Swing traders close all trades within the same day. IV. Investors follow a buy and hold strategy.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27685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Only I, II, and IV are correct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Statement III describes day traders; swing traders hold for a few days to a week.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Check 25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1800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You now know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815687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eight categories of market participant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Retail and institutional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Speculator and investor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Supply side and demand side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Professional and novice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41567" y="1965960"/>
            <a:ext cx="4815687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Discretionary and nondiscretionary traders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Sorted by time: scalper to investor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Sorted by method: scalper to investor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The five main markets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Derivatives and the five instruments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▪  Five ways to participate in gold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6 - Participants  |  recap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Chapter 1 in five sentences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1 -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Technical analysis is the study of market action.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identifies what has happened, and it forecasts what might.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rests on discounting, repetition, and trends.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is subjective, and so is every other kind of analysis.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deals in probabilities, never in certainties.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64786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01362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If you remember the last line, you will make fewer expensive mistakes than most people.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review questions to prepare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1 -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What is a good definition of technical analysis?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List as many advantages and disadvantages of technical analysis as you can.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What are the challenges to technical analysis?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How does market discounting differ from EMH, and what are its three levels?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How are conflicting signals resolved, and why is a trend change subjective?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Is random walk a true reflection of the markets?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26237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29894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All eight of the book's review questions, answered today.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106372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 i="0">
                <a:solidFill>
                  <a:srgbClr val="FFFFFF"/>
                </a:solidFill>
                <a:latin typeface="Palatino"/>
              </a:rPr>
              <a:t>Next: Dow Theory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5176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108960"/>
            <a:ext cx="106372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Chapter 2 gives us the six tenets that modern technical analysis is built on.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Bring the four trading verbs and the three assumptions with you. You will need them.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Before then: open any chart, draw your trendlines, and compare with a classmate.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48640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2A900"/>
                </a:solidFill>
                <a:latin typeface="Arial"/>
              </a:rPr>
              <a:t>FIN1209  Technical Analysis in Investment  |  Institute of Accounts, Business and Finance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FIN1209 Chapter 1 - Introduction to the Art and Science of Technical Analysis</dc:title>
  <dc:subject>Technical Analysis in Investment</dc:subject>
  <dc:creator>Benjamin C. Sotelo</dc:creator>
  <cp:keywords/>
  <dc:description>generated using python-pptx</dc:description>
  <cp:lastModifiedBy>Benjamin C. Sotelo</cp:lastModifiedBy>
  <cp:revision>1</cp:revision>
  <dcterms:created xsi:type="dcterms:W3CDTF">2020-01-01T00:00:00Z</dcterms:created>
  <dcterms:modified xsi:type="dcterms:W3CDTF">2020-01-01T00:00:00Z</dcterms:modified>
  <cp:category/>
</cp:coreProperties>
</file>