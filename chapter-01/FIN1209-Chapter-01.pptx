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Greet the room, then say what today buys them: after this session they can read a chart argument and say what it does and does not claim.</a:t>
            </a:r>
          </a:p>
          <a:p>
            <a:r>
              <a:rPr sz="1400"/>
              <a:t>- Point at the roadmap slide next and promise a clean stopping point every twenty five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these out once, slowly. These are the exact learning objectives in the course booklet for this week.</a:t>
            </a:r>
          </a:p>
          <a:p>
            <a:r>
              <a:rPr sz="1400"/>
              <a:t>- Tell them every one of these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these out once, slowly. These are the exact learning objectives in the course booklet for this week.</a:t>
            </a:r>
          </a:p>
          <a:p>
            <a:r>
              <a:rPr sz="1400"/>
              <a:t>- Tell them every one of these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shape of the session out loud: six parts, roughly twenty five minutes each.</a:t>
            </a:r>
          </a:p>
          <a:p>
            <a:r>
              <a:rPr sz="1400"/>
              <a:t>- Tell them the checks are for reading the room, not for marks.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1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 room which of the three they would give up last. Let two people answer.</a:t>
            </a:r>
          </a:p>
          <a:p>
            <a:r>
              <a:rPr sz="1400"/>
              <a:t>- Say that the text opens here on purpose: markets are a survival behavior before they are a financial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herd line and say we will meet it again in Part 5 when the market overreacts.</a:t>
            </a:r>
          </a:p>
          <a:p>
            <a:r>
              <a:rPr sz="1400"/>
              <a:t>- Keep this fast. It is background, not an exam item on its 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one thing they own whose value changed this year. Take one answer.</a:t>
            </a:r>
          </a:p>
          <a:p>
            <a:r>
              <a:rPr sz="1400"/>
              <a:t>- Land the accent line, then move straight to price.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why price beats the alternatives: it is cheap to observe and it is the same number for everyone.</a:t>
            </a:r>
          </a:p>
          <a:p>
            <a:r>
              <a:rPr sz="1400"/>
              <a:t>- Tell them price is the single most important input in this subject, followed by volume.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four readings and say each one was public, free and correct on the day it was read.</a:t>
            </a:r>
          </a:p>
          <a:p>
            <a:r>
              <a:rPr sz="1400"/>
              <a:t>- Land it: this is what a variable of change looks like. Nothing here is anyone's opinion yet.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rule out loud and let it sound obvious, because it is.</a:t>
            </a:r>
          </a:p>
          <a:p>
            <a:r>
              <a:rPr sz="1400"/>
              <a:t>- Then set the trap: ask them how they know today's price is a low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Trace it with a finger: in here, out there, that block is the profit. It really is that simple.</a:t>
            </a:r>
          </a:p>
          <a:p>
            <a:r>
              <a:rPr sz="1400"/>
              <a:t>- Then ask the question the chart cannot answer: standing at the buy marker, how did you know 40 was low?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plainly: everything else this semester is an attempt to answer those two questions.</a:t>
            </a:r>
          </a:p>
          <a:p>
            <a:r>
              <a:rPr sz="1400"/>
              <a:t>- Warn them that the honest answer is always a probability, never a certainty.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Draw the two axes in the air. Say profit needs effective action in both dimensions, price and time.</a:t>
            </a:r>
          </a:p>
          <a:p>
            <a:r>
              <a:rPr sz="1400"/>
              <a:t>- Tell them a fundamental analyst can give them the price axis but rarely the time axis.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two axis names out loud while pointing at each one. Price up the side, time along the bottom.</a:t>
            </a:r>
          </a:p>
          <a:p>
            <a:r>
              <a:rPr sz="1400"/>
              <a:t>- Tell them Homework 1 is drawn on exactly this object, so it is worth a second look now.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Hold up two fingers and keep them up. Identification, then forecasting.</a:t>
            </a:r>
          </a:p>
          <a:p>
            <a:r>
              <a:rPr sz="1400"/>
              <a:t>- Say that job one is a record and job two is an opinion, and students must never confuse the two.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half is objective. The chart is a historical record and it does not argue with you.</a:t>
            </a:r>
          </a:p>
          <a:p>
            <a:r>
              <a:rPr sz="1400"/>
              <a:t>- List two or three things a chart tells you before you interpret anything: volatility, extremes, liquidity.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each of the four in turn and ask the room whether anyone could disagree with it. Nobody can.</a:t>
            </a:r>
          </a:p>
          <a:p>
            <a:r>
              <a:rPr sz="1400"/>
              <a:t>- Name the gap and move on. The chapter names gapping too and never explains it, and neither will we today.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forecasting half rests entirely on one assumption: that price behavior repeats to some reasonable degree.</a:t>
            </a:r>
          </a:p>
          <a:p>
            <a:r>
              <a:rPr sz="1400"/>
              <a:t>- Promise them we will test that assumption properly in Part 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Cover the right hand band with your hand, then take it away. Left of the line is Chart D again; right of it is new.</a:t>
            </a:r>
          </a:p>
          <a:p>
            <a:r>
              <a:rPr sz="1400"/>
              <a:t>- Say why nothing is drawn in the empty band: a line there would be the one thing nobody actually knows.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part students skip and professionals never skip.</a:t>
            </a:r>
          </a:p>
          <a:p>
            <a:r>
              <a:rPr sz="1400"/>
              <a:t>- Ask them which of the four they would most want to know before buying.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Write the word long on the board and keep it there. All four verbs go up together.</a:t>
            </a:r>
          </a:p>
          <a:p>
            <a:r>
              <a:rPr sz="1400"/>
              <a:t>- Say that long simply means you profit if price rises.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next three charts are this same price line with different marks on it, so watch the marks and not the line.</a:t>
            </a:r>
          </a:p>
          <a:p>
            <a:r>
              <a:rPr sz="1400"/>
              <a:t>- One dot so far. Nothing has been closed and nothing has been made yet.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Stress that liquidating is not the same as going short. It only closes what you had.</a:t>
            </a:r>
          </a:p>
          <a:p>
            <a:r>
              <a:rPr sz="1400"/>
              <a:t>- Pair it visually with go long on the board.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grey dot and say the position is now gone. The block is what it was worth.</a:t>
            </a:r>
          </a:p>
          <a:p>
            <a:r>
              <a:rPr sz="1400"/>
              <a:t>- Ask what would have happened if they had sold at 605 instead. The verb does not change; only the number does.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Acknowledge that shorting feels backwards the first time. Say it slowly.</a:t>
            </a:r>
          </a:p>
          <a:p>
            <a:r>
              <a:rPr sz="1400"/>
              <a:t>- Note that in the Philippine market short selling is restricted, but the concept is examinable.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two words that matter: sell, and open. This is the only sell in the course that starts something.</a:t>
            </a:r>
          </a:p>
          <a:p>
            <a:r>
              <a:rPr sz="1400"/>
              <a:t>- Compare it to Chart F on the same line: same object, opposite direction, one dot each.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Complete the square on the board: long and liquidate, short and cover.</a:t>
            </a:r>
          </a:p>
          <a:p>
            <a:r>
              <a:rPr sz="1400"/>
              <a:t>- Say buying is not always bullish. Covering is a buy that ends a bearish position.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slide that fixes the misconception. A buy, and the position it ends was a bearish one.</a:t>
            </a:r>
          </a:p>
          <a:p>
            <a:r>
              <a:rPr sz="1400"/>
              <a:t>- Put Charts F to I side by side in one sentence: open, close, open, close, and only the direction changed.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Warn them explicitly: the quiz asks about buy high and sell higher. It counts.</a:t>
            </a:r>
          </a:p>
          <a:p>
            <a:r>
              <a:rPr sz="1400"/>
              <a:t>- Say the only losing pattern is buying high and selling lower, which is not on this list.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Trace the left column with your finger, then the right, saying go long and go short as you land on them.</a:t>
            </a:r>
          </a:p>
          <a:p>
            <a:r>
              <a:rPr sz="1400"/>
              <a:t>- Point at the bottom row: every trade on this page is either demand or supply. Nothing else is happening.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list, then ask the room to name any two without looking.</a:t>
            </a:r>
          </a:p>
          <a:p>
            <a:r>
              <a:rPr sz="1400"/>
              <a:t>- This is a clean stopping point if you are running behind.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2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none of the three is the enemy. They answer different halves of the question.</a:t>
            </a:r>
          </a:p>
          <a:p>
            <a:r>
              <a:rPr sz="1400"/>
              <a:t>- Tell them we take each in turn, and that technical analysis gets the longest look.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across the three columns, then stop on the middle one and say the whole course lives under that arrow.</a:t>
            </a:r>
          </a:p>
          <a:p>
            <a:r>
              <a:rPr sz="1400"/>
              <a:t>- Point at the eight items under technical analysis and say they meet every one of them by Chapter 10.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who has already taken a financial statement analysis subject. Connect to it.</a:t>
            </a:r>
          </a:p>
          <a:p>
            <a:r>
              <a:rPr sz="1400"/>
              <a:t>- Say fundamental analysis answers what to buy, and rarely when to buy.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single most examinable term in Part 2. Make them write it down.</a:t>
            </a:r>
          </a:p>
          <a:p>
            <a:r>
              <a:rPr sz="1400"/>
              <a:t>- Note the technical analyst usually cannot compute this, and does not try.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trap out loud: a stock is overvalued when price is ABOVE intrinsic value, not below.</a:t>
            </a:r>
          </a:p>
          <a:p>
            <a:r>
              <a:rPr sz="1400"/>
              <a:t>- Ask the room to say which one generates demand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two numbers first, then at the arrow. The gap between them is the whole argument.</a:t>
            </a:r>
          </a:p>
          <a:p>
            <a:r>
              <a:rPr sz="1400"/>
              <a:t>- Ask what the fundamentalist expects next, and make them say the word demand.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previous slide turned upside down, and let them spot the flip themselves.</a:t>
            </a:r>
          </a:p>
          <a:p>
            <a:r>
              <a:rPr sz="1400"/>
              <a:t>- Note the sell or stay in cash line. A fundamentalist waits; a technical analyst can go short.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not teach the ratios here. Name them and move. They belong to another subject.</a:t>
            </a:r>
          </a:p>
          <a:p>
            <a:r>
              <a:rPr sz="1400"/>
              <a:t>- Say CAPM out loud and repeat the phrase over a risk free rate. The department has quizzed it.</a:t>
            </a:r>
          </a:p>
          <a:p>
            <a:r>
              <a:rPr sz="1400"/>
              <a:t>- Land the accent: none of these has a time axis.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Draw a funnel in the air, wide at the top.</a:t>
            </a:r>
          </a:p>
          <a:p>
            <a:r>
              <a:rPr sz="1400"/>
              <a:t>- Say this is how active asset allocation and sector rotation strategies are built.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Contrast in one sentence with top-down. Do not belabor it.</a:t>
            </a:r>
          </a:p>
          <a:p>
            <a:r>
              <a:rPr sz="1400"/>
              <a:t>- Call back to CAPM from the ratios slide: it is the formal attempt to balance risk against expected return over a risk free rate.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third point is the one that matters for this course.</a:t>
            </a:r>
          </a:p>
          <a:p>
            <a:r>
              <a:rPr sz="1400"/>
              <a:t>- Be fair: say fundamental analysis is genuinely valuable, just not for timing.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one place in the chapter where fundamental and technical analysis sit on the same chart. Say so.</a:t>
            </a:r>
          </a:p>
          <a:p>
            <a:r>
              <a:rPr sz="1400"/>
              <a:t>- The book writes as though the ceiling still stands and does not tell us what came after, so neither will we.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flat floor under price and say that is a central bank, not a chart pattern.</a:t>
            </a:r>
          </a:p>
          <a:p>
            <a:r>
              <a:rPr sz="1400"/>
              <a:t>- Ask which kind of analyst could have traded that level. Both could, and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how many of them have bought or sold anything because of something they read online.</a:t>
            </a:r>
          </a:p>
          <a:p>
            <a:r>
              <a:rPr sz="1400"/>
              <a:t>- Then deliver the bad news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clear on the law: insider trading is illegal in the equity markets, full stop.</a:t>
            </a:r>
          </a:p>
          <a:p>
            <a:r>
              <a:rPr sz="1400"/>
              <a:t>- Land the accent line, because it is the whole argument for technical analysis.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technician studies the effect, not the cause. That distinction is examinable.</a:t>
            </a:r>
          </a:p>
          <a:p>
            <a:r>
              <a:rPr sz="1400"/>
              <a:t>- Tell them the next six slides are quotable definitions and they should copy them exactly.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the definition to give if an exam asks for one. Say so.</a:t>
            </a:r>
          </a:p>
          <a:p>
            <a:r>
              <a:rPr sz="1400"/>
              <a:t>- Point at the two working words: charts, and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out the word probable. Nothing here is promised.</a:t>
            </a:r>
          </a:p>
          <a:p>
            <a:r>
              <a:rPr sz="1400"/>
              <a:t>- Say this definition is the one that names the raw material: recorded history.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cleanest one line separation between technical and fundamental analysis.</a:t>
            </a:r>
          </a:p>
          <a:p>
            <a:r>
              <a:rPr sz="1400"/>
              <a:t>- Use a concrete pair: the share price of a mining firm, versus the ore in the ground.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Note the chapter title calls this an art and a science. This quote is the art half.</a:t>
            </a:r>
          </a:p>
          <a:p>
            <a:r>
              <a:rPr sz="1400"/>
              <a:t>- Say the second half matters as much as the first: you stay until evidence says otherwise.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If they remember one sentence from today, make it this one.</a:t>
            </a:r>
          </a:p>
          <a:p>
            <a:r>
              <a:rPr sz="1400"/>
              <a:t>- Say that any classmate who promises a certain trade has just failed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patterns repeat because people repeat. Fear, greed, hope, anger and regret do not update.</a:t>
            </a:r>
          </a:p>
          <a:p>
            <a:r>
              <a:rPr sz="1400"/>
              <a:t>- Connect forward to Part 5, where repeatability becomes a formal assumption.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quote is the bridge into the discounting assumption in Part 5.</a:t>
            </a:r>
          </a:p>
          <a:p>
            <a:r>
              <a:rPr sz="1400"/>
              <a:t>- Say price is a reflection of all known information acted upon in the markets.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not read all four aloud. Read two and let them read the rest.</a:t>
            </a:r>
          </a:p>
          <a:p>
            <a:r>
              <a:rPr sz="1400"/>
              <a:t>- Land the accent: precision is the technician's whole claim.</a:t>
            </a:r>
          </a:p>
          <a:p>
            <a:r>
              <a:rPr sz="1400"/>
              <a:t>- Then say the caption twice. Quiz 1 asks them to reject the claim that technical analysis gives the exact price at which a reversal will occur.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Tell them this slide is a preview of the syllabus. They are not expected to do any of it yet.</a:t>
            </a:r>
          </a:p>
          <a:p>
            <a:r>
              <a:rPr sz="1400"/>
              <a:t>- Point at cycle and seasonality and name the chapter it arrives in.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Make them notice the repeated phrase themselves before you point it out.</a:t>
            </a:r>
          </a:p>
          <a:p>
            <a:r>
              <a:rPr sz="1400"/>
              <a:t>- Be fair to the fundamentalist: they answer what, we answer when.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fourth line twice. It is the one the department quizzes.</a:t>
            </a:r>
          </a:p>
          <a:p>
            <a:r>
              <a:rPr sz="1400"/>
              <a:t>- Keep the pace up; the contrast slide is next.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Put the two three word summaries side by side out loud: cause, company, value against effect, price, timing.</a:t>
            </a:r>
          </a:p>
          <a:p>
            <a:r>
              <a:rPr sz="1400"/>
              <a:t>- Say the honest professional position is that these are complements, not rivals.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Make them count six on their fingers. This list is a standing exam item.</a:t>
            </a:r>
          </a:p>
          <a:p>
            <a:r>
              <a:rPr sz="1400"/>
              <a:t>- Flag the margin debt point explicitly; it appeared on a past quiz.</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Draw a single bar and label the four points.</a:t>
            </a:r>
          </a:p>
          <a:p>
            <a:r>
              <a:rPr sz="1400"/>
              <a:t>- Stress that OHLC is not only daily. Any interval has an OHLC.</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six streams of market action out loud before you move on.</a:t>
            </a:r>
          </a:p>
          <a:p>
            <a:r>
              <a:rPr sz="1400"/>
              <a:t>- This is the natural stop if the session is being split across two meetings.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3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these four are a filing system. Every tool in the book lands in one of them.</a:t>
            </a:r>
          </a:p>
          <a:p>
            <a:r>
              <a:rPr sz="1400"/>
              <a:t>- Warn them the fourth one, behavioral, is about the analyst as much as the market.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bottom line of the diagram aloud: everything above it is interpreted through filters and biases unique to each analyst.</a:t>
            </a:r>
          </a:p>
          <a:p>
            <a:r>
              <a:rPr sz="1400"/>
              <a:t>- Say that bottom line is Part 4 arriving early, and that it is the reason Part 4 exists.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most of what this course teaches, and it is qualitative by nature.</a:t>
            </a:r>
          </a:p>
          <a:p>
            <a:r>
              <a:rPr sz="1400"/>
              <a:t>- Name two examples they will already recognize from the app on their phone.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Contrast in one line: classical is qualitative, statistical is quantitative.</a:t>
            </a:r>
          </a:p>
          <a:p>
            <a:r>
              <a:rPr sz="1400"/>
              <a:t>- Reassure them that no statistics is examined today; only the classification is.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what the mood of the room is right now. Use it as the joke that anchors the term.</a:t>
            </a:r>
          </a:p>
          <a:p>
            <a:r>
              <a:rPr sz="1400"/>
              <a:t>- Note that sentiment data is where flow of funds and margin debt live.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branch studies the participant, not the price. That is the difference from sentiment.</a:t>
            </a:r>
          </a:p>
          <a:p>
            <a:r>
              <a:rPr sz="1400"/>
              <a:t>- Name one bias, confirmation bias, and promise it returns in Part 4.</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 room which bet feels more natural to them. Take a show of hands.</a:t>
            </a:r>
          </a:p>
          <a:p>
            <a:r>
              <a:rPr sz="1400"/>
              <a:t>- Say neither is right. They are right at different times, which is the whole difficulty.</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Do not read all of it. Pick the entry rows and contrast them: cycle extremes against cycle midpoints.</a:t>
            </a:r>
          </a:p>
          <a:p>
            <a:r>
              <a:rPr sz="1400"/>
              <a:t>- Land the last row: one is a counter-trend trader, the other is a trend trader. That is the whole difference.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contrarians prefer consolidations to trends, and limit entry orders to stop orders.</a:t>
            </a:r>
          </a:p>
          <a:p>
            <a:r>
              <a:rPr sz="1400"/>
              <a:t>- List two tools only, then move. The tools get their own chapters later.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trader longs the breach of resistance and shorts the breach of support, the exact opposite of the contrarian.</a:t>
            </a:r>
          </a:p>
          <a:p>
            <a:r>
              <a:rPr sz="1400"/>
              <a:t>- Name Darvas Box out loud; the department has quizzed it as a momentum example.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order type gives away the trader's belief. That is the point of this slide.</a:t>
            </a:r>
          </a:p>
          <a:p>
            <a:r>
              <a:rPr sz="1400"/>
              <a:t>- Ask which order type a contrarian prefers before you show the answer.</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Contrast with the fundamentalist, who must learn each company from scratch.</a:t>
            </a:r>
          </a:p>
          <a:p>
            <a:r>
              <a:rPr sz="1400"/>
              <a:t>- Say the visual point matters more than students expect; numbers hide volatility, charts show it.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Tease the self-fulfilling prophecy here without naming it yet.</a:t>
            </a:r>
          </a:p>
          <a:p>
            <a:r>
              <a:rPr sz="1400"/>
              <a:t>- Say the same fact is listed by the text as both an advantage and a disadvantage.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first disadvantage is so important it gets the whole of Part 4.</a:t>
            </a:r>
          </a:p>
          <a:p>
            <a:r>
              <a:rPr sz="1400"/>
              <a:t>- Be honest here. A course that only sells the method is a bad course.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all three, then say clearly that only the third is taught in this part.</a:t>
            </a:r>
          </a:p>
          <a:p>
            <a:r>
              <a:rPr sz="1400"/>
              <a:t>- Promise them Part 5 answers the other two properly.</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an objection that can be turned into a tool: pick only the clear and obvious signals.</a:t>
            </a:r>
          </a:p>
          <a:p>
            <a:r>
              <a:rPr sz="1400"/>
              <a:t>- Warn them the effect does not last, and show the cycle next.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three stages into a six stage cycle, so stop them from relaxing.</a:t>
            </a:r>
          </a:p>
          <a:p>
            <a:r>
              <a:rPr sz="1400"/>
              <a:t>- Ask what they think happens when a strategy becomes too popular.</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cruel part out loud: the crowd destroys the edge it created.</a:t>
            </a:r>
          </a:p>
          <a:p>
            <a:r>
              <a:rPr sz="1400"/>
              <a:t>- Name preempting here, since it returns as a challenge in Part 5.</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circle once with your finger, naming each stage, then show them the two brackets down the sides.</a:t>
            </a:r>
          </a:p>
          <a:p>
            <a:r>
              <a:rPr sz="1400"/>
              <a:t>- Ask where in the loop they would want to be trading. The answer is the right hand bracket.</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four branches without looking. That is the highest value item here.</a:t>
            </a:r>
          </a:p>
          <a:p>
            <a:r>
              <a:rPr sz="1400"/>
              <a:t>- Clean stopping point. Part 4 is a self contained topic.</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4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part is the one students find uncomfortable, and that is the point.</a:t>
            </a:r>
          </a:p>
          <a:p>
            <a:r>
              <a:rPr sz="1400"/>
              <a:t>- Repeat: objective record, subjective reading.</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Number them on your fingers and make them repeat the three back.</a:t>
            </a:r>
          </a:p>
          <a:p>
            <a:r>
              <a:rPr sz="1400"/>
              <a:t>- Say most students assume only step three is subjective. Step one already is.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crucial line: this is not a flaw unique to technical analysis. Every kind of analysis has it.</a:t>
            </a:r>
          </a:p>
          <a:p>
            <a:r>
              <a:rPr sz="1400"/>
              <a:t>- Ask them to hold that thought until the end of Part 4, when we prove it.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List two or three of the caption items aloud, then say the list is not exhaustive.</a:t>
            </a:r>
          </a:p>
          <a:p>
            <a:r>
              <a:rPr sz="1400"/>
              <a:t>- Say these are the questions that plague novices, and that they are supposed to feel unresolved.</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objective half. Nobody in the room can disagree with this picture.</a:t>
            </a:r>
          </a:p>
          <a:p>
            <a:r>
              <a:rPr sz="1400"/>
              <a:t>- Tell them the next six slides are this identical chart, and to watch what people put on it.</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every line on this slide was a human choice about which two points to connect.</a:t>
            </a:r>
          </a:p>
          <a:p>
            <a:r>
              <a:rPr sz="1400"/>
              <a:t>- Ask which of the four lines matters most. They will not agree, and that is the lesson.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out the buy and short labels, then say the chart never used those words. The reader did.</a:t>
            </a:r>
          </a:p>
          <a:p>
            <a:r>
              <a:rPr sz="1400"/>
              <a:t>- Note that a different average length moves every one of those labels.</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how many patterns they can see before you name them. Usually one or two.</a:t>
            </a:r>
          </a:p>
          <a:p>
            <a:r>
              <a:rPr sz="1400"/>
              <a:t>- Say a trained eye sees all six here, and a different trained eye sees a different six.</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Make them look at the two panels together. Price up, indicator down. That gap is the signal.</a:t>
            </a:r>
          </a:p>
          <a:p>
            <a:r>
              <a:rPr sz="1400"/>
              <a:t>- Say this reading forecasts a reversal, which none of the previous four slides did.</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volume spike and the price spike above it and say they happened on the same bar.</a:t>
            </a:r>
          </a:p>
          <a:p>
            <a:r>
              <a:rPr sz="1400"/>
              <a:t>- This is the same forecast as the last slide, reached by a completely different route.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it out loud: seven slides, one chart, seven defensible readings, and not one of them was wrong.</a:t>
            </a:r>
          </a:p>
          <a:p>
            <a:r>
              <a:rPr sz="1400"/>
              <a:t>- That is the argument of Part 4. Stop here for a moment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inevitable, not a malfunction. Each oscillator is built differently.</a:t>
            </a:r>
          </a:p>
          <a:p>
            <a:r>
              <a:rPr sz="1400"/>
              <a:t>- Promise a resolution rule before the end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confirmation is comfortable and therefore dangerous; it feeds the bias in the next term.</a:t>
            </a:r>
          </a:p>
          <a:p>
            <a:r>
              <a:rPr sz="1400"/>
              <a:t>- Keep this short. It is the easiest of the three.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the CCI example slowly. This is the single most useful idea in Part 4.</a:t>
            </a:r>
          </a:p>
          <a:p>
            <a:r>
              <a:rPr sz="1400"/>
              <a:t>- Say the astute trader looks for cheap on both horizons at once, and enters there.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if anyone has seen two apps show different indicator readings. Someone always has.</a:t>
            </a:r>
          </a:p>
          <a:p>
            <a:r>
              <a:rPr sz="1400"/>
              <a:t>- Define tick volume from the caption: number of transactions, not size of them.</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Circle the two readings with your hand and ask the room which one to obey.</a:t>
            </a:r>
          </a:p>
          <a:p>
            <a:r>
              <a:rPr sz="1400"/>
              <a:t>- Then give them the answer from the last section: different periods, so this is complementary, not contradictory.</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three from the chapter. Say so, and tell them to write the rule down.</a:t>
            </a:r>
          </a:p>
          <a:p>
            <a:r>
              <a:rPr sz="1400"/>
              <a:t>- Give the caution: an upside break of a large bearish formation can be violent, because it is unexpected.</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three patterns, then ask which one wins. Apply the rule: the largest formation takes precedence.</a:t>
            </a:r>
          </a:p>
          <a:p>
            <a:r>
              <a:rPr sz="1400"/>
              <a:t>- The ascending triangle is the largest here, so it stays bullish until the neckline breaks.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Contrast this with the last slide: different shapes, but every one of them points the same way.</a:t>
            </a:r>
          </a:p>
          <a:p>
            <a:r>
              <a:rPr sz="1400"/>
              <a:t>- Say this is what confirmation looks like on a chart, and why it feels so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 room which reading they prefer, then point out both are defensible.</a:t>
            </a:r>
          </a:p>
          <a:p>
            <a:r>
              <a:rPr sz="1400"/>
              <a:t>- Land the caption hard: this objection applies to every kind of analysis.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most expensive habit in the room, and every one of them will do it.</a:t>
            </a:r>
          </a:p>
          <a:p>
            <a:r>
              <a:rPr sz="1400"/>
              <a:t>- Give the antidote: a disagreeing signal is the most informative thing on your screen.</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word ignore written across the MACD panel. Somebody drew that, and meant it.</a:t>
            </a:r>
          </a:p>
          <a:p>
            <a:r>
              <a:rPr sz="1400"/>
              <a:t>- Ask what that trader actually did: kept two signals, deleted one, and called it analysis.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This is review question four. Flag it as almost certain to appear.</a:t>
            </a:r>
          </a:p>
          <a:p>
            <a:r>
              <a:rPr sz="1400"/>
              <a:t>- Use the program trading point to stop them believing automation escapes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Make them choose out loud between trendline A and trendline B before you say anything.</a:t>
            </a:r>
          </a:p>
          <a:p>
            <a:r>
              <a:rPr sz="1400"/>
              <a:t>- Both are correctly drawn. That is individually objective and collectively subjective, in one picture.</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all three filters exist to solve one problem: the false breakout.</a:t>
            </a:r>
          </a:p>
          <a:p>
            <a:r>
              <a:rPr sz="1400"/>
              <a:t>- Note these get a full treatment in Chapter 5.</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which filter is more patient. The answer is obvious and that is fine.</a:t>
            </a:r>
          </a:p>
          <a:p>
            <a:r>
              <a:rPr sz="1400"/>
              <a:t>- Say a time filter costs you price but buys you certainty.</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three filter families together: price, time, algorithmic.</a:t>
            </a:r>
          </a:p>
          <a:p>
            <a:r>
              <a:rPr sz="1400"/>
              <a:t>- Say the choice between them is itself subjective, which is the joke of this whole part.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three headings A, B and C only. Do not read the sub-items; those are Chapter 5.</a:t>
            </a:r>
          </a:p>
          <a:p>
            <a:r>
              <a:rPr sz="1400"/>
              <a:t>- Point at the question mark on the chart and say every filter on the right is an answer to it.</a:t>
            </a:r>
          </a:p>
          <a:p>
            <a:r>
              <a:rPr sz="1400"/>
              <a:t>- Name the disagreement honestly: the book's prose calls the third family algorithmic, this diagram of its own calls it event-based, and the book never resolves it.</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Set the rules before the chart goes up: paper or a phone photo, four minutes, no talking on the first pass.</a:t>
            </a:r>
          </a:p>
          <a:p>
            <a:r>
              <a:rPr sz="1400"/>
              <a:t>- Say the exercise carries no marks, twice if you have to, or half the room will not draw anything.</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Stay on this slide for four minutes. Do not advance early, even when the room goes quiet.</a:t>
            </a:r>
          </a:p>
          <a:p>
            <a:r>
              <a:rPr sz="1400"/>
              <a:t>- Walk the room and look. Do not correct anybody's lines.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Two minutes. Then ask two pairs to say out loud what differed.</a:t>
            </a:r>
          </a:p>
          <a:p>
            <a:r>
              <a:rPr sz="1400"/>
              <a:t>- Do not adjudicate. If you pick a winner you have taught the opposite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Show of hands: who drew a line the book does not have? Almost every hand goes up.</a:t>
            </a:r>
          </a:p>
          <a:p>
            <a:r>
              <a:rPr sz="1400"/>
              <a:t>- Say plainly that the book's lines are not an answer key. They are one more analyst's reading.</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Be explicit that pattern names are not examinable today. This is a look, not a test.</a:t>
            </a:r>
          </a:p>
          <a:p>
            <a:r>
              <a:rPr sz="1400"/>
              <a:t>- If the room has no vocabulary at all, ask instead where price paused and where it accelerated.</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six labels off the chart and stop there. Naming patterns properly is a later chapter.</a:t>
            </a:r>
          </a:p>
          <a:p>
            <a:r>
              <a:rPr sz="1400"/>
              <a:t>- Ask who found the head and shoulders. Somebody usually did, without knowing what it was called.</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Land the book's own sentence: do not worry if there are differences, it is merely a consequence of subjectivity.</a:t>
            </a:r>
          </a:p>
          <a:p>
            <a:r>
              <a:rPr sz="1400"/>
              <a:t>- Bridge forward. The same three steps on a real charting platform is the homework, and the platform session follows this one.</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back at the exercise they just did and say the second pass will look different in a month.</a:t>
            </a:r>
          </a:p>
          <a:p>
            <a:r>
              <a:rPr sz="1400"/>
              <a:t>- Say that the point of all of it was to be comfortable with the difference, not to find a winner.</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three kinds of signal and the rule for resolving pattern conflicts.</a:t>
            </a:r>
          </a:p>
          <a:p>
            <a:r>
              <a:rPr sz="1400"/>
              <a:t>- Good place to break. Part 5 is the heaviest section of the chapter.</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5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these three are the load bearing walls. Everything else is decoration.</a:t>
            </a:r>
          </a:p>
          <a:p>
            <a:r>
              <a:rPr sz="1400"/>
              <a:t>- Tell them assumption one takes the longest, because it has two famous rivals.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assumption without which technical analysis would be pointless.</a:t>
            </a:r>
          </a:p>
          <a:p>
            <a:r>
              <a:rPr sz="1400"/>
              <a:t>- Give the standard caveat straight away: the market discounts everything except acts of God.</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two CANNOT lines twice. That is where the exam question lives.</a:t>
            </a:r>
          </a:p>
          <a:p>
            <a:r>
              <a:rPr sz="1400"/>
              <a:t>- Explain the insider point: the information is non-public, but the trading is visible in the market.</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five lines at pace; the effect is cumulative, not individual.</a:t>
            </a:r>
          </a:p>
          <a:p>
            <a:r>
              <a:rPr sz="1400"/>
              <a:t>- The caption is the practical payoff. Give a local example if one is fresh.</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Trace one dashed curve with your finger and say that curve is the hour after a jobs report.</a:t>
            </a:r>
          </a:p>
          <a:p>
            <a:r>
              <a:rPr sz="1400"/>
              <a:t>- Say the gradual bend is where a technical analyst earns a living. A vertical line would leave nothing to trade.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Find the labeled release on the chart, then walk the annotations left to right in order.</a:t>
            </a:r>
          </a:p>
          <a:p>
            <a:r>
              <a:rPr sz="1400"/>
              <a:t>- Say the market took hours, not milliseconds, to settle. That is the semi-efficient market, observed.</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most serious academic objection to the whole subject, so treat it seriously.</a:t>
            </a:r>
          </a:p>
          <a:p>
            <a:r>
              <a:rPr sz="1400"/>
              <a:t>- Warn them the difference between EMH and market discounting is review question two.</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The caption is the answer to review question two. Dictate it if you have to.</a:t>
            </a:r>
          </a:p>
          <a:p>
            <a:r>
              <a:rPr sz="1400"/>
              <a:t>- Say EMH demands perfection; market discounting demands only that the market absorbs what reaches it.</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the vertical jumps and say this is what instantaneous means. No slope, no delay, nothing to trade.</a:t>
            </a:r>
          </a:p>
          <a:p>
            <a:r>
              <a:rPr sz="1400"/>
              <a:t>- Ask whether any chart they have ever seen looks like this. Their answer is the answer to EMH.</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Actually do the handclap test with the room. It takes ten seconds and it lands.</a:t>
            </a:r>
          </a:p>
          <a:p>
            <a:r>
              <a:rPr sz="1400"/>
              <a:t>- Say that if a hundred students cannot coordinate, neither can a million traders.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author's position, and it is the defensible one.</a:t>
            </a:r>
          </a:p>
          <a:p>
            <a:r>
              <a:rPr sz="1400"/>
              <a:t>- Land the conclusion: technical analysis stays valid until markets become perfectly efficient, which they are not.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plainly which analysis each form kills. Weak form kills technical analysis.</a:t>
            </a:r>
          </a:p>
          <a:p>
            <a:r>
              <a:rPr sz="1400"/>
              <a:t>- Make them write the three forms in order; the department quizzes them directly.</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semi-strong form kills fundamental analysis as well as technical analysis.</a:t>
            </a:r>
          </a:p>
          <a:p>
            <a:r>
              <a:rPr sz="1400"/>
              <a:t>- That escalation is the pattern they should memorize.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Complete the ladder: weak kills technical, semi-strong adds fundamental, strong kills everything.</a:t>
            </a:r>
          </a:p>
          <a:p>
            <a:r>
              <a:rPr sz="1400"/>
              <a:t>- Ask which form is hardest to believe. The answer is the strong form, and reality agrees.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Markovian condition: current price has no influence on future price.</a:t>
            </a:r>
          </a:p>
          <a:p>
            <a:r>
              <a:rPr sz="1400"/>
              <a:t>- Say this is review question five, and the author's answer is no.</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five consequences in the right hand box out loud. They are deliberately uncomfortable.</a:t>
            </a:r>
          </a:p>
          <a:p>
            <a:r>
              <a:rPr sz="1400"/>
              <a:t>- Then say the rest of this chapter is an argument that the premises on the left do not hold.</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distinction in one sentence: EMH says the market is too fast, random walk says it is meaningless.</a:t>
            </a:r>
          </a:p>
          <a:p>
            <a:r>
              <a:rPr sz="1400"/>
              <a:t>- Give the answer to review question five: no, random walk is not a true reflection of the markets.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back to the herd line from the first section. Close the loop.</a:t>
            </a:r>
          </a:p>
          <a:p>
            <a:r>
              <a:rPr sz="1400"/>
              <a:t>- Say this is why a chart looks nothing like a coin flip.</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at where the curve starts moving, then at where the news arrives. Mind the gap between them.</a:t>
            </a:r>
          </a:p>
          <a:p>
            <a:r>
              <a:rPr sz="1400"/>
              <a:t>- Say this is why the market discounts non-public information: the trading is visible even when the information is not.</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Show them the overshoot above the step, then the fall back. That bulge is the crowd arriving late.</a:t>
            </a:r>
          </a:p>
          <a:p>
            <a:r>
              <a:rPr sz="1400"/>
              <a:t>- Name it: this is the herding instinct from Part 1, drawn as a price curve.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them for an example of something priced far above what it is worth. They will have one.</a:t>
            </a:r>
          </a:p>
          <a:p>
            <a:r>
              <a:rPr sz="1400"/>
              <a:t>- Say this reconciles Parts 2 and 5: intrinsic value is real, and price is still about expectation.</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Use the caption to defend the method: criticizing technical analysis for using past data condemns all forecasting.</a:t>
            </a:r>
          </a:p>
          <a:p>
            <a:r>
              <a:rPr sz="1400"/>
              <a:t>- Connect back to the Pring quote from Part 2.</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Compare the shallow angle with the steeper one, then compare the two falls that followed them.</a:t>
            </a:r>
          </a:p>
          <a:p>
            <a:r>
              <a:rPr sz="1400"/>
              <a:t>- Say the market did not have to behave this way. It did, and it does, and that is assumption two.</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word on the chart is semi-random, not random, and that the difference is this whole course.</a:t>
            </a:r>
          </a:p>
          <a:p>
            <a:r>
              <a:rPr sz="1400"/>
              <a:t>- Warn them honestly: you can draw lines on noise too. That is why Part 4 came first.</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preempting is the same stage 4 they met in Part 3. Reward them for remembering.</a:t>
            </a:r>
          </a:p>
          <a:p>
            <a:r>
              <a:rPr sz="1400"/>
              <a:t>- Do not let this become gloom. The assumption still holds well enough to trade on.</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the room to define a trend. Their answers will disagree, which proves Part 4.</a:t>
            </a:r>
          </a:p>
          <a:p>
            <a:r>
              <a:rPr sz="1400"/>
              <a:t>- Say the peaks and troughs definition is the one to write down for now.</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Emphasize low winning percentage. Students assume a good method wins most trades. It does not.</a:t>
            </a:r>
          </a:p>
          <a:p>
            <a:r>
              <a:rPr sz="1400"/>
              <a:t>- Say back and forward testing is also listed as a difficulty, and we will meet it later.</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all four are examinable as a set. Number them on the board.</a:t>
            </a:r>
          </a:p>
          <a:p>
            <a:r>
              <a:rPr sz="1400"/>
              <a:t>- Take them one at a time on the next four slides.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grand premise from which most other assumptions derive.</a:t>
            </a:r>
          </a:p>
          <a:p>
            <a:r>
              <a:rPr sz="1400"/>
              <a:t>- Give the practical version: do not fight the market until it gives you a reason.</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Point back to Part 4. This assumption is the formal statement of what subjectivity means.</a:t>
            </a:r>
          </a:p>
          <a:p>
            <a:r>
              <a:rPr sz="1400"/>
              <a:t>- Say this is why you always need a plan for being wrong.</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Use the words explicitly and implicitly; the text does, and it is a clean distinction.</a:t>
            </a:r>
          </a:p>
          <a:p>
            <a:r>
              <a:rPr sz="1400"/>
              <a:t>- Note the exception: this does not always hold for cumulative indicators.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is the self-fulfilling prophecy in formal dress. Close that loop from Part 3.</a:t>
            </a:r>
          </a:p>
          <a:p>
            <a:r>
              <a:rPr sz="1400"/>
              <a:t>- Deliver the uncomfortable corollary: even a badly designed indicator becomes reliable if enough capital follows it.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this quietly contradicts what most beginners assume, which is that short term is pure noise.</a:t>
            </a:r>
          </a:p>
          <a:p>
            <a:r>
              <a:rPr sz="1400"/>
              <a:t>- Explain the stop size argument in one sentence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three forms of EMH in order. Do not move on until someone gets it.</a:t>
            </a:r>
          </a:p>
          <a:p>
            <a:r>
              <a:rPr sz="1400"/>
              <a:t>- This is the heaviest recap in the chapter. Take a full minute on it.</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we are starting Part 6 of 6.</a:t>
            </a:r>
          </a:p>
          <a:p>
            <a:r>
              <a:rPr sz="1400"/>
              <a:t>- Read the three covers lines, then move. Do not linger here.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a trade requires two people who disagree about price and agree on a number.</a:t>
            </a:r>
          </a:p>
          <a:p>
            <a:r>
              <a:rPr sz="1400"/>
              <a:t>- Ask which of these groups the students themselves would be. Most will say retail.</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size is the real difference, and size changes what strategies are even possible.</a:t>
            </a:r>
          </a:p>
          <a:p>
            <a:r>
              <a:rPr sz="1400"/>
              <a:t>- Note institutions cannot enter or exit quickly, which is a disadvantage the retail trader has.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word speculator is not an insult. Speculators supply the liquidity everyone else uses.</a:t>
            </a:r>
          </a:p>
          <a:p>
            <a:r>
              <a:rPr sz="1400"/>
              <a:t>- Draw the line by holding period, not by attitude.</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plainly that this is the one pair in the chapter the book leaves undefined, so we teach the gap and not a ruling.</a:t>
            </a:r>
          </a:p>
          <a:p>
            <a:r>
              <a:rPr sz="1400"/>
              <a:t>- Read the aside once, name both readings, and tell them no quiz item is set on either.</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novice is a stage, not a verdict, and every professional was one.</a:t>
            </a:r>
          </a:p>
          <a:p>
            <a:r>
              <a:rPr sz="1400"/>
              <a:t>- Connect to Part 4: subjectivity in pattern recognition falls with practice.</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Remind them of Part 4: even a nondiscretionary system was designed subjectively.</a:t>
            </a:r>
          </a:p>
          <a:p>
            <a:r>
              <a:rPr sz="1400"/>
              <a:t>- Ask which one they think they would be. Most say nondiscretionary and most are wrong.</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which rung they would want to be on. Then ask which one has the most screen time.</a:t>
            </a:r>
          </a:p>
          <a:p>
            <a:r>
              <a:rPr sz="1400"/>
              <a:t>- Say the course objective explicitly names categorizing participants by time in markets.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five boxes left to right and let the holding period stretch as you go.</a:t>
            </a:r>
          </a:p>
          <a:p>
            <a:r>
              <a:rPr sz="1400"/>
              <a:t>- Ask them to place themselves on the diagram. Most will land between swing and investor.</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Close the loop with Part 3 explicitly; these are the same two bets in different clothes.</a:t>
            </a:r>
          </a:p>
          <a:p>
            <a:r>
              <a:rPr sz="1400"/>
              <a:t>- Give the warning on scale trading plainly. It is the one item here with a real hazard.</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Hold this beside the previous diagram: the same word scalper, but sorted by method rather than by clock.</a:t>
            </a:r>
          </a:p>
          <a:p>
            <a:r>
              <a:rPr sz="1400"/>
              <a:t>- Point at reversal traders and trend traders and say those are the two bets from Part 3.</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Count five. Ask which of the five they have personally participated in.</a:t>
            </a:r>
          </a:p>
          <a:p>
            <a:r>
              <a:rPr sz="1400"/>
              <a:t>- Bridge to derivatives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the right hand column first: those are the real things. Then the left: those are claims on them.</a:t>
            </a:r>
          </a:p>
          <a:p>
            <a:r>
              <a:rPr sz="1400"/>
              <a:t>- Say both lists run to five, and both are the kind of list a quiz asks you to reproduce.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Say the word derivative simply means derived from. That deflates most of the fear around it.</a:t>
            </a:r>
          </a:p>
          <a:p>
            <a:r>
              <a:rPr sz="1400"/>
              <a:t>- Name the five instrument types once; they are a list students are expected to reproduce.</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Walk down the list and ask which one requires a vault. Only the first.</a:t>
            </a:r>
          </a:p>
          <a:p>
            <a:r>
              <a:rPr sz="1400"/>
              <a:t>- Say the choice of instrument is a separate decision from the choice of market.</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Q1 aloud, then Q2. Give them sixty seconds and no discussion.</a:t>
            </a:r>
          </a:p>
          <a:p>
            <a:r>
              <a:rPr sz="1400"/>
              <a:t>- Ask for a show of hands on each option before you advance.</a:t>
            </a:r>
          </a:p>
          <a:p>
            <a:r>
              <a:rPr sz="1400"/>
              <a:t>- This is for reading the room, not for marks. Say so if anyone tenses up.</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Reveal one at a time. Say the reason out loud, not just the letter.</a:t>
            </a:r>
          </a:p>
          <a:p>
            <a:r>
              <a:rPr sz="1400"/>
              <a:t>- If more than a third of the room missed one, step back and reteach it.</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Ask for the eight categories. Accept six and prompt for the rest.</a:t>
            </a:r>
          </a:p>
          <a:p>
            <a:r>
              <a:rPr sz="1400"/>
              <a:t>- That is the whole chapter. Move to the wrap up.</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Read all five slowly. This is the summary students should copy verbatim.</a:t>
            </a:r>
          </a:p>
          <a:p>
            <a:r>
              <a:rPr sz="1400"/>
              <a:t>- Return to the Pring quote and end on it.</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Tell them where each answer sits: Part 2, Part 3, Part 3, Part 5, Part 4, Part 5.</a:t>
            </a:r>
          </a:p>
          <a:p>
            <a:r>
              <a:rPr sz="1400"/>
              <a:t>- Say lines four and five each carry two of the book's eight questions.</a:t>
            </a:r>
          </a:p>
          <a:p>
            <a:r>
              <a:rPr sz="1400"/>
              <a:t>- Set the expectation that these appear on the quiz in the department's four statement format.</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t>- Name the exact preparation you want done before the next meeting.</a:t>
            </a:r>
          </a:p>
          <a:p>
            <a:r>
              <a:rPr sz="1400"/>
              <a:t>- Remind them that quiz 1 covers chapters 1 and 2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1</a:t>
            </a:r>
          </a:p>
          <a:p>
            <a:pPr algn="l">
              <a:lnSpc>
                <a:spcPct val="105000"/>
              </a:lnSpc>
              <a:spcBef>
                <a:spcPts val="1000"/>
              </a:spcBef>
              <a:spcAft>
                <a:spcPts val="0"/>
              </a:spcAft>
            </a:pPr>
            <a:r>
              <a:rPr sz="4400" b="0" i="0">
                <a:solidFill>
                  <a:srgbClr val="FFFFFF"/>
                </a:solidFill>
                <a:latin typeface="Palatino"/>
              </a:rPr>
              <a:t>Introduction to the Art and Science of Technical Analysis</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the key concepts underlying technical analysis.</a:t>
            </a:r>
          </a:p>
          <a:p>
            <a:pPr algn="l">
              <a:lnSpc>
                <a:spcPct val="118000"/>
              </a:lnSpc>
              <a:spcBef>
                <a:spcPts val="0"/>
              </a:spcBef>
              <a:spcAft>
                <a:spcPts val="1300"/>
              </a:spcAft>
            </a:pPr>
            <a:r>
              <a:rPr sz="2100" b="0" i="0">
                <a:solidFill>
                  <a:srgbClr val="1A1A1A"/>
                </a:solidFill>
                <a:latin typeface="Arial"/>
              </a:rPr>
              <a:t>Identify the different forms of chart analysis.</a:t>
            </a:r>
          </a:p>
          <a:p>
            <a:pPr algn="l">
              <a:lnSpc>
                <a:spcPct val="118000"/>
              </a:lnSpc>
              <a:spcBef>
                <a:spcPts val="0"/>
              </a:spcBef>
              <a:spcAft>
                <a:spcPts val="1300"/>
              </a:spcAft>
            </a:pPr>
            <a:r>
              <a:rPr sz="2100" b="0" i="0">
                <a:solidFill>
                  <a:srgbClr val="1A1A1A"/>
                </a:solidFill>
                <a:latin typeface="Arial"/>
              </a:rPr>
              <a:t>Describe the objectives of technical analysis.</a:t>
            </a:r>
          </a:p>
          <a:p>
            <a:pPr algn="l">
              <a:lnSpc>
                <a:spcPct val="118000"/>
              </a:lnSpc>
              <a:spcBef>
                <a:spcPts val="0"/>
              </a:spcBef>
              <a:spcAft>
                <a:spcPts val="1300"/>
              </a:spcAft>
            </a:pPr>
            <a:r>
              <a:rPr sz="2100" b="0" i="0">
                <a:solidFill>
                  <a:srgbClr val="1A1A1A"/>
                </a:solidFill>
                <a:latin typeface="Arial"/>
              </a:rPr>
              <a:t>Understand what subjectivity means in technical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Recognize the strengths and weaknesses of technical analysis.</a:t>
            </a:r>
          </a:p>
          <a:p>
            <a:pPr algn="l">
              <a:lnSpc>
                <a:spcPct val="118000"/>
              </a:lnSpc>
              <a:spcBef>
                <a:spcPts val="0"/>
              </a:spcBef>
              <a:spcAft>
                <a:spcPts val="1300"/>
              </a:spcAft>
            </a:pPr>
            <a:r>
              <a:rPr sz="2100" b="0" i="0">
                <a:solidFill>
                  <a:srgbClr val="1A1A1A"/>
                </a:solidFill>
                <a:latin typeface="Arial"/>
              </a:rPr>
              <a:t>Categorize market participants by style and time in markets.</a:t>
            </a:r>
          </a:p>
          <a:p>
            <a:pPr algn="l">
              <a:lnSpc>
                <a:spcPct val="118000"/>
              </a:lnSpc>
              <a:spcBef>
                <a:spcPts val="0"/>
              </a:spcBef>
              <a:spcAft>
                <a:spcPts val="1300"/>
              </a:spcAft>
            </a:pPr>
            <a:r>
              <a:rPr sz="2100" b="0" i="0">
                <a:solidFill>
                  <a:srgbClr val="1A1A1A"/>
                </a:solidFill>
                <a:latin typeface="Arial"/>
              </a:rPr>
              <a:t>Identify the various styles and approaches in technical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today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Roadmap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Why anybody analyzes a market</a:t>
            </a:r>
          </a:p>
          <a:p>
            <a:pPr algn="l">
              <a:lnSpc>
                <a:spcPct val="118000"/>
              </a:lnSpc>
              <a:spcBef>
                <a:spcPts val="0"/>
              </a:spcBef>
              <a:spcAft>
                <a:spcPts val="1300"/>
              </a:spcAft>
            </a:pPr>
            <a:r>
              <a:rPr sz="2100" b="0" i="0">
                <a:solidFill>
                  <a:srgbClr val="1A1A1A"/>
                </a:solidFill>
                <a:latin typeface="Arial"/>
              </a:rPr>
              <a:t>Part 2  Three ways to forecast a price</a:t>
            </a:r>
          </a:p>
          <a:p>
            <a:pPr algn="l">
              <a:lnSpc>
                <a:spcPct val="118000"/>
              </a:lnSpc>
              <a:spcBef>
                <a:spcPts val="0"/>
              </a:spcBef>
              <a:spcAft>
                <a:spcPts val="1300"/>
              </a:spcAft>
            </a:pPr>
            <a:r>
              <a:rPr sz="2100" b="0" i="0">
                <a:solidFill>
                  <a:srgbClr val="1A1A1A"/>
                </a:solidFill>
                <a:latin typeface="Arial"/>
              </a:rPr>
              <a:t>Part 3  Classifying technical analysis</a:t>
            </a:r>
          </a:p>
          <a:p>
            <a:pPr algn="l">
              <a:lnSpc>
                <a:spcPct val="118000"/>
              </a:lnSpc>
              <a:spcBef>
                <a:spcPts val="0"/>
              </a:spcBef>
              <a:spcAft>
                <a:spcPts val="1300"/>
              </a:spcAft>
            </a:pPr>
            <a:r>
              <a:rPr sz="2100" b="0" i="0">
                <a:solidFill>
                  <a:srgbClr val="1A1A1A"/>
                </a:solidFill>
                <a:latin typeface="Arial"/>
              </a:rPr>
              <a:t>Part 4  Subjectivity</a:t>
            </a:r>
          </a:p>
          <a:p>
            <a:pPr algn="l">
              <a:lnSpc>
                <a:spcPct val="118000"/>
              </a:lnSpc>
              <a:spcBef>
                <a:spcPts val="0"/>
              </a:spcBef>
              <a:spcAft>
                <a:spcPts val="1300"/>
              </a:spcAft>
            </a:pPr>
            <a:r>
              <a:rPr sz="2100" b="0" i="0">
                <a:solidFill>
                  <a:srgbClr val="1A1A1A"/>
                </a:solidFill>
                <a:latin typeface="Arial"/>
              </a:rPr>
              <a:t>Part 5  The assumptions underneath everything</a:t>
            </a:r>
          </a:p>
          <a:p>
            <a:pPr algn="l">
              <a:lnSpc>
                <a:spcPct val="118000"/>
              </a:lnSpc>
              <a:spcBef>
                <a:spcPts val="0"/>
              </a:spcBef>
              <a:spcAft>
                <a:spcPts val="1300"/>
              </a:spcAft>
            </a:pPr>
            <a:r>
              <a:rPr sz="2100" b="0" i="0">
                <a:solidFill>
                  <a:srgbClr val="1A1A1A"/>
                </a:solidFill>
                <a:latin typeface="Arial"/>
              </a:rPr>
              <a:t>Part 6  Who is in the market</a:t>
            </a:r>
          </a:p>
        </p:txBody>
      </p:sp>
      <p:sp>
        <p:nvSpPr>
          <p:cNvPr id="8" name="Rectangle 7"/>
          <p:cNvSpPr/>
          <p:nvPr/>
        </p:nvSpPr>
        <p:spPr>
          <a:xfrm>
            <a:off x="777240" y="526237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Six parts, a check every few terms, and a clean stop at every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1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Why Anybody Analyzes a Market</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Where the urge to make a profit actually comes from.</a:t>
            </a:r>
          </a:p>
          <a:p>
            <a:pPr algn="l">
              <a:lnSpc>
                <a:spcPct val="115000"/>
              </a:lnSpc>
              <a:spcBef>
                <a:spcPts val="0"/>
              </a:spcBef>
              <a:spcAft>
                <a:spcPts val="1000"/>
              </a:spcAft>
            </a:pPr>
            <a:r>
              <a:rPr sz="1900" b="0" i="0">
                <a:solidFill>
                  <a:srgbClr val="FFFFFF"/>
                </a:solidFill>
                <a:latin typeface="Arial"/>
              </a:rPr>
              <a:t>The one rule every trade in the world is trying to satisfy.</a:t>
            </a:r>
          </a:p>
          <a:p>
            <a:pPr algn="l">
              <a:lnSpc>
                <a:spcPct val="115000"/>
              </a:lnSpc>
              <a:spcBef>
                <a:spcPts val="0"/>
              </a:spcBef>
              <a:spcAft>
                <a:spcPts val="1000"/>
              </a:spcAft>
            </a:pPr>
            <a:r>
              <a:rPr sz="1900" b="0" i="0">
                <a:solidFill>
                  <a:srgbClr val="FFFFFF"/>
                </a:solidFill>
                <a:latin typeface="Arial"/>
              </a:rPr>
              <a:t>The two jobs technical analysis does, and the four words for a trade.</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Markets run on three instincts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instinct to survive.</a:t>
            </a:r>
          </a:p>
          <a:p>
            <a:pPr algn="l">
              <a:lnSpc>
                <a:spcPct val="118000"/>
              </a:lnSpc>
              <a:spcBef>
                <a:spcPts val="0"/>
              </a:spcBef>
              <a:spcAft>
                <a:spcPts val="1300"/>
              </a:spcAft>
            </a:pPr>
            <a:r>
              <a:rPr sz="2100" b="0" i="0">
                <a:solidFill>
                  <a:srgbClr val="1A1A1A"/>
                </a:solidFill>
                <a:latin typeface="Arial"/>
              </a:rPr>
              <a:t>2.  The instinct for comfort.</a:t>
            </a:r>
          </a:p>
          <a:p>
            <a:pPr algn="l">
              <a:lnSpc>
                <a:spcPct val="118000"/>
              </a:lnSpc>
              <a:spcBef>
                <a:spcPts val="0"/>
              </a:spcBef>
              <a:spcAft>
                <a:spcPts val="1300"/>
              </a:spcAft>
            </a:pPr>
            <a:r>
              <a:rPr sz="2100" b="0" i="0">
                <a:solidFill>
                  <a:srgbClr val="1A1A1A"/>
                </a:solidFill>
                <a:latin typeface="Arial"/>
              </a:rPr>
              <a:t>3.  The instinct to propagate.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Survival is the strongest of the three. It usually comes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survival instinct contains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Stay alive.</a:t>
            </a:r>
          </a:p>
          <a:p>
            <a:pPr algn="l">
              <a:lnSpc>
                <a:spcPct val="118000"/>
              </a:lnSpc>
              <a:spcBef>
                <a:spcPts val="0"/>
              </a:spcBef>
              <a:spcAft>
                <a:spcPts val="1300"/>
              </a:spcAft>
            </a:pPr>
            <a:r>
              <a:rPr sz="2100" b="0" i="0">
                <a:solidFill>
                  <a:srgbClr val="1A1A1A"/>
                </a:solidFill>
                <a:latin typeface="Arial"/>
              </a:rPr>
              <a:t>Satisfy hunger.</a:t>
            </a:r>
          </a:p>
          <a:p>
            <a:pPr algn="l">
              <a:lnSpc>
                <a:spcPct val="118000"/>
              </a:lnSpc>
              <a:spcBef>
                <a:spcPts val="0"/>
              </a:spcBef>
              <a:spcAft>
                <a:spcPts val="1300"/>
              </a:spcAft>
            </a:pPr>
            <a:r>
              <a:rPr sz="2100" b="0" i="0">
                <a:solidFill>
                  <a:srgbClr val="1A1A1A"/>
                </a:solidFill>
                <a:latin typeface="Arial"/>
              </a:rPr>
              <a:t>Seek safety, which means staying with the group or herd.</a:t>
            </a:r>
          </a:p>
          <a:p>
            <a:pPr algn="l">
              <a:lnSpc>
                <a:spcPct val="118000"/>
              </a:lnSpc>
              <a:spcBef>
                <a:spcPts val="0"/>
              </a:spcBef>
              <a:spcAft>
                <a:spcPts val="1300"/>
              </a:spcAft>
            </a:pPr>
            <a:r>
              <a:rPr sz="2100" b="0" i="0">
                <a:solidFill>
                  <a:srgbClr val="1A1A1A"/>
                </a:solidFill>
                <a:latin typeface="Arial"/>
              </a:rPr>
              <a:t>Avoid danger, through natural fears of fire, loud noise, heights.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Notice the third one. Herding will come back on almost every chart we 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To make a profit, something has to change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3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You cannot profit from something that never moves.</a:t>
            </a:r>
          </a:p>
          <a:p>
            <a:pPr algn="l">
              <a:lnSpc>
                <a:spcPct val="118000"/>
              </a:lnSpc>
              <a:spcBef>
                <a:spcPts val="0"/>
              </a:spcBef>
              <a:spcAft>
                <a:spcPts val="1300"/>
              </a:spcAft>
            </a:pPr>
            <a:r>
              <a:rPr sz="2100" b="0" i="0">
                <a:solidFill>
                  <a:srgbClr val="1A1A1A"/>
                </a:solidFill>
                <a:latin typeface="Arial"/>
              </a:rPr>
              <a:t>You need a variable of change: something you own whose value shifts.</a:t>
            </a:r>
          </a:p>
          <a:p>
            <a:pPr algn="l">
              <a:lnSpc>
                <a:spcPct val="118000"/>
              </a:lnSpc>
              <a:spcBef>
                <a:spcPts val="0"/>
              </a:spcBef>
              <a:spcAft>
                <a:spcPts val="1300"/>
              </a:spcAft>
            </a:pPr>
            <a:r>
              <a:rPr sz="2100" b="0" i="0">
                <a:solidFill>
                  <a:srgbClr val="1A1A1A"/>
                </a:solidFill>
                <a:latin typeface="Arial"/>
              </a:rPr>
              <a:t>It could be a house, a sack of rice, a currency, or a share.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Markets exist because value moves. Analysis exists because we want to know which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Price is the most convenient variable of change we have. It is visible, it is public, and it updates constantly.</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Jollibee shares closed at 240 pesos yesterday and 244 pesos today. You did not need anyone's permission to see that.</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Price is the observable variable of change on which market participants act, and the primary data of technical analysis.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4 of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Price is a number that will not sit still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5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a.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A - FIN1209 teaching chart, drawn for this course. Illustrative data, not a real instrument.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buy low, sell high principle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simple mechanical rule that would guarantee a profit every single time: buy when the price is low and sell when it is higher.</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Buy at 40 pesos, sell at 52 pesos, keep 12 pesos a share. Nothing clever happened.</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buy low, sell high principle is the mechanical rule that profit is realized by acquiring at a lower price and disposing at a higher one.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6 of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Buy low, sell high, drawn once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7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b.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B - FIN1209 teaching chart, drawn for this course. Illustrative data, not a real instrument.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Instincts, price, and the basic rule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instinct does the text treat as the strongest driver of market behavior?</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instinct for comfort</a:t>
            </a:r>
          </a:p>
          <a:p>
            <a:pPr algn="l">
              <a:lnSpc>
                <a:spcPct val="112000"/>
              </a:lnSpc>
              <a:spcBef>
                <a:spcPts val="0"/>
              </a:spcBef>
              <a:spcAft>
                <a:spcPts val="900"/>
              </a:spcAft>
            </a:pPr>
            <a:r>
              <a:rPr sz="1500" b="0" i="0">
                <a:solidFill>
                  <a:srgbClr val="FFFFFF"/>
                </a:solidFill>
                <a:latin typeface="Arial"/>
              </a:rPr>
              <a:t>B.  The instinct to propagate</a:t>
            </a:r>
          </a:p>
          <a:p>
            <a:pPr algn="l">
              <a:lnSpc>
                <a:spcPct val="112000"/>
              </a:lnSpc>
              <a:spcBef>
                <a:spcPts val="0"/>
              </a:spcBef>
              <a:spcAft>
                <a:spcPts val="900"/>
              </a:spcAft>
            </a:pPr>
            <a:r>
              <a:rPr sz="1500" b="0" i="0">
                <a:solidFill>
                  <a:srgbClr val="FFFFFF"/>
                </a:solidFill>
                <a:latin typeface="Arial"/>
              </a:rPr>
              <a:t>C.  The instinct to survive</a:t>
            </a:r>
          </a:p>
          <a:p>
            <a:pPr algn="l">
              <a:lnSpc>
                <a:spcPct val="112000"/>
              </a:lnSpc>
              <a:spcBef>
                <a:spcPts val="0"/>
              </a:spcBef>
              <a:spcAft>
                <a:spcPts val="900"/>
              </a:spcAft>
            </a:pPr>
            <a:r>
              <a:rPr sz="1500" b="0" i="0">
                <a:solidFill>
                  <a:srgbClr val="FFFFFF"/>
                </a:solidFill>
                <a:latin typeface="Arial"/>
              </a:rPr>
              <a:t>D.  The instinct to compete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Price is described as a variable of change mainly because:</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It moves, and everyone can observe it</a:t>
            </a:r>
          </a:p>
          <a:p>
            <a:pPr algn="l">
              <a:lnSpc>
                <a:spcPct val="112000"/>
              </a:lnSpc>
              <a:spcBef>
                <a:spcPts val="0"/>
              </a:spcBef>
              <a:spcAft>
                <a:spcPts val="900"/>
              </a:spcAft>
            </a:pPr>
            <a:r>
              <a:rPr sz="1500" b="0" i="0">
                <a:solidFill>
                  <a:srgbClr val="FFFFFF"/>
                </a:solidFill>
                <a:latin typeface="Arial"/>
              </a:rPr>
              <a:t>B.  It is set by the company's accountants</a:t>
            </a:r>
          </a:p>
          <a:p>
            <a:pPr algn="l">
              <a:lnSpc>
                <a:spcPct val="112000"/>
              </a:lnSpc>
              <a:spcBef>
                <a:spcPts val="0"/>
              </a:spcBef>
              <a:spcAft>
                <a:spcPts val="900"/>
              </a:spcAft>
            </a:pPr>
            <a:r>
              <a:rPr sz="1500" b="0" i="0">
                <a:solidFill>
                  <a:srgbClr val="FFFFFF"/>
                </a:solidFill>
                <a:latin typeface="Arial"/>
              </a:rPr>
              <a:t>C.  It is fixed for the trading day</a:t>
            </a:r>
          </a:p>
          <a:p>
            <a:pPr algn="l">
              <a:lnSpc>
                <a:spcPct val="112000"/>
              </a:lnSpc>
              <a:spcBef>
                <a:spcPts val="0"/>
              </a:spcBef>
              <a:spcAft>
                <a:spcPts val="900"/>
              </a:spcAft>
            </a:pPr>
            <a:r>
              <a:rPr sz="1500" b="0" i="0">
                <a:solidFill>
                  <a:srgbClr val="FFFFFF"/>
                </a:solidFill>
                <a:latin typeface="Arial"/>
              </a:rPr>
              <a:t>D.  It equals the intrinsic value of the asset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Why we analyze  |  Check 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Instincts, price, and the basic rule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instinct does the text treat as the strongest driver of market behavior?</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The instinct to survive</a:t>
            </a:r>
          </a:p>
          <a:p>
            <a:pPr algn="l">
              <a:lnSpc>
                <a:spcPct val="115000"/>
              </a:lnSpc>
              <a:spcBef>
                <a:spcPts val="700"/>
              </a:spcBef>
              <a:spcAft>
                <a:spcPts val="0"/>
              </a:spcAft>
            </a:pPr>
            <a:r>
              <a:rPr sz="1600" b="0" i="0">
                <a:solidFill>
                  <a:srgbClr val="1A1A1A"/>
                </a:solidFill>
                <a:latin typeface="Arial"/>
              </a:rPr>
              <a:t>Survival almost always precedes the need for comfort or to propagate.</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Price is described as a variable of change mainly because:</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It moves, and everyone can observe it</a:t>
            </a:r>
          </a:p>
          <a:p>
            <a:pPr algn="l">
              <a:lnSpc>
                <a:spcPct val="115000"/>
              </a:lnSpc>
              <a:spcBef>
                <a:spcPts val="700"/>
              </a:spcBef>
              <a:spcAft>
                <a:spcPts val="0"/>
              </a:spcAft>
            </a:pPr>
            <a:r>
              <a:rPr sz="1600" b="0" i="0">
                <a:solidFill>
                  <a:srgbClr val="1A1A1A"/>
                </a:solidFill>
                <a:latin typeface="Arial"/>
              </a:rPr>
              <a:t>Price is popular precisely because it is both changing and openly observable.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Check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rule is easy. Obeying it is not.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8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To buy low you must first know that today's price is low.</a:t>
            </a:r>
          </a:p>
          <a:p>
            <a:pPr algn="l">
              <a:lnSpc>
                <a:spcPct val="118000"/>
              </a:lnSpc>
              <a:spcBef>
                <a:spcPts val="0"/>
              </a:spcBef>
              <a:spcAft>
                <a:spcPts val="1300"/>
              </a:spcAft>
            </a:pPr>
            <a:r>
              <a:rPr sz="2100" b="0" i="0">
                <a:solidFill>
                  <a:srgbClr val="1A1A1A"/>
                </a:solidFill>
                <a:latin typeface="Arial"/>
              </a:rPr>
              <a:t>To sell high you must know that today's price is high.</a:t>
            </a:r>
          </a:p>
          <a:p>
            <a:pPr algn="l">
              <a:lnSpc>
                <a:spcPct val="118000"/>
              </a:lnSpc>
              <a:spcBef>
                <a:spcPts val="0"/>
              </a:spcBef>
              <a:spcAft>
                <a:spcPts val="1300"/>
              </a:spcAft>
            </a:pPr>
            <a:r>
              <a:rPr sz="2100" b="0" i="0">
                <a:solidFill>
                  <a:srgbClr val="1A1A1A"/>
                </a:solidFill>
                <a:latin typeface="Arial"/>
              </a:rPr>
              <a:t>Both of those are statements about the future, not the present.</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where chance enters, and this is why the subject exists.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price-time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picture with price up the side and time along the bottom. It is how traders keep track of two things at once.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Any chart on your trading app. The vertical axis is pesos, the horizontal axis is days.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price-time chart is a two dimensional visualization that plots price on the vertical axis against time on the horizontal axis.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9 of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two axes, drawn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10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c.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C - FIN1209 teaching chart, drawn for this course. Illustrative data, not a real instrument.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Technical analysis does exactly two jobs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Job one: it identifies and describes what already happened.</a:t>
            </a:r>
          </a:p>
          <a:p>
            <a:pPr algn="l">
              <a:lnSpc>
                <a:spcPct val="118000"/>
              </a:lnSpc>
              <a:spcBef>
                <a:spcPts val="0"/>
              </a:spcBef>
              <a:spcAft>
                <a:spcPts val="1300"/>
              </a:spcAft>
            </a:pPr>
            <a:r>
              <a:rPr sz="2100" b="0" i="0">
                <a:solidFill>
                  <a:srgbClr val="1A1A1A"/>
                </a:solidFill>
                <a:latin typeface="Arial"/>
              </a:rPr>
              <a:t>Job two: it forecasts what might happen next.</a:t>
            </a:r>
          </a:p>
        </p:txBody>
      </p:sp>
      <p:sp>
        <p:nvSpPr>
          <p:cNvPr id="8" name="Rectangle 7"/>
          <p:cNvSpPr/>
          <p:nvPr/>
        </p:nvSpPr>
        <p:spPr>
          <a:xfrm>
            <a:off x="777240" y="327202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Everything in this course is one of those two jobs.</a:t>
            </a:r>
          </a:p>
        </p:txBody>
      </p:sp>
      <p:sp>
        <p:nvSpPr>
          <p:cNvPr id="10" name="TextBox 9"/>
          <p:cNvSpPr txBox="1"/>
          <p:nvPr/>
        </p:nvSpPr>
        <p:spPr>
          <a:xfrm>
            <a:off x="777240" y="3977385"/>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This is called the dual function of technical analysis.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Identification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record keeping job. The chart tells you what the market has already done, with no opinion attached.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From a five year chart you can read the highest price ever paid, the calmest month, and the days that gapped.</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Identification is the descriptive function of technical analysis: it records and describes past and present price and market action.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12 of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facts, and not one of them is an opinion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13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d.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D - FIN1209 teaching chart, drawn for this course. Illustrative data, not a real instrument.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Forecasting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opinion job. You take what the chart recorded and make a claim about what comes next, and the claim worth most is where a new trend begins.</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Prices bounced off 100 pesos four times, so you expect buyers to show up there again.</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Forecasting is the inferential function of technical analysis: it interprets identified market action to infer potential future price behavior, especially the start of a new trend.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14 of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bounces are the record. A fifth is the claim.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15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e.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E - FIN1209 teaching chart, drawn for this course. Illustrative data, not a real instrument.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chart and the two jobs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price-time chart tracks which two dimensions?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Price and time</a:t>
            </a:r>
          </a:p>
          <a:p>
            <a:pPr algn="l">
              <a:lnSpc>
                <a:spcPct val="112000"/>
              </a:lnSpc>
              <a:spcBef>
                <a:spcPts val="0"/>
              </a:spcBef>
              <a:spcAft>
                <a:spcPts val="900"/>
              </a:spcAft>
            </a:pPr>
            <a:r>
              <a:rPr sz="1500" b="0" i="0">
                <a:solidFill>
                  <a:srgbClr val="FFFFFF"/>
                </a:solidFill>
                <a:latin typeface="Arial"/>
              </a:rPr>
              <a:t>B.  Price and volume</a:t>
            </a:r>
          </a:p>
          <a:p>
            <a:pPr algn="l">
              <a:lnSpc>
                <a:spcPct val="112000"/>
              </a:lnSpc>
              <a:spcBef>
                <a:spcPts val="0"/>
              </a:spcBef>
              <a:spcAft>
                <a:spcPts val="900"/>
              </a:spcAft>
            </a:pPr>
            <a:r>
              <a:rPr sz="1500" b="0" i="0">
                <a:solidFill>
                  <a:srgbClr val="FFFFFF"/>
                </a:solidFill>
                <a:latin typeface="Arial"/>
              </a:rPr>
              <a:t>C.  Volume and open interest</a:t>
            </a:r>
          </a:p>
          <a:p>
            <a:pPr algn="l">
              <a:lnSpc>
                <a:spcPct val="112000"/>
              </a:lnSpc>
              <a:spcBef>
                <a:spcPts val="0"/>
              </a:spcBef>
              <a:spcAft>
                <a:spcPts val="900"/>
              </a:spcAft>
            </a:pPr>
            <a:r>
              <a:rPr sz="1500" b="0" i="0">
                <a:solidFill>
                  <a:srgbClr val="FFFFFF"/>
                </a:solidFill>
                <a:latin typeface="Arial"/>
              </a:rPr>
              <a:t>D.  Value and time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Recording that a stock's widest daily range last year was 8 pesos is an example of:</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Forecasting</a:t>
            </a:r>
          </a:p>
          <a:p>
            <a:pPr algn="l">
              <a:lnSpc>
                <a:spcPct val="112000"/>
              </a:lnSpc>
              <a:spcBef>
                <a:spcPts val="0"/>
              </a:spcBef>
              <a:spcAft>
                <a:spcPts val="900"/>
              </a:spcAft>
            </a:pPr>
            <a:r>
              <a:rPr sz="1500" b="0" i="0">
                <a:solidFill>
                  <a:srgbClr val="FFFFFF"/>
                </a:solidFill>
                <a:latin typeface="Arial"/>
              </a:rPr>
              <a:t>B.  Intrinsic valuation</a:t>
            </a:r>
          </a:p>
          <a:p>
            <a:pPr algn="l">
              <a:lnSpc>
                <a:spcPct val="112000"/>
              </a:lnSpc>
              <a:spcBef>
                <a:spcPts val="0"/>
              </a:spcBef>
              <a:spcAft>
                <a:spcPts val="900"/>
              </a:spcAft>
            </a:pPr>
            <a:r>
              <a:rPr sz="1500" b="0" i="0">
                <a:solidFill>
                  <a:srgbClr val="FFFFFF"/>
                </a:solidFill>
                <a:latin typeface="Arial"/>
              </a:rPr>
              <a:t>C.  Identification</a:t>
            </a:r>
          </a:p>
          <a:p>
            <a:pPr algn="l">
              <a:lnSpc>
                <a:spcPct val="112000"/>
              </a:lnSpc>
              <a:spcBef>
                <a:spcPts val="0"/>
              </a:spcBef>
              <a:spcAft>
                <a:spcPts val="900"/>
              </a:spcAft>
            </a:pPr>
            <a:r>
              <a:rPr sz="1500" b="0" i="0">
                <a:solidFill>
                  <a:srgbClr val="FFFFFF"/>
                </a:solidFill>
                <a:latin typeface="Arial"/>
              </a:rPr>
              <a:t>D.  Sentiment analysis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Why we analyze  |  Check 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chart and the two jobs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price-time chart tracks which two dimensions?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Price and time</a:t>
            </a:r>
          </a:p>
          <a:p>
            <a:pPr algn="l">
              <a:lnSpc>
                <a:spcPct val="115000"/>
              </a:lnSpc>
              <a:spcBef>
                <a:spcPts val="700"/>
              </a:spcBef>
              <a:spcAft>
                <a:spcPts val="0"/>
              </a:spcAft>
            </a:pPr>
            <a:r>
              <a:rPr sz="1600" b="0" i="0">
                <a:solidFill>
                  <a:srgbClr val="1A1A1A"/>
                </a:solidFill>
                <a:latin typeface="Arial"/>
              </a:rPr>
              <a:t>Price sits on the vertical axis and time on the horizontal axis.</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Recording that a stock's widest daily range last year was 8 pesos is an example of:</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Identification</a:t>
            </a:r>
          </a:p>
          <a:p>
            <a:pPr algn="l">
              <a:lnSpc>
                <a:spcPct val="115000"/>
              </a:lnSpc>
              <a:spcBef>
                <a:spcPts val="700"/>
              </a:spcBef>
              <a:spcAft>
                <a:spcPts val="0"/>
              </a:spcAft>
            </a:pPr>
            <a:r>
              <a:rPr sz="1600" b="0" i="0">
                <a:solidFill>
                  <a:srgbClr val="1A1A1A"/>
                </a:solidFill>
                <a:latin typeface="Arial"/>
              </a:rPr>
              <a:t>Describing what already happened is the identification function, with no claim about the future.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Check 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identification hands you before you risk a peso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16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average size of a normal day's move.</a:t>
            </a:r>
          </a:p>
          <a:p>
            <a:pPr algn="l">
              <a:lnSpc>
                <a:spcPct val="118000"/>
              </a:lnSpc>
              <a:spcBef>
                <a:spcPts val="0"/>
              </a:spcBef>
              <a:spcAft>
                <a:spcPts val="1300"/>
              </a:spcAft>
            </a:pPr>
            <a:r>
              <a:rPr sz="2100" b="0" i="0">
                <a:solidFill>
                  <a:srgbClr val="1A1A1A"/>
                </a:solidFill>
                <a:latin typeface="Arial"/>
              </a:rPr>
              <a:t>The highest and lowest prices ever paid.</a:t>
            </a:r>
          </a:p>
          <a:p>
            <a:pPr algn="l">
              <a:lnSpc>
                <a:spcPct val="118000"/>
              </a:lnSpc>
              <a:spcBef>
                <a:spcPts val="0"/>
              </a:spcBef>
              <a:spcAft>
                <a:spcPts val="1300"/>
              </a:spcAft>
            </a:pPr>
            <a:r>
              <a:rPr sz="2100" b="0" i="0">
                <a:solidFill>
                  <a:srgbClr val="1A1A1A"/>
                </a:solidFill>
                <a:latin typeface="Arial"/>
              </a:rPr>
              <a:t>Where the market usually stalls and goes sideways.</a:t>
            </a:r>
          </a:p>
          <a:p>
            <a:pPr algn="l">
              <a:lnSpc>
                <a:spcPct val="118000"/>
              </a:lnSpc>
              <a:spcBef>
                <a:spcPts val="0"/>
              </a:spcBef>
              <a:spcAft>
                <a:spcPts val="1300"/>
              </a:spcAft>
            </a:pPr>
            <a:r>
              <a:rPr sz="2100" b="0" i="0">
                <a:solidFill>
                  <a:srgbClr val="1A1A1A"/>
                </a:solidFill>
                <a:latin typeface="Arial"/>
              </a:rPr>
              <a:t>How much trading actually happens, and how often price gaps.</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the homework you do before any trade, and it is free.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To go long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To buy in order to open a new position. You now own it and you want the price to rise.</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buy 1,000 shares of Ayala at 620 pesos. You are long Ayala.</a:t>
            </a:r>
          </a:p>
        </p:txBody>
      </p:sp>
      <p:sp>
        <p:nvSpPr>
          <p:cNvPr id="11" name="Rectangle 10"/>
          <p:cNvSpPr/>
          <p:nvPr/>
        </p:nvSpPr>
        <p:spPr>
          <a:xfrm>
            <a:off x="777240" y="4298061"/>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go long means to buy to open a new position.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17 of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Going long: a buy that opens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18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f.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F - FIN1209 teaching chart, drawn for this course. Illustrative data, not a real instrument.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To liquidate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To sell in order to close a position you already held. It is the exit from a long.</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sell those 1,000 Ayala shares at 660 pesos. You have liquidated.</a:t>
            </a:r>
          </a:p>
        </p:txBody>
      </p:sp>
      <p:sp>
        <p:nvSpPr>
          <p:cNvPr id="11" name="Rectangle 10"/>
          <p:cNvSpPr/>
          <p:nvPr/>
        </p:nvSpPr>
        <p:spPr>
          <a:xfrm>
            <a:off x="777240" y="4298061"/>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liquidate means to sell to close a position previously held.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19 of 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Liquidating: a sell that closes the long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20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g.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G - FIN1209 teaching chart, drawn for this course. Illustrative data, not a real instrument.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To go short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To sell in order to open a new position, before you own it. You want the price to fall.</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sell 1,000 borrowed shares at 660 pesos hoping to buy them back cheaper.</a:t>
            </a:r>
          </a:p>
        </p:txBody>
      </p:sp>
      <p:sp>
        <p:nvSpPr>
          <p:cNvPr id="11" name="Rectangle 10"/>
          <p:cNvSpPr/>
          <p:nvPr/>
        </p:nvSpPr>
        <p:spPr>
          <a:xfrm>
            <a:off x="777240" y="4298061"/>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go short means to sell to open a new position.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21 of 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Going short: a sell that opens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22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h.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H - FIN1209 teaching chart, drawn for this course. Illustrative data, not a real instrument.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To cover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To buy in order to close a position you had shorted. It is the exit from a short.</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buy back those 1,000 shares at 610 pesos and return them. You have covered.</a:t>
            </a:r>
          </a:p>
        </p:txBody>
      </p:sp>
      <p:sp>
        <p:nvSpPr>
          <p:cNvPr id="11" name="Rectangle 10"/>
          <p:cNvSpPr/>
          <p:nvPr/>
        </p:nvSpPr>
        <p:spPr>
          <a:xfrm>
            <a:off x="777240" y="4020566"/>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cover means to buy to close a position previously shorted.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23 of 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Covering: a buy that closes the short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24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i.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I - FIN1209 teaching chart, drawn for this course. Illustrative data, not a real instrument.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3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four words for a trade</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Selling to close a position you already held is called:</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Liquidating</a:t>
            </a:r>
          </a:p>
          <a:p>
            <a:pPr algn="l">
              <a:lnSpc>
                <a:spcPct val="112000"/>
              </a:lnSpc>
              <a:spcBef>
                <a:spcPts val="0"/>
              </a:spcBef>
              <a:spcAft>
                <a:spcPts val="900"/>
              </a:spcAft>
            </a:pPr>
            <a:r>
              <a:rPr sz="1500" b="0" i="0">
                <a:solidFill>
                  <a:srgbClr val="FFFFFF"/>
                </a:solidFill>
                <a:latin typeface="Arial"/>
              </a:rPr>
              <a:t>B.  Going short</a:t>
            </a:r>
          </a:p>
          <a:p>
            <a:pPr algn="l">
              <a:lnSpc>
                <a:spcPct val="112000"/>
              </a:lnSpc>
              <a:spcBef>
                <a:spcPts val="0"/>
              </a:spcBef>
              <a:spcAft>
                <a:spcPts val="900"/>
              </a:spcAft>
            </a:pPr>
            <a:r>
              <a:rPr sz="1500" b="0" i="0">
                <a:solidFill>
                  <a:srgbClr val="FFFFFF"/>
                </a:solidFill>
                <a:latin typeface="Arial"/>
              </a:rPr>
              <a:t>C.  Covering</a:t>
            </a:r>
          </a:p>
          <a:p>
            <a:pPr algn="l">
              <a:lnSpc>
                <a:spcPct val="112000"/>
              </a:lnSpc>
              <a:spcBef>
                <a:spcPts val="0"/>
              </a:spcBef>
              <a:spcAft>
                <a:spcPts val="900"/>
              </a:spcAft>
            </a:pPr>
            <a:r>
              <a:rPr sz="1500" b="0" i="0">
                <a:solidFill>
                  <a:srgbClr val="FFFFFF"/>
                </a:solidFill>
                <a:latin typeface="Arial"/>
              </a:rPr>
              <a:t>D.  Going long</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trader borrows shares and sells them at 90 pesos. Two weeks later they buy them back at 74 pesos. The second action is: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Going long</a:t>
            </a:r>
          </a:p>
          <a:p>
            <a:pPr algn="l">
              <a:lnSpc>
                <a:spcPct val="112000"/>
              </a:lnSpc>
              <a:spcBef>
                <a:spcPts val="0"/>
              </a:spcBef>
              <a:spcAft>
                <a:spcPts val="900"/>
              </a:spcAft>
            </a:pPr>
            <a:r>
              <a:rPr sz="1500" b="0" i="0">
                <a:solidFill>
                  <a:srgbClr val="FFFFFF"/>
                </a:solidFill>
                <a:latin typeface="Arial"/>
              </a:rPr>
              <a:t>B.  Covering</a:t>
            </a:r>
          </a:p>
          <a:p>
            <a:pPr algn="l">
              <a:lnSpc>
                <a:spcPct val="112000"/>
              </a:lnSpc>
              <a:spcBef>
                <a:spcPts val="0"/>
              </a:spcBef>
              <a:spcAft>
                <a:spcPts val="900"/>
              </a:spcAft>
            </a:pPr>
            <a:r>
              <a:rPr sz="1500" b="0" i="0">
                <a:solidFill>
                  <a:srgbClr val="FFFFFF"/>
                </a:solidFill>
                <a:latin typeface="Arial"/>
              </a:rPr>
              <a:t>C.  Liquidating</a:t>
            </a:r>
          </a:p>
          <a:p>
            <a:pPr algn="l">
              <a:lnSpc>
                <a:spcPct val="112000"/>
              </a:lnSpc>
              <a:spcBef>
                <a:spcPts val="0"/>
              </a:spcBef>
              <a:spcAft>
                <a:spcPts val="900"/>
              </a:spcAft>
            </a:pPr>
            <a:r>
              <a:rPr sz="1500" b="0" i="0">
                <a:solidFill>
                  <a:srgbClr val="FFFFFF"/>
                </a:solidFill>
                <a:latin typeface="Arial"/>
              </a:rPr>
              <a:t>D.  Scaling in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1 of 6 - Why we analyze  |  Check 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four words for a trade</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Selling to close a position you already held is called:</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Liquidating</a:t>
            </a:r>
          </a:p>
          <a:p>
            <a:pPr algn="l">
              <a:lnSpc>
                <a:spcPct val="115000"/>
              </a:lnSpc>
              <a:spcBef>
                <a:spcPts val="700"/>
              </a:spcBef>
              <a:spcAft>
                <a:spcPts val="0"/>
              </a:spcAft>
            </a:pPr>
            <a:r>
              <a:rPr sz="1600" b="0" i="0">
                <a:solidFill>
                  <a:srgbClr val="1A1A1A"/>
                </a:solidFill>
                <a:latin typeface="Arial"/>
              </a:rPr>
              <a:t>Liquidating is selling to close; covering is buying to close a short.</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trader borrows shares and sells them at 90 pesos. Two weeks later they buy them back at 74 pesos. The second action is:</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Covering</a:t>
            </a:r>
          </a:p>
          <a:p>
            <a:pPr algn="l">
              <a:lnSpc>
                <a:spcPct val="115000"/>
              </a:lnSpc>
              <a:spcBef>
                <a:spcPts val="700"/>
              </a:spcBef>
              <a:spcAft>
                <a:spcPts val="0"/>
              </a:spcAft>
            </a:pPr>
            <a:r>
              <a:rPr sz="1600" b="0" i="0">
                <a:solidFill>
                  <a:srgbClr val="1A1A1A"/>
                </a:solidFill>
                <a:latin typeface="Arial"/>
              </a:rPr>
              <a:t>Buying to close a previously shorted position is covering.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Check 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ways a trade actually makes money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25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Long at a low price, liquidate at a higher price.</a:t>
            </a:r>
          </a:p>
          <a:p>
            <a:pPr algn="l">
              <a:lnSpc>
                <a:spcPct val="118000"/>
              </a:lnSpc>
              <a:spcBef>
                <a:spcPts val="0"/>
              </a:spcBef>
              <a:spcAft>
                <a:spcPts val="1300"/>
              </a:spcAft>
            </a:pPr>
            <a:r>
              <a:rPr sz="2100" b="0" i="0">
                <a:solidFill>
                  <a:srgbClr val="1A1A1A"/>
                </a:solidFill>
                <a:latin typeface="Arial"/>
              </a:rPr>
              <a:t>2.  Long at a high price, liquidate at an even higher price.</a:t>
            </a:r>
          </a:p>
          <a:p>
            <a:pPr algn="l">
              <a:lnSpc>
                <a:spcPct val="118000"/>
              </a:lnSpc>
              <a:spcBef>
                <a:spcPts val="0"/>
              </a:spcBef>
              <a:spcAft>
                <a:spcPts val="1300"/>
              </a:spcAft>
            </a:pPr>
            <a:r>
              <a:rPr sz="2100" b="0" i="0">
                <a:solidFill>
                  <a:srgbClr val="1A1A1A"/>
                </a:solidFill>
                <a:latin typeface="Arial"/>
              </a:rPr>
              <a:t>3.  Short at a high price, cover at a lower price.</a:t>
            </a:r>
          </a:p>
          <a:p>
            <a:pPr algn="l">
              <a:lnSpc>
                <a:spcPct val="118000"/>
              </a:lnSpc>
              <a:spcBef>
                <a:spcPts val="0"/>
              </a:spcBef>
              <a:spcAft>
                <a:spcPts val="1300"/>
              </a:spcAft>
            </a:pPr>
            <a:r>
              <a:rPr sz="2100" b="0" i="0">
                <a:solidFill>
                  <a:srgbClr val="1A1A1A"/>
                </a:solidFill>
                <a:latin typeface="Arial"/>
              </a:rPr>
              <a:t>4.  Short at a relatively low price, cover at an even lower price.</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Buy low, sell high is only scenario 1. Three other ways exist.</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department's quiz has asked which of these count as buy low, sell high. Read them carefully.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mechanics of profiting from a change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26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a:t>
            </a:r>
          </a:p>
          <a:p>
            <a:pPr algn="l">
              <a:lnSpc>
                <a:spcPct val="120000"/>
              </a:lnSpc>
              <a:spcBef>
                <a:spcPts val="0"/>
              </a:spcBef>
              <a:spcAft>
                <a:spcPts val="1800"/>
              </a:spcAft>
            </a:pPr>
            <a:r>
              <a:rPr sz="2200" b="0" i="0">
                <a:solidFill>
                  <a:srgbClr val="1A1A1A"/>
                </a:solidFill>
                <a:latin typeface="Palatino"/>
              </a:rPr>
              <a:t>The two ways to profit side by side: buy low then sell high, or sell high then buy back low, with the jargon and the demand or supply behind 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1.1 - Lim, The Handbook of Technical Analysis (Wiley, 2016)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three motivational instincts, and why survival leads</a:t>
            </a:r>
          </a:p>
          <a:p>
            <a:pPr algn="l" marL="237744" indent="-237744">
              <a:lnSpc>
                <a:spcPct val="112000"/>
              </a:lnSpc>
              <a:spcBef>
                <a:spcPts val="0"/>
              </a:spcBef>
              <a:spcAft>
                <a:spcPts val="1200"/>
              </a:spcAft>
            </a:pPr>
            <a:r>
              <a:rPr sz="1800" b="0" i="0">
                <a:solidFill>
                  <a:srgbClr val="1A1A1A"/>
                </a:solidFill>
                <a:latin typeface="Arial"/>
              </a:rPr>
              <a:t>▪  Variable of change</a:t>
            </a:r>
          </a:p>
          <a:p>
            <a:pPr algn="l" marL="237744" indent="-237744">
              <a:lnSpc>
                <a:spcPct val="112000"/>
              </a:lnSpc>
              <a:spcBef>
                <a:spcPts val="0"/>
              </a:spcBef>
              <a:spcAft>
                <a:spcPts val="1200"/>
              </a:spcAft>
            </a:pPr>
            <a:r>
              <a:rPr sz="1800" b="0" i="0">
                <a:solidFill>
                  <a:srgbClr val="1A1A1A"/>
                </a:solidFill>
                <a:latin typeface="Arial"/>
              </a:rPr>
              <a:t>▪  Price</a:t>
            </a:r>
          </a:p>
          <a:p>
            <a:pPr algn="l" marL="237744" indent="-237744">
              <a:lnSpc>
                <a:spcPct val="112000"/>
              </a:lnSpc>
              <a:spcBef>
                <a:spcPts val="0"/>
              </a:spcBef>
              <a:spcAft>
                <a:spcPts val="1200"/>
              </a:spcAft>
            </a:pPr>
            <a:r>
              <a:rPr sz="1800" b="0" i="0">
                <a:solidFill>
                  <a:srgbClr val="1A1A1A"/>
                </a:solidFill>
                <a:latin typeface="Arial"/>
              </a:rPr>
              <a:t>▪  The buy low, sell high principle</a:t>
            </a:r>
          </a:p>
          <a:p>
            <a:pPr algn="l" marL="237744" indent="-237744">
              <a:lnSpc>
                <a:spcPct val="112000"/>
              </a:lnSpc>
              <a:spcBef>
                <a:spcPts val="0"/>
              </a:spcBef>
              <a:spcAft>
                <a:spcPts val="1200"/>
              </a:spcAft>
            </a:pPr>
            <a:r>
              <a:rPr sz="1800" b="0" i="0">
                <a:solidFill>
                  <a:srgbClr val="1A1A1A"/>
                </a:solidFill>
                <a:latin typeface="Arial"/>
              </a:rPr>
              <a:t>▪  The price-time chart</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dual function of technical analysis</a:t>
            </a:r>
          </a:p>
          <a:p>
            <a:pPr algn="l" marL="237744" indent="-237744">
              <a:lnSpc>
                <a:spcPct val="112000"/>
              </a:lnSpc>
              <a:spcBef>
                <a:spcPts val="0"/>
              </a:spcBef>
              <a:spcAft>
                <a:spcPts val="1200"/>
              </a:spcAft>
            </a:pPr>
            <a:r>
              <a:rPr sz="1800" b="0" i="0">
                <a:solidFill>
                  <a:srgbClr val="1A1A1A"/>
                </a:solidFill>
                <a:latin typeface="Arial"/>
              </a:rPr>
              <a:t>▪  Identification</a:t>
            </a:r>
          </a:p>
          <a:p>
            <a:pPr algn="l" marL="237744" indent="-237744">
              <a:lnSpc>
                <a:spcPct val="112000"/>
              </a:lnSpc>
              <a:spcBef>
                <a:spcPts val="0"/>
              </a:spcBef>
              <a:spcAft>
                <a:spcPts val="1200"/>
              </a:spcAft>
            </a:pPr>
            <a:r>
              <a:rPr sz="1800" b="0" i="0">
                <a:solidFill>
                  <a:srgbClr val="1A1A1A"/>
                </a:solidFill>
                <a:latin typeface="Arial"/>
              </a:rPr>
              <a:t>▪  Forecasting</a:t>
            </a:r>
          </a:p>
          <a:p>
            <a:pPr algn="l" marL="237744" indent="-237744">
              <a:lnSpc>
                <a:spcPct val="112000"/>
              </a:lnSpc>
              <a:spcBef>
                <a:spcPts val="0"/>
              </a:spcBef>
              <a:spcAft>
                <a:spcPts val="1200"/>
              </a:spcAft>
            </a:pPr>
            <a:r>
              <a:rPr sz="1800" b="0" i="0">
                <a:solidFill>
                  <a:srgbClr val="1A1A1A"/>
                </a:solidFill>
                <a:latin typeface="Arial"/>
              </a:rPr>
              <a:t>▪  To go long, and to liquidate</a:t>
            </a:r>
          </a:p>
          <a:p>
            <a:pPr algn="l" marL="237744" indent="-237744">
              <a:lnSpc>
                <a:spcPct val="112000"/>
              </a:lnSpc>
              <a:spcBef>
                <a:spcPts val="0"/>
              </a:spcBef>
              <a:spcAft>
                <a:spcPts val="1200"/>
              </a:spcAft>
            </a:pPr>
            <a:r>
              <a:rPr sz="1800" b="0" i="0">
                <a:solidFill>
                  <a:srgbClr val="1A1A1A"/>
                </a:solidFill>
                <a:latin typeface="Arial"/>
              </a:rPr>
              <a:t>▪  To go short, and to cover</a:t>
            </a:r>
          </a:p>
          <a:p>
            <a:pPr algn="l" marL="237744" indent="-237744">
              <a:lnSpc>
                <a:spcPct val="112000"/>
              </a:lnSpc>
              <a:spcBef>
                <a:spcPts val="0"/>
              </a:spcBef>
              <a:spcAft>
                <a:spcPts val="1200"/>
              </a:spcAft>
            </a:pPr>
            <a:r>
              <a:rPr sz="1800" b="0" i="0">
                <a:solidFill>
                  <a:srgbClr val="1A1A1A"/>
                </a:solidFill>
                <a:latin typeface="Arial"/>
              </a:rPr>
              <a:t>▪  The four profitable trade scenarios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recap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2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Three Ways to Forecast a Price</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Fundamental analysis, information analysis, and technical analysis.</a:t>
            </a:r>
          </a:p>
          <a:p>
            <a:pPr algn="l">
              <a:lnSpc>
                <a:spcPct val="115000"/>
              </a:lnSpc>
              <a:spcBef>
                <a:spcPts val="0"/>
              </a:spcBef>
              <a:spcAft>
                <a:spcPts val="1000"/>
              </a:spcAft>
            </a:pPr>
            <a:r>
              <a:rPr sz="1900" b="0" i="0">
                <a:solidFill>
                  <a:srgbClr val="FFFFFF"/>
                </a:solidFill>
                <a:latin typeface="Arial"/>
              </a:rPr>
              <a:t>Six definitions of technical analysis worth memorizing.</a:t>
            </a:r>
          </a:p>
          <a:p>
            <a:pPr algn="l">
              <a:lnSpc>
                <a:spcPct val="115000"/>
              </a:lnSpc>
              <a:spcBef>
                <a:spcPts val="0"/>
              </a:spcBef>
              <a:spcAft>
                <a:spcPts val="1000"/>
              </a:spcAft>
            </a:pPr>
            <a:r>
              <a:rPr sz="1900" b="0" i="0">
                <a:solidFill>
                  <a:srgbClr val="FFFFFF"/>
                </a:solidFill>
                <a:latin typeface="Arial"/>
              </a:rPr>
              <a:t>What each approach can and cannot tell you about timing.</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30 minutes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approaches, one question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Fundamental analysis: what is this thing worth?</a:t>
            </a:r>
          </a:p>
          <a:p>
            <a:pPr algn="l">
              <a:lnSpc>
                <a:spcPct val="118000"/>
              </a:lnSpc>
              <a:spcBef>
                <a:spcPts val="0"/>
              </a:spcBef>
              <a:spcAft>
                <a:spcPts val="1300"/>
              </a:spcAft>
            </a:pPr>
            <a:r>
              <a:rPr sz="2100" b="0" i="0">
                <a:solidFill>
                  <a:srgbClr val="1A1A1A"/>
                </a:solidFill>
                <a:latin typeface="Arial"/>
              </a:rPr>
              <a:t>2.  Information analysis: what does the news say?</a:t>
            </a:r>
          </a:p>
          <a:p>
            <a:pPr algn="l">
              <a:lnSpc>
                <a:spcPct val="118000"/>
              </a:lnSpc>
              <a:spcBef>
                <a:spcPts val="0"/>
              </a:spcBef>
              <a:spcAft>
                <a:spcPts val="1300"/>
              </a:spcAft>
            </a:pPr>
            <a:r>
              <a:rPr sz="2100" b="0" i="0">
                <a:solidFill>
                  <a:srgbClr val="1A1A1A"/>
                </a:solidFill>
                <a:latin typeface="Arial"/>
              </a:rPr>
              <a:t>3.  Technical analysis: what is the market itself doing?</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All three are trying to answer the same question: where does price go next?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approaches on one page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 of 30</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a:t>
            </a:r>
          </a:p>
          <a:p>
            <a:pPr algn="l">
              <a:lnSpc>
                <a:spcPct val="120000"/>
              </a:lnSpc>
              <a:spcBef>
                <a:spcPts val="0"/>
              </a:spcBef>
              <a:spcAft>
                <a:spcPts val="1800"/>
              </a:spcAft>
            </a:pPr>
            <a:r>
              <a:rPr sz="2200" b="0" i="0">
                <a:solidFill>
                  <a:srgbClr val="1A1A1A"/>
                </a:solidFill>
                <a:latin typeface="Palatino"/>
              </a:rPr>
              <a:t>Fundamental analysis using intrinsic value, technical analysis using price, volume and sentiment, information analysis using public and non-public information.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1.2 - Lim, The Handbook of Technical Analysis (Wiley, 2016)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Fundamental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Working out what a company is really worth by reading its financial statements, then comparing that to the price.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read San Miguel's annual report, decide the business is worth 130 pesos a share, and see it trading at 98 pesos.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Fundamental analysis estimates the value of a security from its financial performance and position, in order to judge whether the current price is justified.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3 of 30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Intrinsic value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What the security is genuinely worth once you account for everything the business owns, owes, and earns.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Holdings, debt, earnings, dividends, income, balance sheet activity and cash flow, all reduced to one number per share.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Intrinsic value is the worth of a security in light of all its holdings, debt, earnings, dividends, income, balance sheet activity, and cash flow.</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4 of 30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Undervalued and overvalued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5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below intrinsic value means undervalued. Buyers should appear, creating demand.</a:t>
            </a:r>
          </a:p>
          <a:p>
            <a:pPr algn="l">
              <a:lnSpc>
                <a:spcPct val="118000"/>
              </a:lnSpc>
              <a:spcBef>
                <a:spcPts val="0"/>
              </a:spcBef>
              <a:spcAft>
                <a:spcPts val="1300"/>
              </a:spcAft>
            </a:pPr>
            <a:r>
              <a:rPr sz="2100" b="0" i="0">
                <a:solidFill>
                  <a:srgbClr val="1A1A1A"/>
                </a:solidFill>
                <a:latin typeface="Arial"/>
              </a:rPr>
              <a:t>Price above intrinsic value means overvalued. Sellers should appear, creating supply.</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Undervalued means cheap relative to worth. It does not mean the price will rise today.</a:t>
            </a:r>
          </a:p>
        </p:txBody>
      </p:sp>
      <p:sp>
        <p:nvSpPr>
          <p:cNvPr id="10" name="TextBox 9"/>
          <p:cNvSpPr txBox="1"/>
          <p:nvPr/>
        </p:nvSpPr>
        <p:spPr>
          <a:xfrm>
            <a:off x="777240" y="492810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department's quiz has reversed this pair to catch inattentive students.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Undervalued: price below intrinsic value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6 of 30</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a:t>
            </a:r>
          </a:p>
          <a:p>
            <a:pPr algn="l">
              <a:lnSpc>
                <a:spcPct val="120000"/>
              </a:lnSpc>
              <a:spcBef>
                <a:spcPts val="0"/>
              </a:spcBef>
              <a:spcAft>
                <a:spcPts val="1800"/>
              </a:spcAft>
            </a:pPr>
            <a:r>
              <a:rPr sz="2200" b="0" i="0">
                <a:solidFill>
                  <a:srgbClr val="1A1A1A"/>
                </a:solidFill>
                <a:latin typeface="Palatino"/>
              </a:rPr>
              <a:t>Intrinsic value of 25 dollars against a current price of 20 dollars, so the stock is underpriced and the expected reaction is potential demand.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1.3 - Lim, The Handbook of Technical Analysis (Wiley, 2016)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Overvalued: price above intrinsic value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7 of 30</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1.4</a:t>
            </a:r>
          </a:p>
          <a:p>
            <a:pPr algn="l">
              <a:lnSpc>
                <a:spcPct val="120000"/>
              </a:lnSpc>
              <a:spcBef>
                <a:spcPts val="0"/>
              </a:spcBef>
              <a:spcAft>
                <a:spcPts val="1800"/>
              </a:spcAft>
            </a:pPr>
            <a:r>
              <a:rPr sz="2200" b="0" i="0">
                <a:solidFill>
                  <a:srgbClr val="1A1A1A"/>
                </a:solidFill>
                <a:latin typeface="Palatino"/>
              </a:rPr>
              <a:t>The same diagram inverted: a current price of 25 dollars against intrinsic value of 20 dollars, so the stock is overpriced and the expected reaction is potential supply.</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1.4 - Lim, The Handbook of Technical Analysis (Wiley, 2016)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4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Value and the three approaches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share trades at 45 pesos and its estimated intrinsic value is 60 pesos. The share is:</a:t>
            </a:r>
          </a:p>
        </p:txBody>
      </p:sp>
      <p:sp>
        <p:nvSpPr>
          <p:cNvPr id="9" name="TextBox 8"/>
          <p:cNvSpPr txBox="1"/>
          <p:nvPr/>
        </p:nvSpPr>
        <p:spPr>
          <a:xfrm>
            <a:off x="1051560" y="401624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Overvalued, and supply should be generated</a:t>
            </a:r>
          </a:p>
          <a:p>
            <a:pPr algn="l">
              <a:lnSpc>
                <a:spcPct val="112000"/>
              </a:lnSpc>
              <a:spcBef>
                <a:spcPts val="0"/>
              </a:spcBef>
              <a:spcAft>
                <a:spcPts val="900"/>
              </a:spcAft>
            </a:pPr>
            <a:r>
              <a:rPr sz="1500" b="0" i="0">
                <a:solidFill>
                  <a:srgbClr val="FFFFFF"/>
                </a:solidFill>
                <a:latin typeface="Arial"/>
              </a:rPr>
              <a:t>B.  Undervalued, and demand should be generated</a:t>
            </a:r>
          </a:p>
          <a:p>
            <a:pPr algn="l">
              <a:lnSpc>
                <a:spcPct val="112000"/>
              </a:lnSpc>
              <a:spcBef>
                <a:spcPts val="0"/>
              </a:spcBef>
              <a:spcAft>
                <a:spcPts val="900"/>
              </a:spcAft>
            </a:pPr>
            <a:r>
              <a:rPr sz="1500" b="0" i="0">
                <a:solidFill>
                  <a:srgbClr val="FFFFFF"/>
                </a:solidFill>
                <a:latin typeface="Arial"/>
              </a:rPr>
              <a:t>C.  Fairly valued</a:t>
            </a:r>
          </a:p>
          <a:p>
            <a:pPr algn="l">
              <a:lnSpc>
                <a:spcPct val="112000"/>
              </a:lnSpc>
              <a:spcBef>
                <a:spcPts val="0"/>
              </a:spcBef>
              <a:spcAft>
                <a:spcPts val="900"/>
              </a:spcAft>
            </a:pPr>
            <a:r>
              <a:rPr sz="1500" b="0" i="0">
                <a:solidFill>
                  <a:srgbClr val="FFFFFF"/>
                </a:solidFill>
                <a:latin typeface="Arial"/>
              </a:rPr>
              <a:t>D.  Overbought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207772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Select the accurate statements. I. Fundamental analysis estimates intrinsic value. II. Technical analysis asks what a business is worth. III. Information analysis draws on public sources such as news reports. IV. All three try to forecast future price.</a:t>
            </a:r>
          </a:p>
        </p:txBody>
      </p:sp>
      <p:sp>
        <p:nvSpPr>
          <p:cNvPr id="13" name="TextBox 12"/>
          <p:cNvSpPr txBox="1"/>
          <p:nvPr/>
        </p:nvSpPr>
        <p:spPr>
          <a:xfrm>
            <a:off x="6690207" y="401624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I, III, and IV are correct</a:t>
            </a:r>
          </a:p>
          <a:p>
            <a:pPr algn="l">
              <a:lnSpc>
                <a:spcPct val="112000"/>
              </a:lnSpc>
              <a:spcBef>
                <a:spcPts val="0"/>
              </a:spcBef>
              <a:spcAft>
                <a:spcPts val="900"/>
              </a:spcAft>
            </a:pPr>
            <a:r>
              <a:rPr sz="1500" b="0" i="0">
                <a:solidFill>
                  <a:srgbClr val="FFFFFF"/>
                </a:solidFill>
                <a:latin typeface="Arial"/>
              </a:rPr>
              <a:t>B.  Only I and II are correct</a:t>
            </a:r>
          </a:p>
          <a:p>
            <a:pPr algn="l">
              <a:lnSpc>
                <a:spcPct val="112000"/>
              </a:lnSpc>
              <a:spcBef>
                <a:spcPts val="0"/>
              </a:spcBef>
              <a:spcAft>
                <a:spcPts val="900"/>
              </a:spcAft>
            </a:pPr>
            <a:r>
              <a:rPr sz="1500" b="0" i="0">
                <a:solidFill>
                  <a:srgbClr val="FFFFFF"/>
                </a:solidFill>
                <a:latin typeface="Arial"/>
              </a:rPr>
              <a:t>C.  Only II and III are correct</a:t>
            </a:r>
          </a:p>
          <a:p>
            <a:pPr algn="l">
              <a:lnSpc>
                <a:spcPct val="112000"/>
              </a:lnSpc>
              <a:spcBef>
                <a:spcPts val="0"/>
              </a:spcBef>
              <a:spcAft>
                <a:spcPts val="900"/>
              </a:spcAft>
            </a:pPr>
            <a:r>
              <a:rPr sz="1500" b="0" i="0">
                <a:solidFill>
                  <a:srgbClr val="FFFFFF"/>
                </a:solidFill>
                <a:latin typeface="Arial"/>
              </a:rPr>
              <a:t>D.  All are correct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Forecasting  |  Check 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Value and the three approaches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share trades at 45 pesos and its estimated intrinsic value is 60 pesos. The share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Undervalued, and demand should be generated</a:t>
            </a:r>
          </a:p>
          <a:p>
            <a:pPr algn="l">
              <a:lnSpc>
                <a:spcPct val="115000"/>
              </a:lnSpc>
              <a:spcBef>
                <a:spcPts val="700"/>
              </a:spcBef>
              <a:spcAft>
                <a:spcPts val="0"/>
              </a:spcAft>
            </a:pPr>
            <a:r>
              <a:rPr sz="1600" b="0" i="0">
                <a:solidFill>
                  <a:srgbClr val="1A1A1A"/>
                </a:solidFill>
                <a:latin typeface="Arial"/>
              </a:rPr>
              <a:t>Price below estimated intrinsic value means undervalued, which potentially generates demand.</a:t>
            </a:r>
          </a:p>
        </p:txBody>
      </p:sp>
      <p:sp>
        <p:nvSpPr>
          <p:cNvPr id="10" name="Rectangle 9"/>
          <p:cNvSpPr/>
          <p:nvPr/>
        </p:nvSpPr>
        <p:spPr>
          <a:xfrm>
            <a:off x="777240" y="308203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79247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Select the accurate statements. I. Fundamental analysis estimates intrinsic value. II. Technical analysis asks what a business is worth. III. Information analysis draws on public sources such as news reports. IV. All three try to forecast future price.</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Only I, III, and IV are correct</a:t>
            </a:r>
          </a:p>
          <a:p>
            <a:pPr algn="l">
              <a:lnSpc>
                <a:spcPct val="115000"/>
              </a:lnSpc>
              <a:spcBef>
                <a:spcPts val="700"/>
              </a:spcBef>
              <a:spcAft>
                <a:spcPts val="0"/>
              </a:spcAft>
            </a:pPr>
            <a:r>
              <a:rPr sz="1600" b="0" i="0">
                <a:solidFill>
                  <a:srgbClr val="1A1A1A"/>
                </a:solidFill>
                <a:latin typeface="Arial"/>
              </a:rPr>
              <a:t>Statement II is false: valuing the business is the fundamentalist's job, not the technician's.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Check 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a fundamentalist turns accounts into a number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8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to earnings, or P/E. Price to earnings growth, or PEG.</a:t>
            </a:r>
          </a:p>
          <a:p>
            <a:pPr algn="l">
              <a:lnSpc>
                <a:spcPct val="118000"/>
              </a:lnSpc>
              <a:spcBef>
                <a:spcPts val="0"/>
              </a:spcBef>
              <a:spcAft>
                <a:spcPts val="1300"/>
              </a:spcAft>
            </a:pPr>
            <a:r>
              <a:rPr sz="2100" b="0" i="0">
                <a:solidFill>
                  <a:srgbClr val="1A1A1A"/>
                </a:solidFill>
                <a:latin typeface="Arial"/>
              </a:rPr>
              <a:t>Price to book, and price to sales.</a:t>
            </a:r>
          </a:p>
          <a:p>
            <a:pPr algn="l">
              <a:lnSpc>
                <a:spcPct val="118000"/>
              </a:lnSpc>
              <a:spcBef>
                <a:spcPts val="0"/>
              </a:spcBef>
              <a:spcAft>
                <a:spcPts val="1300"/>
              </a:spcAft>
            </a:pPr>
            <a:r>
              <a:rPr sz="2100" b="0" i="0">
                <a:solidFill>
                  <a:srgbClr val="1A1A1A"/>
                </a:solidFill>
                <a:latin typeface="Arial"/>
              </a:rPr>
              <a:t>Debt to equity, and earnings per share.</a:t>
            </a:r>
          </a:p>
          <a:p>
            <a:pPr algn="l">
              <a:lnSpc>
                <a:spcPct val="118000"/>
              </a:lnSpc>
              <a:spcBef>
                <a:spcPts val="0"/>
              </a:spcBef>
              <a:spcAft>
                <a:spcPts val="1300"/>
              </a:spcAft>
            </a:pPr>
            <a:r>
              <a:rPr sz="2100" b="0" i="0">
                <a:solidFill>
                  <a:srgbClr val="1A1A1A"/>
                </a:solidFill>
                <a:latin typeface="Arial"/>
              </a:rPr>
              <a:t>Asset pricing models like the capital asset pricing model, or CAPM.</a:t>
            </a:r>
          </a:p>
          <a:p>
            <a:pPr algn="l">
              <a:lnSpc>
                <a:spcPct val="118000"/>
              </a:lnSpc>
              <a:spcBef>
                <a:spcPts val="0"/>
              </a:spcBef>
              <a:spcAft>
                <a:spcPts val="1300"/>
              </a:spcAft>
            </a:pPr>
            <a:r>
              <a:rPr sz="2100" b="0" i="0">
                <a:solidFill>
                  <a:srgbClr val="1A1A1A"/>
                </a:solidFill>
                <a:latin typeface="Arial"/>
              </a:rPr>
              <a:t>CAPM seeks the best balance between risk and expected returns over a risk free rate.</a:t>
            </a:r>
          </a:p>
        </p:txBody>
      </p:sp>
      <p:sp>
        <p:nvSpPr>
          <p:cNvPr id="8" name="Rectangle 7"/>
          <p:cNvSpPr/>
          <p:nvPr/>
        </p:nvSpPr>
        <p:spPr>
          <a:xfrm>
            <a:off x="777240" y="5079492"/>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16068"/>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None of this tells you what to do at 9:31 tomorrow morning.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top-down approach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Start with the big picture, then narrow down. Pick the strong sector first, then the best company inside it.</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decide banking will do well this year, then you compare BDO, BPI and Metrobank.</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top-down approach studies broad market factors and sector rotation models in order to select stocks within a strengthening industry or sector.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9 of 30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bottom-up approach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Start with the company. If the business is excellent, you buy it whatever the sector is doing.</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like one shipping firm's balance sheet and buy it even though shipping as a whole is weak.</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bottom-up approach relies primarily on a specific company's own fundamental performance rather than on sector or market conditions.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10 of 30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fundamental analysis runs out of road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11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Accounts can be dressed up, misreported, or outright falsified.</a:t>
            </a:r>
          </a:p>
          <a:p>
            <a:pPr algn="l">
              <a:lnSpc>
                <a:spcPct val="118000"/>
              </a:lnSpc>
              <a:spcBef>
                <a:spcPts val="0"/>
              </a:spcBef>
              <a:spcAft>
                <a:spcPts val="1300"/>
              </a:spcAft>
            </a:pPr>
            <a:r>
              <a:rPr sz="2100" b="0" i="0">
                <a:solidFill>
                  <a:srgbClr val="1A1A1A"/>
                </a:solidFill>
                <a:latin typeface="Arial"/>
              </a:rPr>
              <a:t>By the time an audited report is published, the information is already old.</a:t>
            </a:r>
          </a:p>
          <a:p>
            <a:pPr algn="l">
              <a:lnSpc>
                <a:spcPct val="118000"/>
              </a:lnSpc>
              <a:spcBef>
                <a:spcPts val="0"/>
              </a:spcBef>
              <a:spcAft>
                <a:spcPts val="1300"/>
              </a:spcAft>
            </a:pPr>
            <a:r>
              <a:rPr sz="2100" b="0" i="0">
                <a:solidFill>
                  <a:srgbClr val="1A1A1A"/>
                </a:solidFill>
                <a:latin typeface="Arial"/>
              </a:rPr>
              <a:t>It never gives you a precise price or a precise moment to act.</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Fundamental data suits long term investment. It is poor at short term timing.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5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Approaches and their limits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 analyst first identifies a strengthening industry, then screens for the best company inside it. This is:</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bottom-up approach</a:t>
            </a:r>
          </a:p>
          <a:p>
            <a:pPr algn="l">
              <a:lnSpc>
                <a:spcPct val="112000"/>
              </a:lnSpc>
              <a:spcBef>
                <a:spcPts val="0"/>
              </a:spcBef>
              <a:spcAft>
                <a:spcPts val="900"/>
              </a:spcAft>
            </a:pPr>
            <a:r>
              <a:rPr sz="1500" b="0" i="0">
                <a:solidFill>
                  <a:srgbClr val="FFFFFF"/>
                </a:solidFill>
                <a:latin typeface="Arial"/>
              </a:rPr>
              <a:t>B.  A top-down approach</a:t>
            </a:r>
          </a:p>
          <a:p>
            <a:pPr algn="l">
              <a:lnSpc>
                <a:spcPct val="112000"/>
              </a:lnSpc>
              <a:spcBef>
                <a:spcPts val="0"/>
              </a:spcBef>
              <a:spcAft>
                <a:spcPts val="900"/>
              </a:spcAft>
            </a:pPr>
            <a:r>
              <a:rPr sz="1500" b="0" i="0">
                <a:solidFill>
                  <a:srgbClr val="FFFFFF"/>
                </a:solidFill>
                <a:latin typeface="Arial"/>
              </a:rPr>
              <a:t>C.  A contrarian approach</a:t>
            </a:r>
          </a:p>
          <a:p>
            <a:pPr algn="l">
              <a:lnSpc>
                <a:spcPct val="112000"/>
              </a:lnSpc>
              <a:spcBef>
                <a:spcPts val="0"/>
              </a:spcBef>
              <a:spcAft>
                <a:spcPts val="900"/>
              </a:spcAft>
            </a:pPr>
            <a:r>
              <a:rPr sz="1500" b="0" i="0">
                <a:solidFill>
                  <a:srgbClr val="FFFFFF"/>
                </a:solidFill>
                <a:latin typeface="Arial"/>
              </a:rPr>
              <a:t>D.  Information analysis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main weakness of fundamental analysis, for a trader, is that it:</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Cannot value a company</a:t>
            </a:r>
          </a:p>
          <a:p>
            <a:pPr algn="l">
              <a:lnSpc>
                <a:spcPct val="112000"/>
              </a:lnSpc>
              <a:spcBef>
                <a:spcPts val="0"/>
              </a:spcBef>
              <a:spcAft>
                <a:spcPts val="900"/>
              </a:spcAft>
            </a:pPr>
            <a:r>
              <a:rPr sz="1500" b="0" i="0">
                <a:solidFill>
                  <a:srgbClr val="FFFFFF"/>
                </a:solidFill>
                <a:latin typeface="Arial"/>
              </a:rPr>
              <a:t>B.  Ignores a company's debt</a:t>
            </a:r>
          </a:p>
          <a:p>
            <a:pPr algn="l">
              <a:lnSpc>
                <a:spcPct val="112000"/>
              </a:lnSpc>
              <a:spcBef>
                <a:spcPts val="0"/>
              </a:spcBef>
              <a:spcAft>
                <a:spcPts val="900"/>
              </a:spcAft>
            </a:pPr>
            <a:r>
              <a:rPr sz="1500" b="0" i="0">
                <a:solidFill>
                  <a:srgbClr val="FFFFFF"/>
                </a:solidFill>
                <a:latin typeface="Arial"/>
              </a:rPr>
              <a:t>C.  Cannot provide clear short term price and time levels to act on</a:t>
            </a:r>
          </a:p>
          <a:p>
            <a:pPr algn="l">
              <a:lnSpc>
                <a:spcPct val="112000"/>
              </a:lnSpc>
              <a:spcBef>
                <a:spcPts val="0"/>
              </a:spcBef>
              <a:spcAft>
                <a:spcPts val="900"/>
              </a:spcAft>
            </a:pPr>
            <a:r>
              <a:rPr sz="1500" b="0" i="0">
                <a:solidFill>
                  <a:srgbClr val="FFFFFF"/>
                </a:solidFill>
                <a:latin typeface="Arial"/>
              </a:rPr>
              <a:t>D.  Requires a chart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Forecasting  |  Check 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Approaches and their limits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An analyst first identifies a strengthening industry, then screens for the best company inside it. This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top-down approach</a:t>
            </a:r>
          </a:p>
          <a:p>
            <a:pPr algn="l">
              <a:lnSpc>
                <a:spcPct val="115000"/>
              </a:lnSpc>
              <a:spcBef>
                <a:spcPts val="700"/>
              </a:spcBef>
              <a:spcAft>
                <a:spcPts val="0"/>
              </a:spcAft>
            </a:pPr>
            <a:r>
              <a:rPr sz="1600" b="0" i="0">
                <a:solidFill>
                  <a:srgbClr val="1A1A1A"/>
                </a:solidFill>
                <a:latin typeface="Arial"/>
              </a:rPr>
              <a:t>Starting from broad market or sector conditions and narrowing down is top-down.</a:t>
            </a:r>
          </a:p>
        </p:txBody>
      </p:sp>
      <p:sp>
        <p:nvSpPr>
          <p:cNvPr id="10" name="Rectangle 9"/>
          <p:cNvSpPr/>
          <p:nvPr/>
        </p:nvSpPr>
        <p:spPr>
          <a:xfrm>
            <a:off x="777240" y="3315716"/>
            <a:ext cx="10637215" cy="19202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92023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main weakness of fundamental analysis, for a trader, is that it:</a:t>
            </a:r>
          </a:p>
        </p:txBody>
      </p:sp>
      <p:sp>
        <p:nvSpPr>
          <p:cNvPr id="13" name="TextBox 12"/>
          <p:cNvSpPr txBox="1"/>
          <p:nvPr/>
        </p:nvSpPr>
        <p:spPr>
          <a:xfrm>
            <a:off x="1143000" y="404317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Cannot provide clear short term price and time levels to act on</a:t>
            </a:r>
          </a:p>
          <a:p>
            <a:pPr algn="l">
              <a:lnSpc>
                <a:spcPct val="115000"/>
              </a:lnSpc>
              <a:spcBef>
                <a:spcPts val="700"/>
              </a:spcBef>
              <a:spcAft>
                <a:spcPts val="0"/>
              </a:spcAft>
            </a:pPr>
            <a:r>
              <a:rPr sz="1600" b="0" i="0">
                <a:solidFill>
                  <a:srgbClr val="1A1A1A"/>
                </a:solidFill>
                <a:latin typeface="Arial"/>
              </a:rPr>
              <a:t>Its stated main weakness is the inability to give specific short term price levels or timing.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Check 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a policy decision becomes a price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12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Interest rate announcements and central bank policy move supply and demand too.</a:t>
            </a:r>
          </a:p>
          <a:p>
            <a:pPr algn="l">
              <a:lnSpc>
                <a:spcPct val="118000"/>
              </a:lnSpc>
              <a:spcBef>
                <a:spcPts val="0"/>
              </a:spcBef>
              <a:spcAft>
                <a:spcPts val="1300"/>
              </a:spcAft>
            </a:pPr>
            <a:r>
              <a:rPr sz="2100" b="0" i="0">
                <a:solidFill>
                  <a:srgbClr val="1A1A1A"/>
                </a:solidFill>
                <a:latin typeface="Arial"/>
              </a:rPr>
              <a:t>The Swiss National Bank held a ceiling on the franc: EURCHF at or above 1.2000.</a:t>
            </a:r>
          </a:p>
          <a:p>
            <a:pPr algn="l">
              <a:lnSpc>
                <a:spcPct val="118000"/>
              </a:lnSpc>
              <a:spcBef>
                <a:spcPts val="0"/>
              </a:spcBef>
              <a:spcAft>
                <a:spcPts val="1300"/>
              </a:spcAft>
            </a:pPr>
            <a:r>
              <a:rPr sz="2100" b="0" i="0">
                <a:solidFill>
                  <a:srgbClr val="1A1A1A"/>
                </a:solidFill>
                <a:latin typeface="Arial"/>
              </a:rPr>
              <a:t>That decision created a technical demand for the euro right at 1.2000.</a:t>
            </a:r>
          </a:p>
          <a:p>
            <a:pPr algn="l">
              <a:lnSpc>
                <a:spcPct val="118000"/>
              </a:lnSpc>
              <a:spcBef>
                <a:spcPts val="0"/>
              </a:spcBef>
              <a:spcAft>
                <a:spcPts val="1300"/>
              </a:spcAft>
            </a:pPr>
            <a:r>
              <a:rPr sz="2100" b="0" i="0">
                <a:solidFill>
                  <a:srgbClr val="1A1A1A"/>
                </a:solidFill>
                <a:latin typeface="Arial"/>
              </a:rPr>
              <a:t>Traders bought each time the rate neared it, with stops a reasonable distance below.</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policy decision, read off a chart as a price level.</a:t>
            </a:r>
          </a:p>
        </p:txBody>
      </p:sp>
      <p:sp>
        <p:nvSpPr>
          <p:cNvPr id="10" name="TextBox 9"/>
          <p:cNvSpPr txBox="1"/>
          <p:nvPr/>
        </p:nvSpPr>
        <p:spPr>
          <a:xfrm>
            <a:off x="777240" y="528726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ceiling holds only for as long as the bank defends it.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ceiling, drawn as a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13 of 30</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1.5</a:t>
            </a:r>
          </a:p>
          <a:p>
            <a:pPr algn="l">
              <a:lnSpc>
                <a:spcPct val="120000"/>
              </a:lnSpc>
              <a:spcBef>
                <a:spcPts val="0"/>
              </a:spcBef>
              <a:spcAft>
                <a:spcPts val="1800"/>
              </a:spcAft>
            </a:pPr>
            <a:r>
              <a:rPr sz="2200" b="0" i="0">
                <a:solidFill>
                  <a:srgbClr val="1A1A1A"/>
                </a:solidFill>
                <a:latin typeface="Palatino"/>
              </a:rPr>
              <a:t>A long term EURCHF chart with a horizontal line at 1.2000 labeled the SNB exchange rate ceiling on the CHF, and the shaded period from September 2011 in which price sits above that line.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1.5 - Lim, The Handbook of Technical Analysis (Wiley, 2016)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Information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Forecasting from what you read: newspapers, bulletins, online reports, company announcements.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quarterly result beats expectations, so you expect the share to open higher tomorrow.</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Information analysis forms an opinion about potential market action from information gleaned from public sources.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14 of 30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public information is usually late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15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Those with non-public material information have already moved the market.</a:t>
            </a:r>
          </a:p>
          <a:p>
            <a:pPr algn="l">
              <a:lnSpc>
                <a:spcPct val="118000"/>
              </a:lnSpc>
              <a:spcBef>
                <a:spcPts val="0"/>
              </a:spcBef>
              <a:spcAft>
                <a:spcPts val="1300"/>
              </a:spcAft>
            </a:pPr>
            <a:r>
              <a:rPr sz="2100" b="0" i="0">
                <a:solidFill>
                  <a:srgbClr val="1A1A1A"/>
                </a:solidFill>
                <a:latin typeface="Arial"/>
              </a:rPr>
              <a:t>By the time it is public, only an inconsequential amount of the move is left.</a:t>
            </a:r>
          </a:p>
          <a:p>
            <a:pPr algn="l">
              <a:lnSpc>
                <a:spcPct val="118000"/>
              </a:lnSpc>
              <a:spcBef>
                <a:spcPts val="0"/>
              </a:spcBef>
              <a:spcAft>
                <a:spcPts val="1300"/>
              </a:spcAft>
            </a:pPr>
            <a:r>
              <a:rPr sz="2100" b="0" i="0">
                <a:solidFill>
                  <a:srgbClr val="1A1A1A"/>
                </a:solidFill>
                <a:latin typeface="Arial"/>
              </a:rPr>
              <a:t>Acting on non-public material information is insider trading, and it is illegal.</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technical analyst sees the move on the chart and acts, without waiting for the reason.</a:t>
            </a:r>
          </a:p>
        </p:txBody>
      </p:sp>
      <p:sp>
        <p:nvSpPr>
          <p:cNvPr id="10" name="TextBox 9"/>
          <p:cNvSpPr txBox="1"/>
          <p:nvPr/>
        </p:nvSpPr>
        <p:spPr>
          <a:xfrm>
            <a:off x="777240" y="511098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In unregulated over the counter markets, brokers front running large client orders is the same problem wearing a different name.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Technical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Reading the market's own behavior, mainly price, volume and open interest, to work out what it is likely to do next.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do not know why the buyers came. You only know they came at 250 pesos, three times.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Technical analysis is the identification and forecasting of potential market behavior based largely on the action and dynamics of the market itself.</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16 of 30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713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713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"Technical analysis is the study of market action, primarily through the use of charts, for the purpose of forecasting future price trends."</a:t>
            </a:r>
          </a:p>
          <a:p>
            <a:pPr algn="l">
              <a:lnSpc>
                <a:spcPct val="100000"/>
              </a:lnSpc>
              <a:spcBef>
                <a:spcPts val="1400"/>
              </a:spcBef>
              <a:spcAft>
                <a:spcPts val="0"/>
              </a:spcAft>
            </a:pPr>
            <a:r>
              <a:rPr sz="1400" b="0" i="0">
                <a:solidFill>
                  <a:srgbClr val="818181"/>
                </a:solidFill>
                <a:latin typeface="Arial"/>
              </a:rPr>
              <a:t>John Murphy, Technical Analysis of the Financial Markets (NYIF, 1999)</a:t>
            </a:r>
          </a:p>
        </p:txBody>
      </p:sp>
      <p:sp>
        <p:nvSpPr>
          <p:cNvPr id="7" name="TextBox 6"/>
          <p:cNvSpPr txBox="1"/>
          <p:nvPr/>
        </p:nvSpPr>
        <p:spPr>
          <a:xfrm>
            <a:off x="777240" y="3404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Charting is the main tool, and the target is future price trends.</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17 of 30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6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Information, and the first definition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Why is publicly available information usually of limited forecasting value?</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Those with non-public material information have already moved the market</a:t>
            </a:r>
          </a:p>
          <a:p>
            <a:pPr algn="l">
              <a:lnSpc>
                <a:spcPct val="112000"/>
              </a:lnSpc>
              <a:spcBef>
                <a:spcPts val="0"/>
              </a:spcBef>
              <a:spcAft>
                <a:spcPts val="900"/>
              </a:spcAft>
            </a:pPr>
            <a:r>
              <a:rPr sz="1500" b="0" i="0">
                <a:solidFill>
                  <a:srgbClr val="FFFFFF"/>
                </a:solidFill>
                <a:latin typeface="Arial"/>
              </a:rPr>
              <a:t>B.  It is difficult to find</a:t>
            </a:r>
          </a:p>
          <a:p>
            <a:pPr algn="l">
              <a:lnSpc>
                <a:spcPct val="112000"/>
              </a:lnSpc>
              <a:spcBef>
                <a:spcPts val="0"/>
              </a:spcBef>
              <a:spcAft>
                <a:spcPts val="900"/>
              </a:spcAft>
            </a:pPr>
            <a:r>
              <a:rPr sz="1500" b="0" i="0">
                <a:solidFill>
                  <a:srgbClr val="FFFFFF"/>
                </a:solidFill>
                <a:latin typeface="Arial"/>
              </a:rPr>
              <a:t>C.  It is always inaccurate</a:t>
            </a:r>
          </a:p>
          <a:p>
            <a:pPr algn="l">
              <a:lnSpc>
                <a:spcPct val="112000"/>
              </a:lnSpc>
              <a:spcBef>
                <a:spcPts val="0"/>
              </a:spcBef>
              <a:spcAft>
                <a:spcPts val="900"/>
              </a:spcAft>
            </a:pPr>
            <a:r>
              <a:rPr sz="1500" b="0" i="0">
                <a:solidFill>
                  <a:srgbClr val="FFFFFF"/>
                </a:solidFill>
                <a:latin typeface="Arial"/>
              </a:rPr>
              <a:t>D.  It cannot be plotted on a chart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Murphy's definition identifies the main tool of technical analysis as: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Financial statements</a:t>
            </a:r>
          </a:p>
          <a:p>
            <a:pPr algn="l">
              <a:lnSpc>
                <a:spcPct val="112000"/>
              </a:lnSpc>
              <a:spcBef>
                <a:spcPts val="0"/>
              </a:spcBef>
              <a:spcAft>
                <a:spcPts val="900"/>
              </a:spcAft>
            </a:pPr>
            <a:r>
              <a:rPr sz="1500" b="0" i="0">
                <a:solidFill>
                  <a:srgbClr val="FFFFFF"/>
                </a:solidFill>
                <a:latin typeface="Arial"/>
              </a:rPr>
              <a:t>B.  Polls and surveys</a:t>
            </a:r>
          </a:p>
          <a:p>
            <a:pPr algn="l">
              <a:lnSpc>
                <a:spcPct val="112000"/>
              </a:lnSpc>
              <a:spcBef>
                <a:spcPts val="0"/>
              </a:spcBef>
              <a:spcAft>
                <a:spcPts val="900"/>
              </a:spcAft>
            </a:pPr>
            <a:r>
              <a:rPr sz="1500" b="0" i="0">
                <a:solidFill>
                  <a:srgbClr val="FFFFFF"/>
                </a:solidFill>
                <a:latin typeface="Arial"/>
              </a:rPr>
              <a:t>C.  Regression models</a:t>
            </a:r>
          </a:p>
          <a:p>
            <a:pPr algn="l">
              <a:lnSpc>
                <a:spcPct val="112000"/>
              </a:lnSpc>
              <a:spcBef>
                <a:spcPts val="0"/>
              </a:spcBef>
              <a:spcAft>
                <a:spcPts val="900"/>
              </a:spcAft>
            </a:pPr>
            <a:r>
              <a:rPr sz="1500" b="0" i="0">
                <a:solidFill>
                  <a:srgbClr val="FFFFFF"/>
                </a:solidFill>
                <a:latin typeface="Arial"/>
              </a:rPr>
              <a:t>D.  Charts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Forecasting  |  Check 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Information, and the first definition</a:t>
            </a:r>
          </a:p>
        </p:txBody>
      </p:sp>
      <p:sp>
        <p:nvSpPr>
          <p:cNvPr id="6" name="Rectangle 5"/>
          <p:cNvSpPr/>
          <p:nvPr/>
        </p:nvSpPr>
        <p:spPr>
          <a:xfrm>
            <a:off x="777240" y="1207008"/>
            <a:ext cx="10637215" cy="192023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2023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Why is publicly available information usually of limited forecasting value?</a:t>
            </a:r>
          </a:p>
        </p:txBody>
      </p:sp>
      <p:sp>
        <p:nvSpPr>
          <p:cNvPr id="9" name="TextBox 8"/>
          <p:cNvSpPr txBox="1"/>
          <p:nvPr/>
        </p:nvSpPr>
        <p:spPr>
          <a:xfrm>
            <a:off x="1143000" y="1934464"/>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Those with non-public material information have already moved the market</a:t>
            </a:r>
          </a:p>
          <a:p>
            <a:pPr algn="l">
              <a:lnSpc>
                <a:spcPct val="115000"/>
              </a:lnSpc>
              <a:spcBef>
                <a:spcPts val="700"/>
              </a:spcBef>
              <a:spcAft>
                <a:spcPts val="0"/>
              </a:spcAft>
            </a:pPr>
            <a:r>
              <a:rPr sz="1600" b="0" i="0">
                <a:solidFill>
                  <a:srgbClr val="1A1A1A"/>
                </a:solidFill>
                <a:latin typeface="Arial"/>
              </a:rPr>
              <a:t>By the time news is public, the substantial move has usually already happened.</a:t>
            </a:r>
          </a:p>
        </p:txBody>
      </p:sp>
      <p:sp>
        <p:nvSpPr>
          <p:cNvPr id="10" name="Rectangle 9"/>
          <p:cNvSpPr/>
          <p:nvPr/>
        </p:nvSpPr>
        <p:spPr>
          <a:xfrm>
            <a:off x="777240" y="3374135"/>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74135"/>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611879"/>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Murphy's definition identifies the main tool of technical analysis as:</a:t>
            </a:r>
          </a:p>
        </p:txBody>
      </p:sp>
      <p:sp>
        <p:nvSpPr>
          <p:cNvPr id="13" name="TextBox 12"/>
          <p:cNvSpPr txBox="1"/>
          <p:nvPr/>
        </p:nvSpPr>
        <p:spPr>
          <a:xfrm>
            <a:off x="1143000" y="4101591"/>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Charts</a:t>
            </a:r>
          </a:p>
          <a:p>
            <a:pPr algn="l">
              <a:lnSpc>
                <a:spcPct val="115000"/>
              </a:lnSpc>
              <a:spcBef>
                <a:spcPts val="700"/>
              </a:spcBef>
              <a:spcAft>
                <a:spcPts val="0"/>
              </a:spcAft>
            </a:pPr>
            <a:r>
              <a:rPr sz="1600" b="0" i="0">
                <a:solidFill>
                  <a:srgbClr val="1A1A1A"/>
                </a:solidFill>
                <a:latin typeface="Arial"/>
              </a:rPr>
              <a:t>Murphy defines it as the study of market action primarily through the use of charts.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Check 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713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713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"Technical analysis is the science of recording, usually in graphic form, the actual history of trading ... then deducing from that pictured history the probable future trend."</a:t>
            </a:r>
          </a:p>
          <a:p>
            <a:pPr algn="l">
              <a:lnSpc>
                <a:spcPct val="100000"/>
              </a:lnSpc>
              <a:spcBef>
                <a:spcPts val="1400"/>
              </a:spcBef>
              <a:spcAft>
                <a:spcPts val="0"/>
              </a:spcAft>
            </a:pPr>
            <a:r>
              <a:rPr sz="1400" b="0" i="0">
                <a:solidFill>
                  <a:srgbClr val="818181"/>
                </a:solidFill>
                <a:latin typeface="Arial"/>
              </a:rPr>
              <a:t>Edwards and Magee, Technical Analysis of Stock Trends (AMACOM, 2007)</a:t>
            </a:r>
          </a:p>
        </p:txBody>
      </p:sp>
      <p:sp>
        <p:nvSpPr>
          <p:cNvPr id="7" name="TextBox 6"/>
          <p:cNvSpPr txBox="1"/>
          <p:nvPr/>
        </p:nvSpPr>
        <p:spPr>
          <a:xfrm>
            <a:off x="777240" y="3404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Past information, recorded as a picture, is what the forecast is built from.</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18 of 30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"It refers to the study of the action of the market itself as opposed to the study of the goods in which the market deals."</a:t>
            </a:r>
          </a:p>
          <a:p>
            <a:pPr algn="l">
              <a:lnSpc>
                <a:spcPct val="100000"/>
              </a:lnSpc>
              <a:spcBef>
                <a:spcPts val="1400"/>
              </a:spcBef>
              <a:spcAft>
                <a:spcPts val="0"/>
              </a:spcAft>
            </a:pPr>
            <a:r>
              <a:rPr sz="1400" b="0" i="0">
                <a:solidFill>
                  <a:srgbClr val="818181"/>
                </a:solidFill>
                <a:latin typeface="Arial"/>
              </a:rPr>
              <a:t>Edwards and Magee, Technical Analysis of Stock Trends (AMACOM, 2007)</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You study the market, not the product the market trades.</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19 of 30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2094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2094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"The art of technical analysis, for it is an art, is to identify a trend reversal at a relatively early stage and ride on that trend until the weight of the evidence shows or proves that the trend has reversed."</a:t>
            </a:r>
          </a:p>
          <a:p>
            <a:pPr algn="l">
              <a:lnSpc>
                <a:spcPct val="100000"/>
              </a:lnSpc>
              <a:spcBef>
                <a:spcPts val="1400"/>
              </a:spcBef>
              <a:spcAft>
                <a:spcPts val="0"/>
              </a:spcAft>
            </a:pPr>
            <a:r>
              <a:rPr sz="1400" b="0" i="0">
                <a:solidFill>
                  <a:srgbClr val="818181"/>
                </a:solidFill>
                <a:latin typeface="Arial"/>
              </a:rPr>
              <a:t>Martin Pring, Technical Analysis Explained, 4th Edition (McGraw-Hill, 2002)</a:t>
            </a:r>
          </a:p>
        </p:txBody>
      </p:sp>
      <p:sp>
        <p:nvSpPr>
          <p:cNvPr id="7" name="TextBox 6"/>
          <p:cNvSpPr txBox="1"/>
          <p:nvPr/>
        </p:nvSpPr>
        <p:spPr>
          <a:xfrm>
            <a:off x="777240" y="3785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The goal is to catch a reversal early, and then to stay until the evidence turns.</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20 of 30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7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Three definitions in a row</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definition draws the line between studying the market and studying the goods the market deals in?</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Murphy</a:t>
            </a:r>
          </a:p>
          <a:p>
            <a:pPr algn="l">
              <a:lnSpc>
                <a:spcPct val="112000"/>
              </a:lnSpc>
              <a:spcBef>
                <a:spcPts val="0"/>
              </a:spcBef>
              <a:spcAft>
                <a:spcPts val="900"/>
              </a:spcAft>
            </a:pPr>
            <a:r>
              <a:rPr sz="1500" b="0" i="0">
                <a:solidFill>
                  <a:srgbClr val="FFFFFF"/>
                </a:solidFill>
                <a:latin typeface="Arial"/>
              </a:rPr>
              <a:t>B.  Pring</a:t>
            </a:r>
          </a:p>
          <a:p>
            <a:pPr algn="l">
              <a:lnSpc>
                <a:spcPct val="112000"/>
              </a:lnSpc>
              <a:spcBef>
                <a:spcPts val="0"/>
              </a:spcBef>
              <a:spcAft>
                <a:spcPts val="900"/>
              </a:spcAft>
            </a:pPr>
            <a:r>
              <a:rPr sz="1500" b="0" i="0">
                <a:solidFill>
                  <a:srgbClr val="FFFFFF"/>
                </a:solidFill>
                <a:latin typeface="Arial"/>
              </a:rPr>
              <a:t>C.  Lim</a:t>
            </a:r>
          </a:p>
          <a:p>
            <a:pPr algn="l">
              <a:lnSpc>
                <a:spcPct val="112000"/>
              </a:lnSpc>
              <a:spcBef>
                <a:spcPts val="0"/>
              </a:spcBef>
              <a:spcAft>
                <a:spcPts val="900"/>
              </a:spcAft>
            </a:pPr>
            <a:r>
              <a:rPr sz="1500" b="0" i="0">
                <a:solidFill>
                  <a:srgbClr val="FFFFFF"/>
                </a:solidFill>
                <a:latin typeface="Arial"/>
              </a:rPr>
              <a:t>D.  Edwards and Magee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Pring describes the art of technical analysis as identifying:</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intrinsic value of a stock</a:t>
            </a:r>
          </a:p>
          <a:p>
            <a:pPr algn="l">
              <a:lnSpc>
                <a:spcPct val="112000"/>
              </a:lnSpc>
              <a:spcBef>
                <a:spcPts val="0"/>
              </a:spcBef>
              <a:spcAft>
                <a:spcPts val="900"/>
              </a:spcAft>
            </a:pPr>
            <a:r>
              <a:rPr sz="1500" b="0" i="0">
                <a:solidFill>
                  <a:srgbClr val="FFFFFF"/>
                </a:solidFill>
                <a:latin typeface="Arial"/>
              </a:rPr>
              <a:t>B.  The exact top of a market</a:t>
            </a:r>
          </a:p>
          <a:p>
            <a:pPr algn="l">
              <a:lnSpc>
                <a:spcPct val="112000"/>
              </a:lnSpc>
              <a:spcBef>
                <a:spcPts val="0"/>
              </a:spcBef>
              <a:spcAft>
                <a:spcPts val="900"/>
              </a:spcAft>
            </a:pPr>
            <a:r>
              <a:rPr sz="1500" b="0" i="0">
                <a:solidFill>
                  <a:srgbClr val="FFFFFF"/>
                </a:solidFill>
                <a:latin typeface="Arial"/>
              </a:rPr>
              <a:t>C.  A trend reversal at a relatively early stage</a:t>
            </a:r>
          </a:p>
          <a:p>
            <a:pPr algn="l">
              <a:lnSpc>
                <a:spcPct val="112000"/>
              </a:lnSpc>
              <a:spcBef>
                <a:spcPts val="0"/>
              </a:spcBef>
              <a:spcAft>
                <a:spcPts val="900"/>
              </a:spcAft>
            </a:pPr>
            <a:r>
              <a:rPr sz="1500" b="0" i="0">
                <a:solidFill>
                  <a:srgbClr val="FFFFFF"/>
                </a:solidFill>
                <a:latin typeface="Arial"/>
              </a:rPr>
              <a:t>D.  The cause of a price move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Forecasting  |  Check 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Three definitions in a row</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definition draws the line between studying the market and studying the goods the market deals in?</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Edwards and Magee</a:t>
            </a:r>
          </a:p>
          <a:p>
            <a:pPr algn="l">
              <a:lnSpc>
                <a:spcPct val="115000"/>
              </a:lnSpc>
              <a:spcBef>
                <a:spcPts val="700"/>
              </a:spcBef>
              <a:spcAft>
                <a:spcPts val="0"/>
              </a:spcAft>
            </a:pPr>
            <a:r>
              <a:rPr sz="1600" b="0" i="0">
                <a:solidFill>
                  <a:srgbClr val="1A1A1A"/>
                </a:solidFill>
                <a:latin typeface="Arial"/>
              </a:rPr>
              <a:t>That line is Edwards and Magee's, from Technical Analysis of Stock Trends.</a:t>
            </a:r>
          </a:p>
        </p:txBody>
      </p:sp>
      <p:sp>
        <p:nvSpPr>
          <p:cNvPr id="10" name="Rectangle 9"/>
          <p:cNvSpPr/>
          <p:nvPr/>
        </p:nvSpPr>
        <p:spPr>
          <a:xfrm>
            <a:off x="777240" y="331571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Pring describes the art of technical analysis as identifying:</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trend reversal at a relatively early stage</a:t>
            </a:r>
          </a:p>
          <a:p>
            <a:pPr algn="l">
              <a:lnSpc>
                <a:spcPct val="115000"/>
              </a:lnSpc>
              <a:spcBef>
                <a:spcPts val="700"/>
              </a:spcBef>
              <a:spcAft>
                <a:spcPts val="0"/>
              </a:spcAft>
            </a:pPr>
            <a:r>
              <a:rPr sz="1600" b="0" i="0">
                <a:solidFill>
                  <a:srgbClr val="1A1A1A"/>
                </a:solidFill>
                <a:latin typeface="Arial"/>
              </a:rPr>
              <a:t>Pring's phrasing is to identify a trend reversal at a relatively early stage and ride the trend.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Check 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"Technical analysis deals in probabilities, never in certainties."</a:t>
            </a:r>
          </a:p>
          <a:p>
            <a:pPr algn="l">
              <a:lnSpc>
                <a:spcPct val="100000"/>
              </a:lnSpc>
              <a:spcBef>
                <a:spcPts val="1400"/>
              </a:spcBef>
              <a:spcAft>
                <a:spcPts val="0"/>
              </a:spcAft>
            </a:pPr>
            <a:r>
              <a:rPr sz="1400" b="0" i="0">
                <a:solidFill>
                  <a:srgbClr val="818181"/>
                </a:solidFill>
                <a:latin typeface="Arial"/>
              </a:rPr>
              <a:t>Martin Pring, Technical Analysis Explained, 4th Edition (McGraw-Hill, 2002)</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This is the definition that keeps you solvent. Weigh risk against return, every time.</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21 of 30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"Technical analysis is based on the assumption that people will continue to make the same mistakes they have made in the past."</a:t>
            </a:r>
          </a:p>
          <a:p>
            <a:pPr algn="l">
              <a:lnSpc>
                <a:spcPct val="100000"/>
              </a:lnSpc>
              <a:spcBef>
                <a:spcPts val="1400"/>
              </a:spcBef>
              <a:spcAft>
                <a:spcPts val="0"/>
              </a:spcAft>
            </a:pPr>
            <a:r>
              <a:rPr sz="1400" b="0" i="0">
                <a:solidFill>
                  <a:srgbClr val="818181"/>
                </a:solidFill>
                <a:latin typeface="Arial"/>
              </a:rPr>
              <a:t>Martin Pring, Technical Analysis Explained, 4th Edition (McGraw-Hill, 2002)</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This is the behavioral reason the whole subject works at all.</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22 of 30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"Market price tends to lead the known fundamentals ... Market price acts as a leading indicator of the fundamentals."</a:t>
            </a:r>
          </a:p>
          <a:p>
            <a:pPr algn="l">
              <a:lnSpc>
                <a:spcPct val="100000"/>
              </a:lnSpc>
              <a:spcBef>
                <a:spcPts val="1400"/>
              </a:spcBef>
              <a:spcAft>
                <a:spcPts val="0"/>
              </a:spcAft>
            </a:pPr>
            <a:r>
              <a:rPr sz="1400" b="0" i="0">
                <a:solidFill>
                  <a:srgbClr val="818181"/>
                </a:solidFill>
                <a:latin typeface="Arial"/>
              </a:rPr>
              <a:t>John Murphy, Technical Analysis of the Financial Markets (NYIF, 1999)</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Price often moves before the news explains why. That is the timing advantage.</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23 of 30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technically based timing gives you</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24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Precise entry and exit prices, and the precise time of entry and exit.</a:t>
            </a:r>
          </a:p>
          <a:p>
            <a:pPr algn="l">
              <a:lnSpc>
                <a:spcPct val="118000"/>
              </a:lnSpc>
              <a:spcBef>
                <a:spcPts val="0"/>
              </a:spcBef>
              <a:spcAft>
                <a:spcPts val="1300"/>
              </a:spcAft>
            </a:pPr>
            <a:r>
              <a:rPr sz="2100" b="0" i="0">
                <a:solidFill>
                  <a:srgbClr val="1A1A1A"/>
                </a:solidFill>
                <a:latin typeface="Arial"/>
              </a:rPr>
              <a:t>Real time bullish and bearish signals, and real time price triggers.</a:t>
            </a:r>
          </a:p>
          <a:p>
            <a:pPr algn="l">
              <a:lnSpc>
                <a:spcPct val="118000"/>
              </a:lnSpc>
              <a:spcBef>
                <a:spcPts val="0"/>
              </a:spcBef>
              <a:spcAft>
                <a:spcPts val="1300"/>
              </a:spcAft>
            </a:pPr>
            <a:r>
              <a:rPr sz="2100" b="0" i="0">
                <a:solidFill>
                  <a:srgbClr val="1A1A1A"/>
                </a:solidFill>
                <a:latin typeface="Arial"/>
              </a:rPr>
              <a:t>The ability to scale in and out at significant price levels.</a:t>
            </a:r>
          </a:p>
          <a:p>
            <a:pPr algn="l">
              <a:lnSpc>
                <a:spcPct val="118000"/>
              </a:lnSpc>
              <a:spcBef>
                <a:spcPts val="0"/>
              </a:spcBef>
              <a:spcAft>
                <a:spcPts val="1300"/>
              </a:spcAft>
            </a:pPr>
            <a:r>
              <a:rPr sz="2100" b="0" i="0">
                <a:solidFill>
                  <a:srgbClr val="1A1A1A"/>
                </a:solidFill>
                <a:latin typeface="Arial"/>
              </a:rPr>
              <a:t>Entries and exits timed to volatility behavior and to market order flow.</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Notice how many of these contain the word precise.</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 precise entry level is not a predicted reversal price. It says where you will act, not where the market will turn.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technically based timing gives you,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25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Exit an extended trend at a technically significant reversal level.</a:t>
            </a:r>
          </a:p>
          <a:p>
            <a:pPr algn="l">
              <a:lnSpc>
                <a:spcPct val="118000"/>
              </a:lnSpc>
              <a:spcBef>
                <a:spcPts val="0"/>
              </a:spcBef>
              <a:spcAft>
                <a:spcPts val="1300"/>
              </a:spcAft>
            </a:pPr>
            <a:r>
              <a:rPr sz="2100" b="0" i="0">
                <a:solidFill>
                  <a:srgbClr val="1A1A1A"/>
                </a:solidFill>
                <a:latin typeface="Arial"/>
              </a:rPr>
              <a:t>Define risk as a percentage, in terms of real price levels.</a:t>
            </a:r>
          </a:p>
          <a:p>
            <a:pPr algn="l">
              <a:lnSpc>
                <a:spcPct val="118000"/>
              </a:lnSpc>
              <a:spcBef>
                <a:spcPts val="0"/>
              </a:spcBef>
              <a:spcAft>
                <a:spcPts val="1300"/>
              </a:spcAft>
            </a:pPr>
            <a:r>
              <a:rPr sz="2100" b="0" i="0">
                <a:solidFill>
                  <a:srgbClr val="1A1A1A"/>
                </a:solidFill>
                <a:latin typeface="Arial"/>
              </a:rPr>
              <a:t>Use volume and open interest to gauge the strength of a move.</a:t>
            </a:r>
          </a:p>
          <a:p>
            <a:pPr algn="l">
              <a:lnSpc>
                <a:spcPct val="118000"/>
              </a:lnSpc>
              <a:spcBef>
                <a:spcPts val="0"/>
              </a:spcBef>
              <a:spcAft>
                <a:spcPts val="1300"/>
              </a:spcAft>
            </a:pPr>
            <a:r>
              <a:rPr sz="2100" b="0" i="0">
                <a:solidFill>
                  <a:srgbClr val="1A1A1A"/>
                </a:solidFill>
                <a:latin typeface="Arial"/>
              </a:rPr>
              <a:t>Use market breadth and sentiment to gauge that strength more broadly.</a:t>
            </a:r>
          </a:p>
          <a:p>
            <a:pPr algn="l">
              <a:lnSpc>
                <a:spcPct val="118000"/>
              </a:lnSpc>
              <a:spcBef>
                <a:spcPts val="0"/>
              </a:spcBef>
              <a:spcAft>
                <a:spcPts val="1300"/>
              </a:spcAft>
            </a:pPr>
            <a:r>
              <a:rPr sz="2100" b="0" i="0">
                <a:solidFill>
                  <a:srgbClr val="1A1A1A"/>
                </a:solidFill>
                <a:latin typeface="Arial"/>
              </a:rPr>
              <a:t>Forecast peaks and troughs through cycle and seasonality analysis.</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 one of these is a technique we will build over the semester.</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fundamentally based timing gives you</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26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Undervalued stocks that could appreciate, with no precise price or time to go long.</a:t>
            </a:r>
          </a:p>
          <a:p>
            <a:pPr algn="l">
              <a:lnSpc>
                <a:spcPct val="118000"/>
              </a:lnSpc>
              <a:spcBef>
                <a:spcPts val="0"/>
              </a:spcBef>
              <a:spcAft>
                <a:spcPts val="1300"/>
              </a:spcAft>
            </a:pPr>
            <a:r>
              <a:rPr sz="2100" b="0" i="0">
                <a:solidFill>
                  <a:srgbClr val="1A1A1A"/>
                </a:solidFill>
                <a:latin typeface="Arial"/>
              </a:rPr>
              <a:t>Overvalued stocks that could depreciate, with no precise price or time to go short.</a:t>
            </a:r>
          </a:p>
          <a:p>
            <a:pPr algn="l">
              <a:lnSpc>
                <a:spcPct val="118000"/>
              </a:lnSpc>
              <a:spcBef>
                <a:spcPts val="0"/>
              </a:spcBef>
              <a:spcAft>
                <a:spcPts val="1300"/>
              </a:spcAft>
            </a:pPr>
            <a:r>
              <a:rPr sz="2100" b="0" i="0">
                <a:solidFill>
                  <a:srgbClr val="1A1A1A"/>
                </a:solidFill>
                <a:latin typeface="Arial"/>
              </a:rPr>
              <a:t>Fundamentally strong stocks to rotate into, again with no precise price or time.</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Read the ending of all three lines. The gap is always timing.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8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Timing, and who answers which question</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is offered by technically based market timing but not by fundamentally based market timing?</a:t>
            </a:r>
          </a:p>
        </p:txBody>
      </p:sp>
      <p:sp>
        <p:nvSpPr>
          <p:cNvPr id="9" name="TextBox 8"/>
          <p:cNvSpPr txBox="1"/>
          <p:nvPr/>
        </p:nvSpPr>
        <p:spPr>
          <a:xfrm>
            <a:off x="1051560" y="4264533"/>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Identifying an undervalued stock</a:t>
            </a:r>
          </a:p>
          <a:p>
            <a:pPr algn="l">
              <a:lnSpc>
                <a:spcPct val="112000"/>
              </a:lnSpc>
              <a:spcBef>
                <a:spcPts val="0"/>
              </a:spcBef>
              <a:spcAft>
                <a:spcPts val="900"/>
              </a:spcAft>
            </a:pPr>
            <a:r>
              <a:rPr sz="1500" b="0" i="0">
                <a:solidFill>
                  <a:srgbClr val="FFFFFF"/>
                </a:solidFill>
                <a:latin typeface="Arial"/>
              </a:rPr>
              <a:t>B.  An estimate of intrinsic value</a:t>
            </a:r>
          </a:p>
          <a:p>
            <a:pPr algn="l">
              <a:lnSpc>
                <a:spcPct val="112000"/>
              </a:lnSpc>
              <a:spcBef>
                <a:spcPts val="0"/>
              </a:spcBef>
              <a:spcAft>
                <a:spcPts val="900"/>
              </a:spcAft>
            </a:pPr>
            <a:r>
              <a:rPr sz="1500" b="0" i="0">
                <a:solidFill>
                  <a:srgbClr val="FFFFFF"/>
                </a:solidFill>
                <a:latin typeface="Arial"/>
              </a:rPr>
              <a:t>C.  A precise price and time of entry</a:t>
            </a:r>
          </a:p>
          <a:p>
            <a:pPr algn="l">
              <a:lnSpc>
                <a:spcPct val="112000"/>
              </a:lnSpc>
              <a:spcBef>
                <a:spcPts val="0"/>
              </a:spcBef>
              <a:spcAft>
                <a:spcPts val="900"/>
              </a:spcAft>
            </a:pPr>
            <a:r>
              <a:rPr sz="1500" b="0" i="0">
                <a:solidFill>
                  <a:srgbClr val="FFFFFF"/>
                </a:solidFill>
                <a:latin typeface="Arial"/>
              </a:rPr>
              <a:t>D.  A view on a company's debt level</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2326004"/>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Pick the accurate statements. I. A technical analyst is more concerned with effects than causes. II. A fundamentalist is mainly concerned with intrinsic value. III. A technical analyst usually cannot determine intrinsic value. IV. A fundamentalist can tell you the most advantageous moment to enter.</a:t>
            </a:r>
          </a:p>
        </p:txBody>
      </p:sp>
      <p:sp>
        <p:nvSpPr>
          <p:cNvPr id="13" name="TextBox 12"/>
          <p:cNvSpPr txBox="1"/>
          <p:nvPr/>
        </p:nvSpPr>
        <p:spPr>
          <a:xfrm>
            <a:off x="6690207" y="4264533"/>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I, II, and III are correct</a:t>
            </a:r>
          </a:p>
          <a:p>
            <a:pPr algn="l">
              <a:lnSpc>
                <a:spcPct val="112000"/>
              </a:lnSpc>
              <a:spcBef>
                <a:spcPts val="0"/>
              </a:spcBef>
              <a:spcAft>
                <a:spcPts val="900"/>
              </a:spcAft>
            </a:pPr>
            <a:r>
              <a:rPr sz="1500" b="0" i="0">
                <a:solidFill>
                  <a:srgbClr val="FFFFFF"/>
                </a:solidFill>
                <a:latin typeface="Arial"/>
              </a:rPr>
              <a:t>B.  Only I and II are correct</a:t>
            </a:r>
          </a:p>
          <a:p>
            <a:pPr algn="l">
              <a:lnSpc>
                <a:spcPct val="112000"/>
              </a:lnSpc>
              <a:spcBef>
                <a:spcPts val="0"/>
              </a:spcBef>
              <a:spcAft>
                <a:spcPts val="900"/>
              </a:spcAft>
            </a:pPr>
            <a:r>
              <a:rPr sz="1500" b="0" i="0">
                <a:solidFill>
                  <a:srgbClr val="FFFFFF"/>
                </a:solidFill>
                <a:latin typeface="Arial"/>
              </a:rPr>
              <a:t>C.  Only II and IV are correct</a:t>
            </a:r>
          </a:p>
          <a:p>
            <a:pPr algn="l">
              <a:lnSpc>
                <a:spcPct val="112000"/>
              </a:lnSpc>
              <a:spcBef>
                <a:spcPts val="0"/>
              </a:spcBef>
              <a:spcAft>
                <a:spcPts val="900"/>
              </a:spcAft>
            </a:pPr>
            <a:r>
              <a:rPr sz="1500" b="0" i="0">
                <a:solidFill>
                  <a:srgbClr val="FFFFFF"/>
                </a:solidFill>
                <a:latin typeface="Arial"/>
              </a:rPr>
              <a:t>D.  All are correct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Forecasting  |  Check 8</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Timing, and who answers which question</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is offered by technically based market timing but not by fundamentally based market timing?</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 precise price and time of entry</a:t>
            </a:r>
          </a:p>
          <a:p>
            <a:pPr algn="l">
              <a:lnSpc>
                <a:spcPct val="115000"/>
              </a:lnSpc>
              <a:spcBef>
                <a:spcPts val="700"/>
              </a:spcBef>
              <a:spcAft>
                <a:spcPts val="0"/>
              </a:spcAft>
            </a:pPr>
            <a:r>
              <a:rPr sz="1600" b="0" i="0">
                <a:solidFill>
                  <a:srgbClr val="1A1A1A"/>
                </a:solidFill>
                <a:latin typeface="Arial"/>
              </a:rPr>
              <a:t>Precise entry and exit price and time is exactly what fundamental timing lacks.</a:t>
            </a:r>
          </a:p>
        </p:txBody>
      </p:sp>
      <p:sp>
        <p:nvSpPr>
          <p:cNvPr id="10" name="Rectangle 9"/>
          <p:cNvSpPr/>
          <p:nvPr/>
        </p:nvSpPr>
        <p:spPr>
          <a:xfrm>
            <a:off x="777240" y="3315716"/>
            <a:ext cx="10637215" cy="232918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32918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102616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Pick the accurate statements. I. A technical analyst is more concerned with effects than causes. II. A fundamentalist is mainly concerned with intrinsic value. III. A technical analyst usually cannot determine intrinsic value. IV. A fundamentalist can tell you the most advantageous moment to enter.</a:t>
            </a:r>
          </a:p>
        </p:txBody>
      </p:sp>
      <p:sp>
        <p:nvSpPr>
          <p:cNvPr id="13" name="TextBox 12"/>
          <p:cNvSpPr txBox="1"/>
          <p:nvPr/>
        </p:nvSpPr>
        <p:spPr>
          <a:xfrm>
            <a:off x="1143000" y="474421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Only I, II, and III are correct</a:t>
            </a:r>
          </a:p>
          <a:p>
            <a:pPr algn="l">
              <a:lnSpc>
                <a:spcPct val="115000"/>
              </a:lnSpc>
              <a:spcBef>
                <a:spcPts val="700"/>
              </a:spcBef>
              <a:spcAft>
                <a:spcPts val="0"/>
              </a:spcAft>
            </a:pPr>
            <a:r>
              <a:rPr sz="1600" b="0" i="0">
                <a:solidFill>
                  <a:srgbClr val="1A1A1A"/>
                </a:solidFill>
                <a:latin typeface="Arial"/>
              </a:rPr>
              <a:t>Statement IV is false: the fundamentalist can tell you which company, not the best moment.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Check 8</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fundamentalist, in four 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27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Mainly concerned with intrinsic value.</a:t>
            </a:r>
          </a:p>
          <a:p>
            <a:pPr algn="l">
              <a:lnSpc>
                <a:spcPct val="118000"/>
              </a:lnSpc>
              <a:spcBef>
                <a:spcPts val="0"/>
              </a:spcBef>
              <a:spcAft>
                <a:spcPts val="1300"/>
              </a:spcAft>
            </a:pPr>
            <a:r>
              <a:rPr sz="2100" b="0" i="0">
                <a:solidFill>
                  <a:srgbClr val="1A1A1A"/>
                </a:solidFill>
                <a:latin typeface="Arial"/>
              </a:rPr>
              <a:t>Strives to understand the underlying cause of a market move.</a:t>
            </a:r>
          </a:p>
          <a:p>
            <a:pPr algn="l">
              <a:lnSpc>
                <a:spcPct val="118000"/>
              </a:lnSpc>
              <a:spcBef>
                <a:spcPts val="0"/>
              </a:spcBef>
              <a:spcAft>
                <a:spcPts val="1300"/>
              </a:spcAft>
            </a:pPr>
            <a:r>
              <a:rPr sz="2100" b="0" i="0">
                <a:solidFill>
                  <a:srgbClr val="1A1A1A"/>
                </a:solidFill>
                <a:latin typeface="Arial"/>
              </a:rPr>
              <a:t>Focused on which company to participate in.</a:t>
            </a:r>
          </a:p>
          <a:p>
            <a:pPr algn="l">
              <a:lnSpc>
                <a:spcPct val="118000"/>
              </a:lnSpc>
              <a:spcBef>
                <a:spcPts val="0"/>
              </a:spcBef>
              <a:spcAft>
                <a:spcPts val="1300"/>
              </a:spcAft>
            </a:pPr>
            <a:r>
              <a:rPr sz="2100" b="0" i="0">
                <a:solidFill>
                  <a:srgbClr val="1A1A1A"/>
                </a:solidFill>
                <a:latin typeface="Arial"/>
              </a:rPr>
              <a:t>Can tell you which company to buy, but not the best moment to start.</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Cause, company, value.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technical analyst, in four 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28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Mainly concerned with the structure and dynamics of price and market action.</a:t>
            </a:r>
          </a:p>
          <a:p>
            <a:pPr algn="l">
              <a:lnSpc>
                <a:spcPct val="118000"/>
              </a:lnSpc>
              <a:spcBef>
                <a:spcPts val="0"/>
              </a:spcBef>
              <a:spcAft>
                <a:spcPts val="1300"/>
              </a:spcAft>
            </a:pPr>
            <a:r>
              <a:rPr sz="2100" b="0" i="0">
                <a:solidFill>
                  <a:srgbClr val="1A1A1A"/>
                </a:solidFill>
                <a:latin typeface="Arial"/>
              </a:rPr>
              <a:t>More concerned with the effects of a move than with its cause.</a:t>
            </a:r>
          </a:p>
          <a:p>
            <a:pPr algn="l">
              <a:lnSpc>
                <a:spcPct val="118000"/>
              </a:lnSpc>
              <a:spcBef>
                <a:spcPts val="0"/>
              </a:spcBef>
              <a:spcAft>
                <a:spcPts val="1300"/>
              </a:spcAft>
            </a:pPr>
            <a:r>
              <a:rPr sz="2100" b="0" i="0">
                <a:solidFill>
                  <a:srgbClr val="1A1A1A"/>
                </a:solidFill>
                <a:latin typeface="Arial"/>
              </a:rPr>
              <a:t>Usually cannot determine intrinsic value or whether a stock is under or overvalued.</a:t>
            </a:r>
          </a:p>
          <a:p>
            <a:pPr algn="l">
              <a:lnSpc>
                <a:spcPct val="118000"/>
              </a:lnSpc>
              <a:spcBef>
                <a:spcPts val="0"/>
              </a:spcBef>
              <a:spcAft>
                <a:spcPts val="1300"/>
              </a:spcAft>
            </a:pPr>
            <a:r>
              <a:rPr sz="2100" b="0" i="0">
                <a:solidFill>
                  <a:srgbClr val="1A1A1A"/>
                </a:solidFill>
                <a:latin typeface="Arial"/>
              </a:rPr>
              <a:t>Can determine precisely when to start, purely from price performance.</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Effect, price, timing.</a:t>
            </a:r>
          </a:p>
        </p:txBody>
      </p:sp>
      <p:sp>
        <p:nvSpPr>
          <p:cNvPr id="10" name="TextBox 9"/>
          <p:cNvSpPr txBox="1"/>
          <p:nvPr/>
        </p:nvSpPr>
        <p:spPr>
          <a:xfrm>
            <a:off x="777240" y="528726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Neither column is complete on its own. Most professionals use both.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six streams of market action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29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action, and volume action.</a:t>
            </a:r>
          </a:p>
          <a:p>
            <a:pPr algn="l">
              <a:lnSpc>
                <a:spcPct val="118000"/>
              </a:lnSpc>
              <a:spcBef>
                <a:spcPts val="0"/>
              </a:spcBef>
              <a:spcAft>
                <a:spcPts val="1300"/>
              </a:spcAft>
            </a:pPr>
            <a:r>
              <a:rPr sz="2100" b="0" i="0">
                <a:solidFill>
                  <a:srgbClr val="1A1A1A"/>
                </a:solidFill>
                <a:latin typeface="Arial"/>
              </a:rPr>
              <a:t>Open interest action.</a:t>
            </a:r>
          </a:p>
          <a:p>
            <a:pPr algn="l">
              <a:lnSpc>
                <a:spcPct val="118000"/>
              </a:lnSpc>
              <a:spcBef>
                <a:spcPts val="0"/>
              </a:spcBef>
              <a:spcAft>
                <a:spcPts val="1300"/>
              </a:spcAft>
            </a:pPr>
            <a:r>
              <a:rPr sz="2100" b="0" i="0">
                <a:solidFill>
                  <a:srgbClr val="1A1A1A"/>
                </a:solidFill>
                <a:latin typeface="Arial"/>
              </a:rPr>
              <a:t>Sentiment, and market breadth.</a:t>
            </a:r>
          </a:p>
          <a:p>
            <a:pPr algn="l">
              <a:lnSpc>
                <a:spcPct val="118000"/>
              </a:lnSpc>
              <a:spcBef>
                <a:spcPts val="0"/>
              </a:spcBef>
              <a:spcAft>
                <a:spcPts val="1300"/>
              </a:spcAft>
            </a:pPr>
            <a:r>
              <a:rPr sz="2100" b="0" i="0">
                <a:solidFill>
                  <a:srgbClr val="1A1A1A"/>
                </a:solidFill>
                <a:latin typeface="Arial"/>
              </a:rPr>
              <a:t>Flow of funds.</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Price is the most important, followed closely by volume.</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Flow of funds includes things like margin debt. The department has quizzed exactly that.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OHLC</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four numbers that describe any single bar on a chart: where it opened, its high, its low, and where it closed.</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daily bar for Globe: opened 1,800, high 1,845, low 1,792, closed 1,838.</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OHLC denotes the opening, high, low, and closing prices of a bar over any chosen interval, from one minute to one year.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30 of 30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9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Market action and its data</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Flow of funds analysis involves the study of:</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Oscillators</a:t>
            </a:r>
          </a:p>
          <a:p>
            <a:pPr algn="l">
              <a:lnSpc>
                <a:spcPct val="112000"/>
              </a:lnSpc>
              <a:spcBef>
                <a:spcPts val="0"/>
              </a:spcBef>
              <a:spcAft>
                <a:spcPts val="900"/>
              </a:spcAft>
            </a:pPr>
            <a:r>
              <a:rPr sz="1500" b="0" i="0">
                <a:solidFill>
                  <a:srgbClr val="FFFFFF"/>
                </a:solidFill>
                <a:latin typeface="Arial"/>
              </a:rPr>
              <a:t>B.  Linear regression</a:t>
            </a:r>
          </a:p>
          <a:p>
            <a:pPr algn="l">
              <a:lnSpc>
                <a:spcPct val="112000"/>
              </a:lnSpc>
              <a:spcBef>
                <a:spcPts val="0"/>
              </a:spcBef>
              <a:spcAft>
                <a:spcPts val="900"/>
              </a:spcAft>
            </a:pPr>
            <a:r>
              <a:rPr sz="1500" b="0" i="0">
                <a:solidFill>
                  <a:srgbClr val="FFFFFF"/>
                </a:solidFill>
                <a:latin typeface="Arial"/>
              </a:rPr>
              <a:t>C.  Point and figure charts</a:t>
            </a:r>
          </a:p>
          <a:p>
            <a:pPr algn="l">
              <a:lnSpc>
                <a:spcPct val="112000"/>
              </a:lnSpc>
              <a:spcBef>
                <a:spcPts val="0"/>
              </a:spcBef>
              <a:spcAft>
                <a:spcPts val="900"/>
              </a:spcAft>
            </a:pPr>
            <a:r>
              <a:rPr sz="1500" b="0" i="0">
                <a:solidFill>
                  <a:srgbClr val="FFFFFF"/>
                </a:solidFill>
                <a:latin typeface="Arial"/>
              </a:rPr>
              <a:t>D.  Margin debt</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Of all the data technical analysts use, the most important is: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Open interest</a:t>
            </a:r>
          </a:p>
          <a:p>
            <a:pPr algn="l">
              <a:lnSpc>
                <a:spcPct val="112000"/>
              </a:lnSpc>
              <a:spcBef>
                <a:spcPts val="0"/>
              </a:spcBef>
              <a:spcAft>
                <a:spcPts val="900"/>
              </a:spcAft>
            </a:pPr>
            <a:r>
              <a:rPr sz="1500" b="0" i="0">
                <a:solidFill>
                  <a:srgbClr val="FFFFFF"/>
                </a:solidFill>
                <a:latin typeface="Arial"/>
              </a:rPr>
              <a:t>B.  Sentiment</a:t>
            </a:r>
          </a:p>
          <a:p>
            <a:pPr algn="l">
              <a:lnSpc>
                <a:spcPct val="112000"/>
              </a:lnSpc>
              <a:spcBef>
                <a:spcPts val="0"/>
              </a:spcBef>
              <a:spcAft>
                <a:spcPts val="900"/>
              </a:spcAft>
            </a:pPr>
            <a:r>
              <a:rPr sz="1500" b="0" i="0">
                <a:solidFill>
                  <a:srgbClr val="FFFFFF"/>
                </a:solidFill>
                <a:latin typeface="Arial"/>
              </a:rPr>
              <a:t>C.  Price</a:t>
            </a:r>
          </a:p>
          <a:p>
            <a:pPr algn="l">
              <a:lnSpc>
                <a:spcPct val="112000"/>
              </a:lnSpc>
              <a:spcBef>
                <a:spcPts val="0"/>
              </a:spcBef>
              <a:spcAft>
                <a:spcPts val="900"/>
              </a:spcAft>
            </a:pPr>
            <a:r>
              <a:rPr sz="1500" b="0" i="0">
                <a:solidFill>
                  <a:srgbClr val="FFFFFF"/>
                </a:solidFill>
                <a:latin typeface="Arial"/>
              </a:rPr>
              <a:t>D.  Market breadth</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2 of 6 - Forecasting  |  Check 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Market action and its data</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Flow of funds analysis involves the study of:</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Margin debt</a:t>
            </a:r>
          </a:p>
          <a:p>
            <a:pPr algn="l">
              <a:lnSpc>
                <a:spcPct val="115000"/>
              </a:lnSpc>
              <a:spcBef>
                <a:spcPts val="700"/>
              </a:spcBef>
              <a:spcAft>
                <a:spcPts val="0"/>
              </a:spcAft>
            </a:pPr>
            <a:r>
              <a:rPr sz="1600" b="0" i="0">
                <a:solidFill>
                  <a:srgbClr val="1A1A1A"/>
                </a:solidFill>
                <a:latin typeface="Arial"/>
              </a:rPr>
              <a:t>Margin debt is a flow of funds measure; the other three are chart or statistical studies.</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Of all the data technical analysts use, the most important is: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Price</a:t>
            </a:r>
          </a:p>
          <a:p>
            <a:pPr algn="l">
              <a:lnSpc>
                <a:spcPct val="115000"/>
              </a:lnSpc>
              <a:spcBef>
                <a:spcPts val="700"/>
              </a:spcBef>
              <a:spcAft>
                <a:spcPts val="0"/>
              </a:spcAft>
            </a:pPr>
            <a:r>
              <a:rPr sz="1600" b="0" i="0">
                <a:solidFill>
                  <a:srgbClr val="1A1A1A"/>
                </a:solidFill>
                <a:latin typeface="Arial"/>
              </a:rPr>
              <a:t>Price is the most important, followed closely by volume action.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Check 9</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600" b="0" i="0">
                <a:solidFill>
                  <a:srgbClr val="1A1A1A"/>
                </a:solidFill>
                <a:latin typeface="Arial"/>
              </a:rPr>
              <a:t>▪  Fundamental, information and technical analysis</a:t>
            </a:r>
          </a:p>
          <a:p>
            <a:pPr algn="l" marL="237744" indent="-237744">
              <a:lnSpc>
                <a:spcPct val="112000"/>
              </a:lnSpc>
              <a:spcBef>
                <a:spcPts val="0"/>
              </a:spcBef>
              <a:spcAft>
                <a:spcPts val="1200"/>
              </a:spcAft>
            </a:pPr>
            <a:r>
              <a:rPr sz="1600" b="0" i="0">
                <a:solidFill>
                  <a:srgbClr val="1A1A1A"/>
                </a:solidFill>
                <a:latin typeface="Arial"/>
              </a:rPr>
              <a:t>▪  Intrinsic value</a:t>
            </a:r>
          </a:p>
          <a:p>
            <a:pPr algn="l" marL="237744" indent="-237744">
              <a:lnSpc>
                <a:spcPct val="112000"/>
              </a:lnSpc>
              <a:spcBef>
                <a:spcPts val="0"/>
              </a:spcBef>
              <a:spcAft>
                <a:spcPts val="1200"/>
              </a:spcAft>
            </a:pPr>
            <a:r>
              <a:rPr sz="1600" b="0" i="0">
                <a:solidFill>
                  <a:srgbClr val="1A1A1A"/>
                </a:solidFill>
                <a:latin typeface="Arial"/>
              </a:rPr>
              <a:t>▪  Undervalued and overvalued</a:t>
            </a:r>
          </a:p>
          <a:p>
            <a:pPr algn="l" marL="237744" indent="-237744">
              <a:lnSpc>
                <a:spcPct val="112000"/>
              </a:lnSpc>
              <a:spcBef>
                <a:spcPts val="0"/>
              </a:spcBef>
              <a:spcAft>
                <a:spcPts val="1200"/>
              </a:spcAft>
            </a:pPr>
            <a:r>
              <a:rPr sz="1600" b="0" i="0">
                <a:solidFill>
                  <a:srgbClr val="1A1A1A"/>
                </a:solidFill>
                <a:latin typeface="Arial"/>
              </a:rPr>
              <a:t>▪  Top-down and bottom-up approaches</a:t>
            </a:r>
          </a:p>
          <a:p>
            <a:pPr algn="l" marL="237744" indent="-237744">
              <a:lnSpc>
                <a:spcPct val="112000"/>
              </a:lnSpc>
              <a:spcBef>
                <a:spcPts val="0"/>
              </a:spcBef>
              <a:spcAft>
                <a:spcPts val="1200"/>
              </a:spcAft>
            </a:pPr>
            <a:r>
              <a:rPr sz="1600" b="0" i="0">
                <a:solidFill>
                  <a:srgbClr val="1A1A1A"/>
                </a:solidFill>
                <a:latin typeface="Arial"/>
              </a:rPr>
              <a:t>▪  Non-public material information and insider trading</a:t>
            </a:r>
          </a:p>
          <a:p>
            <a:pPr algn="l" marL="237744" indent="-237744">
              <a:lnSpc>
                <a:spcPct val="112000"/>
              </a:lnSpc>
              <a:spcBef>
                <a:spcPts val="0"/>
              </a:spcBef>
              <a:spcAft>
                <a:spcPts val="1200"/>
              </a:spcAft>
            </a:pPr>
            <a:r>
              <a:rPr sz="1600" b="0" i="0">
                <a:solidFill>
                  <a:srgbClr val="1A1A1A"/>
                </a:solidFill>
                <a:latin typeface="Arial"/>
              </a:rPr>
              <a:t>▪  Murphy: study of market action through charts</a:t>
            </a:r>
          </a:p>
          <a:p>
            <a:pPr algn="l" marL="237744" indent="-237744">
              <a:lnSpc>
                <a:spcPct val="112000"/>
              </a:lnSpc>
              <a:spcBef>
                <a:spcPts val="0"/>
              </a:spcBef>
              <a:spcAft>
                <a:spcPts val="1200"/>
              </a:spcAft>
            </a:pPr>
            <a:r>
              <a:rPr sz="1600" b="0" i="0">
                <a:solidFill>
                  <a:srgbClr val="1A1A1A"/>
                </a:solidFill>
                <a:latin typeface="Arial"/>
              </a:rPr>
              <a:t>▪  Edwards and Magee: recording history, deducing the probable trend</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600" b="0" i="0">
                <a:solidFill>
                  <a:srgbClr val="1A1A1A"/>
                </a:solidFill>
                <a:latin typeface="Arial"/>
              </a:rPr>
              <a:t>▪  Edwards and Magee: the market itself, not the goods</a:t>
            </a:r>
          </a:p>
          <a:p>
            <a:pPr algn="l" marL="237744" indent="-237744">
              <a:lnSpc>
                <a:spcPct val="112000"/>
              </a:lnSpc>
              <a:spcBef>
                <a:spcPts val="0"/>
              </a:spcBef>
              <a:spcAft>
                <a:spcPts val="1200"/>
              </a:spcAft>
            </a:pPr>
            <a:r>
              <a:rPr sz="1600" b="0" i="0">
                <a:solidFill>
                  <a:srgbClr val="1A1A1A"/>
                </a:solidFill>
                <a:latin typeface="Arial"/>
              </a:rPr>
              <a:t>▪  Pring: an art, catching a reversal early</a:t>
            </a:r>
          </a:p>
          <a:p>
            <a:pPr algn="l" marL="237744" indent="-237744">
              <a:lnSpc>
                <a:spcPct val="112000"/>
              </a:lnSpc>
              <a:spcBef>
                <a:spcPts val="0"/>
              </a:spcBef>
              <a:spcAft>
                <a:spcPts val="1200"/>
              </a:spcAft>
            </a:pPr>
            <a:r>
              <a:rPr sz="1600" b="0" i="0">
                <a:solidFill>
                  <a:srgbClr val="1A1A1A"/>
                </a:solidFill>
                <a:latin typeface="Arial"/>
              </a:rPr>
              <a:t>▪  Pring: probabilities, never certainties</a:t>
            </a:r>
          </a:p>
          <a:p>
            <a:pPr algn="l" marL="237744" indent="-237744">
              <a:lnSpc>
                <a:spcPct val="112000"/>
              </a:lnSpc>
              <a:spcBef>
                <a:spcPts val="0"/>
              </a:spcBef>
              <a:spcAft>
                <a:spcPts val="1200"/>
              </a:spcAft>
            </a:pPr>
            <a:r>
              <a:rPr sz="1600" b="0" i="0">
                <a:solidFill>
                  <a:srgbClr val="1A1A1A"/>
                </a:solidFill>
                <a:latin typeface="Arial"/>
              </a:rPr>
              <a:t>▪  Pring: people repeat their mistakes</a:t>
            </a:r>
          </a:p>
          <a:p>
            <a:pPr algn="l" marL="237744" indent="-237744">
              <a:lnSpc>
                <a:spcPct val="112000"/>
              </a:lnSpc>
              <a:spcBef>
                <a:spcPts val="0"/>
              </a:spcBef>
              <a:spcAft>
                <a:spcPts val="1200"/>
              </a:spcAft>
            </a:pPr>
            <a:r>
              <a:rPr sz="1600" b="0" i="0">
                <a:solidFill>
                  <a:srgbClr val="1A1A1A"/>
                </a:solidFill>
                <a:latin typeface="Arial"/>
              </a:rPr>
              <a:t>▪  Murphy: price leads the known fundamentals</a:t>
            </a:r>
          </a:p>
          <a:p>
            <a:pPr algn="l" marL="237744" indent="-237744">
              <a:lnSpc>
                <a:spcPct val="112000"/>
              </a:lnSpc>
              <a:spcBef>
                <a:spcPts val="0"/>
              </a:spcBef>
              <a:spcAft>
                <a:spcPts val="1200"/>
              </a:spcAft>
            </a:pPr>
            <a:r>
              <a:rPr sz="1600" b="0" i="0">
                <a:solidFill>
                  <a:srgbClr val="1A1A1A"/>
                </a:solidFill>
                <a:latin typeface="Arial"/>
              </a:rPr>
              <a:t>▪  Technically and fundamentally based market timing</a:t>
            </a:r>
          </a:p>
          <a:p>
            <a:pPr algn="l" marL="237744" indent="-237744">
              <a:lnSpc>
                <a:spcPct val="112000"/>
              </a:lnSpc>
              <a:spcBef>
                <a:spcPts val="0"/>
              </a:spcBef>
              <a:spcAft>
                <a:spcPts val="1200"/>
              </a:spcAft>
            </a:pPr>
            <a:r>
              <a:rPr sz="1600" b="0" i="0">
                <a:solidFill>
                  <a:srgbClr val="1A1A1A"/>
                </a:solidFill>
                <a:latin typeface="Arial"/>
              </a:rPr>
              <a:t>▪  The fundamentalist and the technical analyst</a:t>
            </a:r>
          </a:p>
          <a:p>
            <a:pPr algn="l" marL="237744" indent="-237744">
              <a:lnSpc>
                <a:spcPct val="112000"/>
              </a:lnSpc>
              <a:spcBef>
                <a:spcPts val="0"/>
              </a:spcBef>
              <a:spcAft>
                <a:spcPts val="1200"/>
              </a:spcAft>
            </a:pPr>
            <a:r>
              <a:rPr sz="1600" b="0" i="0">
                <a:solidFill>
                  <a:srgbClr val="1A1A1A"/>
                </a:solidFill>
                <a:latin typeface="Arial"/>
              </a:rPr>
              <a:t>▪  The six streams of market action, and OHLC</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recap</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3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Classifying Technical Analysis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four branches every technique in this course belongs to.</a:t>
            </a:r>
          </a:p>
          <a:p>
            <a:pPr algn="l">
              <a:lnSpc>
                <a:spcPct val="115000"/>
              </a:lnSpc>
              <a:spcBef>
                <a:spcPts val="0"/>
              </a:spcBef>
              <a:spcAft>
                <a:spcPts val="1000"/>
              </a:spcAft>
            </a:pPr>
            <a:r>
              <a:rPr sz="1900" b="0" i="0">
                <a:solidFill>
                  <a:srgbClr val="FFFFFF"/>
                </a:solidFill>
                <a:latin typeface="Arial"/>
              </a:rPr>
              <a:t>The two opposite bets a trader can make about price.</a:t>
            </a:r>
          </a:p>
          <a:p>
            <a:pPr algn="l">
              <a:lnSpc>
                <a:spcPct val="115000"/>
              </a:lnSpc>
              <a:spcBef>
                <a:spcPts val="0"/>
              </a:spcBef>
              <a:spcAft>
                <a:spcPts val="1000"/>
              </a:spcAft>
            </a:pPr>
            <a:r>
              <a:rPr sz="1900" b="0" i="0">
                <a:solidFill>
                  <a:srgbClr val="FFFFFF"/>
                </a:solidFill>
                <a:latin typeface="Arial"/>
              </a:rPr>
              <a:t>The honest advantages and disadvantages of the whole method.</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branches, one subject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Classical technical analysis.</a:t>
            </a:r>
          </a:p>
          <a:p>
            <a:pPr algn="l">
              <a:lnSpc>
                <a:spcPct val="118000"/>
              </a:lnSpc>
              <a:spcBef>
                <a:spcPts val="0"/>
              </a:spcBef>
              <a:spcAft>
                <a:spcPts val="1300"/>
              </a:spcAft>
            </a:pPr>
            <a:r>
              <a:rPr sz="2100" b="0" i="0">
                <a:solidFill>
                  <a:srgbClr val="1A1A1A"/>
                </a:solidFill>
                <a:latin typeface="Arial"/>
              </a:rPr>
              <a:t>2.  Statistical analysis.</a:t>
            </a:r>
          </a:p>
          <a:p>
            <a:pPr algn="l">
              <a:lnSpc>
                <a:spcPct val="118000"/>
              </a:lnSpc>
              <a:spcBef>
                <a:spcPts val="0"/>
              </a:spcBef>
              <a:spcAft>
                <a:spcPts val="1300"/>
              </a:spcAft>
            </a:pPr>
            <a:r>
              <a:rPr sz="2100" b="0" i="0">
                <a:solidFill>
                  <a:srgbClr val="1A1A1A"/>
                </a:solidFill>
                <a:latin typeface="Arial"/>
              </a:rPr>
              <a:t>3.  Sentiment analysis.</a:t>
            </a:r>
          </a:p>
          <a:p>
            <a:pPr algn="l">
              <a:lnSpc>
                <a:spcPct val="118000"/>
              </a:lnSpc>
              <a:spcBef>
                <a:spcPts val="0"/>
              </a:spcBef>
              <a:spcAft>
                <a:spcPts val="1300"/>
              </a:spcAft>
            </a:pPr>
            <a:r>
              <a:rPr sz="2100" b="0" i="0">
                <a:solidFill>
                  <a:srgbClr val="1A1A1A"/>
                </a:solidFill>
                <a:latin typeface="Arial"/>
              </a:rPr>
              <a:t>4.  Behavioral analysis.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Whatever branch you use, you still interpret it through your own biases.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branches on one page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2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1.6</a:t>
            </a:r>
          </a:p>
          <a:p>
            <a:pPr algn="l">
              <a:lnSpc>
                <a:spcPct val="120000"/>
              </a:lnSpc>
              <a:spcBef>
                <a:spcPts val="0"/>
              </a:spcBef>
              <a:spcAft>
                <a:spcPts val="1800"/>
              </a:spcAft>
            </a:pPr>
            <a:r>
              <a:rPr sz="2200" b="0" i="0">
                <a:solidFill>
                  <a:srgbClr val="1A1A1A"/>
                </a:solidFill>
                <a:latin typeface="Palatino"/>
              </a:rPr>
              <a:t>Classical, statistical, sentiment and behavioral analysis, each with its own list of studies, all funnelling into one line at the bottom.</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1.6 - Lim, The Handbook of Technical Analysis (Wiley, 2016)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Classical technical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traditional, visual, hand-drawn kind. Patterns on charts, and indicators drawn over or under the price.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Bar and candlestick patterns, support and resistance, oscillators, market breadth, cycle analysis.</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Classical technical analysis uses conventional bar, chart and candlestick patterns, oscillator and overlay indicators, market breadth, relative strength, and cycle analysis.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3 of 19</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Statistical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mathematical kind. Instead of looking at a shape you compute a number and test it.</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Volatility, linear regression, correlation, time series analysis, hypothesis testing.</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Statistical analysis is the quantitative branch, studying dispersion, central tendency, skewness, volatility, regression, hypothesis testing, correlation and covariance.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4 of 19</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Sentiment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Measuring the mood of the crowd. How optimistic or pessimistic are participants right now?</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Put to call ratios, short interest, margin debt, bullish percent readings, opinion polls of professionals.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Sentiment analysis studies the psychology of market participants through polls and surveys, flow of funds, and the positions taken by large institutions and hedgers.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5 of 19</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Behavioral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Studying how participants actually react, including their biases and their bad habits.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Herd behavior, loss aversion, confirmation bias, overconfidence, the gambler's fallacy.</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Behavioral analysis studies how market participants react to news, to profits and losses, to the actions of others, and to their own psychological and emotional biases.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6 of 19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10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four branches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Studying skewness, regression and volatility of returns belongs to which branch?</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Statistical</a:t>
            </a:r>
          </a:p>
          <a:p>
            <a:pPr algn="l">
              <a:lnSpc>
                <a:spcPct val="112000"/>
              </a:lnSpc>
              <a:spcBef>
                <a:spcPts val="0"/>
              </a:spcBef>
              <a:spcAft>
                <a:spcPts val="900"/>
              </a:spcAft>
            </a:pPr>
            <a:r>
              <a:rPr sz="1500" b="0" i="0">
                <a:solidFill>
                  <a:srgbClr val="FFFFFF"/>
                </a:solidFill>
                <a:latin typeface="Arial"/>
              </a:rPr>
              <a:t>B.  Classical</a:t>
            </a:r>
          </a:p>
          <a:p>
            <a:pPr algn="l">
              <a:lnSpc>
                <a:spcPct val="112000"/>
              </a:lnSpc>
              <a:spcBef>
                <a:spcPts val="0"/>
              </a:spcBef>
              <a:spcAft>
                <a:spcPts val="900"/>
              </a:spcAft>
            </a:pPr>
            <a:r>
              <a:rPr sz="1500" b="0" i="0">
                <a:solidFill>
                  <a:srgbClr val="FFFFFF"/>
                </a:solidFill>
                <a:latin typeface="Arial"/>
              </a:rPr>
              <a:t>C.  Sentiment</a:t>
            </a:r>
          </a:p>
          <a:p>
            <a:pPr algn="l">
              <a:lnSpc>
                <a:spcPct val="112000"/>
              </a:lnSpc>
              <a:spcBef>
                <a:spcPts val="0"/>
              </a:spcBef>
              <a:spcAft>
                <a:spcPts val="900"/>
              </a:spcAft>
            </a:pPr>
            <a:r>
              <a:rPr sz="1500" b="0" i="0">
                <a:solidFill>
                  <a:srgbClr val="FFFFFF"/>
                </a:solidFill>
                <a:latin typeface="Arial"/>
              </a:rPr>
              <a:t>D.  Behavioral</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Japanese candlestick patterns and overlay indicators belong to:</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Classical technical analysis</a:t>
            </a:r>
          </a:p>
          <a:p>
            <a:pPr algn="l">
              <a:lnSpc>
                <a:spcPct val="112000"/>
              </a:lnSpc>
              <a:spcBef>
                <a:spcPts val="0"/>
              </a:spcBef>
              <a:spcAft>
                <a:spcPts val="900"/>
              </a:spcAft>
            </a:pPr>
            <a:r>
              <a:rPr sz="1500" b="0" i="0">
                <a:solidFill>
                  <a:srgbClr val="FFFFFF"/>
                </a:solidFill>
                <a:latin typeface="Arial"/>
              </a:rPr>
              <a:t>B.  Statistical analysis</a:t>
            </a:r>
          </a:p>
          <a:p>
            <a:pPr algn="l">
              <a:lnSpc>
                <a:spcPct val="112000"/>
              </a:lnSpc>
              <a:spcBef>
                <a:spcPts val="0"/>
              </a:spcBef>
              <a:spcAft>
                <a:spcPts val="900"/>
              </a:spcAft>
            </a:pPr>
            <a:r>
              <a:rPr sz="1500" b="0" i="0">
                <a:solidFill>
                  <a:srgbClr val="FFFFFF"/>
                </a:solidFill>
                <a:latin typeface="Arial"/>
              </a:rPr>
              <a:t>C.  Sentiment analysis</a:t>
            </a:r>
          </a:p>
          <a:p>
            <a:pPr algn="l">
              <a:lnSpc>
                <a:spcPct val="112000"/>
              </a:lnSpc>
              <a:spcBef>
                <a:spcPts val="0"/>
              </a:spcBef>
              <a:spcAft>
                <a:spcPts val="900"/>
              </a:spcAft>
            </a:pPr>
            <a:r>
              <a:rPr sz="1500" b="0" i="0">
                <a:solidFill>
                  <a:srgbClr val="FFFFFF"/>
                </a:solidFill>
                <a:latin typeface="Arial"/>
              </a:rPr>
              <a:t>D.  Behavioral analysis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Classifications  |  Check 10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four branches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Studying skewness, regression and volatility of returns belongs to which branch?</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Statistical</a:t>
            </a:r>
          </a:p>
          <a:p>
            <a:pPr algn="l">
              <a:lnSpc>
                <a:spcPct val="115000"/>
              </a:lnSpc>
              <a:spcBef>
                <a:spcPts val="700"/>
              </a:spcBef>
              <a:spcAft>
                <a:spcPts val="0"/>
              </a:spcAft>
            </a:pPr>
            <a:r>
              <a:rPr sz="1600" b="0" i="0">
                <a:solidFill>
                  <a:srgbClr val="1A1A1A"/>
                </a:solidFill>
                <a:latin typeface="Arial"/>
              </a:rPr>
              <a:t>Those are quantitative measures, which is the statistical branch.</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Japanese candlestick patterns and overlay indicators belong to:</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Classical technical analysis</a:t>
            </a:r>
          </a:p>
          <a:p>
            <a:pPr algn="l">
              <a:lnSpc>
                <a:spcPct val="115000"/>
              </a:lnSpc>
              <a:spcBef>
                <a:spcPts val="700"/>
              </a:spcBef>
              <a:spcAft>
                <a:spcPts val="0"/>
              </a:spcAft>
            </a:pPr>
            <a:r>
              <a:rPr sz="1600" b="0" i="0">
                <a:solidFill>
                  <a:srgbClr val="1A1A1A"/>
                </a:solidFill>
                <a:latin typeface="Arial"/>
              </a:rPr>
              <a:t>Candlesticks, oscillators and overlays are the conventional, classical toolkit.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Check 10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opposite bets about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7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Bet one: price has gone far enough and will come back.</a:t>
            </a:r>
          </a:p>
          <a:p>
            <a:pPr algn="l">
              <a:lnSpc>
                <a:spcPct val="118000"/>
              </a:lnSpc>
              <a:spcBef>
                <a:spcPts val="0"/>
              </a:spcBef>
              <a:spcAft>
                <a:spcPts val="1300"/>
              </a:spcAft>
            </a:pPr>
            <a:r>
              <a:rPr sz="2100" b="0" i="0">
                <a:solidFill>
                  <a:srgbClr val="1A1A1A"/>
                </a:solidFill>
                <a:latin typeface="Arial"/>
              </a:rPr>
              <a:t>Bet two: price is going somewhere and will keep going.</a:t>
            </a:r>
          </a:p>
        </p:txBody>
      </p:sp>
      <p:sp>
        <p:nvSpPr>
          <p:cNvPr id="8" name="Rectangle 7"/>
          <p:cNvSpPr/>
          <p:nvPr/>
        </p:nvSpPr>
        <p:spPr>
          <a:xfrm>
            <a:off x="777240" y="327202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Almost every strategy you will ever meet is one of these two.</a:t>
            </a:r>
          </a:p>
        </p:txBody>
      </p:sp>
      <p:sp>
        <p:nvSpPr>
          <p:cNvPr id="10" name="TextBox 9"/>
          <p:cNvSpPr txBox="1"/>
          <p:nvPr/>
        </p:nvSpPr>
        <p:spPr>
          <a:xfrm>
            <a:off x="777240" y="3977385"/>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technical studies you choose follow directly from which bet you are making.</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Mean reverting against non-mean reverting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8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1.7</a:t>
            </a:r>
          </a:p>
          <a:p>
            <a:pPr algn="l">
              <a:lnSpc>
                <a:spcPct val="120000"/>
              </a:lnSpc>
              <a:spcBef>
                <a:spcPts val="0"/>
              </a:spcBef>
              <a:spcAft>
                <a:spcPts val="1800"/>
              </a:spcAft>
            </a:pPr>
            <a:r>
              <a:rPr sz="2200" b="0" i="0">
                <a:solidFill>
                  <a:srgbClr val="1A1A1A"/>
                </a:solidFill>
                <a:latin typeface="Palatino"/>
              </a:rPr>
              <a:t>The two camps compared column by column: their study preferences, their order types, where each one enters, and the rationale behind 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1.7 - Lim, The Handbook of Technical Analysis (Wiley, 2016)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mean reverting or contrarian approach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expect price to snap back to an average. You do not expect it to travel far.</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buy at support and short at resistance, using divergence, regression lines, moving average bands and Bollinger bands.</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mean reverting approach expects price to return to an average or to a balance between supply and demand, enters at cycle extremes, and acts on the overbought and oversold conditions its studies pinpoint.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9 of 19</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non-mean reverting or momentum approach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expect price to keep travelling. Demand creates more demand, supply creates more supply.</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buy the breakout of a chart pattern, a moving average, a Darvas Box or a Donchian channel.</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non-mean reverting approach expects trends to continue through a positive feedback cycle, enters at cycle midpoints, and acts on the crossover of the oscillator equilibrium level.</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10 of 19</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Limit and stop entry orders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limit order buys only at your price or better. A stop order buys only once price has pushed through a level.</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Contrarians prefer limit orders, because they want a good price. Momentum traders prefer stop orders, because they want confirmation.</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Limit entry orders execute at a specified price or better; stop entry orders trigger once price trades through a specified level.</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11 of 19</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11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two approaches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trader who buys at support, shorts at resistance and prefers limit entry orders is following:</a:t>
            </a:r>
          </a:p>
        </p:txBody>
      </p:sp>
      <p:sp>
        <p:nvSpPr>
          <p:cNvPr id="9" name="TextBox 8"/>
          <p:cNvSpPr txBox="1"/>
          <p:nvPr/>
        </p:nvSpPr>
        <p:spPr>
          <a:xfrm>
            <a:off x="1051560" y="401624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momentum seeking approach</a:t>
            </a:r>
          </a:p>
          <a:p>
            <a:pPr algn="l">
              <a:lnSpc>
                <a:spcPct val="112000"/>
              </a:lnSpc>
              <a:spcBef>
                <a:spcPts val="0"/>
              </a:spcBef>
              <a:spcAft>
                <a:spcPts val="900"/>
              </a:spcAft>
            </a:pPr>
            <a:r>
              <a:rPr sz="1500" b="0" i="0">
                <a:solidFill>
                  <a:srgbClr val="FFFFFF"/>
                </a:solidFill>
                <a:latin typeface="Arial"/>
              </a:rPr>
              <a:t>B.  A mean reverting approach</a:t>
            </a:r>
          </a:p>
          <a:p>
            <a:pPr algn="l">
              <a:lnSpc>
                <a:spcPct val="112000"/>
              </a:lnSpc>
              <a:spcBef>
                <a:spcPts val="0"/>
              </a:spcBef>
              <a:spcAft>
                <a:spcPts val="900"/>
              </a:spcAft>
            </a:pPr>
            <a:r>
              <a:rPr sz="1500" b="0" i="0">
                <a:solidFill>
                  <a:srgbClr val="FFFFFF"/>
                </a:solidFill>
                <a:latin typeface="Arial"/>
              </a:rPr>
              <a:t>C.  An arbitrage approach</a:t>
            </a:r>
          </a:p>
          <a:p>
            <a:pPr algn="l">
              <a:lnSpc>
                <a:spcPct val="112000"/>
              </a:lnSpc>
              <a:spcBef>
                <a:spcPts val="0"/>
              </a:spcBef>
              <a:spcAft>
                <a:spcPts val="900"/>
              </a:spcAft>
            </a:pPr>
            <a:r>
              <a:rPr sz="1500" b="0" i="0">
                <a:solidFill>
                  <a:srgbClr val="FFFFFF"/>
                </a:solidFill>
                <a:latin typeface="Arial"/>
              </a:rPr>
              <a:t>D.  A random walk approach</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207772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Pick the accurate statements. I. A momentum seeking approach is usually trend based. II. Darvas Box trading is an example of a momentum seeking approach. III. Contrarians expect price to be more mean reverting. IV. Contrarians look for impending reversals.</a:t>
            </a:r>
          </a:p>
        </p:txBody>
      </p:sp>
      <p:sp>
        <p:nvSpPr>
          <p:cNvPr id="13" name="TextBox 12"/>
          <p:cNvSpPr txBox="1"/>
          <p:nvPr/>
        </p:nvSpPr>
        <p:spPr>
          <a:xfrm>
            <a:off x="6690207" y="401624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I is correct</a:t>
            </a:r>
          </a:p>
          <a:p>
            <a:pPr algn="l">
              <a:lnSpc>
                <a:spcPct val="112000"/>
              </a:lnSpc>
              <a:spcBef>
                <a:spcPts val="0"/>
              </a:spcBef>
              <a:spcAft>
                <a:spcPts val="900"/>
              </a:spcAft>
            </a:pPr>
            <a:r>
              <a:rPr sz="1500" b="0" i="0">
                <a:solidFill>
                  <a:srgbClr val="FFFFFF"/>
                </a:solidFill>
                <a:latin typeface="Arial"/>
              </a:rPr>
              <a:t>B.  Only I, II, and IV are correct</a:t>
            </a:r>
          </a:p>
          <a:p>
            <a:pPr algn="l">
              <a:lnSpc>
                <a:spcPct val="112000"/>
              </a:lnSpc>
              <a:spcBef>
                <a:spcPts val="0"/>
              </a:spcBef>
              <a:spcAft>
                <a:spcPts val="900"/>
              </a:spcAft>
            </a:pPr>
            <a:r>
              <a:rPr sz="1500" b="0" i="0">
                <a:solidFill>
                  <a:srgbClr val="FFFFFF"/>
                </a:solidFill>
                <a:latin typeface="Arial"/>
              </a:rPr>
              <a:t>C.  Only I and IV are correct</a:t>
            </a:r>
          </a:p>
          <a:p>
            <a:pPr algn="l">
              <a:lnSpc>
                <a:spcPct val="112000"/>
              </a:lnSpc>
              <a:spcBef>
                <a:spcPts val="0"/>
              </a:spcBef>
              <a:spcAft>
                <a:spcPts val="900"/>
              </a:spcAft>
            </a:pPr>
            <a:r>
              <a:rPr sz="1500" b="0" i="0">
                <a:solidFill>
                  <a:srgbClr val="FFFFFF"/>
                </a:solidFill>
                <a:latin typeface="Arial"/>
              </a:rPr>
              <a:t>D.  All are correct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Classifications  |  Check 11</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two approaches</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trader who buys at support, shorts at resistance and prefers limit entry orders is following:</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mean reverting approach</a:t>
            </a:r>
          </a:p>
          <a:p>
            <a:pPr algn="l">
              <a:lnSpc>
                <a:spcPct val="115000"/>
              </a:lnSpc>
              <a:spcBef>
                <a:spcPts val="700"/>
              </a:spcBef>
              <a:spcAft>
                <a:spcPts val="0"/>
              </a:spcAft>
            </a:pPr>
            <a:r>
              <a:rPr sz="1600" b="0" i="0">
                <a:solidFill>
                  <a:srgbClr val="1A1A1A"/>
                </a:solidFill>
                <a:latin typeface="Arial"/>
              </a:rPr>
              <a:t>Buying support, shorting resistance and using limit orders is the contrarian, mean reverting profile.</a:t>
            </a:r>
          </a:p>
        </p:txBody>
      </p:sp>
      <p:sp>
        <p:nvSpPr>
          <p:cNvPr id="10" name="Rectangle 9"/>
          <p:cNvSpPr/>
          <p:nvPr/>
        </p:nvSpPr>
        <p:spPr>
          <a:xfrm>
            <a:off x="777240" y="354939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79247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Pick the accurate statements. I. A momentum seeking approach is usually trend based. II. Darvas Box trading is an example of a momentum seeking approach. III. Contrarians expect price to be more mean reverting. IV. Contrarians look for impending reversals.</a:t>
            </a:r>
          </a:p>
        </p:txBody>
      </p:sp>
      <p:sp>
        <p:nvSpPr>
          <p:cNvPr id="13" name="TextBox 12"/>
          <p:cNvSpPr txBox="1"/>
          <p:nvPr/>
        </p:nvSpPr>
        <p:spPr>
          <a:xfrm>
            <a:off x="1143000" y="474421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All are correct</a:t>
            </a:r>
          </a:p>
          <a:p>
            <a:pPr algn="l">
              <a:lnSpc>
                <a:spcPct val="115000"/>
              </a:lnSpc>
              <a:spcBef>
                <a:spcPts val="700"/>
              </a:spcBef>
              <a:spcAft>
                <a:spcPts val="0"/>
              </a:spcAft>
            </a:pPr>
            <a:r>
              <a:rPr sz="1600" b="0" i="0">
                <a:solidFill>
                  <a:srgbClr val="1A1A1A"/>
                </a:solidFill>
                <a:latin typeface="Arial"/>
              </a:rPr>
              <a:t>All four statements are accurate descriptions of the two approaches.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Check 11</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technical analysis is genuinely good at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12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works the same way on every market, instrument and timeframe.</a:t>
            </a:r>
          </a:p>
          <a:p>
            <a:pPr algn="l">
              <a:lnSpc>
                <a:spcPct val="118000"/>
              </a:lnSpc>
              <a:spcBef>
                <a:spcPts val="0"/>
              </a:spcBef>
              <a:spcAft>
                <a:spcPts val="1300"/>
              </a:spcAft>
            </a:pPr>
            <a:r>
              <a:rPr sz="2100" b="0" i="0">
                <a:solidFill>
                  <a:srgbClr val="1A1A1A"/>
                </a:solidFill>
                <a:latin typeface="Arial"/>
              </a:rPr>
              <a:t>You do not need to learn a new company to trade a new stock.</a:t>
            </a:r>
          </a:p>
          <a:p>
            <a:pPr algn="l">
              <a:lnSpc>
                <a:spcPct val="118000"/>
              </a:lnSpc>
              <a:spcBef>
                <a:spcPts val="0"/>
              </a:spcBef>
              <a:spcAft>
                <a:spcPts val="1300"/>
              </a:spcAft>
            </a:pPr>
            <a:r>
              <a:rPr sz="2100" b="0" i="0">
                <a:solidFill>
                  <a:srgbClr val="1A1A1A"/>
                </a:solidFill>
                <a:latin typeface="Arial"/>
              </a:rPr>
              <a:t>It is visual, so market risk and volatility are easy to see.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skill, applied everywhere. That is the strongest practical argument for it.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technical analysis is genuinely good at,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13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gives timely, precise entry and exit levels.</a:t>
            </a:r>
          </a:p>
          <a:p>
            <a:pPr algn="l">
              <a:lnSpc>
                <a:spcPct val="118000"/>
              </a:lnSpc>
              <a:spcBef>
                <a:spcPts val="0"/>
              </a:spcBef>
              <a:spcAft>
                <a:spcPts val="1300"/>
              </a:spcAft>
            </a:pPr>
            <a:r>
              <a:rPr sz="2100" b="0" i="0">
                <a:solidFill>
                  <a:srgbClr val="1A1A1A"/>
                </a:solidFill>
                <a:latin typeface="Arial"/>
              </a:rPr>
              <a:t>Those levels arrive with a signal, bullish or bearish, before the move.</a:t>
            </a:r>
          </a:p>
          <a:p>
            <a:pPr algn="l">
              <a:lnSpc>
                <a:spcPct val="118000"/>
              </a:lnSpc>
              <a:spcBef>
                <a:spcPts val="0"/>
              </a:spcBef>
              <a:spcAft>
                <a:spcPts val="1300"/>
              </a:spcAft>
            </a:pPr>
            <a:r>
              <a:rPr sz="2100" b="0" i="0">
                <a:solidFill>
                  <a:srgbClr val="1A1A1A"/>
                </a:solidFill>
                <a:latin typeface="Arial"/>
              </a:rPr>
              <a:t>When many participants act on the same obvious level, the reaction is more reliable.</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That last advantage has a name, and it is also a criticism. We meet it shortly.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honest disadvantages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14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is subjective. The same pattern can be read several ways.</a:t>
            </a:r>
          </a:p>
          <a:p>
            <a:pPr algn="l">
              <a:lnSpc>
                <a:spcPct val="118000"/>
              </a:lnSpc>
              <a:spcBef>
                <a:spcPts val="0"/>
              </a:spcBef>
              <a:spcAft>
                <a:spcPts val="1300"/>
              </a:spcAft>
            </a:pPr>
            <a:r>
              <a:rPr sz="2100" b="0" i="0">
                <a:solidFill>
                  <a:srgbClr val="1A1A1A"/>
                </a:solidFill>
                <a:latin typeface="Arial"/>
              </a:rPr>
              <a:t>The repeating tendency can be disrupted by shocks, or by algorithmic and high frequency trading.</a:t>
            </a:r>
          </a:p>
          <a:p>
            <a:pPr algn="l">
              <a:lnSpc>
                <a:spcPct val="118000"/>
              </a:lnSpc>
              <a:spcBef>
                <a:spcPts val="0"/>
              </a:spcBef>
              <a:spcAft>
                <a:spcPts val="1300"/>
              </a:spcAft>
            </a:pPr>
            <a:r>
              <a:rPr sz="2100" b="0" i="0">
                <a:solidFill>
                  <a:srgbClr val="1A1A1A"/>
                </a:solidFill>
                <a:latin typeface="Arial"/>
              </a:rPr>
              <a:t>Reading a chart takes practice; inferring from it takes much more.</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 bullish reading has an equal and opposite bearish reading.</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big objections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15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Random walk: prices are pure chance, so patterns mean nothing.</a:t>
            </a:r>
          </a:p>
          <a:p>
            <a:pPr algn="l">
              <a:lnSpc>
                <a:spcPct val="118000"/>
              </a:lnSpc>
              <a:spcBef>
                <a:spcPts val="0"/>
              </a:spcBef>
              <a:spcAft>
                <a:spcPts val="1300"/>
              </a:spcAft>
            </a:pPr>
            <a:r>
              <a:rPr sz="2100" b="0" i="0">
                <a:solidFill>
                  <a:srgbClr val="1A1A1A"/>
                </a:solidFill>
                <a:latin typeface="Arial"/>
              </a:rPr>
              <a:t>The strong form of the Efficient Market Hypothesis: price already reflects everything.</a:t>
            </a:r>
          </a:p>
          <a:p>
            <a:pPr algn="l">
              <a:lnSpc>
                <a:spcPct val="118000"/>
              </a:lnSpc>
              <a:spcBef>
                <a:spcPts val="0"/>
              </a:spcBef>
              <a:spcAft>
                <a:spcPts val="1300"/>
              </a:spcAft>
            </a:pPr>
            <a:r>
              <a:rPr sz="2100" b="0" i="0">
                <a:solidFill>
                  <a:srgbClr val="1A1A1A"/>
                </a:solidFill>
                <a:latin typeface="Arial"/>
              </a:rPr>
              <a:t>The self-fulfilling prophecy: signals work only because everyone watches them.</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We take the first two apart in Part 5. We take the third apart right now.</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self-fulfilling prophecy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claim that a technical signal works not because it is meaningful, but because enough people act on it at the same moment.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trendline breaks and thousands of traders buy on the break, so price rises, so the trendline looks like it worked.</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self-fulfilling prophecy holds that prices react to technical signals because of the concerted action of participants acting on those signals rather than because of the signals themselves.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16 of 19</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self-fulfilling prophecy cycle, stages one to three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17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A clear and obvious signal attracts participants.</a:t>
            </a:r>
          </a:p>
          <a:p>
            <a:pPr algn="l">
              <a:lnSpc>
                <a:spcPct val="118000"/>
              </a:lnSpc>
              <a:spcBef>
                <a:spcPts val="0"/>
              </a:spcBef>
              <a:spcAft>
                <a:spcPts val="1300"/>
              </a:spcAft>
            </a:pPr>
            <a:r>
              <a:rPr sz="2100" b="0" i="0">
                <a:solidFill>
                  <a:srgbClr val="1A1A1A"/>
                </a:solidFill>
                <a:latin typeface="Arial"/>
              </a:rPr>
              <a:t>2.  Their concerted action creates reliable price reactions.</a:t>
            </a:r>
          </a:p>
          <a:p>
            <a:pPr algn="l">
              <a:lnSpc>
                <a:spcPct val="118000"/>
              </a:lnSpc>
              <a:spcBef>
                <a:spcPts val="0"/>
              </a:spcBef>
              <a:spcAft>
                <a:spcPts val="1300"/>
              </a:spcAft>
            </a:pPr>
            <a:r>
              <a:rPr sz="2100" b="0" i="0">
                <a:solidFill>
                  <a:srgbClr val="1A1A1A"/>
                </a:solidFill>
                <a:latin typeface="Arial"/>
              </a:rPr>
              <a:t>3.  Reliable reactions attract even more participants.</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These three stages are the advantage. This is when the signal is worth trading.</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cycle, stages four to six</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18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4.  Participants start to preempt each other for better fills.</a:t>
            </a:r>
          </a:p>
          <a:p>
            <a:pPr algn="l">
              <a:lnSpc>
                <a:spcPct val="118000"/>
              </a:lnSpc>
              <a:spcBef>
                <a:spcPts val="0"/>
              </a:spcBef>
              <a:spcAft>
                <a:spcPts val="1300"/>
              </a:spcAft>
            </a:pPr>
            <a:r>
              <a:rPr sz="2100" b="0" i="0">
                <a:solidFill>
                  <a:srgbClr val="1A1A1A"/>
                </a:solidFill>
                <a:latin typeface="Arial"/>
              </a:rPr>
              <a:t>5.  Reactions drift from expected entry levels and participants abandon the signal.</a:t>
            </a:r>
          </a:p>
          <a:p>
            <a:pPr algn="l">
              <a:lnSpc>
                <a:spcPct val="118000"/>
              </a:lnSpc>
              <a:spcBef>
                <a:spcPts val="0"/>
              </a:spcBef>
              <a:spcAft>
                <a:spcPts val="1300"/>
              </a:spcAft>
            </a:pPr>
            <a:r>
              <a:rPr sz="2100" b="0" i="0">
                <a:solidFill>
                  <a:srgbClr val="1A1A1A"/>
                </a:solidFill>
                <a:latin typeface="Arial"/>
              </a:rPr>
              <a:t>6.  With preempting gone, reliable reactions begin to appear again.</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Then the process repeats. The signal is never permanently dead or permanently alive.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six stages as one loop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19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1.8</a:t>
            </a:r>
          </a:p>
          <a:p>
            <a:pPr algn="l">
              <a:lnSpc>
                <a:spcPct val="120000"/>
              </a:lnSpc>
              <a:spcBef>
                <a:spcPts val="0"/>
              </a:spcBef>
              <a:spcAft>
                <a:spcPts val="1800"/>
              </a:spcAft>
            </a:pPr>
            <a:r>
              <a:rPr sz="2200" b="0" i="0">
                <a:solidFill>
                  <a:srgbClr val="1A1A1A"/>
                </a:solidFill>
                <a:latin typeface="Palatino"/>
              </a:rPr>
              <a:t>The self-fulfilling prophecy cycle drawn as a circle, with stages one to three bracketed as advantageous entries and stages four to six as disadvantageous.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1.8 - Lim, The Handbook of Technical Analysis (Wiley, 2016)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12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Strengths, weaknesses, and the prophecy</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random walk view of the market implies that: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Technical analysis is still useful because patterns may arise by chance</a:t>
            </a:r>
          </a:p>
          <a:p>
            <a:pPr algn="l">
              <a:lnSpc>
                <a:spcPct val="112000"/>
              </a:lnSpc>
              <a:spcBef>
                <a:spcPts val="0"/>
              </a:spcBef>
              <a:spcAft>
                <a:spcPts val="900"/>
              </a:spcAft>
            </a:pPr>
            <a:r>
              <a:rPr sz="1500" b="0" i="0">
                <a:solidFill>
                  <a:srgbClr val="FFFFFF"/>
                </a:solidFill>
                <a:latin typeface="Arial"/>
              </a:rPr>
              <a:t>B.  Technical analysis is unreliable only in volatile markets</a:t>
            </a:r>
          </a:p>
          <a:p>
            <a:pPr algn="l">
              <a:lnSpc>
                <a:spcPct val="112000"/>
              </a:lnSpc>
              <a:spcBef>
                <a:spcPts val="0"/>
              </a:spcBef>
              <a:spcAft>
                <a:spcPts val="900"/>
              </a:spcAft>
            </a:pPr>
            <a:r>
              <a:rPr sz="1500" b="0" i="0">
                <a:solidFill>
                  <a:srgbClr val="FFFFFF"/>
                </a:solidFill>
                <a:latin typeface="Arial"/>
              </a:rPr>
              <a:t>C.  Technical analysis works only on long timeframes</a:t>
            </a:r>
          </a:p>
          <a:p>
            <a:pPr algn="l">
              <a:lnSpc>
                <a:spcPct val="112000"/>
              </a:lnSpc>
              <a:spcBef>
                <a:spcPts val="0"/>
              </a:spcBef>
              <a:spcAft>
                <a:spcPts val="900"/>
              </a:spcAft>
            </a:pPr>
            <a:r>
              <a:rPr sz="1500" b="0" i="0">
                <a:solidFill>
                  <a:srgbClr val="FFFFFF"/>
                </a:solidFill>
                <a:latin typeface="Arial"/>
              </a:rPr>
              <a:t>D.  Technical analysis is pointless because chart patterns arise out of pure chance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In the self-fulfilling prophecy cycle, participants preempting each other for better fills happens at:</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Stage 1</a:t>
            </a:r>
          </a:p>
          <a:p>
            <a:pPr algn="l">
              <a:lnSpc>
                <a:spcPct val="112000"/>
              </a:lnSpc>
              <a:spcBef>
                <a:spcPts val="0"/>
              </a:spcBef>
              <a:spcAft>
                <a:spcPts val="900"/>
              </a:spcAft>
            </a:pPr>
            <a:r>
              <a:rPr sz="1500" b="0" i="0">
                <a:solidFill>
                  <a:srgbClr val="FFFFFF"/>
                </a:solidFill>
                <a:latin typeface="Arial"/>
              </a:rPr>
              <a:t>B.  Stage 2</a:t>
            </a:r>
          </a:p>
          <a:p>
            <a:pPr algn="l">
              <a:lnSpc>
                <a:spcPct val="112000"/>
              </a:lnSpc>
              <a:spcBef>
                <a:spcPts val="0"/>
              </a:spcBef>
              <a:spcAft>
                <a:spcPts val="900"/>
              </a:spcAft>
            </a:pPr>
            <a:r>
              <a:rPr sz="1500" b="0" i="0">
                <a:solidFill>
                  <a:srgbClr val="FFFFFF"/>
                </a:solidFill>
                <a:latin typeface="Arial"/>
              </a:rPr>
              <a:t>C.  Stage 4</a:t>
            </a:r>
          </a:p>
          <a:p>
            <a:pPr algn="l">
              <a:lnSpc>
                <a:spcPct val="112000"/>
              </a:lnSpc>
              <a:spcBef>
                <a:spcPts val="0"/>
              </a:spcBef>
              <a:spcAft>
                <a:spcPts val="900"/>
              </a:spcAft>
            </a:pPr>
            <a:r>
              <a:rPr sz="1500" b="0" i="0">
                <a:solidFill>
                  <a:srgbClr val="FFFFFF"/>
                </a:solidFill>
                <a:latin typeface="Arial"/>
              </a:rPr>
              <a:t>D.  Stage 6</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3 of 6 - Classifications  |  Check 12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Strengths, weaknesses, and the prophecy</a:t>
            </a:r>
          </a:p>
        </p:txBody>
      </p:sp>
      <p:sp>
        <p:nvSpPr>
          <p:cNvPr id="6" name="Rectangle 5"/>
          <p:cNvSpPr/>
          <p:nvPr/>
        </p:nvSpPr>
        <p:spPr>
          <a:xfrm>
            <a:off x="777240" y="1207008"/>
            <a:ext cx="10637215" cy="192023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92023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random walk view of the market implies that:</a:t>
            </a:r>
          </a:p>
        </p:txBody>
      </p:sp>
      <p:sp>
        <p:nvSpPr>
          <p:cNvPr id="9" name="TextBox 8"/>
          <p:cNvSpPr txBox="1"/>
          <p:nvPr/>
        </p:nvSpPr>
        <p:spPr>
          <a:xfrm>
            <a:off x="1143000" y="1934464"/>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Technical analysis is pointless because chart patterns arise out of pure chance</a:t>
            </a:r>
          </a:p>
          <a:p>
            <a:pPr algn="l">
              <a:lnSpc>
                <a:spcPct val="115000"/>
              </a:lnSpc>
              <a:spcBef>
                <a:spcPts val="700"/>
              </a:spcBef>
              <a:spcAft>
                <a:spcPts val="0"/>
              </a:spcAft>
            </a:pPr>
            <a:r>
              <a:rPr sz="1600" b="0" i="0">
                <a:solidFill>
                  <a:srgbClr val="1A1A1A"/>
                </a:solidFill>
                <a:latin typeface="Arial"/>
              </a:rPr>
              <a:t>If all action is random, patterns carry no information and analysis is pointless.</a:t>
            </a:r>
          </a:p>
        </p:txBody>
      </p:sp>
      <p:sp>
        <p:nvSpPr>
          <p:cNvPr id="10" name="Rectangle 9"/>
          <p:cNvSpPr/>
          <p:nvPr/>
        </p:nvSpPr>
        <p:spPr>
          <a:xfrm>
            <a:off x="777240" y="3374135"/>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74135"/>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611879"/>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In the self-fulfilling prophecy cycle, participants preempting each other for better fills happens at:</a:t>
            </a:r>
          </a:p>
        </p:txBody>
      </p:sp>
      <p:sp>
        <p:nvSpPr>
          <p:cNvPr id="13" name="TextBox 12"/>
          <p:cNvSpPr txBox="1"/>
          <p:nvPr/>
        </p:nvSpPr>
        <p:spPr>
          <a:xfrm>
            <a:off x="1143000" y="43352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Stage 4</a:t>
            </a:r>
          </a:p>
          <a:p>
            <a:pPr algn="l">
              <a:lnSpc>
                <a:spcPct val="115000"/>
              </a:lnSpc>
              <a:spcBef>
                <a:spcPts val="700"/>
              </a:spcBef>
              <a:spcAft>
                <a:spcPts val="0"/>
              </a:spcAft>
            </a:pPr>
            <a:r>
              <a:rPr sz="1600" b="0" i="0">
                <a:solidFill>
                  <a:srgbClr val="1A1A1A"/>
                </a:solidFill>
                <a:latin typeface="Arial"/>
              </a:rPr>
              <a:t>Preempting is stage 4, and it is what erodes the reliability of the signal.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Check 12</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Classical technical analysis</a:t>
            </a:r>
          </a:p>
          <a:p>
            <a:pPr algn="l" marL="237744" indent="-237744">
              <a:lnSpc>
                <a:spcPct val="112000"/>
              </a:lnSpc>
              <a:spcBef>
                <a:spcPts val="0"/>
              </a:spcBef>
              <a:spcAft>
                <a:spcPts val="1200"/>
              </a:spcAft>
            </a:pPr>
            <a:r>
              <a:rPr sz="1800" b="0" i="0">
                <a:solidFill>
                  <a:srgbClr val="1A1A1A"/>
                </a:solidFill>
                <a:latin typeface="Arial"/>
              </a:rPr>
              <a:t>▪  Statistical analysis</a:t>
            </a:r>
          </a:p>
          <a:p>
            <a:pPr algn="l" marL="237744" indent="-237744">
              <a:lnSpc>
                <a:spcPct val="112000"/>
              </a:lnSpc>
              <a:spcBef>
                <a:spcPts val="0"/>
              </a:spcBef>
              <a:spcAft>
                <a:spcPts val="1200"/>
              </a:spcAft>
            </a:pPr>
            <a:r>
              <a:rPr sz="1800" b="0" i="0">
                <a:solidFill>
                  <a:srgbClr val="1A1A1A"/>
                </a:solidFill>
                <a:latin typeface="Arial"/>
              </a:rPr>
              <a:t>▪  Sentiment analysis</a:t>
            </a:r>
          </a:p>
          <a:p>
            <a:pPr algn="l" marL="237744" indent="-237744">
              <a:lnSpc>
                <a:spcPct val="112000"/>
              </a:lnSpc>
              <a:spcBef>
                <a:spcPts val="0"/>
              </a:spcBef>
              <a:spcAft>
                <a:spcPts val="1200"/>
              </a:spcAft>
            </a:pPr>
            <a:r>
              <a:rPr sz="1800" b="0" i="0">
                <a:solidFill>
                  <a:srgbClr val="1A1A1A"/>
                </a:solidFill>
                <a:latin typeface="Arial"/>
              </a:rPr>
              <a:t>▪  Behavioral analysis</a:t>
            </a:r>
          </a:p>
          <a:p>
            <a:pPr algn="l" marL="237744" indent="-237744">
              <a:lnSpc>
                <a:spcPct val="112000"/>
              </a:lnSpc>
              <a:spcBef>
                <a:spcPts val="0"/>
              </a:spcBef>
              <a:spcAft>
                <a:spcPts val="1200"/>
              </a:spcAft>
            </a:pPr>
            <a:r>
              <a:rPr sz="1800" b="0" i="0">
                <a:solidFill>
                  <a:srgbClr val="1A1A1A"/>
                </a:solidFill>
                <a:latin typeface="Arial"/>
              </a:rPr>
              <a:t>▪  The mean reverting or contrarian approach</a:t>
            </a:r>
          </a:p>
          <a:p>
            <a:pPr algn="l" marL="237744" indent="-237744">
              <a:lnSpc>
                <a:spcPct val="112000"/>
              </a:lnSpc>
              <a:spcBef>
                <a:spcPts val="0"/>
              </a:spcBef>
              <a:spcAft>
                <a:spcPts val="1200"/>
              </a:spcAft>
            </a:pPr>
            <a:r>
              <a:rPr sz="1800" b="0" i="0">
                <a:solidFill>
                  <a:srgbClr val="1A1A1A"/>
                </a:solidFill>
                <a:latin typeface="Arial"/>
              </a:rPr>
              <a:t>▪  The non-mean reverting or momentum approach</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Limit entry orders and stop entry orders</a:t>
            </a:r>
          </a:p>
          <a:p>
            <a:pPr algn="l" marL="237744" indent="-237744">
              <a:lnSpc>
                <a:spcPct val="112000"/>
              </a:lnSpc>
              <a:spcBef>
                <a:spcPts val="0"/>
              </a:spcBef>
              <a:spcAft>
                <a:spcPts val="1200"/>
              </a:spcAft>
            </a:pPr>
            <a:r>
              <a:rPr sz="1800" b="0" i="0">
                <a:solidFill>
                  <a:srgbClr val="1A1A1A"/>
                </a:solidFill>
                <a:latin typeface="Arial"/>
              </a:rPr>
              <a:t>▪  Darvas Box and Donchian channel breakouts</a:t>
            </a:r>
          </a:p>
          <a:p>
            <a:pPr algn="l" marL="237744" indent="-237744">
              <a:lnSpc>
                <a:spcPct val="112000"/>
              </a:lnSpc>
              <a:spcBef>
                <a:spcPts val="0"/>
              </a:spcBef>
              <a:spcAft>
                <a:spcPts val="1200"/>
              </a:spcAft>
            </a:pPr>
            <a:r>
              <a:rPr sz="1800" b="0" i="0">
                <a:solidFill>
                  <a:srgbClr val="1A1A1A"/>
                </a:solidFill>
                <a:latin typeface="Arial"/>
              </a:rPr>
              <a:t>▪  The advantages of technical analysis</a:t>
            </a:r>
          </a:p>
          <a:p>
            <a:pPr algn="l" marL="237744" indent="-237744">
              <a:lnSpc>
                <a:spcPct val="112000"/>
              </a:lnSpc>
              <a:spcBef>
                <a:spcPts val="0"/>
              </a:spcBef>
              <a:spcAft>
                <a:spcPts val="1200"/>
              </a:spcAft>
            </a:pPr>
            <a:r>
              <a:rPr sz="1800" b="0" i="0">
                <a:solidFill>
                  <a:srgbClr val="1A1A1A"/>
                </a:solidFill>
                <a:latin typeface="Arial"/>
              </a:rPr>
              <a:t>▪  The disadvantages of technical analysis</a:t>
            </a:r>
          </a:p>
          <a:p>
            <a:pPr algn="l" marL="237744" indent="-237744">
              <a:lnSpc>
                <a:spcPct val="112000"/>
              </a:lnSpc>
              <a:spcBef>
                <a:spcPts val="0"/>
              </a:spcBef>
              <a:spcAft>
                <a:spcPts val="1200"/>
              </a:spcAft>
            </a:pPr>
            <a:r>
              <a:rPr sz="1800" b="0" i="0">
                <a:solidFill>
                  <a:srgbClr val="1A1A1A"/>
                </a:solidFill>
                <a:latin typeface="Arial"/>
              </a:rPr>
              <a:t>▪  The self-fulfilling prophecy</a:t>
            </a:r>
          </a:p>
          <a:p>
            <a:pPr algn="l" marL="237744" indent="-237744">
              <a:lnSpc>
                <a:spcPct val="112000"/>
              </a:lnSpc>
              <a:spcBef>
                <a:spcPts val="0"/>
              </a:spcBef>
              <a:spcAft>
                <a:spcPts val="1200"/>
              </a:spcAft>
            </a:pPr>
            <a:r>
              <a:rPr sz="1800" b="0" i="0">
                <a:solidFill>
                  <a:srgbClr val="1A1A1A"/>
                </a:solidFill>
                <a:latin typeface="Arial"/>
              </a:rPr>
              <a:t>▪  The six stage prophecy cycle, and preempting</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recap</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4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Subjectivity</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Which half of technical analysis is objective, and which half is not.</a:t>
            </a:r>
          </a:p>
          <a:p>
            <a:pPr algn="l">
              <a:lnSpc>
                <a:spcPct val="115000"/>
              </a:lnSpc>
              <a:spcBef>
                <a:spcPts val="0"/>
              </a:spcBef>
              <a:spcAft>
                <a:spcPts val="1000"/>
              </a:spcAft>
            </a:pPr>
            <a:r>
              <a:rPr sz="1900" b="0" i="0">
                <a:solidFill>
                  <a:srgbClr val="FFFFFF"/>
                </a:solidFill>
                <a:latin typeface="Arial"/>
              </a:rPr>
              <a:t>Why two honest analysts read the same chart differently.</a:t>
            </a:r>
          </a:p>
          <a:p>
            <a:pPr algn="l">
              <a:lnSpc>
                <a:spcPct val="115000"/>
              </a:lnSpc>
              <a:spcBef>
                <a:spcPts val="0"/>
              </a:spcBef>
              <a:spcAft>
                <a:spcPts val="1000"/>
              </a:spcAft>
            </a:pPr>
            <a:r>
              <a:rPr sz="1900" b="0" i="0">
                <a:solidFill>
                  <a:srgbClr val="FFFFFF"/>
                </a:solidFill>
                <a:latin typeface="Arial"/>
              </a:rPr>
              <a:t>How to resolve conflicting signals instead of freezing.</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35 minutes</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Objective and subjective at the same time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chart is objective. It is a historical record and it does not argue.</a:t>
            </a:r>
          </a:p>
          <a:p>
            <a:pPr algn="l">
              <a:lnSpc>
                <a:spcPct val="118000"/>
              </a:lnSpc>
              <a:spcBef>
                <a:spcPts val="0"/>
              </a:spcBef>
              <a:spcAft>
                <a:spcPts val="1300"/>
              </a:spcAft>
            </a:pPr>
            <a:r>
              <a:rPr sz="2100" b="0" i="0">
                <a:solidFill>
                  <a:srgbClr val="1A1A1A"/>
                </a:solidFill>
                <a:latin typeface="Arial"/>
              </a:rPr>
              <a:t>The analysis is subjective. It happens inside a human being.</a:t>
            </a:r>
          </a:p>
        </p:txBody>
      </p:sp>
      <p:sp>
        <p:nvSpPr>
          <p:cNvPr id="8" name="Rectangle 7"/>
          <p:cNvSpPr/>
          <p:nvPr/>
        </p:nvSpPr>
        <p:spPr>
          <a:xfrm>
            <a:off x="777240" y="327202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data is not the problem. The reader is.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Analysis is three separate activities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Identifying price and indicator patterns.</a:t>
            </a:r>
          </a:p>
          <a:p>
            <a:pPr algn="l">
              <a:lnSpc>
                <a:spcPct val="118000"/>
              </a:lnSpc>
              <a:spcBef>
                <a:spcPts val="0"/>
              </a:spcBef>
              <a:spcAft>
                <a:spcPts val="1300"/>
              </a:spcAft>
            </a:pPr>
            <a:r>
              <a:rPr sz="2100" b="0" i="0">
                <a:solidFill>
                  <a:srgbClr val="1A1A1A"/>
                </a:solidFill>
                <a:latin typeface="Arial"/>
              </a:rPr>
              <a:t>2.  Interpreting what the data means.</a:t>
            </a:r>
          </a:p>
          <a:p>
            <a:pPr algn="l">
              <a:lnSpc>
                <a:spcPct val="118000"/>
              </a:lnSpc>
              <a:spcBef>
                <a:spcPts val="0"/>
              </a:spcBef>
              <a:spcAft>
                <a:spcPts val="1300"/>
              </a:spcAft>
            </a:pPr>
            <a:r>
              <a:rPr sz="2100" b="0" i="0">
                <a:solidFill>
                  <a:srgbClr val="1A1A1A"/>
                </a:solidFill>
                <a:latin typeface="Arial"/>
              </a:rPr>
              <a:t>3.  Inferring what price might do next.</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Subjectivity enters at every one of the three, not just the last.</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Subjectivity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Two competent analysts, given exactly the same chart, can reach different and equally defensible conclusions.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One reads an overbought oscillator as a strong trend continuing. Another reads it as a market about to reverse.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Subjectivity is the dependence of analysis on behavioral traits, filters and biases unique to each analyst or observer.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 of 36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problem is twofold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4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First: which form of analysis should be applied to this chart at all?</a:t>
            </a:r>
          </a:p>
          <a:p>
            <a:pPr algn="l">
              <a:lnSpc>
                <a:spcPct val="118000"/>
              </a:lnSpc>
              <a:spcBef>
                <a:spcPts val="0"/>
              </a:spcBef>
              <a:spcAft>
                <a:spcPts val="1300"/>
              </a:spcAft>
            </a:pPr>
            <a:r>
              <a:rPr sz="2100" b="0" i="0">
                <a:solidFill>
                  <a:srgbClr val="1A1A1A"/>
                </a:solidFill>
                <a:latin typeface="Arial"/>
              </a:rPr>
              <a:t>Second: which indicators should be applied to it?</a:t>
            </a:r>
          </a:p>
        </p:txBody>
      </p:sp>
      <p:sp>
        <p:nvSpPr>
          <p:cNvPr id="8" name="Rectangle 7"/>
          <p:cNvSpPr/>
          <p:nvPr/>
        </p:nvSpPr>
        <p:spPr>
          <a:xfrm>
            <a:off x="777240" y="327202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Neither question has a correct answer. Both have consequences.</a:t>
            </a:r>
          </a:p>
        </p:txBody>
      </p:sp>
      <p:sp>
        <p:nvSpPr>
          <p:cNvPr id="10" name="TextBox 9"/>
          <p:cNvSpPr txBox="1"/>
          <p:nvPr/>
        </p:nvSpPr>
        <p:spPr>
          <a:xfrm>
            <a:off x="777240" y="3977385"/>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One plain chart can carry trendlines, moving averages, chart patterns, regression bands, divergence, volatility bands and volume study.</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chart, reading one: nothing on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5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1.9</a:t>
            </a:r>
          </a:p>
          <a:p>
            <a:pPr algn="l">
              <a:lnSpc>
                <a:spcPct val="120000"/>
              </a:lnSpc>
              <a:spcBef>
                <a:spcPts val="0"/>
              </a:spcBef>
              <a:spcAft>
                <a:spcPts val="1800"/>
              </a:spcAft>
            </a:pPr>
            <a:r>
              <a:rPr sz="2200" b="0" i="0">
                <a:solidFill>
                  <a:srgbClr val="1A1A1A"/>
                </a:solidFill>
                <a:latin typeface="Palatino"/>
              </a:rPr>
              <a:t>A plain price chart with no analysis drawn on it at all, the raw record before anybody has interpreted it.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1.9 - Lim, The Handbook of Technical Analysis (Wiley, 2016)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two: trendlines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6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1.10</a:t>
            </a:r>
          </a:p>
          <a:p>
            <a:pPr algn="l">
              <a:lnSpc>
                <a:spcPct val="120000"/>
              </a:lnSpc>
              <a:spcBef>
                <a:spcPts val="0"/>
              </a:spcBef>
              <a:spcAft>
                <a:spcPts val="1800"/>
              </a:spcAft>
            </a:pPr>
            <a:r>
              <a:rPr sz="2200" b="0" i="0">
                <a:solidFill>
                  <a:srgbClr val="1A1A1A"/>
                </a:solidFill>
                <a:latin typeface="Palatino"/>
              </a:rPr>
              <a:t>The same chart with a short-term downtrend line, a longer-term uptrend line, an uptrend line and a downtrend line drawn across it.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1.10 - Lim, The Handbook of Technical Analysis (Wiley, 2016)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three: moving averages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7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1.11</a:t>
            </a:r>
          </a:p>
          <a:p>
            <a:pPr algn="l">
              <a:lnSpc>
                <a:spcPct val="120000"/>
              </a:lnSpc>
              <a:spcBef>
                <a:spcPts val="0"/>
              </a:spcBef>
              <a:spcAft>
                <a:spcPts val="1800"/>
              </a:spcAft>
            </a:pPr>
            <a:r>
              <a:rPr sz="2200" b="0" i="0">
                <a:solidFill>
                  <a:srgbClr val="1A1A1A"/>
                </a:solidFill>
                <a:latin typeface="Palatino"/>
              </a:rPr>
              <a:t>The same chart with a moving average through it, marked where it acts as support with buy points and where it acts as resistance with a short.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1.11 - Lim, The Handbook of Technical Analysis (Wiley, 2016)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four: chart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8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1.12</a:t>
            </a:r>
          </a:p>
          <a:p>
            <a:pPr algn="l">
              <a:lnSpc>
                <a:spcPct val="120000"/>
              </a:lnSpc>
              <a:spcBef>
                <a:spcPts val="0"/>
              </a:spcBef>
              <a:spcAft>
                <a:spcPts val="1800"/>
              </a:spcAft>
            </a:pPr>
            <a:r>
              <a:rPr sz="2200" b="0" i="0">
                <a:solidFill>
                  <a:srgbClr val="1A1A1A"/>
                </a:solidFill>
                <a:latin typeface="Palatino"/>
              </a:rPr>
              <a:t>The same chart annotated with an ascending triangle, a head and shoulders, a parabolic move, a symmetrical triangle breakout and a channel retest.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1.12 - Lim, The Handbook of Technical Analysis (Wiley, 2016)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five: regression and divergence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9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1.13</a:t>
            </a:r>
          </a:p>
          <a:p>
            <a:pPr algn="l">
              <a:lnSpc>
                <a:spcPct val="120000"/>
              </a:lnSpc>
              <a:spcBef>
                <a:spcPts val="0"/>
              </a:spcBef>
              <a:spcAft>
                <a:spcPts val="1800"/>
              </a:spcAft>
            </a:pPr>
            <a:r>
              <a:rPr sz="2200" b="0" i="0">
                <a:solidFill>
                  <a:srgbClr val="1A1A1A"/>
                </a:solidFill>
                <a:latin typeface="Palatino"/>
              </a:rPr>
              <a:t>The same chart with regression lines showing higher highs in price while the CCI panel below makes lower highs, marked standard bearish divergence.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1.13 - Lim, The Handbook of Technical Analysis (Wiley, 2016)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six: regression with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10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1.14</a:t>
            </a:r>
          </a:p>
          <a:p>
            <a:pPr algn="l">
              <a:lnSpc>
                <a:spcPct val="120000"/>
              </a:lnSpc>
              <a:spcBef>
                <a:spcPts val="0"/>
              </a:spcBef>
              <a:spcAft>
                <a:spcPts val="1800"/>
              </a:spcAft>
            </a:pPr>
            <a:r>
              <a:rPr sz="2200" b="0" i="0">
                <a:solidFill>
                  <a:srgbClr val="1A1A1A"/>
                </a:solidFill>
                <a:latin typeface="Palatino"/>
              </a:rPr>
              <a:t>The same chart with regression lines and a volume panel underneath, marking a parabolic buying climax with a volume spike at the blow off.</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1.14 - Lim, The Handbook of Technical Analysis (Wiley, 2016)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seven: volatility bands, volume and MACD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11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1.15</a:t>
            </a:r>
          </a:p>
          <a:p>
            <a:pPr algn="l">
              <a:lnSpc>
                <a:spcPct val="120000"/>
              </a:lnSpc>
              <a:spcBef>
                <a:spcPts val="0"/>
              </a:spcBef>
              <a:spcAft>
                <a:spcPts val="1800"/>
              </a:spcAft>
            </a:pPr>
            <a:r>
              <a:rPr sz="2200" b="0" i="0">
                <a:solidFill>
                  <a:srgbClr val="1A1A1A"/>
                </a:solidFill>
                <a:latin typeface="Palatino"/>
              </a:rPr>
              <a:t>The same chart again with volatility bands, price exceeding the upper band, the volume spike, and MACD at a historically overbought level.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1.15 - Lim, The Handbook of Technical Analysis (Wiley, 2016)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13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Where subjectivity lives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part of technical analysis is described as objective?</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interpretation of indicators</a:t>
            </a:r>
          </a:p>
          <a:p>
            <a:pPr algn="l">
              <a:lnSpc>
                <a:spcPct val="112000"/>
              </a:lnSpc>
              <a:spcBef>
                <a:spcPts val="0"/>
              </a:spcBef>
              <a:spcAft>
                <a:spcPts val="900"/>
              </a:spcAft>
            </a:pPr>
            <a:r>
              <a:rPr sz="1500" b="0" i="0">
                <a:solidFill>
                  <a:srgbClr val="FFFFFF"/>
                </a:solidFill>
                <a:latin typeface="Arial"/>
              </a:rPr>
              <a:t>B.  The chart as a historical record of price and market action</a:t>
            </a:r>
          </a:p>
          <a:p>
            <a:pPr algn="l">
              <a:lnSpc>
                <a:spcPct val="112000"/>
              </a:lnSpc>
              <a:spcBef>
                <a:spcPts val="0"/>
              </a:spcBef>
              <a:spcAft>
                <a:spcPts val="900"/>
              </a:spcAft>
            </a:pPr>
            <a:r>
              <a:rPr sz="1500" b="0" i="0">
                <a:solidFill>
                  <a:srgbClr val="FFFFFF"/>
                </a:solidFill>
                <a:latin typeface="Arial"/>
              </a:rPr>
              <a:t>C.  The inference of future price</a:t>
            </a:r>
          </a:p>
          <a:p>
            <a:pPr algn="l">
              <a:lnSpc>
                <a:spcPct val="112000"/>
              </a:lnSpc>
              <a:spcBef>
                <a:spcPts val="0"/>
              </a:spcBef>
              <a:spcAft>
                <a:spcPts val="900"/>
              </a:spcAft>
            </a:pPr>
            <a:r>
              <a:rPr sz="1500" b="0" i="0">
                <a:solidFill>
                  <a:srgbClr val="FFFFFF"/>
                </a:solidFill>
                <a:latin typeface="Arial"/>
              </a:rPr>
              <a:t>D.  The choice of which indicator to apply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Analyzing price and market action consists of which three activities?</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Buying, holding, selling</a:t>
            </a:r>
          </a:p>
          <a:p>
            <a:pPr algn="l">
              <a:lnSpc>
                <a:spcPct val="112000"/>
              </a:lnSpc>
              <a:spcBef>
                <a:spcPts val="0"/>
              </a:spcBef>
              <a:spcAft>
                <a:spcPts val="900"/>
              </a:spcAft>
            </a:pPr>
            <a:r>
              <a:rPr sz="1500" b="0" i="0">
                <a:solidFill>
                  <a:srgbClr val="FFFFFF"/>
                </a:solidFill>
                <a:latin typeface="Arial"/>
              </a:rPr>
              <a:t>B.  Recording, charting, publishing</a:t>
            </a:r>
          </a:p>
          <a:p>
            <a:pPr algn="l">
              <a:lnSpc>
                <a:spcPct val="112000"/>
              </a:lnSpc>
              <a:spcBef>
                <a:spcPts val="0"/>
              </a:spcBef>
              <a:spcAft>
                <a:spcPts val="900"/>
              </a:spcAft>
            </a:pPr>
            <a:r>
              <a:rPr sz="1500" b="0" i="0">
                <a:solidFill>
                  <a:srgbClr val="FFFFFF"/>
                </a:solidFill>
                <a:latin typeface="Arial"/>
              </a:rPr>
              <a:t>C.  Screening, valuing, timing</a:t>
            </a:r>
          </a:p>
          <a:p>
            <a:pPr algn="l">
              <a:lnSpc>
                <a:spcPct val="112000"/>
              </a:lnSpc>
              <a:spcBef>
                <a:spcPts val="0"/>
              </a:spcBef>
              <a:spcAft>
                <a:spcPts val="900"/>
              </a:spcAft>
            </a:pPr>
            <a:r>
              <a:rPr sz="1500" b="0" i="0">
                <a:solidFill>
                  <a:srgbClr val="FFFFFF"/>
                </a:solidFill>
                <a:latin typeface="Arial"/>
              </a:rPr>
              <a:t>D.  Identifying, interpreting, inferring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Subjectivity  |  Check 13</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Where subjectivity lives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part of technical analysis is described as objective?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chart as a historical record of price and market action</a:t>
            </a:r>
          </a:p>
          <a:p>
            <a:pPr algn="l">
              <a:lnSpc>
                <a:spcPct val="115000"/>
              </a:lnSpc>
              <a:spcBef>
                <a:spcPts val="700"/>
              </a:spcBef>
              <a:spcAft>
                <a:spcPts val="0"/>
              </a:spcAft>
            </a:pPr>
            <a:r>
              <a:rPr sz="1600" b="0" i="0">
                <a:solidFill>
                  <a:srgbClr val="1A1A1A"/>
                </a:solidFill>
                <a:latin typeface="Arial"/>
              </a:rPr>
              <a:t>The chart is an objective record; everything done to it afterwards is subjective.</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Analyzing price and market action consists of which three activities?</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Identifying, interpreting, inferring</a:t>
            </a:r>
          </a:p>
          <a:p>
            <a:pPr algn="l">
              <a:lnSpc>
                <a:spcPct val="115000"/>
              </a:lnSpc>
              <a:spcBef>
                <a:spcPts val="700"/>
              </a:spcBef>
              <a:spcAft>
                <a:spcPts val="0"/>
              </a:spcAft>
            </a:pPr>
            <a:r>
              <a:rPr sz="1600" b="0" i="0">
                <a:solidFill>
                  <a:srgbClr val="1A1A1A"/>
                </a:solidFill>
                <a:latin typeface="Arial"/>
              </a:rPr>
              <a:t>The three activities are identifying patterns, interpreting the data, and inferring future behavior.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Check 13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Contradictory signals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Two indicators point in opposite directions at the same moment.</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MACD says the market is strengthening while the stochastic says it is exhausted.</a:t>
            </a:r>
          </a:p>
        </p:txBody>
      </p:sp>
      <p:sp>
        <p:nvSpPr>
          <p:cNvPr id="11" name="Rectangle 10"/>
          <p:cNvSpPr/>
          <p:nvPr/>
        </p:nvSpPr>
        <p:spPr>
          <a:xfrm>
            <a:off x="777240" y="402056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Contradictory signals are indications from two or more studies that are in clear and direct opposition to one another.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12 of 36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Confirmatory signals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Two indicators agree, so your confidence in the reading goes up.</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chart pattern breaks upward and volume expands on the same bar.</a:t>
            </a:r>
          </a:p>
        </p:txBody>
      </p:sp>
      <p:sp>
        <p:nvSpPr>
          <p:cNvPr id="11" name="Rectangle 10"/>
          <p:cNvSpPr/>
          <p:nvPr/>
        </p:nvSpPr>
        <p:spPr>
          <a:xfrm>
            <a:off x="777240" y="402056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Confirmatory signals are indications from separate studies that agree with and reinforce the same conclusion.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13 of 36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Complementary signals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Two signals look contradictory but are actually describing different time horizons, and together they say more than either alone.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20 period reading says slightly overbought while a 100 period reading says slightly oversold: cheap for the long term, stretched for the short term.</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Complementary signals are apparently opposing indications that, once their differing time horizons are recognized, combine into a fuller reading of the market.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14 of 36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14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Three kinds of signal</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20 period oscillator reads overbought while a 100 period oscillator on the same chart reads oversold. This is best described as:</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contradiction that invalidates both</a:t>
            </a:r>
          </a:p>
          <a:p>
            <a:pPr algn="l">
              <a:lnSpc>
                <a:spcPct val="112000"/>
              </a:lnSpc>
              <a:spcBef>
                <a:spcPts val="0"/>
              </a:spcBef>
              <a:spcAft>
                <a:spcPts val="900"/>
              </a:spcAft>
            </a:pPr>
            <a:r>
              <a:rPr sz="1500" b="0" i="0">
                <a:solidFill>
                  <a:srgbClr val="FFFFFF"/>
                </a:solidFill>
                <a:latin typeface="Arial"/>
              </a:rPr>
              <a:t>B.  A complementary reading across two time horizons</a:t>
            </a:r>
          </a:p>
          <a:p>
            <a:pPr algn="l">
              <a:lnSpc>
                <a:spcPct val="112000"/>
              </a:lnSpc>
              <a:spcBef>
                <a:spcPts val="0"/>
              </a:spcBef>
              <a:spcAft>
                <a:spcPts val="900"/>
              </a:spcAft>
            </a:pPr>
            <a:r>
              <a:rPr sz="1500" b="0" i="0">
                <a:solidFill>
                  <a:srgbClr val="FFFFFF"/>
                </a:solidFill>
                <a:latin typeface="Arial"/>
              </a:rPr>
              <a:t>C.  A confirmatory signal</a:t>
            </a:r>
          </a:p>
          <a:p>
            <a:pPr algn="l">
              <a:lnSpc>
                <a:spcPct val="112000"/>
              </a:lnSpc>
              <a:spcBef>
                <a:spcPts val="0"/>
              </a:spcBef>
              <a:spcAft>
                <a:spcPts val="900"/>
              </a:spcAft>
            </a:pPr>
            <a:r>
              <a:rPr sz="1500" b="0" i="0">
                <a:solidFill>
                  <a:srgbClr val="FFFFFF"/>
                </a:solidFill>
                <a:latin typeface="Arial"/>
              </a:rPr>
              <a:t>D.  A data error on the platform</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Signals that agree with each other and reinforce the same conclusion are:</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Confirmatory</a:t>
            </a:r>
          </a:p>
          <a:p>
            <a:pPr algn="l">
              <a:lnSpc>
                <a:spcPct val="112000"/>
              </a:lnSpc>
              <a:spcBef>
                <a:spcPts val="0"/>
              </a:spcBef>
              <a:spcAft>
                <a:spcPts val="900"/>
              </a:spcAft>
            </a:pPr>
            <a:r>
              <a:rPr sz="1500" b="0" i="0">
                <a:solidFill>
                  <a:srgbClr val="FFFFFF"/>
                </a:solidFill>
                <a:latin typeface="Arial"/>
              </a:rPr>
              <a:t>B.  Contradictory</a:t>
            </a:r>
          </a:p>
          <a:p>
            <a:pPr algn="l">
              <a:lnSpc>
                <a:spcPct val="112000"/>
              </a:lnSpc>
              <a:spcBef>
                <a:spcPts val="0"/>
              </a:spcBef>
              <a:spcAft>
                <a:spcPts val="900"/>
              </a:spcAft>
            </a:pPr>
            <a:r>
              <a:rPr sz="1500" b="0" i="0">
                <a:solidFill>
                  <a:srgbClr val="FFFFFF"/>
                </a:solidFill>
                <a:latin typeface="Arial"/>
              </a:rPr>
              <a:t>C.  Complementary</a:t>
            </a:r>
          </a:p>
          <a:p>
            <a:pPr algn="l">
              <a:lnSpc>
                <a:spcPct val="112000"/>
              </a:lnSpc>
              <a:spcBef>
                <a:spcPts val="0"/>
              </a:spcBef>
              <a:spcAft>
                <a:spcPts val="900"/>
              </a:spcAft>
            </a:pPr>
            <a:r>
              <a:rPr sz="1500" b="0" i="0">
                <a:solidFill>
                  <a:srgbClr val="FFFFFF"/>
                </a:solidFill>
                <a:latin typeface="Arial"/>
              </a:rPr>
              <a:t>D.  Contrarian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Subjectivity  |  Check 14</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Three kinds of signal</a:t>
            </a:r>
          </a:p>
        </p:txBody>
      </p:sp>
      <p:sp>
        <p:nvSpPr>
          <p:cNvPr id="6" name="Rectangle 5"/>
          <p:cNvSpPr/>
          <p:nvPr/>
        </p:nvSpPr>
        <p:spPr>
          <a:xfrm>
            <a:off x="777240" y="1207008"/>
            <a:ext cx="10637215" cy="209549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9549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20 period oscillator reads overbought while a 100 period oscillator on the same chart reads oversold. This is best described as: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complementary reading across two time horizons</a:t>
            </a:r>
          </a:p>
          <a:p>
            <a:pPr algn="l">
              <a:lnSpc>
                <a:spcPct val="115000"/>
              </a:lnSpc>
              <a:spcBef>
                <a:spcPts val="700"/>
              </a:spcBef>
              <a:spcAft>
                <a:spcPts val="0"/>
              </a:spcAft>
            </a:pPr>
            <a:r>
              <a:rPr sz="1600" b="0" i="0">
                <a:solidFill>
                  <a:srgbClr val="1A1A1A"/>
                </a:solidFill>
                <a:latin typeface="Arial"/>
              </a:rPr>
              <a:t>Different time horizons are not a real conflict; read together they describe short and long term position.</a:t>
            </a:r>
          </a:p>
        </p:txBody>
      </p:sp>
      <p:sp>
        <p:nvSpPr>
          <p:cNvPr id="10" name="Rectangle 9"/>
          <p:cNvSpPr/>
          <p:nvPr/>
        </p:nvSpPr>
        <p:spPr>
          <a:xfrm>
            <a:off x="777240" y="354939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4939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8714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Signals that agree with each other and reinforce the same conclusion are:</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Confirmatory</a:t>
            </a:r>
          </a:p>
          <a:p>
            <a:pPr algn="l">
              <a:lnSpc>
                <a:spcPct val="115000"/>
              </a:lnSpc>
              <a:spcBef>
                <a:spcPts val="700"/>
              </a:spcBef>
              <a:spcAft>
                <a:spcPts val="0"/>
              </a:spcAft>
            </a:pPr>
            <a:r>
              <a:rPr sz="1600" b="0" i="0">
                <a:solidFill>
                  <a:srgbClr val="1A1A1A"/>
                </a:solidFill>
                <a:latin typeface="Arial"/>
              </a:rPr>
              <a:t>Agreement and reinforcement is the definition of a confirmatory signal.</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Check 14</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indicators disagree in the first place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15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mathematics behind each indicator is different.</a:t>
            </a:r>
          </a:p>
          <a:p>
            <a:pPr algn="l">
              <a:lnSpc>
                <a:spcPct val="118000"/>
              </a:lnSpc>
              <a:spcBef>
                <a:spcPts val="0"/>
              </a:spcBef>
              <a:spcAft>
                <a:spcPts val="1300"/>
              </a:spcAft>
            </a:pPr>
            <a:r>
              <a:rPr sz="2100" b="0" i="0">
                <a:solidFill>
                  <a:srgbClr val="1A1A1A"/>
                </a:solidFill>
                <a:latin typeface="Arial"/>
              </a:rPr>
              <a:t>Each one tracks a different time horizon.</a:t>
            </a:r>
          </a:p>
          <a:p>
            <a:pPr algn="l">
              <a:lnSpc>
                <a:spcPct val="118000"/>
              </a:lnSpc>
              <a:spcBef>
                <a:spcPts val="0"/>
              </a:spcBef>
              <a:spcAft>
                <a:spcPts val="1300"/>
              </a:spcAft>
            </a:pPr>
            <a:r>
              <a:rPr sz="2100" b="0" i="0">
                <a:solidFill>
                  <a:srgbClr val="1A1A1A"/>
                </a:solidFill>
                <a:latin typeface="Arial"/>
              </a:rPr>
              <a:t>Data may be missing on one charting platform.</a:t>
            </a:r>
          </a:p>
          <a:p>
            <a:pPr algn="l">
              <a:lnSpc>
                <a:spcPct val="118000"/>
              </a:lnSpc>
              <a:spcBef>
                <a:spcPts val="0"/>
              </a:spcBef>
              <a:spcAft>
                <a:spcPts val="1300"/>
              </a:spcAft>
            </a:pPr>
            <a:r>
              <a:rPr sz="2100" b="0" i="0">
                <a:solidFill>
                  <a:srgbClr val="1A1A1A"/>
                </a:solidFill>
                <a:latin typeface="Arial"/>
              </a:rPr>
              <a:t>Data quality, accuracy and type vary between platforms.</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identical indicators on two platforms can honestly disagree.</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Tick volume, which counts transactions regardless of size, is one common source of the difference.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oscillators, one chart, opposite answers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16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1.16</a:t>
            </a:r>
          </a:p>
          <a:p>
            <a:pPr algn="l">
              <a:lnSpc>
                <a:spcPct val="120000"/>
              </a:lnSpc>
              <a:spcBef>
                <a:spcPts val="0"/>
              </a:spcBef>
              <a:spcAft>
                <a:spcPts val="1800"/>
              </a:spcAft>
            </a:pPr>
            <a:r>
              <a:rPr sz="2200" b="0" i="0">
                <a:solidFill>
                  <a:srgbClr val="1A1A1A"/>
                </a:solidFill>
                <a:latin typeface="Palatino"/>
              </a:rPr>
              <a:t>A daily Alcoa chart with two oscillators below it: the faster one reads overbought at the same moment the slower one reads oversold.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1.16 - Lim, The Handbook of Technical Analysis (Wiley, 2016)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Resolving conflicting chart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17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First, measure the size of each pattern.</a:t>
            </a:r>
          </a:p>
          <a:p>
            <a:pPr algn="l">
              <a:lnSpc>
                <a:spcPct val="118000"/>
              </a:lnSpc>
              <a:spcBef>
                <a:spcPts val="0"/>
              </a:spcBef>
              <a:spcAft>
                <a:spcPts val="1300"/>
              </a:spcAft>
            </a:pPr>
            <a:r>
              <a:rPr sz="2100" b="0" i="0">
                <a:solidFill>
                  <a:srgbClr val="1A1A1A"/>
                </a:solidFill>
                <a:latin typeface="Arial"/>
              </a:rPr>
              <a:t>The sentiment of the larger formation takes precedence.</a:t>
            </a:r>
          </a:p>
          <a:p>
            <a:pPr algn="l">
              <a:lnSpc>
                <a:spcPct val="118000"/>
              </a:lnSpc>
              <a:spcBef>
                <a:spcPts val="0"/>
              </a:spcBef>
              <a:spcAft>
                <a:spcPts val="1300"/>
              </a:spcAft>
            </a:pPr>
            <a:r>
              <a:rPr sz="2100" b="0" i="0">
                <a:solidFill>
                  <a:srgbClr val="1A1A1A"/>
                </a:solidFill>
                <a:latin typeface="Arial"/>
              </a:rPr>
              <a:t>Larger patterns speak for the longer term, smaller ones for the short term.</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bullish ascending triangle that contains a bearish head and shoulders stays bullish until the neckline breaks.</a:t>
            </a:r>
          </a:p>
        </p:txBody>
      </p:sp>
      <p:sp>
        <p:nvSpPr>
          <p:cNvPr id="10" name="TextBox 9"/>
          <p:cNvSpPr txBox="1"/>
          <p:nvPr/>
        </p:nvSpPr>
        <p:spPr>
          <a:xfrm>
            <a:off x="777240" y="479628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This one rule removes a large slice of the subjectivity in reading chart formations.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Conflicting patterns in one formation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18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1.17</a:t>
            </a:r>
          </a:p>
          <a:p>
            <a:pPr algn="l">
              <a:lnSpc>
                <a:spcPct val="120000"/>
              </a:lnSpc>
              <a:spcBef>
                <a:spcPts val="0"/>
              </a:spcBef>
              <a:spcAft>
                <a:spcPts val="1800"/>
              </a:spcAft>
            </a:pPr>
            <a:r>
              <a:rPr sz="2200" b="0" i="0">
                <a:solidFill>
                  <a:srgbClr val="1A1A1A"/>
                </a:solidFill>
                <a:latin typeface="Palatino"/>
              </a:rPr>
              <a:t>An ascending triangle marked bullish, a symmetrical triangle marked neutral, and a complex head and shoulders marked bearish, all in the same stretch of price.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1.17 - Lim, The Handbook of Technical Analysis (Wiley, 2016)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Patterns that agree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19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1.18</a:t>
            </a:r>
          </a:p>
          <a:p>
            <a:pPr algn="l">
              <a:lnSpc>
                <a:spcPct val="120000"/>
              </a:lnSpc>
              <a:spcBef>
                <a:spcPts val="0"/>
              </a:spcBef>
              <a:spcAft>
                <a:spcPts val="1800"/>
              </a:spcAft>
            </a:pPr>
            <a:r>
              <a:rPr sz="2200" b="0" i="0">
                <a:solidFill>
                  <a:srgbClr val="1A1A1A"/>
                </a:solidFill>
                <a:latin typeface="Palatino"/>
              </a:rPr>
              <a:t>A larger descending triangle and a smaller descending triangle, both bearish, over a complex head and shoulders that is also bearish.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1.18 - Lim, The Handbook of Technical Analysis (Wiley, 2016)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fact, read two ways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20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Oil rises sharply. One analyst calls it bearish: costs go up across the economy.</a:t>
            </a:r>
          </a:p>
          <a:p>
            <a:pPr algn="l">
              <a:lnSpc>
                <a:spcPct val="118000"/>
              </a:lnSpc>
              <a:spcBef>
                <a:spcPts val="0"/>
              </a:spcBef>
              <a:spcAft>
                <a:spcPts val="1300"/>
              </a:spcAft>
            </a:pPr>
            <a:r>
              <a:rPr sz="2100" b="0" i="0">
                <a:solidFill>
                  <a:srgbClr val="1A1A1A"/>
                </a:solidFill>
                <a:latin typeface="Arial"/>
              </a:rPr>
              <a:t>Another calls it bullish: demand is rising, so the economy is healthy.</a:t>
            </a:r>
          </a:p>
          <a:p>
            <a:pPr algn="l">
              <a:lnSpc>
                <a:spcPct val="118000"/>
              </a:lnSpc>
              <a:spcBef>
                <a:spcPts val="0"/>
              </a:spcBef>
              <a:spcAft>
                <a:spcPts val="1300"/>
              </a:spcAft>
            </a:pPr>
            <a:r>
              <a:rPr sz="2100" b="0" i="0">
                <a:solidFill>
                  <a:srgbClr val="1A1A1A"/>
                </a:solidFill>
                <a:latin typeface="Arial"/>
              </a:rPr>
              <a:t>Both are reading the identical fact.</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For every bullish interpretation there is an equal and opposite bearish one.</a:t>
            </a:r>
          </a:p>
        </p:txBody>
      </p:sp>
      <p:sp>
        <p:nvSpPr>
          <p:cNvPr id="10" name="TextBox 9"/>
          <p:cNvSpPr txBox="1"/>
          <p:nvPr/>
        </p:nvSpPr>
        <p:spPr>
          <a:xfrm>
            <a:off x="777240" y="511098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Notice that both of those analysts are fundamentalists. Subjectivity is not a technical problem.</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15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Conflicts, and how to settle them</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Two identical oscillators on two different platforms give different readings. The most likely reason is:</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One platform is fraudulent</a:t>
            </a:r>
          </a:p>
          <a:p>
            <a:pPr algn="l">
              <a:lnSpc>
                <a:spcPct val="112000"/>
              </a:lnSpc>
              <a:spcBef>
                <a:spcPts val="0"/>
              </a:spcBef>
              <a:spcAft>
                <a:spcPts val="900"/>
              </a:spcAft>
            </a:pPr>
            <a:r>
              <a:rPr sz="1500" b="0" i="0">
                <a:solidFill>
                  <a:srgbClr val="FFFFFF"/>
                </a:solidFill>
                <a:latin typeface="Arial"/>
              </a:rPr>
              <a:t>B.  Oscillators are random by design</a:t>
            </a:r>
          </a:p>
          <a:p>
            <a:pPr algn="l">
              <a:lnSpc>
                <a:spcPct val="112000"/>
              </a:lnSpc>
              <a:spcBef>
                <a:spcPts val="0"/>
              </a:spcBef>
              <a:spcAft>
                <a:spcPts val="900"/>
              </a:spcAft>
            </a:pPr>
            <a:r>
              <a:rPr sz="1500" b="0" i="0">
                <a:solidFill>
                  <a:srgbClr val="FFFFFF"/>
                </a:solidFill>
                <a:latin typeface="Arial"/>
              </a:rPr>
              <a:t>C.  The market was closed</a:t>
            </a:r>
          </a:p>
          <a:p>
            <a:pPr algn="l">
              <a:lnSpc>
                <a:spcPct val="112000"/>
              </a:lnSpc>
              <a:spcBef>
                <a:spcPts val="0"/>
              </a:spcBef>
              <a:spcAft>
                <a:spcPts val="900"/>
              </a:spcAft>
            </a:pPr>
            <a:r>
              <a:rPr sz="1500" b="0" i="0">
                <a:solidFill>
                  <a:srgbClr val="FFFFFF"/>
                </a:solidFill>
                <a:latin typeface="Arial"/>
              </a:rPr>
              <a:t>D.  Differences in data availability, accuracy or type between the platforms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large bullish ascending triangle contains a smaller bearish complex head and shoulders. Until the neckline breaks, the formation is read as: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Bearish, because the smaller pattern is more recent</a:t>
            </a:r>
          </a:p>
          <a:p>
            <a:pPr algn="l">
              <a:lnSpc>
                <a:spcPct val="112000"/>
              </a:lnSpc>
              <a:spcBef>
                <a:spcPts val="0"/>
              </a:spcBef>
              <a:spcAft>
                <a:spcPts val="900"/>
              </a:spcAft>
            </a:pPr>
            <a:r>
              <a:rPr sz="1500" b="0" i="0">
                <a:solidFill>
                  <a:srgbClr val="FFFFFF"/>
                </a:solidFill>
                <a:latin typeface="Arial"/>
              </a:rPr>
              <a:t>B.  Bullish, because the larger formation takes precedence</a:t>
            </a:r>
          </a:p>
          <a:p>
            <a:pPr algn="l">
              <a:lnSpc>
                <a:spcPct val="112000"/>
              </a:lnSpc>
              <a:spcBef>
                <a:spcPts val="0"/>
              </a:spcBef>
              <a:spcAft>
                <a:spcPts val="900"/>
              </a:spcAft>
            </a:pPr>
            <a:r>
              <a:rPr sz="1500" b="0" i="0">
                <a:solidFill>
                  <a:srgbClr val="FFFFFF"/>
                </a:solidFill>
                <a:latin typeface="Arial"/>
              </a:rPr>
              <a:t>C.  Neutral, because the signals cancel</a:t>
            </a:r>
          </a:p>
          <a:p>
            <a:pPr algn="l">
              <a:lnSpc>
                <a:spcPct val="112000"/>
              </a:lnSpc>
              <a:spcBef>
                <a:spcPts val="0"/>
              </a:spcBef>
              <a:spcAft>
                <a:spcPts val="900"/>
              </a:spcAft>
            </a:pPr>
            <a:r>
              <a:rPr sz="1500" b="0" i="0">
                <a:solidFill>
                  <a:srgbClr val="FFFFFF"/>
                </a:solidFill>
                <a:latin typeface="Arial"/>
              </a:rPr>
              <a:t>D.  Unreadable, because the patterns conflict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Subjectivity  |  Check 15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Conflicts, and how to settle them</a:t>
            </a:r>
          </a:p>
        </p:txBody>
      </p:sp>
      <p:sp>
        <p:nvSpPr>
          <p:cNvPr id="6" name="Rectangle 5"/>
          <p:cNvSpPr/>
          <p:nvPr/>
        </p:nvSpPr>
        <p:spPr>
          <a:xfrm>
            <a:off x="777240" y="1207008"/>
            <a:ext cx="10637215" cy="2051685"/>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2051685"/>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2959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818181"/>
                </a:solidFill>
                <a:latin typeface="Arial"/>
              </a:rPr>
              <a:t>Q1   Two identical oscillators on two different platforms give different readings. The most likely reason is:</a:t>
            </a:r>
          </a:p>
        </p:txBody>
      </p:sp>
      <p:sp>
        <p:nvSpPr>
          <p:cNvPr id="9" name="TextBox 8"/>
          <p:cNvSpPr txBox="1"/>
          <p:nvPr/>
        </p:nvSpPr>
        <p:spPr>
          <a:xfrm>
            <a:off x="1143000" y="2138933"/>
            <a:ext cx="9905695" cy="144018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D.  Differences in data availability, accuracy or type between the platforms</a:t>
            </a:r>
          </a:p>
          <a:p>
            <a:pPr algn="l">
              <a:lnSpc>
                <a:spcPct val="115000"/>
              </a:lnSpc>
              <a:spcBef>
                <a:spcPts val="700"/>
              </a:spcBef>
              <a:spcAft>
                <a:spcPts val="0"/>
              </a:spcAft>
            </a:pPr>
            <a:r>
              <a:rPr sz="1500" b="0" i="0">
                <a:solidFill>
                  <a:srgbClr val="1A1A1A"/>
                </a:solidFill>
                <a:latin typeface="Arial"/>
              </a:rPr>
              <a:t>Missing data, or variation in data quality and type between platforms, produces inconsistent readings.</a:t>
            </a:r>
          </a:p>
        </p:txBody>
      </p:sp>
      <p:sp>
        <p:nvSpPr>
          <p:cNvPr id="10" name="Rectangle 9"/>
          <p:cNvSpPr/>
          <p:nvPr/>
        </p:nvSpPr>
        <p:spPr>
          <a:xfrm>
            <a:off x="777240" y="3505581"/>
            <a:ext cx="10637215" cy="200787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505581"/>
            <a:ext cx="91440" cy="200787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743325"/>
            <a:ext cx="9905695" cy="529590"/>
          </a:xfrm>
          <a:prstGeom prst="rect">
            <a:avLst/>
          </a:prstGeom>
          <a:noFill/>
        </p:spPr>
        <p:txBody>
          <a:bodyPr wrap="square" anchor="t" lIns="0" rIns="0" tIns="0" bIns="0">
            <a:spAutoFit/>
          </a:bodyPr>
          <a:lstStyle/>
          <a:p>
            <a:pPr algn="l">
              <a:lnSpc>
                <a:spcPct val="115000"/>
              </a:lnSpc>
              <a:spcBef>
                <a:spcPts val="0"/>
              </a:spcBef>
              <a:spcAft>
                <a:spcPts val="0"/>
              </a:spcAft>
            </a:pPr>
            <a:r>
              <a:rPr sz="1500" b="0" i="0">
                <a:solidFill>
                  <a:srgbClr val="818181"/>
                </a:solidFill>
                <a:latin typeface="Arial"/>
              </a:rPr>
              <a:t>Q2   A large bullish ascending triangle contains a smaller bearish complex head and shoulders. Until the neckline breaks, the formation is read as:</a:t>
            </a:r>
          </a:p>
        </p:txBody>
      </p:sp>
      <p:sp>
        <p:nvSpPr>
          <p:cNvPr id="13" name="TextBox 12"/>
          <p:cNvSpPr txBox="1"/>
          <p:nvPr/>
        </p:nvSpPr>
        <p:spPr>
          <a:xfrm>
            <a:off x="1143000" y="4437507"/>
            <a:ext cx="9905695" cy="1177290"/>
          </a:xfrm>
          <a:prstGeom prst="rect">
            <a:avLst/>
          </a:prstGeom>
          <a:noFill/>
        </p:spPr>
        <p:txBody>
          <a:bodyPr wrap="square" anchor="t" lIns="0" rIns="0" tIns="0" bIns="0">
            <a:spAutoFit/>
          </a:bodyPr>
          <a:lstStyle/>
          <a:p>
            <a:pPr algn="l">
              <a:lnSpc>
                <a:spcPct val="115000"/>
              </a:lnSpc>
              <a:spcBef>
                <a:spcPts val="0"/>
              </a:spcBef>
              <a:spcAft>
                <a:spcPts val="0"/>
              </a:spcAft>
            </a:pPr>
            <a:r>
              <a:rPr sz="1800" b="1" i="0">
                <a:solidFill>
                  <a:srgbClr val="007A33"/>
                </a:solidFill>
                <a:latin typeface="Courier New"/>
              </a:rPr>
              <a:t>B.  Bullish, because the larger formation takes precedence</a:t>
            </a:r>
          </a:p>
          <a:p>
            <a:pPr algn="l">
              <a:lnSpc>
                <a:spcPct val="115000"/>
              </a:lnSpc>
              <a:spcBef>
                <a:spcPts val="700"/>
              </a:spcBef>
              <a:spcAft>
                <a:spcPts val="0"/>
              </a:spcAft>
            </a:pPr>
            <a:r>
              <a:rPr sz="1500" b="0" i="0">
                <a:solidFill>
                  <a:srgbClr val="1A1A1A"/>
                </a:solidFill>
                <a:latin typeface="Arial"/>
              </a:rPr>
              <a:t>The larger formation carries the longer term sentiment and takes precedence until its own level is breached.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Check 15</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Selective perception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Quietly ignoring the signals that disagree with the view you already hold.</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use three oscillators. Two are bullish, one is not, so you decide the third one is unreliable today.</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Selective perception is the tendency to heed only those signals that support a preconceived view of the market, discarding those that conflict with it.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21 of 36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Selective perception, drawn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22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1.19</a:t>
            </a:r>
          </a:p>
          <a:p>
            <a:pPr algn="l">
              <a:lnSpc>
                <a:spcPct val="120000"/>
              </a:lnSpc>
              <a:spcBef>
                <a:spcPts val="0"/>
              </a:spcBef>
              <a:spcAft>
                <a:spcPts val="1800"/>
              </a:spcAft>
            </a:pPr>
            <a:r>
              <a:rPr sz="2200" b="0" i="0">
                <a:solidFill>
                  <a:srgbClr val="1A1A1A"/>
                </a:solidFill>
                <a:latin typeface="Palatino"/>
              </a:rPr>
              <a:t>A head and shoulders in price with three oscillators below it. MACD is bullish and is crossed out with the word ignore written across it; RSI and stochastics are bearish.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1.19 - Lim, The Handbook of Technical Analysis (Wiley, 2016)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Even the entry point is subjective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23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trendline break looks like a hard, objective fact.</a:t>
            </a:r>
          </a:p>
          <a:p>
            <a:pPr algn="l">
              <a:lnSpc>
                <a:spcPct val="118000"/>
              </a:lnSpc>
              <a:spcBef>
                <a:spcPts val="0"/>
              </a:spcBef>
              <a:spcAft>
                <a:spcPts val="1300"/>
              </a:spcAft>
            </a:pPr>
            <a:r>
              <a:rPr sz="2100" b="0" i="0">
                <a:solidFill>
                  <a:srgbClr val="1A1A1A"/>
                </a:solidFill>
                <a:latin typeface="Arial"/>
              </a:rPr>
              <a:t>But you chose which two troughs to connect, and another analyst chose differently.</a:t>
            </a:r>
          </a:p>
          <a:p>
            <a:pPr algn="l">
              <a:lnSpc>
                <a:spcPct val="118000"/>
              </a:lnSpc>
              <a:spcBef>
                <a:spcPts val="0"/>
              </a:spcBef>
              <a:spcAft>
                <a:spcPts val="1300"/>
              </a:spcAft>
            </a:pPr>
            <a:r>
              <a:rPr sz="2100" b="0" i="0">
                <a:solidFill>
                  <a:srgbClr val="1A1A1A"/>
                </a:solidFill>
                <a:latin typeface="Arial"/>
              </a:rPr>
              <a:t>Each act of identification is objective. The choice between them is not.</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Individually objective, collectively subjective.</a:t>
            </a:r>
          </a:p>
        </p:txBody>
      </p:sp>
      <p:sp>
        <p:nvSpPr>
          <p:cNvPr id="10" name="TextBox 9"/>
          <p:cNvSpPr txBox="1"/>
          <p:nvPr/>
        </p:nvSpPr>
        <p:spPr>
          <a:xfrm>
            <a:off x="777240" y="478967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same is true of automated trading: the moment a parameter can be adjusted, subjectivity returns.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Which trendline calls the reversal?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24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1.20</a:t>
            </a:r>
          </a:p>
          <a:p>
            <a:pPr algn="l">
              <a:lnSpc>
                <a:spcPct val="120000"/>
              </a:lnSpc>
              <a:spcBef>
                <a:spcPts val="0"/>
              </a:spcBef>
              <a:spcAft>
                <a:spcPts val="1800"/>
              </a:spcAft>
            </a:pPr>
            <a:r>
              <a:rPr sz="2200" b="0" i="0">
                <a:solidFill>
                  <a:srgbClr val="1A1A1A"/>
                </a:solidFill>
                <a:latin typeface="Palatino"/>
              </a:rPr>
              <a:t>One market top with two different uptrend lines drawn under it, A and B, each penetrated at a different price and a different moment.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1.20 - Lim, The Handbook of Technical Analysis (Wiley, 2016)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price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require price to move a set distance past the level before you accept the breakout.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fixed peso excursion, a percentage of the breakout price, or a multiple of average true range.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price-based filter validates a breakout by requiring a specified absolute, relative, or volatility-scaled price excursion beyond the trigger level.</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25 of 36</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time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require the market to hold beyond the level for a set amount of time before you accept it.</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Wait for a set number of bars to close beyond the trendline before entering.</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time-based filter validates a breakout by requiring the market to sustain the excursion for a specified duration or number of closed bars.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26 of 36</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algorithmic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require a specific sequence of events, not just a distance or a delay.</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particular sequence of closed bars, or a sequence of new peaks or troughs, or a retest of the barrier after the break.</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An algorithmic filter validates a breakout by requiring a defined sequence of price events, such as bar sequences, successive peaks or troughs, or a barrier retest.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27 of 36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filter families beside the trade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28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1.21</a:t>
            </a:r>
          </a:p>
          <a:p>
            <a:pPr algn="l">
              <a:lnSpc>
                <a:spcPct val="120000"/>
              </a:lnSpc>
              <a:spcBef>
                <a:spcPts val="0"/>
              </a:spcBef>
              <a:spcAft>
                <a:spcPts val="1800"/>
              </a:spcAft>
            </a:pPr>
            <a:r>
              <a:rPr sz="2200" b="0" i="0">
                <a:solidFill>
                  <a:srgbClr val="1A1A1A"/>
                </a:solidFill>
                <a:latin typeface="Palatino"/>
              </a:rPr>
              <a:t>A trendline penetration on the left with a question mark on the entry, and on the right the full list: price-based, time-based and event-based filters.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1.21 - Lim, The Handbook of Technical Analysis (Wiley, 2016)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16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Bias, entries, and filters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chartist uses three oscillators and disregards the one that disagrees with their bullish view. This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Complementary analysis</a:t>
            </a:r>
          </a:p>
          <a:p>
            <a:pPr algn="l">
              <a:lnSpc>
                <a:spcPct val="112000"/>
              </a:lnSpc>
              <a:spcBef>
                <a:spcPts val="0"/>
              </a:spcBef>
              <a:spcAft>
                <a:spcPts val="900"/>
              </a:spcAft>
            </a:pPr>
            <a:r>
              <a:rPr sz="1500" b="0" i="0">
                <a:solidFill>
                  <a:srgbClr val="FFFFFF"/>
                </a:solidFill>
                <a:latin typeface="Arial"/>
              </a:rPr>
              <a:t>B.  A confirmatory signal</a:t>
            </a:r>
          </a:p>
          <a:p>
            <a:pPr algn="l">
              <a:lnSpc>
                <a:spcPct val="112000"/>
              </a:lnSpc>
              <a:spcBef>
                <a:spcPts val="0"/>
              </a:spcBef>
              <a:spcAft>
                <a:spcPts val="900"/>
              </a:spcAft>
            </a:pPr>
            <a:r>
              <a:rPr sz="1500" b="0" i="0">
                <a:solidFill>
                  <a:srgbClr val="FFFFFF"/>
                </a:solidFill>
                <a:latin typeface="Arial"/>
              </a:rPr>
              <a:t>C.  Selective perception</a:t>
            </a:r>
          </a:p>
          <a:p>
            <a:pPr algn="l">
              <a:lnSpc>
                <a:spcPct val="112000"/>
              </a:lnSpc>
              <a:spcBef>
                <a:spcPts val="0"/>
              </a:spcBef>
              <a:spcAft>
                <a:spcPts val="900"/>
              </a:spcAft>
            </a:pPr>
            <a:r>
              <a:rPr sz="1500" b="0" i="0">
                <a:solidFill>
                  <a:srgbClr val="FFFFFF"/>
                </a:solidFill>
                <a:latin typeface="Arial"/>
              </a:rPr>
              <a:t>D.  Mean reversion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Requiring price to close beyond a trendline for a set number of bars before entering is an example of:</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 time filter</a:t>
            </a:r>
          </a:p>
          <a:p>
            <a:pPr algn="l">
              <a:lnSpc>
                <a:spcPct val="112000"/>
              </a:lnSpc>
              <a:spcBef>
                <a:spcPts val="0"/>
              </a:spcBef>
              <a:spcAft>
                <a:spcPts val="900"/>
              </a:spcAft>
            </a:pPr>
            <a:r>
              <a:rPr sz="1500" b="0" i="0">
                <a:solidFill>
                  <a:srgbClr val="FFFFFF"/>
                </a:solidFill>
                <a:latin typeface="Arial"/>
              </a:rPr>
              <a:t>B.  A price filter</a:t>
            </a:r>
          </a:p>
          <a:p>
            <a:pPr algn="l">
              <a:lnSpc>
                <a:spcPct val="112000"/>
              </a:lnSpc>
              <a:spcBef>
                <a:spcPts val="0"/>
              </a:spcBef>
              <a:spcAft>
                <a:spcPts val="900"/>
              </a:spcAft>
            </a:pPr>
            <a:r>
              <a:rPr sz="1500" b="0" i="0">
                <a:solidFill>
                  <a:srgbClr val="FFFFFF"/>
                </a:solidFill>
                <a:latin typeface="Arial"/>
              </a:rPr>
              <a:t>C.  An algorithmic filter</a:t>
            </a:r>
          </a:p>
          <a:p>
            <a:pPr algn="l">
              <a:lnSpc>
                <a:spcPct val="112000"/>
              </a:lnSpc>
              <a:spcBef>
                <a:spcPts val="0"/>
              </a:spcBef>
              <a:spcAft>
                <a:spcPts val="900"/>
              </a:spcAft>
            </a:pPr>
            <a:r>
              <a:rPr sz="1500" b="0" i="0">
                <a:solidFill>
                  <a:srgbClr val="FFFFFF"/>
                </a:solidFill>
                <a:latin typeface="Arial"/>
              </a:rPr>
              <a:t>D.  A limit entry order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4 of 6 - Subjectivity  |  Check 16</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Bias, entries, and filters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chartist uses three oscillators and disregards the one that disagrees with their bullish view. This is:</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Selective perception</a:t>
            </a:r>
          </a:p>
          <a:p>
            <a:pPr algn="l">
              <a:lnSpc>
                <a:spcPct val="115000"/>
              </a:lnSpc>
              <a:spcBef>
                <a:spcPts val="700"/>
              </a:spcBef>
              <a:spcAft>
                <a:spcPts val="0"/>
              </a:spcAft>
            </a:pPr>
            <a:r>
              <a:rPr sz="1600" b="0" i="0">
                <a:solidFill>
                  <a:srgbClr val="1A1A1A"/>
                </a:solidFill>
                <a:latin typeface="Arial"/>
              </a:rPr>
              <a:t>Heeding only signals that support a preconceived view is selective perception.</a:t>
            </a:r>
          </a:p>
        </p:txBody>
      </p:sp>
      <p:sp>
        <p:nvSpPr>
          <p:cNvPr id="10" name="Rectangle 9"/>
          <p:cNvSpPr/>
          <p:nvPr/>
        </p:nvSpPr>
        <p:spPr>
          <a:xfrm>
            <a:off x="777240" y="331571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Requiring price to close beyond a trendline for a set number of bars before entering is an example of:</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 time filter</a:t>
            </a:r>
          </a:p>
          <a:p>
            <a:pPr algn="l">
              <a:lnSpc>
                <a:spcPct val="115000"/>
              </a:lnSpc>
              <a:spcBef>
                <a:spcPts val="700"/>
              </a:spcBef>
              <a:spcAft>
                <a:spcPts val="0"/>
              </a:spcAft>
            </a:pPr>
            <a:r>
              <a:rPr sz="1600" b="0" i="0">
                <a:solidFill>
                  <a:srgbClr val="1A1A1A"/>
                </a:solidFill>
                <a:latin typeface="Arial"/>
              </a:rPr>
              <a:t>A requirement expressed in duration or closed bars is a time-based filter.</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Check 16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exercise: read the chart yourself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29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You get a plain four hourly chart of USDCAD with nothing drawn on it.</a:t>
            </a:r>
          </a:p>
          <a:p>
            <a:pPr algn="l">
              <a:lnSpc>
                <a:spcPct val="118000"/>
              </a:lnSpc>
              <a:spcBef>
                <a:spcPts val="0"/>
              </a:spcBef>
              <a:spcAft>
                <a:spcPts val="1300"/>
              </a:spcAft>
            </a:pPr>
            <a:r>
              <a:rPr sz="2100" b="0" i="0">
                <a:solidFill>
                  <a:srgbClr val="1A1A1A"/>
                </a:solidFill>
                <a:latin typeface="Arial"/>
              </a:rPr>
              <a:t>2.  Draw the trendlines you think mark the trend changes.</a:t>
            </a:r>
          </a:p>
          <a:p>
            <a:pPr algn="l">
              <a:lnSpc>
                <a:spcPct val="118000"/>
              </a:lnSpc>
              <a:spcBef>
                <a:spcPts val="0"/>
              </a:spcBef>
              <a:spcAft>
                <a:spcPts val="1300"/>
              </a:spcAft>
            </a:pPr>
            <a:r>
              <a:rPr sz="2100" b="0" i="0">
                <a:solidFill>
                  <a:srgbClr val="1A1A1A"/>
                </a:solidFill>
                <a:latin typeface="Arial"/>
              </a:rPr>
              <a:t>3.  Compare with the person beside you, then compare with the book.</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 marks and no right answer. The differences are the lesson.</a:t>
            </a:r>
          </a:p>
        </p:txBody>
      </p:sp>
      <p:sp>
        <p:nvSpPr>
          <p:cNvPr id="10" name="TextBox 9"/>
          <p:cNvSpPr txBox="1"/>
          <p:nvPr/>
        </p:nvSpPr>
        <p:spPr>
          <a:xfrm>
            <a:off x="777240" y="447497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This is the book's own exercise, on printed pages 27 to 29. You can run it again at home.</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chart. Draw your trendlines now.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30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1.22</a:t>
            </a:r>
          </a:p>
          <a:p>
            <a:pPr algn="l">
              <a:lnSpc>
                <a:spcPct val="120000"/>
              </a:lnSpc>
              <a:spcBef>
                <a:spcPts val="0"/>
              </a:spcBef>
              <a:spcAft>
                <a:spcPts val="1800"/>
              </a:spcAft>
            </a:pPr>
            <a:r>
              <a:rPr sz="2200" b="0" i="0">
                <a:solidFill>
                  <a:srgbClr val="1A1A1A"/>
                </a:solidFill>
                <a:latin typeface="Palatino"/>
              </a:rPr>
              <a:t>A plain four hourly bar chart of USDCAD with no lines, no indicators and no annotations, captioned a basic bar chart and asking what the technical analyst can see.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1.22 - Lim, The Handbook of Technical Analysis (Wiley, 2016)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Now compare with the person beside you</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31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Put the two charts side by side.</a:t>
            </a:r>
          </a:p>
          <a:p>
            <a:pPr algn="l">
              <a:lnSpc>
                <a:spcPct val="118000"/>
              </a:lnSpc>
              <a:spcBef>
                <a:spcPts val="0"/>
              </a:spcBef>
              <a:spcAft>
                <a:spcPts val="1300"/>
              </a:spcAft>
            </a:pPr>
            <a:r>
              <a:rPr sz="2100" b="0" i="0">
                <a:solidFill>
                  <a:srgbClr val="1A1A1A"/>
                </a:solidFill>
                <a:latin typeface="Arial"/>
              </a:rPr>
              <a:t>Find one trendline you both drew, and one that only one of you drew.</a:t>
            </a:r>
          </a:p>
          <a:p>
            <a:pPr algn="l">
              <a:lnSpc>
                <a:spcPct val="118000"/>
              </a:lnSpc>
              <a:spcBef>
                <a:spcPts val="0"/>
              </a:spcBef>
              <a:spcAft>
                <a:spcPts val="1300"/>
              </a:spcAft>
            </a:pPr>
            <a:r>
              <a:rPr sz="2100" b="0" i="0">
                <a:solidFill>
                  <a:srgbClr val="1A1A1A"/>
                </a:solidFill>
                <a:latin typeface="Arial"/>
              </a:rPr>
              <a:t>Neither of you has made a mistake.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honest analysts, one chart, two readings. You have just produced the argument of this part.</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Now compare with the book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32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1.23</a:t>
            </a:r>
          </a:p>
          <a:p>
            <a:pPr algn="l">
              <a:lnSpc>
                <a:spcPct val="120000"/>
              </a:lnSpc>
              <a:spcBef>
                <a:spcPts val="0"/>
              </a:spcBef>
              <a:spcAft>
                <a:spcPts val="1800"/>
              </a:spcAft>
            </a:pPr>
            <a:r>
              <a:rPr sz="2200" b="0" i="0">
                <a:solidFill>
                  <a:srgbClr val="1A1A1A"/>
                </a:solidFill>
                <a:latin typeface="Palatino"/>
              </a:rPr>
              <a:t>The same four hourly USDCAD chart carrying the book's own trendline analysis: a rising line under the first advance, a falling line from the high, a second rising line, and a final falling line down the right hand side.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1.23 - Lim, The Handbook of Technical Analysis (Wiley, 2016)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Second pass: find the chart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33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Go back to your own chart, the one with no lines on it.</a:t>
            </a:r>
          </a:p>
          <a:p>
            <a:pPr algn="l">
              <a:lnSpc>
                <a:spcPct val="118000"/>
              </a:lnSpc>
              <a:spcBef>
                <a:spcPts val="0"/>
              </a:spcBef>
              <a:spcAft>
                <a:spcPts val="1300"/>
              </a:spcAft>
            </a:pPr>
            <a:r>
              <a:rPr sz="2100" b="0" i="0">
                <a:solidFill>
                  <a:srgbClr val="1A1A1A"/>
                </a:solidFill>
                <a:latin typeface="Arial"/>
              </a:rPr>
              <a:t>Mark any chart pattern you can name.</a:t>
            </a:r>
          </a:p>
          <a:p>
            <a:pPr algn="l">
              <a:lnSpc>
                <a:spcPct val="118000"/>
              </a:lnSpc>
              <a:spcBef>
                <a:spcPts val="0"/>
              </a:spcBef>
              <a:spcAft>
                <a:spcPts val="1300"/>
              </a:spcAft>
            </a:pPr>
            <a:r>
              <a:rPr sz="2100" b="0" i="0">
                <a:solidFill>
                  <a:srgbClr val="1A1A1A"/>
                </a:solidFill>
                <a:latin typeface="Arial"/>
              </a:rPr>
              <a:t>If you cannot name any yet, that is expected. We learn them properly later in the course.</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minutes, then we compare again.</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book's patterns, for comparison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34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1.24</a:t>
            </a:r>
          </a:p>
          <a:p>
            <a:pPr algn="l">
              <a:lnSpc>
                <a:spcPct val="120000"/>
              </a:lnSpc>
              <a:spcBef>
                <a:spcPts val="0"/>
              </a:spcBef>
              <a:spcAft>
                <a:spcPts val="1800"/>
              </a:spcAft>
            </a:pPr>
            <a:r>
              <a:rPr sz="2200" b="0" i="0">
                <a:solidFill>
                  <a:srgbClr val="1A1A1A"/>
                </a:solidFill>
                <a:latin typeface="Palatino"/>
              </a:rPr>
              <a:t>The same USDCAD chart with six named formations marked: an expanding triangle for uncertainty, a bearish rising wedge, two bearish downtrending channels, a bullish inverted head and shoulders, and a bearish symmetrical triangle at a resistance zone.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1.24 - Lim, The Handbook of Technical Analysis (Wiley, 2016)</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Were there differences? Good.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35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book's own answer is that differences here are not errors.</a:t>
            </a:r>
          </a:p>
          <a:p>
            <a:pPr algn="l">
              <a:lnSpc>
                <a:spcPct val="118000"/>
              </a:lnSpc>
              <a:spcBef>
                <a:spcPts val="0"/>
              </a:spcBef>
              <a:spcAft>
                <a:spcPts val="1300"/>
              </a:spcAft>
            </a:pPr>
            <a:r>
              <a:rPr sz="2100" b="0" i="0">
                <a:solidFill>
                  <a:srgbClr val="1A1A1A"/>
                </a:solidFill>
                <a:latin typeface="Arial"/>
              </a:rPr>
              <a:t>They are merely a consequence of subjectivity.</a:t>
            </a:r>
          </a:p>
          <a:p>
            <a:pPr algn="l">
              <a:lnSpc>
                <a:spcPct val="118000"/>
              </a:lnSpc>
              <a:spcBef>
                <a:spcPts val="0"/>
              </a:spcBef>
              <a:spcAft>
                <a:spcPts val="1300"/>
              </a:spcAft>
            </a:pPr>
            <a:r>
              <a:rPr sz="2100" b="0" i="0">
                <a:solidFill>
                  <a:srgbClr val="1A1A1A"/>
                </a:solidFill>
                <a:latin typeface="Arial"/>
              </a:rPr>
              <a:t>The fact that you can draw alternate trendlines at all is where subjectivity enters.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You have just watched identification, interpretation and inference happen to one chart, twice.</a:t>
            </a:r>
          </a:p>
        </p:txBody>
      </p:sp>
      <p:sp>
        <p:nvSpPr>
          <p:cNvPr id="10" name="TextBox 9"/>
          <p:cNvSpPr txBox="1"/>
          <p:nvPr/>
        </p:nvSpPr>
        <p:spPr>
          <a:xfrm>
            <a:off x="777240" y="511098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Homework 1 is this exercise on a live platform: find charts showing different trends, draw the trendlines, interpret them.</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Subjectivity shrinks with practice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36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novice cannot see the trendlines, the patterns or the angles at first.</a:t>
            </a:r>
          </a:p>
          <a:p>
            <a:pPr algn="l">
              <a:lnSpc>
                <a:spcPct val="118000"/>
              </a:lnSpc>
              <a:spcBef>
                <a:spcPts val="0"/>
              </a:spcBef>
              <a:spcAft>
                <a:spcPts val="1300"/>
              </a:spcAft>
            </a:pPr>
            <a:r>
              <a:rPr sz="2100" b="0" i="0">
                <a:solidFill>
                  <a:srgbClr val="1A1A1A"/>
                </a:solidFill>
                <a:latin typeface="Arial"/>
              </a:rPr>
              <a:t>With enough chart hours, the same formations become obvious.</a:t>
            </a:r>
          </a:p>
          <a:p>
            <a:pPr algn="l">
              <a:lnSpc>
                <a:spcPct val="118000"/>
              </a:lnSpc>
              <a:spcBef>
                <a:spcPts val="0"/>
              </a:spcBef>
              <a:spcAft>
                <a:spcPts val="1300"/>
              </a:spcAft>
            </a:pPr>
            <a:r>
              <a:rPr sz="2100" b="0" i="0">
                <a:solidFill>
                  <a:srgbClr val="1A1A1A"/>
                </a:solidFill>
                <a:latin typeface="Arial"/>
              </a:rPr>
              <a:t>The subjectivity never reaches zero, but it falls a long way.</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Nothing on this slide can be achieved by reading. Only by looking at charts.</a:t>
            </a:r>
          </a:p>
        </p:txBody>
      </p:sp>
      <p:sp>
        <p:nvSpPr>
          <p:cNvPr id="10" name="TextBox 9"/>
          <p:cNvSpPr txBox="1"/>
          <p:nvPr/>
        </p:nvSpPr>
        <p:spPr>
          <a:xfrm>
            <a:off x="777240" y="479628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Run the exercise again in a month. Your lines will change. The chart will not.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Objective chart, subjective analysis</a:t>
            </a:r>
          </a:p>
          <a:p>
            <a:pPr algn="l" marL="237744" indent="-237744">
              <a:lnSpc>
                <a:spcPct val="112000"/>
              </a:lnSpc>
              <a:spcBef>
                <a:spcPts val="0"/>
              </a:spcBef>
              <a:spcAft>
                <a:spcPts val="1200"/>
              </a:spcAft>
            </a:pPr>
            <a:r>
              <a:rPr sz="1800" b="0" i="0">
                <a:solidFill>
                  <a:srgbClr val="1A1A1A"/>
                </a:solidFill>
                <a:latin typeface="Arial"/>
              </a:rPr>
              <a:t>▪  Identifying, interpreting, inferring</a:t>
            </a:r>
          </a:p>
          <a:p>
            <a:pPr algn="l" marL="237744" indent="-237744">
              <a:lnSpc>
                <a:spcPct val="112000"/>
              </a:lnSpc>
              <a:spcBef>
                <a:spcPts val="0"/>
              </a:spcBef>
              <a:spcAft>
                <a:spcPts val="1200"/>
              </a:spcAft>
            </a:pPr>
            <a:r>
              <a:rPr sz="1800" b="0" i="0">
                <a:solidFill>
                  <a:srgbClr val="1A1A1A"/>
                </a:solidFill>
                <a:latin typeface="Arial"/>
              </a:rPr>
              <a:t>▪  Subjectivity in the choice of analysis and studies</a:t>
            </a:r>
          </a:p>
          <a:p>
            <a:pPr algn="l" marL="237744" indent="-237744">
              <a:lnSpc>
                <a:spcPct val="112000"/>
              </a:lnSpc>
              <a:spcBef>
                <a:spcPts val="0"/>
              </a:spcBef>
              <a:spcAft>
                <a:spcPts val="1200"/>
              </a:spcAft>
            </a:pPr>
            <a:r>
              <a:rPr sz="1800" b="0" i="0">
                <a:solidFill>
                  <a:srgbClr val="1A1A1A"/>
                </a:solidFill>
                <a:latin typeface="Arial"/>
              </a:rPr>
              <a:t>▪  Contradictory signals</a:t>
            </a:r>
          </a:p>
          <a:p>
            <a:pPr algn="l" marL="237744" indent="-237744">
              <a:lnSpc>
                <a:spcPct val="112000"/>
              </a:lnSpc>
              <a:spcBef>
                <a:spcPts val="0"/>
              </a:spcBef>
              <a:spcAft>
                <a:spcPts val="1200"/>
              </a:spcAft>
            </a:pPr>
            <a:r>
              <a:rPr sz="1800" b="0" i="0">
                <a:solidFill>
                  <a:srgbClr val="1A1A1A"/>
                </a:solidFill>
                <a:latin typeface="Arial"/>
              </a:rPr>
              <a:t>▪  Confirmatory signals</a:t>
            </a:r>
          </a:p>
          <a:p>
            <a:pPr algn="l" marL="237744" indent="-237744">
              <a:lnSpc>
                <a:spcPct val="112000"/>
              </a:lnSpc>
              <a:spcBef>
                <a:spcPts val="0"/>
              </a:spcBef>
              <a:spcAft>
                <a:spcPts val="1200"/>
              </a:spcAft>
            </a:pPr>
            <a:r>
              <a:rPr sz="1800" b="0" i="0">
                <a:solidFill>
                  <a:srgbClr val="1A1A1A"/>
                </a:solidFill>
                <a:latin typeface="Arial"/>
              </a:rPr>
              <a:t>▪  Complementary signals</a:t>
            </a:r>
          </a:p>
          <a:p>
            <a:pPr algn="l" marL="237744" indent="-237744">
              <a:lnSpc>
                <a:spcPct val="112000"/>
              </a:lnSpc>
              <a:spcBef>
                <a:spcPts val="0"/>
              </a:spcBef>
              <a:spcAft>
                <a:spcPts val="1200"/>
              </a:spcAft>
            </a:pPr>
            <a:r>
              <a:rPr sz="1800" b="0" i="0">
                <a:solidFill>
                  <a:srgbClr val="1A1A1A"/>
                </a:solidFill>
                <a:latin typeface="Arial"/>
              </a:rPr>
              <a:t>▪  Why indicators disagree, and tick volume</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larger formation takes precedence</a:t>
            </a:r>
          </a:p>
          <a:p>
            <a:pPr algn="l" marL="237744" indent="-237744">
              <a:lnSpc>
                <a:spcPct val="112000"/>
              </a:lnSpc>
              <a:spcBef>
                <a:spcPts val="0"/>
              </a:spcBef>
              <a:spcAft>
                <a:spcPts val="1200"/>
              </a:spcAft>
            </a:pPr>
            <a:r>
              <a:rPr sz="1800" b="0" i="0">
                <a:solidFill>
                  <a:srgbClr val="1A1A1A"/>
                </a:solidFill>
                <a:latin typeface="Arial"/>
              </a:rPr>
              <a:t>▪  Equal and opposite interpretations</a:t>
            </a:r>
          </a:p>
          <a:p>
            <a:pPr algn="l" marL="237744" indent="-237744">
              <a:lnSpc>
                <a:spcPct val="112000"/>
              </a:lnSpc>
              <a:spcBef>
                <a:spcPts val="0"/>
              </a:spcBef>
              <a:spcAft>
                <a:spcPts val="1200"/>
              </a:spcAft>
            </a:pPr>
            <a:r>
              <a:rPr sz="1800" b="0" i="0">
                <a:solidFill>
                  <a:srgbClr val="1A1A1A"/>
                </a:solidFill>
                <a:latin typeface="Arial"/>
              </a:rPr>
              <a:t>▪  Selective perception</a:t>
            </a:r>
          </a:p>
          <a:p>
            <a:pPr algn="l" marL="237744" indent="-237744">
              <a:lnSpc>
                <a:spcPct val="112000"/>
              </a:lnSpc>
              <a:spcBef>
                <a:spcPts val="0"/>
              </a:spcBef>
              <a:spcAft>
                <a:spcPts val="1200"/>
              </a:spcAft>
            </a:pPr>
            <a:r>
              <a:rPr sz="1800" b="0" i="0">
                <a:solidFill>
                  <a:srgbClr val="1A1A1A"/>
                </a:solidFill>
                <a:latin typeface="Arial"/>
              </a:rPr>
              <a:t>▪  Individually objective, collectively subjective</a:t>
            </a:r>
          </a:p>
          <a:p>
            <a:pPr algn="l" marL="237744" indent="-237744">
              <a:lnSpc>
                <a:spcPct val="112000"/>
              </a:lnSpc>
              <a:spcBef>
                <a:spcPts val="0"/>
              </a:spcBef>
              <a:spcAft>
                <a:spcPts val="1200"/>
              </a:spcAft>
            </a:pPr>
            <a:r>
              <a:rPr sz="1800" b="0" i="0">
                <a:solidFill>
                  <a:srgbClr val="1A1A1A"/>
                </a:solidFill>
                <a:latin typeface="Arial"/>
              </a:rPr>
              <a:t>▪  Price, time and algorithmic filters</a:t>
            </a:r>
          </a:p>
          <a:p>
            <a:pPr algn="l" marL="237744" indent="-237744">
              <a:lnSpc>
                <a:spcPct val="112000"/>
              </a:lnSpc>
              <a:spcBef>
                <a:spcPts val="0"/>
              </a:spcBef>
              <a:spcAft>
                <a:spcPts val="1200"/>
              </a:spcAft>
            </a:pPr>
            <a:r>
              <a:rPr sz="1800" b="0" i="0">
                <a:solidFill>
                  <a:srgbClr val="1A1A1A"/>
                </a:solidFill>
                <a:latin typeface="Arial"/>
              </a:rPr>
              <a:t>▪  Your own trendlines, against a classmate's and against the book's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recap</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5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The Assumptions Underneath Everything</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three assumptions that make technical analysis possible.</a:t>
            </a:r>
          </a:p>
          <a:p>
            <a:pPr algn="l">
              <a:lnSpc>
                <a:spcPct val="115000"/>
              </a:lnSpc>
              <a:spcBef>
                <a:spcPts val="0"/>
              </a:spcBef>
              <a:spcAft>
                <a:spcPts val="1000"/>
              </a:spcAft>
            </a:pPr>
            <a:r>
              <a:rPr sz="1900" b="0" i="0">
                <a:solidFill>
                  <a:srgbClr val="FFFFFF"/>
                </a:solidFill>
                <a:latin typeface="Arial"/>
              </a:rPr>
              <a:t>Market discounting, the Efficient Market Hypothesis, and random walk.</a:t>
            </a:r>
          </a:p>
          <a:p>
            <a:pPr algn="l">
              <a:lnSpc>
                <a:spcPct val="115000"/>
              </a:lnSpc>
              <a:spcBef>
                <a:spcPts val="0"/>
              </a:spcBef>
              <a:spcAft>
                <a:spcPts val="1000"/>
              </a:spcAft>
            </a:pPr>
            <a:r>
              <a:rPr sz="1900" b="0" i="0">
                <a:solidFill>
                  <a:srgbClr val="FFFFFF"/>
                </a:solidFill>
                <a:latin typeface="Arial"/>
              </a:rPr>
              <a:t>The four assumptions you apply at the chart.</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30 minutes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assumptions hold the subject up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market discounts everything.</a:t>
            </a:r>
          </a:p>
          <a:p>
            <a:pPr algn="l">
              <a:lnSpc>
                <a:spcPct val="118000"/>
              </a:lnSpc>
              <a:spcBef>
                <a:spcPts val="0"/>
              </a:spcBef>
              <a:spcAft>
                <a:spcPts val="1300"/>
              </a:spcAft>
            </a:pPr>
            <a:r>
              <a:rPr sz="2100" b="0" i="0">
                <a:solidFill>
                  <a:srgbClr val="1A1A1A"/>
                </a:solidFill>
                <a:latin typeface="Arial"/>
              </a:rPr>
              <a:t>2.  Market behavior tends to repeat itself.</a:t>
            </a:r>
          </a:p>
          <a:p>
            <a:pPr algn="l">
              <a:lnSpc>
                <a:spcPct val="118000"/>
              </a:lnSpc>
              <a:spcBef>
                <a:spcPts val="0"/>
              </a:spcBef>
              <a:spcAft>
                <a:spcPts val="1300"/>
              </a:spcAft>
            </a:pPr>
            <a:r>
              <a:rPr sz="2100" b="0" i="0">
                <a:solidFill>
                  <a:srgbClr val="1A1A1A"/>
                </a:solidFill>
                <a:latin typeface="Arial"/>
              </a:rPr>
              <a:t>3.  The market tends to move in trends.</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Remove any one of these and technical analysis stops making sense.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Market discounting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price you see already contains everything the market knows and expects. You do not need to hunt for the reason.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drifts up for two weeks before good news is announced. The market was already discounting it.</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Market discounting is the assumption that market action, including price action, reflects all known information in the markets.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 of 33</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market can and cannot discount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CAN discount known information.</a:t>
            </a:r>
          </a:p>
          <a:p>
            <a:pPr algn="l">
              <a:lnSpc>
                <a:spcPct val="118000"/>
              </a:lnSpc>
              <a:spcBef>
                <a:spcPts val="0"/>
              </a:spcBef>
              <a:spcAft>
                <a:spcPts val="1300"/>
              </a:spcAft>
            </a:pPr>
            <a:r>
              <a:rPr sz="2100" b="0" i="0">
                <a:solidFill>
                  <a:srgbClr val="1A1A1A"/>
                </a:solidFill>
                <a:latin typeface="Arial"/>
              </a:rPr>
              <a:t>It CAN discount expectations about known information.</a:t>
            </a:r>
          </a:p>
          <a:p>
            <a:pPr algn="l">
              <a:lnSpc>
                <a:spcPct val="118000"/>
              </a:lnSpc>
              <a:spcBef>
                <a:spcPts val="0"/>
              </a:spcBef>
              <a:spcAft>
                <a:spcPts val="1300"/>
              </a:spcAft>
            </a:pPr>
            <a:r>
              <a:rPr sz="2100" b="0" i="0">
                <a:solidFill>
                  <a:srgbClr val="1A1A1A"/>
                </a:solidFill>
                <a:latin typeface="Arial"/>
              </a:rPr>
              <a:t>It CAN discount expectations about potential events.</a:t>
            </a:r>
          </a:p>
          <a:p>
            <a:pPr algn="l">
              <a:lnSpc>
                <a:spcPct val="118000"/>
              </a:lnSpc>
              <a:spcBef>
                <a:spcPts val="0"/>
              </a:spcBef>
              <a:spcAft>
                <a:spcPts val="1300"/>
              </a:spcAft>
            </a:pPr>
            <a:r>
              <a:rPr sz="2100" b="0" i="0">
                <a:solidFill>
                  <a:srgbClr val="1A1A1A"/>
                </a:solidFill>
                <a:latin typeface="Arial"/>
              </a:rPr>
              <a:t>It CANNOT discount unexpected events.</a:t>
            </a:r>
          </a:p>
          <a:p>
            <a:pPr algn="l">
              <a:lnSpc>
                <a:spcPct val="118000"/>
              </a:lnSpc>
              <a:spcBef>
                <a:spcPts val="0"/>
              </a:spcBef>
              <a:spcAft>
                <a:spcPts val="1300"/>
              </a:spcAft>
            </a:pPr>
            <a:r>
              <a:rPr sz="2100" b="0" i="0">
                <a:solidFill>
                  <a:srgbClr val="1A1A1A"/>
                </a:solidFill>
                <a:latin typeface="Arial"/>
              </a:rPr>
              <a:t>It CANNOT discount unknown information.</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Insider activity counts as known information, because the insider's buying moves the price.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market is really discounting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4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Information about actual events.</a:t>
            </a:r>
          </a:p>
          <a:p>
            <a:pPr algn="l">
              <a:lnSpc>
                <a:spcPct val="118000"/>
              </a:lnSpc>
              <a:spcBef>
                <a:spcPts val="0"/>
              </a:spcBef>
              <a:spcAft>
                <a:spcPts val="1300"/>
              </a:spcAft>
            </a:pPr>
            <a:r>
              <a:rPr sz="2100" b="0" i="0">
                <a:solidFill>
                  <a:srgbClr val="1A1A1A"/>
                </a:solidFill>
                <a:latin typeface="Arial"/>
              </a:rPr>
              <a:t>Expectation about actual events.</a:t>
            </a:r>
          </a:p>
          <a:p>
            <a:pPr algn="l">
              <a:lnSpc>
                <a:spcPct val="118000"/>
              </a:lnSpc>
              <a:spcBef>
                <a:spcPts val="0"/>
              </a:spcBef>
              <a:spcAft>
                <a:spcPts val="1300"/>
              </a:spcAft>
            </a:pPr>
            <a:r>
              <a:rPr sz="2100" b="0" i="0">
                <a:solidFill>
                  <a:srgbClr val="1A1A1A"/>
                </a:solidFill>
                <a:latin typeface="Arial"/>
              </a:rPr>
              <a:t>Information about expected events.</a:t>
            </a:r>
          </a:p>
          <a:p>
            <a:pPr algn="l">
              <a:lnSpc>
                <a:spcPct val="118000"/>
              </a:lnSpc>
              <a:spcBef>
                <a:spcPts val="0"/>
              </a:spcBef>
              <a:spcAft>
                <a:spcPts val="1300"/>
              </a:spcAft>
            </a:pPr>
            <a:r>
              <a:rPr sz="2100" b="0" i="0">
                <a:solidFill>
                  <a:srgbClr val="1A1A1A"/>
                </a:solidFill>
                <a:latin typeface="Arial"/>
              </a:rPr>
              <a:t>Expectation about expected events.</a:t>
            </a:r>
          </a:p>
          <a:p>
            <a:pPr algn="l">
              <a:lnSpc>
                <a:spcPct val="118000"/>
              </a:lnSpc>
              <a:spcBef>
                <a:spcPts val="0"/>
              </a:spcBef>
              <a:spcAft>
                <a:spcPts val="1300"/>
              </a:spcAft>
            </a:pPr>
            <a:r>
              <a:rPr sz="2100" b="0" i="0">
                <a:solidFill>
                  <a:srgbClr val="1A1A1A"/>
                </a:solidFill>
                <a:latin typeface="Arial"/>
              </a:rPr>
              <a:t>Expectation about the possibility of unexpected events.</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 the news alone, but what everyone expects about it.</a:t>
            </a:r>
          </a:p>
        </p:txBody>
      </p:sp>
      <p:sp>
        <p:nvSpPr>
          <p:cNvPr id="10" name="TextBox 9"/>
          <p:cNvSpPr txBox="1"/>
          <p:nvPr/>
        </p:nvSpPr>
        <p:spPr>
          <a:xfrm>
            <a:off x="777240" y="547014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This is why a company can beat expectations and still fall. The good result was already priced.</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semi-efficient market absorbing news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5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1.28</a:t>
            </a:r>
          </a:p>
          <a:p>
            <a:pPr algn="l">
              <a:lnSpc>
                <a:spcPct val="120000"/>
              </a:lnSpc>
              <a:spcBef>
                <a:spcPts val="0"/>
              </a:spcBef>
              <a:spcAft>
                <a:spcPts val="1800"/>
              </a:spcAft>
            </a:pPr>
            <a:r>
              <a:rPr sz="2200" b="0" i="0">
                <a:solidFill>
                  <a:srgbClr val="1A1A1A"/>
                </a:solidFill>
                <a:latin typeface="Palatino"/>
              </a:rPr>
              <a:t>Three data releases on a price and time axis, with dashed curves showing price adjusting gradually rather than instantly at each 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1.28 - Lim, The Handbook of Technical Analysis (Wiley, 2016)</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thing, on a real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6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1.29</a:t>
            </a:r>
          </a:p>
          <a:p>
            <a:pPr algn="l">
              <a:lnSpc>
                <a:spcPct val="120000"/>
              </a:lnSpc>
              <a:spcBef>
                <a:spcPts val="0"/>
              </a:spcBef>
              <a:spcAft>
                <a:spcPts val="1800"/>
              </a:spcAft>
            </a:pPr>
            <a:r>
              <a:rPr sz="2200" b="0" i="0">
                <a:solidFill>
                  <a:srgbClr val="1A1A1A"/>
                </a:solidFill>
                <a:latin typeface="Palatino"/>
              </a:rPr>
              <a:t>A EURUSD chart around the non-farm payrolls release of 2 August 2013, annotated with the range before the data, the breakout, the traders buying the news and the early traders exiting into it.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1.29 - Lim, The Handbook of Technical Analysis (Wiley, 2016)</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17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Discounting</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Under the basic assumption of technical analysis, the market cannot discount:</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Known information</a:t>
            </a:r>
          </a:p>
          <a:p>
            <a:pPr algn="l">
              <a:lnSpc>
                <a:spcPct val="112000"/>
              </a:lnSpc>
              <a:spcBef>
                <a:spcPts val="0"/>
              </a:spcBef>
              <a:spcAft>
                <a:spcPts val="900"/>
              </a:spcAft>
            </a:pPr>
            <a:r>
              <a:rPr sz="1500" b="0" i="0">
                <a:solidFill>
                  <a:srgbClr val="FFFFFF"/>
                </a:solidFill>
                <a:latin typeface="Arial"/>
              </a:rPr>
              <a:t>B.  Expectations about known information</a:t>
            </a:r>
          </a:p>
          <a:p>
            <a:pPr algn="l">
              <a:lnSpc>
                <a:spcPct val="112000"/>
              </a:lnSpc>
              <a:spcBef>
                <a:spcPts val="0"/>
              </a:spcBef>
              <a:spcAft>
                <a:spcPts val="900"/>
              </a:spcAft>
            </a:pPr>
            <a:r>
              <a:rPr sz="1500" b="0" i="0">
                <a:solidFill>
                  <a:srgbClr val="FFFFFF"/>
                </a:solidFill>
                <a:latin typeface="Arial"/>
              </a:rPr>
              <a:t>C.  Insider buying and selling activity</a:t>
            </a:r>
          </a:p>
          <a:p>
            <a:pPr algn="l">
              <a:lnSpc>
                <a:spcPct val="112000"/>
              </a:lnSpc>
              <a:spcBef>
                <a:spcPts val="0"/>
              </a:spcBef>
              <a:spcAft>
                <a:spcPts val="900"/>
              </a:spcAft>
            </a:pPr>
            <a:r>
              <a:rPr sz="1500" b="0" i="0">
                <a:solidFill>
                  <a:srgbClr val="FFFFFF"/>
                </a:solidFill>
                <a:latin typeface="Arial"/>
              </a:rPr>
              <a:t>D.  Unexpected events and unknown information</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company reports strong earnings and the share price falls. The best explanation is that:</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market is irrational</a:t>
            </a:r>
          </a:p>
          <a:p>
            <a:pPr algn="l">
              <a:lnSpc>
                <a:spcPct val="112000"/>
              </a:lnSpc>
              <a:spcBef>
                <a:spcPts val="0"/>
              </a:spcBef>
              <a:spcAft>
                <a:spcPts val="900"/>
              </a:spcAft>
            </a:pPr>
            <a:r>
              <a:rPr sz="1500" b="0" i="0">
                <a:solidFill>
                  <a:srgbClr val="FFFFFF"/>
                </a:solidFill>
                <a:latin typeface="Arial"/>
              </a:rPr>
              <a:t>B.  The strong result was already discounted by expectation</a:t>
            </a:r>
          </a:p>
          <a:p>
            <a:pPr algn="l">
              <a:lnSpc>
                <a:spcPct val="112000"/>
              </a:lnSpc>
              <a:spcBef>
                <a:spcPts val="0"/>
              </a:spcBef>
              <a:spcAft>
                <a:spcPts val="900"/>
              </a:spcAft>
            </a:pPr>
            <a:r>
              <a:rPr sz="1500" b="0" i="0">
                <a:solidFill>
                  <a:srgbClr val="FFFFFF"/>
                </a:solidFill>
                <a:latin typeface="Arial"/>
              </a:rPr>
              <a:t>C.  Technical analysis has failed</a:t>
            </a:r>
          </a:p>
          <a:p>
            <a:pPr algn="l">
              <a:lnSpc>
                <a:spcPct val="112000"/>
              </a:lnSpc>
              <a:spcBef>
                <a:spcPts val="0"/>
              </a:spcBef>
              <a:spcAft>
                <a:spcPts val="900"/>
              </a:spcAft>
            </a:pPr>
            <a:r>
              <a:rPr sz="1500" b="0" i="0">
                <a:solidFill>
                  <a:srgbClr val="FFFFFF"/>
                </a:solidFill>
                <a:latin typeface="Arial"/>
              </a:rPr>
              <a:t>D.  The earnings report was false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Assumptions  |  Check 17</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Discounting</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Under the basic assumption of technical analysis, the market cannot discount: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Unexpected events and unknown information</a:t>
            </a:r>
          </a:p>
          <a:p>
            <a:pPr algn="l">
              <a:lnSpc>
                <a:spcPct val="115000"/>
              </a:lnSpc>
              <a:spcBef>
                <a:spcPts val="700"/>
              </a:spcBef>
              <a:spcAft>
                <a:spcPts val="0"/>
              </a:spcAft>
            </a:pPr>
            <a:r>
              <a:rPr sz="1600" b="0" i="0">
                <a:solidFill>
                  <a:srgbClr val="1A1A1A"/>
                </a:solidFill>
                <a:latin typeface="Arial"/>
              </a:rPr>
              <a:t>Unexpected events and unknown information are the two things the market cannot discount.</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company reports strong earnings and the share price falls. The best explanation is that:</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The strong result was already discounted by expectation</a:t>
            </a:r>
          </a:p>
          <a:p>
            <a:pPr algn="l">
              <a:lnSpc>
                <a:spcPct val="115000"/>
              </a:lnSpc>
              <a:spcBef>
                <a:spcPts val="700"/>
              </a:spcBef>
              <a:spcAft>
                <a:spcPts val="0"/>
              </a:spcAft>
            </a:pPr>
            <a:r>
              <a:rPr sz="1600" b="0" i="0">
                <a:solidFill>
                  <a:srgbClr val="1A1A1A"/>
                </a:solidFill>
                <a:latin typeface="Arial"/>
              </a:rPr>
              <a:t>Markets discount expectations as well as events, so an anticipated result is already in the price.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Check 17</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Efficient Market Hypothesis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rival theory saying the market prices everything so perfectly and so fast that no analysis can beat it.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If EMH held completely, reading a chart or an annual report would both be a waste of an afternoon.</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Efficient Market Hypothesis states that for a market to efficiently discount and reflect all information perfectly, all participants must act on all information in the same rational manner instantaneously.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7 of 33</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Efficient, under EMH, means two things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8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Participants react instantaneously to all market information.</a:t>
            </a:r>
          </a:p>
          <a:p>
            <a:pPr algn="l">
              <a:lnSpc>
                <a:spcPct val="118000"/>
              </a:lnSpc>
              <a:spcBef>
                <a:spcPts val="0"/>
              </a:spcBef>
              <a:spcAft>
                <a:spcPts val="1300"/>
              </a:spcAft>
            </a:pPr>
            <a:r>
              <a:rPr sz="2100" b="0" i="0">
                <a:solidFill>
                  <a:srgbClr val="1A1A1A"/>
                </a:solidFill>
                <a:latin typeface="Arial"/>
              </a:rPr>
              <a:t>2.  Participants react rationally to all market information.</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Both conditions must hold. Failing either one is enough to break the hypothesis.</a:t>
            </a:r>
          </a:p>
        </p:txBody>
      </p:sp>
      <p:sp>
        <p:nvSpPr>
          <p:cNvPr id="10" name="TextBox 9"/>
          <p:cNvSpPr txBox="1"/>
          <p:nvPr/>
        </p:nvSpPr>
        <p:spPr>
          <a:xfrm>
            <a:off x="777240" y="4298695"/>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Technical analysis needs neither condition. It only assumes the market discounts what becomes known to it.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perfectly efficient market would look like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9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1.27</a:t>
            </a:r>
          </a:p>
          <a:p>
            <a:pPr algn="l">
              <a:lnSpc>
                <a:spcPct val="120000"/>
              </a:lnSpc>
              <a:spcBef>
                <a:spcPts val="0"/>
              </a:spcBef>
              <a:spcAft>
                <a:spcPts val="1800"/>
              </a:spcAft>
            </a:pPr>
            <a:r>
              <a:rPr sz="2200" b="0" i="0">
                <a:solidFill>
                  <a:srgbClr val="1A1A1A"/>
                </a:solidFill>
                <a:latin typeface="Palatino"/>
              </a:rPr>
              <a:t>The same three data releases, but price jumps vertically at each one with the time taken to adjust marked as zero.</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1.27 - Lim, The Handbook of Technical Analysis (Wiley, 2016)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perfect efficiency cannot happen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10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Not everyone reacts the same way. Some trade against the news.</a:t>
            </a:r>
          </a:p>
          <a:p>
            <a:pPr algn="l">
              <a:lnSpc>
                <a:spcPct val="118000"/>
              </a:lnSpc>
              <a:spcBef>
                <a:spcPts val="0"/>
              </a:spcBef>
              <a:spcAft>
                <a:spcPts val="1300"/>
              </a:spcAft>
            </a:pPr>
            <a:r>
              <a:rPr sz="2100" b="0" i="0">
                <a:solidFill>
                  <a:srgbClr val="1A1A1A"/>
                </a:solidFill>
                <a:latin typeface="Arial"/>
              </a:rPr>
              <a:t>Not everyone reacts at the same time. Some act early, some act late.</a:t>
            </a:r>
          </a:p>
          <a:p>
            <a:pPr algn="l">
              <a:lnSpc>
                <a:spcPct val="118000"/>
              </a:lnSpc>
              <a:spcBef>
                <a:spcPts val="0"/>
              </a:spcBef>
              <a:spcAft>
                <a:spcPts val="1300"/>
              </a:spcAft>
            </a:pPr>
            <a:r>
              <a:rPr sz="2100" b="0" i="0">
                <a:solidFill>
                  <a:srgbClr val="1A1A1A"/>
                </a:solidFill>
                <a:latin typeface="Arial"/>
              </a:rPr>
              <a:t>Not everyone can access the information, and information is never free.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Ask a hundred people to clap the instant a bell rings. You will not get one sound.</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semi-efficient market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realistic middle ground. The market does absorb new information, just gradually and imperfectly.</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After a jobs report, price swings back and forth for an hour as traders compete for fills, then settles.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semi-efficient market discounts new information at a slower rate, adjusting gradually as participants compete with one another for the best fills.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11 of 33</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18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EMH against market discounting</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Efficient, under EMH, requires that participants react:</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Eventually and profitably</a:t>
            </a:r>
          </a:p>
          <a:p>
            <a:pPr algn="l">
              <a:lnSpc>
                <a:spcPct val="112000"/>
              </a:lnSpc>
              <a:spcBef>
                <a:spcPts val="0"/>
              </a:spcBef>
              <a:spcAft>
                <a:spcPts val="900"/>
              </a:spcAft>
            </a:pPr>
            <a:r>
              <a:rPr sz="1500" b="0" i="0">
                <a:solidFill>
                  <a:srgbClr val="FFFFFF"/>
                </a:solidFill>
                <a:latin typeface="Arial"/>
              </a:rPr>
              <a:t>B.  Instantaneously and rationally</a:t>
            </a:r>
          </a:p>
          <a:p>
            <a:pPr algn="l">
              <a:lnSpc>
                <a:spcPct val="112000"/>
              </a:lnSpc>
              <a:spcBef>
                <a:spcPts val="0"/>
              </a:spcBef>
              <a:spcAft>
                <a:spcPts val="900"/>
              </a:spcAft>
            </a:pPr>
            <a:r>
              <a:rPr sz="1500" b="0" i="0">
                <a:solidFill>
                  <a:srgbClr val="FFFFFF"/>
                </a:solidFill>
                <a:latin typeface="Arial"/>
              </a:rPr>
              <a:t>C.  Collectively and cautiously</a:t>
            </a:r>
          </a:p>
          <a:p>
            <a:pPr algn="l">
              <a:lnSpc>
                <a:spcPct val="112000"/>
              </a:lnSpc>
              <a:spcBef>
                <a:spcPts val="0"/>
              </a:spcBef>
              <a:spcAft>
                <a:spcPts val="900"/>
              </a:spcAft>
            </a:pPr>
            <a:r>
              <a:rPr sz="1500" b="0" i="0">
                <a:solidFill>
                  <a:srgbClr val="FFFFFF"/>
                </a:solidFill>
                <a:latin typeface="Arial"/>
              </a:rPr>
              <a:t>D.  Gradually and competitively</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key difference between market discounting in technical analysis and efficient discounting under EMH is that:</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Technical analysis requires perfect efficiency, EMH does not</a:t>
            </a:r>
          </a:p>
          <a:p>
            <a:pPr algn="l">
              <a:lnSpc>
                <a:spcPct val="112000"/>
              </a:lnSpc>
              <a:spcBef>
                <a:spcPts val="0"/>
              </a:spcBef>
              <a:spcAft>
                <a:spcPts val="900"/>
              </a:spcAft>
            </a:pPr>
            <a:r>
              <a:rPr sz="1500" b="0" i="0">
                <a:solidFill>
                  <a:srgbClr val="FFFFFF"/>
                </a:solidFill>
                <a:latin typeface="Arial"/>
              </a:rPr>
              <a:t>B.  EMH ignores insider activity</a:t>
            </a:r>
          </a:p>
          <a:p>
            <a:pPr algn="l">
              <a:lnSpc>
                <a:spcPct val="112000"/>
              </a:lnSpc>
              <a:spcBef>
                <a:spcPts val="0"/>
              </a:spcBef>
              <a:spcAft>
                <a:spcPts val="900"/>
              </a:spcAft>
            </a:pPr>
            <a:r>
              <a:rPr sz="1500" b="0" i="0">
                <a:solidFill>
                  <a:srgbClr val="FFFFFF"/>
                </a:solidFill>
                <a:latin typeface="Arial"/>
              </a:rPr>
              <a:t>C.  There is no real difference between them</a:t>
            </a:r>
          </a:p>
          <a:p>
            <a:pPr algn="l">
              <a:lnSpc>
                <a:spcPct val="112000"/>
              </a:lnSpc>
              <a:spcBef>
                <a:spcPts val="0"/>
              </a:spcBef>
              <a:spcAft>
                <a:spcPts val="900"/>
              </a:spcAft>
            </a:pPr>
            <a:r>
              <a:rPr sz="1500" b="0" i="0">
                <a:solidFill>
                  <a:srgbClr val="FFFFFF"/>
                </a:solidFill>
                <a:latin typeface="Arial"/>
              </a:rPr>
              <a:t>D.  Technical analysis requires only that the market discounts what becomes known to it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Assumptions  |  Check 18</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EMH against market discounting</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Efficient, under EMH, requires that participants react: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Instantaneously and rationally</a:t>
            </a:r>
          </a:p>
          <a:p>
            <a:pPr algn="l">
              <a:lnSpc>
                <a:spcPct val="115000"/>
              </a:lnSpc>
              <a:spcBef>
                <a:spcPts val="700"/>
              </a:spcBef>
              <a:spcAft>
                <a:spcPts val="0"/>
              </a:spcAft>
            </a:pPr>
            <a:r>
              <a:rPr sz="1600" b="0" i="0">
                <a:solidFill>
                  <a:srgbClr val="1A1A1A"/>
                </a:solidFill>
                <a:latin typeface="Arial"/>
              </a:rPr>
              <a:t>EMH requires instantaneous and rational reaction to all market information.</a:t>
            </a:r>
          </a:p>
        </p:txBody>
      </p:sp>
      <p:sp>
        <p:nvSpPr>
          <p:cNvPr id="10" name="Rectangle 9"/>
          <p:cNvSpPr/>
          <p:nvPr/>
        </p:nvSpPr>
        <p:spPr>
          <a:xfrm>
            <a:off x="777240" y="3082036"/>
            <a:ext cx="10637215" cy="23875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3875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The key difference between market discounting in technical analysis and efficient discounting under EMH is that:</a:t>
            </a:r>
          </a:p>
        </p:txBody>
      </p:sp>
      <p:sp>
        <p:nvSpPr>
          <p:cNvPr id="13" name="TextBox 12"/>
          <p:cNvSpPr txBox="1"/>
          <p:nvPr/>
        </p:nvSpPr>
        <p:spPr>
          <a:xfrm>
            <a:off x="1143000" y="404317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Technical analysis requires only that the market discounts what becomes known to it</a:t>
            </a:r>
          </a:p>
          <a:p>
            <a:pPr algn="l">
              <a:lnSpc>
                <a:spcPct val="115000"/>
              </a:lnSpc>
              <a:spcBef>
                <a:spcPts val="700"/>
              </a:spcBef>
              <a:spcAft>
                <a:spcPts val="0"/>
              </a:spcAft>
            </a:pPr>
            <a:r>
              <a:rPr sz="1600" b="0" i="0">
                <a:solidFill>
                  <a:srgbClr val="1A1A1A"/>
                </a:solidFill>
                <a:latin typeface="Arial"/>
              </a:rPr>
              <a:t>Technical analysis imposes no requirement of perfect efficiency, only that everything known is discounted.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Check 18</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weak form of EMH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Current prices already reflect all past price information, so past prices cannot help you.</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If it were true, no chart pattern, trendline or moving average could ever have value.</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weak form of EMH suggests that all current prices have already fully discounted all past price information and therefore cannot impact future prices.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12 of 33</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semi-strong form of EMH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Once information is public it is already in the price, so public information is useless too.</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Reading the annual report the day it is published gains you nothing.</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semi-strong form of EMH suggests that all information, once public, is already reflected in price, making its use unprofitable and pointless.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13 of 33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strong form of EMH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Everything is in the price, public or private. Nothing anyone knows can help.</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Even an insider with genuinely secret information could not profit from it.</a:t>
            </a:r>
          </a:p>
        </p:txBody>
      </p:sp>
      <p:sp>
        <p:nvSpPr>
          <p:cNvPr id="11" name="Rectangle 10"/>
          <p:cNvSpPr/>
          <p:nvPr/>
        </p:nvSpPr>
        <p:spPr>
          <a:xfrm>
            <a:off x="777240" y="402056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strong form of EMH suggests that all information, whether public or private, is already fully reflected in current price, so all forms of analysis and forecasting are pointless.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14 of 33</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19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three forms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form of EMH holds that even non-public information is already reflected in price?</a:t>
            </a:r>
          </a:p>
        </p:txBody>
      </p:sp>
      <p:sp>
        <p:nvSpPr>
          <p:cNvPr id="9" name="TextBox 8"/>
          <p:cNvSpPr txBox="1"/>
          <p:nvPr/>
        </p:nvSpPr>
        <p:spPr>
          <a:xfrm>
            <a:off x="1051560" y="401624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strong form</a:t>
            </a:r>
          </a:p>
          <a:p>
            <a:pPr algn="l">
              <a:lnSpc>
                <a:spcPct val="112000"/>
              </a:lnSpc>
              <a:spcBef>
                <a:spcPts val="0"/>
              </a:spcBef>
              <a:spcAft>
                <a:spcPts val="900"/>
              </a:spcAft>
            </a:pPr>
            <a:r>
              <a:rPr sz="1500" b="0" i="0">
                <a:solidFill>
                  <a:srgbClr val="FFFFFF"/>
                </a:solidFill>
                <a:latin typeface="Arial"/>
              </a:rPr>
              <a:t>B.  The weak form</a:t>
            </a:r>
          </a:p>
          <a:p>
            <a:pPr algn="l">
              <a:lnSpc>
                <a:spcPct val="112000"/>
              </a:lnSpc>
              <a:spcBef>
                <a:spcPts val="0"/>
              </a:spcBef>
              <a:spcAft>
                <a:spcPts val="900"/>
              </a:spcAft>
            </a:pPr>
            <a:r>
              <a:rPr sz="1500" b="0" i="0">
                <a:solidFill>
                  <a:srgbClr val="FFFFFF"/>
                </a:solidFill>
                <a:latin typeface="Arial"/>
              </a:rPr>
              <a:t>C.  The semi-strong form</a:t>
            </a:r>
          </a:p>
          <a:p>
            <a:pPr algn="l">
              <a:lnSpc>
                <a:spcPct val="112000"/>
              </a:lnSpc>
              <a:spcBef>
                <a:spcPts val="0"/>
              </a:spcBef>
              <a:spcAft>
                <a:spcPts val="900"/>
              </a:spcAft>
            </a:pPr>
            <a:r>
              <a:rPr sz="1500" b="0" i="0">
                <a:solidFill>
                  <a:srgbClr val="FFFFFF"/>
                </a:solidFill>
                <a:latin typeface="Arial"/>
              </a:rPr>
              <a:t>D.  The random walk form</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207772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Select the accurate statements. I. The weak form implies technical analysis is pointless. II. The semi-strong form implies fundamental analysis is pointless. III. The strong form implies all analysis is pointless. IV. The weak form implies insider information is worthless.</a:t>
            </a:r>
          </a:p>
        </p:txBody>
      </p:sp>
      <p:sp>
        <p:nvSpPr>
          <p:cNvPr id="13" name="TextBox 12"/>
          <p:cNvSpPr txBox="1"/>
          <p:nvPr/>
        </p:nvSpPr>
        <p:spPr>
          <a:xfrm>
            <a:off x="6690207" y="401624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I and II are correct</a:t>
            </a:r>
          </a:p>
          <a:p>
            <a:pPr algn="l">
              <a:lnSpc>
                <a:spcPct val="112000"/>
              </a:lnSpc>
              <a:spcBef>
                <a:spcPts val="0"/>
              </a:spcBef>
              <a:spcAft>
                <a:spcPts val="900"/>
              </a:spcAft>
            </a:pPr>
            <a:r>
              <a:rPr sz="1500" b="0" i="0">
                <a:solidFill>
                  <a:srgbClr val="FFFFFF"/>
                </a:solidFill>
                <a:latin typeface="Arial"/>
              </a:rPr>
              <a:t>B.  Only II and III are correct</a:t>
            </a:r>
          </a:p>
          <a:p>
            <a:pPr algn="l">
              <a:lnSpc>
                <a:spcPct val="112000"/>
              </a:lnSpc>
              <a:spcBef>
                <a:spcPts val="0"/>
              </a:spcBef>
              <a:spcAft>
                <a:spcPts val="900"/>
              </a:spcAft>
            </a:pPr>
            <a:r>
              <a:rPr sz="1500" b="0" i="0">
                <a:solidFill>
                  <a:srgbClr val="FFFFFF"/>
                </a:solidFill>
                <a:latin typeface="Arial"/>
              </a:rPr>
              <a:t>C.  Only I, II, and III are correct</a:t>
            </a:r>
          </a:p>
          <a:p>
            <a:pPr algn="l">
              <a:lnSpc>
                <a:spcPct val="112000"/>
              </a:lnSpc>
              <a:spcBef>
                <a:spcPts val="0"/>
              </a:spcBef>
              <a:spcAft>
                <a:spcPts val="900"/>
              </a:spcAft>
            </a:pPr>
            <a:r>
              <a:rPr sz="1500" b="0" i="0">
                <a:solidFill>
                  <a:srgbClr val="FFFFFF"/>
                </a:solidFill>
                <a:latin typeface="Arial"/>
              </a:rPr>
              <a:t>D.  All are correct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Assumptions  |  Check 19</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three forms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Which form of EMH holds that even non-public information is already reflected in price?</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The strong form</a:t>
            </a:r>
          </a:p>
          <a:p>
            <a:pPr algn="l">
              <a:lnSpc>
                <a:spcPct val="115000"/>
              </a:lnSpc>
              <a:spcBef>
                <a:spcPts val="700"/>
              </a:spcBef>
              <a:spcAft>
                <a:spcPts val="0"/>
              </a:spcAft>
            </a:pPr>
            <a:r>
              <a:rPr sz="1600" b="0" i="0">
                <a:solidFill>
                  <a:srgbClr val="1A1A1A"/>
                </a:solidFill>
                <a:latin typeface="Arial"/>
              </a:rPr>
              <a:t>The strong form covers all information, public and private alike.</a:t>
            </a:r>
          </a:p>
        </p:txBody>
      </p:sp>
      <p:sp>
        <p:nvSpPr>
          <p:cNvPr id="10" name="Rectangle 9"/>
          <p:cNvSpPr/>
          <p:nvPr/>
        </p:nvSpPr>
        <p:spPr>
          <a:xfrm>
            <a:off x="777240" y="3082036"/>
            <a:ext cx="10637215" cy="232918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32918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79247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Select the accurate statements. I. The weak form implies technical analysis is pointless. II. The semi-strong form implies fundamental analysis is pointless. III. The strong form implies all analysis is pointless. IV. The weak form implies insider information is worthless.</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Only I, II, and III are correct</a:t>
            </a:r>
          </a:p>
          <a:p>
            <a:pPr algn="l">
              <a:lnSpc>
                <a:spcPct val="115000"/>
              </a:lnSpc>
              <a:spcBef>
                <a:spcPts val="700"/>
              </a:spcBef>
              <a:spcAft>
                <a:spcPts val="0"/>
              </a:spcAft>
            </a:pPr>
            <a:r>
              <a:rPr sz="1600" b="0" i="0">
                <a:solidFill>
                  <a:srgbClr val="1A1A1A"/>
                </a:solidFill>
                <a:latin typeface="Arial"/>
              </a:rPr>
              <a:t>Statement IV is false: it is the strong form, not the weak form, that covers non-public information.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Check 19</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Random walk</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claim that prices move purely by chance, so nothing that happened before tells you anything.</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Flipping a coin every minute and plotting the running total. It will look like a chart, and it will mean nothing.</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Random walk suggests that prices move in a purely random manner, that past prices do not influence current price, and that current price does not influence future price.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15 of 33</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Random walk, EMH, and what they would imply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16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1.30</a:t>
            </a:r>
          </a:p>
          <a:p>
            <a:pPr algn="l">
              <a:lnSpc>
                <a:spcPct val="120000"/>
              </a:lnSpc>
              <a:spcBef>
                <a:spcPts val="0"/>
              </a:spcBef>
              <a:spcAft>
                <a:spcPts val="1800"/>
              </a:spcAft>
            </a:pPr>
            <a:r>
              <a:rPr sz="2200" b="0" i="0">
                <a:solidFill>
                  <a:srgbClr val="1A1A1A"/>
                </a:solidFill>
                <a:latin typeface="Palatino"/>
              </a:rPr>
              <a:t>Random walk feeding into the three forms of EMH, and both feeding a box listing the consequences: no technical, fundamental or behavioral analysis, no active investing, nobody beats the market.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1.30 - Lim, The Handbook of Technical Analysis (Wiley, 2016)</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Random walk is not the same as EMH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17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 EMH, prices do adjust, they just adjust instantly to new information.</a:t>
            </a:r>
          </a:p>
          <a:p>
            <a:pPr algn="l">
              <a:lnSpc>
                <a:spcPct val="118000"/>
              </a:lnSpc>
              <a:spcBef>
                <a:spcPts val="0"/>
              </a:spcBef>
              <a:spcAft>
                <a:spcPts val="1300"/>
              </a:spcAft>
            </a:pPr>
            <a:r>
              <a:rPr sz="2100" b="0" i="0">
                <a:solidFill>
                  <a:srgbClr val="1A1A1A"/>
                </a:solidFill>
                <a:latin typeface="Arial"/>
              </a:rPr>
              <a:t>Under random walk, prices do not adjust to anything. The motion is purely random.</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Markets are driven by perception and expectation, not by random acts of buying and selling.</a:t>
            </a:r>
          </a:p>
        </p:txBody>
      </p:sp>
      <p:sp>
        <p:nvSpPr>
          <p:cNvPr id="10" name="TextBox 9"/>
          <p:cNvSpPr txBox="1"/>
          <p:nvPr/>
        </p:nvSpPr>
        <p:spPr>
          <a:xfrm>
            <a:off x="777240" y="461340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Watch how precisely price reacts at a round number or an old high. Chance does not aim.</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actually happens in the real world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18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Insiders accumulate before the announcement, so price starts moving early.</a:t>
            </a:r>
          </a:p>
          <a:p>
            <a:pPr algn="l">
              <a:lnSpc>
                <a:spcPct val="118000"/>
              </a:lnSpc>
              <a:spcBef>
                <a:spcPts val="0"/>
              </a:spcBef>
              <a:spcAft>
                <a:spcPts val="1300"/>
              </a:spcAft>
            </a:pPr>
            <a:r>
              <a:rPr sz="2100" b="0" i="0">
                <a:solidFill>
                  <a:srgbClr val="1A1A1A"/>
                </a:solidFill>
                <a:latin typeface="Arial"/>
              </a:rPr>
              <a:t>The public joins after the news is published.</a:t>
            </a:r>
          </a:p>
          <a:p>
            <a:pPr algn="l">
              <a:lnSpc>
                <a:spcPct val="118000"/>
              </a:lnSpc>
              <a:spcBef>
                <a:spcPts val="0"/>
              </a:spcBef>
              <a:spcAft>
                <a:spcPts val="1300"/>
              </a:spcAft>
            </a:pPr>
            <a:r>
              <a:rPr sz="2100" b="0" i="0">
                <a:solidFill>
                  <a:srgbClr val="1A1A1A"/>
                </a:solidFill>
                <a:latin typeface="Arial"/>
              </a:rPr>
              <a:t>More participants join the now obvious move, and the market overreacts.</a:t>
            </a:r>
          </a:p>
          <a:p>
            <a:pPr algn="l">
              <a:lnSpc>
                <a:spcPct val="118000"/>
              </a:lnSpc>
              <a:spcBef>
                <a:spcPts val="0"/>
              </a:spcBef>
              <a:spcAft>
                <a:spcPts val="1300"/>
              </a:spcAft>
            </a:pPr>
            <a:r>
              <a:rPr sz="2100" b="0" i="0">
                <a:solidFill>
                  <a:srgbClr val="1A1A1A"/>
                </a:solidFill>
                <a:latin typeface="Arial"/>
              </a:rPr>
              <a:t>The insiders sell into that enthusiasm, and a top forms.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herding, and it is the survival instinct from Part 1 doing its work.</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Insider activity moving price before the news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19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1.31</a:t>
            </a:r>
          </a:p>
          <a:p>
            <a:pPr algn="l">
              <a:lnSpc>
                <a:spcPct val="120000"/>
              </a:lnSpc>
              <a:spcBef>
                <a:spcPts val="0"/>
              </a:spcBef>
              <a:spcAft>
                <a:spcPts val="1800"/>
              </a:spcAft>
            </a:pPr>
            <a:r>
              <a:rPr sz="2200" b="0" i="0">
                <a:solidFill>
                  <a:srgbClr val="1A1A1A"/>
                </a:solidFill>
                <a:latin typeface="Palatino"/>
              </a:rPr>
              <a:t>Accumulation curving up ahead of each bullish release and distribution curving down ahead of the bearish one, in every case before the announcement.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1.31 - Lim, The Handbook of Technical Analysis (Wiley, 2016)</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Market inertia, and the overreaction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20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1.32</a:t>
            </a:r>
          </a:p>
          <a:p>
            <a:pPr algn="l">
              <a:lnSpc>
                <a:spcPct val="120000"/>
              </a:lnSpc>
              <a:spcBef>
                <a:spcPts val="0"/>
              </a:spcBef>
              <a:spcAft>
                <a:spcPts val="1800"/>
              </a:spcAft>
            </a:pPr>
            <a:r>
              <a:rPr sz="2200" b="0" i="0">
                <a:solidFill>
                  <a:srgbClr val="1A1A1A"/>
                </a:solidFill>
                <a:latin typeface="Palatino"/>
              </a:rPr>
              <a:t>The same releases again, with herd behavior carrying price past the level it should have settled at, then inefficient discounting pulling it back.</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1.32 - Lim, The Handbook of Technical Analysis (Wiley, 2016)</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Price is not the same as value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21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stock valued at 10 pesos can trade at 30 pesos with no change in its fundamentals.</a:t>
            </a:r>
          </a:p>
          <a:p>
            <a:pPr algn="l">
              <a:lnSpc>
                <a:spcPct val="118000"/>
              </a:lnSpc>
              <a:spcBef>
                <a:spcPts val="0"/>
              </a:spcBef>
              <a:spcAft>
                <a:spcPts val="1300"/>
              </a:spcAft>
            </a:pPr>
            <a:r>
              <a:rPr sz="2100" b="0" i="0">
                <a:solidFill>
                  <a:srgbClr val="1A1A1A"/>
                </a:solidFill>
                <a:latin typeface="Arial"/>
              </a:rPr>
              <a:t>What is being traded is expectation, not absolute worth.</a:t>
            </a:r>
          </a:p>
          <a:p>
            <a:pPr algn="l">
              <a:lnSpc>
                <a:spcPct val="118000"/>
              </a:lnSpc>
              <a:spcBef>
                <a:spcPts val="0"/>
              </a:spcBef>
              <a:spcAft>
                <a:spcPts val="1300"/>
              </a:spcAft>
            </a:pPr>
            <a:r>
              <a:rPr sz="2100" b="0" i="0">
                <a:solidFill>
                  <a:srgbClr val="1A1A1A"/>
                </a:solidFill>
                <a:latin typeface="Arial"/>
              </a:rPr>
              <a:t>Current price is the result of expectations about future price and value.</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Market action is the collective expectation of all its participants.</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20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Random walk and real markets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Markovian condition in random walk states that:</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Current price has no influence on future price</a:t>
            </a:r>
          </a:p>
          <a:p>
            <a:pPr algn="l">
              <a:lnSpc>
                <a:spcPct val="112000"/>
              </a:lnSpc>
              <a:spcBef>
                <a:spcPts val="0"/>
              </a:spcBef>
              <a:spcAft>
                <a:spcPts val="900"/>
              </a:spcAft>
            </a:pPr>
            <a:r>
              <a:rPr sz="1500" b="0" i="0">
                <a:solidFill>
                  <a:srgbClr val="FFFFFF"/>
                </a:solidFill>
                <a:latin typeface="Arial"/>
              </a:rPr>
              <a:t>B.  Past prices determine current price</a:t>
            </a:r>
          </a:p>
          <a:p>
            <a:pPr algn="l">
              <a:lnSpc>
                <a:spcPct val="112000"/>
              </a:lnSpc>
              <a:spcBef>
                <a:spcPts val="0"/>
              </a:spcBef>
              <a:spcAft>
                <a:spcPts val="900"/>
              </a:spcAft>
            </a:pPr>
            <a:r>
              <a:rPr sz="1500" b="0" i="0">
                <a:solidFill>
                  <a:srgbClr val="FFFFFF"/>
                </a:solidFill>
                <a:latin typeface="Arial"/>
              </a:rPr>
              <a:t>C.  Prices always revert to a mean</a:t>
            </a:r>
          </a:p>
          <a:p>
            <a:pPr algn="l">
              <a:lnSpc>
                <a:spcPct val="112000"/>
              </a:lnSpc>
              <a:spcBef>
                <a:spcPts val="0"/>
              </a:spcBef>
              <a:spcAft>
                <a:spcPts val="900"/>
              </a:spcAft>
            </a:pPr>
            <a:r>
              <a:rPr sz="1500" b="0" i="0">
                <a:solidFill>
                  <a:srgbClr val="FFFFFF"/>
                </a:solidFill>
                <a:latin typeface="Arial"/>
              </a:rPr>
              <a:t>D.  Volume must confirm the trend</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stock valued at 10 pesos trades at 30 pesos with no change in fundamentals. This best illustrates that:</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market is inefficient by definition</a:t>
            </a:r>
          </a:p>
          <a:p>
            <a:pPr algn="l">
              <a:lnSpc>
                <a:spcPct val="112000"/>
              </a:lnSpc>
              <a:spcBef>
                <a:spcPts val="0"/>
              </a:spcBef>
              <a:spcAft>
                <a:spcPts val="900"/>
              </a:spcAft>
            </a:pPr>
            <a:r>
              <a:rPr sz="1500" b="0" i="0">
                <a:solidFill>
                  <a:srgbClr val="FFFFFF"/>
                </a:solidFill>
                <a:latin typeface="Arial"/>
              </a:rPr>
              <a:t>B.  Price reflects expectation rather than absolute intrinsic value</a:t>
            </a:r>
          </a:p>
          <a:p>
            <a:pPr algn="l">
              <a:lnSpc>
                <a:spcPct val="112000"/>
              </a:lnSpc>
              <a:spcBef>
                <a:spcPts val="0"/>
              </a:spcBef>
              <a:spcAft>
                <a:spcPts val="900"/>
              </a:spcAft>
            </a:pPr>
            <a:r>
              <a:rPr sz="1500" b="0" i="0">
                <a:solidFill>
                  <a:srgbClr val="FFFFFF"/>
                </a:solidFill>
                <a:latin typeface="Arial"/>
              </a:rPr>
              <a:t>C.  Random walk is correct</a:t>
            </a:r>
          </a:p>
          <a:p>
            <a:pPr algn="l">
              <a:lnSpc>
                <a:spcPct val="112000"/>
              </a:lnSpc>
              <a:spcBef>
                <a:spcPts val="0"/>
              </a:spcBef>
              <a:spcAft>
                <a:spcPts val="900"/>
              </a:spcAft>
            </a:pPr>
            <a:r>
              <a:rPr sz="1500" b="0" i="0">
                <a:solidFill>
                  <a:srgbClr val="FFFFFF"/>
                </a:solidFill>
                <a:latin typeface="Arial"/>
              </a:rPr>
              <a:t>D.  The intrinsic value was miscalculated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Assumptions  |  Check 20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Random walk and real markets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Markovian condition in random walk states that:</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Current price has no influence on future price</a:t>
            </a:r>
          </a:p>
          <a:p>
            <a:pPr algn="l">
              <a:lnSpc>
                <a:spcPct val="115000"/>
              </a:lnSpc>
              <a:spcBef>
                <a:spcPts val="700"/>
              </a:spcBef>
              <a:spcAft>
                <a:spcPts val="0"/>
              </a:spcAft>
            </a:pPr>
            <a:r>
              <a:rPr sz="1600" b="0" i="0">
                <a:solidFill>
                  <a:srgbClr val="1A1A1A"/>
                </a:solidFill>
                <a:latin typeface="Arial"/>
              </a:rPr>
              <a:t>The Markovian condition is that current price carries no influence over future price.</a:t>
            </a:r>
          </a:p>
        </p:txBody>
      </p:sp>
      <p:sp>
        <p:nvSpPr>
          <p:cNvPr id="10" name="Rectangle 9"/>
          <p:cNvSpPr/>
          <p:nvPr/>
        </p:nvSpPr>
        <p:spPr>
          <a:xfrm>
            <a:off x="777240" y="3082036"/>
            <a:ext cx="10637215" cy="21539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1539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stock valued at 10 pesos trades at 30 pesos with no change in fundamentals. This best illustrates that:</a:t>
            </a:r>
          </a:p>
        </p:txBody>
      </p:sp>
      <p:sp>
        <p:nvSpPr>
          <p:cNvPr id="13" name="TextBox 12"/>
          <p:cNvSpPr txBox="1"/>
          <p:nvPr/>
        </p:nvSpPr>
        <p:spPr>
          <a:xfrm>
            <a:off x="1143000" y="404317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Price reflects expectation rather than absolute intrinsic value</a:t>
            </a:r>
          </a:p>
          <a:p>
            <a:pPr algn="l">
              <a:lnSpc>
                <a:spcPct val="115000"/>
              </a:lnSpc>
              <a:spcBef>
                <a:spcPts val="700"/>
              </a:spcBef>
              <a:spcAft>
                <a:spcPts val="0"/>
              </a:spcAft>
            </a:pPr>
            <a:r>
              <a:rPr sz="1600" b="0" i="0">
                <a:solidFill>
                  <a:srgbClr val="1A1A1A"/>
                </a:solidFill>
                <a:latin typeface="Arial"/>
              </a:rPr>
              <a:t>What is traded is expected value, so price and intrinsic value can diverge widely.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Check 20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Assumption two: behavior repeats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22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Past price and chart patterns give a reasonable basis for forecasting.</a:t>
            </a:r>
          </a:p>
          <a:p>
            <a:pPr algn="l">
              <a:lnSpc>
                <a:spcPct val="118000"/>
              </a:lnSpc>
              <a:spcBef>
                <a:spcPts val="0"/>
              </a:spcBef>
              <a:spcAft>
                <a:spcPts val="1300"/>
              </a:spcAft>
            </a:pPr>
            <a:r>
              <a:rPr sz="2100" b="0" i="0">
                <a:solidFill>
                  <a:srgbClr val="1A1A1A"/>
                </a:solidFill>
                <a:latin typeface="Arial"/>
              </a:rPr>
              <a:t>The reason is human psychology, which changes very slowly.</a:t>
            </a:r>
          </a:p>
          <a:p>
            <a:pPr algn="l">
              <a:lnSpc>
                <a:spcPct val="118000"/>
              </a:lnSpc>
              <a:spcBef>
                <a:spcPts val="0"/>
              </a:spcBef>
              <a:spcAft>
                <a:spcPts val="1300"/>
              </a:spcAft>
            </a:pPr>
            <a:r>
              <a:rPr sz="2100" b="0" i="0">
                <a:solidFill>
                  <a:srgbClr val="1A1A1A"/>
                </a:solidFill>
                <a:latin typeface="Arial"/>
              </a:rPr>
              <a:t>Fear, greed, hope, anger and regret do not get software updates.</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Patterns repeat because people repeat.</a:t>
            </a:r>
          </a:p>
        </p:txBody>
      </p:sp>
      <p:sp>
        <p:nvSpPr>
          <p:cNvPr id="10" name="TextBox 9"/>
          <p:cNvSpPr txBox="1"/>
          <p:nvPr/>
        </p:nvSpPr>
        <p:spPr>
          <a:xfrm>
            <a:off x="777240" y="447497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Every other forecasting method also uses past data: accounting, regression, behavioral finance.</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Repetition you can see: angular symmetries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23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1.25</a:t>
            </a:r>
          </a:p>
          <a:p>
            <a:pPr algn="l">
              <a:lnSpc>
                <a:spcPct val="120000"/>
              </a:lnSpc>
              <a:spcBef>
                <a:spcPts val="0"/>
              </a:spcBef>
              <a:spcAft>
                <a:spcPts val="1800"/>
              </a:spcAft>
            </a:pPr>
            <a:r>
              <a:rPr sz="2200" b="0" i="0">
                <a:solidFill>
                  <a:srgbClr val="1A1A1A"/>
                </a:solidFill>
                <a:latin typeface="Palatino"/>
              </a:rPr>
              <a:t>A four-hourly USDCAD bar chart with a shallow angle of ascent and a steeper one marked, and the correction that followed 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1.25 - Lim, The Handbook of Technical Analysis (Wiley, 2016)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underlying ordered structure of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24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1.26</a:t>
            </a:r>
          </a:p>
          <a:p>
            <a:pPr algn="l">
              <a:lnSpc>
                <a:spcPct val="120000"/>
              </a:lnSpc>
              <a:spcBef>
                <a:spcPts val="0"/>
              </a:spcBef>
              <a:spcAft>
                <a:spcPts val="1800"/>
              </a:spcAft>
            </a:pPr>
            <a:r>
              <a:rPr sz="2200" b="0" i="0">
                <a:solidFill>
                  <a:srgbClr val="1A1A1A"/>
                </a:solidFill>
                <a:latin typeface="Palatino"/>
              </a:rPr>
              <a:t>The same USDCAD chart overlaid with a converging channel and a lattice of symmetry lines, labeled visual evidence of the semi-random nature of price behavior.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1.26 - Lim, The Handbook of Technical Analysis (Wiley, 2016)</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things that erode repeatability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25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Preempting: traders outbid each other ahead of the trigger, from the self-fulfilling prophecy.</a:t>
            </a:r>
          </a:p>
          <a:p>
            <a:pPr algn="l">
              <a:lnSpc>
                <a:spcPct val="118000"/>
              </a:lnSpc>
              <a:spcBef>
                <a:spcPts val="0"/>
              </a:spcBef>
              <a:spcAft>
                <a:spcPts val="1300"/>
              </a:spcAft>
            </a:pPr>
            <a:r>
              <a:rPr sz="2100" b="0" i="0">
                <a:solidFill>
                  <a:srgbClr val="1A1A1A"/>
                </a:solidFill>
                <a:latin typeface="Arial"/>
              </a:rPr>
              <a:t>Program trading: machines trade in ways humans cannot replicate.</a:t>
            </a:r>
          </a:p>
          <a:p>
            <a:pPr algn="l">
              <a:lnSpc>
                <a:spcPct val="118000"/>
              </a:lnSpc>
              <a:spcBef>
                <a:spcPts val="0"/>
              </a:spcBef>
              <a:spcAft>
                <a:spcPts val="1300"/>
              </a:spcAft>
            </a:pPr>
            <a:r>
              <a:rPr sz="2100" b="0" i="0">
                <a:solidFill>
                  <a:srgbClr val="1A1A1A"/>
                </a:solidFill>
                <a:latin typeface="Arial"/>
              </a:rPr>
              <a:t>New participants: each new cohort brings a slightly different approach.</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assumption is reasonable, not guaranteed. That is why Pring said probabilities.</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Assumption three: the market moves in trends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26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Trends give the largest profit over the shortest time in the market.</a:t>
            </a:r>
          </a:p>
          <a:p>
            <a:pPr algn="l">
              <a:lnSpc>
                <a:spcPct val="118000"/>
              </a:lnSpc>
              <a:spcBef>
                <a:spcPts val="0"/>
              </a:spcBef>
              <a:spcAft>
                <a:spcPts val="1300"/>
              </a:spcAft>
            </a:pPr>
            <a:r>
              <a:rPr sz="2100" b="0" i="0">
                <a:solidFill>
                  <a:srgbClr val="1A1A1A"/>
                </a:solidFill>
                <a:latin typeface="Arial"/>
              </a:rPr>
              <a:t>That is why trend based methods dominate the field.</a:t>
            </a:r>
          </a:p>
          <a:p>
            <a:pPr algn="l">
              <a:lnSpc>
                <a:spcPct val="118000"/>
              </a:lnSpc>
              <a:spcBef>
                <a:spcPts val="0"/>
              </a:spcBef>
              <a:spcAft>
                <a:spcPts val="1300"/>
              </a:spcAft>
            </a:pPr>
            <a:r>
              <a:rPr sz="2100" b="0" i="0">
                <a:solidFill>
                  <a:srgbClr val="1A1A1A"/>
                </a:solidFill>
                <a:latin typeface="Arial"/>
              </a:rPr>
              <a:t>But what exactly is a trend, and when does it stop being one?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Successively higher or lower peaks and troughs is the most widely accepted definition.</a:t>
            </a:r>
          </a:p>
        </p:txBody>
      </p:sp>
      <p:sp>
        <p:nvSpPr>
          <p:cNvPr id="10" name="TextBox 9"/>
          <p:cNvSpPr txBox="1"/>
          <p:nvPr/>
        </p:nvSpPr>
        <p:spPr>
          <a:xfrm>
            <a:off x="777240" y="479628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 trend on one timeframe can be a sideways market on another. Chapter 5 settles the definitions.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Trend following is not free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27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Poor performance in ranging markets, and whipsaws during consolidation.</a:t>
            </a:r>
          </a:p>
          <a:p>
            <a:pPr algn="l">
              <a:lnSpc>
                <a:spcPct val="118000"/>
              </a:lnSpc>
              <a:spcBef>
                <a:spcPts val="0"/>
              </a:spcBef>
              <a:spcAft>
                <a:spcPts val="1300"/>
              </a:spcAft>
            </a:pPr>
            <a:r>
              <a:rPr sz="2100" b="0" i="0">
                <a:solidFill>
                  <a:srgbClr val="1A1A1A"/>
                </a:solidFill>
                <a:latin typeface="Arial"/>
              </a:rPr>
              <a:t>Low winning percentages, which means large drawdowns.</a:t>
            </a:r>
          </a:p>
          <a:p>
            <a:pPr algn="l">
              <a:lnSpc>
                <a:spcPct val="118000"/>
              </a:lnSpc>
              <a:spcBef>
                <a:spcPts val="0"/>
              </a:spcBef>
              <a:spcAft>
                <a:spcPts val="1300"/>
              </a:spcAft>
            </a:pPr>
            <a:r>
              <a:rPr sz="2100" b="0" i="0">
                <a:solidFill>
                  <a:srgbClr val="1A1A1A"/>
                </a:solidFill>
                <a:latin typeface="Arial"/>
              </a:rPr>
              <a:t>Trend changes are hard to identify early, and fast markets produce slippage.</a:t>
            </a:r>
          </a:p>
          <a:p>
            <a:pPr algn="l">
              <a:lnSpc>
                <a:spcPct val="118000"/>
              </a:lnSpc>
              <a:spcBef>
                <a:spcPts val="0"/>
              </a:spcBef>
              <a:spcAft>
                <a:spcPts val="1300"/>
              </a:spcAft>
            </a:pPr>
            <a:r>
              <a:rPr sz="2100" b="0" i="0">
                <a:solidFill>
                  <a:srgbClr val="1A1A1A"/>
                </a:solidFill>
                <a:latin typeface="Arial"/>
              </a:rPr>
              <a:t>Too many trend systems chasing the same move produce inefficient fills.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 method in this course has a cost. Know the cost before you use the method.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21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Repetition and trends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The underlying reason market behavior tends to repeat is:</a:t>
            </a:r>
          </a:p>
        </p:txBody>
      </p:sp>
      <p:sp>
        <p:nvSpPr>
          <p:cNvPr id="9" name="TextBox 8"/>
          <p:cNvSpPr txBox="1"/>
          <p:nvPr/>
        </p:nvSpPr>
        <p:spPr>
          <a:xfrm>
            <a:off x="1051560"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Regulation forces similar outcomes</a:t>
            </a:r>
          </a:p>
          <a:p>
            <a:pPr algn="l">
              <a:lnSpc>
                <a:spcPct val="112000"/>
              </a:lnSpc>
              <a:spcBef>
                <a:spcPts val="0"/>
              </a:spcBef>
              <a:spcAft>
                <a:spcPts val="900"/>
              </a:spcAft>
            </a:pPr>
            <a:r>
              <a:rPr sz="1500" b="0" i="0">
                <a:solidFill>
                  <a:srgbClr val="FFFFFF"/>
                </a:solidFill>
                <a:latin typeface="Arial"/>
              </a:rPr>
              <a:t>B.  Prices are mathematically periodic</a:t>
            </a:r>
          </a:p>
          <a:p>
            <a:pPr algn="l">
              <a:lnSpc>
                <a:spcPct val="112000"/>
              </a:lnSpc>
              <a:spcBef>
                <a:spcPts val="0"/>
              </a:spcBef>
              <a:spcAft>
                <a:spcPts val="900"/>
              </a:spcAft>
            </a:pPr>
            <a:r>
              <a:rPr sz="1500" b="0" i="0">
                <a:solidFill>
                  <a:srgbClr val="FFFFFF"/>
                </a:solidFill>
                <a:latin typeface="Arial"/>
              </a:rPr>
              <a:t>C.  Human psychology seldom changes over time</a:t>
            </a:r>
          </a:p>
          <a:p>
            <a:pPr algn="l">
              <a:lnSpc>
                <a:spcPct val="112000"/>
              </a:lnSpc>
              <a:spcBef>
                <a:spcPts val="0"/>
              </a:spcBef>
              <a:spcAft>
                <a:spcPts val="900"/>
              </a:spcAft>
            </a:pPr>
            <a:r>
              <a:rPr sz="1500" b="0" i="0">
                <a:solidFill>
                  <a:srgbClr val="FFFFFF"/>
                </a:solidFill>
                <a:latin typeface="Arial"/>
              </a:rPr>
              <a:t>D.  Charting software enforces patterns</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is listed as a challenge to trend following?</a:t>
            </a:r>
          </a:p>
        </p:txBody>
      </p:sp>
      <p:sp>
        <p:nvSpPr>
          <p:cNvPr id="13" name="TextBox 12"/>
          <p:cNvSpPr txBox="1"/>
          <p:nvPr/>
        </p:nvSpPr>
        <p:spPr>
          <a:xfrm>
            <a:off x="6690207" y="252653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It cannot be applied to currencies</a:t>
            </a:r>
          </a:p>
          <a:p>
            <a:pPr algn="l">
              <a:lnSpc>
                <a:spcPct val="112000"/>
              </a:lnSpc>
              <a:spcBef>
                <a:spcPts val="0"/>
              </a:spcBef>
              <a:spcAft>
                <a:spcPts val="900"/>
              </a:spcAft>
            </a:pPr>
            <a:r>
              <a:rPr sz="1500" b="0" i="0">
                <a:solidFill>
                  <a:srgbClr val="FFFFFF"/>
                </a:solidFill>
                <a:latin typeface="Arial"/>
              </a:rPr>
              <a:t>B.  It requires knowledge of intrinsic value</a:t>
            </a:r>
          </a:p>
          <a:p>
            <a:pPr algn="l">
              <a:lnSpc>
                <a:spcPct val="112000"/>
              </a:lnSpc>
              <a:spcBef>
                <a:spcPts val="0"/>
              </a:spcBef>
              <a:spcAft>
                <a:spcPts val="900"/>
              </a:spcAft>
            </a:pPr>
            <a:r>
              <a:rPr sz="1500" b="0" i="0">
                <a:solidFill>
                  <a:srgbClr val="FFFFFF"/>
                </a:solidFill>
                <a:latin typeface="Arial"/>
              </a:rPr>
              <a:t>C.  It only works on daily charts</a:t>
            </a:r>
          </a:p>
          <a:p>
            <a:pPr algn="l">
              <a:lnSpc>
                <a:spcPct val="112000"/>
              </a:lnSpc>
              <a:spcBef>
                <a:spcPts val="0"/>
              </a:spcBef>
              <a:spcAft>
                <a:spcPts val="900"/>
              </a:spcAft>
            </a:pPr>
            <a:r>
              <a:rPr sz="1500" b="0" i="0">
                <a:solidFill>
                  <a:srgbClr val="FFFFFF"/>
                </a:solidFill>
                <a:latin typeface="Arial"/>
              </a:rPr>
              <a:t>D.  Large drawdowns caused by low winning percentages</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Assumptions  |  Check 21</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Repetition and trends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The underlying reason market behavior tends to repeat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Human psychology seldom changes over time</a:t>
            </a:r>
          </a:p>
          <a:p>
            <a:pPr algn="l">
              <a:lnSpc>
                <a:spcPct val="115000"/>
              </a:lnSpc>
              <a:spcBef>
                <a:spcPts val="700"/>
              </a:spcBef>
              <a:spcAft>
                <a:spcPts val="0"/>
              </a:spcAft>
            </a:pPr>
            <a:r>
              <a:rPr sz="1600" b="0" i="0">
                <a:solidFill>
                  <a:srgbClr val="1A1A1A"/>
                </a:solidFill>
                <a:latin typeface="Arial"/>
              </a:rPr>
              <a:t>Repetition rests on the reliability and consistency of human behavior.</a:t>
            </a:r>
          </a:p>
        </p:txBody>
      </p:sp>
      <p:sp>
        <p:nvSpPr>
          <p:cNvPr id="10" name="Rectangle 9"/>
          <p:cNvSpPr/>
          <p:nvPr/>
        </p:nvSpPr>
        <p:spPr>
          <a:xfrm>
            <a:off x="777240" y="3082036"/>
            <a:ext cx="10637215" cy="16281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628140"/>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is listed as a challenge to trend following?</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Large drawdowns caused by low winning percentages</a:t>
            </a:r>
          </a:p>
          <a:p>
            <a:pPr algn="l">
              <a:lnSpc>
                <a:spcPct val="115000"/>
              </a:lnSpc>
              <a:spcBef>
                <a:spcPts val="700"/>
              </a:spcBef>
              <a:spcAft>
                <a:spcPts val="0"/>
              </a:spcAft>
            </a:pPr>
            <a:r>
              <a:rPr sz="1600" b="0" i="0">
                <a:solidFill>
                  <a:srgbClr val="1A1A1A"/>
                </a:solidFill>
                <a:latin typeface="Arial"/>
              </a:rPr>
              <a:t>Low winning percentages and the resulting drawdowns are an explicit challenge to trend following.</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Check 21</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assumptions you apply at the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28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Price behavior persists until there is evidence to the contrary.</a:t>
            </a:r>
          </a:p>
          <a:p>
            <a:pPr algn="l">
              <a:lnSpc>
                <a:spcPct val="118000"/>
              </a:lnSpc>
              <a:spcBef>
                <a:spcPts val="0"/>
              </a:spcBef>
              <a:spcAft>
                <a:spcPts val="1300"/>
              </a:spcAft>
            </a:pPr>
            <a:r>
              <a:rPr sz="2100" b="0" i="0">
                <a:solidFill>
                  <a:srgbClr val="1A1A1A"/>
                </a:solidFill>
                <a:latin typeface="Arial"/>
              </a:rPr>
              <a:t>2.  Every bullish reading has an equal and opposite bearish reading.</a:t>
            </a:r>
          </a:p>
          <a:p>
            <a:pPr algn="l">
              <a:lnSpc>
                <a:spcPct val="118000"/>
              </a:lnSpc>
              <a:spcBef>
                <a:spcPts val="0"/>
              </a:spcBef>
              <a:spcAft>
                <a:spcPts val="1300"/>
              </a:spcAft>
            </a:pPr>
            <a:r>
              <a:rPr sz="2100" b="0" i="0">
                <a:solidFill>
                  <a:srgbClr val="1A1A1A"/>
                </a:solidFill>
                <a:latin typeface="Arial"/>
              </a:rPr>
              <a:t>3.  Extreme bullishness is potentially bearish, and the reverse.</a:t>
            </a:r>
          </a:p>
          <a:p>
            <a:pPr algn="l">
              <a:lnSpc>
                <a:spcPct val="118000"/>
              </a:lnSpc>
              <a:spcBef>
                <a:spcPts val="0"/>
              </a:spcBef>
              <a:spcAft>
                <a:spcPts val="1300"/>
              </a:spcAft>
            </a:pPr>
            <a:r>
              <a:rPr sz="2100" b="0" i="0">
                <a:solidFill>
                  <a:srgbClr val="1A1A1A"/>
                </a:solidFill>
                <a:latin typeface="Arial"/>
              </a:rPr>
              <a:t>4.  A technical tool matters only because participants say it does.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These four are applied assumptions. They govern what you do, not what you believe.</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Applied assumption one: persistence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Whatever the market is currently doing, assume it keeps doing it until something proves otherwise.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trend is assumed to continue, a consolidation is assumed to keep ranging, a cycle is assumed to hold until it clearly fails.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Price behavior is expected to persist until there is evidence to the contrary. Persistence is the assumed status quo.</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29 of 33</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Applied assumption two: equal and opposite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Any signal you can read as bullish, someone competent can read as bearish, from the same data.</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Rising oil prices as evidence of a recovering economy, or as evidence of rising costs.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For every bullish indication or interpretation, there exists an equal and opposite bearish indication or interpretation for the same price behavior.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30 of 33</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Applied assumption three: extremes invert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reading that is extremely bullish is also a warning, because the market may be exhausted.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stochastic reading of 100 percent is explicitly bullish and implicitly bearish at the same time.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Extreme bullishness is potentially bearish, and extreme bearishness is potentially bullish, because extremes indicate overextension or exhaustion.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31 of 33</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Applied assumption four: significance is attributed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An indicator has no power of its own. It has exactly as much power as the number of people acting on it.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famous trendline produces a big penetration bar because it is famous, not because the line is magic.</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technical tool or indicator has no real significance except that attributed to it by market participants.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32 of 33</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22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The four applied assumptions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stochastic reading of 100 percent is explicitly bullish but potentially bearish. This illustrates which applied assumption?</a:t>
            </a:r>
          </a:p>
        </p:txBody>
      </p:sp>
      <p:sp>
        <p:nvSpPr>
          <p:cNvPr id="9" name="TextBox 8"/>
          <p:cNvSpPr txBox="1"/>
          <p:nvPr/>
        </p:nvSpPr>
        <p:spPr>
          <a:xfrm>
            <a:off x="1051560"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Persistence</a:t>
            </a:r>
          </a:p>
          <a:p>
            <a:pPr algn="l">
              <a:lnSpc>
                <a:spcPct val="112000"/>
              </a:lnSpc>
              <a:spcBef>
                <a:spcPts val="0"/>
              </a:spcBef>
              <a:spcAft>
                <a:spcPts val="900"/>
              </a:spcAft>
            </a:pPr>
            <a:r>
              <a:rPr sz="1500" b="0" i="0">
                <a:solidFill>
                  <a:srgbClr val="FFFFFF"/>
                </a:solidFill>
                <a:latin typeface="Arial"/>
              </a:rPr>
              <a:t>B.  Equal and opposite readings</a:t>
            </a:r>
          </a:p>
          <a:p>
            <a:pPr algn="l">
              <a:lnSpc>
                <a:spcPct val="112000"/>
              </a:lnSpc>
              <a:spcBef>
                <a:spcPts val="0"/>
              </a:spcBef>
              <a:spcAft>
                <a:spcPts val="900"/>
              </a:spcAft>
            </a:pPr>
            <a:r>
              <a:rPr sz="1500" b="0" i="0">
                <a:solidFill>
                  <a:srgbClr val="FFFFFF"/>
                </a:solidFill>
                <a:latin typeface="Arial"/>
              </a:rPr>
              <a:t>C.  Significance is attributed by participants</a:t>
            </a:r>
          </a:p>
          <a:p>
            <a:pPr algn="l">
              <a:lnSpc>
                <a:spcPct val="112000"/>
              </a:lnSpc>
              <a:spcBef>
                <a:spcPts val="0"/>
              </a:spcBef>
              <a:spcAft>
                <a:spcPts val="900"/>
              </a:spcAft>
            </a:pPr>
            <a:r>
              <a:rPr sz="1500" b="0" i="0">
                <a:solidFill>
                  <a:srgbClr val="FFFFFF"/>
                </a:solidFill>
                <a:latin typeface="Arial"/>
              </a:rPr>
              <a:t>D.  Extreme bullishness is potentially bearish</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108458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poorly designed indicator starts producing reliable signals because a large number of traders risk capital on it. This illustrates:</a:t>
            </a:r>
          </a:p>
        </p:txBody>
      </p:sp>
      <p:sp>
        <p:nvSpPr>
          <p:cNvPr id="13" name="TextBox 12"/>
          <p:cNvSpPr txBox="1"/>
          <p:nvPr/>
        </p:nvSpPr>
        <p:spPr>
          <a:xfrm>
            <a:off x="6690207" y="3023107"/>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weak form of EMH</a:t>
            </a:r>
          </a:p>
          <a:p>
            <a:pPr algn="l">
              <a:lnSpc>
                <a:spcPct val="112000"/>
              </a:lnSpc>
              <a:spcBef>
                <a:spcPts val="0"/>
              </a:spcBef>
              <a:spcAft>
                <a:spcPts val="900"/>
              </a:spcAft>
            </a:pPr>
            <a:r>
              <a:rPr sz="1500" b="0" i="0">
                <a:solidFill>
                  <a:srgbClr val="FFFFFF"/>
                </a:solidFill>
                <a:latin typeface="Arial"/>
              </a:rPr>
              <a:t>B.  Random walk</a:t>
            </a:r>
          </a:p>
          <a:p>
            <a:pPr algn="l">
              <a:lnSpc>
                <a:spcPct val="112000"/>
              </a:lnSpc>
              <a:spcBef>
                <a:spcPts val="0"/>
              </a:spcBef>
              <a:spcAft>
                <a:spcPts val="900"/>
              </a:spcAft>
            </a:pPr>
            <a:r>
              <a:rPr sz="1500" b="0" i="0">
                <a:solidFill>
                  <a:srgbClr val="FFFFFF"/>
                </a:solidFill>
                <a:latin typeface="Arial"/>
              </a:rPr>
              <a:t>C.  Applied assumption four, significance attributed by participants</a:t>
            </a:r>
          </a:p>
          <a:p>
            <a:pPr algn="l">
              <a:lnSpc>
                <a:spcPct val="112000"/>
              </a:lnSpc>
              <a:spcBef>
                <a:spcPts val="0"/>
              </a:spcBef>
              <a:spcAft>
                <a:spcPts val="900"/>
              </a:spcAft>
            </a:pPr>
            <a:r>
              <a:rPr sz="1500" b="0" i="0">
                <a:solidFill>
                  <a:srgbClr val="FFFFFF"/>
                </a:solidFill>
                <a:latin typeface="Arial"/>
              </a:rPr>
              <a:t>D.  Mean reversion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5 of 6 - Assumptions  |  Check 22</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The four applied assumptions</a:t>
            </a:r>
          </a:p>
        </p:txBody>
      </p:sp>
      <p:sp>
        <p:nvSpPr>
          <p:cNvPr id="6" name="Rectangle 5"/>
          <p:cNvSpPr/>
          <p:nvPr/>
        </p:nvSpPr>
        <p:spPr>
          <a:xfrm>
            <a:off x="777240" y="1207008"/>
            <a:ext cx="10637215" cy="1861819"/>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861819"/>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stochastic reading of 100 percent is explicitly bullish but potentially bearish. This illustrates which applied assumption?</a:t>
            </a:r>
          </a:p>
        </p:txBody>
      </p:sp>
      <p:sp>
        <p:nvSpPr>
          <p:cNvPr id="9" name="TextBox 8"/>
          <p:cNvSpPr txBox="1"/>
          <p:nvPr/>
        </p:nvSpPr>
        <p:spPr>
          <a:xfrm>
            <a:off x="1143000" y="216814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D.  Extreme bullishness is potentially bearish</a:t>
            </a:r>
          </a:p>
          <a:p>
            <a:pPr algn="l">
              <a:lnSpc>
                <a:spcPct val="115000"/>
              </a:lnSpc>
              <a:spcBef>
                <a:spcPts val="700"/>
              </a:spcBef>
              <a:spcAft>
                <a:spcPts val="0"/>
              </a:spcAft>
            </a:pPr>
            <a:r>
              <a:rPr sz="1600" b="0" i="0">
                <a:solidFill>
                  <a:srgbClr val="1A1A1A"/>
                </a:solidFill>
                <a:latin typeface="Arial"/>
              </a:rPr>
              <a:t>An extreme reading signals overextension, so extreme bullishness carries a bearish warning.</a:t>
            </a:r>
          </a:p>
        </p:txBody>
      </p:sp>
      <p:sp>
        <p:nvSpPr>
          <p:cNvPr id="10" name="Rectangle 9"/>
          <p:cNvSpPr/>
          <p:nvPr/>
        </p:nvSpPr>
        <p:spPr>
          <a:xfrm>
            <a:off x="777240" y="3315716"/>
            <a:ext cx="10637215" cy="23875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315716"/>
            <a:ext cx="91440" cy="23875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55346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A poorly designed indicator starts producing reliable signals because a large number of traders risk capital on it. This illustrates:</a:t>
            </a:r>
          </a:p>
        </p:txBody>
      </p:sp>
      <p:sp>
        <p:nvSpPr>
          <p:cNvPr id="13" name="TextBox 12"/>
          <p:cNvSpPr txBox="1"/>
          <p:nvPr/>
        </p:nvSpPr>
        <p:spPr>
          <a:xfrm>
            <a:off x="1143000" y="4276852"/>
            <a:ext cx="9905695" cy="14986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Applied assumption four, significance attributed by participants</a:t>
            </a:r>
          </a:p>
          <a:p>
            <a:pPr algn="l">
              <a:lnSpc>
                <a:spcPct val="115000"/>
              </a:lnSpc>
              <a:spcBef>
                <a:spcPts val="700"/>
              </a:spcBef>
              <a:spcAft>
                <a:spcPts val="0"/>
              </a:spcAft>
            </a:pPr>
            <a:r>
              <a:rPr sz="1600" b="0" i="0">
                <a:solidFill>
                  <a:srgbClr val="1A1A1A"/>
                </a:solidFill>
                <a:latin typeface="Arial"/>
              </a:rPr>
              <a:t>A tool has only the significance participants give it, which is the self-fulfilling prophecy formalized.</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Check 22</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technical analysis works best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33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 long timeframes, fundamental analysis carries a lot of the forecasting load.</a:t>
            </a:r>
          </a:p>
          <a:p>
            <a:pPr algn="l">
              <a:lnSpc>
                <a:spcPct val="118000"/>
              </a:lnSpc>
              <a:spcBef>
                <a:spcPts val="0"/>
              </a:spcBef>
              <a:spcAft>
                <a:spcPts val="1300"/>
              </a:spcAft>
            </a:pPr>
            <a:r>
              <a:rPr sz="2100" b="0" i="0">
                <a:solidFill>
                  <a:srgbClr val="1A1A1A"/>
                </a:solidFill>
                <a:latin typeface="Arial"/>
              </a:rPr>
              <a:t>On very short timeframes, fundamental analysis is nearly useless.</a:t>
            </a:r>
          </a:p>
          <a:p>
            <a:pPr algn="l">
              <a:lnSpc>
                <a:spcPct val="118000"/>
              </a:lnSpc>
              <a:spcBef>
                <a:spcPts val="0"/>
              </a:spcBef>
              <a:spcAft>
                <a:spcPts val="1300"/>
              </a:spcAft>
            </a:pPr>
            <a:r>
              <a:rPr sz="2100" b="0" i="0">
                <a:solidFill>
                  <a:srgbClr val="1A1A1A"/>
                </a:solidFill>
                <a:latin typeface="Arial"/>
              </a:rPr>
              <a:t>The smaller your stop, the more the forecast depends on technical work.</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why technical analysis is generally more reliable at lower timeframes.</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Market discounting, and what it cannot discount</a:t>
            </a:r>
          </a:p>
          <a:p>
            <a:pPr algn="l" marL="237744" indent="-237744">
              <a:lnSpc>
                <a:spcPct val="112000"/>
              </a:lnSpc>
              <a:spcBef>
                <a:spcPts val="0"/>
              </a:spcBef>
              <a:spcAft>
                <a:spcPts val="1200"/>
              </a:spcAft>
            </a:pPr>
            <a:r>
              <a:rPr sz="1800" b="0" i="0">
                <a:solidFill>
                  <a:srgbClr val="1A1A1A"/>
                </a:solidFill>
                <a:latin typeface="Arial"/>
              </a:rPr>
              <a:t>▪  What markets are really discounting</a:t>
            </a:r>
          </a:p>
          <a:p>
            <a:pPr algn="l" marL="237744" indent="-237744">
              <a:lnSpc>
                <a:spcPct val="112000"/>
              </a:lnSpc>
              <a:spcBef>
                <a:spcPts val="0"/>
              </a:spcBef>
              <a:spcAft>
                <a:spcPts val="1200"/>
              </a:spcAft>
            </a:pPr>
            <a:r>
              <a:rPr sz="1800" b="0" i="0">
                <a:solidFill>
                  <a:srgbClr val="1A1A1A"/>
                </a:solidFill>
                <a:latin typeface="Arial"/>
              </a:rPr>
              <a:t>▪  The Efficient Market Hypothesis</a:t>
            </a:r>
          </a:p>
          <a:p>
            <a:pPr algn="l" marL="237744" indent="-237744">
              <a:lnSpc>
                <a:spcPct val="112000"/>
              </a:lnSpc>
              <a:spcBef>
                <a:spcPts val="0"/>
              </a:spcBef>
              <a:spcAft>
                <a:spcPts val="1200"/>
              </a:spcAft>
            </a:pPr>
            <a:r>
              <a:rPr sz="1800" b="0" i="0">
                <a:solidFill>
                  <a:srgbClr val="1A1A1A"/>
                </a:solidFill>
                <a:latin typeface="Arial"/>
              </a:rPr>
              <a:t>▪  Instantaneous and rational reaction</a:t>
            </a:r>
          </a:p>
          <a:p>
            <a:pPr algn="l" marL="237744" indent="-237744">
              <a:lnSpc>
                <a:spcPct val="112000"/>
              </a:lnSpc>
              <a:spcBef>
                <a:spcPts val="0"/>
              </a:spcBef>
              <a:spcAft>
                <a:spcPts val="1200"/>
              </a:spcAft>
            </a:pPr>
            <a:r>
              <a:rPr sz="1800" b="0" i="0">
                <a:solidFill>
                  <a:srgbClr val="1A1A1A"/>
                </a:solidFill>
                <a:latin typeface="Arial"/>
              </a:rPr>
              <a:t>▪  The semi-efficient market</a:t>
            </a:r>
          </a:p>
          <a:p>
            <a:pPr algn="l" marL="237744" indent="-237744">
              <a:lnSpc>
                <a:spcPct val="112000"/>
              </a:lnSpc>
              <a:spcBef>
                <a:spcPts val="0"/>
              </a:spcBef>
              <a:spcAft>
                <a:spcPts val="1200"/>
              </a:spcAft>
            </a:pPr>
            <a:r>
              <a:rPr sz="1800" b="0" i="0">
                <a:solidFill>
                  <a:srgbClr val="1A1A1A"/>
                </a:solidFill>
                <a:latin typeface="Arial"/>
              </a:rPr>
              <a:t>▪  The weak, semi-strong and strong forms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Random walk and the Markovian condition</a:t>
            </a:r>
          </a:p>
          <a:p>
            <a:pPr algn="l" marL="237744" indent="-237744">
              <a:lnSpc>
                <a:spcPct val="112000"/>
              </a:lnSpc>
              <a:spcBef>
                <a:spcPts val="0"/>
              </a:spcBef>
              <a:spcAft>
                <a:spcPts val="1200"/>
              </a:spcAft>
            </a:pPr>
            <a:r>
              <a:rPr sz="1800" b="0" i="0">
                <a:solidFill>
                  <a:srgbClr val="1A1A1A"/>
                </a:solidFill>
                <a:latin typeface="Arial"/>
              </a:rPr>
              <a:t>▪  Real world discounting, insiders and overreaction</a:t>
            </a:r>
          </a:p>
          <a:p>
            <a:pPr algn="l" marL="237744" indent="-237744">
              <a:lnSpc>
                <a:spcPct val="112000"/>
              </a:lnSpc>
              <a:spcBef>
                <a:spcPts val="0"/>
              </a:spcBef>
              <a:spcAft>
                <a:spcPts val="1200"/>
              </a:spcAft>
            </a:pPr>
            <a:r>
              <a:rPr sz="1800" b="0" i="0">
                <a:solidFill>
                  <a:srgbClr val="1A1A1A"/>
                </a:solidFill>
                <a:latin typeface="Arial"/>
              </a:rPr>
              <a:t>▪  Price versus value, and expected value</a:t>
            </a:r>
          </a:p>
          <a:p>
            <a:pPr algn="l" marL="237744" indent="-237744">
              <a:lnSpc>
                <a:spcPct val="112000"/>
              </a:lnSpc>
              <a:spcBef>
                <a:spcPts val="0"/>
              </a:spcBef>
              <a:spcAft>
                <a:spcPts val="1200"/>
              </a:spcAft>
            </a:pPr>
            <a:r>
              <a:rPr sz="1800" b="0" i="0">
                <a:solidFill>
                  <a:srgbClr val="1A1A1A"/>
                </a:solidFill>
                <a:latin typeface="Arial"/>
              </a:rPr>
              <a:t>▪  Behavior repeats, and what erodes it</a:t>
            </a:r>
          </a:p>
          <a:p>
            <a:pPr algn="l" marL="237744" indent="-237744">
              <a:lnSpc>
                <a:spcPct val="112000"/>
              </a:lnSpc>
              <a:spcBef>
                <a:spcPts val="0"/>
              </a:spcBef>
              <a:spcAft>
                <a:spcPts val="1200"/>
              </a:spcAft>
            </a:pPr>
            <a:r>
              <a:rPr sz="1800" b="0" i="0">
                <a:solidFill>
                  <a:srgbClr val="1A1A1A"/>
                </a:solidFill>
                <a:latin typeface="Arial"/>
              </a:rPr>
              <a:t>▪  The market moves in trends, and what that costs</a:t>
            </a:r>
          </a:p>
          <a:p>
            <a:pPr algn="l" marL="237744" indent="-237744">
              <a:lnSpc>
                <a:spcPct val="112000"/>
              </a:lnSpc>
              <a:spcBef>
                <a:spcPts val="0"/>
              </a:spcBef>
              <a:spcAft>
                <a:spcPts val="1200"/>
              </a:spcAft>
            </a:pPr>
            <a:r>
              <a:rPr sz="1800" b="0" i="0">
                <a:solidFill>
                  <a:srgbClr val="1A1A1A"/>
                </a:solidFill>
                <a:latin typeface="Arial"/>
              </a:rPr>
              <a:t>▪  The four assumptions in application</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recap</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6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Who Is In The Market</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eight categories of market participant.</a:t>
            </a:r>
          </a:p>
          <a:p>
            <a:pPr algn="l">
              <a:lnSpc>
                <a:spcPct val="115000"/>
              </a:lnSpc>
              <a:spcBef>
                <a:spcPts val="0"/>
              </a:spcBef>
              <a:spcAft>
                <a:spcPts val="1000"/>
              </a:spcAft>
            </a:pPr>
            <a:r>
              <a:rPr sz="1900" b="0" i="0">
                <a:solidFill>
                  <a:srgbClr val="FFFFFF"/>
                </a:solidFill>
                <a:latin typeface="Arial"/>
              </a:rPr>
              <a:t>Two other ways to sort them: by time, and by method.</a:t>
            </a:r>
          </a:p>
          <a:p>
            <a:pPr algn="l">
              <a:lnSpc>
                <a:spcPct val="115000"/>
              </a:lnSpc>
              <a:spcBef>
                <a:spcPts val="0"/>
              </a:spcBef>
              <a:spcAft>
                <a:spcPts val="1000"/>
              </a:spcAft>
            </a:pPr>
            <a:r>
              <a:rPr sz="1900" b="0" i="0">
                <a:solidFill>
                  <a:srgbClr val="FFFFFF"/>
                </a:solidFill>
                <a:latin typeface="Arial"/>
              </a:rPr>
              <a:t>The main markets, and the instruments derived from them.</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cast of a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Average investors and traders. Financial institutions.</a:t>
            </a:r>
          </a:p>
          <a:p>
            <a:pPr algn="l">
              <a:lnSpc>
                <a:spcPct val="118000"/>
              </a:lnSpc>
              <a:spcBef>
                <a:spcPts val="0"/>
              </a:spcBef>
              <a:spcAft>
                <a:spcPts val="1300"/>
              </a:spcAft>
            </a:pPr>
            <a:r>
              <a:rPr sz="2100" b="0" i="0">
                <a:solidFill>
                  <a:srgbClr val="1A1A1A"/>
                </a:solidFill>
                <a:latin typeface="Arial"/>
              </a:rPr>
              <a:t>Commercial banks and central banks. Hedgers and arbitrageurs.</a:t>
            </a:r>
          </a:p>
          <a:p>
            <a:pPr algn="l">
              <a:lnSpc>
                <a:spcPct val="118000"/>
              </a:lnSpc>
              <a:spcBef>
                <a:spcPts val="0"/>
              </a:spcBef>
              <a:spcAft>
                <a:spcPts val="1300"/>
              </a:spcAft>
            </a:pPr>
            <a:r>
              <a:rPr sz="2100" b="0" i="0">
                <a:solidFill>
                  <a:srgbClr val="1A1A1A"/>
                </a:solidFill>
                <a:latin typeface="Arial"/>
              </a:rPr>
              <a:t>Brokers, hedge funds, mutual funds and pension funds.</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 price you see is one of these people disagreeing with another one.</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Retail and institutional participants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Retail means individuals trading their own money. Institutional means organizations trading other people's money at scale.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with a 20,000 peso account are retail. A pension fund moving 200 million pesos is institutional.</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Retail participants trade their own capital in comparatively small size; institutional participants deploy pooled or corporate capital in size sufficient to move markets.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2 of 14</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Speculators and investors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speculator is paid for taking on price risk over a shorter horizon. An investor holds for the longer term return.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speculator buys expecting a move this month. An investor buys expecting dividends and growth for a decade.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Speculators assume price risk in pursuit of gain from price movement; investors commit capital for longer term return from the asset itself.</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3 of 14</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23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Who is who</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pension fund deploying pooled retirement contributions is best classified as: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An institutional participant</a:t>
            </a:r>
          </a:p>
          <a:p>
            <a:pPr algn="l">
              <a:lnSpc>
                <a:spcPct val="112000"/>
              </a:lnSpc>
              <a:spcBef>
                <a:spcPts val="0"/>
              </a:spcBef>
              <a:spcAft>
                <a:spcPts val="900"/>
              </a:spcAft>
            </a:pPr>
            <a:r>
              <a:rPr sz="1500" b="0" i="0">
                <a:solidFill>
                  <a:srgbClr val="FFFFFF"/>
                </a:solidFill>
                <a:latin typeface="Arial"/>
              </a:rPr>
              <a:t>B.  A retail participant</a:t>
            </a:r>
          </a:p>
          <a:p>
            <a:pPr algn="l">
              <a:lnSpc>
                <a:spcPct val="112000"/>
              </a:lnSpc>
              <a:spcBef>
                <a:spcPts val="0"/>
              </a:spcBef>
              <a:spcAft>
                <a:spcPts val="900"/>
              </a:spcAft>
            </a:pPr>
            <a:r>
              <a:rPr sz="1500" b="0" i="0">
                <a:solidFill>
                  <a:srgbClr val="FFFFFF"/>
                </a:solidFill>
                <a:latin typeface="Arial"/>
              </a:rPr>
              <a:t>C.  A hedger</a:t>
            </a:r>
          </a:p>
          <a:p>
            <a:pPr algn="l">
              <a:lnSpc>
                <a:spcPct val="112000"/>
              </a:lnSpc>
              <a:spcBef>
                <a:spcPts val="0"/>
              </a:spcBef>
              <a:spcAft>
                <a:spcPts val="900"/>
              </a:spcAft>
            </a:pPr>
            <a:r>
              <a:rPr sz="1500" b="0" i="0">
                <a:solidFill>
                  <a:srgbClr val="FFFFFF"/>
                </a:solidFill>
                <a:latin typeface="Arial"/>
              </a:rPr>
              <a:t>D.  A novice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How many main categories of market participant does the chapter identify?</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Four</a:t>
            </a:r>
          </a:p>
          <a:p>
            <a:pPr algn="l">
              <a:lnSpc>
                <a:spcPct val="112000"/>
              </a:lnSpc>
              <a:spcBef>
                <a:spcPts val="0"/>
              </a:spcBef>
              <a:spcAft>
                <a:spcPts val="900"/>
              </a:spcAft>
            </a:pPr>
            <a:r>
              <a:rPr sz="1500" b="0" i="0">
                <a:solidFill>
                  <a:srgbClr val="FFFFFF"/>
                </a:solidFill>
                <a:latin typeface="Arial"/>
              </a:rPr>
              <a:t>B.  Six</a:t>
            </a:r>
          </a:p>
          <a:p>
            <a:pPr algn="l">
              <a:lnSpc>
                <a:spcPct val="112000"/>
              </a:lnSpc>
              <a:spcBef>
                <a:spcPts val="0"/>
              </a:spcBef>
              <a:spcAft>
                <a:spcPts val="900"/>
              </a:spcAft>
            </a:pPr>
            <a:r>
              <a:rPr sz="1500" b="0" i="0">
                <a:solidFill>
                  <a:srgbClr val="FFFFFF"/>
                </a:solidFill>
                <a:latin typeface="Arial"/>
              </a:rPr>
              <a:t>C.  Eight</a:t>
            </a:r>
          </a:p>
          <a:p>
            <a:pPr algn="l">
              <a:lnSpc>
                <a:spcPct val="112000"/>
              </a:lnSpc>
              <a:spcBef>
                <a:spcPts val="0"/>
              </a:spcBef>
              <a:spcAft>
                <a:spcPts val="900"/>
              </a:spcAft>
            </a:pPr>
            <a:r>
              <a:rPr sz="1500" b="0" i="0">
                <a:solidFill>
                  <a:srgbClr val="FFFFFF"/>
                </a:solidFill>
                <a:latin typeface="Arial"/>
              </a:rPr>
              <a:t>D.  Ten</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Participants  |  Check 23</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Who is who</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pension fund deploying pooled retirement contributions is best classified as: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An institutional participant</a:t>
            </a:r>
          </a:p>
          <a:p>
            <a:pPr algn="l">
              <a:lnSpc>
                <a:spcPct val="115000"/>
              </a:lnSpc>
              <a:spcBef>
                <a:spcPts val="700"/>
              </a:spcBef>
              <a:spcAft>
                <a:spcPts val="0"/>
              </a:spcAft>
            </a:pPr>
            <a:r>
              <a:rPr sz="1600" b="0" i="0">
                <a:solidFill>
                  <a:srgbClr val="1A1A1A"/>
                </a:solidFill>
                <a:latin typeface="Arial"/>
              </a:rPr>
              <a:t>Institutional participants deploy pooled or corporate capital at scale.</a:t>
            </a:r>
          </a:p>
        </p:txBody>
      </p:sp>
      <p:sp>
        <p:nvSpPr>
          <p:cNvPr id="10" name="Rectangle 9"/>
          <p:cNvSpPr/>
          <p:nvPr/>
        </p:nvSpPr>
        <p:spPr>
          <a:xfrm>
            <a:off x="777240" y="3082036"/>
            <a:ext cx="10637215" cy="186181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186181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How many main categories of market participant does the chapter identify?</a:t>
            </a:r>
          </a:p>
        </p:txBody>
      </p:sp>
      <p:sp>
        <p:nvSpPr>
          <p:cNvPr id="13" name="TextBox 12"/>
          <p:cNvSpPr txBox="1"/>
          <p:nvPr/>
        </p:nvSpPr>
        <p:spPr>
          <a:xfrm>
            <a:off x="1143000" y="380949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Eight</a:t>
            </a:r>
          </a:p>
          <a:p>
            <a:pPr algn="l">
              <a:lnSpc>
                <a:spcPct val="115000"/>
              </a:lnSpc>
              <a:spcBef>
                <a:spcPts val="700"/>
              </a:spcBef>
              <a:spcAft>
                <a:spcPts val="0"/>
              </a:spcAft>
            </a:pPr>
            <a:r>
              <a:rPr sz="1600" b="0" i="0">
                <a:solidFill>
                  <a:srgbClr val="1A1A1A"/>
                </a:solidFill>
                <a:latin typeface="Arial"/>
              </a:rPr>
              <a:t>Eight: retail, institutional, speculator, supply side, demand side, professional, investor and novice.</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Check 23</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Supply side and demand side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book lists both of these among its eight categories of market participant, and then defines neither of them anywhere in the book.</a:t>
            </a:r>
          </a:p>
        </p:txBody>
      </p:sp>
      <p:sp>
        <p:nvSpPr>
          <p:cNvPr id="9" name="Rectangle 8"/>
          <p:cNvSpPr/>
          <p:nvPr/>
        </p:nvSpPr>
        <p:spPr>
          <a:xfrm>
            <a:off x="777240" y="3417061"/>
            <a:ext cx="64008" cy="1643506"/>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175323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Aside, not examinable. Two readings circulate outside the text. One makes the supply side the providers of the market service, brokers, exchanges, market makers and data vendors, and the demand side the funds and traders who use them. The other makes the supply side producers hedging their output and the demand side consumers hedging their input.</a:t>
            </a:r>
          </a:p>
        </p:txBody>
      </p:sp>
      <p:sp>
        <p:nvSpPr>
          <p:cNvPr id="11" name="TextBox 1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4 of 14</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Professionals and novices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professional does this for a living, with a process. A novice is still building one.</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Everyone in this room is a novice today. That is the correct and useful answer.</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Professionals participate as an occupation, with defined process and risk control; novices participate without established process or experience.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5 of 14</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Discretionary and nondiscretionary traders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discretionary trader decides each trade themselves. A nondiscretionary trader follows a fixed system without overriding it.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Reading the chart and deciding is discretionary. Letting a coded rule fire the order is nondiscretionary.</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Discretionary traders exercise judgement on each decision; nondiscretionary traders execute a predefined rule set without discretionary intervention.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6 of 14</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24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Categories and methods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588009"/>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A trader who executes a fully coded rule set without overriding it is:</a:t>
            </a:r>
          </a:p>
        </p:txBody>
      </p:sp>
      <p:sp>
        <p:nvSpPr>
          <p:cNvPr id="9" name="TextBox 8"/>
          <p:cNvSpPr txBox="1"/>
          <p:nvPr/>
        </p:nvSpPr>
        <p:spPr>
          <a:xfrm>
            <a:off x="1051560"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Nondiscretionary</a:t>
            </a:r>
          </a:p>
          <a:p>
            <a:pPr algn="l">
              <a:lnSpc>
                <a:spcPct val="112000"/>
              </a:lnSpc>
              <a:spcBef>
                <a:spcPts val="0"/>
              </a:spcBef>
              <a:spcAft>
                <a:spcPts val="900"/>
              </a:spcAft>
            </a:pPr>
            <a:r>
              <a:rPr sz="1500" b="0" i="0">
                <a:solidFill>
                  <a:srgbClr val="FFFFFF"/>
                </a:solidFill>
                <a:latin typeface="Arial"/>
              </a:rPr>
              <a:t>B.  Discretionary</a:t>
            </a:r>
          </a:p>
          <a:p>
            <a:pPr algn="l">
              <a:lnSpc>
                <a:spcPct val="112000"/>
              </a:lnSpc>
              <a:spcBef>
                <a:spcPts val="0"/>
              </a:spcBef>
              <a:spcAft>
                <a:spcPts val="900"/>
              </a:spcAft>
            </a:pPr>
            <a:r>
              <a:rPr sz="1500" b="0" i="0">
                <a:solidFill>
                  <a:srgbClr val="FFFFFF"/>
                </a:solidFill>
                <a:latin typeface="Arial"/>
              </a:rPr>
              <a:t>C.  A hedger</a:t>
            </a:r>
          </a:p>
          <a:p>
            <a:pPr algn="l">
              <a:lnSpc>
                <a:spcPct val="112000"/>
              </a:lnSpc>
              <a:spcBef>
                <a:spcPts val="0"/>
              </a:spcBef>
              <a:spcAft>
                <a:spcPts val="900"/>
              </a:spcAft>
            </a:pPr>
            <a:r>
              <a:rPr sz="1500" b="0" i="0">
                <a:solidFill>
                  <a:srgbClr val="FFFFFF"/>
                </a:solidFill>
                <a:latin typeface="Arial"/>
              </a:rPr>
              <a:t>D.  A scalper</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Which pair is distinguished mainly by holding period and by who is paid for taking on price risk?</a:t>
            </a:r>
          </a:p>
        </p:txBody>
      </p:sp>
      <p:sp>
        <p:nvSpPr>
          <p:cNvPr id="13" name="TextBox 12"/>
          <p:cNvSpPr txBox="1"/>
          <p:nvPr/>
        </p:nvSpPr>
        <p:spPr>
          <a:xfrm>
            <a:off x="6690207" y="2774822"/>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Retail and institutional</a:t>
            </a:r>
          </a:p>
          <a:p>
            <a:pPr algn="l">
              <a:lnSpc>
                <a:spcPct val="112000"/>
              </a:lnSpc>
              <a:spcBef>
                <a:spcPts val="0"/>
              </a:spcBef>
              <a:spcAft>
                <a:spcPts val="900"/>
              </a:spcAft>
            </a:pPr>
            <a:r>
              <a:rPr sz="1500" b="0" i="0">
                <a:solidFill>
                  <a:srgbClr val="FFFFFF"/>
                </a:solidFill>
                <a:latin typeface="Arial"/>
              </a:rPr>
              <a:t>B.  Speculator and investor</a:t>
            </a:r>
          </a:p>
          <a:p>
            <a:pPr algn="l">
              <a:lnSpc>
                <a:spcPct val="112000"/>
              </a:lnSpc>
              <a:spcBef>
                <a:spcPts val="0"/>
              </a:spcBef>
              <a:spcAft>
                <a:spcPts val="900"/>
              </a:spcAft>
            </a:pPr>
            <a:r>
              <a:rPr sz="1500" b="0" i="0">
                <a:solidFill>
                  <a:srgbClr val="FFFFFF"/>
                </a:solidFill>
                <a:latin typeface="Arial"/>
              </a:rPr>
              <a:t>C.  Professional and novice</a:t>
            </a:r>
          </a:p>
          <a:p>
            <a:pPr algn="l">
              <a:lnSpc>
                <a:spcPct val="112000"/>
              </a:lnSpc>
              <a:spcBef>
                <a:spcPts val="0"/>
              </a:spcBef>
              <a:spcAft>
                <a:spcPts val="900"/>
              </a:spcAft>
            </a:pPr>
            <a:r>
              <a:rPr sz="1500" b="0" i="0">
                <a:solidFill>
                  <a:srgbClr val="FFFFFF"/>
                </a:solidFill>
                <a:latin typeface="Arial"/>
              </a:rPr>
              <a:t>D.  Discretionary and nondiscretionary</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Participants  |  Check 24</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Categories and methods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A trader who executes a fully coded rule set without overriding it is:</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A.  Nondiscretionary</a:t>
            </a:r>
          </a:p>
          <a:p>
            <a:pPr algn="l">
              <a:lnSpc>
                <a:spcPct val="115000"/>
              </a:lnSpc>
              <a:spcBef>
                <a:spcPts val="700"/>
              </a:spcBef>
              <a:spcAft>
                <a:spcPts val="0"/>
              </a:spcAft>
            </a:pPr>
            <a:r>
              <a:rPr sz="1600" b="0" i="0">
                <a:solidFill>
                  <a:srgbClr val="1A1A1A"/>
                </a:solidFill>
                <a:latin typeface="Arial"/>
              </a:rPr>
              <a:t>Nondiscretionary means following the predefined rules without discretionary intervention.</a:t>
            </a:r>
          </a:p>
        </p:txBody>
      </p:sp>
      <p:sp>
        <p:nvSpPr>
          <p:cNvPr id="10" name="Rectangle 9"/>
          <p:cNvSpPr/>
          <p:nvPr/>
        </p:nvSpPr>
        <p:spPr>
          <a:xfrm>
            <a:off x="777240" y="308203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558800"/>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Which pair is distinguished mainly by holding period and by who is paid for taking on price risk?</a:t>
            </a:r>
          </a:p>
        </p:txBody>
      </p:sp>
      <p:sp>
        <p:nvSpPr>
          <p:cNvPr id="13" name="TextBox 12"/>
          <p:cNvSpPr txBox="1"/>
          <p:nvPr/>
        </p:nvSpPr>
        <p:spPr>
          <a:xfrm>
            <a:off x="1143000" y="404317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Speculator and investor</a:t>
            </a:r>
          </a:p>
          <a:p>
            <a:pPr algn="l">
              <a:lnSpc>
                <a:spcPct val="115000"/>
              </a:lnSpc>
              <a:spcBef>
                <a:spcPts val="700"/>
              </a:spcBef>
              <a:spcAft>
                <a:spcPts val="0"/>
              </a:spcAft>
            </a:pPr>
            <a:r>
              <a:rPr sz="1600" b="0" i="0">
                <a:solidFill>
                  <a:srgbClr val="1A1A1A"/>
                </a:solidFill>
                <a:latin typeface="Arial"/>
              </a:rPr>
              <a:t>A speculator is paid for assuming price risk over a shorter horizon; an investor commits capital for the longer term return from the asset itself.</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Check 24</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Sorted by time spent in the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7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Scalpers: in and out within seconds or minutes.</a:t>
            </a:r>
          </a:p>
          <a:p>
            <a:pPr algn="l">
              <a:lnSpc>
                <a:spcPct val="118000"/>
              </a:lnSpc>
              <a:spcBef>
                <a:spcPts val="0"/>
              </a:spcBef>
              <a:spcAft>
                <a:spcPts val="1300"/>
              </a:spcAft>
            </a:pPr>
            <a:r>
              <a:rPr sz="2100" b="0" i="0">
                <a:solidFill>
                  <a:srgbClr val="1A1A1A"/>
                </a:solidFill>
                <a:latin typeface="Arial"/>
              </a:rPr>
              <a:t>Day traders: every trade closed within the same trading day.</a:t>
            </a:r>
          </a:p>
          <a:p>
            <a:pPr algn="l">
              <a:lnSpc>
                <a:spcPct val="118000"/>
              </a:lnSpc>
              <a:spcBef>
                <a:spcPts val="0"/>
              </a:spcBef>
              <a:spcAft>
                <a:spcPts val="1300"/>
              </a:spcAft>
            </a:pPr>
            <a:r>
              <a:rPr sz="2100" b="0" i="0">
                <a:solidFill>
                  <a:srgbClr val="1A1A1A"/>
                </a:solidFill>
                <a:latin typeface="Arial"/>
              </a:rPr>
              <a:t>Swing traders: technical reversals lasting a few days to a week.</a:t>
            </a:r>
          </a:p>
          <a:p>
            <a:pPr algn="l">
              <a:lnSpc>
                <a:spcPct val="118000"/>
              </a:lnSpc>
              <a:spcBef>
                <a:spcPts val="0"/>
              </a:spcBef>
              <a:spcAft>
                <a:spcPts val="1300"/>
              </a:spcAft>
            </a:pPr>
            <a:r>
              <a:rPr sz="2100" b="0" i="0">
                <a:solidFill>
                  <a:srgbClr val="1A1A1A"/>
                </a:solidFill>
                <a:latin typeface="Arial"/>
              </a:rPr>
              <a:t>Position traders: a few months up to a year.</a:t>
            </a:r>
          </a:p>
          <a:p>
            <a:pPr algn="l">
              <a:lnSpc>
                <a:spcPct val="118000"/>
              </a:lnSpc>
              <a:spcBef>
                <a:spcPts val="0"/>
              </a:spcBef>
              <a:spcAft>
                <a:spcPts val="1300"/>
              </a:spcAft>
            </a:pPr>
            <a:r>
              <a:rPr sz="2100" b="0" i="0">
                <a:solidFill>
                  <a:srgbClr val="1A1A1A"/>
                </a:solidFill>
                <a:latin typeface="Arial"/>
              </a:rPr>
              <a:t>Investors: buy and hold.</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Same market, five completely different jobs.</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Participants by time in the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8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1.33</a:t>
            </a:r>
          </a:p>
          <a:p>
            <a:pPr algn="l">
              <a:lnSpc>
                <a:spcPct val="120000"/>
              </a:lnSpc>
              <a:spcBef>
                <a:spcPts val="0"/>
              </a:spcBef>
              <a:spcAft>
                <a:spcPts val="1800"/>
              </a:spcAft>
            </a:pPr>
            <a:r>
              <a:rPr sz="2200" b="0" i="0">
                <a:solidFill>
                  <a:srgbClr val="1A1A1A"/>
                </a:solidFill>
                <a:latin typeface="Palatino"/>
              </a:rPr>
              <a:t>Scalpers, day traders, swing traders, position traders and investors laid out left to right, from seconds at one end to buy and hold at the other.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1.33 - Lim, The Handbook of Technical Analysis (Wiley, 2016)</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Sorted by method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9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Scalpers: very rapid long and short trades, buying the bid and selling the ask.</a:t>
            </a:r>
          </a:p>
          <a:p>
            <a:pPr algn="l">
              <a:lnSpc>
                <a:spcPct val="118000"/>
              </a:lnSpc>
              <a:spcBef>
                <a:spcPts val="0"/>
              </a:spcBef>
              <a:spcAft>
                <a:spcPts val="1300"/>
              </a:spcAft>
            </a:pPr>
            <a:r>
              <a:rPr sz="2100" b="0" i="0">
                <a:solidFill>
                  <a:srgbClr val="1A1A1A"/>
                </a:solidFill>
                <a:latin typeface="Arial"/>
              </a:rPr>
              <a:t>Trend traders: catching trends and trailing the position.</a:t>
            </a:r>
          </a:p>
          <a:p>
            <a:pPr algn="l">
              <a:lnSpc>
                <a:spcPct val="118000"/>
              </a:lnSpc>
              <a:spcBef>
                <a:spcPts val="0"/>
              </a:spcBef>
              <a:spcAft>
                <a:spcPts val="1300"/>
              </a:spcAft>
            </a:pPr>
            <a:r>
              <a:rPr sz="2100" b="0" i="0">
                <a:solidFill>
                  <a:srgbClr val="1A1A1A"/>
                </a:solidFill>
                <a:latin typeface="Arial"/>
              </a:rPr>
              <a:t>Reversal traders: catching key levels, often through mean reversion.</a:t>
            </a:r>
          </a:p>
          <a:p>
            <a:pPr algn="l">
              <a:lnSpc>
                <a:spcPct val="118000"/>
              </a:lnSpc>
              <a:spcBef>
                <a:spcPts val="0"/>
              </a:spcBef>
              <a:spcAft>
                <a:spcPts val="1300"/>
              </a:spcAft>
            </a:pPr>
            <a:r>
              <a:rPr sz="2100" b="0" i="0">
                <a:solidFill>
                  <a:srgbClr val="1A1A1A"/>
                </a:solidFill>
                <a:latin typeface="Arial"/>
              </a:rPr>
              <a:t>Scale traders: averaging against price until it turns.</a:t>
            </a:r>
          </a:p>
          <a:p>
            <a:pPr algn="l">
              <a:lnSpc>
                <a:spcPct val="118000"/>
              </a:lnSpc>
              <a:spcBef>
                <a:spcPts val="0"/>
              </a:spcBef>
              <a:spcAft>
                <a:spcPts val="1300"/>
              </a:spcAft>
            </a:pPr>
            <a:r>
              <a:rPr sz="2100" b="0" i="0">
                <a:solidFill>
                  <a:srgbClr val="1A1A1A"/>
                </a:solidFill>
                <a:latin typeface="Arial"/>
              </a:rPr>
              <a:t>Investors: buy and hold.</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same two bets from Part 3, wearing different clothes.</a:t>
            </a:r>
          </a:p>
        </p:txBody>
      </p:sp>
      <p:sp>
        <p:nvSpPr>
          <p:cNvPr id="10" name="TextBox 9"/>
          <p:cNvSpPr txBox="1"/>
          <p:nvPr/>
        </p:nvSpPr>
        <p:spPr>
          <a:xfrm>
            <a:off x="777240" y="547014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Scale trading is the highest risk method on this list. Averaging into a loss is how accounts end.</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Participants by trading methodology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10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1.34</a:t>
            </a:r>
          </a:p>
          <a:p>
            <a:pPr algn="l">
              <a:lnSpc>
                <a:spcPct val="120000"/>
              </a:lnSpc>
              <a:spcBef>
                <a:spcPts val="0"/>
              </a:spcBef>
              <a:spcAft>
                <a:spcPts val="1800"/>
              </a:spcAft>
            </a:pPr>
            <a:r>
              <a:rPr sz="2200" b="0" i="0">
                <a:solidFill>
                  <a:srgbClr val="1A1A1A"/>
                </a:solidFill>
                <a:latin typeface="Palatino"/>
              </a:rPr>
              <a:t>The same five columns re-sorted by method: scalpers, trend traders, reversal traders, scale traders and investors, each with what it is attempting to do.</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1.34 - Lim, The Handbook of Technical Analysis (Wiley, 2016)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main markets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11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Stocks. Fixed income.</a:t>
            </a:r>
          </a:p>
          <a:p>
            <a:pPr algn="l">
              <a:lnSpc>
                <a:spcPct val="118000"/>
              </a:lnSpc>
              <a:spcBef>
                <a:spcPts val="0"/>
              </a:spcBef>
              <a:spcAft>
                <a:spcPts val="1300"/>
              </a:spcAft>
            </a:pPr>
            <a:r>
              <a:rPr sz="2100" b="0" i="0">
                <a:solidFill>
                  <a:srgbClr val="1A1A1A"/>
                </a:solidFill>
                <a:latin typeface="Arial"/>
              </a:rPr>
              <a:t>Foreign exchange. Commodities.</a:t>
            </a:r>
          </a:p>
          <a:p>
            <a:pPr algn="l">
              <a:lnSpc>
                <a:spcPct val="118000"/>
              </a:lnSpc>
              <a:spcBef>
                <a:spcPts val="0"/>
              </a:spcBef>
              <a:spcAft>
                <a:spcPts val="1300"/>
              </a:spcAft>
            </a:pPr>
            <a:r>
              <a:rPr sz="2100" b="0" i="0">
                <a:solidFill>
                  <a:srgbClr val="1A1A1A"/>
                </a:solidFill>
                <a:latin typeface="Arial"/>
              </a:rPr>
              <a:t>Real estate.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These are the underlying markets. Everything else is built on top of them.</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markets, and the instruments built on them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12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1.35</a:t>
            </a:r>
          </a:p>
          <a:p>
            <a:pPr algn="l">
              <a:lnSpc>
                <a:spcPct val="120000"/>
              </a:lnSpc>
              <a:spcBef>
                <a:spcPts val="0"/>
              </a:spcBef>
              <a:spcAft>
                <a:spcPts val="1800"/>
              </a:spcAft>
            </a:pPr>
            <a:r>
              <a:rPr sz="2200" b="0" i="0">
                <a:solidFill>
                  <a:srgbClr val="1A1A1A"/>
                </a:solidFill>
                <a:latin typeface="Palatino"/>
              </a:rPr>
              <a:t>Five underlying markets on the right, stocks through real estate, and five derivative instruments on the left, options through exchange traded funds.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1.35 - Lim, The Handbook of Technical Analysis (Wiley, 2016)</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Derivative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An instrument whose value comes from something else. You get exposure to the thing without owning the thing.</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Options, futures, contracts for difference, spread betting, and exchange traded funds.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derivative is an instrument that provides access to an underlying market, deriving its value from that underlying.</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13 of 14</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Five ways to own gold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14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Buy physical gold. That is the main market.</a:t>
            </a:r>
          </a:p>
          <a:p>
            <a:pPr algn="l">
              <a:lnSpc>
                <a:spcPct val="118000"/>
              </a:lnSpc>
              <a:spcBef>
                <a:spcPts val="0"/>
              </a:spcBef>
              <a:spcAft>
                <a:spcPts val="1300"/>
              </a:spcAft>
            </a:pPr>
            <a:r>
              <a:rPr sz="2100" b="0" i="0">
                <a:solidFill>
                  <a:srgbClr val="1A1A1A"/>
                </a:solidFill>
                <a:latin typeface="Arial"/>
              </a:rPr>
              <a:t>Buy or sell a gold futures contract. Derivative.</a:t>
            </a:r>
          </a:p>
          <a:p>
            <a:pPr algn="l">
              <a:lnSpc>
                <a:spcPct val="118000"/>
              </a:lnSpc>
              <a:spcBef>
                <a:spcPts val="0"/>
              </a:spcBef>
              <a:spcAft>
                <a:spcPts val="1300"/>
              </a:spcAft>
            </a:pPr>
            <a:r>
              <a:rPr sz="2100" b="0" i="0">
                <a:solidFill>
                  <a:srgbClr val="1A1A1A"/>
                </a:solidFill>
                <a:latin typeface="Arial"/>
              </a:rPr>
              <a:t>Buy or sell a gold options contract. Derivative.</a:t>
            </a:r>
          </a:p>
          <a:p>
            <a:pPr algn="l">
              <a:lnSpc>
                <a:spcPct val="118000"/>
              </a:lnSpc>
              <a:spcBef>
                <a:spcPts val="0"/>
              </a:spcBef>
              <a:spcAft>
                <a:spcPts val="1300"/>
              </a:spcAft>
            </a:pPr>
            <a:r>
              <a:rPr sz="2100" b="0" i="0">
                <a:solidFill>
                  <a:srgbClr val="1A1A1A"/>
                </a:solidFill>
                <a:latin typeface="Arial"/>
              </a:rPr>
              <a:t>Buy shares in a gold backed exchange traded fund. Derivative.</a:t>
            </a:r>
          </a:p>
          <a:p>
            <a:pPr algn="l">
              <a:lnSpc>
                <a:spcPct val="118000"/>
              </a:lnSpc>
              <a:spcBef>
                <a:spcPts val="0"/>
              </a:spcBef>
              <a:spcAft>
                <a:spcPts val="1300"/>
              </a:spcAft>
            </a:pPr>
            <a:r>
              <a:rPr sz="2100" b="0" i="0">
                <a:solidFill>
                  <a:srgbClr val="1A1A1A"/>
                </a:solidFill>
                <a:latin typeface="Arial"/>
              </a:rPr>
              <a:t>Trade gold through a contract for difference. Derivative.</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underlying, five different instruments, five different risk profiles.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F21"/>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6916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CHECK 25 OF 25</a:t>
            </a:r>
          </a:p>
        </p:txBody>
      </p:sp>
      <p:sp>
        <p:nvSpPr>
          <p:cNvPr id="5" name="TextBox 4"/>
          <p:cNvSpPr txBox="1"/>
          <p:nvPr/>
        </p:nvSpPr>
        <p:spPr>
          <a:xfrm>
            <a:off x="2697480" y="521207"/>
            <a:ext cx="73152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FFFFF"/>
                </a:solidFill>
                <a:latin typeface="Arial"/>
              </a:rPr>
              <a:t>Markets and instruments</a:t>
            </a:r>
          </a:p>
        </p:txBody>
      </p:sp>
      <p:sp>
        <p:nvSpPr>
          <p:cNvPr id="6" name="Rectangle 5"/>
          <p:cNvSpPr/>
          <p:nvPr/>
        </p:nvSpPr>
        <p:spPr>
          <a:xfrm>
            <a:off x="777240" y="1207008"/>
            <a:ext cx="4998567" cy="4590288"/>
          </a:xfrm>
          <a:prstGeom prst="rect">
            <a:avLst/>
          </a:prstGeom>
          <a:solidFill>
            <a:srgbClr val="007A33"/>
          </a:solidFill>
          <a:ln>
            <a:noFill/>
          </a:ln>
          <a:effectLst/>
        </p:spPr>
        <p:txBody>
          <a:bodyPr rtlCol="0" anchor="ctr"/>
          <a:lstStyle/>
          <a:p>
            <a:pPr algn="ctr"/>
          </a:p>
        </p:txBody>
      </p:sp>
      <p:sp>
        <p:nvSpPr>
          <p:cNvPr id="7" name="TextBox 6"/>
          <p:cNvSpPr txBox="1"/>
          <p:nvPr/>
        </p:nvSpPr>
        <p:spPr>
          <a:xfrm>
            <a:off x="1051560"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Q1</a:t>
            </a:r>
          </a:p>
        </p:txBody>
      </p:sp>
      <p:sp>
        <p:nvSpPr>
          <p:cNvPr id="8" name="TextBox 7"/>
          <p:cNvSpPr txBox="1"/>
          <p:nvPr/>
        </p:nvSpPr>
        <p:spPr>
          <a:xfrm>
            <a:off x="1051560" y="1737360"/>
            <a:ext cx="4449927" cy="836295"/>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Buying shares in a gold backed exchange traded fund is participation in gold through:</a:t>
            </a:r>
          </a:p>
        </p:txBody>
      </p:sp>
      <p:sp>
        <p:nvSpPr>
          <p:cNvPr id="9" name="TextBox 8"/>
          <p:cNvSpPr txBox="1"/>
          <p:nvPr/>
        </p:nvSpPr>
        <p:spPr>
          <a:xfrm>
            <a:off x="1051560" y="401624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The main market</a:t>
            </a:r>
          </a:p>
          <a:p>
            <a:pPr algn="l">
              <a:lnSpc>
                <a:spcPct val="112000"/>
              </a:lnSpc>
              <a:spcBef>
                <a:spcPts val="0"/>
              </a:spcBef>
              <a:spcAft>
                <a:spcPts val="900"/>
              </a:spcAft>
            </a:pPr>
            <a:r>
              <a:rPr sz="1500" b="0" i="0">
                <a:solidFill>
                  <a:srgbClr val="FFFFFF"/>
                </a:solidFill>
                <a:latin typeface="Arial"/>
              </a:rPr>
              <a:t>B.  A derivative</a:t>
            </a:r>
          </a:p>
          <a:p>
            <a:pPr algn="l">
              <a:lnSpc>
                <a:spcPct val="112000"/>
              </a:lnSpc>
              <a:spcBef>
                <a:spcPts val="0"/>
              </a:spcBef>
              <a:spcAft>
                <a:spcPts val="900"/>
              </a:spcAft>
            </a:pPr>
            <a:r>
              <a:rPr sz="1500" b="0" i="0">
                <a:solidFill>
                  <a:srgbClr val="FFFFFF"/>
                </a:solidFill>
                <a:latin typeface="Arial"/>
              </a:rPr>
              <a:t>C.  A hedge</a:t>
            </a:r>
          </a:p>
          <a:p>
            <a:pPr algn="l">
              <a:lnSpc>
                <a:spcPct val="112000"/>
              </a:lnSpc>
              <a:spcBef>
                <a:spcPts val="0"/>
              </a:spcBef>
              <a:spcAft>
                <a:spcPts val="900"/>
              </a:spcAft>
            </a:pPr>
            <a:r>
              <a:rPr sz="1500" b="0" i="0">
                <a:solidFill>
                  <a:srgbClr val="FFFFFF"/>
                </a:solidFill>
                <a:latin typeface="Arial"/>
              </a:rPr>
              <a:t>D.  Arbitrage</a:t>
            </a:r>
          </a:p>
        </p:txBody>
      </p:sp>
      <p:sp>
        <p:nvSpPr>
          <p:cNvPr id="10" name="Rectangle 9"/>
          <p:cNvSpPr/>
          <p:nvPr/>
        </p:nvSpPr>
        <p:spPr>
          <a:xfrm>
            <a:off x="6415887" y="1207008"/>
            <a:ext cx="4998567" cy="4590288"/>
          </a:xfrm>
          <a:prstGeom prst="rect">
            <a:avLst/>
          </a:prstGeom>
          <a:solidFill>
            <a:srgbClr val="007A33"/>
          </a:solidFill>
          <a:ln>
            <a:noFill/>
          </a:ln>
          <a:effectLst/>
        </p:spPr>
        <p:txBody>
          <a:bodyPr rtlCol="0" anchor="ctr"/>
          <a:lstStyle/>
          <a:p>
            <a:pPr algn="ctr"/>
          </a:p>
        </p:txBody>
      </p:sp>
      <p:sp>
        <p:nvSpPr>
          <p:cNvPr id="11" name="TextBox 10"/>
          <p:cNvSpPr txBox="1"/>
          <p:nvPr/>
        </p:nvSpPr>
        <p:spPr>
          <a:xfrm>
            <a:off x="6690207" y="1453896"/>
            <a:ext cx="4449927" cy="228600"/>
          </a:xfrm>
          <a:prstGeom prst="rect">
            <a:avLst/>
          </a:prstGeom>
          <a:noFill/>
        </p:spPr>
        <p:txBody>
          <a:bodyPr wrap="square" anchor="t" lIns="0" rIns="0" tIns="0" bIns="0">
            <a:spAutoFit/>
          </a:bodyPr>
          <a:lstStyle/>
          <a:p>
            <a:pPr algn="l">
              <a:lnSpc>
                <a:spcPct val="100000"/>
              </a:lnSpc>
              <a:spcBef>
                <a:spcPts val="0"/>
              </a:spcBef>
              <a:spcAft>
                <a:spcPts val="0"/>
              </a:spcAft>
            </a:pPr>
            <a:r>
              <a:rPr sz="1200" b="1" i="0">
                <a:solidFill>
                  <a:srgbClr val="F2A900"/>
                </a:solidFill>
                <a:latin typeface="Arial"/>
              </a:rPr>
              <a:t>Q2</a:t>
            </a:r>
          </a:p>
        </p:txBody>
      </p:sp>
      <p:sp>
        <p:nvSpPr>
          <p:cNvPr id="12" name="TextBox 11"/>
          <p:cNvSpPr txBox="1"/>
          <p:nvPr/>
        </p:nvSpPr>
        <p:spPr>
          <a:xfrm>
            <a:off x="6690207" y="1737360"/>
            <a:ext cx="4449927" cy="2077720"/>
          </a:xfrm>
          <a:prstGeom prst="rect">
            <a:avLst/>
          </a:prstGeom>
          <a:noFill/>
        </p:spPr>
        <p:txBody>
          <a:bodyPr wrap="square" anchor="t" lIns="0" rIns="0" tIns="0" bIns="0">
            <a:spAutoFit/>
          </a:bodyPr>
          <a:lstStyle/>
          <a:p>
            <a:pPr algn="l">
              <a:lnSpc>
                <a:spcPct val="115000"/>
              </a:lnSpc>
              <a:spcBef>
                <a:spcPts val="0"/>
              </a:spcBef>
              <a:spcAft>
                <a:spcPts val="0"/>
              </a:spcAft>
            </a:pPr>
            <a:r>
              <a:rPr sz="1700" b="1" i="0">
                <a:solidFill>
                  <a:srgbClr val="FFFFFF"/>
                </a:solidFill>
                <a:latin typeface="Arial"/>
              </a:rPr>
              <a:t>Select the accurate statements. I. Scalpers are normally in and out within seconds or minutes. II. Position traders hold for a few months to a year. III. Swing traders close all trades within the same day. IV. Investors follow a buy and hold strategy.</a:t>
            </a:r>
          </a:p>
        </p:txBody>
      </p:sp>
      <p:sp>
        <p:nvSpPr>
          <p:cNvPr id="13" name="TextBox 12"/>
          <p:cNvSpPr txBox="1"/>
          <p:nvPr/>
        </p:nvSpPr>
        <p:spPr>
          <a:xfrm>
            <a:off x="6690207" y="4016248"/>
            <a:ext cx="4449927" cy="2926080"/>
          </a:xfrm>
          <a:prstGeom prst="rect">
            <a:avLst/>
          </a:prstGeom>
          <a:noFill/>
        </p:spPr>
        <p:txBody>
          <a:bodyPr wrap="square" anchor="t" lIns="0" rIns="0" tIns="0" bIns="0">
            <a:spAutoFit/>
          </a:bodyPr>
          <a:lstStyle/>
          <a:p>
            <a:pPr algn="l">
              <a:lnSpc>
                <a:spcPct val="112000"/>
              </a:lnSpc>
              <a:spcBef>
                <a:spcPts val="0"/>
              </a:spcBef>
              <a:spcAft>
                <a:spcPts val="900"/>
              </a:spcAft>
            </a:pPr>
            <a:r>
              <a:rPr sz="1500" b="0" i="0">
                <a:solidFill>
                  <a:srgbClr val="FFFFFF"/>
                </a:solidFill>
                <a:latin typeface="Arial"/>
              </a:rPr>
              <a:t>A.  Only I and II are correct</a:t>
            </a:r>
          </a:p>
          <a:p>
            <a:pPr algn="l">
              <a:lnSpc>
                <a:spcPct val="112000"/>
              </a:lnSpc>
              <a:spcBef>
                <a:spcPts val="0"/>
              </a:spcBef>
              <a:spcAft>
                <a:spcPts val="900"/>
              </a:spcAft>
            </a:pPr>
            <a:r>
              <a:rPr sz="1500" b="0" i="0">
                <a:solidFill>
                  <a:srgbClr val="FFFFFF"/>
                </a:solidFill>
                <a:latin typeface="Arial"/>
              </a:rPr>
              <a:t>B.  Only II, III, and IV are correct</a:t>
            </a:r>
          </a:p>
          <a:p>
            <a:pPr algn="l">
              <a:lnSpc>
                <a:spcPct val="112000"/>
              </a:lnSpc>
              <a:spcBef>
                <a:spcPts val="0"/>
              </a:spcBef>
              <a:spcAft>
                <a:spcPts val="900"/>
              </a:spcAft>
            </a:pPr>
            <a:r>
              <a:rPr sz="1500" b="0" i="0">
                <a:solidFill>
                  <a:srgbClr val="FFFFFF"/>
                </a:solidFill>
                <a:latin typeface="Arial"/>
              </a:rPr>
              <a:t>C.  Only I, II, and IV are correct</a:t>
            </a:r>
          </a:p>
          <a:p>
            <a:pPr algn="l">
              <a:lnSpc>
                <a:spcPct val="112000"/>
              </a:lnSpc>
              <a:spcBef>
                <a:spcPts val="0"/>
              </a:spcBef>
              <a:spcAft>
                <a:spcPts val="900"/>
              </a:spcAft>
            </a:pPr>
            <a:r>
              <a:rPr sz="1500" b="0" i="0">
                <a:solidFill>
                  <a:srgbClr val="FFFFFF"/>
                </a:solidFill>
                <a:latin typeface="Arial"/>
              </a:rPr>
              <a:t>D.  All are correct</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FFFFF"/>
                </a:solidFill>
                <a:latin typeface="Arial"/>
              </a:rPr>
              <a:t>Part 6 of 6 - Participants  |  Check 25</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F2A900"/>
          </a:solidFill>
          <a:ln>
            <a:noFill/>
          </a:ln>
          <a:effectLst/>
        </p:spPr>
        <p:txBody>
          <a:bodyPr rtlCol="0" anchor="ctr"/>
          <a:lstStyle/>
          <a:p>
            <a:pPr algn="ctr"/>
          </a:p>
        </p:txBody>
      </p:sp>
      <p:sp>
        <p:nvSpPr>
          <p:cNvPr id="4" name="Rectangle 3"/>
          <p:cNvSpPr/>
          <p:nvPr/>
        </p:nvSpPr>
        <p:spPr>
          <a:xfrm>
            <a:off x="777240" y="502920"/>
            <a:ext cx="1234440" cy="329184"/>
          </a:xfrm>
          <a:prstGeom prst="rect">
            <a:avLst/>
          </a:prstGeom>
          <a:solidFill>
            <a:srgbClr val="007A33"/>
          </a:solidFill>
          <a:ln>
            <a:noFill/>
          </a:ln>
          <a:effectLst/>
        </p:spPr>
        <p:txBody>
          <a:bodyPr rtlCol="0" anchor="ctr" wrap="none" lIns="0" rIns="0" tIns="0" bIns="0"/>
          <a:lstStyle/>
          <a:p>
            <a:pPr algn="ctr">
              <a:lnSpc>
                <a:spcPct val="100000"/>
              </a:lnSpc>
              <a:spcBef>
                <a:spcPts val="0"/>
              </a:spcBef>
              <a:spcAft>
                <a:spcPts val="0"/>
              </a:spcAft>
            </a:pPr>
            <a:r>
              <a:rPr sz="1200" b="1" i="0">
                <a:solidFill>
                  <a:srgbClr val="FFFFFF"/>
                </a:solidFill>
                <a:latin typeface="Arial"/>
              </a:rPr>
              <a:t>ANSWERS</a:t>
            </a:r>
          </a:p>
        </p:txBody>
      </p:sp>
      <p:sp>
        <p:nvSpPr>
          <p:cNvPr id="5" name="TextBox 4"/>
          <p:cNvSpPr txBox="1"/>
          <p:nvPr/>
        </p:nvSpPr>
        <p:spPr>
          <a:xfrm>
            <a:off x="2240280" y="521207"/>
            <a:ext cx="7772400"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007A33"/>
                </a:solidFill>
                <a:latin typeface="Arial"/>
              </a:rPr>
              <a:t>Markets and instruments</a:t>
            </a:r>
          </a:p>
        </p:txBody>
      </p:sp>
      <p:sp>
        <p:nvSpPr>
          <p:cNvPr id="6" name="Rectangle 5"/>
          <p:cNvSpPr/>
          <p:nvPr/>
        </p:nvSpPr>
        <p:spPr>
          <a:xfrm>
            <a:off x="777240" y="1207008"/>
            <a:ext cx="10637215" cy="1628140"/>
          </a:xfrm>
          <a:prstGeom prst="rect">
            <a:avLst/>
          </a:prstGeom>
          <a:solidFill>
            <a:srgbClr val="FFFFFF"/>
          </a:solidFill>
          <a:ln w="12700">
            <a:solidFill>
              <a:srgbClr val="D7E0D9"/>
            </a:solidFill>
          </a:ln>
          <a:effectLst/>
        </p:spPr>
        <p:txBody>
          <a:bodyPr rtlCol="0" anchor="ctr"/>
          <a:lstStyle/>
          <a:p>
            <a:pPr algn="ctr"/>
          </a:p>
        </p:txBody>
      </p:sp>
      <p:sp>
        <p:nvSpPr>
          <p:cNvPr id="7" name="Rectangle 6"/>
          <p:cNvSpPr/>
          <p:nvPr/>
        </p:nvSpPr>
        <p:spPr>
          <a:xfrm>
            <a:off x="777240" y="1207008"/>
            <a:ext cx="91440" cy="1628140"/>
          </a:xfrm>
          <a:prstGeom prst="rect">
            <a:avLst/>
          </a:prstGeom>
          <a:solidFill>
            <a:srgbClr val="F2A900"/>
          </a:solidFill>
          <a:ln>
            <a:noFill/>
          </a:ln>
          <a:effectLst/>
        </p:spPr>
        <p:txBody>
          <a:bodyPr rtlCol="0" anchor="ctr"/>
          <a:lstStyle/>
          <a:p>
            <a:pPr algn="ctr"/>
          </a:p>
        </p:txBody>
      </p:sp>
      <p:sp>
        <p:nvSpPr>
          <p:cNvPr id="8" name="TextBox 7"/>
          <p:cNvSpPr txBox="1"/>
          <p:nvPr/>
        </p:nvSpPr>
        <p:spPr>
          <a:xfrm>
            <a:off x="1143000" y="1444752"/>
            <a:ext cx="9905695" cy="32511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Q1   Buying shares in a gold backed exchange traded fund is participation in gold through:</a:t>
            </a:r>
          </a:p>
        </p:txBody>
      </p:sp>
      <p:sp>
        <p:nvSpPr>
          <p:cNvPr id="9" name="TextBox 8"/>
          <p:cNvSpPr txBox="1"/>
          <p:nvPr/>
        </p:nvSpPr>
        <p:spPr>
          <a:xfrm>
            <a:off x="1143000" y="1934464"/>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B.  A derivative</a:t>
            </a:r>
          </a:p>
          <a:p>
            <a:pPr algn="l">
              <a:lnSpc>
                <a:spcPct val="115000"/>
              </a:lnSpc>
              <a:spcBef>
                <a:spcPts val="700"/>
              </a:spcBef>
              <a:spcAft>
                <a:spcPts val="0"/>
              </a:spcAft>
            </a:pPr>
            <a:r>
              <a:rPr sz="1600" b="0" i="0">
                <a:solidFill>
                  <a:srgbClr val="1A1A1A"/>
                </a:solidFill>
                <a:latin typeface="Arial"/>
              </a:rPr>
              <a:t>Only buying the physical metal is main market participation; an ETF derives its value from gold.</a:t>
            </a:r>
          </a:p>
        </p:txBody>
      </p:sp>
      <p:sp>
        <p:nvSpPr>
          <p:cNvPr id="10" name="Rectangle 9"/>
          <p:cNvSpPr/>
          <p:nvPr/>
        </p:nvSpPr>
        <p:spPr>
          <a:xfrm>
            <a:off x="777240" y="3082036"/>
            <a:ext cx="10637215" cy="209549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77240" y="3082036"/>
            <a:ext cx="91440" cy="2095499"/>
          </a:xfrm>
          <a:prstGeom prst="rect">
            <a:avLst/>
          </a:prstGeom>
          <a:solidFill>
            <a:srgbClr val="F2A900"/>
          </a:solidFill>
          <a:ln>
            <a:noFill/>
          </a:ln>
          <a:effectLst/>
        </p:spPr>
        <p:txBody>
          <a:bodyPr rtlCol="0" anchor="ctr"/>
          <a:lstStyle/>
          <a:p>
            <a:pPr algn="ctr"/>
          </a:p>
        </p:txBody>
      </p:sp>
      <p:sp>
        <p:nvSpPr>
          <p:cNvPr id="12" name="TextBox 11"/>
          <p:cNvSpPr txBox="1"/>
          <p:nvPr/>
        </p:nvSpPr>
        <p:spPr>
          <a:xfrm>
            <a:off x="1143000" y="3319780"/>
            <a:ext cx="9905695" cy="792479"/>
          </a:xfrm>
          <a:prstGeom prst="rect">
            <a:avLst/>
          </a:prstGeom>
          <a:noFill/>
        </p:spPr>
        <p:txBody>
          <a:bodyPr wrap="square" anchor="t" lIns="0" rIns="0" tIns="0" bIns="0">
            <a:spAutoFit/>
          </a:bodyPr>
          <a:lstStyle/>
          <a:p>
            <a:pPr algn="l">
              <a:lnSpc>
                <a:spcPct val="115000"/>
              </a:lnSpc>
              <a:spcBef>
                <a:spcPts val="0"/>
              </a:spcBef>
              <a:spcAft>
                <a:spcPts val="0"/>
              </a:spcAft>
            </a:pPr>
            <a:r>
              <a:rPr sz="1600" b="0" i="0">
                <a:solidFill>
                  <a:srgbClr val="818181"/>
                </a:solidFill>
                <a:latin typeface="Arial"/>
              </a:rPr>
              <a:t>Q2   Select the accurate statements. I. Scalpers are normally in and out within seconds or minutes. II. Position traders hold for a few months to a year. III. Swing traders close all trades within the same day. IV. Investors follow a buy and hold strategy.</a:t>
            </a:r>
          </a:p>
        </p:txBody>
      </p:sp>
      <p:sp>
        <p:nvSpPr>
          <p:cNvPr id="13" name="TextBox 12"/>
          <p:cNvSpPr txBox="1"/>
          <p:nvPr/>
        </p:nvSpPr>
        <p:spPr>
          <a:xfrm>
            <a:off x="1143000" y="4276852"/>
            <a:ext cx="9905695" cy="1206500"/>
          </a:xfrm>
          <a:prstGeom prst="rect">
            <a:avLst/>
          </a:prstGeom>
          <a:noFill/>
        </p:spPr>
        <p:txBody>
          <a:bodyPr wrap="square" anchor="t" lIns="0" rIns="0" tIns="0" bIns="0">
            <a:spAutoFit/>
          </a:bodyPr>
          <a:lstStyle/>
          <a:p>
            <a:pPr algn="l">
              <a:lnSpc>
                <a:spcPct val="115000"/>
              </a:lnSpc>
              <a:spcBef>
                <a:spcPts val="0"/>
              </a:spcBef>
              <a:spcAft>
                <a:spcPts val="0"/>
              </a:spcAft>
            </a:pPr>
            <a:r>
              <a:rPr sz="2000" b="1" i="0">
                <a:solidFill>
                  <a:srgbClr val="007A33"/>
                </a:solidFill>
                <a:latin typeface="Courier New"/>
              </a:rPr>
              <a:t>C.  Only I, II, and IV are correct</a:t>
            </a:r>
          </a:p>
          <a:p>
            <a:pPr algn="l">
              <a:lnSpc>
                <a:spcPct val="115000"/>
              </a:lnSpc>
              <a:spcBef>
                <a:spcPts val="700"/>
              </a:spcBef>
              <a:spcAft>
                <a:spcPts val="0"/>
              </a:spcAft>
            </a:pPr>
            <a:r>
              <a:rPr sz="1600" b="0" i="0">
                <a:solidFill>
                  <a:srgbClr val="1A1A1A"/>
                </a:solidFill>
                <a:latin typeface="Arial"/>
              </a:rPr>
              <a:t>Statement III describes day traders; swing traders hold for a few days to a week.</a:t>
            </a:r>
          </a:p>
        </p:txBody>
      </p:sp>
      <p:sp>
        <p:nvSpPr>
          <p:cNvPr id="14" name="TextBox 13"/>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Check 25</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eight categories of market participant</a:t>
            </a:r>
          </a:p>
          <a:p>
            <a:pPr algn="l" marL="237744" indent="-237744">
              <a:lnSpc>
                <a:spcPct val="112000"/>
              </a:lnSpc>
              <a:spcBef>
                <a:spcPts val="0"/>
              </a:spcBef>
              <a:spcAft>
                <a:spcPts val="1200"/>
              </a:spcAft>
            </a:pPr>
            <a:r>
              <a:rPr sz="1800" b="0" i="0">
                <a:solidFill>
                  <a:srgbClr val="1A1A1A"/>
                </a:solidFill>
                <a:latin typeface="Arial"/>
              </a:rPr>
              <a:t>▪  Retail and institutional</a:t>
            </a:r>
          </a:p>
          <a:p>
            <a:pPr algn="l" marL="237744" indent="-237744">
              <a:lnSpc>
                <a:spcPct val="112000"/>
              </a:lnSpc>
              <a:spcBef>
                <a:spcPts val="0"/>
              </a:spcBef>
              <a:spcAft>
                <a:spcPts val="1200"/>
              </a:spcAft>
            </a:pPr>
            <a:r>
              <a:rPr sz="1800" b="0" i="0">
                <a:solidFill>
                  <a:srgbClr val="1A1A1A"/>
                </a:solidFill>
                <a:latin typeface="Arial"/>
              </a:rPr>
              <a:t>▪  Speculator and investor</a:t>
            </a:r>
          </a:p>
          <a:p>
            <a:pPr algn="l" marL="237744" indent="-237744">
              <a:lnSpc>
                <a:spcPct val="112000"/>
              </a:lnSpc>
              <a:spcBef>
                <a:spcPts val="0"/>
              </a:spcBef>
              <a:spcAft>
                <a:spcPts val="1200"/>
              </a:spcAft>
            </a:pPr>
            <a:r>
              <a:rPr sz="1800" b="0" i="0">
                <a:solidFill>
                  <a:srgbClr val="1A1A1A"/>
                </a:solidFill>
                <a:latin typeface="Arial"/>
              </a:rPr>
              <a:t>▪  Supply side and demand side</a:t>
            </a:r>
          </a:p>
          <a:p>
            <a:pPr algn="l" marL="237744" indent="-237744">
              <a:lnSpc>
                <a:spcPct val="112000"/>
              </a:lnSpc>
              <a:spcBef>
                <a:spcPts val="0"/>
              </a:spcBef>
              <a:spcAft>
                <a:spcPts val="1200"/>
              </a:spcAft>
            </a:pPr>
            <a:r>
              <a:rPr sz="1800" b="0" i="0">
                <a:solidFill>
                  <a:srgbClr val="1A1A1A"/>
                </a:solidFill>
                <a:latin typeface="Arial"/>
              </a:rPr>
              <a:t>▪  Professional and novice</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Discretionary and nondiscretionary traders</a:t>
            </a:r>
          </a:p>
          <a:p>
            <a:pPr algn="l" marL="237744" indent="-237744">
              <a:lnSpc>
                <a:spcPct val="112000"/>
              </a:lnSpc>
              <a:spcBef>
                <a:spcPts val="0"/>
              </a:spcBef>
              <a:spcAft>
                <a:spcPts val="1200"/>
              </a:spcAft>
            </a:pPr>
            <a:r>
              <a:rPr sz="1800" b="0" i="0">
                <a:solidFill>
                  <a:srgbClr val="1A1A1A"/>
                </a:solidFill>
                <a:latin typeface="Arial"/>
              </a:rPr>
              <a:t>▪  Sorted by time: scalper to investor</a:t>
            </a:r>
          </a:p>
          <a:p>
            <a:pPr algn="l" marL="237744" indent="-237744">
              <a:lnSpc>
                <a:spcPct val="112000"/>
              </a:lnSpc>
              <a:spcBef>
                <a:spcPts val="0"/>
              </a:spcBef>
              <a:spcAft>
                <a:spcPts val="1200"/>
              </a:spcAft>
            </a:pPr>
            <a:r>
              <a:rPr sz="1800" b="0" i="0">
                <a:solidFill>
                  <a:srgbClr val="1A1A1A"/>
                </a:solidFill>
                <a:latin typeface="Arial"/>
              </a:rPr>
              <a:t>▪  Sorted by method: scalper to investor</a:t>
            </a:r>
          </a:p>
          <a:p>
            <a:pPr algn="l" marL="237744" indent="-237744">
              <a:lnSpc>
                <a:spcPct val="112000"/>
              </a:lnSpc>
              <a:spcBef>
                <a:spcPts val="0"/>
              </a:spcBef>
              <a:spcAft>
                <a:spcPts val="1200"/>
              </a:spcAft>
            </a:pPr>
            <a:r>
              <a:rPr sz="1800" b="0" i="0">
                <a:solidFill>
                  <a:srgbClr val="1A1A1A"/>
                </a:solidFill>
                <a:latin typeface="Arial"/>
              </a:rPr>
              <a:t>▪  The five main markets</a:t>
            </a:r>
          </a:p>
          <a:p>
            <a:pPr algn="l" marL="237744" indent="-237744">
              <a:lnSpc>
                <a:spcPct val="112000"/>
              </a:lnSpc>
              <a:spcBef>
                <a:spcPts val="0"/>
              </a:spcBef>
              <a:spcAft>
                <a:spcPts val="1200"/>
              </a:spcAft>
            </a:pPr>
            <a:r>
              <a:rPr sz="1800" b="0" i="0">
                <a:solidFill>
                  <a:srgbClr val="1A1A1A"/>
                </a:solidFill>
                <a:latin typeface="Arial"/>
              </a:rPr>
              <a:t>▪  Derivatives and the five instruments</a:t>
            </a:r>
          </a:p>
          <a:p>
            <a:pPr algn="l" marL="237744" indent="-237744">
              <a:lnSpc>
                <a:spcPct val="112000"/>
              </a:lnSpc>
              <a:spcBef>
                <a:spcPts val="0"/>
              </a:spcBef>
              <a:spcAft>
                <a:spcPts val="1200"/>
              </a:spcAft>
            </a:pPr>
            <a:r>
              <a:rPr sz="1800" b="0" i="0">
                <a:solidFill>
                  <a:srgbClr val="1A1A1A"/>
                </a:solidFill>
                <a:latin typeface="Arial"/>
              </a:rPr>
              <a:t>▪  Five ways to participate in gold</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recap</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1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Technical analysis is the study of market action.</a:t>
            </a:r>
          </a:p>
          <a:p>
            <a:pPr algn="l">
              <a:lnSpc>
                <a:spcPct val="118000"/>
              </a:lnSpc>
              <a:spcBef>
                <a:spcPts val="0"/>
              </a:spcBef>
              <a:spcAft>
                <a:spcPts val="1300"/>
              </a:spcAft>
            </a:pPr>
            <a:r>
              <a:rPr sz="2100" b="0" i="0">
                <a:solidFill>
                  <a:srgbClr val="1A1A1A"/>
                </a:solidFill>
                <a:latin typeface="Arial"/>
              </a:rPr>
              <a:t>It identifies what has happened, and it forecasts what might.</a:t>
            </a:r>
          </a:p>
          <a:p>
            <a:pPr algn="l">
              <a:lnSpc>
                <a:spcPct val="118000"/>
              </a:lnSpc>
              <a:spcBef>
                <a:spcPts val="0"/>
              </a:spcBef>
              <a:spcAft>
                <a:spcPts val="1300"/>
              </a:spcAft>
            </a:pPr>
            <a:r>
              <a:rPr sz="2100" b="0" i="0">
                <a:solidFill>
                  <a:srgbClr val="1A1A1A"/>
                </a:solidFill>
                <a:latin typeface="Arial"/>
              </a:rPr>
              <a:t>It rests on discounting, repetition, and trends.</a:t>
            </a:r>
          </a:p>
          <a:p>
            <a:pPr algn="l">
              <a:lnSpc>
                <a:spcPct val="118000"/>
              </a:lnSpc>
              <a:spcBef>
                <a:spcPts val="0"/>
              </a:spcBef>
              <a:spcAft>
                <a:spcPts val="1300"/>
              </a:spcAft>
            </a:pPr>
            <a:r>
              <a:rPr sz="2100" b="0" i="0">
                <a:solidFill>
                  <a:srgbClr val="1A1A1A"/>
                </a:solidFill>
                <a:latin typeface="Arial"/>
              </a:rPr>
              <a:t>It is subjective, and so is every other kind of analysis.</a:t>
            </a:r>
          </a:p>
          <a:p>
            <a:pPr algn="l">
              <a:lnSpc>
                <a:spcPct val="118000"/>
              </a:lnSpc>
              <a:spcBef>
                <a:spcPts val="0"/>
              </a:spcBef>
              <a:spcAft>
                <a:spcPts val="1300"/>
              </a:spcAft>
            </a:pPr>
            <a:r>
              <a:rPr sz="2100" b="0" i="0">
                <a:solidFill>
                  <a:srgbClr val="1A1A1A"/>
                </a:solidFill>
                <a:latin typeface="Arial"/>
              </a:rPr>
              <a:t>It deals in probabilities, never in certainties.</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If you remember the last line, you will make fewer expensive mistakes than most people.</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What is a good definition of technical analysis?</a:t>
            </a:r>
          </a:p>
          <a:p>
            <a:pPr algn="l">
              <a:lnSpc>
                <a:spcPct val="118000"/>
              </a:lnSpc>
              <a:spcBef>
                <a:spcPts val="0"/>
              </a:spcBef>
              <a:spcAft>
                <a:spcPts val="1300"/>
              </a:spcAft>
            </a:pPr>
            <a:r>
              <a:rPr sz="2100" b="0" i="0">
                <a:solidFill>
                  <a:srgbClr val="1A1A1A"/>
                </a:solidFill>
                <a:latin typeface="Arial"/>
              </a:rPr>
              <a:t>List as many advantages and disadvantages of technical analysis as you can.</a:t>
            </a:r>
          </a:p>
          <a:p>
            <a:pPr algn="l">
              <a:lnSpc>
                <a:spcPct val="118000"/>
              </a:lnSpc>
              <a:spcBef>
                <a:spcPts val="0"/>
              </a:spcBef>
              <a:spcAft>
                <a:spcPts val="1300"/>
              </a:spcAft>
            </a:pPr>
            <a:r>
              <a:rPr sz="2100" b="0" i="0">
                <a:solidFill>
                  <a:srgbClr val="1A1A1A"/>
                </a:solidFill>
                <a:latin typeface="Arial"/>
              </a:rPr>
              <a:t>What are the challenges to technical analysis?</a:t>
            </a:r>
          </a:p>
          <a:p>
            <a:pPr algn="l">
              <a:lnSpc>
                <a:spcPct val="118000"/>
              </a:lnSpc>
              <a:spcBef>
                <a:spcPts val="0"/>
              </a:spcBef>
              <a:spcAft>
                <a:spcPts val="1300"/>
              </a:spcAft>
            </a:pPr>
            <a:r>
              <a:rPr sz="2100" b="0" i="0">
                <a:solidFill>
                  <a:srgbClr val="1A1A1A"/>
                </a:solidFill>
                <a:latin typeface="Arial"/>
              </a:rPr>
              <a:t>How does market discounting differ from EMH, and what are its three levels?</a:t>
            </a:r>
          </a:p>
          <a:p>
            <a:pPr algn="l">
              <a:lnSpc>
                <a:spcPct val="118000"/>
              </a:lnSpc>
              <a:spcBef>
                <a:spcPts val="0"/>
              </a:spcBef>
              <a:spcAft>
                <a:spcPts val="1300"/>
              </a:spcAft>
            </a:pPr>
            <a:r>
              <a:rPr sz="2100" b="0" i="0">
                <a:solidFill>
                  <a:srgbClr val="1A1A1A"/>
                </a:solidFill>
                <a:latin typeface="Arial"/>
              </a:rPr>
              <a:t>How are conflicting signals resolved, and why is a trend change subjective?</a:t>
            </a:r>
          </a:p>
          <a:p>
            <a:pPr algn="l">
              <a:lnSpc>
                <a:spcPct val="118000"/>
              </a:lnSpc>
              <a:spcBef>
                <a:spcPts val="0"/>
              </a:spcBef>
              <a:spcAft>
                <a:spcPts val="1300"/>
              </a:spcAft>
            </a:pPr>
            <a:r>
              <a:rPr sz="2100" b="0" i="0">
                <a:solidFill>
                  <a:srgbClr val="1A1A1A"/>
                </a:solidFill>
                <a:latin typeface="Arial"/>
              </a:rPr>
              <a:t>Is random walk a true reflection of the markets?</a:t>
            </a:r>
          </a:p>
        </p:txBody>
      </p:sp>
      <p:sp>
        <p:nvSpPr>
          <p:cNvPr id="8" name="Rectangle 7"/>
          <p:cNvSpPr/>
          <p:nvPr/>
        </p:nvSpPr>
        <p:spPr>
          <a:xfrm>
            <a:off x="777240" y="526237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All eight of the book's review questions, answered today.</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371600"/>
            <a:ext cx="10637215" cy="1005840"/>
          </a:xfrm>
          <a:prstGeom prst="rect">
            <a:avLst/>
          </a:prstGeom>
          <a:noFill/>
        </p:spPr>
        <p:txBody>
          <a:bodyPr wrap="square" anchor="t" lIns="0" rIns="0" tIns="0" bIns="0">
            <a:spAutoFit/>
          </a:bodyPr>
          <a:lstStyle/>
          <a:p>
            <a:pPr algn="l">
              <a:lnSpc>
                <a:spcPct val="105000"/>
              </a:lnSpc>
              <a:spcBef>
                <a:spcPts val="0"/>
              </a:spcBef>
              <a:spcAft>
                <a:spcPts val="0"/>
              </a:spcAft>
            </a:pPr>
            <a:r>
              <a:rPr sz="3800" b="0" i="0">
                <a:solidFill>
                  <a:srgbClr val="FFFFFF"/>
                </a:solidFill>
                <a:latin typeface="Palatino"/>
              </a:rPr>
              <a:t>Next: Dow Theory</a:t>
            </a:r>
          </a:p>
        </p:txBody>
      </p:sp>
      <p:sp>
        <p:nvSpPr>
          <p:cNvPr id="5" name="Rectangle 4"/>
          <p:cNvSpPr/>
          <p:nvPr/>
        </p:nvSpPr>
        <p:spPr>
          <a:xfrm>
            <a:off x="777240" y="2651760"/>
            <a:ext cx="1463040" cy="381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3108960"/>
            <a:ext cx="10637215" cy="2194560"/>
          </a:xfrm>
          <a:prstGeom prst="rect">
            <a:avLst/>
          </a:prstGeom>
          <a:noFill/>
        </p:spPr>
        <p:txBody>
          <a:bodyPr wrap="square" anchor="t" lIns="0" rIns="0" tIns="0" bIns="0">
            <a:spAutoFit/>
          </a:bodyPr>
          <a:lstStyle/>
          <a:p>
            <a:pPr algn="l">
              <a:lnSpc>
                <a:spcPct val="115000"/>
              </a:lnSpc>
              <a:spcBef>
                <a:spcPts val="0"/>
              </a:spcBef>
              <a:spcAft>
                <a:spcPts val="1200"/>
              </a:spcAft>
            </a:pPr>
            <a:r>
              <a:rPr sz="2000" b="0" i="0">
                <a:solidFill>
                  <a:srgbClr val="FFFFFF"/>
                </a:solidFill>
                <a:latin typeface="Arial"/>
              </a:rPr>
              <a:t>Chapter 2 gives us the six tenets that modern technical analysis is built on.</a:t>
            </a:r>
          </a:p>
          <a:p>
            <a:pPr algn="l">
              <a:lnSpc>
                <a:spcPct val="115000"/>
              </a:lnSpc>
              <a:spcBef>
                <a:spcPts val="0"/>
              </a:spcBef>
              <a:spcAft>
                <a:spcPts val="1200"/>
              </a:spcAft>
            </a:pPr>
            <a:r>
              <a:rPr sz="2000" b="0" i="0">
                <a:solidFill>
                  <a:srgbClr val="FFFFFF"/>
                </a:solidFill>
                <a:latin typeface="Arial"/>
              </a:rPr>
              <a:t>Bring the four trading verbs and the three assumptions with you. You will need them.</a:t>
            </a:r>
          </a:p>
          <a:p>
            <a:pPr algn="l">
              <a:lnSpc>
                <a:spcPct val="115000"/>
              </a:lnSpc>
              <a:spcBef>
                <a:spcPts val="0"/>
              </a:spcBef>
              <a:spcAft>
                <a:spcPts val="1200"/>
              </a:spcAft>
            </a:pPr>
            <a:r>
              <a:rPr sz="2000" b="0" i="0">
                <a:solidFill>
                  <a:srgbClr val="FFFFFF"/>
                </a:solidFill>
                <a:latin typeface="Arial"/>
              </a:rPr>
              <a:t>Before then: open any chart, draw your trendlines, and compare with a classmate.</a:t>
            </a:r>
          </a:p>
        </p:txBody>
      </p:sp>
      <p:sp>
        <p:nvSpPr>
          <p:cNvPr id="7" name="TextBox 6"/>
          <p:cNvSpPr txBox="1"/>
          <p:nvPr/>
        </p:nvSpPr>
        <p:spPr>
          <a:xfrm>
            <a:off x="777240" y="5486400"/>
            <a:ext cx="10637215" cy="64008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F2A900"/>
                </a:solidFill>
                <a:latin typeface="Arial"/>
              </a:rPr>
              <a:t>FIN1209  Technical Analysis in Investment  |  Institute of Accounts, Business and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1 - Introduction to the Art and Science of Technical Analysis</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