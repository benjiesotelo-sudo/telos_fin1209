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 id="337" r:id="rId88"/>
    <p:sldId id="338" r:id="rId89"/>
    <p:sldId id="339" r:id="rId90"/>
    <p:sldId id="340" r:id="rId91"/>
    <p:sldId id="341" r:id="rId92"/>
    <p:sldId id="342" r:id="rId93"/>
    <p:sldId id="343" r:id="rId94"/>
    <p:sldId id="344" r:id="rId95"/>
    <p:sldId id="345" r:id="rId96"/>
    <p:sldId id="346" r:id="rId97"/>
    <p:sldId id="347" r:id="rId98"/>
    <p:sldId id="348" r:id="rId99"/>
    <p:sldId id="349" r:id="rId100"/>
    <p:sldId id="350" r:id="rId101"/>
    <p:sldId id="351" r:id="rId102"/>
    <p:sldId id="352" r:id="rId103"/>
    <p:sldId id="353" r:id="rId104"/>
    <p:sldId id="354" r:id="rId105"/>
    <p:sldId id="355" r:id="rId106"/>
    <p:sldId id="356" r:id="rId107"/>
    <p:sldId id="357" r:id="rId108"/>
    <p:sldId id="358" r:id="rId109"/>
    <p:sldId id="359" r:id="rId110"/>
    <p:sldId id="360" r:id="rId111"/>
    <p:sldId id="361" r:id="rId112"/>
    <p:sldId id="362" r:id="rId113"/>
    <p:sldId id="363" r:id="rId114"/>
    <p:sldId id="364" r:id="rId115"/>
    <p:sldId id="365" r:id="rId116"/>
    <p:sldId id="366" r:id="rId117"/>
    <p:sldId id="367" r:id="rId118"/>
    <p:sldId id="368" r:id="rId119"/>
    <p:sldId id="369" r:id="rId120"/>
    <p:sldId id="370" r:id="rId121"/>
    <p:sldId id="371" r:id="rId122"/>
    <p:sldId id="372" r:id="rId123"/>
    <p:sldId id="373" r:id="rId124"/>
    <p:sldId id="374" r:id="rId125"/>
    <p:sldId id="375" r:id="rId126"/>
    <p:sldId id="376" r:id="rId127"/>
    <p:sldId id="377" r:id="rId128"/>
    <p:sldId id="378" r:id="rId129"/>
    <p:sldId id="379" r:id="rId130"/>
    <p:sldId id="380" r:id="rId131"/>
    <p:sldId id="381" r:id="rId132"/>
    <p:sldId id="382" r:id="rId133"/>
    <p:sldId id="383" r:id="rId134"/>
    <p:sldId id="384" r:id="rId135"/>
    <p:sldId id="385" r:id="rId136"/>
    <p:sldId id="386" r:id="rId137"/>
    <p:sldId id="387" r:id="rId138"/>
    <p:sldId id="388" r:id="rId139"/>
    <p:sldId id="389" r:id="rId140"/>
    <p:sldId id="390" r:id="rId141"/>
    <p:sldId id="391" r:id="rId142"/>
    <p:sldId id="392" r:id="rId143"/>
    <p:sldId id="393" r:id="rId144"/>
    <p:sldId id="394" r:id="rId145"/>
    <p:sldId id="395" r:id="rId146"/>
    <p:sldId id="396" r:id="rId147"/>
    <p:sldId id="397" r:id="rId148"/>
    <p:sldId id="398" r:id="rId149"/>
    <p:sldId id="399" r:id="rId150"/>
    <p:sldId id="400" r:id="rId151"/>
    <p:sldId id="401" r:id="rId152"/>
    <p:sldId id="402" r:id="rId153"/>
    <p:sldId id="403" r:id="rId154"/>
    <p:sldId id="404" r:id="rId155"/>
    <p:sldId id="405" r:id="rId156"/>
    <p:sldId id="406" r:id="rId157"/>
    <p:sldId id="407" r:id="rId158"/>
    <p:sldId id="408" r:id="rId159"/>
    <p:sldId id="409" r:id="rId160"/>
    <p:sldId id="410" r:id="rId161"/>
    <p:sldId id="411" r:id="rId162"/>
    <p:sldId id="412" r:id="rId163"/>
    <p:sldId id="413" r:id="rId164"/>
    <p:sldId id="414" r:id="rId165"/>
    <p:sldId id="415" r:id="rId166"/>
    <p:sldId id="416" r:id="rId167"/>
    <p:sldId id="417" r:id="rId168"/>
    <p:sldId id="418" r:id="rId169"/>
    <p:sldId id="419" r:id="rId170"/>
    <p:sldId id="420" r:id="rId171"/>
    <p:sldId id="421" r:id="rId172"/>
    <p:sldId id="422" r:id="rId173"/>
    <p:sldId id="423" r:id="rId174"/>
    <p:sldId id="424" r:id="rId175"/>
    <p:sldId id="425" r:id="rId176"/>
    <p:sldId id="426" r:id="rId177"/>
    <p:sldId id="427" r:id="rId178"/>
    <p:sldId id="428" r:id="rId179"/>
    <p:sldId id="429" r:id="rId180"/>
    <p:sldId id="430" r:id="rId181"/>
    <p:sldId id="431" r:id="rId182"/>
    <p:sldId id="432" r:id="rId18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 Id="rId88" Type="http://schemas.openxmlformats.org/officeDocument/2006/relationships/slide" Target="slides/slide82.xml"/><Relationship Id="rId89" Type="http://schemas.openxmlformats.org/officeDocument/2006/relationships/slide" Target="slides/slide83.xml"/><Relationship Id="rId90" Type="http://schemas.openxmlformats.org/officeDocument/2006/relationships/slide" Target="slides/slide84.xml"/><Relationship Id="rId91" Type="http://schemas.openxmlformats.org/officeDocument/2006/relationships/slide" Target="slides/slide85.xml"/><Relationship Id="rId92" Type="http://schemas.openxmlformats.org/officeDocument/2006/relationships/slide" Target="slides/slide86.xml"/><Relationship Id="rId93" Type="http://schemas.openxmlformats.org/officeDocument/2006/relationships/slide" Target="slides/slide87.xml"/><Relationship Id="rId94" Type="http://schemas.openxmlformats.org/officeDocument/2006/relationships/slide" Target="slides/slide88.xml"/><Relationship Id="rId95" Type="http://schemas.openxmlformats.org/officeDocument/2006/relationships/slide" Target="slides/slide89.xml"/><Relationship Id="rId96" Type="http://schemas.openxmlformats.org/officeDocument/2006/relationships/slide" Target="slides/slide90.xml"/><Relationship Id="rId97" Type="http://schemas.openxmlformats.org/officeDocument/2006/relationships/slide" Target="slides/slide91.xml"/><Relationship Id="rId98" Type="http://schemas.openxmlformats.org/officeDocument/2006/relationships/slide" Target="slides/slide92.xml"/><Relationship Id="rId99" Type="http://schemas.openxmlformats.org/officeDocument/2006/relationships/slide" Target="slides/slide93.xml"/><Relationship Id="rId100" Type="http://schemas.openxmlformats.org/officeDocument/2006/relationships/slide" Target="slides/slide94.xml"/><Relationship Id="rId101" Type="http://schemas.openxmlformats.org/officeDocument/2006/relationships/slide" Target="slides/slide95.xml"/><Relationship Id="rId102" Type="http://schemas.openxmlformats.org/officeDocument/2006/relationships/slide" Target="slides/slide96.xml"/><Relationship Id="rId103" Type="http://schemas.openxmlformats.org/officeDocument/2006/relationships/slide" Target="slides/slide97.xml"/><Relationship Id="rId104" Type="http://schemas.openxmlformats.org/officeDocument/2006/relationships/slide" Target="slides/slide98.xml"/><Relationship Id="rId105" Type="http://schemas.openxmlformats.org/officeDocument/2006/relationships/slide" Target="slides/slide99.xml"/><Relationship Id="rId106" Type="http://schemas.openxmlformats.org/officeDocument/2006/relationships/slide" Target="slides/slide100.xml"/><Relationship Id="rId107" Type="http://schemas.openxmlformats.org/officeDocument/2006/relationships/slide" Target="slides/slide101.xml"/><Relationship Id="rId108" Type="http://schemas.openxmlformats.org/officeDocument/2006/relationships/slide" Target="slides/slide102.xml"/><Relationship Id="rId109" Type="http://schemas.openxmlformats.org/officeDocument/2006/relationships/slide" Target="slides/slide103.xml"/><Relationship Id="rId110" Type="http://schemas.openxmlformats.org/officeDocument/2006/relationships/slide" Target="slides/slide104.xml"/><Relationship Id="rId111" Type="http://schemas.openxmlformats.org/officeDocument/2006/relationships/slide" Target="slides/slide105.xml"/><Relationship Id="rId112" Type="http://schemas.openxmlformats.org/officeDocument/2006/relationships/slide" Target="slides/slide106.xml"/><Relationship Id="rId113" Type="http://schemas.openxmlformats.org/officeDocument/2006/relationships/slide" Target="slides/slide107.xml"/><Relationship Id="rId114" Type="http://schemas.openxmlformats.org/officeDocument/2006/relationships/slide" Target="slides/slide108.xml"/><Relationship Id="rId115" Type="http://schemas.openxmlformats.org/officeDocument/2006/relationships/slide" Target="slides/slide109.xml"/><Relationship Id="rId116" Type="http://schemas.openxmlformats.org/officeDocument/2006/relationships/slide" Target="slides/slide110.xml"/><Relationship Id="rId117" Type="http://schemas.openxmlformats.org/officeDocument/2006/relationships/slide" Target="slides/slide111.xml"/><Relationship Id="rId118" Type="http://schemas.openxmlformats.org/officeDocument/2006/relationships/slide" Target="slides/slide112.xml"/><Relationship Id="rId119" Type="http://schemas.openxmlformats.org/officeDocument/2006/relationships/slide" Target="slides/slide113.xml"/><Relationship Id="rId120" Type="http://schemas.openxmlformats.org/officeDocument/2006/relationships/slide" Target="slides/slide114.xml"/><Relationship Id="rId121" Type="http://schemas.openxmlformats.org/officeDocument/2006/relationships/slide" Target="slides/slide115.xml"/><Relationship Id="rId122" Type="http://schemas.openxmlformats.org/officeDocument/2006/relationships/slide" Target="slides/slide116.xml"/><Relationship Id="rId123" Type="http://schemas.openxmlformats.org/officeDocument/2006/relationships/slide" Target="slides/slide117.xml"/><Relationship Id="rId124" Type="http://schemas.openxmlformats.org/officeDocument/2006/relationships/slide" Target="slides/slide118.xml"/><Relationship Id="rId125" Type="http://schemas.openxmlformats.org/officeDocument/2006/relationships/slide" Target="slides/slide119.xml"/><Relationship Id="rId126" Type="http://schemas.openxmlformats.org/officeDocument/2006/relationships/slide" Target="slides/slide120.xml"/><Relationship Id="rId127" Type="http://schemas.openxmlformats.org/officeDocument/2006/relationships/slide" Target="slides/slide121.xml"/><Relationship Id="rId128" Type="http://schemas.openxmlformats.org/officeDocument/2006/relationships/slide" Target="slides/slide122.xml"/><Relationship Id="rId129" Type="http://schemas.openxmlformats.org/officeDocument/2006/relationships/slide" Target="slides/slide123.xml"/><Relationship Id="rId130" Type="http://schemas.openxmlformats.org/officeDocument/2006/relationships/slide" Target="slides/slide124.xml"/><Relationship Id="rId131" Type="http://schemas.openxmlformats.org/officeDocument/2006/relationships/slide" Target="slides/slide125.xml"/><Relationship Id="rId132" Type="http://schemas.openxmlformats.org/officeDocument/2006/relationships/slide" Target="slides/slide126.xml"/><Relationship Id="rId133" Type="http://schemas.openxmlformats.org/officeDocument/2006/relationships/slide" Target="slides/slide127.xml"/><Relationship Id="rId134" Type="http://schemas.openxmlformats.org/officeDocument/2006/relationships/slide" Target="slides/slide128.xml"/><Relationship Id="rId135" Type="http://schemas.openxmlformats.org/officeDocument/2006/relationships/slide" Target="slides/slide129.xml"/><Relationship Id="rId136" Type="http://schemas.openxmlformats.org/officeDocument/2006/relationships/slide" Target="slides/slide130.xml"/><Relationship Id="rId137" Type="http://schemas.openxmlformats.org/officeDocument/2006/relationships/slide" Target="slides/slide131.xml"/><Relationship Id="rId138" Type="http://schemas.openxmlformats.org/officeDocument/2006/relationships/slide" Target="slides/slide132.xml"/><Relationship Id="rId139" Type="http://schemas.openxmlformats.org/officeDocument/2006/relationships/slide" Target="slides/slide133.xml"/><Relationship Id="rId140" Type="http://schemas.openxmlformats.org/officeDocument/2006/relationships/slide" Target="slides/slide134.xml"/><Relationship Id="rId141" Type="http://schemas.openxmlformats.org/officeDocument/2006/relationships/slide" Target="slides/slide135.xml"/><Relationship Id="rId142" Type="http://schemas.openxmlformats.org/officeDocument/2006/relationships/slide" Target="slides/slide136.xml"/><Relationship Id="rId143" Type="http://schemas.openxmlformats.org/officeDocument/2006/relationships/slide" Target="slides/slide137.xml"/><Relationship Id="rId144" Type="http://schemas.openxmlformats.org/officeDocument/2006/relationships/slide" Target="slides/slide138.xml"/><Relationship Id="rId145" Type="http://schemas.openxmlformats.org/officeDocument/2006/relationships/slide" Target="slides/slide139.xml"/><Relationship Id="rId146" Type="http://schemas.openxmlformats.org/officeDocument/2006/relationships/slide" Target="slides/slide140.xml"/><Relationship Id="rId147" Type="http://schemas.openxmlformats.org/officeDocument/2006/relationships/slide" Target="slides/slide141.xml"/><Relationship Id="rId148" Type="http://schemas.openxmlformats.org/officeDocument/2006/relationships/slide" Target="slides/slide142.xml"/><Relationship Id="rId149" Type="http://schemas.openxmlformats.org/officeDocument/2006/relationships/slide" Target="slides/slide143.xml"/><Relationship Id="rId150" Type="http://schemas.openxmlformats.org/officeDocument/2006/relationships/slide" Target="slides/slide144.xml"/><Relationship Id="rId151" Type="http://schemas.openxmlformats.org/officeDocument/2006/relationships/slide" Target="slides/slide145.xml"/><Relationship Id="rId152" Type="http://schemas.openxmlformats.org/officeDocument/2006/relationships/slide" Target="slides/slide146.xml"/><Relationship Id="rId153" Type="http://schemas.openxmlformats.org/officeDocument/2006/relationships/slide" Target="slides/slide147.xml"/><Relationship Id="rId154" Type="http://schemas.openxmlformats.org/officeDocument/2006/relationships/slide" Target="slides/slide148.xml"/><Relationship Id="rId155" Type="http://schemas.openxmlformats.org/officeDocument/2006/relationships/slide" Target="slides/slide149.xml"/><Relationship Id="rId156" Type="http://schemas.openxmlformats.org/officeDocument/2006/relationships/slide" Target="slides/slide150.xml"/><Relationship Id="rId157" Type="http://schemas.openxmlformats.org/officeDocument/2006/relationships/slide" Target="slides/slide151.xml"/><Relationship Id="rId158" Type="http://schemas.openxmlformats.org/officeDocument/2006/relationships/slide" Target="slides/slide152.xml"/><Relationship Id="rId159" Type="http://schemas.openxmlformats.org/officeDocument/2006/relationships/slide" Target="slides/slide153.xml"/><Relationship Id="rId160" Type="http://schemas.openxmlformats.org/officeDocument/2006/relationships/slide" Target="slides/slide154.xml"/><Relationship Id="rId161" Type="http://schemas.openxmlformats.org/officeDocument/2006/relationships/slide" Target="slides/slide155.xml"/><Relationship Id="rId162" Type="http://schemas.openxmlformats.org/officeDocument/2006/relationships/slide" Target="slides/slide156.xml"/><Relationship Id="rId163" Type="http://schemas.openxmlformats.org/officeDocument/2006/relationships/slide" Target="slides/slide157.xml"/><Relationship Id="rId164" Type="http://schemas.openxmlformats.org/officeDocument/2006/relationships/slide" Target="slides/slide158.xml"/><Relationship Id="rId165" Type="http://schemas.openxmlformats.org/officeDocument/2006/relationships/slide" Target="slides/slide159.xml"/><Relationship Id="rId166" Type="http://schemas.openxmlformats.org/officeDocument/2006/relationships/slide" Target="slides/slide160.xml"/><Relationship Id="rId167" Type="http://schemas.openxmlformats.org/officeDocument/2006/relationships/slide" Target="slides/slide161.xml"/><Relationship Id="rId168" Type="http://schemas.openxmlformats.org/officeDocument/2006/relationships/slide" Target="slides/slide162.xml"/><Relationship Id="rId169" Type="http://schemas.openxmlformats.org/officeDocument/2006/relationships/slide" Target="slides/slide163.xml"/><Relationship Id="rId170" Type="http://schemas.openxmlformats.org/officeDocument/2006/relationships/slide" Target="slides/slide164.xml"/><Relationship Id="rId171" Type="http://schemas.openxmlformats.org/officeDocument/2006/relationships/slide" Target="slides/slide165.xml"/><Relationship Id="rId172" Type="http://schemas.openxmlformats.org/officeDocument/2006/relationships/slide" Target="slides/slide166.xml"/><Relationship Id="rId173" Type="http://schemas.openxmlformats.org/officeDocument/2006/relationships/slide" Target="slides/slide167.xml"/><Relationship Id="rId174" Type="http://schemas.openxmlformats.org/officeDocument/2006/relationships/slide" Target="slides/slide168.xml"/><Relationship Id="rId175" Type="http://schemas.openxmlformats.org/officeDocument/2006/relationships/slide" Target="slides/slide169.xml"/><Relationship Id="rId176" Type="http://schemas.openxmlformats.org/officeDocument/2006/relationships/slide" Target="slides/slide170.xml"/><Relationship Id="rId177" Type="http://schemas.openxmlformats.org/officeDocument/2006/relationships/slide" Target="slides/slide171.xml"/><Relationship Id="rId178" Type="http://schemas.openxmlformats.org/officeDocument/2006/relationships/slide" Target="slides/slide172.xml"/><Relationship Id="rId179" Type="http://schemas.openxmlformats.org/officeDocument/2006/relationships/slide" Target="slides/slide173.xml"/><Relationship Id="rId180" Type="http://schemas.openxmlformats.org/officeDocument/2006/relationships/slide" Target="slides/slide174.xml"/><Relationship Id="rId181" Type="http://schemas.openxmlformats.org/officeDocument/2006/relationships/slide" Target="slides/slide175.xml"/><Relationship Id="rId182" Type="http://schemas.openxmlformats.org/officeDocument/2006/relationships/slide" Target="slides/slide176.xml"/><Relationship Id="rId183" Type="http://schemas.openxmlformats.org/officeDocument/2006/relationships/slide" Target="slides/slide177.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6355080"/>
            <a:ext cx="12191695" cy="502920"/>
          </a:xfrm>
          <a:prstGeom prst="rect">
            <a:avLst/>
          </a:prstGeom>
          <a:solidFill>
            <a:srgbClr val="004F21"/>
          </a:solidFill>
          <a:ln>
            <a:noFill/>
          </a:ln>
          <a:effectLst/>
        </p:spPr>
        <p:txBody>
          <a:bodyPr rtlCol="0" anchor="ctr"/>
          <a:lstStyle/>
          <a:p>
            <a:pPr algn="ctr"/>
          </a:p>
        </p:txBody>
      </p:sp>
      <p:sp>
        <p:nvSpPr>
          <p:cNvPr id="4" name="TextBox 3"/>
          <p:cNvSpPr txBox="1"/>
          <p:nvPr/>
        </p:nvSpPr>
        <p:spPr>
          <a:xfrm>
            <a:off x="777240" y="1417320"/>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FIN1209  Technical Analysis in Investment</a:t>
            </a:r>
          </a:p>
        </p:txBody>
      </p:sp>
      <p:sp>
        <p:nvSpPr>
          <p:cNvPr id="5" name="Rectangle 4"/>
          <p:cNvSpPr/>
          <p:nvPr/>
        </p:nvSpPr>
        <p:spPr>
          <a:xfrm>
            <a:off x="777240" y="2057400"/>
            <a:ext cx="1463040" cy="50800"/>
          </a:xfrm>
          <a:prstGeom prst="rect">
            <a:avLst/>
          </a:prstGeom>
          <a:solidFill>
            <a:srgbClr val="F2A900"/>
          </a:solidFill>
          <a:ln>
            <a:noFill/>
          </a:ln>
          <a:effectLst/>
        </p:spPr>
        <p:txBody>
          <a:bodyPr rtlCol="0" anchor="ctr"/>
          <a:lstStyle/>
          <a:p>
            <a:pPr algn="ctr"/>
          </a:p>
        </p:txBody>
      </p:sp>
      <p:sp>
        <p:nvSpPr>
          <p:cNvPr id="6" name="TextBox 5"/>
          <p:cNvSpPr txBox="1"/>
          <p:nvPr/>
        </p:nvSpPr>
        <p:spPr>
          <a:xfrm>
            <a:off x="777240" y="2423160"/>
            <a:ext cx="10637215" cy="2194560"/>
          </a:xfrm>
          <a:prstGeom prst="rect">
            <a:avLst/>
          </a:prstGeom>
          <a:noFill/>
        </p:spPr>
        <p:txBody>
          <a:bodyPr wrap="square" anchor="t" lIns="0" rIns="0" tIns="0" bIns="0">
            <a:spAutoFit/>
          </a:bodyPr>
          <a:lstStyle/>
          <a:p>
            <a:pPr algn="l">
              <a:lnSpc>
                <a:spcPct val="100000"/>
              </a:lnSpc>
              <a:spcBef>
                <a:spcPts val="0"/>
              </a:spcBef>
              <a:spcAft>
                <a:spcPts val="0"/>
              </a:spcAft>
            </a:pPr>
            <a:r>
              <a:rPr sz="2000" b="0" i="0">
                <a:solidFill>
                  <a:srgbClr val="FFFFFF"/>
                </a:solidFill>
                <a:latin typeface="Palatino"/>
              </a:rPr>
              <a:t>Chapter 1</a:t>
            </a:r>
          </a:p>
          <a:p>
            <a:pPr algn="l">
              <a:lnSpc>
                <a:spcPct val="105000"/>
              </a:lnSpc>
              <a:spcBef>
                <a:spcPts val="1000"/>
              </a:spcBef>
              <a:spcAft>
                <a:spcPts val="0"/>
              </a:spcAft>
            </a:pPr>
            <a:r>
              <a:rPr sz="4400" b="0" i="0">
                <a:solidFill>
                  <a:srgbClr val="FFFFFF"/>
                </a:solidFill>
                <a:latin typeface="Palatino"/>
              </a:rPr>
              <a:t>Introduction to the Art and Science of Technical Analysis</a:t>
            </a:r>
          </a:p>
        </p:txBody>
      </p:sp>
      <p:sp>
        <p:nvSpPr>
          <p:cNvPr id="7" name="TextBox 6"/>
          <p:cNvSpPr txBox="1"/>
          <p:nvPr/>
        </p:nvSpPr>
        <p:spPr>
          <a:xfrm>
            <a:off x="777240" y="4892040"/>
            <a:ext cx="10637215" cy="914400"/>
          </a:xfrm>
          <a:prstGeom prst="rect">
            <a:avLst/>
          </a:prstGeom>
          <a:noFill/>
        </p:spPr>
        <p:txBody>
          <a:bodyPr wrap="square" anchor="t" lIns="0" rIns="0" tIns="0" bIns="0">
            <a:spAutoFit/>
          </a:bodyPr>
          <a:lstStyle/>
          <a:p>
            <a:pPr algn="l">
              <a:lnSpc>
                <a:spcPct val="100000"/>
              </a:lnSpc>
              <a:spcBef>
                <a:spcPts val="0"/>
              </a:spcBef>
              <a:spcAft>
                <a:spcPts val="0"/>
              </a:spcAft>
            </a:pPr>
            <a:r>
              <a:rPr sz="1600" b="0" i="0">
                <a:solidFill>
                  <a:srgbClr val="FFFFFF"/>
                </a:solidFill>
                <a:latin typeface="Arial"/>
              </a:rPr>
              <a:t>Institute of Accounts, Business and Finance  |  Far Eastern University Manila</a:t>
            </a:r>
          </a:p>
          <a:p>
            <a:pPr algn="l">
              <a:lnSpc>
                <a:spcPct val="100000"/>
              </a:lnSpc>
              <a:spcBef>
                <a:spcPts val="800"/>
              </a:spcBef>
              <a:spcAft>
                <a:spcPts val="0"/>
              </a:spcAft>
            </a:pPr>
            <a:r>
              <a:rPr sz="1400" b="0" i="0">
                <a:solidFill>
                  <a:srgbClr val="F2A900"/>
                </a:solidFill>
                <a:latin typeface="Arial"/>
              </a:rPr>
              <a:t>Benjamin C. Sotelo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you will be able to do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1 - Learning objectives</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Understand the key concepts underlying technical analysis.</a:t>
            </a:r>
          </a:p>
          <a:p>
            <a:pPr algn="l">
              <a:lnSpc>
                <a:spcPct val="118000"/>
              </a:lnSpc>
              <a:spcBef>
                <a:spcPts val="0"/>
              </a:spcBef>
              <a:spcAft>
                <a:spcPts val="1300"/>
              </a:spcAft>
            </a:pPr>
            <a:r>
              <a:rPr sz="2100" b="0" i="0">
                <a:solidFill>
                  <a:srgbClr val="1A1A1A"/>
                </a:solidFill>
                <a:latin typeface="Arial"/>
              </a:rPr>
              <a:t>Identify the different forms of chart analysis.</a:t>
            </a:r>
          </a:p>
          <a:p>
            <a:pPr algn="l">
              <a:lnSpc>
                <a:spcPct val="118000"/>
              </a:lnSpc>
              <a:spcBef>
                <a:spcPts val="0"/>
              </a:spcBef>
              <a:spcAft>
                <a:spcPts val="1300"/>
              </a:spcAft>
            </a:pPr>
            <a:r>
              <a:rPr sz="2100" b="0" i="0">
                <a:solidFill>
                  <a:srgbClr val="1A1A1A"/>
                </a:solidFill>
                <a:latin typeface="Arial"/>
              </a:rPr>
              <a:t>Describe the objectives of technical analysis.</a:t>
            </a:r>
          </a:p>
          <a:p>
            <a:pPr algn="l">
              <a:lnSpc>
                <a:spcPct val="118000"/>
              </a:lnSpc>
              <a:spcBef>
                <a:spcPts val="0"/>
              </a:spcBef>
              <a:spcAft>
                <a:spcPts val="1300"/>
              </a:spcAft>
            </a:pPr>
            <a:r>
              <a:rPr sz="2100" b="0" i="0">
                <a:solidFill>
                  <a:srgbClr val="1A1A1A"/>
                </a:solidFill>
                <a:latin typeface="Arial"/>
              </a:rPr>
              <a:t>Understand what subjectivity means in technical analysis.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you will be able to do, continued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1 - Learning objectives</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Recognize the strengths and weaknesses of technical analysis.</a:t>
            </a:r>
          </a:p>
          <a:p>
            <a:pPr algn="l">
              <a:lnSpc>
                <a:spcPct val="118000"/>
              </a:lnSpc>
              <a:spcBef>
                <a:spcPts val="0"/>
              </a:spcBef>
              <a:spcAft>
                <a:spcPts val="1300"/>
              </a:spcAft>
            </a:pPr>
            <a:r>
              <a:rPr sz="2100" b="0" i="0">
                <a:solidFill>
                  <a:srgbClr val="1A1A1A"/>
                </a:solidFill>
                <a:latin typeface="Arial"/>
              </a:rPr>
              <a:t>Categorize market participants by style and time in markets.</a:t>
            </a:r>
          </a:p>
          <a:p>
            <a:pPr algn="l">
              <a:lnSpc>
                <a:spcPct val="118000"/>
              </a:lnSpc>
              <a:spcBef>
                <a:spcPts val="0"/>
              </a:spcBef>
              <a:spcAft>
                <a:spcPts val="1300"/>
              </a:spcAft>
            </a:pPr>
            <a:r>
              <a:rPr sz="2100" b="0" i="0">
                <a:solidFill>
                  <a:srgbClr val="1A1A1A"/>
                </a:solidFill>
                <a:latin typeface="Arial"/>
              </a:rPr>
              <a:t>Identify the various styles and approaches in technical analysis.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today is laid out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1 - Roadmap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Part 1  Why anybody analyzes a market</a:t>
            </a:r>
          </a:p>
          <a:p>
            <a:pPr algn="l">
              <a:lnSpc>
                <a:spcPct val="118000"/>
              </a:lnSpc>
              <a:spcBef>
                <a:spcPts val="0"/>
              </a:spcBef>
              <a:spcAft>
                <a:spcPts val="1300"/>
              </a:spcAft>
            </a:pPr>
            <a:r>
              <a:rPr sz="2100" b="0" i="0">
                <a:solidFill>
                  <a:srgbClr val="1A1A1A"/>
                </a:solidFill>
                <a:latin typeface="Arial"/>
              </a:rPr>
              <a:t>Part 2  Three ways to forecast a price</a:t>
            </a:r>
          </a:p>
          <a:p>
            <a:pPr algn="l">
              <a:lnSpc>
                <a:spcPct val="118000"/>
              </a:lnSpc>
              <a:spcBef>
                <a:spcPts val="0"/>
              </a:spcBef>
              <a:spcAft>
                <a:spcPts val="1300"/>
              </a:spcAft>
            </a:pPr>
            <a:r>
              <a:rPr sz="2100" b="0" i="0">
                <a:solidFill>
                  <a:srgbClr val="1A1A1A"/>
                </a:solidFill>
                <a:latin typeface="Arial"/>
              </a:rPr>
              <a:t>Part 3  Classifying technical analysis</a:t>
            </a:r>
          </a:p>
          <a:p>
            <a:pPr algn="l">
              <a:lnSpc>
                <a:spcPct val="118000"/>
              </a:lnSpc>
              <a:spcBef>
                <a:spcPts val="0"/>
              </a:spcBef>
              <a:spcAft>
                <a:spcPts val="1300"/>
              </a:spcAft>
            </a:pPr>
            <a:r>
              <a:rPr sz="2100" b="0" i="0">
                <a:solidFill>
                  <a:srgbClr val="1A1A1A"/>
                </a:solidFill>
                <a:latin typeface="Arial"/>
              </a:rPr>
              <a:t>Part 4  Subjectivity</a:t>
            </a:r>
          </a:p>
          <a:p>
            <a:pPr algn="l">
              <a:lnSpc>
                <a:spcPct val="118000"/>
              </a:lnSpc>
              <a:spcBef>
                <a:spcPts val="0"/>
              </a:spcBef>
              <a:spcAft>
                <a:spcPts val="1300"/>
              </a:spcAft>
            </a:pPr>
            <a:r>
              <a:rPr sz="2100" b="0" i="0">
                <a:solidFill>
                  <a:srgbClr val="1A1A1A"/>
                </a:solidFill>
                <a:latin typeface="Arial"/>
              </a:rPr>
              <a:t>Part 5  The assumptions underneath everything</a:t>
            </a:r>
          </a:p>
          <a:p>
            <a:pPr algn="l">
              <a:lnSpc>
                <a:spcPct val="118000"/>
              </a:lnSpc>
              <a:spcBef>
                <a:spcPts val="0"/>
              </a:spcBef>
              <a:spcAft>
                <a:spcPts val="1300"/>
              </a:spcAft>
            </a:pPr>
            <a:r>
              <a:rPr sz="2100" b="0" i="0">
                <a:solidFill>
                  <a:srgbClr val="1A1A1A"/>
                </a:solidFill>
                <a:latin typeface="Arial"/>
              </a:rPr>
              <a:t>Part 6  Who is in the market</a:t>
            </a:r>
          </a:p>
        </p:txBody>
      </p:sp>
      <p:sp>
        <p:nvSpPr>
          <p:cNvPr id="8" name="Rectangle 7"/>
          <p:cNvSpPr/>
          <p:nvPr/>
        </p:nvSpPr>
        <p:spPr>
          <a:xfrm>
            <a:off x="777240" y="526237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9894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Six parts, and a clean stop at every boundary.</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1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Why Anybody Analyzes a Market</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Where the urge to make a profit actually comes from.</a:t>
            </a:r>
          </a:p>
          <a:p>
            <a:pPr algn="l">
              <a:lnSpc>
                <a:spcPct val="115000"/>
              </a:lnSpc>
              <a:spcBef>
                <a:spcPts val="0"/>
              </a:spcBef>
              <a:spcAft>
                <a:spcPts val="1000"/>
              </a:spcAft>
            </a:pPr>
            <a:r>
              <a:rPr sz="1900" b="0" i="0">
                <a:solidFill>
                  <a:srgbClr val="FFFFFF"/>
                </a:solidFill>
                <a:latin typeface="Arial"/>
              </a:rPr>
              <a:t>The one rule every trade in the world is trying to satisfy.</a:t>
            </a:r>
          </a:p>
          <a:p>
            <a:pPr algn="l">
              <a:lnSpc>
                <a:spcPct val="115000"/>
              </a:lnSpc>
              <a:spcBef>
                <a:spcPts val="0"/>
              </a:spcBef>
              <a:spcAft>
                <a:spcPts val="1000"/>
              </a:spcAft>
            </a:pPr>
            <a:r>
              <a:rPr sz="1900" b="0" i="0">
                <a:solidFill>
                  <a:srgbClr val="FFFFFF"/>
                </a:solidFill>
                <a:latin typeface="Arial"/>
              </a:rPr>
              <a:t>The two jobs technical analysis does, and the four words for a trade.</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25 minutes</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Markets run on three instincts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1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The instinct to survive.</a:t>
            </a:r>
          </a:p>
          <a:p>
            <a:pPr algn="l">
              <a:lnSpc>
                <a:spcPct val="118000"/>
              </a:lnSpc>
              <a:spcBef>
                <a:spcPts val="0"/>
              </a:spcBef>
              <a:spcAft>
                <a:spcPts val="1300"/>
              </a:spcAft>
            </a:pPr>
            <a:r>
              <a:rPr sz="2100" b="0" i="0">
                <a:solidFill>
                  <a:srgbClr val="1A1A1A"/>
                </a:solidFill>
                <a:latin typeface="Arial"/>
              </a:rPr>
              <a:t>2.  The instinct for comfort.</a:t>
            </a:r>
          </a:p>
          <a:p>
            <a:pPr algn="l">
              <a:lnSpc>
                <a:spcPct val="118000"/>
              </a:lnSpc>
              <a:spcBef>
                <a:spcPts val="0"/>
              </a:spcBef>
              <a:spcAft>
                <a:spcPts val="1300"/>
              </a:spcAft>
            </a:pPr>
            <a:r>
              <a:rPr sz="2100" b="0" i="0">
                <a:solidFill>
                  <a:srgbClr val="1A1A1A"/>
                </a:solidFill>
                <a:latin typeface="Arial"/>
              </a:rPr>
              <a:t>3.  The instinct to propagate.</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Survival is the strongest of the three. It usually comes first.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survival instinct contains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2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Stay alive.</a:t>
            </a:r>
          </a:p>
          <a:p>
            <a:pPr algn="l">
              <a:lnSpc>
                <a:spcPct val="118000"/>
              </a:lnSpc>
              <a:spcBef>
                <a:spcPts val="0"/>
              </a:spcBef>
              <a:spcAft>
                <a:spcPts val="1300"/>
              </a:spcAft>
            </a:pPr>
            <a:r>
              <a:rPr sz="2100" b="0" i="0">
                <a:solidFill>
                  <a:srgbClr val="1A1A1A"/>
                </a:solidFill>
                <a:latin typeface="Arial"/>
              </a:rPr>
              <a:t>Satisfy hunger.</a:t>
            </a:r>
          </a:p>
          <a:p>
            <a:pPr algn="l">
              <a:lnSpc>
                <a:spcPct val="118000"/>
              </a:lnSpc>
              <a:spcBef>
                <a:spcPts val="0"/>
              </a:spcBef>
              <a:spcAft>
                <a:spcPts val="1300"/>
              </a:spcAft>
            </a:pPr>
            <a:r>
              <a:rPr sz="2100" b="0" i="0">
                <a:solidFill>
                  <a:srgbClr val="1A1A1A"/>
                </a:solidFill>
                <a:latin typeface="Arial"/>
              </a:rPr>
              <a:t>Seek safety, which means staying with the group or herd.</a:t>
            </a:r>
          </a:p>
          <a:p>
            <a:pPr algn="l">
              <a:lnSpc>
                <a:spcPct val="118000"/>
              </a:lnSpc>
              <a:spcBef>
                <a:spcPts val="0"/>
              </a:spcBef>
              <a:spcAft>
                <a:spcPts val="1300"/>
              </a:spcAft>
            </a:pPr>
            <a:r>
              <a:rPr sz="2100" b="0" i="0">
                <a:solidFill>
                  <a:srgbClr val="1A1A1A"/>
                </a:solidFill>
                <a:latin typeface="Arial"/>
              </a:rPr>
              <a:t>Avoid danger, through natural fears of fire, loud noise, heights.</a:t>
            </a:r>
          </a:p>
        </p:txBody>
      </p:sp>
      <p:sp>
        <p:nvSpPr>
          <p:cNvPr id="8" name="Rectangle 7"/>
          <p:cNvSpPr/>
          <p:nvPr/>
        </p:nvSpPr>
        <p:spPr>
          <a:xfrm>
            <a:off x="777240" y="426719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Notice the third one. Herding will come back on almost every chart we read.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To make a profit, something has to change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3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You cannot profit from something that never moves.</a:t>
            </a:r>
          </a:p>
          <a:p>
            <a:pPr algn="l">
              <a:lnSpc>
                <a:spcPct val="118000"/>
              </a:lnSpc>
              <a:spcBef>
                <a:spcPts val="0"/>
              </a:spcBef>
              <a:spcAft>
                <a:spcPts val="1300"/>
              </a:spcAft>
            </a:pPr>
            <a:r>
              <a:rPr sz="2100" b="0" i="0">
                <a:solidFill>
                  <a:srgbClr val="1A1A1A"/>
                </a:solidFill>
                <a:latin typeface="Arial"/>
              </a:rPr>
              <a:t>You need a variable of change: something you own whose value shifts.</a:t>
            </a:r>
          </a:p>
          <a:p>
            <a:pPr algn="l">
              <a:lnSpc>
                <a:spcPct val="118000"/>
              </a:lnSpc>
              <a:spcBef>
                <a:spcPts val="0"/>
              </a:spcBef>
              <a:spcAft>
                <a:spcPts val="1300"/>
              </a:spcAft>
            </a:pPr>
            <a:r>
              <a:rPr sz="2100" b="0" i="0">
                <a:solidFill>
                  <a:srgbClr val="1A1A1A"/>
                </a:solidFill>
                <a:latin typeface="Arial"/>
              </a:rPr>
              <a:t>It could be a house, a sack of rice, a currency, or a share.</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Markets exist because value moves. Analysis exists because we want to know which way.</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Price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Price is the most convenient variable of change we have. It is visible, it is public, and it updates constantly.</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Jollibee shares closed at 240 pesos yesterday and 244 pesos today. You did not need anyone's permission to see that.</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Price is the observable variable of change on which market participants act, and the primary data of technical analysis.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4 of 26</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Price is a number that will not sit still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5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a.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A - FIN1209 teaching chart, drawn for this course. Illustrative data, not a real instrument.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buy low, sell high principle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simple mechanical rule that would guarantee a profit every single time: buy when the price is low and sell when it is higher.</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Buy at 40 pesos, sell at 52 pesos, keep 12 pesos a share. Nothing clever happened.</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buy low, sell high principle is the mechanical rule that profit is realized by acquiring at a lower price and disposing at a higher one.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6 of 26</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Buy low, sell high, drawn once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7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b.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B - FIN1209 teaching chart, drawn for this course. Illustrative data, not a real instrument.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rule is easy. Obeying it is not.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8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To buy low you must first know that today's price is low.</a:t>
            </a:r>
          </a:p>
          <a:p>
            <a:pPr algn="l">
              <a:lnSpc>
                <a:spcPct val="118000"/>
              </a:lnSpc>
              <a:spcBef>
                <a:spcPts val="0"/>
              </a:spcBef>
              <a:spcAft>
                <a:spcPts val="1300"/>
              </a:spcAft>
            </a:pPr>
            <a:r>
              <a:rPr sz="2100" b="0" i="0">
                <a:solidFill>
                  <a:srgbClr val="1A1A1A"/>
                </a:solidFill>
                <a:latin typeface="Arial"/>
              </a:rPr>
              <a:t>To sell high you must know that today's price is high.</a:t>
            </a:r>
          </a:p>
          <a:p>
            <a:pPr algn="l">
              <a:lnSpc>
                <a:spcPct val="118000"/>
              </a:lnSpc>
              <a:spcBef>
                <a:spcPts val="0"/>
              </a:spcBef>
              <a:spcAft>
                <a:spcPts val="1300"/>
              </a:spcAft>
            </a:pPr>
            <a:r>
              <a:rPr sz="2100" b="0" i="0">
                <a:solidFill>
                  <a:srgbClr val="1A1A1A"/>
                </a:solidFill>
                <a:latin typeface="Arial"/>
              </a:rPr>
              <a:t>Both of those are statements about the future, not the present.</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This is where chance enters, and this is why the subject exists.</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price-time chart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picture with price up the side and time along the bottom. It is how traders keep track of two things at once.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Any chart on your trading app. The vertical axis is pesos, the horizontal axis is days.</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price-time chart is a two dimensional visualization that plots price on the vertical axis against time on the horizontal axis.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9 of 26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two axes, drawn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10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c.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C - FIN1209 teaching chart, drawn for this course. Illustrative data, not a real instrument.</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Technical analysis does exactly two jobs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11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Job one: it identifies and describes what already happened.</a:t>
            </a:r>
          </a:p>
          <a:p>
            <a:pPr algn="l">
              <a:lnSpc>
                <a:spcPct val="118000"/>
              </a:lnSpc>
              <a:spcBef>
                <a:spcPts val="0"/>
              </a:spcBef>
              <a:spcAft>
                <a:spcPts val="1300"/>
              </a:spcAft>
            </a:pPr>
            <a:r>
              <a:rPr sz="2100" b="0" i="0">
                <a:solidFill>
                  <a:srgbClr val="1A1A1A"/>
                </a:solidFill>
                <a:latin typeface="Arial"/>
              </a:rPr>
              <a:t>Job two: it forecasts what might happen next.</a:t>
            </a:r>
          </a:p>
        </p:txBody>
      </p:sp>
      <p:sp>
        <p:nvSpPr>
          <p:cNvPr id="8" name="Rectangle 7"/>
          <p:cNvSpPr/>
          <p:nvPr/>
        </p:nvSpPr>
        <p:spPr>
          <a:xfrm>
            <a:off x="777240" y="3272028"/>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308604"/>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Everything in this course is one of those two jobs.</a:t>
            </a:r>
          </a:p>
        </p:txBody>
      </p:sp>
      <p:sp>
        <p:nvSpPr>
          <p:cNvPr id="10" name="TextBox 9"/>
          <p:cNvSpPr txBox="1"/>
          <p:nvPr/>
        </p:nvSpPr>
        <p:spPr>
          <a:xfrm>
            <a:off x="777240" y="3977385"/>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This is called the dual function of technical analysis.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Identification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record keeping job. The chart tells you what the market has already done, with no opinion attached.</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From a five year chart you can read the highest price ever paid, the calmest month, and the days that gapped.</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Identification is the descriptive function of technical analysis: it records and describes past and present price and market action.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12 of 26</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Four facts, and not one of them is an opinion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13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d.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D - FIN1209 teaching chart, drawn for this course. Illustrative data, not a real instrument.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Forecasting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opinion job. You take what the chart recorded and make a claim about what comes next, and the claim worth most is where a new trend begins.</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Prices bounced off 100 pesos four times, so you expect buyers to show up there again.</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Forecasting is the inferential function of technical analysis: it interprets identified market action to infer potential future price behavior, especially the start of a new trend.</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14 of 26</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Four bounces are the record. A fifth is the claim.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15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e.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E - FIN1209 teaching chart, drawn for this course. Illustrative data, not a real instrument.</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identification hands you before you risk a peso</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16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average size of a normal day's move.</a:t>
            </a:r>
          </a:p>
          <a:p>
            <a:pPr algn="l">
              <a:lnSpc>
                <a:spcPct val="118000"/>
              </a:lnSpc>
              <a:spcBef>
                <a:spcPts val="0"/>
              </a:spcBef>
              <a:spcAft>
                <a:spcPts val="1300"/>
              </a:spcAft>
            </a:pPr>
            <a:r>
              <a:rPr sz="2100" b="0" i="0">
                <a:solidFill>
                  <a:srgbClr val="1A1A1A"/>
                </a:solidFill>
                <a:latin typeface="Arial"/>
              </a:rPr>
              <a:t>The highest and lowest prices ever paid.</a:t>
            </a:r>
          </a:p>
          <a:p>
            <a:pPr algn="l">
              <a:lnSpc>
                <a:spcPct val="118000"/>
              </a:lnSpc>
              <a:spcBef>
                <a:spcPts val="0"/>
              </a:spcBef>
              <a:spcAft>
                <a:spcPts val="1300"/>
              </a:spcAft>
            </a:pPr>
            <a:r>
              <a:rPr sz="2100" b="0" i="0">
                <a:solidFill>
                  <a:srgbClr val="1A1A1A"/>
                </a:solidFill>
                <a:latin typeface="Arial"/>
              </a:rPr>
              <a:t>Where the market usually stalls and goes sideways.</a:t>
            </a:r>
          </a:p>
          <a:p>
            <a:pPr algn="l">
              <a:lnSpc>
                <a:spcPct val="118000"/>
              </a:lnSpc>
              <a:spcBef>
                <a:spcPts val="0"/>
              </a:spcBef>
              <a:spcAft>
                <a:spcPts val="1300"/>
              </a:spcAft>
            </a:pPr>
            <a:r>
              <a:rPr sz="2100" b="0" i="0">
                <a:solidFill>
                  <a:srgbClr val="1A1A1A"/>
                </a:solidFill>
                <a:latin typeface="Arial"/>
              </a:rPr>
              <a:t>How much trading actually happens, and how often price gaps.</a:t>
            </a:r>
          </a:p>
        </p:txBody>
      </p:sp>
      <p:sp>
        <p:nvSpPr>
          <p:cNvPr id="8" name="Rectangle 7"/>
          <p:cNvSpPr/>
          <p:nvPr/>
        </p:nvSpPr>
        <p:spPr>
          <a:xfrm>
            <a:off x="777240" y="426719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This is the homework you do before any trade, and it is free.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To go long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To buy in order to open a new position. You now own it and you want the price to rise.</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buy 1,000 shares of Ayala at 620 pesos. You are long Ayala.</a:t>
            </a:r>
          </a:p>
        </p:txBody>
      </p:sp>
      <p:sp>
        <p:nvSpPr>
          <p:cNvPr id="11" name="Rectangle 10"/>
          <p:cNvSpPr/>
          <p:nvPr/>
        </p:nvSpPr>
        <p:spPr>
          <a:xfrm>
            <a:off x="777240" y="4298061"/>
            <a:ext cx="64008" cy="53352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To go long means to buy to open a new position.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17 of 26</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Going long: a buy that opens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18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f.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F - FIN1209 teaching chart, drawn for this course. Illustrative data, not a real instrument.</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To liquidate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To sell in order to close a position you already held. It is the exit from a long.</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sell those 1,000 Ayala shares at 660 pesos. You have liquidated.</a:t>
            </a:r>
          </a:p>
        </p:txBody>
      </p:sp>
      <p:sp>
        <p:nvSpPr>
          <p:cNvPr id="11" name="Rectangle 10"/>
          <p:cNvSpPr/>
          <p:nvPr/>
        </p:nvSpPr>
        <p:spPr>
          <a:xfrm>
            <a:off x="777240" y="4298061"/>
            <a:ext cx="64008" cy="53352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To liquidate means to sell to close a position previously held.</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19 of 26</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Liquidating: a sell that closes the long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20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g.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G - FIN1209 teaching chart, drawn for this course. Illustrative data, not a real instrument.</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To go short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To sell in order to open a new position, before you own it. You want the price to fall.</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sell 1,000 borrowed shares at 660 pesos hoping to buy them back cheaper.</a:t>
            </a:r>
          </a:p>
        </p:txBody>
      </p:sp>
      <p:sp>
        <p:nvSpPr>
          <p:cNvPr id="11" name="Rectangle 10"/>
          <p:cNvSpPr/>
          <p:nvPr/>
        </p:nvSpPr>
        <p:spPr>
          <a:xfrm>
            <a:off x="777240" y="4298061"/>
            <a:ext cx="64008" cy="53352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To go short means to sell to open a new position.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21 of 26</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Going short: a sell that opens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22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h.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H - FIN1209 teaching chart, drawn for this course. Illustrative data, not a real instrument.</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To cover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To buy in order to close a position you had shorted. It is the exit from a short.</a:t>
            </a:r>
          </a:p>
        </p:txBody>
      </p:sp>
      <p:sp>
        <p:nvSpPr>
          <p:cNvPr id="9" name="Rectangle 8"/>
          <p:cNvSpPr/>
          <p:nvPr/>
        </p:nvSpPr>
        <p:spPr>
          <a:xfrm>
            <a:off x="777240" y="3139567"/>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buy back those 1,000 shares at 610 pesos and return them. You have covered.</a:t>
            </a:r>
          </a:p>
        </p:txBody>
      </p:sp>
      <p:sp>
        <p:nvSpPr>
          <p:cNvPr id="11" name="Rectangle 10"/>
          <p:cNvSpPr/>
          <p:nvPr/>
        </p:nvSpPr>
        <p:spPr>
          <a:xfrm>
            <a:off x="777240" y="4020566"/>
            <a:ext cx="64008" cy="53352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3974846"/>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To cover means to buy to close a position previously shorted.</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23 of 26</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Covering: a buy that closes the short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24 of 26</a:t>
            </a:r>
          </a:p>
        </p:txBody>
      </p:sp>
      <p:sp>
        <p:nvSpPr>
          <p:cNvPr id="7" name="Rectangle 6"/>
          <p:cNvSpPr/>
          <p:nvPr/>
        </p:nvSpPr>
        <p:spPr>
          <a:xfrm>
            <a:off x="778611" y="1810512"/>
            <a:ext cx="10634472" cy="3749039"/>
          </a:xfrm>
          <a:prstGeom prst="rect">
            <a:avLst/>
          </a:prstGeom>
          <a:solidFill>
            <a:srgbClr val="FFFFFF"/>
          </a:solidFill>
          <a:ln w="12700">
            <a:solidFill>
              <a:srgbClr val="D7E0D9"/>
            </a:solidFill>
          </a:ln>
          <a:effectLst/>
        </p:spPr>
        <p:txBody>
          <a:bodyPr rtlCol="0" anchor="ctr"/>
          <a:lstStyle/>
          <a:p>
            <a:pPr algn="ctr"/>
          </a:p>
        </p:txBody>
      </p:sp>
      <p:pic>
        <p:nvPicPr>
          <p:cNvPr id="8" name="Picture 7" descr="chart-i.png"/>
          <p:cNvPicPr>
            <a:picLocks noChangeAspect="1"/>
          </p:cNvPicPr>
          <p:nvPr/>
        </p:nvPicPr>
        <p:blipFill>
          <a:blip r:embed="rId2"/>
          <a:stretch>
            <a:fillRect/>
          </a:stretch>
        </p:blipFill>
        <p:spPr>
          <a:xfrm>
            <a:off x="897483" y="1929384"/>
            <a:ext cx="10396728" cy="3511296"/>
          </a:xfrm>
          <a:prstGeom prst="rect">
            <a:avLst/>
          </a:prstGeom>
        </p:spPr>
      </p:pic>
      <p:sp>
        <p:nvSpPr>
          <p:cNvPr id="9" name="TextBox 8"/>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Chart I - FIN1209 teaching chart, drawn for this course. Illustrative data, not a real instrument.</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four ways a trade actually makes money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25 of 26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Long at a low price, liquidate at a higher price.</a:t>
            </a:r>
          </a:p>
          <a:p>
            <a:pPr algn="l">
              <a:lnSpc>
                <a:spcPct val="118000"/>
              </a:lnSpc>
              <a:spcBef>
                <a:spcPts val="0"/>
              </a:spcBef>
              <a:spcAft>
                <a:spcPts val="1300"/>
              </a:spcAft>
            </a:pPr>
            <a:r>
              <a:rPr sz="2100" b="0" i="0">
                <a:solidFill>
                  <a:srgbClr val="1A1A1A"/>
                </a:solidFill>
                <a:latin typeface="Arial"/>
              </a:rPr>
              <a:t>2.  Long at a high price, liquidate at an even higher price.</a:t>
            </a:r>
          </a:p>
          <a:p>
            <a:pPr algn="l">
              <a:lnSpc>
                <a:spcPct val="118000"/>
              </a:lnSpc>
              <a:spcBef>
                <a:spcPts val="0"/>
              </a:spcBef>
              <a:spcAft>
                <a:spcPts val="1300"/>
              </a:spcAft>
            </a:pPr>
            <a:r>
              <a:rPr sz="2100" b="0" i="0">
                <a:solidFill>
                  <a:srgbClr val="1A1A1A"/>
                </a:solidFill>
                <a:latin typeface="Arial"/>
              </a:rPr>
              <a:t>3.  Short at a high price, cover at a lower price.</a:t>
            </a:r>
          </a:p>
          <a:p>
            <a:pPr algn="l">
              <a:lnSpc>
                <a:spcPct val="118000"/>
              </a:lnSpc>
              <a:spcBef>
                <a:spcPts val="0"/>
              </a:spcBef>
              <a:spcAft>
                <a:spcPts val="1300"/>
              </a:spcAft>
            </a:pPr>
            <a:r>
              <a:rPr sz="2100" b="0" i="0">
                <a:solidFill>
                  <a:srgbClr val="1A1A1A"/>
                </a:solidFill>
                <a:latin typeface="Arial"/>
              </a:rPr>
              <a:t>4.  Short at a relatively low price, cover at an even lower price.</a:t>
            </a:r>
          </a:p>
        </p:txBody>
      </p:sp>
      <p:sp>
        <p:nvSpPr>
          <p:cNvPr id="8" name="Rectangle 7"/>
          <p:cNvSpPr/>
          <p:nvPr/>
        </p:nvSpPr>
        <p:spPr>
          <a:xfrm>
            <a:off x="777240" y="426719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Buy low, sell high is only scenario 1. Three other ways exist.</a:t>
            </a:r>
          </a:p>
        </p:txBody>
      </p:sp>
      <p:sp>
        <p:nvSpPr>
          <p:cNvPr id="10" name="TextBox 9"/>
          <p:cNvSpPr txBox="1"/>
          <p:nvPr/>
        </p:nvSpPr>
        <p:spPr>
          <a:xfrm>
            <a:off x="777240" y="4972557"/>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department's quiz has asked which of these count as buy low, sell high. Read them carefully.</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mechanics of profiting from a change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26 of 26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1.1</a:t>
            </a:r>
          </a:p>
          <a:p>
            <a:pPr algn="l">
              <a:lnSpc>
                <a:spcPct val="120000"/>
              </a:lnSpc>
              <a:spcBef>
                <a:spcPts val="0"/>
              </a:spcBef>
              <a:spcAft>
                <a:spcPts val="1800"/>
              </a:spcAft>
            </a:pPr>
            <a:r>
              <a:rPr sz="2200" b="0" i="0">
                <a:solidFill>
                  <a:srgbClr val="1A1A1A"/>
                </a:solidFill>
                <a:latin typeface="Palatino"/>
              </a:rPr>
              <a:t>The two ways to profit side by side: buy low then sell high, or sell high then buy back low, with the jargon and the demand or supply behind each.</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1.1 - Lim, The Handbook of Technical Analysis (Wiley, 2016)</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three motivational instincts, and why survival leads</a:t>
            </a:r>
          </a:p>
          <a:p>
            <a:pPr algn="l" marL="237744" indent="-237744">
              <a:lnSpc>
                <a:spcPct val="112000"/>
              </a:lnSpc>
              <a:spcBef>
                <a:spcPts val="0"/>
              </a:spcBef>
              <a:spcAft>
                <a:spcPts val="1200"/>
              </a:spcAft>
            </a:pPr>
            <a:r>
              <a:rPr sz="1800" b="0" i="0">
                <a:solidFill>
                  <a:srgbClr val="1A1A1A"/>
                </a:solidFill>
                <a:latin typeface="Arial"/>
              </a:rPr>
              <a:t>▪  Variable of change</a:t>
            </a:r>
          </a:p>
          <a:p>
            <a:pPr algn="l" marL="237744" indent="-237744">
              <a:lnSpc>
                <a:spcPct val="112000"/>
              </a:lnSpc>
              <a:spcBef>
                <a:spcPts val="0"/>
              </a:spcBef>
              <a:spcAft>
                <a:spcPts val="1200"/>
              </a:spcAft>
            </a:pPr>
            <a:r>
              <a:rPr sz="1800" b="0" i="0">
                <a:solidFill>
                  <a:srgbClr val="1A1A1A"/>
                </a:solidFill>
                <a:latin typeface="Arial"/>
              </a:rPr>
              <a:t>▪  Price</a:t>
            </a:r>
          </a:p>
          <a:p>
            <a:pPr algn="l" marL="237744" indent="-237744">
              <a:lnSpc>
                <a:spcPct val="112000"/>
              </a:lnSpc>
              <a:spcBef>
                <a:spcPts val="0"/>
              </a:spcBef>
              <a:spcAft>
                <a:spcPts val="1200"/>
              </a:spcAft>
            </a:pPr>
            <a:r>
              <a:rPr sz="1800" b="0" i="0">
                <a:solidFill>
                  <a:srgbClr val="1A1A1A"/>
                </a:solidFill>
                <a:latin typeface="Arial"/>
              </a:rPr>
              <a:t>▪  The buy low, sell high principle</a:t>
            </a:r>
          </a:p>
          <a:p>
            <a:pPr algn="l" marL="237744" indent="-237744">
              <a:lnSpc>
                <a:spcPct val="112000"/>
              </a:lnSpc>
              <a:spcBef>
                <a:spcPts val="0"/>
              </a:spcBef>
              <a:spcAft>
                <a:spcPts val="1200"/>
              </a:spcAft>
            </a:pPr>
            <a:r>
              <a:rPr sz="1800" b="0" i="0">
                <a:solidFill>
                  <a:srgbClr val="1A1A1A"/>
                </a:solidFill>
                <a:latin typeface="Arial"/>
              </a:rPr>
              <a:t>▪  The price-time chart</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dual function of technical analysis</a:t>
            </a:r>
          </a:p>
          <a:p>
            <a:pPr algn="l" marL="237744" indent="-237744">
              <a:lnSpc>
                <a:spcPct val="112000"/>
              </a:lnSpc>
              <a:spcBef>
                <a:spcPts val="0"/>
              </a:spcBef>
              <a:spcAft>
                <a:spcPts val="1200"/>
              </a:spcAft>
            </a:pPr>
            <a:r>
              <a:rPr sz="1800" b="0" i="0">
                <a:solidFill>
                  <a:srgbClr val="1A1A1A"/>
                </a:solidFill>
                <a:latin typeface="Arial"/>
              </a:rPr>
              <a:t>▪  Identification</a:t>
            </a:r>
          </a:p>
          <a:p>
            <a:pPr algn="l" marL="237744" indent="-237744">
              <a:lnSpc>
                <a:spcPct val="112000"/>
              </a:lnSpc>
              <a:spcBef>
                <a:spcPts val="0"/>
              </a:spcBef>
              <a:spcAft>
                <a:spcPts val="1200"/>
              </a:spcAft>
            </a:pPr>
            <a:r>
              <a:rPr sz="1800" b="0" i="0">
                <a:solidFill>
                  <a:srgbClr val="1A1A1A"/>
                </a:solidFill>
                <a:latin typeface="Arial"/>
              </a:rPr>
              <a:t>▪  Forecasting</a:t>
            </a:r>
          </a:p>
          <a:p>
            <a:pPr algn="l" marL="237744" indent="-237744">
              <a:lnSpc>
                <a:spcPct val="112000"/>
              </a:lnSpc>
              <a:spcBef>
                <a:spcPts val="0"/>
              </a:spcBef>
              <a:spcAft>
                <a:spcPts val="1200"/>
              </a:spcAft>
            </a:pPr>
            <a:r>
              <a:rPr sz="1800" b="0" i="0">
                <a:solidFill>
                  <a:srgbClr val="1A1A1A"/>
                </a:solidFill>
                <a:latin typeface="Arial"/>
              </a:rPr>
              <a:t>▪  To go long, and to liquidate</a:t>
            </a:r>
          </a:p>
          <a:p>
            <a:pPr algn="l" marL="237744" indent="-237744">
              <a:lnSpc>
                <a:spcPct val="112000"/>
              </a:lnSpc>
              <a:spcBef>
                <a:spcPts val="0"/>
              </a:spcBef>
              <a:spcAft>
                <a:spcPts val="1200"/>
              </a:spcAft>
            </a:pPr>
            <a:r>
              <a:rPr sz="1800" b="0" i="0">
                <a:solidFill>
                  <a:srgbClr val="1A1A1A"/>
                </a:solidFill>
                <a:latin typeface="Arial"/>
              </a:rPr>
              <a:t>▪  To go short, and to cover</a:t>
            </a:r>
          </a:p>
          <a:p>
            <a:pPr algn="l" marL="237744" indent="-237744">
              <a:lnSpc>
                <a:spcPct val="112000"/>
              </a:lnSpc>
              <a:spcBef>
                <a:spcPts val="0"/>
              </a:spcBef>
              <a:spcAft>
                <a:spcPts val="1200"/>
              </a:spcAft>
            </a:pPr>
            <a:r>
              <a:rPr sz="1800" b="0" i="0">
                <a:solidFill>
                  <a:srgbClr val="1A1A1A"/>
                </a:solidFill>
                <a:latin typeface="Arial"/>
              </a:rPr>
              <a:t>▪  The four profitable trade scenarios</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1 of 6 - Why we analyze  |  recap</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2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Three Ways to Forecast a Price</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Fundamental analysis, information analysis, and technical analysis.</a:t>
            </a:r>
          </a:p>
          <a:p>
            <a:pPr algn="l">
              <a:lnSpc>
                <a:spcPct val="115000"/>
              </a:lnSpc>
              <a:spcBef>
                <a:spcPts val="0"/>
              </a:spcBef>
              <a:spcAft>
                <a:spcPts val="1000"/>
              </a:spcAft>
            </a:pPr>
            <a:r>
              <a:rPr sz="1900" b="0" i="0">
                <a:solidFill>
                  <a:srgbClr val="FFFFFF"/>
                </a:solidFill>
                <a:latin typeface="Arial"/>
              </a:rPr>
              <a:t>Six definitions of technical analysis worth memorizing.</a:t>
            </a:r>
          </a:p>
          <a:p>
            <a:pPr algn="l">
              <a:lnSpc>
                <a:spcPct val="115000"/>
              </a:lnSpc>
              <a:spcBef>
                <a:spcPts val="0"/>
              </a:spcBef>
              <a:spcAft>
                <a:spcPts val="1000"/>
              </a:spcAft>
            </a:pPr>
            <a:r>
              <a:rPr sz="1900" b="0" i="0">
                <a:solidFill>
                  <a:srgbClr val="FFFFFF"/>
                </a:solidFill>
                <a:latin typeface="Arial"/>
              </a:rPr>
              <a:t>What each approach can and cannot tell you about timing.</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30 minutes</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Three approaches, one question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1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Fundamental analysis: what is this thing worth?</a:t>
            </a:r>
          </a:p>
          <a:p>
            <a:pPr algn="l">
              <a:lnSpc>
                <a:spcPct val="118000"/>
              </a:lnSpc>
              <a:spcBef>
                <a:spcPts val="0"/>
              </a:spcBef>
              <a:spcAft>
                <a:spcPts val="1300"/>
              </a:spcAft>
            </a:pPr>
            <a:r>
              <a:rPr sz="2100" b="0" i="0">
                <a:solidFill>
                  <a:srgbClr val="1A1A1A"/>
                </a:solidFill>
                <a:latin typeface="Arial"/>
              </a:rPr>
              <a:t>2.  Information analysis: what does the news say?</a:t>
            </a:r>
          </a:p>
          <a:p>
            <a:pPr algn="l">
              <a:lnSpc>
                <a:spcPct val="118000"/>
              </a:lnSpc>
              <a:spcBef>
                <a:spcPts val="0"/>
              </a:spcBef>
              <a:spcAft>
                <a:spcPts val="1300"/>
              </a:spcAft>
            </a:pPr>
            <a:r>
              <a:rPr sz="2100" b="0" i="0">
                <a:solidFill>
                  <a:srgbClr val="1A1A1A"/>
                </a:solidFill>
                <a:latin typeface="Arial"/>
              </a:rPr>
              <a:t>3.  Technical analysis: what is the market itself doing?</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All three are trying to answer the same question: where does price go next?</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three approaches on one page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2 of 30</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1.2</a:t>
            </a:r>
          </a:p>
          <a:p>
            <a:pPr algn="l">
              <a:lnSpc>
                <a:spcPct val="120000"/>
              </a:lnSpc>
              <a:spcBef>
                <a:spcPts val="0"/>
              </a:spcBef>
              <a:spcAft>
                <a:spcPts val="1800"/>
              </a:spcAft>
            </a:pPr>
            <a:r>
              <a:rPr sz="2200" b="0" i="0">
                <a:solidFill>
                  <a:srgbClr val="1A1A1A"/>
                </a:solidFill>
                <a:latin typeface="Palatino"/>
              </a:rPr>
              <a:t>Fundamental analysis using intrinsic value, technical analysis using price, volume and sentiment, information analysis using public and non-public information.</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1.2 - Lim, The Handbook of Technical Analysis (Wiley, 2016)</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Fundamental analysis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Working out what a company is really worth by reading its financial statements, then comparing that to the price.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read San Miguel's annual report, decide the business is worth 130 pesos a share, and see it trading at 98 pesos.</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Fundamental analysis estimates the value of a security from its financial performance and position, in order to judge whether the current price is justified.</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3 of 30</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Intrinsic value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What the security is genuinely worth once you account for everything the business owns, owes, and earns.</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Holdings, debt, earnings, dividends, income, balance sheet activity and cash flow, all reduced to one number per share.</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Intrinsic value is the worth of a security in light of all its holdings, debt, earnings, dividends, income, balance sheet activity, and cash flow.</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4 of 30</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Undervalued and overvalued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5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Price below intrinsic value means undervalued. Buyers should appear, creating demand.</a:t>
            </a:r>
          </a:p>
          <a:p>
            <a:pPr algn="l">
              <a:lnSpc>
                <a:spcPct val="118000"/>
              </a:lnSpc>
              <a:spcBef>
                <a:spcPts val="0"/>
              </a:spcBef>
              <a:spcAft>
                <a:spcPts val="1300"/>
              </a:spcAft>
            </a:pPr>
            <a:r>
              <a:rPr sz="2100" b="0" i="0">
                <a:solidFill>
                  <a:srgbClr val="1A1A1A"/>
                </a:solidFill>
                <a:latin typeface="Arial"/>
              </a:rPr>
              <a:t>Price above intrinsic value means overvalued. Sellers should appear, creating supply.</a:t>
            </a:r>
          </a:p>
        </p:txBody>
      </p:sp>
      <p:sp>
        <p:nvSpPr>
          <p:cNvPr id="8" name="Rectangle 7"/>
          <p:cNvSpPr/>
          <p:nvPr/>
        </p:nvSpPr>
        <p:spPr>
          <a:xfrm>
            <a:off x="777240" y="390143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93801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Undervalued means cheap relative to worth. It does not mean the price will rise today.</a:t>
            </a:r>
          </a:p>
        </p:txBody>
      </p:sp>
      <p:sp>
        <p:nvSpPr>
          <p:cNvPr id="10" name="TextBox 9"/>
          <p:cNvSpPr txBox="1"/>
          <p:nvPr/>
        </p:nvSpPr>
        <p:spPr>
          <a:xfrm>
            <a:off x="777240" y="4928107"/>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department's quiz has reversed this pair to catch inattentive students.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Undervalued: price below intrinsic value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6 of 30</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1.3</a:t>
            </a:r>
          </a:p>
          <a:p>
            <a:pPr algn="l">
              <a:lnSpc>
                <a:spcPct val="120000"/>
              </a:lnSpc>
              <a:spcBef>
                <a:spcPts val="0"/>
              </a:spcBef>
              <a:spcAft>
                <a:spcPts val="1800"/>
              </a:spcAft>
            </a:pPr>
            <a:r>
              <a:rPr sz="2200" b="0" i="0">
                <a:solidFill>
                  <a:srgbClr val="1A1A1A"/>
                </a:solidFill>
                <a:latin typeface="Palatino"/>
              </a:rPr>
              <a:t>Intrinsic value of 25 dollars against a current price of 20 dollars, so the stock is underpriced and the expected reaction is potential demand.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1.3 - Lim, The Handbook of Technical Analysis (Wiley, 2016)</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Overvalued: price above intrinsic value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7 of 30</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1.4</a:t>
            </a:r>
          </a:p>
          <a:p>
            <a:pPr algn="l">
              <a:lnSpc>
                <a:spcPct val="120000"/>
              </a:lnSpc>
              <a:spcBef>
                <a:spcPts val="0"/>
              </a:spcBef>
              <a:spcAft>
                <a:spcPts val="1800"/>
              </a:spcAft>
            </a:pPr>
            <a:r>
              <a:rPr sz="2200" b="0" i="0">
                <a:solidFill>
                  <a:srgbClr val="1A1A1A"/>
                </a:solidFill>
                <a:latin typeface="Palatino"/>
              </a:rPr>
              <a:t>The same diagram inverted: a current price of 25 dollars against intrinsic value of 20 dollars, so the stock is overpriced and the expected reaction is potential supply.</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1.4 - Lim, The Handbook of Technical Analysis (Wiley, 2016)</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How a fundamentalist turns accounts into a number</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8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Price to earnings, or P/E. Price to earnings growth, or PEG.</a:t>
            </a:r>
          </a:p>
          <a:p>
            <a:pPr algn="l">
              <a:lnSpc>
                <a:spcPct val="118000"/>
              </a:lnSpc>
              <a:spcBef>
                <a:spcPts val="0"/>
              </a:spcBef>
              <a:spcAft>
                <a:spcPts val="1300"/>
              </a:spcAft>
            </a:pPr>
            <a:r>
              <a:rPr sz="2100" b="0" i="0">
                <a:solidFill>
                  <a:srgbClr val="1A1A1A"/>
                </a:solidFill>
                <a:latin typeface="Arial"/>
              </a:rPr>
              <a:t>Price to book, and price to sales.</a:t>
            </a:r>
          </a:p>
          <a:p>
            <a:pPr algn="l">
              <a:lnSpc>
                <a:spcPct val="118000"/>
              </a:lnSpc>
              <a:spcBef>
                <a:spcPts val="0"/>
              </a:spcBef>
              <a:spcAft>
                <a:spcPts val="1300"/>
              </a:spcAft>
            </a:pPr>
            <a:r>
              <a:rPr sz="2100" b="0" i="0">
                <a:solidFill>
                  <a:srgbClr val="1A1A1A"/>
                </a:solidFill>
                <a:latin typeface="Arial"/>
              </a:rPr>
              <a:t>Debt to equity, and earnings per share.</a:t>
            </a:r>
          </a:p>
          <a:p>
            <a:pPr algn="l">
              <a:lnSpc>
                <a:spcPct val="118000"/>
              </a:lnSpc>
              <a:spcBef>
                <a:spcPts val="0"/>
              </a:spcBef>
              <a:spcAft>
                <a:spcPts val="1300"/>
              </a:spcAft>
            </a:pPr>
            <a:r>
              <a:rPr sz="2100" b="0" i="0">
                <a:solidFill>
                  <a:srgbClr val="1A1A1A"/>
                </a:solidFill>
                <a:latin typeface="Arial"/>
              </a:rPr>
              <a:t>Asset pricing models like the capital asset pricing model, or CAPM.</a:t>
            </a:r>
          </a:p>
          <a:p>
            <a:pPr algn="l">
              <a:lnSpc>
                <a:spcPct val="118000"/>
              </a:lnSpc>
              <a:spcBef>
                <a:spcPts val="0"/>
              </a:spcBef>
              <a:spcAft>
                <a:spcPts val="1300"/>
              </a:spcAft>
            </a:pPr>
            <a:r>
              <a:rPr sz="2100" b="0" i="0">
                <a:solidFill>
                  <a:srgbClr val="1A1A1A"/>
                </a:solidFill>
                <a:latin typeface="Arial"/>
              </a:rPr>
              <a:t>CAPM seeks the best balance between risk and expected returns over a risk free rate.</a:t>
            </a:r>
          </a:p>
        </p:txBody>
      </p:sp>
      <p:sp>
        <p:nvSpPr>
          <p:cNvPr id="8" name="Rectangle 7"/>
          <p:cNvSpPr/>
          <p:nvPr/>
        </p:nvSpPr>
        <p:spPr>
          <a:xfrm>
            <a:off x="777240" y="5079492"/>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116068"/>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None of this tells you what to do at 9:31 tomorrow morning.</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top-down approach</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Start with the big picture, then narrow down. Pick the strong sector first, then the best company inside it.</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decide banking will do well this year, then you compare BDO, BPI and Metrobank.</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top-down approach studies broad market factors and sector rotation models in order to select stocks within a strengthening industry or sector.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9 of 30</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bottom-up approach</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Start with the company. If the business is excellent, you buy it whatever the sector is doing.</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like one shipping firm's balance sheet and buy it even though shipping as a whole is weak.</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bottom-up approach relies primarily on a specific company's own fundamental performance rather than on sector or market conditions.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10 of 30</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Where fundamental analysis runs out of road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11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Accounts can be dressed up, misreported, or outright falsified.</a:t>
            </a:r>
          </a:p>
          <a:p>
            <a:pPr algn="l">
              <a:lnSpc>
                <a:spcPct val="118000"/>
              </a:lnSpc>
              <a:spcBef>
                <a:spcPts val="0"/>
              </a:spcBef>
              <a:spcAft>
                <a:spcPts val="1300"/>
              </a:spcAft>
            </a:pPr>
            <a:r>
              <a:rPr sz="2100" b="0" i="0">
                <a:solidFill>
                  <a:srgbClr val="1A1A1A"/>
                </a:solidFill>
                <a:latin typeface="Arial"/>
              </a:rPr>
              <a:t>By the time an audited report is published, the information is already old.</a:t>
            </a:r>
          </a:p>
          <a:p>
            <a:pPr algn="l">
              <a:lnSpc>
                <a:spcPct val="118000"/>
              </a:lnSpc>
              <a:spcBef>
                <a:spcPts val="0"/>
              </a:spcBef>
              <a:spcAft>
                <a:spcPts val="1300"/>
              </a:spcAft>
            </a:pPr>
            <a:r>
              <a:rPr sz="2100" b="0" i="0">
                <a:solidFill>
                  <a:srgbClr val="1A1A1A"/>
                </a:solidFill>
                <a:latin typeface="Arial"/>
              </a:rPr>
              <a:t>It never gives you a precise price or a precise moment to act.</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Fundamental data suits long term investment. It is poor at short term timing.</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When a policy decision becomes a price level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12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Interest rate announcements and central bank policy move supply and demand too.</a:t>
            </a:r>
          </a:p>
          <a:p>
            <a:pPr algn="l">
              <a:lnSpc>
                <a:spcPct val="118000"/>
              </a:lnSpc>
              <a:spcBef>
                <a:spcPts val="0"/>
              </a:spcBef>
              <a:spcAft>
                <a:spcPts val="1300"/>
              </a:spcAft>
            </a:pPr>
            <a:r>
              <a:rPr sz="2100" b="0" i="0">
                <a:solidFill>
                  <a:srgbClr val="1A1A1A"/>
                </a:solidFill>
                <a:latin typeface="Arial"/>
              </a:rPr>
              <a:t>The Swiss National Bank held a ceiling on the franc: EURCHF at or above 1.2000.</a:t>
            </a:r>
          </a:p>
          <a:p>
            <a:pPr algn="l">
              <a:lnSpc>
                <a:spcPct val="118000"/>
              </a:lnSpc>
              <a:spcBef>
                <a:spcPts val="0"/>
              </a:spcBef>
              <a:spcAft>
                <a:spcPts val="1300"/>
              </a:spcAft>
            </a:pPr>
            <a:r>
              <a:rPr sz="2100" b="0" i="0">
                <a:solidFill>
                  <a:srgbClr val="1A1A1A"/>
                </a:solidFill>
                <a:latin typeface="Arial"/>
              </a:rPr>
              <a:t>That decision created a technical demand for the euro right at 1.2000.</a:t>
            </a:r>
          </a:p>
          <a:p>
            <a:pPr algn="l">
              <a:lnSpc>
                <a:spcPct val="118000"/>
              </a:lnSpc>
              <a:spcBef>
                <a:spcPts val="0"/>
              </a:spcBef>
              <a:spcAft>
                <a:spcPts val="1300"/>
              </a:spcAft>
            </a:pPr>
            <a:r>
              <a:rPr sz="2100" b="0" i="0">
                <a:solidFill>
                  <a:srgbClr val="1A1A1A"/>
                </a:solidFill>
                <a:latin typeface="Arial"/>
              </a:rPr>
              <a:t>Traders bought each time the rate neared it, with stops a reasonable distance below.</a:t>
            </a:r>
          </a:p>
        </p:txBody>
      </p:sp>
      <p:sp>
        <p:nvSpPr>
          <p:cNvPr id="8" name="Rectangle 7"/>
          <p:cNvSpPr/>
          <p:nvPr/>
        </p:nvSpPr>
        <p:spPr>
          <a:xfrm>
            <a:off x="777240" y="4581905"/>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18481"/>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 policy decision, read off a chart as a price level.</a:t>
            </a:r>
          </a:p>
        </p:txBody>
      </p:sp>
      <p:sp>
        <p:nvSpPr>
          <p:cNvPr id="10" name="TextBox 9"/>
          <p:cNvSpPr txBox="1"/>
          <p:nvPr/>
        </p:nvSpPr>
        <p:spPr>
          <a:xfrm>
            <a:off x="777240" y="528726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ceiling holds only for as long as the bank defends it.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ceiling, drawn as a line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13 of 30</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1.5</a:t>
            </a:r>
          </a:p>
          <a:p>
            <a:pPr algn="l">
              <a:lnSpc>
                <a:spcPct val="120000"/>
              </a:lnSpc>
              <a:spcBef>
                <a:spcPts val="0"/>
              </a:spcBef>
              <a:spcAft>
                <a:spcPts val="1800"/>
              </a:spcAft>
            </a:pPr>
            <a:r>
              <a:rPr sz="2200" b="0" i="0">
                <a:solidFill>
                  <a:srgbClr val="1A1A1A"/>
                </a:solidFill>
                <a:latin typeface="Palatino"/>
              </a:rPr>
              <a:t>A long term EURCHF chart with a horizontal line at 1.2000 labeled the SNB exchange rate ceiling on the CHF, and the shaded period from September 2011 in which price sits above that line.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1.5 - Lim, The Handbook of Technical Analysis (Wiley, 2016)</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Information analysis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Forecasting from what you read: newspapers, bulletins, online reports, company announcements.</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quarterly result beats expectations, so you expect the share to open higher tomorrow.</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Information analysis forms an opinion about potential market action from information gleaned from public sources.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14 of 30</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public information is usually late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15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Those with non-public material information have already moved the market.</a:t>
            </a:r>
          </a:p>
          <a:p>
            <a:pPr algn="l">
              <a:lnSpc>
                <a:spcPct val="118000"/>
              </a:lnSpc>
              <a:spcBef>
                <a:spcPts val="0"/>
              </a:spcBef>
              <a:spcAft>
                <a:spcPts val="1300"/>
              </a:spcAft>
            </a:pPr>
            <a:r>
              <a:rPr sz="2100" b="0" i="0">
                <a:solidFill>
                  <a:srgbClr val="1A1A1A"/>
                </a:solidFill>
                <a:latin typeface="Arial"/>
              </a:rPr>
              <a:t>By the time it is public, only an inconsequential amount of the move is left.</a:t>
            </a:r>
          </a:p>
          <a:p>
            <a:pPr algn="l">
              <a:lnSpc>
                <a:spcPct val="118000"/>
              </a:lnSpc>
              <a:spcBef>
                <a:spcPts val="0"/>
              </a:spcBef>
              <a:spcAft>
                <a:spcPts val="1300"/>
              </a:spcAft>
            </a:pPr>
            <a:r>
              <a:rPr sz="2100" b="0" i="0">
                <a:solidFill>
                  <a:srgbClr val="1A1A1A"/>
                </a:solidFill>
                <a:latin typeface="Arial"/>
              </a:rPr>
              <a:t>Acting on non-public material information is insider trading, and it is illegal.</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technical analyst sees the move on the chart and acts, without waiting for the reason.</a:t>
            </a:r>
          </a:p>
        </p:txBody>
      </p:sp>
      <p:sp>
        <p:nvSpPr>
          <p:cNvPr id="10" name="TextBox 9"/>
          <p:cNvSpPr txBox="1"/>
          <p:nvPr/>
        </p:nvSpPr>
        <p:spPr>
          <a:xfrm>
            <a:off x="777240" y="5110988"/>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In unregulated over the counter markets, brokers front running large client orders is the same problem wearing a different name.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Technical analysis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Reading the market's own behavior, mainly price, volume and open interest, to work out what it is likely to do next.</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do not know why the buyers came. You only know they came at 250 pesos, three times.</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Technical analysis is the identification and forecasting of potential market behavior based largely on the action and dynamics of the market itself.</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16 of 30</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1325880"/>
            <a:ext cx="109728" cy="171323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818181"/>
                </a:solidFill>
                <a:latin typeface="Arial"/>
              </a:rPr>
              <a:t>A definition worth writing down</a:t>
            </a:r>
          </a:p>
        </p:txBody>
      </p:sp>
      <p:sp>
        <p:nvSpPr>
          <p:cNvPr id="6" name="TextBox 5"/>
          <p:cNvSpPr txBox="1"/>
          <p:nvPr/>
        </p:nvSpPr>
        <p:spPr>
          <a:xfrm>
            <a:off x="1161288" y="1371600"/>
            <a:ext cx="10253167" cy="1713230"/>
          </a:xfrm>
          <a:prstGeom prst="rect">
            <a:avLst/>
          </a:prstGeom>
          <a:noFill/>
        </p:spPr>
        <p:txBody>
          <a:bodyPr wrap="square" anchor="t" lIns="0" rIns="0" tIns="0" bIns="0">
            <a:spAutoFit/>
          </a:bodyPr>
          <a:lstStyle/>
          <a:p>
            <a:pPr algn="l">
              <a:lnSpc>
                <a:spcPct val="120000"/>
              </a:lnSpc>
              <a:spcBef>
                <a:spcPts val="0"/>
              </a:spcBef>
              <a:spcAft>
                <a:spcPts val="0"/>
              </a:spcAft>
            </a:pPr>
            <a:r>
              <a:rPr sz="2500" b="0" i="0">
                <a:solidFill>
                  <a:srgbClr val="1A1A1A"/>
                </a:solidFill>
                <a:latin typeface="Palatino"/>
              </a:rPr>
              <a:t>"Technical analysis is the study of market action, primarily through the use of charts, for the purpose of forecasting future price trends."</a:t>
            </a:r>
          </a:p>
          <a:p>
            <a:pPr algn="l">
              <a:lnSpc>
                <a:spcPct val="100000"/>
              </a:lnSpc>
              <a:spcBef>
                <a:spcPts val="1400"/>
              </a:spcBef>
              <a:spcAft>
                <a:spcPts val="0"/>
              </a:spcAft>
            </a:pPr>
            <a:r>
              <a:rPr sz="1400" b="0" i="0">
                <a:solidFill>
                  <a:srgbClr val="818181"/>
                </a:solidFill>
                <a:latin typeface="Arial"/>
              </a:rPr>
              <a:t>John Murphy, Technical Analysis of the Financial Markets (NYIF, 1999)</a:t>
            </a:r>
          </a:p>
        </p:txBody>
      </p:sp>
      <p:sp>
        <p:nvSpPr>
          <p:cNvPr id="7" name="TextBox 6"/>
          <p:cNvSpPr txBox="1"/>
          <p:nvPr/>
        </p:nvSpPr>
        <p:spPr>
          <a:xfrm>
            <a:off x="777240" y="3404870"/>
            <a:ext cx="10637215" cy="128016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818181"/>
                </a:solidFill>
                <a:latin typeface="Arial"/>
              </a:rPr>
              <a:t>What it tells us</a:t>
            </a:r>
          </a:p>
          <a:p>
            <a:pPr algn="l">
              <a:lnSpc>
                <a:spcPct val="115000"/>
              </a:lnSpc>
              <a:spcBef>
                <a:spcPts val="0"/>
              </a:spcBef>
              <a:spcAft>
                <a:spcPts val="0"/>
              </a:spcAft>
            </a:pPr>
            <a:r>
              <a:rPr sz="2100" b="1" i="0">
                <a:solidFill>
                  <a:srgbClr val="007A33"/>
                </a:solidFill>
                <a:latin typeface="Arial"/>
              </a:rPr>
              <a:t>Charting is the main tool, and the target is future price trends.</a:t>
            </a:r>
          </a:p>
        </p:txBody>
      </p:sp>
      <p:sp>
        <p:nvSpPr>
          <p:cNvPr id="8" name="TextBox 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17 of 30</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1325880"/>
            <a:ext cx="109728" cy="171323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818181"/>
                </a:solidFill>
                <a:latin typeface="Arial"/>
              </a:rPr>
              <a:t>A definition worth writing down</a:t>
            </a:r>
          </a:p>
        </p:txBody>
      </p:sp>
      <p:sp>
        <p:nvSpPr>
          <p:cNvPr id="6" name="TextBox 5"/>
          <p:cNvSpPr txBox="1"/>
          <p:nvPr/>
        </p:nvSpPr>
        <p:spPr>
          <a:xfrm>
            <a:off x="1161288" y="1371600"/>
            <a:ext cx="10253167" cy="1713230"/>
          </a:xfrm>
          <a:prstGeom prst="rect">
            <a:avLst/>
          </a:prstGeom>
          <a:noFill/>
        </p:spPr>
        <p:txBody>
          <a:bodyPr wrap="square" anchor="t" lIns="0" rIns="0" tIns="0" bIns="0">
            <a:spAutoFit/>
          </a:bodyPr>
          <a:lstStyle/>
          <a:p>
            <a:pPr algn="l">
              <a:lnSpc>
                <a:spcPct val="120000"/>
              </a:lnSpc>
              <a:spcBef>
                <a:spcPts val="0"/>
              </a:spcBef>
              <a:spcAft>
                <a:spcPts val="0"/>
              </a:spcAft>
            </a:pPr>
            <a:r>
              <a:rPr sz="2500" b="0" i="0">
                <a:solidFill>
                  <a:srgbClr val="1A1A1A"/>
                </a:solidFill>
                <a:latin typeface="Palatino"/>
              </a:rPr>
              <a:t>"Technical analysis is the science of recording, usually in graphic form, the actual history of trading ... then deducing from that pictured history the probable future trend."</a:t>
            </a:r>
          </a:p>
          <a:p>
            <a:pPr algn="l">
              <a:lnSpc>
                <a:spcPct val="100000"/>
              </a:lnSpc>
              <a:spcBef>
                <a:spcPts val="1400"/>
              </a:spcBef>
              <a:spcAft>
                <a:spcPts val="0"/>
              </a:spcAft>
            </a:pPr>
            <a:r>
              <a:rPr sz="1400" b="0" i="0">
                <a:solidFill>
                  <a:srgbClr val="818181"/>
                </a:solidFill>
                <a:latin typeface="Arial"/>
              </a:rPr>
              <a:t>Edwards and Magee, Technical Analysis of Stock Trends (AMACOM, 2007)</a:t>
            </a:r>
          </a:p>
        </p:txBody>
      </p:sp>
      <p:sp>
        <p:nvSpPr>
          <p:cNvPr id="7" name="TextBox 6"/>
          <p:cNvSpPr txBox="1"/>
          <p:nvPr/>
        </p:nvSpPr>
        <p:spPr>
          <a:xfrm>
            <a:off x="777240" y="3404870"/>
            <a:ext cx="10637215" cy="128016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818181"/>
                </a:solidFill>
                <a:latin typeface="Arial"/>
              </a:rPr>
              <a:t>What it tells us</a:t>
            </a:r>
          </a:p>
          <a:p>
            <a:pPr algn="l">
              <a:lnSpc>
                <a:spcPct val="115000"/>
              </a:lnSpc>
              <a:spcBef>
                <a:spcPts val="0"/>
              </a:spcBef>
              <a:spcAft>
                <a:spcPts val="0"/>
              </a:spcAft>
            </a:pPr>
            <a:r>
              <a:rPr sz="2100" b="1" i="0">
                <a:solidFill>
                  <a:srgbClr val="007A33"/>
                </a:solidFill>
                <a:latin typeface="Arial"/>
              </a:rPr>
              <a:t>Past information, recorded as a picture, is what the forecast is built from.</a:t>
            </a:r>
          </a:p>
        </p:txBody>
      </p:sp>
      <p:sp>
        <p:nvSpPr>
          <p:cNvPr id="8" name="TextBox 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18 of 30</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1325880"/>
            <a:ext cx="109728" cy="133223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818181"/>
                </a:solidFill>
                <a:latin typeface="Arial"/>
              </a:rPr>
              <a:t>A definition worth writing down</a:t>
            </a:r>
          </a:p>
        </p:txBody>
      </p:sp>
      <p:sp>
        <p:nvSpPr>
          <p:cNvPr id="6" name="TextBox 5"/>
          <p:cNvSpPr txBox="1"/>
          <p:nvPr/>
        </p:nvSpPr>
        <p:spPr>
          <a:xfrm>
            <a:off x="1161288" y="1371600"/>
            <a:ext cx="10253167" cy="1332230"/>
          </a:xfrm>
          <a:prstGeom prst="rect">
            <a:avLst/>
          </a:prstGeom>
          <a:noFill/>
        </p:spPr>
        <p:txBody>
          <a:bodyPr wrap="square" anchor="t" lIns="0" rIns="0" tIns="0" bIns="0">
            <a:spAutoFit/>
          </a:bodyPr>
          <a:lstStyle/>
          <a:p>
            <a:pPr algn="l">
              <a:lnSpc>
                <a:spcPct val="120000"/>
              </a:lnSpc>
              <a:spcBef>
                <a:spcPts val="0"/>
              </a:spcBef>
              <a:spcAft>
                <a:spcPts val="0"/>
              </a:spcAft>
            </a:pPr>
            <a:r>
              <a:rPr sz="2500" b="0" i="0">
                <a:solidFill>
                  <a:srgbClr val="1A1A1A"/>
                </a:solidFill>
                <a:latin typeface="Palatino"/>
              </a:rPr>
              <a:t>"It refers to the study of the action of the market itself as opposed to the study of the goods in which the market deals."</a:t>
            </a:r>
          </a:p>
          <a:p>
            <a:pPr algn="l">
              <a:lnSpc>
                <a:spcPct val="100000"/>
              </a:lnSpc>
              <a:spcBef>
                <a:spcPts val="1400"/>
              </a:spcBef>
              <a:spcAft>
                <a:spcPts val="0"/>
              </a:spcAft>
            </a:pPr>
            <a:r>
              <a:rPr sz="1400" b="0" i="0">
                <a:solidFill>
                  <a:srgbClr val="818181"/>
                </a:solidFill>
                <a:latin typeface="Arial"/>
              </a:rPr>
              <a:t>Edwards and Magee, Technical Analysis of Stock Trends (AMACOM, 2007)</a:t>
            </a:r>
          </a:p>
        </p:txBody>
      </p:sp>
      <p:sp>
        <p:nvSpPr>
          <p:cNvPr id="7" name="TextBox 6"/>
          <p:cNvSpPr txBox="1"/>
          <p:nvPr/>
        </p:nvSpPr>
        <p:spPr>
          <a:xfrm>
            <a:off x="777240" y="3023870"/>
            <a:ext cx="10637215" cy="128016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818181"/>
                </a:solidFill>
                <a:latin typeface="Arial"/>
              </a:rPr>
              <a:t>What it tells us</a:t>
            </a:r>
          </a:p>
          <a:p>
            <a:pPr algn="l">
              <a:lnSpc>
                <a:spcPct val="115000"/>
              </a:lnSpc>
              <a:spcBef>
                <a:spcPts val="0"/>
              </a:spcBef>
              <a:spcAft>
                <a:spcPts val="0"/>
              </a:spcAft>
            </a:pPr>
            <a:r>
              <a:rPr sz="2100" b="1" i="0">
                <a:solidFill>
                  <a:srgbClr val="007A33"/>
                </a:solidFill>
                <a:latin typeface="Arial"/>
              </a:rPr>
              <a:t>You study the market, not the product the market trades.</a:t>
            </a:r>
          </a:p>
        </p:txBody>
      </p:sp>
      <p:sp>
        <p:nvSpPr>
          <p:cNvPr id="8" name="TextBox 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19 of 30</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1325880"/>
            <a:ext cx="109728" cy="209423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818181"/>
                </a:solidFill>
                <a:latin typeface="Arial"/>
              </a:rPr>
              <a:t>A definition worth writing down</a:t>
            </a:r>
          </a:p>
        </p:txBody>
      </p:sp>
      <p:sp>
        <p:nvSpPr>
          <p:cNvPr id="6" name="TextBox 5"/>
          <p:cNvSpPr txBox="1"/>
          <p:nvPr/>
        </p:nvSpPr>
        <p:spPr>
          <a:xfrm>
            <a:off x="1161288" y="1371600"/>
            <a:ext cx="10253167" cy="2094230"/>
          </a:xfrm>
          <a:prstGeom prst="rect">
            <a:avLst/>
          </a:prstGeom>
          <a:noFill/>
        </p:spPr>
        <p:txBody>
          <a:bodyPr wrap="square" anchor="t" lIns="0" rIns="0" tIns="0" bIns="0">
            <a:spAutoFit/>
          </a:bodyPr>
          <a:lstStyle/>
          <a:p>
            <a:pPr algn="l">
              <a:lnSpc>
                <a:spcPct val="120000"/>
              </a:lnSpc>
              <a:spcBef>
                <a:spcPts val="0"/>
              </a:spcBef>
              <a:spcAft>
                <a:spcPts val="0"/>
              </a:spcAft>
            </a:pPr>
            <a:r>
              <a:rPr sz="2500" b="0" i="0">
                <a:solidFill>
                  <a:srgbClr val="1A1A1A"/>
                </a:solidFill>
                <a:latin typeface="Palatino"/>
              </a:rPr>
              <a:t>"The art of technical analysis, for it is an art, is to identify a trend reversal at a relatively early stage and ride on that trend until the weight of the evidence shows or proves that the trend has reversed."</a:t>
            </a:r>
          </a:p>
          <a:p>
            <a:pPr algn="l">
              <a:lnSpc>
                <a:spcPct val="100000"/>
              </a:lnSpc>
              <a:spcBef>
                <a:spcPts val="1400"/>
              </a:spcBef>
              <a:spcAft>
                <a:spcPts val="0"/>
              </a:spcAft>
            </a:pPr>
            <a:r>
              <a:rPr sz="1400" b="0" i="0">
                <a:solidFill>
                  <a:srgbClr val="818181"/>
                </a:solidFill>
                <a:latin typeface="Arial"/>
              </a:rPr>
              <a:t>Martin Pring, Technical Analysis Explained, 4th Edition (McGraw-Hill, 2002)</a:t>
            </a:r>
          </a:p>
        </p:txBody>
      </p:sp>
      <p:sp>
        <p:nvSpPr>
          <p:cNvPr id="7" name="TextBox 6"/>
          <p:cNvSpPr txBox="1"/>
          <p:nvPr/>
        </p:nvSpPr>
        <p:spPr>
          <a:xfrm>
            <a:off x="777240" y="3785870"/>
            <a:ext cx="10637215" cy="128016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818181"/>
                </a:solidFill>
                <a:latin typeface="Arial"/>
              </a:rPr>
              <a:t>What it tells us</a:t>
            </a:r>
          </a:p>
          <a:p>
            <a:pPr algn="l">
              <a:lnSpc>
                <a:spcPct val="115000"/>
              </a:lnSpc>
              <a:spcBef>
                <a:spcPts val="0"/>
              </a:spcBef>
              <a:spcAft>
                <a:spcPts val="0"/>
              </a:spcAft>
            </a:pPr>
            <a:r>
              <a:rPr sz="2100" b="1" i="0">
                <a:solidFill>
                  <a:srgbClr val="007A33"/>
                </a:solidFill>
                <a:latin typeface="Arial"/>
              </a:rPr>
              <a:t>The goal is to catch a reversal early, and then to stay until the evidence turns.</a:t>
            </a:r>
          </a:p>
        </p:txBody>
      </p:sp>
      <p:sp>
        <p:nvSpPr>
          <p:cNvPr id="8" name="TextBox 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20 of 30</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1325880"/>
            <a:ext cx="109728" cy="133223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818181"/>
                </a:solidFill>
                <a:latin typeface="Arial"/>
              </a:rPr>
              <a:t>A definition worth writing down</a:t>
            </a:r>
          </a:p>
        </p:txBody>
      </p:sp>
      <p:sp>
        <p:nvSpPr>
          <p:cNvPr id="6" name="TextBox 5"/>
          <p:cNvSpPr txBox="1"/>
          <p:nvPr/>
        </p:nvSpPr>
        <p:spPr>
          <a:xfrm>
            <a:off x="1161288" y="1371600"/>
            <a:ext cx="10253167" cy="1332230"/>
          </a:xfrm>
          <a:prstGeom prst="rect">
            <a:avLst/>
          </a:prstGeom>
          <a:noFill/>
        </p:spPr>
        <p:txBody>
          <a:bodyPr wrap="square" anchor="t" lIns="0" rIns="0" tIns="0" bIns="0">
            <a:spAutoFit/>
          </a:bodyPr>
          <a:lstStyle/>
          <a:p>
            <a:pPr algn="l">
              <a:lnSpc>
                <a:spcPct val="120000"/>
              </a:lnSpc>
              <a:spcBef>
                <a:spcPts val="0"/>
              </a:spcBef>
              <a:spcAft>
                <a:spcPts val="0"/>
              </a:spcAft>
            </a:pPr>
            <a:r>
              <a:rPr sz="2500" b="0" i="0">
                <a:solidFill>
                  <a:srgbClr val="1A1A1A"/>
                </a:solidFill>
                <a:latin typeface="Palatino"/>
              </a:rPr>
              <a:t>"Technical analysis deals in probabilities, never in certainties."</a:t>
            </a:r>
          </a:p>
          <a:p>
            <a:pPr algn="l">
              <a:lnSpc>
                <a:spcPct val="100000"/>
              </a:lnSpc>
              <a:spcBef>
                <a:spcPts val="1400"/>
              </a:spcBef>
              <a:spcAft>
                <a:spcPts val="0"/>
              </a:spcAft>
            </a:pPr>
            <a:r>
              <a:rPr sz="1400" b="0" i="0">
                <a:solidFill>
                  <a:srgbClr val="818181"/>
                </a:solidFill>
                <a:latin typeface="Arial"/>
              </a:rPr>
              <a:t>Martin Pring, Technical Analysis Explained, 4th Edition (McGraw-Hill, 2002)</a:t>
            </a:r>
          </a:p>
        </p:txBody>
      </p:sp>
      <p:sp>
        <p:nvSpPr>
          <p:cNvPr id="7" name="TextBox 6"/>
          <p:cNvSpPr txBox="1"/>
          <p:nvPr/>
        </p:nvSpPr>
        <p:spPr>
          <a:xfrm>
            <a:off x="777240" y="3023870"/>
            <a:ext cx="10637215" cy="128016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818181"/>
                </a:solidFill>
                <a:latin typeface="Arial"/>
              </a:rPr>
              <a:t>What it tells us</a:t>
            </a:r>
          </a:p>
          <a:p>
            <a:pPr algn="l">
              <a:lnSpc>
                <a:spcPct val="115000"/>
              </a:lnSpc>
              <a:spcBef>
                <a:spcPts val="0"/>
              </a:spcBef>
              <a:spcAft>
                <a:spcPts val="0"/>
              </a:spcAft>
            </a:pPr>
            <a:r>
              <a:rPr sz="2100" b="1" i="0">
                <a:solidFill>
                  <a:srgbClr val="007A33"/>
                </a:solidFill>
                <a:latin typeface="Arial"/>
              </a:rPr>
              <a:t>This is the definition that keeps you solvent. Weigh risk against return, every time.</a:t>
            </a:r>
          </a:p>
        </p:txBody>
      </p:sp>
      <p:sp>
        <p:nvSpPr>
          <p:cNvPr id="8" name="TextBox 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21 of 30</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1325880"/>
            <a:ext cx="109728" cy="133223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818181"/>
                </a:solidFill>
                <a:latin typeface="Arial"/>
              </a:rPr>
              <a:t>A definition worth writing down</a:t>
            </a:r>
          </a:p>
        </p:txBody>
      </p:sp>
      <p:sp>
        <p:nvSpPr>
          <p:cNvPr id="6" name="TextBox 5"/>
          <p:cNvSpPr txBox="1"/>
          <p:nvPr/>
        </p:nvSpPr>
        <p:spPr>
          <a:xfrm>
            <a:off x="1161288" y="1371600"/>
            <a:ext cx="10253167" cy="1332230"/>
          </a:xfrm>
          <a:prstGeom prst="rect">
            <a:avLst/>
          </a:prstGeom>
          <a:noFill/>
        </p:spPr>
        <p:txBody>
          <a:bodyPr wrap="square" anchor="t" lIns="0" rIns="0" tIns="0" bIns="0">
            <a:spAutoFit/>
          </a:bodyPr>
          <a:lstStyle/>
          <a:p>
            <a:pPr algn="l">
              <a:lnSpc>
                <a:spcPct val="120000"/>
              </a:lnSpc>
              <a:spcBef>
                <a:spcPts val="0"/>
              </a:spcBef>
              <a:spcAft>
                <a:spcPts val="0"/>
              </a:spcAft>
            </a:pPr>
            <a:r>
              <a:rPr sz="2500" b="0" i="0">
                <a:solidFill>
                  <a:srgbClr val="1A1A1A"/>
                </a:solidFill>
                <a:latin typeface="Palatino"/>
              </a:rPr>
              <a:t>"Technical analysis is based on the assumption that people will continue to make the same mistakes they have made in the past."</a:t>
            </a:r>
          </a:p>
          <a:p>
            <a:pPr algn="l">
              <a:lnSpc>
                <a:spcPct val="100000"/>
              </a:lnSpc>
              <a:spcBef>
                <a:spcPts val="1400"/>
              </a:spcBef>
              <a:spcAft>
                <a:spcPts val="0"/>
              </a:spcAft>
            </a:pPr>
            <a:r>
              <a:rPr sz="1400" b="0" i="0">
                <a:solidFill>
                  <a:srgbClr val="818181"/>
                </a:solidFill>
                <a:latin typeface="Arial"/>
              </a:rPr>
              <a:t>Martin Pring, Technical Analysis Explained, 4th Edition (McGraw-Hill, 2002)</a:t>
            </a:r>
          </a:p>
        </p:txBody>
      </p:sp>
      <p:sp>
        <p:nvSpPr>
          <p:cNvPr id="7" name="TextBox 6"/>
          <p:cNvSpPr txBox="1"/>
          <p:nvPr/>
        </p:nvSpPr>
        <p:spPr>
          <a:xfrm>
            <a:off x="777240" y="3023870"/>
            <a:ext cx="10637215" cy="128016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818181"/>
                </a:solidFill>
                <a:latin typeface="Arial"/>
              </a:rPr>
              <a:t>What it tells us</a:t>
            </a:r>
          </a:p>
          <a:p>
            <a:pPr algn="l">
              <a:lnSpc>
                <a:spcPct val="115000"/>
              </a:lnSpc>
              <a:spcBef>
                <a:spcPts val="0"/>
              </a:spcBef>
              <a:spcAft>
                <a:spcPts val="0"/>
              </a:spcAft>
            </a:pPr>
            <a:r>
              <a:rPr sz="2100" b="1" i="0">
                <a:solidFill>
                  <a:srgbClr val="007A33"/>
                </a:solidFill>
                <a:latin typeface="Arial"/>
              </a:rPr>
              <a:t>This is the behavioral reason the whole subject works at all.</a:t>
            </a:r>
          </a:p>
        </p:txBody>
      </p:sp>
      <p:sp>
        <p:nvSpPr>
          <p:cNvPr id="8" name="TextBox 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22 of 30</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1325880"/>
            <a:ext cx="109728" cy="133223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637215" cy="457200"/>
          </a:xfrm>
          <a:prstGeom prst="rect">
            <a:avLst/>
          </a:prstGeom>
          <a:noFill/>
        </p:spPr>
        <p:txBody>
          <a:bodyPr wrap="square" anchor="t" lIns="0" rIns="0" tIns="0" bIns="0">
            <a:spAutoFit/>
          </a:bodyPr>
          <a:lstStyle/>
          <a:p>
            <a:pPr algn="l">
              <a:lnSpc>
                <a:spcPct val="100000"/>
              </a:lnSpc>
              <a:spcBef>
                <a:spcPts val="0"/>
              </a:spcBef>
              <a:spcAft>
                <a:spcPts val="0"/>
              </a:spcAft>
            </a:pPr>
            <a:r>
              <a:rPr sz="1300" b="1" i="0">
                <a:solidFill>
                  <a:srgbClr val="818181"/>
                </a:solidFill>
                <a:latin typeface="Arial"/>
              </a:rPr>
              <a:t>A definition worth writing down</a:t>
            </a:r>
          </a:p>
        </p:txBody>
      </p:sp>
      <p:sp>
        <p:nvSpPr>
          <p:cNvPr id="6" name="TextBox 5"/>
          <p:cNvSpPr txBox="1"/>
          <p:nvPr/>
        </p:nvSpPr>
        <p:spPr>
          <a:xfrm>
            <a:off x="1161288" y="1371600"/>
            <a:ext cx="10253167" cy="1332230"/>
          </a:xfrm>
          <a:prstGeom prst="rect">
            <a:avLst/>
          </a:prstGeom>
          <a:noFill/>
        </p:spPr>
        <p:txBody>
          <a:bodyPr wrap="square" anchor="t" lIns="0" rIns="0" tIns="0" bIns="0">
            <a:spAutoFit/>
          </a:bodyPr>
          <a:lstStyle/>
          <a:p>
            <a:pPr algn="l">
              <a:lnSpc>
                <a:spcPct val="120000"/>
              </a:lnSpc>
              <a:spcBef>
                <a:spcPts val="0"/>
              </a:spcBef>
              <a:spcAft>
                <a:spcPts val="0"/>
              </a:spcAft>
            </a:pPr>
            <a:r>
              <a:rPr sz="2500" b="0" i="0">
                <a:solidFill>
                  <a:srgbClr val="1A1A1A"/>
                </a:solidFill>
                <a:latin typeface="Palatino"/>
              </a:rPr>
              <a:t>"Market price tends to lead the known fundamentals ... Market price acts as a leading indicator of the fundamentals."</a:t>
            </a:r>
          </a:p>
          <a:p>
            <a:pPr algn="l">
              <a:lnSpc>
                <a:spcPct val="100000"/>
              </a:lnSpc>
              <a:spcBef>
                <a:spcPts val="1400"/>
              </a:spcBef>
              <a:spcAft>
                <a:spcPts val="0"/>
              </a:spcAft>
            </a:pPr>
            <a:r>
              <a:rPr sz="1400" b="0" i="0">
                <a:solidFill>
                  <a:srgbClr val="818181"/>
                </a:solidFill>
                <a:latin typeface="Arial"/>
              </a:rPr>
              <a:t>John Murphy, Technical Analysis of the Financial Markets (NYIF, 1999)</a:t>
            </a:r>
          </a:p>
        </p:txBody>
      </p:sp>
      <p:sp>
        <p:nvSpPr>
          <p:cNvPr id="7" name="TextBox 6"/>
          <p:cNvSpPr txBox="1"/>
          <p:nvPr/>
        </p:nvSpPr>
        <p:spPr>
          <a:xfrm>
            <a:off x="777240" y="3023870"/>
            <a:ext cx="10637215" cy="1280160"/>
          </a:xfrm>
          <a:prstGeom prst="rect">
            <a:avLst/>
          </a:prstGeom>
          <a:noFill/>
        </p:spPr>
        <p:txBody>
          <a:bodyPr wrap="square" anchor="t" lIns="0" rIns="0" tIns="0" bIns="0">
            <a:spAutoFit/>
          </a:bodyPr>
          <a:lstStyle/>
          <a:p>
            <a:pPr algn="l">
              <a:lnSpc>
                <a:spcPct val="100000"/>
              </a:lnSpc>
              <a:spcBef>
                <a:spcPts val="0"/>
              </a:spcBef>
              <a:spcAft>
                <a:spcPts val="600"/>
              </a:spcAft>
            </a:pPr>
            <a:r>
              <a:rPr sz="1100" b="1" i="0">
                <a:solidFill>
                  <a:srgbClr val="818181"/>
                </a:solidFill>
                <a:latin typeface="Arial"/>
              </a:rPr>
              <a:t>What it tells us</a:t>
            </a:r>
          </a:p>
          <a:p>
            <a:pPr algn="l">
              <a:lnSpc>
                <a:spcPct val="115000"/>
              </a:lnSpc>
              <a:spcBef>
                <a:spcPts val="0"/>
              </a:spcBef>
              <a:spcAft>
                <a:spcPts val="0"/>
              </a:spcAft>
            </a:pPr>
            <a:r>
              <a:rPr sz="2100" b="1" i="0">
                <a:solidFill>
                  <a:srgbClr val="007A33"/>
                </a:solidFill>
                <a:latin typeface="Arial"/>
              </a:rPr>
              <a:t>Price often moves before the news explains why. That is the timing advantage.</a:t>
            </a:r>
          </a:p>
        </p:txBody>
      </p:sp>
      <p:sp>
        <p:nvSpPr>
          <p:cNvPr id="8" name="TextBox 7"/>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23 of 30</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technically based timing gives you</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24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Precise entry and exit prices, and the precise time of entry and exit.</a:t>
            </a:r>
          </a:p>
          <a:p>
            <a:pPr algn="l">
              <a:lnSpc>
                <a:spcPct val="118000"/>
              </a:lnSpc>
              <a:spcBef>
                <a:spcPts val="0"/>
              </a:spcBef>
              <a:spcAft>
                <a:spcPts val="1300"/>
              </a:spcAft>
            </a:pPr>
            <a:r>
              <a:rPr sz="2100" b="0" i="0">
                <a:solidFill>
                  <a:srgbClr val="1A1A1A"/>
                </a:solidFill>
                <a:latin typeface="Arial"/>
              </a:rPr>
              <a:t>Real time bullish and bearish signals, and real time price triggers.</a:t>
            </a:r>
          </a:p>
          <a:p>
            <a:pPr algn="l">
              <a:lnSpc>
                <a:spcPct val="118000"/>
              </a:lnSpc>
              <a:spcBef>
                <a:spcPts val="0"/>
              </a:spcBef>
              <a:spcAft>
                <a:spcPts val="1300"/>
              </a:spcAft>
            </a:pPr>
            <a:r>
              <a:rPr sz="2100" b="0" i="0">
                <a:solidFill>
                  <a:srgbClr val="1A1A1A"/>
                </a:solidFill>
                <a:latin typeface="Arial"/>
              </a:rPr>
              <a:t>The ability to scale in and out at significant price levels.</a:t>
            </a:r>
          </a:p>
          <a:p>
            <a:pPr algn="l">
              <a:lnSpc>
                <a:spcPct val="118000"/>
              </a:lnSpc>
              <a:spcBef>
                <a:spcPts val="0"/>
              </a:spcBef>
              <a:spcAft>
                <a:spcPts val="1300"/>
              </a:spcAft>
            </a:pPr>
            <a:r>
              <a:rPr sz="2100" b="0" i="0">
                <a:solidFill>
                  <a:srgbClr val="1A1A1A"/>
                </a:solidFill>
                <a:latin typeface="Arial"/>
              </a:rPr>
              <a:t>Entries and exits timed to volatility behavior and to market order flow.</a:t>
            </a:r>
          </a:p>
        </p:txBody>
      </p:sp>
      <p:sp>
        <p:nvSpPr>
          <p:cNvPr id="8" name="Rectangle 7"/>
          <p:cNvSpPr/>
          <p:nvPr/>
        </p:nvSpPr>
        <p:spPr>
          <a:xfrm>
            <a:off x="777240" y="426719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Notice how many of these contain the word precise.</a:t>
            </a:r>
          </a:p>
        </p:txBody>
      </p:sp>
      <p:sp>
        <p:nvSpPr>
          <p:cNvPr id="10" name="TextBox 9"/>
          <p:cNvSpPr txBox="1"/>
          <p:nvPr/>
        </p:nvSpPr>
        <p:spPr>
          <a:xfrm>
            <a:off x="777240" y="4972557"/>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A precise entry level is not a predicted reversal price. It says where you will act, not where the market will turn.</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technically based timing gives you, continued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25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Exit an extended trend at a technically significant reversal level.</a:t>
            </a:r>
          </a:p>
          <a:p>
            <a:pPr algn="l">
              <a:lnSpc>
                <a:spcPct val="118000"/>
              </a:lnSpc>
              <a:spcBef>
                <a:spcPts val="0"/>
              </a:spcBef>
              <a:spcAft>
                <a:spcPts val="1300"/>
              </a:spcAft>
            </a:pPr>
            <a:r>
              <a:rPr sz="2100" b="0" i="0">
                <a:solidFill>
                  <a:srgbClr val="1A1A1A"/>
                </a:solidFill>
                <a:latin typeface="Arial"/>
              </a:rPr>
              <a:t>Define risk as a percentage, in terms of real price levels.</a:t>
            </a:r>
          </a:p>
          <a:p>
            <a:pPr algn="l">
              <a:lnSpc>
                <a:spcPct val="118000"/>
              </a:lnSpc>
              <a:spcBef>
                <a:spcPts val="0"/>
              </a:spcBef>
              <a:spcAft>
                <a:spcPts val="1300"/>
              </a:spcAft>
            </a:pPr>
            <a:r>
              <a:rPr sz="2100" b="0" i="0">
                <a:solidFill>
                  <a:srgbClr val="1A1A1A"/>
                </a:solidFill>
                <a:latin typeface="Arial"/>
              </a:rPr>
              <a:t>Use volume and open interest to gauge the strength of a move.</a:t>
            </a:r>
          </a:p>
          <a:p>
            <a:pPr algn="l">
              <a:lnSpc>
                <a:spcPct val="118000"/>
              </a:lnSpc>
              <a:spcBef>
                <a:spcPts val="0"/>
              </a:spcBef>
              <a:spcAft>
                <a:spcPts val="1300"/>
              </a:spcAft>
            </a:pPr>
            <a:r>
              <a:rPr sz="2100" b="0" i="0">
                <a:solidFill>
                  <a:srgbClr val="1A1A1A"/>
                </a:solidFill>
                <a:latin typeface="Arial"/>
              </a:rPr>
              <a:t>Use market breadth and sentiment to gauge that strength more broadly.</a:t>
            </a:r>
          </a:p>
          <a:p>
            <a:pPr algn="l">
              <a:lnSpc>
                <a:spcPct val="118000"/>
              </a:lnSpc>
              <a:spcBef>
                <a:spcPts val="0"/>
              </a:spcBef>
              <a:spcAft>
                <a:spcPts val="1300"/>
              </a:spcAft>
            </a:pPr>
            <a:r>
              <a:rPr sz="2100" b="0" i="0">
                <a:solidFill>
                  <a:srgbClr val="1A1A1A"/>
                </a:solidFill>
                <a:latin typeface="Arial"/>
              </a:rPr>
              <a:t>Forecast peaks and troughs through cycle and seasonality analysis.</a:t>
            </a:r>
          </a:p>
        </p:txBody>
      </p:sp>
      <p:sp>
        <p:nvSpPr>
          <p:cNvPr id="8" name="Rectangle 7"/>
          <p:cNvSpPr/>
          <p:nvPr/>
        </p:nvSpPr>
        <p:spPr>
          <a:xfrm>
            <a:off x="777240" y="476478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Every one of these is a technique we will build over the semester.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fundamentally based timing gives you</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26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Undervalued stocks that could appreciate, with no precise price or time to go long.</a:t>
            </a:r>
          </a:p>
          <a:p>
            <a:pPr algn="l">
              <a:lnSpc>
                <a:spcPct val="118000"/>
              </a:lnSpc>
              <a:spcBef>
                <a:spcPts val="0"/>
              </a:spcBef>
              <a:spcAft>
                <a:spcPts val="1300"/>
              </a:spcAft>
            </a:pPr>
            <a:r>
              <a:rPr sz="2100" b="0" i="0">
                <a:solidFill>
                  <a:srgbClr val="1A1A1A"/>
                </a:solidFill>
                <a:latin typeface="Arial"/>
              </a:rPr>
              <a:t>Overvalued stocks that could depreciate, with no precise price or time to go short.</a:t>
            </a:r>
          </a:p>
          <a:p>
            <a:pPr algn="l">
              <a:lnSpc>
                <a:spcPct val="118000"/>
              </a:lnSpc>
              <a:spcBef>
                <a:spcPts val="0"/>
              </a:spcBef>
              <a:spcAft>
                <a:spcPts val="1300"/>
              </a:spcAft>
            </a:pPr>
            <a:r>
              <a:rPr sz="2100" b="0" i="0">
                <a:solidFill>
                  <a:srgbClr val="1A1A1A"/>
                </a:solidFill>
                <a:latin typeface="Arial"/>
              </a:rPr>
              <a:t>Fundamentally strong stocks to rotate into, again with no precise price or time.</a:t>
            </a:r>
          </a:p>
        </p:txBody>
      </p:sp>
      <p:sp>
        <p:nvSpPr>
          <p:cNvPr id="8" name="Rectangle 7"/>
          <p:cNvSpPr/>
          <p:nvPr/>
        </p:nvSpPr>
        <p:spPr>
          <a:xfrm>
            <a:off x="777240" y="471373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75030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Read the ending of all three lines. The gap is always timing.</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fundamentalist, in four lines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27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Mainly concerned with intrinsic value.</a:t>
            </a:r>
          </a:p>
          <a:p>
            <a:pPr algn="l">
              <a:lnSpc>
                <a:spcPct val="118000"/>
              </a:lnSpc>
              <a:spcBef>
                <a:spcPts val="0"/>
              </a:spcBef>
              <a:spcAft>
                <a:spcPts val="1300"/>
              </a:spcAft>
            </a:pPr>
            <a:r>
              <a:rPr sz="2100" b="0" i="0">
                <a:solidFill>
                  <a:srgbClr val="1A1A1A"/>
                </a:solidFill>
                <a:latin typeface="Arial"/>
              </a:rPr>
              <a:t>Strives to understand the underlying cause of a market move.</a:t>
            </a:r>
          </a:p>
          <a:p>
            <a:pPr algn="l">
              <a:lnSpc>
                <a:spcPct val="118000"/>
              </a:lnSpc>
              <a:spcBef>
                <a:spcPts val="0"/>
              </a:spcBef>
              <a:spcAft>
                <a:spcPts val="1300"/>
              </a:spcAft>
            </a:pPr>
            <a:r>
              <a:rPr sz="2100" b="0" i="0">
                <a:solidFill>
                  <a:srgbClr val="1A1A1A"/>
                </a:solidFill>
                <a:latin typeface="Arial"/>
              </a:rPr>
              <a:t>Focused on which company to participate in.</a:t>
            </a:r>
          </a:p>
          <a:p>
            <a:pPr algn="l">
              <a:lnSpc>
                <a:spcPct val="118000"/>
              </a:lnSpc>
              <a:spcBef>
                <a:spcPts val="0"/>
              </a:spcBef>
              <a:spcAft>
                <a:spcPts val="1300"/>
              </a:spcAft>
            </a:pPr>
            <a:r>
              <a:rPr sz="2100" b="0" i="0">
                <a:solidFill>
                  <a:srgbClr val="1A1A1A"/>
                </a:solidFill>
                <a:latin typeface="Arial"/>
              </a:rPr>
              <a:t>Can tell you which company to buy, but not the best moment to start.</a:t>
            </a:r>
          </a:p>
        </p:txBody>
      </p:sp>
      <p:sp>
        <p:nvSpPr>
          <p:cNvPr id="8" name="Rectangle 7"/>
          <p:cNvSpPr/>
          <p:nvPr/>
        </p:nvSpPr>
        <p:spPr>
          <a:xfrm>
            <a:off x="777240" y="426719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Cause, company, value.</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technical analyst, in four lines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28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Mainly concerned with the structure and dynamics of price and market action.</a:t>
            </a:r>
          </a:p>
          <a:p>
            <a:pPr algn="l">
              <a:lnSpc>
                <a:spcPct val="118000"/>
              </a:lnSpc>
              <a:spcBef>
                <a:spcPts val="0"/>
              </a:spcBef>
              <a:spcAft>
                <a:spcPts val="1300"/>
              </a:spcAft>
            </a:pPr>
            <a:r>
              <a:rPr sz="2100" b="0" i="0">
                <a:solidFill>
                  <a:srgbClr val="1A1A1A"/>
                </a:solidFill>
                <a:latin typeface="Arial"/>
              </a:rPr>
              <a:t>More concerned with the effects of a move than with its cause.</a:t>
            </a:r>
          </a:p>
          <a:p>
            <a:pPr algn="l">
              <a:lnSpc>
                <a:spcPct val="118000"/>
              </a:lnSpc>
              <a:spcBef>
                <a:spcPts val="0"/>
              </a:spcBef>
              <a:spcAft>
                <a:spcPts val="1300"/>
              </a:spcAft>
            </a:pPr>
            <a:r>
              <a:rPr sz="2100" b="0" i="0">
                <a:solidFill>
                  <a:srgbClr val="1A1A1A"/>
                </a:solidFill>
                <a:latin typeface="Arial"/>
              </a:rPr>
              <a:t>Usually cannot determine intrinsic value or whether a stock is under or overvalued.</a:t>
            </a:r>
          </a:p>
          <a:p>
            <a:pPr algn="l">
              <a:lnSpc>
                <a:spcPct val="118000"/>
              </a:lnSpc>
              <a:spcBef>
                <a:spcPts val="0"/>
              </a:spcBef>
              <a:spcAft>
                <a:spcPts val="1300"/>
              </a:spcAft>
            </a:pPr>
            <a:r>
              <a:rPr sz="2100" b="0" i="0">
                <a:solidFill>
                  <a:srgbClr val="1A1A1A"/>
                </a:solidFill>
                <a:latin typeface="Arial"/>
              </a:rPr>
              <a:t>Can determine precisely when to start, purely from price performance.</a:t>
            </a:r>
          </a:p>
        </p:txBody>
      </p:sp>
      <p:sp>
        <p:nvSpPr>
          <p:cNvPr id="8" name="Rectangle 7"/>
          <p:cNvSpPr/>
          <p:nvPr/>
        </p:nvSpPr>
        <p:spPr>
          <a:xfrm>
            <a:off x="777240" y="4581905"/>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618481"/>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Effect, price, timing.</a:t>
            </a:r>
          </a:p>
        </p:txBody>
      </p:sp>
      <p:sp>
        <p:nvSpPr>
          <p:cNvPr id="10" name="TextBox 9"/>
          <p:cNvSpPr txBox="1"/>
          <p:nvPr/>
        </p:nvSpPr>
        <p:spPr>
          <a:xfrm>
            <a:off x="777240" y="5287263"/>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Neither column is complete on its own. Most professionals use both.</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six streams of market action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29 of 30</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Price action, and volume action.</a:t>
            </a:r>
          </a:p>
          <a:p>
            <a:pPr algn="l">
              <a:lnSpc>
                <a:spcPct val="118000"/>
              </a:lnSpc>
              <a:spcBef>
                <a:spcPts val="0"/>
              </a:spcBef>
              <a:spcAft>
                <a:spcPts val="1300"/>
              </a:spcAft>
            </a:pPr>
            <a:r>
              <a:rPr sz="2100" b="0" i="0">
                <a:solidFill>
                  <a:srgbClr val="1A1A1A"/>
                </a:solidFill>
                <a:latin typeface="Arial"/>
              </a:rPr>
              <a:t>Open interest action.</a:t>
            </a:r>
          </a:p>
          <a:p>
            <a:pPr algn="l">
              <a:lnSpc>
                <a:spcPct val="118000"/>
              </a:lnSpc>
              <a:spcBef>
                <a:spcPts val="0"/>
              </a:spcBef>
              <a:spcAft>
                <a:spcPts val="1300"/>
              </a:spcAft>
            </a:pPr>
            <a:r>
              <a:rPr sz="2100" b="0" i="0">
                <a:solidFill>
                  <a:srgbClr val="1A1A1A"/>
                </a:solidFill>
                <a:latin typeface="Arial"/>
              </a:rPr>
              <a:t>Sentiment, and market breadth.</a:t>
            </a:r>
          </a:p>
          <a:p>
            <a:pPr algn="l">
              <a:lnSpc>
                <a:spcPct val="118000"/>
              </a:lnSpc>
              <a:spcBef>
                <a:spcPts val="0"/>
              </a:spcBef>
              <a:spcAft>
                <a:spcPts val="1300"/>
              </a:spcAft>
            </a:pPr>
            <a:r>
              <a:rPr sz="2100" b="0" i="0">
                <a:solidFill>
                  <a:srgbClr val="1A1A1A"/>
                </a:solidFill>
                <a:latin typeface="Arial"/>
              </a:rPr>
              <a:t>Flow of funds.</a:t>
            </a:r>
          </a:p>
        </p:txBody>
      </p:sp>
      <p:sp>
        <p:nvSpPr>
          <p:cNvPr id="8" name="Rectangle 7"/>
          <p:cNvSpPr/>
          <p:nvPr/>
        </p:nvSpPr>
        <p:spPr>
          <a:xfrm>
            <a:off x="777240" y="426719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Price is the most important, followed closely by volume.</a:t>
            </a:r>
          </a:p>
        </p:txBody>
      </p:sp>
      <p:sp>
        <p:nvSpPr>
          <p:cNvPr id="10" name="TextBox 9"/>
          <p:cNvSpPr txBox="1"/>
          <p:nvPr/>
        </p:nvSpPr>
        <p:spPr>
          <a:xfrm>
            <a:off x="777240" y="4972557"/>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Flow of funds includes things like margin debt. The department has quizzed exactly that.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OHLC</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four numbers that describe any single bar on a chart: where it opened, its high, its low, and where it closed.</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daily bar for Globe: opened 1,800, high 1,845, low 1,792, closed 1,838.</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OHLC denotes the opening, high, low, and closing prices of a bar over any chosen interval, from one minute to one year.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30 of 30</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600" b="0" i="0">
                <a:solidFill>
                  <a:srgbClr val="1A1A1A"/>
                </a:solidFill>
                <a:latin typeface="Arial"/>
              </a:rPr>
              <a:t>▪  Fundamental, information and technical analysis</a:t>
            </a:r>
          </a:p>
          <a:p>
            <a:pPr algn="l" marL="237744" indent="-237744">
              <a:lnSpc>
                <a:spcPct val="112000"/>
              </a:lnSpc>
              <a:spcBef>
                <a:spcPts val="0"/>
              </a:spcBef>
              <a:spcAft>
                <a:spcPts val="1200"/>
              </a:spcAft>
            </a:pPr>
            <a:r>
              <a:rPr sz="1600" b="0" i="0">
                <a:solidFill>
                  <a:srgbClr val="1A1A1A"/>
                </a:solidFill>
                <a:latin typeface="Arial"/>
              </a:rPr>
              <a:t>▪  Intrinsic value</a:t>
            </a:r>
          </a:p>
          <a:p>
            <a:pPr algn="l" marL="237744" indent="-237744">
              <a:lnSpc>
                <a:spcPct val="112000"/>
              </a:lnSpc>
              <a:spcBef>
                <a:spcPts val="0"/>
              </a:spcBef>
              <a:spcAft>
                <a:spcPts val="1200"/>
              </a:spcAft>
            </a:pPr>
            <a:r>
              <a:rPr sz="1600" b="0" i="0">
                <a:solidFill>
                  <a:srgbClr val="1A1A1A"/>
                </a:solidFill>
                <a:latin typeface="Arial"/>
              </a:rPr>
              <a:t>▪  Undervalued and overvalued</a:t>
            </a:r>
          </a:p>
          <a:p>
            <a:pPr algn="l" marL="237744" indent="-237744">
              <a:lnSpc>
                <a:spcPct val="112000"/>
              </a:lnSpc>
              <a:spcBef>
                <a:spcPts val="0"/>
              </a:spcBef>
              <a:spcAft>
                <a:spcPts val="1200"/>
              </a:spcAft>
            </a:pPr>
            <a:r>
              <a:rPr sz="1600" b="0" i="0">
                <a:solidFill>
                  <a:srgbClr val="1A1A1A"/>
                </a:solidFill>
                <a:latin typeface="Arial"/>
              </a:rPr>
              <a:t>▪  Top-down and bottom-up approaches</a:t>
            </a:r>
          </a:p>
          <a:p>
            <a:pPr algn="l" marL="237744" indent="-237744">
              <a:lnSpc>
                <a:spcPct val="112000"/>
              </a:lnSpc>
              <a:spcBef>
                <a:spcPts val="0"/>
              </a:spcBef>
              <a:spcAft>
                <a:spcPts val="1200"/>
              </a:spcAft>
            </a:pPr>
            <a:r>
              <a:rPr sz="1600" b="0" i="0">
                <a:solidFill>
                  <a:srgbClr val="1A1A1A"/>
                </a:solidFill>
                <a:latin typeface="Arial"/>
              </a:rPr>
              <a:t>▪  Non-public material information and insider trading</a:t>
            </a:r>
          </a:p>
          <a:p>
            <a:pPr algn="l" marL="237744" indent="-237744">
              <a:lnSpc>
                <a:spcPct val="112000"/>
              </a:lnSpc>
              <a:spcBef>
                <a:spcPts val="0"/>
              </a:spcBef>
              <a:spcAft>
                <a:spcPts val="1200"/>
              </a:spcAft>
            </a:pPr>
            <a:r>
              <a:rPr sz="1600" b="0" i="0">
                <a:solidFill>
                  <a:srgbClr val="1A1A1A"/>
                </a:solidFill>
                <a:latin typeface="Arial"/>
              </a:rPr>
              <a:t>▪  Murphy: study of market action through charts</a:t>
            </a:r>
          </a:p>
          <a:p>
            <a:pPr algn="l" marL="237744" indent="-237744">
              <a:lnSpc>
                <a:spcPct val="112000"/>
              </a:lnSpc>
              <a:spcBef>
                <a:spcPts val="0"/>
              </a:spcBef>
              <a:spcAft>
                <a:spcPts val="1200"/>
              </a:spcAft>
            </a:pPr>
            <a:r>
              <a:rPr sz="1600" b="0" i="0">
                <a:solidFill>
                  <a:srgbClr val="1A1A1A"/>
                </a:solidFill>
                <a:latin typeface="Arial"/>
              </a:rPr>
              <a:t>▪  Edwards and Magee: recording history, deducing the probable trend</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600" b="0" i="0">
                <a:solidFill>
                  <a:srgbClr val="1A1A1A"/>
                </a:solidFill>
                <a:latin typeface="Arial"/>
              </a:rPr>
              <a:t>▪  Edwards and Magee: the market itself, not the goods</a:t>
            </a:r>
          </a:p>
          <a:p>
            <a:pPr algn="l" marL="237744" indent="-237744">
              <a:lnSpc>
                <a:spcPct val="112000"/>
              </a:lnSpc>
              <a:spcBef>
                <a:spcPts val="0"/>
              </a:spcBef>
              <a:spcAft>
                <a:spcPts val="1200"/>
              </a:spcAft>
            </a:pPr>
            <a:r>
              <a:rPr sz="1600" b="0" i="0">
                <a:solidFill>
                  <a:srgbClr val="1A1A1A"/>
                </a:solidFill>
                <a:latin typeface="Arial"/>
              </a:rPr>
              <a:t>▪  Pring: an art, catching a reversal early</a:t>
            </a:r>
          </a:p>
          <a:p>
            <a:pPr algn="l" marL="237744" indent="-237744">
              <a:lnSpc>
                <a:spcPct val="112000"/>
              </a:lnSpc>
              <a:spcBef>
                <a:spcPts val="0"/>
              </a:spcBef>
              <a:spcAft>
                <a:spcPts val="1200"/>
              </a:spcAft>
            </a:pPr>
            <a:r>
              <a:rPr sz="1600" b="0" i="0">
                <a:solidFill>
                  <a:srgbClr val="1A1A1A"/>
                </a:solidFill>
                <a:latin typeface="Arial"/>
              </a:rPr>
              <a:t>▪  Pring: probabilities, never certainties</a:t>
            </a:r>
          </a:p>
          <a:p>
            <a:pPr algn="l" marL="237744" indent="-237744">
              <a:lnSpc>
                <a:spcPct val="112000"/>
              </a:lnSpc>
              <a:spcBef>
                <a:spcPts val="0"/>
              </a:spcBef>
              <a:spcAft>
                <a:spcPts val="1200"/>
              </a:spcAft>
            </a:pPr>
            <a:r>
              <a:rPr sz="1600" b="0" i="0">
                <a:solidFill>
                  <a:srgbClr val="1A1A1A"/>
                </a:solidFill>
                <a:latin typeface="Arial"/>
              </a:rPr>
              <a:t>▪  Pring: people repeat their mistakes</a:t>
            </a:r>
          </a:p>
          <a:p>
            <a:pPr algn="l" marL="237744" indent="-237744">
              <a:lnSpc>
                <a:spcPct val="112000"/>
              </a:lnSpc>
              <a:spcBef>
                <a:spcPts val="0"/>
              </a:spcBef>
              <a:spcAft>
                <a:spcPts val="1200"/>
              </a:spcAft>
            </a:pPr>
            <a:r>
              <a:rPr sz="1600" b="0" i="0">
                <a:solidFill>
                  <a:srgbClr val="1A1A1A"/>
                </a:solidFill>
                <a:latin typeface="Arial"/>
              </a:rPr>
              <a:t>▪  Murphy: price leads the known fundamentals</a:t>
            </a:r>
          </a:p>
          <a:p>
            <a:pPr algn="l" marL="237744" indent="-237744">
              <a:lnSpc>
                <a:spcPct val="112000"/>
              </a:lnSpc>
              <a:spcBef>
                <a:spcPts val="0"/>
              </a:spcBef>
              <a:spcAft>
                <a:spcPts val="1200"/>
              </a:spcAft>
            </a:pPr>
            <a:r>
              <a:rPr sz="1600" b="0" i="0">
                <a:solidFill>
                  <a:srgbClr val="1A1A1A"/>
                </a:solidFill>
                <a:latin typeface="Arial"/>
              </a:rPr>
              <a:t>▪  Technically and fundamentally based market timing</a:t>
            </a:r>
          </a:p>
          <a:p>
            <a:pPr algn="l" marL="237744" indent="-237744">
              <a:lnSpc>
                <a:spcPct val="112000"/>
              </a:lnSpc>
              <a:spcBef>
                <a:spcPts val="0"/>
              </a:spcBef>
              <a:spcAft>
                <a:spcPts val="1200"/>
              </a:spcAft>
            </a:pPr>
            <a:r>
              <a:rPr sz="1600" b="0" i="0">
                <a:solidFill>
                  <a:srgbClr val="1A1A1A"/>
                </a:solidFill>
                <a:latin typeface="Arial"/>
              </a:rPr>
              <a:t>▪  The fundamentalist and the technical analyst</a:t>
            </a:r>
          </a:p>
          <a:p>
            <a:pPr algn="l" marL="237744" indent="-237744">
              <a:lnSpc>
                <a:spcPct val="112000"/>
              </a:lnSpc>
              <a:spcBef>
                <a:spcPts val="0"/>
              </a:spcBef>
              <a:spcAft>
                <a:spcPts val="1200"/>
              </a:spcAft>
            </a:pPr>
            <a:r>
              <a:rPr sz="1600" b="0" i="0">
                <a:solidFill>
                  <a:srgbClr val="1A1A1A"/>
                </a:solidFill>
                <a:latin typeface="Arial"/>
              </a:rPr>
              <a:t>▪  The six streams of market action, and OHLC</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2 of 6 - Forecasting  |  recap</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3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Classifying Technical Analysis</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The four branches every technique in this course belongs to.</a:t>
            </a:r>
          </a:p>
          <a:p>
            <a:pPr algn="l">
              <a:lnSpc>
                <a:spcPct val="115000"/>
              </a:lnSpc>
              <a:spcBef>
                <a:spcPts val="0"/>
              </a:spcBef>
              <a:spcAft>
                <a:spcPts val="1000"/>
              </a:spcAft>
            </a:pPr>
            <a:r>
              <a:rPr sz="1900" b="0" i="0">
                <a:solidFill>
                  <a:srgbClr val="FFFFFF"/>
                </a:solidFill>
                <a:latin typeface="Arial"/>
              </a:rPr>
              <a:t>The two opposite bets a trader can make about price.</a:t>
            </a:r>
          </a:p>
          <a:p>
            <a:pPr algn="l">
              <a:lnSpc>
                <a:spcPct val="115000"/>
              </a:lnSpc>
              <a:spcBef>
                <a:spcPts val="0"/>
              </a:spcBef>
              <a:spcAft>
                <a:spcPts val="1000"/>
              </a:spcAft>
            </a:pPr>
            <a:r>
              <a:rPr sz="1900" b="0" i="0">
                <a:solidFill>
                  <a:srgbClr val="FFFFFF"/>
                </a:solidFill>
                <a:latin typeface="Arial"/>
              </a:rPr>
              <a:t>The honest advantages and disadvantages of the whole method.</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25 minutes</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Four branches, one subject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1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Classical technical analysis.</a:t>
            </a:r>
          </a:p>
          <a:p>
            <a:pPr algn="l">
              <a:lnSpc>
                <a:spcPct val="118000"/>
              </a:lnSpc>
              <a:spcBef>
                <a:spcPts val="0"/>
              </a:spcBef>
              <a:spcAft>
                <a:spcPts val="1300"/>
              </a:spcAft>
            </a:pPr>
            <a:r>
              <a:rPr sz="2100" b="0" i="0">
                <a:solidFill>
                  <a:srgbClr val="1A1A1A"/>
                </a:solidFill>
                <a:latin typeface="Arial"/>
              </a:rPr>
              <a:t>2.  Statistical analysis.</a:t>
            </a:r>
          </a:p>
          <a:p>
            <a:pPr algn="l">
              <a:lnSpc>
                <a:spcPct val="118000"/>
              </a:lnSpc>
              <a:spcBef>
                <a:spcPts val="0"/>
              </a:spcBef>
              <a:spcAft>
                <a:spcPts val="1300"/>
              </a:spcAft>
            </a:pPr>
            <a:r>
              <a:rPr sz="2100" b="0" i="0">
                <a:solidFill>
                  <a:srgbClr val="1A1A1A"/>
                </a:solidFill>
                <a:latin typeface="Arial"/>
              </a:rPr>
              <a:t>3.  Sentiment analysis.</a:t>
            </a:r>
          </a:p>
          <a:p>
            <a:pPr algn="l">
              <a:lnSpc>
                <a:spcPct val="118000"/>
              </a:lnSpc>
              <a:spcBef>
                <a:spcPts val="0"/>
              </a:spcBef>
              <a:spcAft>
                <a:spcPts val="1300"/>
              </a:spcAft>
            </a:pPr>
            <a:r>
              <a:rPr sz="2100" b="0" i="0">
                <a:solidFill>
                  <a:srgbClr val="1A1A1A"/>
                </a:solidFill>
                <a:latin typeface="Arial"/>
              </a:rPr>
              <a:t>4.  Behavioral analysis.</a:t>
            </a:r>
          </a:p>
        </p:txBody>
      </p:sp>
      <p:sp>
        <p:nvSpPr>
          <p:cNvPr id="8" name="Rectangle 7"/>
          <p:cNvSpPr/>
          <p:nvPr/>
        </p:nvSpPr>
        <p:spPr>
          <a:xfrm>
            <a:off x="777240" y="426719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Whatever branch you use, you still interpret it through your own biases.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four branches on one page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2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1.6</a:t>
            </a:r>
          </a:p>
          <a:p>
            <a:pPr algn="l">
              <a:lnSpc>
                <a:spcPct val="120000"/>
              </a:lnSpc>
              <a:spcBef>
                <a:spcPts val="0"/>
              </a:spcBef>
              <a:spcAft>
                <a:spcPts val="1800"/>
              </a:spcAft>
            </a:pPr>
            <a:r>
              <a:rPr sz="2200" b="0" i="0">
                <a:solidFill>
                  <a:srgbClr val="1A1A1A"/>
                </a:solidFill>
                <a:latin typeface="Palatino"/>
              </a:rPr>
              <a:t>Classical, statistical, sentiment and behavioral analysis, each with its own list of studies, all funnelling into one line at the bottom.</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1.6 - Lim, The Handbook of Technical Analysis (Wiley, 2016)</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Classical technical analysis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traditional, visual, hand-drawn kind. Patterns on charts, and indicators drawn over or under the price.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Bar and candlestick patterns, support and resistance, oscillators, market breadth, cycle analysis.</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Classical technical analysis uses conventional bar, chart and candlestick patterns, oscillator and overlay indicators, market breadth, relative strength, and cycle analysis.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3 of 19</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Statistical analysis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mathematical kind. Instead of looking at a shape you compute a number and test it.</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Volatility, linear regression, correlation, time series analysis, hypothesis testing.</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Statistical analysis is the quantitative branch, studying dispersion, central tendency, skewness, volatility, regression, hypothesis testing, correlation and covariance.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4 of 19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Sentiment analysis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Measuring the mood of the crowd. How optimistic or pessimistic are participants right now?</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Put to call ratios, short interest, margin debt, bullish percent readings, opinion polls of professionals.</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Sentiment analysis studies the psychology of market participants through polls and surveys, flow of funds, and the positions taken by large institutions and hedgers.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5 of 19</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Behavioral analysis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Studying how participants actually react, including their biases and their bad habits.</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Herd behavior, loss aversion, confirmation bias, overconfidence, the gambler's fallacy.</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Behavioral analysis studies how market participants react to news, to profits and losses, to the actions of others, and to their own psychological and emotional biases.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6 of 19</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Two opposite bets about price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7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Bet one: price has gone far enough and will come back.</a:t>
            </a:r>
          </a:p>
          <a:p>
            <a:pPr algn="l">
              <a:lnSpc>
                <a:spcPct val="118000"/>
              </a:lnSpc>
              <a:spcBef>
                <a:spcPts val="0"/>
              </a:spcBef>
              <a:spcAft>
                <a:spcPts val="1300"/>
              </a:spcAft>
            </a:pPr>
            <a:r>
              <a:rPr sz="2100" b="0" i="0">
                <a:solidFill>
                  <a:srgbClr val="1A1A1A"/>
                </a:solidFill>
                <a:latin typeface="Arial"/>
              </a:rPr>
              <a:t>Bet two: price is going somewhere and will keep going.</a:t>
            </a:r>
          </a:p>
        </p:txBody>
      </p:sp>
      <p:sp>
        <p:nvSpPr>
          <p:cNvPr id="8" name="Rectangle 7"/>
          <p:cNvSpPr/>
          <p:nvPr/>
        </p:nvSpPr>
        <p:spPr>
          <a:xfrm>
            <a:off x="777240" y="3272028"/>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308604"/>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Almost every strategy you will ever meet is one of these two.</a:t>
            </a:r>
          </a:p>
        </p:txBody>
      </p:sp>
      <p:sp>
        <p:nvSpPr>
          <p:cNvPr id="10" name="TextBox 9"/>
          <p:cNvSpPr txBox="1"/>
          <p:nvPr/>
        </p:nvSpPr>
        <p:spPr>
          <a:xfrm>
            <a:off x="777240" y="3977385"/>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technical studies you choose follow directly from which bet you are making.</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Mean reverting against non-mean reverting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8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1.7</a:t>
            </a:r>
          </a:p>
          <a:p>
            <a:pPr algn="l">
              <a:lnSpc>
                <a:spcPct val="120000"/>
              </a:lnSpc>
              <a:spcBef>
                <a:spcPts val="0"/>
              </a:spcBef>
              <a:spcAft>
                <a:spcPts val="1800"/>
              </a:spcAft>
            </a:pPr>
            <a:r>
              <a:rPr sz="2200" b="0" i="0">
                <a:solidFill>
                  <a:srgbClr val="1A1A1A"/>
                </a:solidFill>
                <a:latin typeface="Palatino"/>
              </a:rPr>
              <a:t>The two camps compared column by column: their study preferences, their order types, where each one enters, and the rationale behind each.</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1.7 - Lim, The Handbook of Technical Analysis (Wiley, 2016)</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mean reverting or contrarian approach</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You expect price to snap back to an average. You do not expect it to travel far.</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buy at support and short at resistance, using divergence, regression lines, moving average bands and Bollinger bands.</a:t>
            </a:r>
          </a:p>
        </p:txBody>
      </p:sp>
      <p:sp>
        <p:nvSpPr>
          <p:cNvPr id="11" name="Rectangle 10"/>
          <p:cNvSpPr/>
          <p:nvPr/>
        </p:nvSpPr>
        <p:spPr>
          <a:xfrm>
            <a:off x="777240" y="4298061"/>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mean reverting approach expects price to return to an average or to a balance between supply and demand, enters at cycle extremes, and acts on the overbought and oversold conditions its studies pinpoint.</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9 of 19</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non-mean reverting or momentum approach</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You expect price to keep travelling. Demand creates more demand, supply creates more supply.</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buy the breakout of a chart pattern, a moving average, a Darvas Box or a Donchian channel.</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non-mean reverting approach expects trends to continue through a positive feedback cycle, enters at cycle midpoints, and acts on the crossover of the oscillator equilibrium level.</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10 of 19</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Limit and stop entry orders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limit order buys only at your price or better. A stop order buys only once price has pushed through a level.</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Contrarians prefer limit orders, because they want a good price. Momentum traders prefer stop orders, because they want confirmation.</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Limit entry orders execute at a specified price or better; stop entry orders trigger once price trades through a specified level.</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11 of 19</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technical analysis is genuinely good at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12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It works the same way on every market, instrument and timeframe.</a:t>
            </a:r>
          </a:p>
          <a:p>
            <a:pPr algn="l">
              <a:lnSpc>
                <a:spcPct val="118000"/>
              </a:lnSpc>
              <a:spcBef>
                <a:spcPts val="0"/>
              </a:spcBef>
              <a:spcAft>
                <a:spcPts val="1300"/>
              </a:spcAft>
            </a:pPr>
            <a:r>
              <a:rPr sz="2100" b="0" i="0">
                <a:solidFill>
                  <a:srgbClr val="1A1A1A"/>
                </a:solidFill>
                <a:latin typeface="Arial"/>
              </a:rPr>
              <a:t>You do not need to learn a new company to trade a new stock.</a:t>
            </a:r>
          </a:p>
          <a:p>
            <a:pPr algn="l">
              <a:lnSpc>
                <a:spcPct val="118000"/>
              </a:lnSpc>
              <a:spcBef>
                <a:spcPts val="0"/>
              </a:spcBef>
              <a:spcAft>
                <a:spcPts val="1300"/>
              </a:spcAft>
            </a:pPr>
            <a:r>
              <a:rPr sz="2100" b="0" i="0">
                <a:solidFill>
                  <a:srgbClr val="1A1A1A"/>
                </a:solidFill>
                <a:latin typeface="Arial"/>
              </a:rPr>
              <a:t>It is visual, so market risk and volatility are easy to see.</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One skill, applied everywhere. That is the strongest practical argument for it.</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technical analysis is genuinely good at, continued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13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It gives timely, precise entry and exit levels.</a:t>
            </a:r>
          </a:p>
          <a:p>
            <a:pPr algn="l">
              <a:lnSpc>
                <a:spcPct val="118000"/>
              </a:lnSpc>
              <a:spcBef>
                <a:spcPts val="0"/>
              </a:spcBef>
              <a:spcAft>
                <a:spcPts val="1300"/>
              </a:spcAft>
            </a:pPr>
            <a:r>
              <a:rPr sz="2100" b="0" i="0">
                <a:solidFill>
                  <a:srgbClr val="1A1A1A"/>
                </a:solidFill>
                <a:latin typeface="Arial"/>
              </a:rPr>
              <a:t>Those levels arrive with a signal, bullish or bearish, before the move.</a:t>
            </a:r>
          </a:p>
          <a:p>
            <a:pPr algn="l">
              <a:lnSpc>
                <a:spcPct val="118000"/>
              </a:lnSpc>
              <a:spcBef>
                <a:spcPts val="0"/>
              </a:spcBef>
              <a:spcAft>
                <a:spcPts val="1300"/>
              </a:spcAft>
            </a:pPr>
            <a:r>
              <a:rPr sz="2100" b="0" i="0">
                <a:solidFill>
                  <a:srgbClr val="1A1A1A"/>
                </a:solidFill>
                <a:latin typeface="Arial"/>
              </a:rPr>
              <a:t>When many participants act on the same obvious level, the reaction is more reliable.</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That last advantage has a name, and it is also a criticism. We meet it shortly.</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honest disadvantages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14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It is subjective. The same pattern can be read several ways.</a:t>
            </a:r>
          </a:p>
          <a:p>
            <a:pPr algn="l">
              <a:lnSpc>
                <a:spcPct val="118000"/>
              </a:lnSpc>
              <a:spcBef>
                <a:spcPts val="0"/>
              </a:spcBef>
              <a:spcAft>
                <a:spcPts val="1300"/>
              </a:spcAft>
            </a:pPr>
            <a:r>
              <a:rPr sz="2100" b="0" i="0">
                <a:solidFill>
                  <a:srgbClr val="1A1A1A"/>
                </a:solidFill>
                <a:latin typeface="Arial"/>
              </a:rPr>
              <a:t>The repeating tendency can be disrupted by shocks, or by algorithmic and high frequency trading.</a:t>
            </a:r>
          </a:p>
          <a:p>
            <a:pPr algn="l">
              <a:lnSpc>
                <a:spcPct val="118000"/>
              </a:lnSpc>
              <a:spcBef>
                <a:spcPts val="0"/>
              </a:spcBef>
              <a:spcAft>
                <a:spcPts val="1300"/>
              </a:spcAft>
            </a:pPr>
            <a:r>
              <a:rPr sz="2100" b="0" i="0">
                <a:solidFill>
                  <a:srgbClr val="1A1A1A"/>
                </a:solidFill>
                <a:latin typeface="Arial"/>
              </a:rPr>
              <a:t>Reading a chart takes practice; inferring from it takes much more.</a:t>
            </a:r>
          </a:p>
        </p:txBody>
      </p:sp>
      <p:sp>
        <p:nvSpPr>
          <p:cNvPr id="8" name="Rectangle 7"/>
          <p:cNvSpPr/>
          <p:nvPr/>
        </p:nvSpPr>
        <p:spPr>
          <a:xfrm>
            <a:off x="777240" y="4084320"/>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Every bullish reading has an equal and opposite bearish reading.</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three big objections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15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Random walk: prices are pure chance, so patterns mean nothing.</a:t>
            </a:r>
          </a:p>
          <a:p>
            <a:pPr algn="l">
              <a:lnSpc>
                <a:spcPct val="118000"/>
              </a:lnSpc>
              <a:spcBef>
                <a:spcPts val="0"/>
              </a:spcBef>
              <a:spcAft>
                <a:spcPts val="1300"/>
              </a:spcAft>
            </a:pPr>
            <a:r>
              <a:rPr sz="2100" b="0" i="0">
                <a:solidFill>
                  <a:srgbClr val="1A1A1A"/>
                </a:solidFill>
                <a:latin typeface="Arial"/>
              </a:rPr>
              <a:t>The strong form of the Efficient Market Hypothesis: price already reflects everything.</a:t>
            </a:r>
          </a:p>
          <a:p>
            <a:pPr algn="l">
              <a:lnSpc>
                <a:spcPct val="118000"/>
              </a:lnSpc>
              <a:spcBef>
                <a:spcPts val="0"/>
              </a:spcBef>
              <a:spcAft>
                <a:spcPts val="1300"/>
              </a:spcAft>
            </a:pPr>
            <a:r>
              <a:rPr sz="2100" b="0" i="0">
                <a:solidFill>
                  <a:srgbClr val="1A1A1A"/>
                </a:solidFill>
                <a:latin typeface="Arial"/>
              </a:rPr>
              <a:t>The self-fulfilling prophecy: signals work only because everyone watches them.</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We take the first two apart in Part 5. We take the third apart right now.</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self-fulfilling prophecy</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claim that a technical signal works not because it is meaningful, but because enough people act on it at the same moment.</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trendline breaks and thousands of traders buy on the break, so price rises, so the trendline looks like it worked.</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self-fulfilling prophecy holds that prices react to technical signals because of the concerted action of participants acting on those signals rather than because of the signals themselves.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16 of 19</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self-fulfilling prophecy cycle, stages one to three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17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A clear and obvious signal attracts participants.</a:t>
            </a:r>
          </a:p>
          <a:p>
            <a:pPr algn="l">
              <a:lnSpc>
                <a:spcPct val="118000"/>
              </a:lnSpc>
              <a:spcBef>
                <a:spcPts val="0"/>
              </a:spcBef>
              <a:spcAft>
                <a:spcPts val="1300"/>
              </a:spcAft>
            </a:pPr>
            <a:r>
              <a:rPr sz="2100" b="0" i="0">
                <a:solidFill>
                  <a:srgbClr val="1A1A1A"/>
                </a:solidFill>
                <a:latin typeface="Arial"/>
              </a:rPr>
              <a:t>2.  Their concerted action creates reliable price reactions.</a:t>
            </a:r>
          </a:p>
          <a:p>
            <a:pPr algn="l">
              <a:lnSpc>
                <a:spcPct val="118000"/>
              </a:lnSpc>
              <a:spcBef>
                <a:spcPts val="0"/>
              </a:spcBef>
              <a:spcAft>
                <a:spcPts val="1300"/>
              </a:spcAft>
            </a:pPr>
            <a:r>
              <a:rPr sz="2100" b="0" i="0">
                <a:solidFill>
                  <a:srgbClr val="1A1A1A"/>
                </a:solidFill>
                <a:latin typeface="Arial"/>
              </a:rPr>
              <a:t>3.  Reliable reactions attract even more participants.</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These three stages are the advantage. This is when the signal is worth trading.</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cycle, stages four to six</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18 of 19</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4.  Participants start to preempt each other for better fills.</a:t>
            </a:r>
          </a:p>
          <a:p>
            <a:pPr algn="l">
              <a:lnSpc>
                <a:spcPct val="118000"/>
              </a:lnSpc>
              <a:spcBef>
                <a:spcPts val="0"/>
              </a:spcBef>
              <a:spcAft>
                <a:spcPts val="1300"/>
              </a:spcAft>
            </a:pPr>
            <a:r>
              <a:rPr sz="2100" b="0" i="0">
                <a:solidFill>
                  <a:srgbClr val="1A1A1A"/>
                </a:solidFill>
                <a:latin typeface="Arial"/>
              </a:rPr>
              <a:t>5.  Reactions drift from expected entry levels and participants abandon the signal.</a:t>
            </a:r>
          </a:p>
          <a:p>
            <a:pPr algn="l">
              <a:lnSpc>
                <a:spcPct val="118000"/>
              </a:lnSpc>
              <a:spcBef>
                <a:spcPts val="0"/>
              </a:spcBef>
              <a:spcAft>
                <a:spcPts val="1300"/>
              </a:spcAft>
            </a:pPr>
            <a:r>
              <a:rPr sz="2100" b="0" i="0">
                <a:solidFill>
                  <a:srgbClr val="1A1A1A"/>
                </a:solidFill>
                <a:latin typeface="Arial"/>
              </a:rPr>
              <a:t>6.  With preempting gone, reliable reactions begin to appear again.</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Then the process repeats. The signal is never permanently dead or permanently alive.</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six stages as one loop</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19 of 19</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1.8</a:t>
            </a:r>
          </a:p>
          <a:p>
            <a:pPr algn="l">
              <a:lnSpc>
                <a:spcPct val="120000"/>
              </a:lnSpc>
              <a:spcBef>
                <a:spcPts val="0"/>
              </a:spcBef>
              <a:spcAft>
                <a:spcPts val="1800"/>
              </a:spcAft>
            </a:pPr>
            <a:r>
              <a:rPr sz="2200" b="0" i="0">
                <a:solidFill>
                  <a:srgbClr val="1A1A1A"/>
                </a:solidFill>
                <a:latin typeface="Palatino"/>
              </a:rPr>
              <a:t>The self-fulfilling prophecy cycle drawn as a circle, with stages one to three bracketed as advantageous entries and stages four to six as disadvantageous.</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1.8 - Lim, The Handbook of Technical Analysis (Wiley, 2016)</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Classical technical analysis</a:t>
            </a:r>
          </a:p>
          <a:p>
            <a:pPr algn="l" marL="237744" indent="-237744">
              <a:lnSpc>
                <a:spcPct val="112000"/>
              </a:lnSpc>
              <a:spcBef>
                <a:spcPts val="0"/>
              </a:spcBef>
              <a:spcAft>
                <a:spcPts val="1200"/>
              </a:spcAft>
            </a:pPr>
            <a:r>
              <a:rPr sz="1800" b="0" i="0">
                <a:solidFill>
                  <a:srgbClr val="1A1A1A"/>
                </a:solidFill>
                <a:latin typeface="Arial"/>
              </a:rPr>
              <a:t>▪  Statistical analysis</a:t>
            </a:r>
          </a:p>
          <a:p>
            <a:pPr algn="l" marL="237744" indent="-237744">
              <a:lnSpc>
                <a:spcPct val="112000"/>
              </a:lnSpc>
              <a:spcBef>
                <a:spcPts val="0"/>
              </a:spcBef>
              <a:spcAft>
                <a:spcPts val="1200"/>
              </a:spcAft>
            </a:pPr>
            <a:r>
              <a:rPr sz="1800" b="0" i="0">
                <a:solidFill>
                  <a:srgbClr val="1A1A1A"/>
                </a:solidFill>
                <a:latin typeface="Arial"/>
              </a:rPr>
              <a:t>▪  Sentiment analysis</a:t>
            </a:r>
          </a:p>
          <a:p>
            <a:pPr algn="l" marL="237744" indent="-237744">
              <a:lnSpc>
                <a:spcPct val="112000"/>
              </a:lnSpc>
              <a:spcBef>
                <a:spcPts val="0"/>
              </a:spcBef>
              <a:spcAft>
                <a:spcPts val="1200"/>
              </a:spcAft>
            </a:pPr>
            <a:r>
              <a:rPr sz="1800" b="0" i="0">
                <a:solidFill>
                  <a:srgbClr val="1A1A1A"/>
                </a:solidFill>
                <a:latin typeface="Arial"/>
              </a:rPr>
              <a:t>▪  Behavioral analysis</a:t>
            </a:r>
          </a:p>
          <a:p>
            <a:pPr algn="l" marL="237744" indent="-237744">
              <a:lnSpc>
                <a:spcPct val="112000"/>
              </a:lnSpc>
              <a:spcBef>
                <a:spcPts val="0"/>
              </a:spcBef>
              <a:spcAft>
                <a:spcPts val="1200"/>
              </a:spcAft>
            </a:pPr>
            <a:r>
              <a:rPr sz="1800" b="0" i="0">
                <a:solidFill>
                  <a:srgbClr val="1A1A1A"/>
                </a:solidFill>
                <a:latin typeface="Arial"/>
              </a:rPr>
              <a:t>▪  The mean reverting or contrarian approach</a:t>
            </a:r>
          </a:p>
          <a:p>
            <a:pPr algn="l" marL="237744" indent="-237744">
              <a:lnSpc>
                <a:spcPct val="112000"/>
              </a:lnSpc>
              <a:spcBef>
                <a:spcPts val="0"/>
              </a:spcBef>
              <a:spcAft>
                <a:spcPts val="1200"/>
              </a:spcAft>
            </a:pPr>
            <a:r>
              <a:rPr sz="1800" b="0" i="0">
                <a:solidFill>
                  <a:srgbClr val="1A1A1A"/>
                </a:solidFill>
                <a:latin typeface="Arial"/>
              </a:rPr>
              <a:t>▪  The non-mean reverting or momentum approach</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Limit entry orders and stop entry orders</a:t>
            </a:r>
          </a:p>
          <a:p>
            <a:pPr algn="l" marL="237744" indent="-237744">
              <a:lnSpc>
                <a:spcPct val="112000"/>
              </a:lnSpc>
              <a:spcBef>
                <a:spcPts val="0"/>
              </a:spcBef>
              <a:spcAft>
                <a:spcPts val="1200"/>
              </a:spcAft>
            </a:pPr>
            <a:r>
              <a:rPr sz="1800" b="0" i="0">
                <a:solidFill>
                  <a:srgbClr val="1A1A1A"/>
                </a:solidFill>
                <a:latin typeface="Arial"/>
              </a:rPr>
              <a:t>▪  Darvas Box and Donchian channel breakouts</a:t>
            </a:r>
          </a:p>
          <a:p>
            <a:pPr algn="l" marL="237744" indent="-237744">
              <a:lnSpc>
                <a:spcPct val="112000"/>
              </a:lnSpc>
              <a:spcBef>
                <a:spcPts val="0"/>
              </a:spcBef>
              <a:spcAft>
                <a:spcPts val="1200"/>
              </a:spcAft>
            </a:pPr>
            <a:r>
              <a:rPr sz="1800" b="0" i="0">
                <a:solidFill>
                  <a:srgbClr val="1A1A1A"/>
                </a:solidFill>
                <a:latin typeface="Arial"/>
              </a:rPr>
              <a:t>▪  The advantages of technical analysis</a:t>
            </a:r>
          </a:p>
          <a:p>
            <a:pPr algn="l" marL="237744" indent="-237744">
              <a:lnSpc>
                <a:spcPct val="112000"/>
              </a:lnSpc>
              <a:spcBef>
                <a:spcPts val="0"/>
              </a:spcBef>
              <a:spcAft>
                <a:spcPts val="1200"/>
              </a:spcAft>
            </a:pPr>
            <a:r>
              <a:rPr sz="1800" b="0" i="0">
                <a:solidFill>
                  <a:srgbClr val="1A1A1A"/>
                </a:solidFill>
                <a:latin typeface="Arial"/>
              </a:rPr>
              <a:t>▪  The disadvantages of technical analysis</a:t>
            </a:r>
          </a:p>
          <a:p>
            <a:pPr algn="l" marL="237744" indent="-237744">
              <a:lnSpc>
                <a:spcPct val="112000"/>
              </a:lnSpc>
              <a:spcBef>
                <a:spcPts val="0"/>
              </a:spcBef>
              <a:spcAft>
                <a:spcPts val="1200"/>
              </a:spcAft>
            </a:pPr>
            <a:r>
              <a:rPr sz="1800" b="0" i="0">
                <a:solidFill>
                  <a:srgbClr val="1A1A1A"/>
                </a:solidFill>
                <a:latin typeface="Arial"/>
              </a:rPr>
              <a:t>▪  The self-fulfilling prophecy</a:t>
            </a:r>
          </a:p>
          <a:p>
            <a:pPr algn="l" marL="237744" indent="-237744">
              <a:lnSpc>
                <a:spcPct val="112000"/>
              </a:lnSpc>
              <a:spcBef>
                <a:spcPts val="0"/>
              </a:spcBef>
              <a:spcAft>
                <a:spcPts val="1200"/>
              </a:spcAft>
            </a:pPr>
            <a:r>
              <a:rPr sz="1800" b="0" i="0">
                <a:solidFill>
                  <a:srgbClr val="1A1A1A"/>
                </a:solidFill>
                <a:latin typeface="Arial"/>
              </a:rPr>
              <a:t>▪  The six stage prophecy cycle, and preempting</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3 of 6 - Classifications  |  recap</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4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Subjectivity</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Which half of technical analysis is objective, and which half is not.</a:t>
            </a:r>
          </a:p>
          <a:p>
            <a:pPr algn="l">
              <a:lnSpc>
                <a:spcPct val="115000"/>
              </a:lnSpc>
              <a:spcBef>
                <a:spcPts val="0"/>
              </a:spcBef>
              <a:spcAft>
                <a:spcPts val="1000"/>
              </a:spcAft>
            </a:pPr>
            <a:r>
              <a:rPr sz="1900" b="0" i="0">
                <a:solidFill>
                  <a:srgbClr val="FFFFFF"/>
                </a:solidFill>
                <a:latin typeface="Arial"/>
              </a:rPr>
              <a:t>Why two honest analysts read the same chart differently.</a:t>
            </a:r>
          </a:p>
          <a:p>
            <a:pPr algn="l">
              <a:lnSpc>
                <a:spcPct val="115000"/>
              </a:lnSpc>
              <a:spcBef>
                <a:spcPts val="0"/>
              </a:spcBef>
              <a:spcAft>
                <a:spcPts val="1000"/>
              </a:spcAft>
            </a:pPr>
            <a:r>
              <a:rPr sz="1900" b="0" i="0">
                <a:solidFill>
                  <a:srgbClr val="FFFFFF"/>
                </a:solidFill>
                <a:latin typeface="Arial"/>
              </a:rPr>
              <a:t>How to resolve conflicting signals instead of freezing.</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35 minutes</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Objective and subjective at the same time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1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chart is objective. It is a historical record and it does not argue.</a:t>
            </a:r>
          </a:p>
          <a:p>
            <a:pPr algn="l">
              <a:lnSpc>
                <a:spcPct val="118000"/>
              </a:lnSpc>
              <a:spcBef>
                <a:spcPts val="0"/>
              </a:spcBef>
              <a:spcAft>
                <a:spcPts val="1300"/>
              </a:spcAft>
            </a:pPr>
            <a:r>
              <a:rPr sz="2100" b="0" i="0">
                <a:solidFill>
                  <a:srgbClr val="1A1A1A"/>
                </a:solidFill>
                <a:latin typeface="Arial"/>
              </a:rPr>
              <a:t>The analysis is subjective. It happens inside a human being.</a:t>
            </a:r>
          </a:p>
        </p:txBody>
      </p:sp>
      <p:sp>
        <p:nvSpPr>
          <p:cNvPr id="8" name="Rectangle 7"/>
          <p:cNvSpPr/>
          <p:nvPr/>
        </p:nvSpPr>
        <p:spPr>
          <a:xfrm>
            <a:off x="777240" y="3272028"/>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308604"/>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data is not the problem. The reader is.</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Analysis is three separate activities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2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Identifying price and indicator patterns.</a:t>
            </a:r>
          </a:p>
          <a:p>
            <a:pPr algn="l">
              <a:lnSpc>
                <a:spcPct val="118000"/>
              </a:lnSpc>
              <a:spcBef>
                <a:spcPts val="0"/>
              </a:spcBef>
              <a:spcAft>
                <a:spcPts val="1300"/>
              </a:spcAft>
            </a:pPr>
            <a:r>
              <a:rPr sz="2100" b="0" i="0">
                <a:solidFill>
                  <a:srgbClr val="1A1A1A"/>
                </a:solidFill>
                <a:latin typeface="Arial"/>
              </a:rPr>
              <a:t>2.  Interpreting what the data means.</a:t>
            </a:r>
          </a:p>
          <a:p>
            <a:pPr algn="l">
              <a:lnSpc>
                <a:spcPct val="118000"/>
              </a:lnSpc>
              <a:spcBef>
                <a:spcPts val="0"/>
              </a:spcBef>
              <a:spcAft>
                <a:spcPts val="1300"/>
              </a:spcAft>
            </a:pPr>
            <a:r>
              <a:rPr sz="2100" b="0" i="0">
                <a:solidFill>
                  <a:srgbClr val="1A1A1A"/>
                </a:solidFill>
                <a:latin typeface="Arial"/>
              </a:rPr>
              <a:t>3.  Inferring what price might do next.</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Subjectivity enters at every one of the three, not just the last.</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Subjectivity</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Two competent analysts, given exactly the same chart, can reach different and equally defensible conclusions.</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One reads an overbought oscillator as a strong trend continuing. Another reads it as a market about to reverse.</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Subjectivity is the dependence of analysis on behavioral traits, filters and biases unique to each analyst or observer.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3 of 36</a:t>
            </a:r>
          </a:p>
        </p:txBody>
      </p:sp>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problem is twofold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4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First: which form of analysis should be applied to this chart at all?</a:t>
            </a:r>
          </a:p>
          <a:p>
            <a:pPr algn="l">
              <a:lnSpc>
                <a:spcPct val="118000"/>
              </a:lnSpc>
              <a:spcBef>
                <a:spcPts val="0"/>
              </a:spcBef>
              <a:spcAft>
                <a:spcPts val="1300"/>
              </a:spcAft>
            </a:pPr>
            <a:r>
              <a:rPr sz="2100" b="0" i="0">
                <a:solidFill>
                  <a:srgbClr val="1A1A1A"/>
                </a:solidFill>
                <a:latin typeface="Arial"/>
              </a:rPr>
              <a:t>Second: which indicators should be applied to it?</a:t>
            </a:r>
          </a:p>
        </p:txBody>
      </p:sp>
      <p:sp>
        <p:nvSpPr>
          <p:cNvPr id="8" name="Rectangle 7"/>
          <p:cNvSpPr/>
          <p:nvPr/>
        </p:nvSpPr>
        <p:spPr>
          <a:xfrm>
            <a:off x="777240" y="3272028"/>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308604"/>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Neither question has a correct answer. Both have consequences.</a:t>
            </a:r>
          </a:p>
        </p:txBody>
      </p:sp>
      <p:sp>
        <p:nvSpPr>
          <p:cNvPr id="10" name="TextBox 9"/>
          <p:cNvSpPr txBox="1"/>
          <p:nvPr/>
        </p:nvSpPr>
        <p:spPr>
          <a:xfrm>
            <a:off x="777240" y="3977385"/>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One plain chart can carry trendlines, moving averages, chart patterns, regression bands, divergence, volatility bands and volume study.</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One chart, reading one: nothing on it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5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1.9</a:t>
            </a:r>
          </a:p>
          <a:p>
            <a:pPr algn="l">
              <a:lnSpc>
                <a:spcPct val="120000"/>
              </a:lnSpc>
              <a:spcBef>
                <a:spcPts val="0"/>
              </a:spcBef>
              <a:spcAft>
                <a:spcPts val="1800"/>
              </a:spcAft>
            </a:pPr>
            <a:r>
              <a:rPr sz="2200" b="0" i="0">
                <a:solidFill>
                  <a:srgbClr val="1A1A1A"/>
                </a:solidFill>
                <a:latin typeface="Palatino"/>
              </a:rPr>
              <a:t>A plain price chart with no analysis drawn on it at all, the raw record before anybody has interpreted it.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1.9 - Lim, The Handbook of Technical Analysis (Wiley, 2016)</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Reading two: trendlines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6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1.10</a:t>
            </a:r>
          </a:p>
          <a:p>
            <a:pPr algn="l">
              <a:lnSpc>
                <a:spcPct val="120000"/>
              </a:lnSpc>
              <a:spcBef>
                <a:spcPts val="0"/>
              </a:spcBef>
              <a:spcAft>
                <a:spcPts val="1800"/>
              </a:spcAft>
            </a:pPr>
            <a:r>
              <a:rPr sz="2200" b="0" i="0">
                <a:solidFill>
                  <a:srgbClr val="1A1A1A"/>
                </a:solidFill>
                <a:latin typeface="Palatino"/>
              </a:rPr>
              <a:t>The same chart with a short-term downtrend line, a longer-term uptrend line, an uptrend line and a downtrend line drawn across it.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1.10 - Lim, The Handbook of Technical Analysis (Wiley, 2016)</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Reading three: moving averages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7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1.11</a:t>
            </a:r>
          </a:p>
          <a:p>
            <a:pPr algn="l">
              <a:lnSpc>
                <a:spcPct val="120000"/>
              </a:lnSpc>
              <a:spcBef>
                <a:spcPts val="0"/>
              </a:spcBef>
              <a:spcAft>
                <a:spcPts val="1800"/>
              </a:spcAft>
            </a:pPr>
            <a:r>
              <a:rPr sz="2200" b="0" i="0">
                <a:solidFill>
                  <a:srgbClr val="1A1A1A"/>
                </a:solidFill>
                <a:latin typeface="Palatino"/>
              </a:rPr>
              <a:t>The same chart with a moving average through it, marked where it acts as support with buy points and where it acts as resistance with a short.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1.11 - Lim, The Handbook of Technical Analysis (Wiley, 2016)</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Reading four: chart patterns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8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1.12</a:t>
            </a:r>
          </a:p>
          <a:p>
            <a:pPr algn="l">
              <a:lnSpc>
                <a:spcPct val="120000"/>
              </a:lnSpc>
              <a:spcBef>
                <a:spcPts val="0"/>
              </a:spcBef>
              <a:spcAft>
                <a:spcPts val="1800"/>
              </a:spcAft>
            </a:pPr>
            <a:r>
              <a:rPr sz="2200" b="0" i="0">
                <a:solidFill>
                  <a:srgbClr val="1A1A1A"/>
                </a:solidFill>
                <a:latin typeface="Palatino"/>
              </a:rPr>
              <a:t>The same chart annotated with an ascending triangle, a head and shoulders, a parabolic move, a symmetrical triangle breakout and a channel retest.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1.12 - Lim, The Handbook of Technical Analysis (Wiley, 2016)</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Reading five: regression and divergence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9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1.13</a:t>
            </a:r>
          </a:p>
          <a:p>
            <a:pPr algn="l">
              <a:lnSpc>
                <a:spcPct val="120000"/>
              </a:lnSpc>
              <a:spcBef>
                <a:spcPts val="0"/>
              </a:spcBef>
              <a:spcAft>
                <a:spcPts val="1800"/>
              </a:spcAft>
            </a:pPr>
            <a:r>
              <a:rPr sz="2200" b="0" i="0">
                <a:solidFill>
                  <a:srgbClr val="1A1A1A"/>
                </a:solidFill>
                <a:latin typeface="Palatino"/>
              </a:rPr>
              <a:t>The same chart with regression lines showing higher highs in price while the CCI panel below makes lower highs, marked standard bearish divergence.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1.13 - Lim, The Handbook of Technical Analysis (Wiley, 2016)</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Reading six: regression with volume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10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1.14</a:t>
            </a:r>
          </a:p>
          <a:p>
            <a:pPr algn="l">
              <a:lnSpc>
                <a:spcPct val="120000"/>
              </a:lnSpc>
              <a:spcBef>
                <a:spcPts val="0"/>
              </a:spcBef>
              <a:spcAft>
                <a:spcPts val="1800"/>
              </a:spcAft>
            </a:pPr>
            <a:r>
              <a:rPr sz="2200" b="0" i="0">
                <a:solidFill>
                  <a:srgbClr val="1A1A1A"/>
                </a:solidFill>
                <a:latin typeface="Palatino"/>
              </a:rPr>
              <a:t>The same chart with regression lines and a volume panel underneath, marking a parabolic buying climax with a volume spike at the blow off.</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1.14 - Lim, The Handbook of Technical Analysis (Wiley, 2016)</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Reading seven: volatility bands, volume and MACD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11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1.15</a:t>
            </a:r>
          </a:p>
          <a:p>
            <a:pPr algn="l">
              <a:lnSpc>
                <a:spcPct val="120000"/>
              </a:lnSpc>
              <a:spcBef>
                <a:spcPts val="0"/>
              </a:spcBef>
              <a:spcAft>
                <a:spcPts val="1800"/>
              </a:spcAft>
            </a:pPr>
            <a:r>
              <a:rPr sz="2200" b="0" i="0">
                <a:solidFill>
                  <a:srgbClr val="1A1A1A"/>
                </a:solidFill>
                <a:latin typeface="Palatino"/>
              </a:rPr>
              <a:t>The same chart again with volatility bands, price exceeding the upper band, the volume spike, and MACD at a historically overbought level.</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1.15 - Lim, The Handbook of Technical Analysis (Wiley, 2016)</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Contradictory signals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Two indicators point in opposite directions at the same moment.</a:t>
            </a:r>
          </a:p>
        </p:txBody>
      </p:sp>
      <p:sp>
        <p:nvSpPr>
          <p:cNvPr id="9" name="Rectangle 8"/>
          <p:cNvSpPr/>
          <p:nvPr/>
        </p:nvSpPr>
        <p:spPr>
          <a:xfrm>
            <a:off x="777240" y="3139567"/>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The MACD says the market is strengthening while the stochastic says it is exhausted.</a:t>
            </a:r>
          </a:p>
        </p:txBody>
      </p:sp>
      <p:sp>
        <p:nvSpPr>
          <p:cNvPr id="11" name="Rectangle 10"/>
          <p:cNvSpPr/>
          <p:nvPr/>
        </p:nvSpPr>
        <p:spPr>
          <a:xfrm>
            <a:off x="777240" y="402056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397484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Contradictory signals are indications from two or more studies that are in clear and direct opposition to one another.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12 of 36</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Confirmatory signals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Two indicators agree, so your confidence in the reading goes up.</a:t>
            </a:r>
          </a:p>
        </p:txBody>
      </p:sp>
      <p:sp>
        <p:nvSpPr>
          <p:cNvPr id="9" name="Rectangle 8"/>
          <p:cNvSpPr/>
          <p:nvPr/>
        </p:nvSpPr>
        <p:spPr>
          <a:xfrm>
            <a:off x="777240" y="3139567"/>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chart pattern breaks upward and volume expands on the same bar.</a:t>
            </a:r>
          </a:p>
        </p:txBody>
      </p:sp>
      <p:sp>
        <p:nvSpPr>
          <p:cNvPr id="11" name="Rectangle 10"/>
          <p:cNvSpPr/>
          <p:nvPr/>
        </p:nvSpPr>
        <p:spPr>
          <a:xfrm>
            <a:off x="777240" y="402056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397484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Confirmatory signals are indications from separate studies that agree with and reinforce the same conclusion.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13 of 36</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Complementary signals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Two signals look contradictory but are actually describing different time horizons, and together they say more than either alone.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20 period reading says slightly overbought while a 100 period reading says slightly oversold: cheap for the long term, stretched for the short term.</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Complementary signals are apparently opposing indications that, once their differing time horizons are recognized, combine into a fuller reading of the market.</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14 of 36</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indicators disagree in the first place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15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mathematics behind each indicator is different.</a:t>
            </a:r>
          </a:p>
          <a:p>
            <a:pPr algn="l">
              <a:lnSpc>
                <a:spcPct val="118000"/>
              </a:lnSpc>
              <a:spcBef>
                <a:spcPts val="0"/>
              </a:spcBef>
              <a:spcAft>
                <a:spcPts val="1300"/>
              </a:spcAft>
            </a:pPr>
            <a:r>
              <a:rPr sz="2100" b="0" i="0">
                <a:solidFill>
                  <a:srgbClr val="1A1A1A"/>
                </a:solidFill>
                <a:latin typeface="Arial"/>
              </a:rPr>
              <a:t>Each one tracks a different time horizon.</a:t>
            </a:r>
          </a:p>
          <a:p>
            <a:pPr algn="l">
              <a:lnSpc>
                <a:spcPct val="118000"/>
              </a:lnSpc>
              <a:spcBef>
                <a:spcPts val="0"/>
              </a:spcBef>
              <a:spcAft>
                <a:spcPts val="1300"/>
              </a:spcAft>
            </a:pPr>
            <a:r>
              <a:rPr sz="2100" b="0" i="0">
                <a:solidFill>
                  <a:srgbClr val="1A1A1A"/>
                </a:solidFill>
                <a:latin typeface="Arial"/>
              </a:rPr>
              <a:t>Data may be missing on one charting platform.</a:t>
            </a:r>
          </a:p>
          <a:p>
            <a:pPr algn="l">
              <a:lnSpc>
                <a:spcPct val="118000"/>
              </a:lnSpc>
              <a:spcBef>
                <a:spcPts val="0"/>
              </a:spcBef>
              <a:spcAft>
                <a:spcPts val="1300"/>
              </a:spcAft>
            </a:pPr>
            <a:r>
              <a:rPr sz="2100" b="0" i="0">
                <a:solidFill>
                  <a:srgbClr val="1A1A1A"/>
                </a:solidFill>
                <a:latin typeface="Arial"/>
              </a:rPr>
              <a:t>Data quality, accuracy and type vary between platforms.</a:t>
            </a:r>
          </a:p>
        </p:txBody>
      </p:sp>
      <p:sp>
        <p:nvSpPr>
          <p:cNvPr id="8" name="Rectangle 7"/>
          <p:cNvSpPr/>
          <p:nvPr/>
        </p:nvSpPr>
        <p:spPr>
          <a:xfrm>
            <a:off x="777240" y="4267199"/>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Two identical indicators on two platforms can honestly disagree.</a:t>
            </a:r>
          </a:p>
        </p:txBody>
      </p:sp>
      <p:sp>
        <p:nvSpPr>
          <p:cNvPr id="10" name="TextBox 9"/>
          <p:cNvSpPr txBox="1"/>
          <p:nvPr/>
        </p:nvSpPr>
        <p:spPr>
          <a:xfrm>
            <a:off x="777240" y="4972557"/>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Tick volume, which counts transactions regardless of size, is one common source of the difference.</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Two oscillators, one chart, opposite answers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16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1.16</a:t>
            </a:r>
          </a:p>
          <a:p>
            <a:pPr algn="l">
              <a:lnSpc>
                <a:spcPct val="120000"/>
              </a:lnSpc>
              <a:spcBef>
                <a:spcPts val="0"/>
              </a:spcBef>
              <a:spcAft>
                <a:spcPts val="1800"/>
              </a:spcAft>
            </a:pPr>
            <a:r>
              <a:rPr sz="2200" b="0" i="0">
                <a:solidFill>
                  <a:srgbClr val="1A1A1A"/>
                </a:solidFill>
                <a:latin typeface="Palatino"/>
              </a:rPr>
              <a:t>A daily Alcoa chart with two oscillators below it: the faster one reads overbought at the same moment the slower one reads oversold.</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1.16 - Lim, The Handbook of Technical Analysis (Wiley, 2016)</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Resolving conflicting chart patterns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17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First, measure the size of each pattern.</a:t>
            </a:r>
          </a:p>
          <a:p>
            <a:pPr algn="l">
              <a:lnSpc>
                <a:spcPct val="118000"/>
              </a:lnSpc>
              <a:spcBef>
                <a:spcPts val="0"/>
              </a:spcBef>
              <a:spcAft>
                <a:spcPts val="1300"/>
              </a:spcAft>
            </a:pPr>
            <a:r>
              <a:rPr sz="2100" b="0" i="0">
                <a:solidFill>
                  <a:srgbClr val="1A1A1A"/>
                </a:solidFill>
                <a:latin typeface="Arial"/>
              </a:rPr>
              <a:t>The sentiment of the larger formation takes precedence.</a:t>
            </a:r>
          </a:p>
          <a:p>
            <a:pPr algn="l">
              <a:lnSpc>
                <a:spcPct val="118000"/>
              </a:lnSpc>
              <a:spcBef>
                <a:spcPts val="0"/>
              </a:spcBef>
              <a:spcAft>
                <a:spcPts val="1300"/>
              </a:spcAft>
            </a:pPr>
            <a:r>
              <a:rPr sz="2100" b="0" i="0">
                <a:solidFill>
                  <a:srgbClr val="1A1A1A"/>
                </a:solidFill>
                <a:latin typeface="Arial"/>
              </a:rPr>
              <a:t>Larger patterns speak for the longer term, smaller ones for the short term.</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 bullish ascending triangle that contains a bearish head and shoulders stays bullish until the neckline breaks.</a:t>
            </a:r>
          </a:p>
        </p:txBody>
      </p:sp>
      <p:sp>
        <p:nvSpPr>
          <p:cNvPr id="10" name="TextBox 9"/>
          <p:cNvSpPr txBox="1"/>
          <p:nvPr/>
        </p:nvSpPr>
        <p:spPr>
          <a:xfrm>
            <a:off x="777240" y="4796282"/>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This one rule removes a large slice of the subjectivity in reading chart formations.</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Conflicting patterns in one formation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18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1.17</a:t>
            </a:r>
          </a:p>
          <a:p>
            <a:pPr algn="l">
              <a:lnSpc>
                <a:spcPct val="120000"/>
              </a:lnSpc>
              <a:spcBef>
                <a:spcPts val="0"/>
              </a:spcBef>
              <a:spcAft>
                <a:spcPts val="1800"/>
              </a:spcAft>
            </a:pPr>
            <a:r>
              <a:rPr sz="2200" b="0" i="0">
                <a:solidFill>
                  <a:srgbClr val="1A1A1A"/>
                </a:solidFill>
                <a:latin typeface="Palatino"/>
              </a:rPr>
              <a:t>An ascending triangle marked bullish, a symmetrical triangle marked neutral, and a complex head and shoulders marked bearish, all in the same stretch of price.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1.17 - Lim, The Handbook of Technical Analysis (Wiley, 2016)</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Patterns that agree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19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1.18</a:t>
            </a:r>
          </a:p>
          <a:p>
            <a:pPr algn="l">
              <a:lnSpc>
                <a:spcPct val="120000"/>
              </a:lnSpc>
              <a:spcBef>
                <a:spcPts val="0"/>
              </a:spcBef>
              <a:spcAft>
                <a:spcPts val="1800"/>
              </a:spcAft>
            </a:pPr>
            <a:r>
              <a:rPr sz="2200" b="0" i="0">
                <a:solidFill>
                  <a:srgbClr val="1A1A1A"/>
                </a:solidFill>
                <a:latin typeface="Palatino"/>
              </a:rPr>
              <a:t>A larger descending triangle and a smaller descending triangle, both bearish, over a complex head and shoulders that is also bearish.</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1.18 - Lim, The Handbook of Technical Analysis (Wiley, 2016)</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same fact, read two ways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20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Oil rises sharply. One analyst calls it bearish: costs go up across the economy.</a:t>
            </a:r>
          </a:p>
          <a:p>
            <a:pPr algn="l">
              <a:lnSpc>
                <a:spcPct val="118000"/>
              </a:lnSpc>
              <a:spcBef>
                <a:spcPts val="0"/>
              </a:spcBef>
              <a:spcAft>
                <a:spcPts val="1300"/>
              </a:spcAft>
            </a:pPr>
            <a:r>
              <a:rPr sz="2100" b="0" i="0">
                <a:solidFill>
                  <a:srgbClr val="1A1A1A"/>
                </a:solidFill>
                <a:latin typeface="Arial"/>
              </a:rPr>
              <a:t>Another calls it bullish: demand is rising, so the economy is healthy.</a:t>
            </a:r>
          </a:p>
          <a:p>
            <a:pPr algn="l">
              <a:lnSpc>
                <a:spcPct val="118000"/>
              </a:lnSpc>
              <a:spcBef>
                <a:spcPts val="0"/>
              </a:spcBef>
              <a:spcAft>
                <a:spcPts val="1300"/>
              </a:spcAft>
            </a:pPr>
            <a:r>
              <a:rPr sz="2100" b="0" i="0">
                <a:solidFill>
                  <a:srgbClr val="1A1A1A"/>
                </a:solidFill>
                <a:latin typeface="Arial"/>
              </a:rPr>
              <a:t>Both are reading the identical fact.</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For every bullish interpretation there is an equal and opposite bearish one.</a:t>
            </a:r>
          </a:p>
        </p:txBody>
      </p:sp>
      <p:sp>
        <p:nvSpPr>
          <p:cNvPr id="10" name="TextBox 9"/>
          <p:cNvSpPr txBox="1"/>
          <p:nvPr/>
        </p:nvSpPr>
        <p:spPr>
          <a:xfrm>
            <a:off x="777240" y="5110988"/>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Notice that both of those analysts are fundamentalists. Subjectivity is not a technical problem.</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Selective perception</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Quietly ignoring the signals that disagree with the view you already hold.</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use three oscillators. Two are bullish, one is not, so you decide the third one is unreliable today.</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Selective perception is the tendency to heed only those signals that support a preconceived view of the market, discarding those that conflict with it.</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21 of 36</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Selective perception, drawn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22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1.19</a:t>
            </a:r>
          </a:p>
          <a:p>
            <a:pPr algn="l">
              <a:lnSpc>
                <a:spcPct val="120000"/>
              </a:lnSpc>
              <a:spcBef>
                <a:spcPts val="0"/>
              </a:spcBef>
              <a:spcAft>
                <a:spcPts val="1800"/>
              </a:spcAft>
            </a:pPr>
            <a:r>
              <a:rPr sz="2200" b="0" i="0">
                <a:solidFill>
                  <a:srgbClr val="1A1A1A"/>
                </a:solidFill>
                <a:latin typeface="Palatino"/>
              </a:rPr>
              <a:t>A head and shoulders in price with three oscillators below it. MACD is bullish and is crossed out with the word ignore written across it; RSI and stochastics are bearish.</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1.19 - Lim, The Handbook of Technical Analysis (Wiley, 2016)</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Even the entry point is subjective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23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 trendline break looks like a hard, objective fact.</a:t>
            </a:r>
          </a:p>
          <a:p>
            <a:pPr algn="l">
              <a:lnSpc>
                <a:spcPct val="118000"/>
              </a:lnSpc>
              <a:spcBef>
                <a:spcPts val="0"/>
              </a:spcBef>
              <a:spcAft>
                <a:spcPts val="1300"/>
              </a:spcAft>
            </a:pPr>
            <a:r>
              <a:rPr sz="2100" b="0" i="0">
                <a:solidFill>
                  <a:srgbClr val="1A1A1A"/>
                </a:solidFill>
                <a:latin typeface="Arial"/>
              </a:rPr>
              <a:t>But you chose which two troughs to connect, and another analyst chose differently.</a:t>
            </a:r>
          </a:p>
          <a:p>
            <a:pPr algn="l">
              <a:lnSpc>
                <a:spcPct val="118000"/>
              </a:lnSpc>
              <a:spcBef>
                <a:spcPts val="0"/>
              </a:spcBef>
              <a:spcAft>
                <a:spcPts val="1300"/>
              </a:spcAft>
            </a:pPr>
            <a:r>
              <a:rPr sz="2100" b="0" i="0">
                <a:solidFill>
                  <a:srgbClr val="1A1A1A"/>
                </a:solidFill>
                <a:latin typeface="Arial"/>
              </a:rPr>
              <a:t>Each act of identification is objective. The choice between them is not.</a:t>
            </a:r>
          </a:p>
        </p:txBody>
      </p:sp>
      <p:sp>
        <p:nvSpPr>
          <p:cNvPr id="8" name="Rectangle 7"/>
          <p:cNvSpPr/>
          <p:nvPr/>
        </p:nvSpPr>
        <p:spPr>
          <a:xfrm>
            <a:off x="777240" y="4084320"/>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Individually objective, collectively subjective.</a:t>
            </a:r>
          </a:p>
        </p:txBody>
      </p:sp>
      <p:sp>
        <p:nvSpPr>
          <p:cNvPr id="10" name="TextBox 9"/>
          <p:cNvSpPr txBox="1"/>
          <p:nvPr/>
        </p:nvSpPr>
        <p:spPr>
          <a:xfrm>
            <a:off x="777240" y="4789678"/>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The same is true of automated trading: the moment a parameter can be adjusted, subjectivity returns.</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Which trendline calls the reversal?</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24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1.20</a:t>
            </a:r>
          </a:p>
          <a:p>
            <a:pPr algn="l">
              <a:lnSpc>
                <a:spcPct val="120000"/>
              </a:lnSpc>
              <a:spcBef>
                <a:spcPts val="0"/>
              </a:spcBef>
              <a:spcAft>
                <a:spcPts val="1800"/>
              </a:spcAft>
            </a:pPr>
            <a:r>
              <a:rPr sz="2200" b="0" i="0">
                <a:solidFill>
                  <a:srgbClr val="1A1A1A"/>
                </a:solidFill>
                <a:latin typeface="Palatino"/>
              </a:rPr>
              <a:t>One market top with two different uptrend lines drawn under it, A and B, each penetrated at a different price and a different moment.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1.20 - Lim, The Handbook of Technical Analysis (Wiley, 2016)</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price filter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You require price to move a set distance past the level before you accept the breakout.</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fixed peso excursion, a percentage of the breakout price, or a multiple of average true range.</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price-based filter validates a breakout by requiring a specified absolute, relative, or volatility-scaled price excursion beyond the trigger level.</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25 of 36</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time filter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You require the market to hold beyond the level for a set amount of time before you accept it.</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Wait for a set number of bars to close beyond the trendline before entering.</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time-based filter validates a breakout by requiring the market to sustain the excursion for a specified duration or number of closed bars.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26 of 36</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algorithmic filter</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You require a specific sequence of events, not just a distance or a delay.</a:t>
            </a:r>
          </a:p>
        </p:txBody>
      </p:sp>
      <p:sp>
        <p:nvSpPr>
          <p:cNvPr id="9" name="Rectangle 8"/>
          <p:cNvSpPr/>
          <p:nvPr/>
        </p:nvSpPr>
        <p:spPr>
          <a:xfrm>
            <a:off x="777240" y="3139567"/>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particular sequence of closed bars, or a sequence of new peaks or troughs, or a retest of the barrier after the break.</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An algorithmic filter validates a breakout by requiring a defined sequence of price events, such as bar sequences, successive peaks or troughs, or a barrier retest.</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27 of 36</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three filter families beside the trade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28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1.21</a:t>
            </a:r>
          </a:p>
          <a:p>
            <a:pPr algn="l">
              <a:lnSpc>
                <a:spcPct val="120000"/>
              </a:lnSpc>
              <a:spcBef>
                <a:spcPts val="0"/>
              </a:spcBef>
              <a:spcAft>
                <a:spcPts val="1800"/>
              </a:spcAft>
            </a:pPr>
            <a:r>
              <a:rPr sz="2200" b="0" i="0">
                <a:solidFill>
                  <a:srgbClr val="1A1A1A"/>
                </a:solidFill>
                <a:latin typeface="Palatino"/>
              </a:rPr>
              <a:t>A trendline penetration on the left with a question mark on the entry, and on the right the full list: price-based, time-based and event-based filters.</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1.21 - Lim, The Handbook of Technical Analysis (Wiley, 2016)</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An exercise: read the chart yourself</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29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You get a plain four hourly chart of USDCAD with nothing drawn on it.</a:t>
            </a:r>
          </a:p>
          <a:p>
            <a:pPr algn="l">
              <a:lnSpc>
                <a:spcPct val="118000"/>
              </a:lnSpc>
              <a:spcBef>
                <a:spcPts val="0"/>
              </a:spcBef>
              <a:spcAft>
                <a:spcPts val="1300"/>
              </a:spcAft>
            </a:pPr>
            <a:r>
              <a:rPr sz="2100" b="0" i="0">
                <a:solidFill>
                  <a:srgbClr val="1A1A1A"/>
                </a:solidFill>
                <a:latin typeface="Arial"/>
              </a:rPr>
              <a:t>2.  Draw the trendlines you think mark the trend changes.</a:t>
            </a:r>
          </a:p>
          <a:p>
            <a:pPr algn="l">
              <a:lnSpc>
                <a:spcPct val="118000"/>
              </a:lnSpc>
              <a:spcBef>
                <a:spcPts val="0"/>
              </a:spcBef>
              <a:spcAft>
                <a:spcPts val="1300"/>
              </a:spcAft>
            </a:pPr>
            <a:r>
              <a:rPr sz="2100" b="0" i="0">
                <a:solidFill>
                  <a:srgbClr val="1A1A1A"/>
                </a:solidFill>
                <a:latin typeface="Arial"/>
              </a:rPr>
              <a:t>3.  Compare with the person beside you, then compare with the book.</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No marks and no right answer. The differences are the lesson.</a:t>
            </a:r>
          </a:p>
        </p:txBody>
      </p:sp>
      <p:sp>
        <p:nvSpPr>
          <p:cNvPr id="10" name="TextBox 9"/>
          <p:cNvSpPr txBox="1"/>
          <p:nvPr/>
        </p:nvSpPr>
        <p:spPr>
          <a:xfrm>
            <a:off x="777240" y="4474972"/>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This is the book's own exercise, on printed pages 27 to 29. You can run it again at home.</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chart. Draw your trendlines now.</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30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1.22</a:t>
            </a:r>
          </a:p>
          <a:p>
            <a:pPr algn="l">
              <a:lnSpc>
                <a:spcPct val="120000"/>
              </a:lnSpc>
              <a:spcBef>
                <a:spcPts val="0"/>
              </a:spcBef>
              <a:spcAft>
                <a:spcPts val="1800"/>
              </a:spcAft>
            </a:pPr>
            <a:r>
              <a:rPr sz="2200" b="0" i="0">
                <a:solidFill>
                  <a:srgbClr val="1A1A1A"/>
                </a:solidFill>
                <a:latin typeface="Palatino"/>
              </a:rPr>
              <a:t>A plain four hourly bar chart of USDCAD with no lines, no indicators and no annotations, captioned a basic bar chart and asking what the technical analyst can see.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1.22 - Lim, The Handbook of Technical Analysis (Wiley, 2016)</a:t>
            </a:r>
          </a:p>
        </p:txBody>
      </p:sp>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Now compare with the person beside you</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31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Put the two charts side by side.</a:t>
            </a:r>
          </a:p>
          <a:p>
            <a:pPr algn="l">
              <a:lnSpc>
                <a:spcPct val="118000"/>
              </a:lnSpc>
              <a:spcBef>
                <a:spcPts val="0"/>
              </a:spcBef>
              <a:spcAft>
                <a:spcPts val="1300"/>
              </a:spcAft>
            </a:pPr>
            <a:r>
              <a:rPr sz="2100" b="0" i="0">
                <a:solidFill>
                  <a:srgbClr val="1A1A1A"/>
                </a:solidFill>
                <a:latin typeface="Arial"/>
              </a:rPr>
              <a:t>Find one trendline you both drew, and one that only one of you drew.</a:t>
            </a:r>
          </a:p>
          <a:p>
            <a:pPr algn="l">
              <a:lnSpc>
                <a:spcPct val="118000"/>
              </a:lnSpc>
              <a:spcBef>
                <a:spcPts val="0"/>
              </a:spcBef>
              <a:spcAft>
                <a:spcPts val="1300"/>
              </a:spcAft>
            </a:pPr>
            <a:r>
              <a:rPr sz="2100" b="0" i="0">
                <a:solidFill>
                  <a:srgbClr val="1A1A1A"/>
                </a:solidFill>
                <a:latin typeface="Arial"/>
              </a:rPr>
              <a:t>Neither of you has made a mistake.</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Two honest analysts, one chart, two readings. You have just produced the argument of this part.</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Now compare with the book</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32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1.23</a:t>
            </a:r>
          </a:p>
          <a:p>
            <a:pPr algn="l">
              <a:lnSpc>
                <a:spcPct val="120000"/>
              </a:lnSpc>
              <a:spcBef>
                <a:spcPts val="0"/>
              </a:spcBef>
              <a:spcAft>
                <a:spcPts val="1800"/>
              </a:spcAft>
            </a:pPr>
            <a:r>
              <a:rPr sz="2200" b="0" i="0">
                <a:solidFill>
                  <a:srgbClr val="1A1A1A"/>
                </a:solidFill>
                <a:latin typeface="Palatino"/>
              </a:rPr>
              <a:t>The same four hourly USDCAD chart carrying the book's own trendline analysis: a rising line under the first advance, a falling line from the high, a second rising line, and a final falling line down the right hand side.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1.23 - Lim, The Handbook of Technical Analysis (Wiley, 2016)</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Second pass: find the chart patterns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33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Go back to your own chart, the one with no lines on it.</a:t>
            </a:r>
          </a:p>
          <a:p>
            <a:pPr algn="l">
              <a:lnSpc>
                <a:spcPct val="118000"/>
              </a:lnSpc>
              <a:spcBef>
                <a:spcPts val="0"/>
              </a:spcBef>
              <a:spcAft>
                <a:spcPts val="1300"/>
              </a:spcAft>
            </a:pPr>
            <a:r>
              <a:rPr sz="2100" b="0" i="0">
                <a:solidFill>
                  <a:srgbClr val="1A1A1A"/>
                </a:solidFill>
                <a:latin typeface="Arial"/>
              </a:rPr>
              <a:t>Mark any chart pattern you can name.</a:t>
            </a:r>
          </a:p>
          <a:p>
            <a:pPr algn="l">
              <a:lnSpc>
                <a:spcPct val="118000"/>
              </a:lnSpc>
              <a:spcBef>
                <a:spcPts val="0"/>
              </a:spcBef>
              <a:spcAft>
                <a:spcPts val="1300"/>
              </a:spcAft>
            </a:pPr>
            <a:r>
              <a:rPr sz="2100" b="0" i="0">
                <a:solidFill>
                  <a:srgbClr val="1A1A1A"/>
                </a:solidFill>
                <a:latin typeface="Arial"/>
              </a:rPr>
              <a:t>If you cannot name any yet, that is expected. We learn them properly later in the course.</a:t>
            </a:r>
          </a:p>
        </p:txBody>
      </p:sp>
      <p:sp>
        <p:nvSpPr>
          <p:cNvPr id="8" name="Rectangle 7"/>
          <p:cNvSpPr/>
          <p:nvPr/>
        </p:nvSpPr>
        <p:spPr>
          <a:xfrm>
            <a:off x="777240" y="4084320"/>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Two minutes, then we compare again.</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book's patterns, for comparison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34 of 36</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1.24</a:t>
            </a:r>
          </a:p>
          <a:p>
            <a:pPr algn="l">
              <a:lnSpc>
                <a:spcPct val="120000"/>
              </a:lnSpc>
              <a:spcBef>
                <a:spcPts val="0"/>
              </a:spcBef>
              <a:spcAft>
                <a:spcPts val="1800"/>
              </a:spcAft>
            </a:pPr>
            <a:r>
              <a:rPr sz="2200" b="0" i="0">
                <a:solidFill>
                  <a:srgbClr val="1A1A1A"/>
                </a:solidFill>
                <a:latin typeface="Palatino"/>
              </a:rPr>
              <a:t>The same USDCAD chart with six named formations marked: an expanding triangle for uncertainty, a bearish rising wedge, two bearish downtrending channels, a bullish inverted head and shoulders, and a bearish symmetrical triangle at a resistance zone.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1.24 - Lim, The Handbook of Technical Analysis (Wiley, 2016)</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Were there differences? Good.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35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The book's own answer is that differences here are not errors.</a:t>
            </a:r>
          </a:p>
          <a:p>
            <a:pPr algn="l">
              <a:lnSpc>
                <a:spcPct val="118000"/>
              </a:lnSpc>
              <a:spcBef>
                <a:spcPts val="0"/>
              </a:spcBef>
              <a:spcAft>
                <a:spcPts val="1300"/>
              </a:spcAft>
            </a:pPr>
            <a:r>
              <a:rPr sz="2100" b="0" i="0">
                <a:solidFill>
                  <a:srgbClr val="1A1A1A"/>
                </a:solidFill>
                <a:latin typeface="Arial"/>
              </a:rPr>
              <a:t>They are merely a consequence of subjectivity.</a:t>
            </a:r>
          </a:p>
          <a:p>
            <a:pPr algn="l">
              <a:lnSpc>
                <a:spcPct val="118000"/>
              </a:lnSpc>
              <a:spcBef>
                <a:spcPts val="0"/>
              </a:spcBef>
              <a:spcAft>
                <a:spcPts val="1300"/>
              </a:spcAft>
            </a:pPr>
            <a:r>
              <a:rPr sz="2100" b="0" i="0">
                <a:solidFill>
                  <a:srgbClr val="1A1A1A"/>
                </a:solidFill>
                <a:latin typeface="Arial"/>
              </a:rPr>
              <a:t>The fact that you can draw alternate trendlines at all is where subjectivity enters.</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You have just watched identification, interpretation and inference happen to one chart, twice.</a:t>
            </a:r>
          </a:p>
        </p:txBody>
      </p:sp>
      <p:sp>
        <p:nvSpPr>
          <p:cNvPr id="10" name="TextBox 9"/>
          <p:cNvSpPr txBox="1"/>
          <p:nvPr/>
        </p:nvSpPr>
        <p:spPr>
          <a:xfrm>
            <a:off x="777240" y="5110988"/>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Homework 1 is this exercise on a live platform: find charts showing different trends, draw the trendlines, interpret them.</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Subjectivity shrinks with practice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36 of 36</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 novice cannot see the trendlines, the patterns or the angles at first.</a:t>
            </a:r>
          </a:p>
          <a:p>
            <a:pPr algn="l">
              <a:lnSpc>
                <a:spcPct val="118000"/>
              </a:lnSpc>
              <a:spcBef>
                <a:spcPts val="0"/>
              </a:spcBef>
              <a:spcAft>
                <a:spcPts val="1300"/>
              </a:spcAft>
            </a:pPr>
            <a:r>
              <a:rPr sz="2100" b="0" i="0">
                <a:solidFill>
                  <a:srgbClr val="1A1A1A"/>
                </a:solidFill>
                <a:latin typeface="Arial"/>
              </a:rPr>
              <a:t>With enough chart hours, the same formations become obvious.</a:t>
            </a:r>
          </a:p>
          <a:p>
            <a:pPr algn="l">
              <a:lnSpc>
                <a:spcPct val="118000"/>
              </a:lnSpc>
              <a:spcBef>
                <a:spcPts val="0"/>
              </a:spcBef>
              <a:spcAft>
                <a:spcPts val="1300"/>
              </a:spcAft>
            </a:pPr>
            <a:r>
              <a:rPr sz="2100" b="0" i="0">
                <a:solidFill>
                  <a:srgbClr val="1A1A1A"/>
                </a:solidFill>
                <a:latin typeface="Arial"/>
              </a:rPr>
              <a:t>The subjectivity never reaches zero, but it falls a long way.</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Nothing on this slide can be achieved by reading. Only by looking at charts.</a:t>
            </a:r>
          </a:p>
        </p:txBody>
      </p:sp>
      <p:sp>
        <p:nvSpPr>
          <p:cNvPr id="10" name="TextBox 9"/>
          <p:cNvSpPr txBox="1"/>
          <p:nvPr/>
        </p:nvSpPr>
        <p:spPr>
          <a:xfrm>
            <a:off x="777240" y="4796282"/>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Run the exercise again in a month. Your lines will change. The chart will not.</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Objective chart, subjective analysis</a:t>
            </a:r>
          </a:p>
          <a:p>
            <a:pPr algn="l" marL="237744" indent="-237744">
              <a:lnSpc>
                <a:spcPct val="112000"/>
              </a:lnSpc>
              <a:spcBef>
                <a:spcPts val="0"/>
              </a:spcBef>
              <a:spcAft>
                <a:spcPts val="1200"/>
              </a:spcAft>
            </a:pPr>
            <a:r>
              <a:rPr sz="1800" b="0" i="0">
                <a:solidFill>
                  <a:srgbClr val="1A1A1A"/>
                </a:solidFill>
                <a:latin typeface="Arial"/>
              </a:rPr>
              <a:t>▪  Identifying, interpreting, inferring</a:t>
            </a:r>
          </a:p>
          <a:p>
            <a:pPr algn="l" marL="237744" indent="-237744">
              <a:lnSpc>
                <a:spcPct val="112000"/>
              </a:lnSpc>
              <a:spcBef>
                <a:spcPts val="0"/>
              </a:spcBef>
              <a:spcAft>
                <a:spcPts val="1200"/>
              </a:spcAft>
            </a:pPr>
            <a:r>
              <a:rPr sz="1800" b="0" i="0">
                <a:solidFill>
                  <a:srgbClr val="1A1A1A"/>
                </a:solidFill>
                <a:latin typeface="Arial"/>
              </a:rPr>
              <a:t>▪  Subjectivity in the choice of analysis and studies</a:t>
            </a:r>
          </a:p>
          <a:p>
            <a:pPr algn="l" marL="237744" indent="-237744">
              <a:lnSpc>
                <a:spcPct val="112000"/>
              </a:lnSpc>
              <a:spcBef>
                <a:spcPts val="0"/>
              </a:spcBef>
              <a:spcAft>
                <a:spcPts val="1200"/>
              </a:spcAft>
            </a:pPr>
            <a:r>
              <a:rPr sz="1800" b="0" i="0">
                <a:solidFill>
                  <a:srgbClr val="1A1A1A"/>
                </a:solidFill>
                <a:latin typeface="Arial"/>
              </a:rPr>
              <a:t>▪  Contradictory signals</a:t>
            </a:r>
          </a:p>
          <a:p>
            <a:pPr algn="l" marL="237744" indent="-237744">
              <a:lnSpc>
                <a:spcPct val="112000"/>
              </a:lnSpc>
              <a:spcBef>
                <a:spcPts val="0"/>
              </a:spcBef>
              <a:spcAft>
                <a:spcPts val="1200"/>
              </a:spcAft>
            </a:pPr>
            <a:r>
              <a:rPr sz="1800" b="0" i="0">
                <a:solidFill>
                  <a:srgbClr val="1A1A1A"/>
                </a:solidFill>
                <a:latin typeface="Arial"/>
              </a:rPr>
              <a:t>▪  Confirmatory signals</a:t>
            </a:r>
          </a:p>
          <a:p>
            <a:pPr algn="l" marL="237744" indent="-237744">
              <a:lnSpc>
                <a:spcPct val="112000"/>
              </a:lnSpc>
              <a:spcBef>
                <a:spcPts val="0"/>
              </a:spcBef>
              <a:spcAft>
                <a:spcPts val="1200"/>
              </a:spcAft>
            </a:pPr>
            <a:r>
              <a:rPr sz="1800" b="0" i="0">
                <a:solidFill>
                  <a:srgbClr val="1A1A1A"/>
                </a:solidFill>
                <a:latin typeface="Arial"/>
              </a:rPr>
              <a:t>▪  Complementary signals</a:t>
            </a:r>
          </a:p>
          <a:p>
            <a:pPr algn="l" marL="237744" indent="-237744">
              <a:lnSpc>
                <a:spcPct val="112000"/>
              </a:lnSpc>
              <a:spcBef>
                <a:spcPts val="0"/>
              </a:spcBef>
              <a:spcAft>
                <a:spcPts val="1200"/>
              </a:spcAft>
            </a:pPr>
            <a:r>
              <a:rPr sz="1800" b="0" i="0">
                <a:solidFill>
                  <a:srgbClr val="1A1A1A"/>
                </a:solidFill>
                <a:latin typeface="Arial"/>
              </a:rPr>
              <a:t>▪  Why indicators disagree, and tick volume</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larger formation takes precedence</a:t>
            </a:r>
          </a:p>
          <a:p>
            <a:pPr algn="l" marL="237744" indent="-237744">
              <a:lnSpc>
                <a:spcPct val="112000"/>
              </a:lnSpc>
              <a:spcBef>
                <a:spcPts val="0"/>
              </a:spcBef>
              <a:spcAft>
                <a:spcPts val="1200"/>
              </a:spcAft>
            </a:pPr>
            <a:r>
              <a:rPr sz="1800" b="0" i="0">
                <a:solidFill>
                  <a:srgbClr val="1A1A1A"/>
                </a:solidFill>
                <a:latin typeface="Arial"/>
              </a:rPr>
              <a:t>▪  Equal and opposite interpretations</a:t>
            </a:r>
          </a:p>
          <a:p>
            <a:pPr algn="l" marL="237744" indent="-237744">
              <a:lnSpc>
                <a:spcPct val="112000"/>
              </a:lnSpc>
              <a:spcBef>
                <a:spcPts val="0"/>
              </a:spcBef>
              <a:spcAft>
                <a:spcPts val="1200"/>
              </a:spcAft>
            </a:pPr>
            <a:r>
              <a:rPr sz="1800" b="0" i="0">
                <a:solidFill>
                  <a:srgbClr val="1A1A1A"/>
                </a:solidFill>
                <a:latin typeface="Arial"/>
              </a:rPr>
              <a:t>▪  Selective perception</a:t>
            </a:r>
          </a:p>
          <a:p>
            <a:pPr algn="l" marL="237744" indent="-237744">
              <a:lnSpc>
                <a:spcPct val="112000"/>
              </a:lnSpc>
              <a:spcBef>
                <a:spcPts val="0"/>
              </a:spcBef>
              <a:spcAft>
                <a:spcPts val="1200"/>
              </a:spcAft>
            </a:pPr>
            <a:r>
              <a:rPr sz="1800" b="0" i="0">
                <a:solidFill>
                  <a:srgbClr val="1A1A1A"/>
                </a:solidFill>
                <a:latin typeface="Arial"/>
              </a:rPr>
              <a:t>▪  Individually objective, collectively subjective</a:t>
            </a:r>
          </a:p>
          <a:p>
            <a:pPr algn="l" marL="237744" indent="-237744">
              <a:lnSpc>
                <a:spcPct val="112000"/>
              </a:lnSpc>
              <a:spcBef>
                <a:spcPts val="0"/>
              </a:spcBef>
              <a:spcAft>
                <a:spcPts val="1200"/>
              </a:spcAft>
            </a:pPr>
            <a:r>
              <a:rPr sz="1800" b="0" i="0">
                <a:solidFill>
                  <a:srgbClr val="1A1A1A"/>
                </a:solidFill>
                <a:latin typeface="Arial"/>
              </a:rPr>
              <a:t>▪  Price, time and algorithmic filters</a:t>
            </a:r>
          </a:p>
          <a:p>
            <a:pPr algn="l" marL="237744" indent="-237744">
              <a:lnSpc>
                <a:spcPct val="112000"/>
              </a:lnSpc>
              <a:spcBef>
                <a:spcPts val="0"/>
              </a:spcBef>
              <a:spcAft>
                <a:spcPts val="1200"/>
              </a:spcAft>
            </a:pPr>
            <a:r>
              <a:rPr sz="1800" b="0" i="0">
                <a:solidFill>
                  <a:srgbClr val="1A1A1A"/>
                </a:solidFill>
                <a:latin typeface="Arial"/>
              </a:rPr>
              <a:t>▪  Your own trendlines, against a classmate's and against the book's</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4 of 6 - Subjectivity  |  recap</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5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The Assumptions Underneath Everything</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The three assumptions that make technical analysis possible.</a:t>
            </a:r>
          </a:p>
          <a:p>
            <a:pPr algn="l">
              <a:lnSpc>
                <a:spcPct val="115000"/>
              </a:lnSpc>
              <a:spcBef>
                <a:spcPts val="0"/>
              </a:spcBef>
              <a:spcAft>
                <a:spcPts val="1000"/>
              </a:spcAft>
            </a:pPr>
            <a:r>
              <a:rPr sz="1900" b="0" i="0">
                <a:solidFill>
                  <a:srgbClr val="FFFFFF"/>
                </a:solidFill>
                <a:latin typeface="Arial"/>
              </a:rPr>
              <a:t>Market discounting, the Efficient Market Hypothesis, and random walk.</a:t>
            </a:r>
          </a:p>
          <a:p>
            <a:pPr algn="l">
              <a:lnSpc>
                <a:spcPct val="115000"/>
              </a:lnSpc>
              <a:spcBef>
                <a:spcPts val="0"/>
              </a:spcBef>
              <a:spcAft>
                <a:spcPts val="1000"/>
              </a:spcAft>
            </a:pPr>
            <a:r>
              <a:rPr sz="1900" b="0" i="0">
                <a:solidFill>
                  <a:srgbClr val="FFFFFF"/>
                </a:solidFill>
                <a:latin typeface="Arial"/>
              </a:rPr>
              <a:t>The four assumptions you apply at the chart.</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30 minutes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Three assumptions hold the subject up</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1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The market discounts everything.</a:t>
            </a:r>
          </a:p>
          <a:p>
            <a:pPr algn="l">
              <a:lnSpc>
                <a:spcPct val="118000"/>
              </a:lnSpc>
              <a:spcBef>
                <a:spcPts val="0"/>
              </a:spcBef>
              <a:spcAft>
                <a:spcPts val="1300"/>
              </a:spcAft>
            </a:pPr>
            <a:r>
              <a:rPr sz="2100" b="0" i="0">
                <a:solidFill>
                  <a:srgbClr val="1A1A1A"/>
                </a:solidFill>
                <a:latin typeface="Arial"/>
              </a:rPr>
              <a:t>2.  Market behavior tends to repeat itself.</a:t>
            </a:r>
          </a:p>
          <a:p>
            <a:pPr algn="l">
              <a:lnSpc>
                <a:spcPct val="118000"/>
              </a:lnSpc>
              <a:spcBef>
                <a:spcPts val="0"/>
              </a:spcBef>
              <a:spcAft>
                <a:spcPts val="1300"/>
              </a:spcAft>
            </a:pPr>
            <a:r>
              <a:rPr sz="2100" b="0" i="0">
                <a:solidFill>
                  <a:srgbClr val="1A1A1A"/>
                </a:solidFill>
                <a:latin typeface="Arial"/>
              </a:rPr>
              <a:t>3.  The market tends to move in trends.</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Remove any one of these and technical analysis stops making sense.</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Market discounting</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price you see already contains everything the market knows and expects. You do not need to hunt for the reason.</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share drifts up for two weeks before good news is announced. The market was already discounting it.</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Market discounting is the assumption that market action, including price action, reflects all known information in the markets.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2 of 33</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market can and cannot discount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3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It CAN discount known information.</a:t>
            </a:r>
          </a:p>
          <a:p>
            <a:pPr algn="l">
              <a:lnSpc>
                <a:spcPct val="118000"/>
              </a:lnSpc>
              <a:spcBef>
                <a:spcPts val="0"/>
              </a:spcBef>
              <a:spcAft>
                <a:spcPts val="1300"/>
              </a:spcAft>
            </a:pPr>
            <a:r>
              <a:rPr sz="2100" b="0" i="0">
                <a:solidFill>
                  <a:srgbClr val="1A1A1A"/>
                </a:solidFill>
                <a:latin typeface="Arial"/>
              </a:rPr>
              <a:t>It CAN discount expectations about known information.</a:t>
            </a:r>
          </a:p>
          <a:p>
            <a:pPr algn="l">
              <a:lnSpc>
                <a:spcPct val="118000"/>
              </a:lnSpc>
              <a:spcBef>
                <a:spcPts val="0"/>
              </a:spcBef>
              <a:spcAft>
                <a:spcPts val="1300"/>
              </a:spcAft>
            </a:pPr>
            <a:r>
              <a:rPr sz="2100" b="0" i="0">
                <a:solidFill>
                  <a:srgbClr val="1A1A1A"/>
                </a:solidFill>
                <a:latin typeface="Arial"/>
              </a:rPr>
              <a:t>It CAN discount expectations about potential events.</a:t>
            </a:r>
          </a:p>
          <a:p>
            <a:pPr algn="l">
              <a:lnSpc>
                <a:spcPct val="118000"/>
              </a:lnSpc>
              <a:spcBef>
                <a:spcPts val="0"/>
              </a:spcBef>
              <a:spcAft>
                <a:spcPts val="1300"/>
              </a:spcAft>
            </a:pPr>
            <a:r>
              <a:rPr sz="2100" b="0" i="0">
                <a:solidFill>
                  <a:srgbClr val="1A1A1A"/>
                </a:solidFill>
                <a:latin typeface="Arial"/>
              </a:rPr>
              <a:t>It CANNOT discount unexpected events.</a:t>
            </a:r>
          </a:p>
          <a:p>
            <a:pPr algn="l">
              <a:lnSpc>
                <a:spcPct val="118000"/>
              </a:lnSpc>
              <a:spcBef>
                <a:spcPts val="0"/>
              </a:spcBef>
              <a:spcAft>
                <a:spcPts val="1300"/>
              </a:spcAft>
            </a:pPr>
            <a:r>
              <a:rPr sz="2100" b="0" i="0">
                <a:solidFill>
                  <a:srgbClr val="1A1A1A"/>
                </a:solidFill>
                <a:latin typeface="Arial"/>
              </a:rPr>
              <a:t>It CANNOT discount unknown information.</a:t>
            </a:r>
          </a:p>
        </p:txBody>
      </p:sp>
      <p:sp>
        <p:nvSpPr>
          <p:cNvPr id="8" name="Rectangle 7"/>
          <p:cNvSpPr/>
          <p:nvPr/>
        </p:nvSpPr>
        <p:spPr>
          <a:xfrm>
            <a:off x="777240" y="476478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Insider activity counts as known information, because the insider's buying moves the price.</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the market is really discounting</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4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Information about actual events.</a:t>
            </a:r>
          </a:p>
          <a:p>
            <a:pPr algn="l">
              <a:lnSpc>
                <a:spcPct val="118000"/>
              </a:lnSpc>
              <a:spcBef>
                <a:spcPts val="0"/>
              </a:spcBef>
              <a:spcAft>
                <a:spcPts val="1300"/>
              </a:spcAft>
            </a:pPr>
            <a:r>
              <a:rPr sz="2100" b="0" i="0">
                <a:solidFill>
                  <a:srgbClr val="1A1A1A"/>
                </a:solidFill>
                <a:latin typeface="Arial"/>
              </a:rPr>
              <a:t>Expectation about actual events.</a:t>
            </a:r>
          </a:p>
          <a:p>
            <a:pPr algn="l">
              <a:lnSpc>
                <a:spcPct val="118000"/>
              </a:lnSpc>
              <a:spcBef>
                <a:spcPts val="0"/>
              </a:spcBef>
              <a:spcAft>
                <a:spcPts val="1300"/>
              </a:spcAft>
            </a:pPr>
            <a:r>
              <a:rPr sz="2100" b="0" i="0">
                <a:solidFill>
                  <a:srgbClr val="1A1A1A"/>
                </a:solidFill>
                <a:latin typeface="Arial"/>
              </a:rPr>
              <a:t>Information about expected events.</a:t>
            </a:r>
          </a:p>
          <a:p>
            <a:pPr algn="l">
              <a:lnSpc>
                <a:spcPct val="118000"/>
              </a:lnSpc>
              <a:spcBef>
                <a:spcPts val="0"/>
              </a:spcBef>
              <a:spcAft>
                <a:spcPts val="1300"/>
              </a:spcAft>
            </a:pPr>
            <a:r>
              <a:rPr sz="2100" b="0" i="0">
                <a:solidFill>
                  <a:srgbClr val="1A1A1A"/>
                </a:solidFill>
                <a:latin typeface="Arial"/>
              </a:rPr>
              <a:t>Expectation about expected events.</a:t>
            </a:r>
          </a:p>
          <a:p>
            <a:pPr algn="l">
              <a:lnSpc>
                <a:spcPct val="118000"/>
              </a:lnSpc>
              <a:spcBef>
                <a:spcPts val="0"/>
              </a:spcBef>
              <a:spcAft>
                <a:spcPts val="1300"/>
              </a:spcAft>
            </a:pPr>
            <a:r>
              <a:rPr sz="2100" b="0" i="0">
                <a:solidFill>
                  <a:srgbClr val="1A1A1A"/>
                </a:solidFill>
                <a:latin typeface="Arial"/>
              </a:rPr>
              <a:t>Expectation about the possibility of unexpected events.</a:t>
            </a:r>
          </a:p>
        </p:txBody>
      </p:sp>
      <p:sp>
        <p:nvSpPr>
          <p:cNvPr id="8" name="Rectangle 7"/>
          <p:cNvSpPr/>
          <p:nvPr/>
        </p:nvSpPr>
        <p:spPr>
          <a:xfrm>
            <a:off x="777240" y="476478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Not the news alone, but what everyone expects about it.</a:t>
            </a:r>
          </a:p>
        </p:txBody>
      </p:sp>
      <p:sp>
        <p:nvSpPr>
          <p:cNvPr id="10" name="TextBox 9"/>
          <p:cNvSpPr txBox="1"/>
          <p:nvPr/>
        </p:nvSpPr>
        <p:spPr>
          <a:xfrm>
            <a:off x="777240" y="5470144"/>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This is why a company can beat expectations and still fall. The good result was already priced.</a:t>
            </a:r>
          </a:p>
        </p:txBody>
      </p:sp>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 semi-efficient market absorbing news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5 of 33</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1.28</a:t>
            </a:r>
          </a:p>
          <a:p>
            <a:pPr algn="l">
              <a:lnSpc>
                <a:spcPct val="120000"/>
              </a:lnSpc>
              <a:spcBef>
                <a:spcPts val="0"/>
              </a:spcBef>
              <a:spcAft>
                <a:spcPts val="1800"/>
              </a:spcAft>
            </a:pPr>
            <a:r>
              <a:rPr sz="2200" b="0" i="0">
                <a:solidFill>
                  <a:srgbClr val="1A1A1A"/>
                </a:solidFill>
                <a:latin typeface="Palatino"/>
              </a:rPr>
              <a:t>Three data releases on a price and time axis, with dashed curves showing price adjusting gradually rather than instantly at each one.</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1.28 - Lim, The Handbook of Technical Analysis (Wiley, 2016)</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same thing, on a real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6 of 33</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1.29</a:t>
            </a:r>
          </a:p>
          <a:p>
            <a:pPr algn="l">
              <a:lnSpc>
                <a:spcPct val="120000"/>
              </a:lnSpc>
              <a:spcBef>
                <a:spcPts val="0"/>
              </a:spcBef>
              <a:spcAft>
                <a:spcPts val="1800"/>
              </a:spcAft>
            </a:pPr>
            <a:r>
              <a:rPr sz="2200" b="0" i="0">
                <a:solidFill>
                  <a:srgbClr val="1A1A1A"/>
                </a:solidFill>
                <a:latin typeface="Palatino"/>
              </a:rPr>
              <a:t>A EURUSD chart around the non-farm payrolls release of 2 August 2013, annotated with the range before the data, the breakout, the traders buying the news and the early traders exiting into it.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1.29 - Lim, The Handbook of Technical Analysis (Wiley, 2016)</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Efficient Market Hypothesis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rival theory saying the market prices everything so perfectly and so fast that no analysis can beat it.</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If EMH held completely, reading a chart or an annual report would both be a waste of an afternoon.</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Efficient Market Hypothesis states that for a market to efficiently discount and reflect all information perfectly, all participants must act on all information in the same rational manner instantaneously.</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7 of 33</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Efficient, under EMH, means two things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8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Participants react instantaneously to all market information.</a:t>
            </a:r>
          </a:p>
          <a:p>
            <a:pPr algn="l">
              <a:lnSpc>
                <a:spcPct val="118000"/>
              </a:lnSpc>
              <a:spcBef>
                <a:spcPts val="0"/>
              </a:spcBef>
              <a:spcAft>
                <a:spcPts val="1300"/>
              </a:spcAft>
            </a:pPr>
            <a:r>
              <a:rPr sz="2100" b="0" i="0">
                <a:solidFill>
                  <a:srgbClr val="1A1A1A"/>
                </a:solidFill>
                <a:latin typeface="Arial"/>
              </a:rPr>
              <a:t>2.  Participants react rationally to all market information.</a:t>
            </a:r>
          </a:p>
        </p:txBody>
      </p:sp>
      <p:sp>
        <p:nvSpPr>
          <p:cNvPr id="8" name="Rectangle 7"/>
          <p:cNvSpPr/>
          <p:nvPr/>
        </p:nvSpPr>
        <p:spPr>
          <a:xfrm>
            <a:off x="777240" y="3272028"/>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308604"/>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Both conditions must hold. Failing either one is enough to break the hypothesis.</a:t>
            </a:r>
          </a:p>
        </p:txBody>
      </p:sp>
      <p:sp>
        <p:nvSpPr>
          <p:cNvPr id="10" name="TextBox 9"/>
          <p:cNvSpPr txBox="1"/>
          <p:nvPr/>
        </p:nvSpPr>
        <p:spPr>
          <a:xfrm>
            <a:off x="777240" y="4298695"/>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Technical analysis needs neither condition. It only assumes the market discounts what becomes known to it.</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a perfectly efficient market would look like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9 of 33</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1.27</a:t>
            </a:r>
          </a:p>
          <a:p>
            <a:pPr algn="l">
              <a:lnSpc>
                <a:spcPct val="120000"/>
              </a:lnSpc>
              <a:spcBef>
                <a:spcPts val="0"/>
              </a:spcBef>
              <a:spcAft>
                <a:spcPts val="1800"/>
              </a:spcAft>
            </a:pPr>
            <a:r>
              <a:rPr sz="2200" b="0" i="0">
                <a:solidFill>
                  <a:srgbClr val="1A1A1A"/>
                </a:solidFill>
                <a:latin typeface="Palatino"/>
              </a:rPr>
              <a:t>The same three data releases, but price jumps vertically at each one with the time taken to adjust marked as zero.</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1.27 - Lim, The Handbook of Technical Analysis (Wiley, 2016)</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Why perfect efficiency cannot happen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10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Not everyone reacts the same way. Some trade against the news.</a:t>
            </a:r>
          </a:p>
          <a:p>
            <a:pPr algn="l">
              <a:lnSpc>
                <a:spcPct val="118000"/>
              </a:lnSpc>
              <a:spcBef>
                <a:spcPts val="0"/>
              </a:spcBef>
              <a:spcAft>
                <a:spcPts val="1300"/>
              </a:spcAft>
            </a:pPr>
            <a:r>
              <a:rPr sz="2100" b="0" i="0">
                <a:solidFill>
                  <a:srgbClr val="1A1A1A"/>
                </a:solidFill>
                <a:latin typeface="Arial"/>
              </a:rPr>
              <a:t>Not everyone reacts at the same time. Some act early, some act late.</a:t>
            </a:r>
          </a:p>
          <a:p>
            <a:pPr algn="l">
              <a:lnSpc>
                <a:spcPct val="118000"/>
              </a:lnSpc>
              <a:spcBef>
                <a:spcPts val="0"/>
              </a:spcBef>
              <a:spcAft>
                <a:spcPts val="1300"/>
              </a:spcAft>
            </a:pPr>
            <a:r>
              <a:rPr sz="2100" b="0" i="0">
                <a:solidFill>
                  <a:srgbClr val="1A1A1A"/>
                </a:solidFill>
                <a:latin typeface="Arial"/>
              </a:rPr>
              <a:t>Not everyone can access the information, and information is never free.</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Ask a hundred people to clap the instant a bell rings. You will not get one sound.</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semi-efficient market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realistic middle ground. The market does absorb new information, just gradually and imperfectly.</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After a jobs report, price swings back and forth for an hour as traders compete for fills, then settles.</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semi-efficient market discounts new information at a slower rate, adjusting gradually as participants compete with one another for the best fills.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11 of 33</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weak form of EMH</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Current prices already reflect all past price information, so past prices cannot help you.</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If it were true, no chart pattern, trendline or moving average could ever have value.</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weak form of EMH suggests that all current prices have already fully discounted all past price information and therefore cannot impact future prices.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12 of 33</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semi-strong form of EMH</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Once information is public it is already in the price, so public information is useless too.</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Reading the annual report the day it is published gains you nothing.</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semi-strong form of EMH suggests that all information, once public, is already reflected in price, making its use unprofitable and pointless.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13 of 33</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The strong form of EMH</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53352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Everything is in the price, public or private. Nothing anyone knows can help.</a:t>
            </a:r>
          </a:p>
        </p:txBody>
      </p:sp>
      <p:sp>
        <p:nvSpPr>
          <p:cNvPr id="9" name="Rectangle 8"/>
          <p:cNvSpPr/>
          <p:nvPr/>
        </p:nvSpPr>
        <p:spPr>
          <a:xfrm>
            <a:off x="777240" y="3139567"/>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093847"/>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Even an insider with genuinely secret information could not profit from it.</a:t>
            </a:r>
          </a:p>
        </p:txBody>
      </p:sp>
      <p:sp>
        <p:nvSpPr>
          <p:cNvPr id="11" name="Rectangle 10"/>
          <p:cNvSpPr/>
          <p:nvPr/>
        </p:nvSpPr>
        <p:spPr>
          <a:xfrm>
            <a:off x="777240" y="402056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397484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The strong form of EMH suggests that all information, whether public or private, is already fully reflected in current price, so all forms of analysis and forecasting are pointless.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14 of 33</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Random walk</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1088517"/>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claim that prices move purely by chance, so nothing that happened before tells you anything. Its second half, that current price has no influence over future price, is the Markovian condition.</a:t>
            </a:r>
          </a:p>
        </p:txBody>
      </p:sp>
      <p:sp>
        <p:nvSpPr>
          <p:cNvPr id="9" name="Rectangle 8"/>
          <p:cNvSpPr/>
          <p:nvPr/>
        </p:nvSpPr>
        <p:spPr>
          <a:xfrm>
            <a:off x="777240" y="3694556"/>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648837"/>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Flipping a coin every minute and plotting the running total. It will look like a chart, and it will mean nothing.</a:t>
            </a:r>
          </a:p>
        </p:txBody>
      </p:sp>
      <p:sp>
        <p:nvSpPr>
          <p:cNvPr id="11" name="Rectangle 10"/>
          <p:cNvSpPr/>
          <p:nvPr/>
        </p:nvSpPr>
        <p:spPr>
          <a:xfrm>
            <a:off x="777240" y="485305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80733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Random walk suggests that prices move in a purely random manner, that past prices do not influence current price, and that current price does not influence future price.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15 of 33</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Random walk, EMH, and what they would imply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16 of 33</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1.30</a:t>
            </a:r>
          </a:p>
          <a:p>
            <a:pPr algn="l">
              <a:lnSpc>
                <a:spcPct val="120000"/>
              </a:lnSpc>
              <a:spcBef>
                <a:spcPts val="0"/>
              </a:spcBef>
              <a:spcAft>
                <a:spcPts val="1800"/>
              </a:spcAft>
            </a:pPr>
            <a:r>
              <a:rPr sz="2200" b="0" i="0">
                <a:solidFill>
                  <a:srgbClr val="1A1A1A"/>
                </a:solidFill>
                <a:latin typeface="Palatino"/>
              </a:rPr>
              <a:t>Random walk feeding into the three forms of EMH, and both feeding a box listing the consequences: no technical, fundamental or behavioral analysis, no active investing, nobody beats the market.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1.30 - Lim, The Handbook of Technical Analysis (Wiley, 2016)</a:t>
            </a:r>
          </a:p>
        </p:txBody>
      </p:sp>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Random walk is not the same as EMH</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17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Under EMH, prices do adjust, they just adjust instantly to new information.</a:t>
            </a:r>
          </a:p>
          <a:p>
            <a:pPr algn="l">
              <a:lnSpc>
                <a:spcPct val="118000"/>
              </a:lnSpc>
              <a:spcBef>
                <a:spcPts val="0"/>
              </a:spcBef>
              <a:spcAft>
                <a:spcPts val="1300"/>
              </a:spcAft>
            </a:pPr>
            <a:r>
              <a:rPr sz="2100" b="0" i="0">
                <a:solidFill>
                  <a:srgbClr val="1A1A1A"/>
                </a:solidFill>
                <a:latin typeface="Arial"/>
              </a:rPr>
              <a:t>Under random walk, prices do not adjust to anything. The motion is purely random.</a:t>
            </a:r>
          </a:p>
        </p:txBody>
      </p:sp>
      <p:sp>
        <p:nvSpPr>
          <p:cNvPr id="8" name="Rectangle 7"/>
          <p:cNvSpPr/>
          <p:nvPr/>
        </p:nvSpPr>
        <p:spPr>
          <a:xfrm>
            <a:off x="777240" y="358673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62331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Markets are driven by perception and expectation, not by random acts of buying and selling.</a:t>
            </a:r>
          </a:p>
        </p:txBody>
      </p:sp>
      <p:sp>
        <p:nvSpPr>
          <p:cNvPr id="10" name="TextBox 9"/>
          <p:cNvSpPr txBox="1"/>
          <p:nvPr/>
        </p:nvSpPr>
        <p:spPr>
          <a:xfrm>
            <a:off x="777240" y="4613402"/>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Watch how precisely price reacts at a round number or an old high. Chance does not aim.</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What actually happens in the real world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18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Insiders accumulate before the announcement, so price starts moving early.</a:t>
            </a:r>
          </a:p>
          <a:p>
            <a:pPr algn="l">
              <a:lnSpc>
                <a:spcPct val="118000"/>
              </a:lnSpc>
              <a:spcBef>
                <a:spcPts val="0"/>
              </a:spcBef>
              <a:spcAft>
                <a:spcPts val="1300"/>
              </a:spcAft>
            </a:pPr>
            <a:r>
              <a:rPr sz="2100" b="0" i="0">
                <a:solidFill>
                  <a:srgbClr val="1A1A1A"/>
                </a:solidFill>
                <a:latin typeface="Arial"/>
              </a:rPr>
              <a:t>The public joins after the news is published.</a:t>
            </a:r>
          </a:p>
          <a:p>
            <a:pPr algn="l">
              <a:lnSpc>
                <a:spcPct val="118000"/>
              </a:lnSpc>
              <a:spcBef>
                <a:spcPts val="0"/>
              </a:spcBef>
              <a:spcAft>
                <a:spcPts val="1300"/>
              </a:spcAft>
            </a:pPr>
            <a:r>
              <a:rPr sz="2100" b="0" i="0">
                <a:solidFill>
                  <a:srgbClr val="1A1A1A"/>
                </a:solidFill>
                <a:latin typeface="Arial"/>
              </a:rPr>
              <a:t>More participants join the now obvious move, and the market overreacts.</a:t>
            </a:r>
          </a:p>
          <a:p>
            <a:pPr algn="l">
              <a:lnSpc>
                <a:spcPct val="118000"/>
              </a:lnSpc>
              <a:spcBef>
                <a:spcPts val="0"/>
              </a:spcBef>
              <a:spcAft>
                <a:spcPts val="1300"/>
              </a:spcAft>
            </a:pPr>
            <a:r>
              <a:rPr sz="2100" b="0" i="0">
                <a:solidFill>
                  <a:srgbClr val="1A1A1A"/>
                </a:solidFill>
                <a:latin typeface="Arial"/>
              </a:rPr>
              <a:t>The insiders sell into that enthusiasm, and a top forms.</a:t>
            </a:r>
          </a:p>
        </p:txBody>
      </p:sp>
      <p:sp>
        <p:nvSpPr>
          <p:cNvPr id="8" name="Rectangle 7"/>
          <p:cNvSpPr/>
          <p:nvPr/>
        </p:nvSpPr>
        <p:spPr>
          <a:xfrm>
            <a:off x="777240" y="426719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This is herding, and it is the survival instinct from Part 1 doing its work.</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Insider activity moving price before the news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19 of 33</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1.31</a:t>
            </a:r>
          </a:p>
          <a:p>
            <a:pPr algn="l">
              <a:lnSpc>
                <a:spcPct val="120000"/>
              </a:lnSpc>
              <a:spcBef>
                <a:spcPts val="0"/>
              </a:spcBef>
              <a:spcAft>
                <a:spcPts val="1800"/>
              </a:spcAft>
            </a:pPr>
            <a:r>
              <a:rPr sz="2200" b="0" i="0">
                <a:solidFill>
                  <a:srgbClr val="1A1A1A"/>
                </a:solidFill>
                <a:latin typeface="Palatino"/>
              </a:rPr>
              <a:t>Accumulation curving up ahead of each bullish release and distribution curving down ahead of the bearish one, in every case before the announcement.</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1.31 - Lim, The Handbook of Technical Analysis (Wiley, 2016)</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Market inertia, and the overreaction</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20 of 33</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1.32</a:t>
            </a:r>
          </a:p>
          <a:p>
            <a:pPr algn="l">
              <a:lnSpc>
                <a:spcPct val="120000"/>
              </a:lnSpc>
              <a:spcBef>
                <a:spcPts val="0"/>
              </a:spcBef>
              <a:spcAft>
                <a:spcPts val="1800"/>
              </a:spcAft>
            </a:pPr>
            <a:r>
              <a:rPr sz="2200" b="0" i="0">
                <a:solidFill>
                  <a:srgbClr val="1A1A1A"/>
                </a:solidFill>
                <a:latin typeface="Palatino"/>
              </a:rPr>
              <a:t>The same releases again, with herd behavior carrying price past the level it should have settled at, then inefficient discounting pulling it back.</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1.32 - Lim, The Handbook of Technical Analysis (Wiley, 2016)</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Price is not the same as value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21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 stock valued at 10 pesos can trade at 30 pesos with no change in its fundamentals.</a:t>
            </a:r>
          </a:p>
          <a:p>
            <a:pPr algn="l">
              <a:lnSpc>
                <a:spcPct val="118000"/>
              </a:lnSpc>
              <a:spcBef>
                <a:spcPts val="0"/>
              </a:spcBef>
              <a:spcAft>
                <a:spcPts val="1300"/>
              </a:spcAft>
            </a:pPr>
            <a:r>
              <a:rPr sz="2100" b="0" i="0">
                <a:solidFill>
                  <a:srgbClr val="1A1A1A"/>
                </a:solidFill>
                <a:latin typeface="Arial"/>
              </a:rPr>
              <a:t>What is being traded is expectation, not absolute worth.</a:t>
            </a:r>
          </a:p>
          <a:p>
            <a:pPr algn="l">
              <a:lnSpc>
                <a:spcPct val="118000"/>
              </a:lnSpc>
              <a:spcBef>
                <a:spcPts val="0"/>
              </a:spcBef>
              <a:spcAft>
                <a:spcPts val="1300"/>
              </a:spcAft>
            </a:pPr>
            <a:r>
              <a:rPr sz="2100" b="0" i="0">
                <a:solidFill>
                  <a:srgbClr val="1A1A1A"/>
                </a:solidFill>
                <a:latin typeface="Arial"/>
              </a:rPr>
              <a:t>Current price is the result of expectations about future price and value.</a:t>
            </a:r>
          </a:p>
        </p:txBody>
      </p:sp>
      <p:sp>
        <p:nvSpPr>
          <p:cNvPr id="8" name="Rectangle 7"/>
          <p:cNvSpPr/>
          <p:nvPr/>
        </p:nvSpPr>
        <p:spPr>
          <a:xfrm>
            <a:off x="777240" y="4084320"/>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Market action is the collective expectation of all its participants.</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Assumption two: behavior repeats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22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Past price and chart patterns give a reasonable basis for forecasting.</a:t>
            </a:r>
          </a:p>
          <a:p>
            <a:pPr algn="l">
              <a:lnSpc>
                <a:spcPct val="118000"/>
              </a:lnSpc>
              <a:spcBef>
                <a:spcPts val="0"/>
              </a:spcBef>
              <a:spcAft>
                <a:spcPts val="1300"/>
              </a:spcAft>
            </a:pPr>
            <a:r>
              <a:rPr sz="2100" b="0" i="0">
                <a:solidFill>
                  <a:srgbClr val="1A1A1A"/>
                </a:solidFill>
                <a:latin typeface="Arial"/>
              </a:rPr>
              <a:t>The reason is human psychology, which changes very slowly.</a:t>
            </a:r>
          </a:p>
          <a:p>
            <a:pPr algn="l">
              <a:lnSpc>
                <a:spcPct val="118000"/>
              </a:lnSpc>
              <a:spcBef>
                <a:spcPts val="0"/>
              </a:spcBef>
              <a:spcAft>
                <a:spcPts val="1300"/>
              </a:spcAft>
            </a:pPr>
            <a:r>
              <a:rPr sz="2100" b="0" i="0">
                <a:solidFill>
                  <a:srgbClr val="1A1A1A"/>
                </a:solidFill>
                <a:latin typeface="Arial"/>
              </a:rPr>
              <a:t>Fear, greed, hope, anger and regret do not get software updates.</a:t>
            </a:r>
          </a:p>
        </p:txBody>
      </p:sp>
      <p:sp>
        <p:nvSpPr>
          <p:cNvPr id="8" name="Rectangle 7"/>
          <p:cNvSpPr/>
          <p:nvPr/>
        </p:nvSpPr>
        <p:spPr>
          <a:xfrm>
            <a:off x="777240" y="3769614"/>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Patterns repeat because people repeat.</a:t>
            </a:r>
          </a:p>
        </p:txBody>
      </p:sp>
      <p:sp>
        <p:nvSpPr>
          <p:cNvPr id="10" name="TextBox 9"/>
          <p:cNvSpPr txBox="1"/>
          <p:nvPr/>
        </p:nvSpPr>
        <p:spPr>
          <a:xfrm>
            <a:off x="777240" y="4474972"/>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Every other forecasting method also uses past data: accounting, regression, behavioral finance.</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Repetition you can see: angular symmetries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23 of 33</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1.25</a:t>
            </a:r>
          </a:p>
          <a:p>
            <a:pPr algn="l">
              <a:lnSpc>
                <a:spcPct val="120000"/>
              </a:lnSpc>
              <a:spcBef>
                <a:spcPts val="0"/>
              </a:spcBef>
              <a:spcAft>
                <a:spcPts val="1800"/>
              </a:spcAft>
            </a:pPr>
            <a:r>
              <a:rPr sz="2200" b="0" i="0">
                <a:solidFill>
                  <a:srgbClr val="1A1A1A"/>
                </a:solidFill>
                <a:latin typeface="Palatino"/>
              </a:rPr>
              <a:t>A four-hourly USDCAD bar chart with a shallow angle of ascent and a steeper one marked, and the correction that followed each.</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1.25 - Lim, The Handbook of Technical Analysis (Wiley, 2016)</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underlying ordered structure of price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24 of 33</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1.26</a:t>
            </a:r>
          </a:p>
          <a:p>
            <a:pPr algn="l">
              <a:lnSpc>
                <a:spcPct val="120000"/>
              </a:lnSpc>
              <a:spcBef>
                <a:spcPts val="0"/>
              </a:spcBef>
              <a:spcAft>
                <a:spcPts val="1800"/>
              </a:spcAft>
            </a:pPr>
            <a:r>
              <a:rPr sz="2200" b="0" i="0">
                <a:solidFill>
                  <a:srgbClr val="1A1A1A"/>
                </a:solidFill>
                <a:latin typeface="Palatino"/>
              </a:rPr>
              <a:t>The same USDCAD chart overlaid with a converging channel and a lattice of symmetry lines, labeled visual evidence of the semi-random nature of price behavior.</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1.26 - Lim, The Handbook of Technical Analysis (Wiley, 2016)</a:t>
            </a:r>
          </a:p>
        </p:txBody>
      </p:sp>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Three things that erode repeatability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25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Preempting: traders outbid each other ahead of the trigger, from the self-fulfilling prophecy.</a:t>
            </a:r>
          </a:p>
          <a:p>
            <a:pPr algn="l">
              <a:lnSpc>
                <a:spcPct val="118000"/>
              </a:lnSpc>
              <a:spcBef>
                <a:spcPts val="0"/>
              </a:spcBef>
              <a:spcAft>
                <a:spcPts val="1300"/>
              </a:spcAft>
            </a:pPr>
            <a:r>
              <a:rPr sz="2100" b="0" i="0">
                <a:solidFill>
                  <a:srgbClr val="1A1A1A"/>
                </a:solidFill>
                <a:latin typeface="Arial"/>
              </a:rPr>
              <a:t>Program trading: machines trade in ways humans cannot replicate.</a:t>
            </a:r>
          </a:p>
          <a:p>
            <a:pPr algn="l">
              <a:lnSpc>
                <a:spcPct val="118000"/>
              </a:lnSpc>
              <a:spcBef>
                <a:spcPts val="0"/>
              </a:spcBef>
              <a:spcAft>
                <a:spcPts val="1300"/>
              </a:spcAft>
            </a:pPr>
            <a:r>
              <a:rPr sz="2100" b="0" i="0">
                <a:solidFill>
                  <a:srgbClr val="1A1A1A"/>
                </a:solidFill>
                <a:latin typeface="Arial"/>
              </a:rPr>
              <a:t>New participants: each new cohort brings a slightly different approach.</a:t>
            </a:r>
          </a:p>
        </p:txBody>
      </p:sp>
      <p:sp>
        <p:nvSpPr>
          <p:cNvPr id="8" name="Rectangle 7"/>
          <p:cNvSpPr/>
          <p:nvPr/>
        </p:nvSpPr>
        <p:spPr>
          <a:xfrm>
            <a:off x="777240" y="4084320"/>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120896"/>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assumption is reasonable, not guaranteed. That is why Pring said probabilities.</a:t>
            </a:r>
          </a:p>
        </p:txBody>
      </p:sp>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Assumption three: the market moves in trends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26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Trends give the largest profit over the shortest time in the market.</a:t>
            </a:r>
          </a:p>
          <a:p>
            <a:pPr algn="l">
              <a:lnSpc>
                <a:spcPct val="118000"/>
              </a:lnSpc>
              <a:spcBef>
                <a:spcPts val="0"/>
              </a:spcBef>
              <a:spcAft>
                <a:spcPts val="1300"/>
              </a:spcAft>
            </a:pPr>
            <a:r>
              <a:rPr sz="2100" b="0" i="0">
                <a:solidFill>
                  <a:srgbClr val="1A1A1A"/>
                </a:solidFill>
                <a:latin typeface="Arial"/>
              </a:rPr>
              <a:t>That is why trend based methods dominate the field.</a:t>
            </a:r>
          </a:p>
          <a:p>
            <a:pPr algn="l">
              <a:lnSpc>
                <a:spcPct val="118000"/>
              </a:lnSpc>
              <a:spcBef>
                <a:spcPts val="0"/>
              </a:spcBef>
              <a:spcAft>
                <a:spcPts val="1300"/>
              </a:spcAft>
            </a:pPr>
            <a:r>
              <a:rPr sz="2100" b="0" i="0">
                <a:solidFill>
                  <a:srgbClr val="1A1A1A"/>
                </a:solidFill>
                <a:latin typeface="Arial"/>
              </a:rPr>
              <a:t>But what exactly is a trend, and when does it stop being one?</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Successively higher or lower peaks and troughs is the most widely accepted definition.</a:t>
            </a:r>
          </a:p>
        </p:txBody>
      </p:sp>
      <p:sp>
        <p:nvSpPr>
          <p:cNvPr id="10" name="TextBox 9"/>
          <p:cNvSpPr txBox="1"/>
          <p:nvPr/>
        </p:nvSpPr>
        <p:spPr>
          <a:xfrm>
            <a:off x="777240" y="4796282"/>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A trend on one timeframe can be a sideways market on another. Chapter 5 settles the definitions.</a:t>
            </a:r>
          </a:p>
        </p:txBody>
      </p:sp>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Trend following is not free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27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Poor performance in ranging markets, and whipsaws during consolidation.</a:t>
            </a:r>
          </a:p>
          <a:p>
            <a:pPr algn="l">
              <a:lnSpc>
                <a:spcPct val="118000"/>
              </a:lnSpc>
              <a:spcBef>
                <a:spcPts val="0"/>
              </a:spcBef>
              <a:spcAft>
                <a:spcPts val="1300"/>
              </a:spcAft>
            </a:pPr>
            <a:r>
              <a:rPr sz="2100" b="0" i="0">
                <a:solidFill>
                  <a:srgbClr val="1A1A1A"/>
                </a:solidFill>
                <a:latin typeface="Arial"/>
              </a:rPr>
              <a:t>Low winning percentages, which means large drawdowns.</a:t>
            </a:r>
          </a:p>
          <a:p>
            <a:pPr algn="l">
              <a:lnSpc>
                <a:spcPct val="118000"/>
              </a:lnSpc>
              <a:spcBef>
                <a:spcPts val="0"/>
              </a:spcBef>
              <a:spcAft>
                <a:spcPts val="1300"/>
              </a:spcAft>
            </a:pPr>
            <a:r>
              <a:rPr sz="2100" b="0" i="0">
                <a:solidFill>
                  <a:srgbClr val="1A1A1A"/>
                </a:solidFill>
                <a:latin typeface="Arial"/>
              </a:rPr>
              <a:t>Trend changes are hard to identify early, and fast markets produce slippage.</a:t>
            </a:r>
          </a:p>
          <a:p>
            <a:pPr algn="l">
              <a:lnSpc>
                <a:spcPct val="118000"/>
              </a:lnSpc>
              <a:spcBef>
                <a:spcPts val="0"/>
              </a:spcBef>
              <a:spcAft>
                <a:spcPts val="1300"/>
              </a:spcAft>
            </a:pPr>
            <a:r>
              <a:rPr sz="2100" b="0" i="0">
                <a:solidFill>
                  <a:srgbClr val="1A1A1A"/>
                </a:solidFill>
                <a:latin typeface="Arial"/>
              </a:rPr>
              <a:t>Too many trend systems chasing the same move produce inefficient fills.</a:t>
            </a:r>
          </a:p>
        </p:txBody>
      </p:sp>
      <p:sp>
        <p:nvSpPr>
          <p:cNvPr id="8" name="Rectangle 7"/>
          <p:cNvSpPr/>
          <p:nvPr/>
        </p:nvSpPr>
        <p:spPr>
          <a:xfrm>
            <a:off x="777240" y="426719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Every method in this course has a cost. Know the cost before you use the method.</a:t>
            </a:r>
          </a:p>
        </p:txBody>
      </p:sp>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Four assumptions you apply at the chart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28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1.  Price behavior persists until there is evidence to the contrary.</a:t>
            </a:r>
          </a:p>
          <a:p>
            <a:pPr algn="l">
              <a:lnSpc>
                <a:spcPct val="118000"/>
              </a:lnSpc>
              <a:spcBef>
                <a:spcPts val="0"/>
              </a:spcBef>
              <a:spcAft>
                <a:spcPts val="1300"/>
              </a:spcAft>
            </a:pPr>
            <a:r>
              <a:rPr sz="2100" b="0" i="0">
                <a:solidFill>
                  <a:srgbClr val="1A1A1A"/>
                </a:solidFill>
                <a:latin typeface="Arial"/>
              </a:rPr>
              <a:t>2.  Every bullish reading has an equal and opposite bearish reading.</a:t>
            </a:r>
          </a:p>
          <a:p>
            <a:pPr algn="l">
              <a:lnSpc>
                <a:spcPct val="118000"/>
              </a:lnSpc>
              <a:spcBef>
                <a:spcPts val="0"/>
              </a:spcBef>
              <a:spcAft>
                <a:spcPts val="1300"/>
              </a:spcAft>
            </a:pPr>
            <a:r>
              <a:rPr sz="2100" b="0" i="0">
                <a:solidFill>
                  <a:srgbClr val="1A1A1A"/>
                </a:solidFill>
                <a:latin typeface="Arial"/>
              </a:rPr>
              <a:t>3.  Extreme bullishness is potentially bearish, and the reverse.</a:t>
            </a:r>
          </a:p>
          <a:p>
            <a:pPr algn="l">
              <a:lnSpc>
                <a:spcPct val="118000"/>
              </a:lnSpc>
              <a:spcBef>
                <a:spcPts val="0"/>
              </a:spcBef>
              <a:spcAft>
                <a:spcPts val="1300"/>
              </a:spcAft>
            </a:pPr>
            <a:r>
              <a:rPr sz="2100" b="0" i="0">
                <a:solidFill>
                  <a:srgbClr val="1A1A1A"/>
                </a:solidFill>
                <a:latin typeface="Arial"/>
              </a:rPr>
              <a:t>4.  A technical tool matters only because participants say it does.</a:t>
            </a:r>
          </a:p>
        </p:txBody>
      </p:sp>
      <p:sp>
        <p:nvSpPr>
          <p:cNvPr id="8" name="Rectangle 7"/>
          <p:cNvSpPr/>
          <p:nvPr/>
        </p:nvSpPr>
        <p:spPr>
          <a:xfrm>
            <a:off x="777240" y="4267199"/>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303775"/>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These four are applied assumptions. They govern what you do, not what you believe.</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Applied assumption one: persistence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Whatever the market is currently doing, assume it keeps doing it until something proves otherwise.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trend is assumed to continue, a consolidation is assumed to keep ranging, a cycle is assumed to hold until it clearly fails.</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Price behavior is expected to persist until there is evidence to the contrary. Persistence is the assumed status quo.</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29 of 33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Applied assumption two: equal and opposite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Any signal you can read as bullish, someone competent can read as bearish, from the same data.</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Rising oil prices as evidence of a recovering economy, or as evidence of rising costs.</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For every bullish indication or interpretation, there exists an equal and opposite bearish indication or interpretation for the same price behavior.</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30 of 33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Applied assumption three: extremes invert</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reading that is extremely bullish is also a warning, because the market may be exhausted.</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stochastic reading of 100 percent is explicitly bullish and implicitly bearish at the same time.</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Extreme bullishness is potentially bearish, and extreme bearishness is potentially bullish, because extremes indicate overextension or exhaustion.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31 of 33</a:t>
            </a:r>
          </a:p>
        </p:txBody>
      </p:sp>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Applied assumption four: significance is attributed</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An indicator has no power of its own. It has exactly as much power as the number of people acting on it.</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famous trendline produces a big penetration bar because it is famous, not because the line is magic.</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technical tool or indicator has no real significance except that attributed to it by market participants.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32 of 33</a:t>
            </a:r>
          </a:p>
        </p:txBody>
      </p:sp>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Where technical analysis works best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33 of 33</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On long timeframes, fundamental analysis carries a lot of the forecasting load.</a:t>
            </a:r>
          </a:p>
          <a:p>
            <a:pPr algn="l">
              <a:lnSpc>
                <a:spcPct val="118000"/>
              </a:lnSpc>
              <a:spcBef>
                <a:spcPts val="0"/>
              </a:spcBef>
              <a:spcAft>
                <a:spcPts val="1300"/>
              </a:spcAft>
            </a:pPr>
            <a:r>
              <a:rPr sz="2100" b="0" i="0">
                <a:solidFill>
                  <a:srgbClr val="1A1A1A"/>
                </a:solidFill>
                <a:latin typeface="Arial"/>
              </a:rPr>
              <a:t>On very short timeframes, fundamental analysis is nearly useless.</a:t>
            </a:r>
          </a:p>
          <a:p>
            <a:pPr algn="l">
              <a:lnSpc>
                <a:spcPct val="118000"/>
              </a:lnSpc>
              <a:spcBef>
                <a:spcPts val="0"/>
              </a:spcBef>
              <a:spcAft>
                <a:spcPts val="1300"/>
              </a:spcAft>
            </a:pPr>
            <a:r>
              <a:rPr sz="2100" b="0" i="0">
                <a:solidFill>
                  <a:srgbClr val="1A1A1A"/>
                </a:solidFill>
                <a:latin typeface="Arial"/>
              </a:rPr>
              <a:t>The smaller your stop, the more the forecast depends on technical work.</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This is why technical analysis is generally more reliable at lower timeframes.</a:t>
            </a:r>
          </a:p>
        </p:txBody>
      </p:sp>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Market discounting, and what it cannot discount</a:t>
            </a:r>
          </a:p>
          <a:p>
            <a:pPr algn="l" marL="237744" indent="-237744">
              <a:lnSpc>
                <a:spcPct val="112000"/>
              </a:lnSpc>
              <a:spcBef>
                <a:spcPts val="0"/>
              </a:spcBef>
              <a:spcAft>
                <a:spcPts val="1200"/>
              </a:spcAft>
            </a:pPr>
            <a:r>
              <a:rPr sz="1800" b="0" i="0">
                <a:solidFill>
                  <a:srgbClr val="1A1A1A"/>
                </a:solidFill>
                <a:latin typeface="Arial"/>
              </a:rPr>
              <a:t>▪  What markets are really discounting</a:t>
            </a:r>
          </a:p>
          <a:p>
            <a:pPr algn="l" marL="237744" indent="-237744">
              <a:lnSpc>
                <a:spcPct val="112000"/>
              </a:lnSpc>
              <a:spcBef>
                <a:spcPts val="0"/>
              </a:spcBef>
              <a:spcAft>
                <a:spcPts val="1200"/>
              </a:spcAft>
            </a:pPr>
            <a:r>
              <a:rPr sz="1800" b="0" i="0">
                <a:solidFill>
                  <a:srgbClr val="1A1A1A"/>
                </a:solidFill>
                <a:latin typeface="Arial"/>
              </a:rPr>
              <a:t>▪  The Efficient Market Hypothesis</a:t>
            </a:r>
          </a:p>
          <a:p>
            <a:pPr algn="l" marL="237744" indent="-237744">
              <a:lnSpc>
                <a:spcPct val="112000"/>
              </a:lnSpc>
              <a:spcBef>
                <a:spcPts val="0"/>
              </a:spcBef>
              <a:spcAft>
                <a:spcPts val="1200"/>
              </a:spcAft>
            </a:pPr>
            <a:r>
              <a:rPr sz="1800" b="0" i="0">
                <a:solidFill>
                  <a:srgbClr val="1A1A1A"/>
                </a:solidFill>
                <a:latin typeface="Arial"/>
              </a:rPr>
              <a:t>▪  Instantaneous and rational reaction</a:t>
            </a:r>
          </a:p>
          <a:p>
            <a:pPr algn="l" marL="237744" indent="-237744">
              <a:lnSpc>
                <a:spcPct val="112000"/>
              </a:lnSpc>
              <a:spcBef>
                <a:spcPts val="0"/>
              </a:spcBef>
              <a:spcAft>
                <a:spcPts val="1200"/>
              </a:spcAft>
            </a:pPr>
            <a:r>
              <a:rPr sz="1800" b="0" i="0">
                <a:solidFill>
                  <a:srgbClr val="1A1A1A"/>
                </a:solidFill>
                <a:latin typeface="Arial"/>
              </a:rPr>
              <a:t>▪  The semi-efficient market</a:t>
            </a:r>
          </a:p>
          <a:p>
            <a:pPr algn="l" marL="237744" indent="-237744">
              <a:lnSpc>
                <a:spcPct val="112000"/>
              </a:lnSpc>
              <a:spcBef>
                <a:spcPts val="0"/>
              </a:spcBef>
              <a:spcAft>
                <a:spcPts val="1200"/>
              </a:spcAft>
            </a:pPr>
            <a:r>
              <a:rPr sz="1800" b="0" i="0">
                <a:solidFill>
                  <a:srgbClr val="1A1A1A"/>
                </a:solidFill>
                <a:latin typeface="Arial"/>
              </a:rPr>
              <a:t>▪  The weak, semi-strong and strong forms</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Random walk and the Markovian condition</a:t>
            </a:r>
          </a:p>
          <a:p>
            <a:pPr algn="l" marL="237744" indent="-237744">
              <a:lnSpc>
                <a:spcPct val="112000"/>
              </a:lnSpc>
              <a:spcBef>
                <a:spcPts val="0"/>
              </a:spcBef>
              <a:spcAft>
                <a:spcPts val="1200"/>
              </a:spcAft>
            </a:pPr>
            <a:r>
              <a:rPr sz="1800" b="0" i="0">
                <a:solidFill>
                  <a:srgbClr val="1A1A1A"/>
                </a:solidFill>
                <a:latin typeface="Arial"/>
              </a:rPr>
              <a:t>▪  Real world discounting, insiders and overreaction</a:t>
            </a:r>
          </a:p>
          <a:p>
            <a:pPr algn="l" marL="237744" indent="-237744">
              <a:lnSpc>
                <a:spcPct val="112000"/>
              </a:lnSpc>
              <a:spcBef>
                <a:spcPts val="0"/>
              </a:spcBef>
              <a:spcAft>
                <a:spcPts val="1200"/>
              </a:spcAft>
            </a:pPr>
            <a:r>
              <a:rPr sz="1800" b="0" i="0">
                <a:solidFill>
                  <a:srgbClr val="1A1A1A"/>
                </a:solidFill>
                <a:latin typeface="Arial"/>
              </a:rPr>
              <a:t>▪  Price versus value, and expected value</a:t>
            </a:r>
          </a:p>
          <a:p>
            <a:pPr algn="l" marL="237744" indent="-237744">
              <a:lnSpc>
                <a:spcPct val="112000"/>
              </a:lnSpc>
              <a:spcBef>
                <a:spcPts val="0"/>
              </a:spcBef>
              <a:spcAft>
                <a:spcPts val="1200"/>
              </a:spcAft>
            </a:pPr>
            <a:r>
              <a:rPr sz="1800" b="0" i="0">
                <a:solidFill>
                  <a:srgbClr val="1A1A1A"/>
                </a:solidFill>
                <a:latin typeface="Arial"/>
              </a:rPr>
              <a:t>▪  Behavior repeats, and what erodes it</a:t>
            </a:r>
          </a:p>
          <a:p>
            <a:pPr algn="l" marL="237744" indent="-237744">
              <a:lnSpc>
                <a:spcPct val="112000"/>
              </a:lnSpc>
              <a:spcBef>
                <a:spcPts val="0"/>
              </a:spcBef>
              <a:spcAft>
                <a:spcPts val="1200"/>
              </a:spcAft>
            </a:pPr>
            <a:r>
              <a:rPr sz="1800" b="0" i="0">
                <a:solidFill>
                  <a:srgbClr val="1A1A1A"/>
                </a:solidFill>
                <a:latin typeface="Arial"/>
              </a:rPr>
              <a:t>▪  The market moves in trends, and what that costs</a:t>
            </a:r>
          </a:p>
          <a:p>
            <a:pPr algn="l" marL="237744" indent="-237744">
              <a:lnSpc>
                <a:spcPct val="112000"/>
              </a:lnSpc>
              <a:spcBef>
                <a:spcPts val="0"/>
              </a:spcBef>
              <a:spcAft>
                <a:spcPts val="1200"/>
              </a:spcAft>
            </a:pPr>
            <a:r>
              <a:rPr sz="1800" b="0" i="0">
                <a:solidFill>
                  <a:srgbClr val="1A1A1A"/>
                </a:solidFill>
                <a:latin typeface="Arial"/>
              </a:rPr>
              <a:t>▪  The four assumptions in application</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5 of 6 - Assumptions  |  recap</a:t>
            </a:r>
          </a:p>
        </p:txBody>
      </p:sp>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256032" cy="6858000"/>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05156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500" b="1" i="0">
                <a:solidFill>
                  <a:srgbClr val="F2A900"/>
                </a:solidFill>
                <a:latin typeface="Arial"/>
              </a:rPr>
              <a:t>Part 6 of 6</a:t>
            </a:r>
          </a:p>
        </p:txBody>
      </p:sp>
      <p:sp>
        <p:nvSpPr>
          <p:cNvPr id="5" name="TextBox 4"/>
          <p:cNvSpPr txBox="1"/>
          <p:nvPr/>
        </p:nvSpPr>
        <p:spPr>
          <a:xfrm>
            <a:off x="777240" y="1600200"/>
            <a:ext cx="10637215" cy="1097280"/>
          </a:xfrm>
          <a:prstGeom prst="rect">
            <a:avLst/>
          </a:prstGeom>
          <a:noFill/>
        </p:spPr>
        <p:txBody>
          <a:bodyPr wrap="square" anchor="t" lIns="0" rIns="0" tIns="0" bIns="0">
            <a:spAutoFit/>
          </a:bodyPr>
          <a:lstStyle/>
          <a:p>
            <a:pPr algn="l">
              <a:lnSpc>
                <a:spcPct val="105000"/>
              </a:lnSpc>
              <a:spcBef>
                <a:spcPts val="0"/>
              </a:spcBef>
              <a:spcAft>
                <a:spcPts val="0"/>
              </a:spcAft>
            </a:pPr>
            <a:r>
              <a:rPr sz="4000" b="0" i="0">
                <a:solidFill>
                  <a:srgbClr val="FFFFFF"/>
                </a:solidFill>
                <a:latin typeface="Palatino"/>
              </a:rPr>
              <a:t>Who Is In The Market</a:t>
            </a:r>
          </a:p>
        </p:txBody>
      </p:sp>
      <p:sp>
        <p:nvSpPr>
          <p:cNvPr id="6" name="Rectangle 5"/>
          <p:cNvSpPr/>
          <p:nvPr/>
        </p:nvSpPr>
        <p:spPr>
          <a:xfrm>
            <a:off x="777240" y="2926080"/>
            <a:ext cx="1463040" cy="38100"/>
          </a:xfrm>
          <a:prstGeom prst="rect">
            <a:avLst/>
          </a:prstGeom>
          <a:solidFill>
            <a:srgbClr val="F2A900"/>
          </a:solidFill>
          <a:ln>
            <a:noFill/>
          </a:ln>
          <a:effectLst/>
        </p:spPr>
        <p:txBody>
          <a:bodyPr rtlCol="0" anchor="ctr"/>
          <a:lstStyle/>
          <a:p>
            <a:pPr algn="ctr"/>
          </a:p>
        </p:txBody>
      </p:sp>
      <p:sp>
        <p:nvSpPr>
          <p:cNvPr id="7" name="TextBox 6"/>
          <p:cNvSpPr txBox="1"/>
          <p:nvPr/>
        </p:nvSpPr>
        <p:spPr>
          <a:xfrm>
            <a:off x="777240" y="3383280"/>
            <a:ext cx="10637215" cy="2011680"/>
          </a:xfrm>
          <a:prstGeom prst="rect">
            <a:avLst/>
          </a:prstGeom>
          <a:noFill/>
        </p:spPr>
        <p:txBody>
          <a:bodyPr wrap="square" anchor="t" lIns="0" rIns="0" tIns="0" bIns="0">
            <a:spAutoFit/>
          </a:bodyPr>
          <a:lstStyle/>
          <a:p>
            <a:pPr algn="l">
              <a:lnSpc>
                <a:spcPct val="115000"/>
              </a:lnSpc>
              <a:spcBef>
                <a:spcPts val="0"/>
              </a:spcBef>
              <a:spcAft>
                <a:spcPts val="1000"/>
              </a:spcAft>
            </a:pPr>
            <a:r>
              <a:rPr sz="1900" b="0" i="0">
                <a:solidFill>
                  <a:srgbClr val="FFFFFF"/>
                </a:solidFill>
                <a:latin typeface="Arial"/>
              </a:rPr>
              <a:t>The eight categories of market participant.</a:t>
            </a:r>
          </a:p>
          <a:p>
            <a:pPr algn="l">
              <a:lnSpc>
                <a:spcPct val="115000"/>
              </a:lnSpc>
              <a:spcBef>
                <a:spcPts val="0"/>
              </a:spcBef>
              <a:spcAft>
                <a:spcPts val="1000"/>
              </a:spcAft>
            </a:pPr>
            <a:r>
              <a:rPr sz="1900" b="0" i="0">
                <a:solidFill>
                  <a:srgbClr val="FFFFFF"/>
                </a:solidFill>
                <a:latin typeface="Arial"/>
              </a:rPr>
              <a:t>Two other ways to sort them: by time, and by method.</a:t>
            </a:r>
          </a:p>
          <a:p>
            <a:pPr algn="l">
              <a:lnSpc>
                <a:spcPct val="115000"/>
              </a:lnSpc>
              <a:spcBef>
                <a:spcPts val="0"/>
              </a:spcBef>
              <a:spcAft>
                <a:spcPts val="1000"/>
              </a:spcAft>
            </a:pPr>
            <a:r>
              <a:rPr sz="1900" b="0" i="0">
                <a:solidFill>
                  <a:srgbClr val="FFFFFF"/>
                </a:solidFill>
                <a:latin typeface="Arial"/>
              </a:rPr>
              <a:t>The main markets, and the instruments derived from them.</a:t>
            </a:r>
          </a:p>
        </p:txBody>
      </p:sp>
      <p:sp>
        <p:nvSpPr>
          <p:cNvPr id="8" name="TextBox 7"/>
          <p:cNvSpPr txBox="1"/>
          <p:nvPr/>
        </p:nvSpPr>
        <p:spPr>
          <a:xfrm>
            <a:off x="777240" y="6035040"/>
            <a:ext cx="10637215" cy="365760"/>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F2A900"/>
                </a:solidFill>
                <a:latin typeface="Arial"/>
              </a:rPr>
              <a:t>About 25 minutes</a:t>
            </a:r>
          </a:p>
        </p:txBody>
      </p:sp>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cast of a market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1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Average investors and traders. Financial institutions.</a:t>
            </a:r>
          </a:p>
          <a:p>
            <a:pPr algn="l">
              <a:lnSpc>
                <a:spcPct val="118000"/>
              </a:lnSpc>
              <a:spcBef>
                <a:spcPts val="0"/>
              </a:spcBef>
              <a:spcAft>
                <a:spcPts val="1300"/>
              </a:spcAft>
            </a:pPr>
            <a:r>
              <a:rPr sz="2100" b="0" i="0">
                <a:solidFill>
                  <a:srgbClr val="1A1A1A"/>
                </a:solidFill>
                <a:latin typeface="Arial"/>
              </a:rPr>
              <a:t>Commercial banks and central banks. Hedgers and arbitrageurs.</a:t>
            </a:r>
          </a:p>
          <a:p>
            <a:pPr algn="l">
              <a:lnSpc>
                <a:spcPct val="118000"/>
              </a:lnSpc>
              <a:spcBef>
                <a:spcPts val="0"/>
              </a:spcBef>
              <a:spcAft>
                <a:spcPts val="1300"/>
              </a:spcAft>
            </a:pPr>
            <a:r>
              <a:rPr sz="2100" b="0" i="0">
                <a:solidFill>
                  <a:srgbClr val="1A1A1A"/>
                </a:solidFill>
                <a:latin typeface="Arial"/>
              </a:rPr>
              <a:t>Brokers, hedge funds, mutual funds and pension funds.</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Every price you see is one of these people disagreeing with another one.</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Retail and institutional participants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Retail means individuals trading their own money. Institutional means organizations trading other people's money at scale.</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You with a 20,000 peso account are retail. A pension fund moving 200 million pesos is institutional.</a:t>
            </a:r>
          </a:p>
        </p:txBody>
      </p:sp>
      <p:sp>
        <p:nvSpPr>
          <p:cNvPr id="11" name="Rectangle 10"/>
          <p:cNvSpPr/>
          <p:nvPr/>
        </p:nvSpPr>
        <p:spPr>
          <a:xfrm>
            <a:off x="777240" y="4575556"/>
            <a:ext cx="64008" cy="1088517"/>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119824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Retail participants trade their own capital in comparatively small size; institutional participants deploy pooled or corporate capital in size sufficient to move markets.</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2 of 14</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Speculators and investors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speculator is paid for taking on price risk over a shorter horizon. An investor holds for the longer term return.</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 speculator buys expecting a move this month. An investor buys expecting dividends and growth for a decade.</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Speculators assume price risk in pursuit of gain from price movement; investors commit capital for longer term return from the asset itself.</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3 of 14</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Supply side and demand side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The book lists both of these among its eight categories of market participant, and then defines neither of them anywhere in the book.</a:t>
            </a:r>
          </a:p>
        </p:txBody>
      </p:sp>
      <p:sp>
        <p:nvSpPr>
          <p:cNvPr id="9" name="Rectangle 8"/>
          <p:cNvSpPr/>
          <p:nvPr/>
        </p:nvSpPr>
        <p:spPr>
          <a:xfrm>
            <a:off x="777240" y="3417061"/>
            <a:ext cx="64008" cy="1643506"/>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175323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Aside, not examinable. Two readings circulate outside the text. One makes the supply side the providers of the market service, brokers, exchanges, market makers and data vendors, and the demand side the funds and traders who use them. The other makes the supply side producers hedging their output and the demand side consumers hedging their input.</a:t>
            </a:r>
          </a:p>
        </p:txBody>
      </p:sp>
      <p:sp>
        <p:nvSpPr>
          <p:cNvPr id="11" name="TextBox 10"/>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4 of 14</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Professionals and novices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professional does this for a living, with a process. A novice is still building one.</a:t>
            </a:r>
          </a:p>
        </p:txBody>
      </p:sp>
      <p:sp>
        <p:nvSpPr>
          <p:cNvPr id="9" name="Rectangle 8"/>
          <p:cNvSpPr/>
          <p:nvPr/>
        </p:nvSpPr>
        <p:spPr>
          <a:xfrm>
            <a:off x="777240" y="3417061"/>
            <a:ext cx="64008" cy="533527"/>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643255"/>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Everyone in this room is a novice today. That is the correct and useful answer.</a:t>
            </a:r>
          </a:p>
        </p:txBody>
      </p:sp>
      <p:sp>
        <p:nvSpPr>
          <p:cNvPr id="11" name="Rectangle 10"/>
          <p:cNvSpPr/>
          <p:nvPr/>
        </p:nvSpPr>
        <p:spPr>
          <a:xfrm>
            <a:off x="777240" y="4298061"/>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252341"/>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Professionals participate as an occupation, with defined process and risk control; novices participate without established process or experience.</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5 of 14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Discretionary and nondiscretionary traders</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 discretionary trader decides each trade themselves. A nondiscretionary trader follows a fixed system without overriding it.</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Reading the chart and deciding is discretionary. Letting a coded rule fire the order is nondiscretionary.</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Discretionary traders exercise judgement on each decision; nondiscretionary traders execute a predefined rule set without discretionary intervention.</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6 of 14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Sorted by time spent in the market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7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Scalpers: in and out within seconds or minutes.</a:t>
            </a:r>
          </a:p>
          <a:p>
            <a:pPr algn="l">
              <a:lnSpc>
                <a:spcPct val="118000"/>
              </a:lnSpc>
              <a:spcBef>
                <a:spcPts val="0"/>
              </a:spcBef>
              <a:spcAft>
                <a:spcPts val="1300"/>
              </a:spcAft>
            </a:pPr>
            <a:r>
              <a:rPr sz="2100" b="0" i="0">
                <a:solidFill>
                  <a:srgbClr val="1A1A1A"/>
                </a:solidFill>
                <a:latin typeface="Arial"/>
              </a:rPr>
              <a:t>Day traders: every trade closed within the same trading day.</a:t>
            </a:r>
          </a:p>
          <a:p>
            <a:pPr algn="l">
              <a:lnSpc>
                <a:spcPct val="118000"/>
              </a:lnSpc>
              <a:spcBef>
                <a:spcPts val="0"/>
              </a:spcBef>
              <a:spcAft>
                <a:spcPts val="1300"/>
              </a:spcAft>
            </a:pPr>
            <a:r>
              <a:rPr sz="2100" b="0" i="0">
                <a:solidFill>
                  <a:srgbClr val="1A1A1A"/>
                </a:solidFill>
                <a:latin typeface="Arial"/>
              </a:rPr>
              <a:t>Swing traders: technical reversals lasting a few days to a week.</a:t>
            </a:r>
          </a:p>
          <a:p>
            <a:pPr algn="l">
              <a:lnSpc>
                <a:spcPct val="118000"/>
              </a:lnSpc>
              <a:spcBef>
                <a:spcPts val="0"/>
              </a:spcBef>
              <a:spcAft>
                <a:spcPts val="1300"/>
              </a:spcAft>
            </a:pPr>
            <a:r>
              <a:rPr sz="2100" b="0" i="0">
                <a:solidFill>
                  <a:srgbClr val="1A1A1A"/>
                </a:solidFill>
                <a:latin typeface="Arial"/>
              </a:rPr>
              <a:t>Position traders: a few months up to a year.</a:t>
            </a:r>
          </a:p>
          <a:p>
            <a:pPr algn="l">
              <a:lnSpc>
                <a:spcPct val="118000"/>
              </a:lnSpc>
              <a:spcBef>
                <a:spcPts val="0"/>
              </a:spcBef>
              <a:spcAft>
                <a:spcPts val="1300"/>
              </a:spcAft>
            </a:pPr>
            <a:r>
              <a:rPr sz="2100" b="0" i="0">
                <a:solidFill>
                  <a:srgbClr val="1A1A1A"/>
                </a:solidFill>
                <a:latin typeface="Arial"/>
              </a:rPr>
              <a:t>Investors: buy and hold.</a:t>
            </a:r>
          </a:p>
        </p:txBody>
      </p:sp>
      <p:sp>
        <p:nvSpPr>
          <p:cNvPr id="8" name="Rectangle 7"/>
          <p:cNvSpPr/>
          <p:nvPr/>
        </p:nvSpPr>
        <p:spPr>
          <a:xfrm>
            <a:off x="777240" y="476478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Same market, five completely different jobs.</a:t>
            </a:r>
          </a:p>
        </p:txBody>
      </p:sp>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Participants by time in the market</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8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1.33</a:t>
            </a:r>
          </a:p>
          <a:p>
            <a:pPr algn="l">
              <a:lnSpc>
                <a:spcPct val="120000"/>
              </a:lnSpc>
              <a:spcBef>
                <a:spcPts val="0"/>
              </a:spcBef>
              <a:spcAft>
                <a:spcPts val="1800"/>
              </a:spcAft>
            </a:pPr>
            <a:r>
              <a:rPr sz="2200" b="0" i="0">
                <a:solidFill>
                  <a:srgbClr val="1A1A1A"/>
                </a:solidFill>
                <a:latin typeface="Palatino"/>
              </a:rPr>
              <a:t>Scalpers, day traders, swing traders, position traders and investors laid out left to right, from seconds at one end to buy and hold at the other.</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1.33 - Lim, The Handbook of Technical Analysis (Wiley, 2016)</a:t>
            </a:r>
          </a:p>
        </p:txBody>
      </p:sp>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Sorted by method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9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Scalpers: very rapid long and short trades, buying the bid and selling the ask.</a:t>
            </a:r>
          </a:p>
          <a:p>
            <a:pPr algn="l">
              <a:lnSpc>
                <a:spcPct val="118000"/>
              </a:lnSpc>
              <a:spcBef>
                <a:spcPts val="0"/>
              </a:spcBef>
              <a:spcAft>
                <a:spcPts val="1300"/>
              </a:spcAft>
            </a:pPr>
            <a:r>
              <a:rPr sz="2100" b="0" i="0">
                <a:solidFill>
                  <a:srgbClr val="1A1A1A"/>
                </a:solidFill>
                <a:latin typeface="Arial"/>
              </a:rPr>
              <a:t>Trend traders: catching trends and trailing the position.</a:t>
            </a:r>
          </a:p>
          <a:p>
            <a:pPr algn="l">
              <a:lnSpc>
                <a:spcPct val="118000"/>
              </a:lnSpc>
              <a:spcBef>
                <a:spcPts val="0"/>
              </a:spcBef>
              <a:spcAft>
                <a:spcPts val="1300"/>
              </a:spcAft>
            </a:pPr>
            <a:r>
              <a:rPr sz="2100" b="0" i="0">
                <a:solidFill>
                  <a:srgbClr val="1A1A1A"/>
                </a:solidFill>
                <a:latin typeface="Arial"/>
              </a:rPr>
              <a:t>Reversal traders: catching key levels, often through mean reversion.</a:t>
            </a:r>
          </a:p>
          <a:p>
            <a:pPr algn="l">
              <a:lnSpc>
                <a:spcPct val="118000"/>
              </a:lnSpc>
              <a:spcBef>
                <a:spcPts val="0"/>
              </a:spcBef>
              <a:spcAft>
                <a:spcPts val="1300"/>
              </a:spcAft>
            </a:pPr>
            <a:r>
              <a:rPr sz="2100" b="0" i="0">
                <a:solidFill>
                  <a:srgbClr val="1A1A1A"/>
                </a:solidFill>
                <a:latin typeface="Arial"/>
              </a:rPr>
              <a:t>Scale traders: averaging against price until it turns.</a:t>
            </a:r>
          </a:p>
          <a:p>
            <a:pPr algn="l">
              <a:lnSpc>
                <a:spcPct val="118000"/>
              </a:lnSpc>
              <a:spcBef>
                <a:spcPts val="0"/>
              </a:spcBef>
              <a:spcAft>
                <a:spcPts val="1300"/>
              </a:spcAft>
            </a:pPr>
            <a:r>
              <a:rPr sz="2100" b="0" i="0">
                <a:solidFill>
                  <a:srgbClr val="1A1A1A"/>
                </a:solidFill>
                <a:latin typeface="Arial"/>
              </a:rPr>
              <a:t>Investors: buy and hold.</a:t>
            </a:r>
          </a:p>
        </p:txBody>
      </p:sp>
      <p:sp>
        <p:nvSpPr>
          <p:cNvPr id="8" name="Rectangle 7"/>
          <p:cNvSpPr/>
          <p:nvPr/>
        </p:nvSpPr>
        <p:spPr>
          <a:xfrm>
            <a:off x="777240" y="4764786"/>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 same two bets from Part 3, wearing different clothes.</a:t>
            </a:r>
          </a:p>
        </p:txBody>
      </p:sp>
      <p:sp>
        <p:nvSpPr>
          <p:cNvPr id="10" name="TextBox 9"/>
          <p:cNvSpPr txBox="1"/>
          <p:nvPr/>
        </p:nvSpPr>
        <p:spPr>
          <a:xfrm>
            <a:off x="777240" y="5470144"/>
            <a:ext cx="10637215" cy="731520"/>
          </a:xfrm>
          <a:prstGeom prst="rect">
            <a:avLst/>
          </a:prstGeom>
          <a:noFill/>
        </p:spPr>
        <p:txBody>
          <a:bodyPr wrap="square" anchor="t" lIns="0" rIns="0" tIns="0" bIns="0">
            <a:spAutoFit/>
          </a:bodyPr>
          <a:lstStyle/>
          <a:p>
            <a:pPr algn="l">
              <a:lnSpc>
                <a:spcPct val="115000"/>
              </a:lnSpc>
              <a:spcBef>
                <a:spcPts val="0"/>
              </a:spcBef>
              <a:spcAft>
                <a:spcPts val="0"/>
              </a:spcAft>
            </a:pPr>
            <a:r>
              <a:rPr sz="1500" b="0" i="1">
                <a:solidFill>
                  <a:srgbClr val="818181"/>
                </a:solidFill>
                <a:latin typeface="Arial"/>
              </a:rPr>
              <a:t>Scale trading is the highest risk method on this list. Averaging into a loss is how accounts end.</a:t>
            </a:r>
          </a:p>
        </p:txBody>
      </p:sp>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Participants by trading methodology</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10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1.34</a:t>
            </a:r>
          </a:p>
          <a:p>
            <a:pPr algn="l">
              <a:lnSpc>
                <a:spcPct val="120000"/>
              </a:lnSpc>
              <a:spcBef>
                <a:spcPts val="0"/>
              </a:spcBef>
              <a:spcAft>
                <a:spcPts val="1800"/>
              </a:spcAft>
            </a:pPr>
            <a:r>
              <a:rPr sz="2200" b="0" i="0">
                <a:solidFill>
                  <a:srgbClr val="1A1A1A"/>
                </a:solidFill>
                <a:latin typeface="Palatino"/>
              </a:rPr>
              <a:t>The same five columns re-sorted by method: scalpers, trend traders, reversal traders, scale traders and investors, each with what it is attempting to do.</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1.34 - Lim, The Handbook of Technical Analysis (Wiley, 2016)</a:t>
            </a:r>
          </a:p>
        </p:txBody>
      </p:sp>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main markets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11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Stocks. Fixed income.</a:t>
            </a:r>
          </a:p>
          <a:p>
            <a:pPr algn="l">
              <a:lnSpc>
                <a:spcPct val="118000"/>
              </a:lnSpc>
              <a:spcBef>
                <a:spcPts val="0"/>
              </a:spcBef>
              <a:spcAft>
                <a:spcPts val="1300"/>
              </a:spcAft>
            </a:pPr>
            <a:r>
              <a:rPr sz="2100" b="0" i="0">
                <a:solidFill>
                  <a:srgbClr val="1A1A1A"/>
                </a:solidFill>
                <a:latin typeface="Arial"/>
              </a:rPr>
              <a:t>Foreign exchange. Commodities.</a:t>
            </a:r>
          </a:p>
          <a:p>
            <a:pPr algn="l">
              <a:lnSpc>
                <a:spcPct val="118000"/>
              </a:lnSpc>
              <a:spcBef>
                <a:spcPts val="0"/>
              </a:spcBef>
              <a:spcAft>
                <a:spcPts val="1300"/>
              </a:spcAft>
            </a:pPr>
            <a:r>
              <a:rPr sz="2100" b="0" i="0">
                <a:solidFill>
                  <a:srgbClr val="1A1A1A"/>
                </a:solidFill>
                <a:latin typeface="Arial"/>
              </a:rPr>
              <a:t>Real estate.</a:t>
            </a:r>
          </a:p>
        </p:txBody>
      </p:sp>
      <p:sp>
        <p:nvSpPr>
          <p:cNvPr id="8" name="Rectangle 7"/>
          <p:cNvSpPr/>
          <p:nvPr/>
        </p:nvSpPr>
        <p:spPr>
          <a:xfrm>
            <a:off x="777240" y="3769614"/>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3806190"/>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These are the underlying markets. Everything else is built on top of them.</a:t>
            </a:r>
          </a:p>
        </p:txBody>
      </p:sp>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markets, and the instruments built on them</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12 of 14</a:t>
            </a:r>
          </a:p>
        </p:txBody>
      </p:sp>
      <p:sp>
        <p:nvSpPr>
          <p:cNvPr id="7" name="Rectangle 6"/>
          <p:cNvSpPr/>
          <p:nvPr/>
        </p:nvSpPr>
        <p:spPr>
          <a:xfrm>
            <a:off x="2346807" y="1810512"/>
            <a:ext cx="7498079" cy="3749039"/>
          </a:xfrm>
          <a:prstGeom prst="rect">
            <a:avLst/>
          </a:prstGeom>
          <a:solidFill>
            <a:srgbClr val="FFFFFF"/>
          </a:solidFill>
          <a:ln w="12700">
            <a:solidFill>
              <a:srgbClr val="D7E0D9"/>
            </a:solidFill>
          </a:ln>
          <a:effectLst/>
        </p:spPr>
        <p:txBody>
          <a:bodyPr rtlCol="0" anchor="ctr"/>
          <a:lstStyle/>
          <a:p>
            <a:pPr algn="ctr"/>
          </a:p>
        </p:txBody>
      </p:sp>
      <p:sp>
        <p:nvSpPr>
          <p:cNvPr id="8" name="Rectangle 7"/>
          <p:cNvSpPr/>
          <p:nvPr/>
        </p:nvSpPr>
        <p:spPr>
          <a:xfrm>
            <a:off x="2346807" y="1810512"/>
            <a:ext cx="7498079" cy="50800"/>
          </a:xfrm>
          <a:prstGeom prst="rect">
            <a:avLst/>
          </a:prstGeom>
          <a:solidFill>
            <a:srgbClr val="F2A900"/>
          </a:solidFill>
          <a:ln>
            <a:noFill/>
          </a:ln>
          <a:effectLst/>
        </p:spPr>
        <p:txBody>
          <a:bodyPr rtlCol="0" anchor="ctr"/>
          <a:lstStyle/>
          <a:p>
            <a:pPr algn="ctr"/>
          </a:p>
        </p:txBody>
      </p:sp>
      <p:sp>
        <p:nvSpPr>
          <p:cNvPr id="9" name="TextBox 8"/>
          <p:cNvSpPr txBox="1"/>
          <p:nvPr/>
        </p:nvSpPr>
        <p:spPr>
          <a:xfrm>
            <a:off x="2895447" y="2450591"/>
            <a:ext cx="6400799" cy="2651759"/>
          </a:xfrm>
          <a:prstGeom prst="rect">
            <a:avLst/>
          </a:prstGeom>
          <a:noFill/>
        </p:spPr>
        <p:txBody>
          <a:bodyPr wrap="square" anchor="t" lIns="0" rIns="0" tIns="0" bIns="0">
            <a:spAutoFit/>
          </a:bodyPr>
          <a:lstStyle/>
          <a:p>
            <a:pPr algn="l">
              <a:lnSpc>
                <a:spcPct val="100000"/>
              </a:lnSpc>
              <a:spcBef>
                <a:spcPts val="0"/>
              </a:spcBef>
              <a:spcAft>
                <a:spcPts val="1400"/>
              </a:spcAft>
            </a:pPr>
            <a:r>
              <a:rPr sz="1500" b="1" i="0">
                <a:solidFill>
                  <a:srgbClr val="818181"/>
                </a:solidFill>
                <a:latin typeface="Arial"/>
              </a:rPr>
              <a:t>FIGURE 1.35</a:t>
            </a:r>
          </a:p>
          <a:p>
            <a:pPr algn="l">
              <a:lnSpc>
                <a:spcPct val="120000"/>
              </a:lnSpc>
              <a:spcBef>
                <a:spcPts val="0"/>
              </a:spcBef>
              <a:spcAft>
                <a:spcPts val="1800"/>
              </a:spcAft>
            </a:pPr>
            <a:r>
              <a:rPr sz="2200" b="0" i="0">
                <a:solidFill>
                  <a:srgbClr val="1A1A1A"/>
                </a:solidFill>
                <a:latin typeface="Palatino"/>
              </a:rPr>
              <a:t>Five underlying markets on the right, stocks through real estate, and five derivative instruments on the left, options through exchange traded funds.</a:t>
            </a:r>
          </a:p>
          <a:p>
            <a:pPr algn="l">
              <a:lnSpc>
                <a:spcPct val="115000"/>
              </a:lnSpc>
              <a:spcBef>
                <a:spcPts val="0"/>
              </a:spcBef>
              <a:spcAft>
                <a:spcPts val="0"/>
              </a:spcAft>
            </a:pPr>
            <a:r>
              <a:rPr sz="1400" b="0" i="1">
                <a:solidFill>
                  <a:srgbClr val="818181"/>
                </a:solidFill>
                <a:latin typeface="Arial"/>
              </a:rPr>
              <a:t>The artwork is copyrighted and is not in the public repository. Build with assets/figures/ present to place it here.</a:t>
            </a:r>
          </a:p>
        </p:txBody>
      </p:sp>
      <p:sp>
        <p:nvSpPr>
          <p:cNvPr id="10" name="TextBox 9"/>
          <p:cNvSpPr txBox="1"/>
          <p:nvPr/>
        </p:nvSpPr>
        <p:spPr>
          <a:xfrm>
            <a:off x="777240" y="5669280"/>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300" b="0" i="0">
                <a:solidFill>
                  <a:srgbClr val="818181"/>
                </a:solidFill>
                <a:latin typeface="Arial"/>
              </a:rPr>
              <a:t>Figure 1.35 - Lim, The Handbook of Technical Analysis (Wiley, 2016)</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777240" y="566928"/>
            <a:ext cx="1234440" cy="329184"/>
          </a:xfrm>
          <a:prstGeom prst="rect">
            <a:avLst/>
          </a:prstGeom>
          <a:solidFill>
            <a:srgbClr val="F2A900"/>
          </a:solidFill>
          <a:ln>
            <a:noFill/>
          </a:ln>
          <a:effectLst/>
        </p:spPr>
        <p:txBody>
          <a:bodyPr rtlCol="0" anchor="ctr" wrap="none" lIns="0" rIns="0" tIns="0" bIns="0"/>
          <a:lstStyle/>
          <a:p>
            <a:pPr algn="ctr">
              <a:lnSpc>
                <a:spcPct val="100000"/>
              </a:lnSpc>
              <a:spcBef>
                <a:spcPts val="0"/>
              </a:spcBef>
              <a:spcAft>
                <a:spcPts val="0"/>
              </a:spcAft>
            </a:pPr>
            <a:r>
              <a:rPr sz="1200" b="1" i="0">
                <a:solidFill>
                  <a:srgbClr val="1A1A1A"/>
                </a:solidFill>
                <a:latin typeface="Arial"/>
              </a:rPr>
              <a:t>NEW TERM</a:t>
            </a:r>
          </a:p>
        </p:txBody>
      </p:sp>
      <p:sp>
        <p:nvSpPr>
          <p:cNvPr id="5" name="TextBox 4"/>
          <p:cNvSpPr txBox="1"/>
          <p:nvPr/>
        </p:nvSpPr>
        <p:spPr>
          <a:xfrm>
            <a:off x="777240" y="1051560"/>
            <a:ext cx="10637215" cy="822960"/>
          </a:xfrm>
          <a:prstGeom prst="rect">
            <a:avLst/>
          </a:prstGeom>
          <a:noFill/>
        </p:spPr>
        <p:txBody>
          <a:bodyPr wrap="square" anchor="t" lIns="0" rIns="0" tIns="0" bIns="0">
            <a:spAutoFit/>
          </a:bodyPr>
          <a:lstStyle/>
          <a:p>
            <a:pPr algn="l">
              <a:lnSpc>
                <a:spcPct val="105000"/>
              </a:lnSpc>
              <a:spcBef>
                <a:spcPts val="0"/>
              </a:spcBef>
              <a:spcAft>
                <a:spcPts val="0"/>
              </a:spcAft>
            </a:pPr>
            <a:r>
              <a:rPr sz="3200" b="0" i="0">
                <a:solidFill>
                  <a:srgbClr val="007A33"/>
                </a:solidFill>
                <a:latin typeface="Palatino"/>
              </a:rPr>
              <a:t>Derivative</a:t>
            </a:r>
          </a:p>
        </p:txBody>
      </p:sp>
      <p:sp>
        <p:nvSpPr>
          <p:cNvPr id="6" name="Rectangle 5"/>
          <p:cNvSpPr/>
          <p:nvPr/>
        </p:nvSpPr>
        <p:spPr>
          <a:xfrm>
            <a:off x="777240" y="1874519"/>
            <a:ext cx="10637215" cy="15875"/>
          </a:xfrm>
          <a:prstGeom prst="rect">
            <a:avLst/>
          </a:prstGeom>
          <a:solidFill>
            <a:srgbClr val="D7E0D9"/>
          </a:solidFill>
          <a:ln>
            <a:noFill/>
          </a:ln>
          <a:effectLst/>
        </p:spPr>
        <p:txBody>
          <a:bodyPr rtlCol="0" anchor="ctr"/>
          <a:lstStyle/>
          <a:p>
            <a:pPr algn="ctr"/>
          </a:p>
        </p:txBody>
      </p:sp>
      <p:sp>
        <p:nvSpPr>
          <p:cNvPr id="7" name="Rectangle 6"/>
          <p:cNvSpPr/>
          <p:nvPr/>
        </p:nvSpPr>
        <p:spPr>
          <a:xfrm>
            <a:off x="777240" y="2258568"/>
            <a:ext cx="64008" cy="811022"/>
          </a:xfrm>
          <a:prstGeom prst="rect">
            <a:avLst/>
          </a:prstGeom>
          <a:solidFill>
            <a:srgbClr val="F2A900"/>
          </a:solidFill>
          <a:ln>
            <a:noFill/>
          </a:ln>
          <a:effectLst/>
        </p:spPr>
        <p:txBody>
          <a:bodyPr rtlCol="0" anchor="ctr"/>
          <a:lstStyle/>
          <a:p>
            <a:pPr algn="ctr"/>
          </a:p>
        </p:txBody>
      </p:sp>
      <p:sp>
        <p:nvSpPr>
          <p:cNvPr id="8" name="TextBox 7"/>
          <p:cNvSpPr txBox="1"/>
          <p:nvPr/>
        </p:nvSpPr>
        <p:spPr>
          <a:xfrm>
            <a:off x="1051560" y="2212848"/>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IN PLAIN WORDS</a:t>
            </a:r>
          </a:p>
          <a:p>
            <a:pPr algn="l">
              <a:lnSpc>
                <a:spcPct val="115000"/>
              </a:lnSpc>
              <a:spcBef>
                <a:spcPts val="0"/>
              </a:spcBef>
              <a:spcAft>
                <a:spcPts val="0"/>
              </a:spcAft>
            </a:pPr>
            <a:r>
              <a:rPr sz="1900" b="1" i="0">
                <a:solidFill>
                  <a:srgbClr val="1A1A1A"/>
                </a:solidFill>
                <a:latin typeface="Arial"/>
              </a:rPr>
              <a:t>An instrument whose value comes from something else. You get exposure to the thing without owning the thing.</a:t>
            </a:r>
          </a:p>
        </p:txBody>
      </p:sp>
      <p:sp>
        <p:nvSpPr>
          <p:cNvPr id="9" name="Rectangle 8"/>
          <p:cNvSpPr/>
          <p:nvPr/>
        </p:nvSpPr>
        <p:spPr>
          <a:xfrm>
            <a:off x="777240" y="3417061"/>
            <a:ext cx="64008" cy="811022"/>
          </a:xfrm>
          <a:prstGeom prst="rect">
            <a:avLst/>
          </a:prstGeom>
          <a:solidFill>
            <a:srgbClr val="D7E0D9"/>
          </a:solidFill>
          <a:ln>
            <a:noFill/>
          </a:ln>
          <a:effectLst/>
        </p:spPr>
        <p:txBody>
          <a:bodyPr rtlCol="0" anchor="ctr"/>
          <a:lstStyle/>
          <a:p>
            <a:pPr algn="ctr"/>
          </a:p>
        </p:txBody>
      </p:sp>
      <p:sp>
        <p:nvSpPr>
          <p:cNvPr id="10" name="TextBox 9"/>
          <p:cNvSpPr txBox="1"/>
          <p:nvPr/>
        </p:nvSpPr>
        <p:spPr>
          <a:xfrm>
            <a:off x="1051560" y="3371342"/>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FOR EXAMPLE</a:t>
            </a:r>
          </a:p>
          <a:p>
            <a:pPr algn="l">
              <a:lnSpc>
                <a:spcPct val="115000"/>
              </a:lnSpc>
              <a:spcBef>
                <a:spcPts val="0"/>
              </a:spcBef>
              <a:spcAft>
                <a:spcPts val="0"/>
              </a:spcAft>
            </a:pPr>
            <a:r>
              <a:rPr sz="1900" b="0" i="0">
                <a:solidFill>
                  <a:srgbClr val="1A1A1A"/>
                </a:solidFill>
                <a:latin typeface="Arial"/>
              </a:rPr>
              <a:t>Options, futures, contracts for difference, spread betting, and exchange traded funds.</a:t>
            </a:r>
          </a:p>
        </p:txBody>
      </p:sp>
      <p:sp>
        <p:nvSpPr>
          <p:cNvPr id="11" name="Rectangle 10"/>
          <p:cNvSpPr/>
          <p:nvPr/>
        </p:nvSpPr>
        <p:spPr>
          <a:xfrm>
            <a:off x="777240" y="4575556"/>
            <a:ext cx="64008" cy="811022"/>
          </a:xfrm>
          <a:prstGeom prst="rect">
            <a:avLst/>
          </a:prstGeom>
          <a:solidFill>
            <a:srgbClr val="D7E0D9"/>
          </a:solidFill>
          <a:ln>
            <a:noFill/>
          </a:ln>
          <a:effectLst/>
        </p:spPr>
        <p:txBody>
          <a:bodyPr rtlCol="0" anchor="ctr"/>
          <a:lstStyle/>
          <a:p>
            <a:pPr algn="ctr"/>
          </a:p>
        </p:txBody>
      </p:sp>
      <p:sp>
        <p:nvSpPr>
          <p:cNvPr id="12" name="TextBox 11"/>
          <p:cNvSpPr txBox="1"/>
          <p:nvPr/>
        </p:nvSpPr>
        <p:spPr>
          <a:xfrm>
            <a:off x="1051560" y="4529836"/>
            <a:ext cx="10362895" cy="920750"/>
          </a:xfrm>
          <a:prstGeom prst="rect">
            <a:avLst/>
          </a:prstGeom>
          <a:noFill/>
        </p:spPr>
        <p:txBody>
          <a:bodyPr wrap="square" anchor="t" lIns="0" rIns="0" tIns="0" bIns="0">
            <a:spAutoFit/>
          </a:bodyPr>
          <a:lstStyle/>
          <a:p>
            <a:pPr algn="l">
              <a:lnSpc>
                <a:spcPct val="100000"/>
              </a:lnSpc>
              <a:spcBef>
                <a:spcPts val="0"/>
              </a:spcBef>
              <a:spcAft>
                <a:spcPts val="400"/>
              </a:spcAft>
            </a:pPr>
            <a:r>
              <a:rPr sz="1100" b="1" i="0">
                <a:solidFill>
                  <a:srgbClr val="818181"/>
                </a:solidFill>
                <a:latin typeface="Arial"/>
              </a:rPr>
              <a:t>THE FORMAL DEFINITION</a:t>
            </a:r>
          </a:p>
          <a:p>
            <a:pPr algn="l">
              <a:lnSpc>
                <a:spcPct val="115000"/>
              </a:lnSpc>
              <a:spcBef>
                <a:spcPts val="0"/>
              </a:spcBef>
              <a:spcAft>
                <a:spcPts val="0"/>
              </a:spcAft>
            </a:pPr>
            <a:r>
              <a:rPr sz="1900" b="0" i="0">
                <a:solidFill>
                  <a:srgbClr val="1A1A1A"/>
                </a:solidFill>
                <a:latin typeface="Arial"/>
              </a:rPr>
              <a:t>A derivative is an instrument that provides access to an underlying market, deriving its value from that underlying.</a:t>
            </a:r>
          </a:p>
        </p:txBody>
      </p:sp>
      <p:sp>
        <p:nvSpPr>
          <p:cNvPr id="13" name="TextBox 12"/>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13 of 14</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Five ways to own gold</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14 of 14</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Buy physical gold. That is the main market.</a:t>
            </a:r>
          </a:p>
          <a:p>
            <a:pPr algn="l">
              <a:lnSpc>
                <a:spcPct val="118000"/>
              </a:lnSpc>
              <a:spcBef>
                <a:spcPts val="0"/>
              </a:spcBef>
              <a:spcAft>
                <a:spcPts val="1300"/>
              </a:spcAft>
            </a:pPr>
            <a:r>
              <a:rPr sz="2100" b="0" i="0">
                <a:solidFill>
                  <a:srgbClr val="1A1A1A"/>
                </a:solidFill>
                <a:latin typeface="Arial"/>
              </a:rPr>
              <a:t>Buy or sell a gold futures contract. Derivative.</a:t>
            </a:r>
          </a:p>
          <a:p>
            <a:pPr algn="l">
              <a:lnSpc>
                <a:spcPct val="118000"/>
              </a:lnSpc>
              <a:spcBef>
                <a:spcPts val="0"/>
              </a:spcBef>
              <a:spcAft>
                <a:spcPts val="1300"/>
              </a:spcAft>
            </a:pPr>
            <a:r>
              <a:rPr sz="2100" b="0" i="0">
                <a:solidFill>
                  <a:srgbClr val="1A1A1A"/>
                </a:solidFill>
                <a:latin typeface="Arial"/>
              </a:rPr>
              <a:t>Buy or sell a gold options contract. Derivative.</a:t>
            </a:r>
          </a:p>
          <a:p>
            <a:pPr algn="l">
              <a:lnSpc>
                <a:spcPct val="118000"/>
              </a:lnSpc>
              <a:spcBef>
                <a:spcPts val="0"/>
              </a:spcBef>
              <a:spcAft>
                <a:spcPts val="1300"/>
              </a:spcAft>
            </a:pPr>
            <a:r>
              <a:rPr sz="2100" b="0" i="0">
                <a:solidFill>
                  <a:srgbClr val="1A1A1A"/>
                </a:solidFill>
                <a:latin typeface="Arial"/>
              </a:rPr>
              <a:t>Buy shares in a gold backed exchange traded fund. Derivative.</a:t>
            </a:r>
          </a:p>
          <a:p>
            <a:pPr algn="l">
              <a:lnSpc>
                <a:spcPct val="118000"/>
              </a:lnSpc>
              <a:spcBef>
                <a:spcPts val="0"/>
              </a:spcBef>
              <a:spcAft>
                <a:spcPts val="1300"/>
              </a:spcAft>
            </a:pPr>
            <a:r>
              <a:rPr sz="2100" b="0" i="0">
                <a:solidFill>
                  <a:srgbClr val="1A1A1A"/>
                </a:solidFill>
                <a:latin typeface="Arial"/>
              </a:rPr>
              <a:t>Trade gold through a contract for difference. Derivative.</a:t>
            </a:r>
          </a:p>
        </p:txBody>
      </p:sp>
      <p:sp>
        <p:nvSpPr>
          <p:cNvPr id="8" name="Rectangle 7"/>
          <p:cNvSpPr/>
          <p:nvPr/>
        </p:nvSpPr>
        <p:spPr>
          <a:xfrm>
            <a:off x="777240" y="476478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One underlying, five different instruments, five different risk profiles.</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Rectangle 3"/>
          <p:cNvSpPr/>
          <p:nvPr/>
        </p:nvSpPr>
        <p:spPr>
          <a:xfrm>
            <a:off x="11935663" y="0"/>
            <a:ext cx="256032" cy="6858000"/>
          </a:xfrm>
          <a:prstGeom prst="rect">
            <a:avLst/>
          </a:prstGeom>
          <a:solidFill>
            <a:srgbClr val="F2A900"/>
          </a:solidFill>
          <a:ln>
            <a:noFill/>
          </a:ln>
          <a:effectLst/>
        </p:spPr>
        <p:txBody>
          <a:bodyPr rtlCol="0" anchor="ctr"/>
          <a:lstStyle/>
          <a:p>
            <a:pPr algn="ctr"/>
          </a:p>
        </p:txBody>
      </p:sp>
      <p:sp>
        <p:nvSpPr>
          <p:cNvPr id="5" name="TextBox 4"/>
          <p:cNvSpPr txBox="1"/>
          <p:nvPr/>
        </p:nvSpPr>
        <p:spPr>
          <a:xfrm>
            <a:off x="777240" y="658368"/>
            <a:ext cx="10180015" cy="822960"/>
          </a:xfrm>
          <a:prstGeom prst="rect">
            <a:avLst/>
          </a:prstGeom>
          <a:noFill/>
        </p:spPr>
        <p:txBody>
          <a:bodyPr wrap="square" anchor="t" lIns="0" rIns="0" tIns="0" bIns="0">
            <a:spAutoFit/>
          </a:bodyPr>
          <a:lstStyle/>
          <a:p>
            <a:pPr algn="l">
              <a:lnSpc>
                <a:spcPct val="100000"/>
              </a:lnSpc>
              <a:spcBef>
                <a:spcPts val="0"/>
              </a:spcBef>
              <a:spcAft>
                <a:spcPts val="0"/>
              </a:spcAft>
            </a:pPr>
            <a:r>
              <a:rPr sz="3200" b="0" i="0">
                <a:solidFill>
                  <a:srgbClr val="007A33"/>
                </a:solidFill>
                <a:latin typeface="Palatino"/>
              </a:rPr>
              <a:t>You now know</a:t>
            </a:r>
          </a:p>
        </p:txBody>
      </p:sp>
      <p:sp>
        <p:nvSpPr>
          <p:cNvPr id="6" name="Rectangle 5"/>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7" name="TextBox 6"/>
          <p:cNvSpPr txBox="1"/>
          <p:nvPr/>
        </p:nvSpPr>
        <p:spPr>
          <a:xfrm>
            <a:off x="777240"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The eight categories of market participant</a:t>
            </a:r>
          </a:p>
          <a:p>
            <a:pPr algn="l" marL="237744" indent="-237744">
              <a:lnSpc>
                <a:spcPct val="112000"/>
              </a:lnSpc>
              <a:spcBef>
                <a:spcPts val="0"/>
              </a:spcBef>
              <a:spcAft>
                <a:spcPts val="1200"/>
              </a:spcAft>
            </a:pPr>
            <a:r>
              <a:rPr sz="1800" b="0" i="0">
                <a:solidFill>
                  <a:srgbClr val="1A1A1A"/>
                </a:solidFill>
                <a:latin typeface="Arial"/>
              </a:rPr>
              <a:t>▪  Retail and institutional</a:t>
            </a:r>
          </a:p>
          <a:p>
            <a:pPr algn="l" marL="237744" indent="-237744">
              <a:lnSpc>
                <a:spcPct val="112000"/>
              </a:lnSpc>
              <a:spcBef>
                <a:spcPts val="0"/>
              </a:spcBef>
              <a:spcAft>
                <a:spcPts val="1200"/>
              </a:spcAft>
            </a:pPr>
            <a:r>
              <a:rPr sz="1800" b="0" i="0">
                <a:solidFill>
                  <a:srgbClr val="1A1A1A"/>
                </a:solidFill>
                <a:latin typeface="Arial"/>
              </a:rPr>
              <a:t>▪  Speculator and investor</a:t>
            </a:r>
          </a:p>
          <a:p>
            <a:pPr algn="l" marL="237744" indent="-237744">
              <a:lnSpc>
                <a:spcPct val="112000"/>
              </a:lnSpc>
              <a:spcBef>
                <a:spcPts val="0"/>
              </a:spcBef>
              <a:spcAft>
                <a:spcPts val="1200"/>
              </a:spcAft>
            </a:pPr>
            <a:r>
              <a:rPr sz="1800" b="0" i="0">
                <a:solidFill>
                  <a:srgbClr val="1A1A1A"/>
                </a:solidFill>
                <a:latin typeface="Arial"/>
              </a:rPr>
              <a:t>▪  Supply side and demand side</a:t>
            </a:r>
          </a:p>
          <a:p>
            <a:pPr algn="l" marL="237744" indent="-237744">
              <a:lnSpc>
                <a:spcPct val="112000"/>
              </a:lnSpc>
              <a:spcBef>
                <a:spcPts val="0"/>
              </a:spcBef>
              <a:spcAft>
                <a:spcPts val="1200"/>
              </a:spcAft>
            </a:pPr>
            <a:r>
              <a:rPr sz="1800" b="0" i="0">
                <a:solidFill>
                  <a:srgbClr val="1A1A1A"/>
                </a:solidFill>
                <a:latin typeface="Arial"/>
              </a:rPr>
              <a:t>▪  Professional and novice</a:t>
            </a:r>
          </a:p>
        </p:txBody>
      </p:sp>
      <p:sp>
        <p:nvSpPr>
          <p:cNvPr id="8" name="TextBox 7"/>
          <p:cNvSpPr txBox="1"/>
          <p:nvPr/>
        </p:nvSpPr>
        <p:spPr>
          <a:xfrm>
            <a:off x="6141567" y="1965960"/>
            <a:ext cx="4815687" cy="3794760"/>
          </a:xfrm>
          <a:prstGeom prst="rect">
            <a:avLst/>
          </a:prstGeom>
          <a:noFill/>
        </p:spPr>
        <p:txBody>
          <a:bodyPr wrap="square" anchor="t" lIns="0" rIns="0" tIns="0" bIns="0">
            <a:spAutoFit/>
          </a:bodyPr>
          <a:lstStyle/>
          <a:p>
            <a:pPr algn="l" marL="237744" indent="-237744">
              <a:lnSpc>
                <a:spcPct val="112000"/>
              </a:lnSpc>
              <a:spcBef>
                <a:spcPts val="0"/>
              </a:spcBef>
              <a:spcAft>
                <a:spcPts val="1200"/>
              </a:spcAft>
            </a:pPr>
            <a:r>
              <a:rPr sz="1800" b="0" i="0">
                <a:solidFill>
                  <a:srgbClr val="1A1A1A"/>
                </a:solidFill>
                <a:latin typeface="Arial"/>
              </a:rPr>
              <a:t>▪  Discretionary and nondiscretionary traders</a:t>
            </a:r>
          </a:p>
          <a:p>
            <a:pPr algn="l" marL="237744" indent="-237744">
              <a:lnSpc>
                <a:spcPct val="112000"/>
              </a:lnSpc>
              <a:spcBef>
                <a:spcPts val="0"/>
              </a:spcBef>
              <a:spcAft>
                <a:spcPts val="1200"/>
              </a:spcAft>
            </a:pPr>
            <a:r>
              <a:rPr sz="1800" b="0" i="0">
                <a:solidFill>
                  <a:srgbClr val="1A1A1A"/>
                </a:solidFill>
                <a:latin typeface="Arial"/>
              </a:rPr>
              <a:t>▪  Sorted by time: scalper to investor</a:t>
            </a:r>
          </a:p>
          <a:p>
            <a:pPr algn="l" marL="237744" indent="-237744">
              <a:lnSpc>
                <a:spcPct val="112000"/>
              </a:lnSpc>
              <a:spcBef>
                <a:spcPts val="0"/>
              </a:spcBef>
              <a:spcAft>
                <a:spcPts val="1200"/>
              </a:spcAft>
            </a:pPr>
            <a:r>
              <a:rPr sz="1800" b="0" i="0">
                <a:solidFill>
                  <a:srgbClr val="1A1A1A"/>
                </a:solidFill>
                <a:latin typeface="Arial"/>
              </a:rPr>
              <a:t>▪  Sorted by method: scalper to investor</a:t>
            </a:r>
          </a:p>
          <a:p>
            <a:pPr algn="l" marL="237744" indent="-237744">
              <a:lnSpc>
                <a:spcPct val="112000"/>
              </a:lnSpc>
              <a:spcBef>
                <a:spcPts val="0"/>
              </a:spcBef>
              <a:spcAft>
                <a:spcPts val="1200"/>
              </a:spcAft>
            </a:pPr>
            <a:r>
              <a:rPr sz="1800" b="0" i="0">
                <a:solidFill>
                  <a:srgbClr val="1A1A1A"/>
                </a:solidFill>
                <a:latin typeface="Arial"/>
              </a:rPr>
              <a:t>▪  The five main markets</a:t>
            </a:r>
          </a:p>
          <a:p>
            <a:pPr algn="l" marL="237744" indent="-237744">
              <a:lnSpc>
                <a:spcPct val="112000"/>
              </a:lnSpc>
              <a:spcBef>
                <a:spcPts val="0"/>
              </a:spcBef>
              <a:spcAft>
                <a:spcPts val="1200"/>
              </a:spcAft>
            </a:pPr>
            <a:r>
              <a:rPr sz="1800" b="0" i="0">
                <a:solidFill>
                  <a:srgbClr val="1A1A1A"/>
                </a:solidFill>
                <a:latin typeface="Arial"/>
              </a:rPr>
              <a:t>▪  Derivatives and the five instruments</a:t>
            </a:r>
          </a:p>
          <a:p>
            <a:pPr algn="l" marL="237744" indent="-237744">
              <a:lnSpc>
                <a:spcPct val="112000"/>
              </a:lnSpc>
              <a:spcBef>
                <a:spcPts val="0"/>
              </a:spcBef>
              <a:spcAft>
                <a:spcPts val="1200"/>
              </a:spcAft>
            </a:pPr>
            <a:r>
              <a:rPr sz="1800" b="0" i="0">
                <a:solidFill>
                  <a:srgbClr val="1A1A1A"/>
                </a:solidFill>
                <a:latin typeface="Arial"/>
              </a:rPr>
              <a:t>▪  Five ways to participate in gold</a:t>
            </a:r>
          </a:p>
        </p:txBody>
      </p:sp>
      <p:sp>
        <p:nvSpPr>
          <p:cNvPr id="9" name="TextBox 8"/>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Part 6 of 6 - Participants  |  recap</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Chapter 1 in five sentences</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1 -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Technical analysis is the study of market action.</a:t>
            </a:r>
          </a:p>
          <a:p>
            <a:pPr algn="l">
              <a:lnSpc>
                <a:spcPct val="118000"/>
              </a:lnSpc>
              <a:spcBef>
                <a:spcPts val="0"/>
              </a:spcBef>
              <a:spcAft>
                <a:spcPts val="1300"/>
              </a:spcAft>
            </a:pPr>
            <a:r>
              <a:rPr sz="2100" b="0" i="0">
                <a:solidFill>
                  <a:srgbClr val="1A1A1A"/>
                </a:solidFill>
                <a:latin typeface="Arial"/>
              </a:rPr>
              <a:t>It identifies what has happened, and it forecasts what might.</a:t>
            </a:r>
          </a:p>
          <a:p>
            <a:pPr algn="l">
              <a:lnSpc>
                <a:spcPct val="118000"/>
              </a:lnSpc>
              <a:spcBef>
                <a:spcPts val="0"/>
              </a:spcBef>
              <a:spcAft>
                <a:spcPts val="1300"/>
              </a:spcAft>
            </a:pPr>
            <a:r>
              <a:rPr sz="2100" b="0" i="0">
                <a:solidFill>
                  <a:srgbClr val="1A1A1A"/>
                </a:solidFill>
                <a:latin typeface="Arial"/>
              </a:rPr>
              <a:t>It rests on discounting, repetition, and trends.</a:t>
            </a:r>
          </a:p>
          <a:p>
            <a:pPr algn="l">
              <a:lnSpc>
                <a:spcPct val="118000"/>
              </a:lnSpc>
              <a:spcBef>
                <a:spcPts val="0"/>
              </a:spcBef>
              <a:spcAft>
                <a:spcPts val="1300"/>
              </a:spcAft>
            </a:pPr>
            <a:r>
              <a:rPr sz="2100" b="0" i="0">
                <a:solidFill>
                  <a:srgbClr val="1A1A1A"/>
                </a:solidFill>
                <a:latin typeface="Arial"/>
              </a:rPr>
              <a:t>It is subjective, and so is every other kind of analysis.</a:t>
            </a:r>
          </a:p>
          <a:p>
            <a:pPr algn="l">
              <a:lnSpc>
                <a:spcPct val="118000"/>
              </a:lnSpc>
              <a:spcBef>
                <a:spcPts val="0"/>
              </a:spcBef>
              <a:spcAft>
                <a:spcPts val="1300"/>
              </a:spcAft>
            </a:pPr>
            <a:r>
              <a:rPr sz="2100" b="0" i="0">
                <a:solidFill>
                  <a:srgbClr val="1A1A1A"/>
                </a:solidFill>
                <a:latin typeface="Arial"/>
              </a:rPr>
              <a:t>It deals in probabilities, never in certainties.</a:t>
            </a:r>
          </a:p>
        </p:txBody>
      </p:sp>
      <p:sp>
        <p:nvSpPr>
          <p:cNvPr id="8" name="Rectangle 7"/>
          <p:cNvSpPr/>
          <p:nvPr/>
        </p:nvSpPr>
        <p:spPr>
          <a:xfrm>
            <a:off x="777240" y="4764786"/>
            <a:ext cx="82296" cy="78892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4801362"/>
            <a:ext cx="10344607" cy="78892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If you remember the last line, you will make fewer expensive mistakes than most people.</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8F2"/>
          </a:solidFill>
          <a:ln>
            <a:noFill/>
          </a:ln>
          <a:effectLst/>
        </p:spPr>
        <p:txBody>
          <a:bodyPr rtlCol="0" anchor="ctr"/>
          <a:lstStyle/>
          <a:p>
            <a:pPr algn="ctr"/>
          </a:p>
        </p:txBody>
      </p:sp>
      <p:sp>
        <p:nvSpPr>
          <p:cNvPr id="3" name="Rectangle 2"/>
          <p:cNvSpPr/>
          <p:nvPr/>
        </p:nvSpPr>
        <p:spPr>
          <a:xfrm>
            <a:off x="0" y="0"/>
            <a:ext cx="12191695" cy="146304"/>
          </a:xfrm>
          <a:prstGeom prst="rect">
            <a:avLst/>
          </a:prstGeom>
          <a:solidFill>
            <a:srgbClr val="007A33"/>
          </a:solidFill>
          <a:ln>
            <a:noFill/>
          </a:ln>
          <a:effectLst/>
        </p:spPr>
        <p:txBody>
          <a:bodyPr rtlCol="0" anchor="ctr"/>
          <a:lstStyle/>
          <a:p>
            <a:pPr algn="ctr"/>
          </a:p>
        </p:txBody>
      </p:sp>
      <p:sp>
        <p:nvSpPr>
          <p:cNvPr id="4" name="TextBox 3"/>
          <p:cNvSpPr txBox="1"/>
          <p:nvPr/>
        </p:nvSpPr>
        <p:spPr>
          <a:xfrm>
            <a:off x="777240" y="658368"/>
            <a:ext cx="10637215" cy="914400"/>
          </a:xfrm>
          <a:prstGeom prst="rect">
            <a:avLst/>
          </a:prstGeom>
          <a:noFill/>
        </p:spPr>
        <p:txBody>
          <a:bodyPr wrap="square" anchor="t" lIns="0" rIns="0" tIns="0" bIns="0">
            <a:spAutoFit/>
          </a:bodyPr>
          <a:lstStyle/>
          <a:p>
            <a:pPr algn="l">
              <a:lnSpc>
                <a:spcPct val="105000"/>
              </a:lnSpc>
              <a:spcBef>
                <a:spcPts val="0"/>
              </a:spcBef>
              <a:spcAft>
                <a:spcPts val="0"/>
              </a:spcAft>
            </a:pPr>
            <a:r>
              <a:rPr sz="3000" b="0" i="0">
                <a:solidFill>
                  <a:srgbClr val="007A33"/>
                </a:solidFill>
                <a:latin typeface="Palatino"/>
              </a:rPr>
              <a:t>The review questions to prepare</a:t>
            </a:r>
          </a:p>
        </p:txBody>
      </p:sp>
      <p:sp>
        <p:nvSpPr>
          <p:cNvPr id="5" name="Rectangle 4"/>
          <p:cNvSpPr/>
          <p:nvPr/>
        </p:nvSpPr>
        <p:spPr>
          <a:xfrm>
            <a:off x="777240" y="1572768"/>
            <a:ext cx="10637215" cy="15875"/>
          </a:xfrm>
          <a:prstGeom prst="rect">
            <a:avLst/>
          </a:prstGeom>
          <a:solidFill>
            <a:srgbClr val="D7E0D9"/>
          </a:solidFill>
          <a:ln>
            <a:noFill/>
          </a:ln>
          <a:effectLst/>
        </p:spPr>
        <p:txBody>
          <a:bodyPr rtlCol="0" anchor="ctr"/>
          <a:lstStyle/>
          <a:p>
            <a:pPr algn="ctr"/>
          </a:p>
        </p:txBody>
      </p:sp>
      <p:sp>
        <p:nvSpPr>
          <p:cNvPr id="6" name="TextBox 5"/>
          <p:cNvSpPr txBox="1"/>
          <p:nvPr/>
        </p:nvSpPr>
        <p:spPr>
          <a:xfrm>
            <a:off x="777240" y="6199632"/>
            <a:ext cx="10637215" cy="310896"/>
          </a:xfrm>
          <a:prstGeom prst="rect">
            <a:avLst/>
          </a:prstGeom>
          <a:noFill/>
        </p:spPr>
        <p:txBody>
          <a:bodyPr wrap="square" anchor="t" lIns="0" rIns="0" tIns="0" bIns="0">
            <a:spAutoFit/>
          </a:bodyPr>
          <a:lstStyle/>
          <a:p>
            <a:pPr algn="l">
              <a:lnSpc>
                <a:spcPct val="100000"/>
              </a:lnSpc>
              <a:spcBef>
                <a:spcPts val="0"/>
              </a:spcBef>
              <a:spcAft>
                <a:spcPts val="0"/>
              </a:spcAft>
            </a:pPr>
            <a:r>
              <a:rPr sz="1200" b="0" i="0">
                <a:solidFill>
                  <a:srgbClr val="818181"/>
                </a:solidFill>
                <a:latin typeface="Arial"/>
              </a:rPr>
              <a:t>Chapter 1 - Wrap up</a:t>
            </a:r>
          </a:p>
        </p:txBody>
      </p:sp>
      <p:sp>
        <p:nvSpPr>
          <p:cNvPr id="7" name="TextBox 6"/>
          <p:cNvSpPr txBox="1"/>
          <p:nvPr/>
        </p:nvSpPr>
        <p:spPr>
          <a:xfrm>
            <a:off x="777240" y="1965960"/>
            <a:ext cx="10637215" cy="3108960"/>
          </a:xfrm>
          <a:prstGeom prst="rect">
            <a:avLst/>
          </a:prstGeom>
          <a:noFill/>
        </p:spPr>
        <p:txBody>
          <a:bodyPr wrap="square" anchor="t" lIns="0" rIns="0" tIns="0" bIns="0">
            <a:spAutoFit/>
          </a:bodyPr>
          <a:lstStyle/>
          <a:p>
            <a:pPr algn="l">
              <a:lnSpc>
                <a:spcPct val="118000"/>
              </a:lnSpc>
              <a:spcBef>
                <a:spcPts val="0"/>
              </a:spcBef>
              <a:spcAft>
                <a:spcPts val="1300"/>
              </a:spcAft>
            </a:pPr>
            <a:r>
              <a:rPr sz="2100" b="0" i="0">
                <a:solidFill>
                  <a:srgbClr val="1A1A1A"/>
                </a:solidFill>
                <a:latin typeface="Arial"/>
              </a:rPr>
              <a:t>What is a good definition of technical analysis?</a:t>
            </a:r>
          </a:p>
          <a:p>
            <a:pPr algn="l">
              <a:lnSpc>
                <a:spcPct val="118000"/>
              </a:lnSpc>
              <a:spcBef>
                <a:spcPts val="0"/>
              </a:spcBef>
              <a:spcAft>
                <a:spcPts val="1300"/>
              </a:spcAft>
            </a:pPr>
            <a:r>
              <a:rPr sz="2100" b="0" i="0">
                <a:solidFill>
                  <a:srgbClr val="1A1A1A"/>
                </a:solidFill>
                <a:latin typeface="Arial"/>
              </a:rPr>
              <a:t>List as many advantages and disadvantages of technical analysis as you can.</a:t>
            </a:r>
          </a:p>
          <a:p>
            <a:pPr algn="l">
              <a:lnSpc>
                <a:spcPct val="118000"/>
              </a:lnSpc>
              <a:spcBef>
                <a:spcPts val="0"/>
              </a:spcBef>
              <a:spcAft>
                <a:spcPts val="1300"/>
              </a:spcAft>
            </a:pPr>
            <a:r>
              <a:rPr sz="2100" b="0" i="0">
                <a:solidFill>
                  <a:srgbClr val="1A1A1A"/>
                </a:solidFill>
                <a:latin typeface="Arial"/>
              </a:rPr>
              <a:t>What are the challenges to technical analysis?</a:t>
            </a:r>
          </a:p>
          <a:p>
            <a:pPr algn="l">
              <a:lnSpc>
                <a:spcPct val="118000"/>
              </a:lnSpc>
              <a:spcBef>
                <a:spcPts val="0"/>
              </a:spcBef>
              <a:spcAft>
                <a:spcPts val="1300"/>
              </a:spcAft>
            </a:pPr>
            <a:r>
              <a:rPr sz="2100" b="0" i="0">
                <a:solidFill>
                  <a:srgbClr val="1A1A1A"/>
                </a:solidFill>
                <a:latin typeface="Arial"/>
              </a:rPr>
              <a:t>How does market discounting differ from EMH, and what are its three levels?</a:t>
            </a:r>
          </a:p>
          <a:p>
            <a:pPr algn="l">
              <a:lnSpc>
                <a:spcPct val="118000"/>
              </a:lnSpc>
              <a:spcBef>
                <a:spcPts val="0"/>
              </a:spcBef>
              <a:spcAft>
                <a:spcPts val="1300"/>
              </a:spcAft>
            </a:pPr>
            <a:r>
              <a:rPr sz="2100" b="0" i="0">
                <a:solidFill>
                  <a:srgbClr val="1A1A1A"/>
                </a:solidFill>
                <a:latin typeface="Arial"/>
              </a:rPr>
              <a:t>How are conflicting signals resolved, and why is a trend change subjective?</a:t>
            </a:r>
          </a:p>
          <a:p>
            <a:pPr algn="l">
              <a:lnSpc>
                <a:spcPct val="118000"/>
              </a:lnSpc>
              <a:spcBef>
                <a:spcPts val="0"/>
              </a:spcBef>
              <a:spcAft>
                <a:spcPts val="1300"/>
              </a:spcAft>
            </a:pPr>
            <a:r>
              <a:rPr sz="2100" b="0" i="0">
                <a:solidFill>
                  <a:srgbClr val="1A1A1A"/>
                </a:solidFill>
                <a:latin typeface="Arial"/>
              </a:rPr>
              <a:t>Is random walk a true reflection of the markets?</a:t>
            </a:r>
          </a:p>
        </p:txBody>
      </p:sp>
      <p:sp>
        <p:nvSpPr>
          <p:cNvPr id="8" name="Rectangle 7"/>
          <p:cNvSpPr/>
          <p:nvPr/>
        </p:nvSpPr>
        <p:spPr>
          <a:xfrm>
            <a:off x="777240" y="5262371"/>
            <a:ext cx="82296" cy="467614"/>
          </a:xfrm>
          <a:prstGeom prst="rect">
            <a:avLst/>
          </a:prstGeom>
          <a:solidFill>
            <a:srgbClr val="F2A900"/>
          </a:solidFill>
          <a:ln>
            <a:noFill/>
          </a:ln>
          <a:effectLst/>
        </p:spPr>
        <p:txBody>
          <a:bodyPr rtlCol="0" anchor="ctr"/>
          <a:lstStyle/>
          <a:p>
            <a:pPr algn="ctr"/>
          </a:p>
        </p:txBody>
      </p:sp>
      <p:sp>
        <p:nvSpPr>
          <p:cNvPr id="9" name="TextBox 8"/>
          <p:cNvSpPr txBox="1"/>
          <p:nvPr/>
        </p:nvSpPr>
        <p:spPr>
          <a:xfrm>
            <a:off x="1069848" y="5298947"/>
            <a:ext cx="10344607" cy="467614"/>
          </a:xfrm>
          <a:prstGeom prst="rect">
            <a:avLst/>
          </a:prstGeom>
          <a:noFill/>
        </p:spPr>
        <p:txBody>
          <a:bodyPr wrap="square" anchor="t" lIns="0" rIns="0" tIns="0" bIns="0">
            <a:spAutoFit/>
          </a:bodyPr>
          <a:lstStyle/>
          <a:p>
            <a:pPr algn="l">
              <a:lnSpc>
                <a:spcPct val="115000"/>
              </a:lnSpc>
              <a:spcBef>
                <a:spcPts val="0"/>
              </a:spcBef>
              <a:spcAft>
                <a:spcPts val="0"/>
              </a:spcAft>
            </a:pPr>
            <a:r>
              <a:rPr sz="2200" b="1" i="0">
                <a:solidFill>
                  <a:srgbClr val="1A1A1A"/>
                </a:solidFill>
                <a:latin typeface="Arial"/>
              </a:rPr>
              <a:t>All eight of the book's review questions, answered today.</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7A33"/>
          </a:solidFill>
          <a:ln>
            <a:noFill/>
          </a:ln>
          <a:effectLst/>
        </p:spPr>
        <p:txBody>
          <a:bodyPr rtlCol="0" anchor="ctr"/>
          <a:lstStyle/>
          <a:p>
            <a:pPr algn="ctr"/>
          </a:p>
        </p:txBody>
      </p:sp>
      <p:sp>
        <p:nvSpPr>
          <p:cNvPr id="3" name="Rectangle 2"/>
          <p:cNvSpPr/>
          <p:nvPr/>
        </p:nvSpPr>
        <p:spPr>
          <a:xfrm>
            <a:off x="0" y="0"/>
            <a:ext cx="12191695" cy="201168"/>
          </a:xfrm>
          <a:prstGeom prst="rect">
            <a:avLst/>
          </a:prstGeom>
          <a:solidFill>
            <a:srgbClr val="F2A900"/>
          </a:solidFill>
          <a:ln>
            <a:noFill/>
          </a:ln>
          <a:effectLst/>
        </p:spPr>
        <p:txBody>
          <a:bodyPr rtlCol="0" anchor="ctr"/>
          <a:lstStyle/>
          <a:p>
            <a:pPr algn="ctr"/>
          </a:p>
        </p:txBody>
      </p:sp>
      <p:sp>
        <p:nvSpPr>
          <p:cNvPr id="4" name="TextBox 3"/>
          <p:cNvSpPr txBox="1"/>
          <p:nvPr/>
        </p:nvSpPr>
        <p:spPr>
          <a:xfrm>
            <a:off x="777240" y="1371600"/>
            <a:ext cx="10637215" cy="1005840"/>
          </a:xfrm>
          <a:prstGeom prst="rect">
            <a:avLst/>
          </a:prstGeom>
          <a:noFill/>
        </p:spPr>
        <p:txBody>
          <a:bodyPr wrap="square" anchor="t" lIns="0" rIns="0" tIns="0" bIns="0">
            <a:spAutoFit/>
          </a:bodyPr>
          <a:lstStyle/>
          <a:p>
            <a:pPr algn="l">
              <a:lnSpc>
                <a:spcPct val="105000"/>
              </a:lnSpc>
              <a:spcBef>
                <a:spcPts val="0"/>
              </a:spcBef>
              <a:spcAft>
                <a:spcPts val="0"/>
              </a:spcAft>
            </a:pPr>
            <a:r>
              <a:rPr sz="3800" b="0" i="0">
                <a:solidFill>
                  <a:srgbClr val="FFFFFF"/>
                </a:solidFill>
                <a:latin typeface="Palatino"/>
              </a:rPr>
              <a:t>Next: Dow Theory</a:t>
            </a:r>
          </a:p>
        </p:txBody>
      </p:sp>
      <p:sp>
        <p:nvSpPr>
          <p:cNvPr id="5" name="Rectangle 4"/>
          <p:cNvSpPr/>
          <p:nvPr/>
        </p:nvSpPr>
        <p:spPr>
          <a:xfrm>
            <a:off x="777240" y="2651760"/>
            <a:ext cx="1463040" cy="38100"/>
          </a:xfrm>
          <a:prstGeom prst="rect">
            <a:avLst/>
          </a:prstGeom>
          <a:solidFill>
            <a:srgbClr val="F2A900"/>
          </a:solidFill>
          <a:ln>
            <a:noFill/>
          </a:ln>
          <a:effectLst/>
        </p:spPr>
        <p:txBody>
          <a:bodyPr rtlCol="0" anchor="ctr"/>
          <a:lstStyle/>
          <a:p>
            <a:pPr algn="ctr"/>
          </a:p>
        </p:txBody>
      </p:sp>
      <p:sp>
        <p:nvSpPr>
          <p:cNvPr id="6" name="TextBox 5"/>
          <p:cNvSpPr txBox="1"/>
          <p:nvPr/>
        </p:nvSpPr>
        <p:spPr>
          <a:xfrm>
            <a:off x="777240" y="3108960"/>
            <a:ext cx="10637215" cy="2194560"/>
          </a:xfrm>
          <a:prstGeom prst="rect">
            <a:avLst/>
          </a:prstGeom>
          <a:noFill/>
        </p:spPr>
        <p:txBody>
          <a:bodyPr wrap="square" anchor="t" lIns="0" rIns="0" tIns="0" bIns="0">
            <a:spAutoFit/>
          </a:bodyPr>
          <a:lstStyle/>
          <a:p>
            <a:pPr algn="l">
              <a:lnSpc>
                <a:spcPct val="115000"/>
              </a:lnSpc>
              <a:spcBef>
                <a:spcPts val="0"/>
              </a:spcBef>
              <a:spcAft>
                <a:spcPts val="1200"/>
              </a:spcAft>
            </a:pPr>
            <a:r>
              <a:rPr sz="2000" b="0" i="0">
                <a:solidFill>
                  <a:srgbClr val="FFFFFF"/>
                </a:solidFill>
                <a:latin typeface="Arial"/>
              </a:rPr>
              <a:t>Chapter 2 gives us the six tenets that modern technical analysis is built on.</a:t>
            </a:r>
          </a:p>
          <a:p>
            <a:pPr algn="l">
              <a:lnSpc>
                <a:spcPct val="115000"/>
              </a:lnSpc>
              <a:spcBef>
                <a:spcPts val="0"/>
              </a:spcBef>
              <a:spcAft>
                <a:spcPts val="1200"/>
              </a:spcAft>
            </a:pPr>
            <a:r>
              <a:rPr sz="2000" b="0" i="0">
                <a:solidFill>
                  <a:srgbClr val="FFFFFF"/>
                </a:solidFill>
                <a:latin typeface="Arial"/>
              </a:rPr>
              <a:t>Bring the four trading verbs and the three assumptions with you. You will need them.</a:t>
            </a:r>
          </a:p>
          <a:p>
            <a:pPr algn="l">
              <a:lnSpc>
                <a:spcPct val="115000"/>
              </a:lnSpc>
              <a:spcBef>
                <a:spcPts val="0"/>
              </a:spcBef>
              <a:spcAft>
                <a:spcPts val="1200"/>
              </a:spcAft>
            </a:pPr>
            <a:r>
              <a:rPr sz="2000" b="0" i="0">
                <a:solidFill>
                  <a:srgbClr val="FFFFFF"/>
                </a:solidFill>
                <a:latin typeface="Arial"/>
              </a:rPr>
              <a:t>Before then: open any chart, draw your trendlines, and compare with a classmate.</a:t>
            </a:r>
          </a:p>
        </p:txBody>
      </p:sp>
      <p:sp>
        <p:nvSpPr>
          <p:cNvPr id="7" name="TextBox 6"/>
          <p:cNvSpPr txBox="1"/>
          <p:nvPr/>
        </p:nvSpPr>
        <p:spPr>
          <a:xfrm>
            <a:off x="777240" y="5486400"/>
            <a:ext cx="10637215" cy="640080"/>
          </a:xfrm>
          <a:prstGeom prst="rect">
            <a:avLst/>
          </a:prstGeom>
          <a:noFill/>
        </p:spPr>
        <p:txBody>
          <a:bodyPr wrap="square" anchor="t" lIns="0" rIns="0" tIns="0" bIns="0">
            <a:spAutoFit/>
          </a:bodyPr>
          <a:lstStyle/>
          <a:p>
            <a:pPr algn="l">
              <a:lnSpc>
                <a:spcPct val="100000"/>
              </a:lnSpc>
              <a:spcBef>
                <a:spcPts val="0"/>
              </a:spcBef>
              <a:spcAft>
                <a:spcPts val="0"/>
              </a:spcAft>
            </a:pPr>
            <a:r>
              <a:rPr sz="1800" b="1" i="0">
                <a:solidFill>
                  <a:srgbClr val="F2A900"/>
                </a:solidFill>
                <a:latin typeface="Arial"/>
              </a:rPr>
              <a:t>FIN1209  Technical Analysis in Investment  |  Institute of Accounts, Business and Finance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FIN1209 Chapter 1 - Introduction to the Art and Science of Technical Analysis</dc:title>
  <dc:subject>Technical Analysis in Investment</dc:subject>
  <dc:creator>Benjamin C. Sotelo</dc:creator>
  <cp:keywords/>
  <dc:description>generated using python-pptx</dc:description>
  <cp:lastModifiedBy>Benjamin C. Sotelo</cp:lastModifiedBy>
  <cp:revision>1</cp:revision>
  <dcterms:created xsi:type="dcterms:W3CDTF">2020-01-01T00:00:00Z</dcterms:created>
  <dcterms:modified xsi:type="dcterms:W3CDTF">2020-01-01T00:00:00Z</dcterms:modified>
  <cp:category/>
</cp:coreProperties>
</file>