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3</a:t>
            </a:r>
          </a:p>
          <a:p>
            <a:pPr algn="l">
              <a:lnSpc>
                <a:spcPct val="105000"/>
              </a:lnSpc>
              <a:spcBef>
                <a:spcPts val="1000"/>
              </a:spcBef>
              <a:spcAft>
                <a:spcPts val="0"/>
              </a:spcAft>
            </a:pPr>
            <a:r>
              <a:rPr sz="4400" b="0" i="0">
                <a:solidFill>
                  <a:srgbClr val="FFFFFF"/>
                </a:solidFill>
                <a:latin typeface="Palatino"/>
              </a:rPr>
              <a:t>Mechanics and Dynamics of Charting</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chart construction and how technical data is incorporated and displayed.</a:t>
            </a:r>
          </a:p>
          <a:p>
            <a:pPr algn="l">
              <a:lnSpc>
                <a:spcPct val="118000"/>
              </a:lnSpc>
              <a:spcBef>
                <a:spcPts val="0"/>
              </a:spcBef>
              <a:spcAft>
                <a:spcPts val="1300"/>
              </a:spcAft>
            </a:pPr>
            <a:r>
              <a:rPr sz="2100" b="0" i="0">
                <a:solidFill>
                  <a:srgbClr val="1A1A1A"/>
                </a:solidFill>
                <a:latin typeface="Arial"/>
              </a:rPr>
              <a:t>Describe the process by which OHLC data is created and its relationship to various charts.</a:t>
            </a:r>
          </a:p>
          <a:p>
            <a:pPr algn="l">
              <a:lnSpc>
                <a:spcPct val="118000"/>
              </a:lnSpc>
              <a:spcBef>
                <a:spcPts val="0"/>
              </a:spcBef>
              <a:spcAft>
                <a:spcPts val="1300"/>
              </a:spcAft>
            </a:pPr>
            <a:r>
              <a:rPr sz="2100" b="0" i="0">
                <a:solidFill>
                  <a:srgbClr val="1A1A1A"/>
                </a:solidFill>
                <a:latin typeface="Arial"/>
              </a:rPr>
              <a:t>Identify and differentiate between contango and backwardation, and their connection with negative and positive roll yields.</a:t>
            </a:r>
          </a:p>
          <a:p>
            <a:pPr algn="l">
              <a:lnSpc>
                <a:spcPct val="118000"/>
              </a:lnSpc>
              <a:spcBef>
                <a:spcPts val="0"/>
              </a:spcBef>
              <a:spcAft>
                <a:spcPts val="1300"/>
              </a:spcAft>
            </a:pPr>
            <a:r>
              <a:rPr sz="2100" b="0" i="0">
                <a:solidFill>
                  <a:srgbClr val="1A1A1A"/>
                </a:solidFill>
                <a:latin typeface="Arial"/>
              </a:rPr>
              <a:t>Understand the adverse effects of the bid-ask spread on trading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Construct various charts using constant measures of time, range, volatility, trade volume and number of transactions.</a:t>
            </a:r>
          </a:p>
          <a:p>
            <a:pPr algn="l">
              <a:lnSpc>
                <a:spcPct val="118000"/>
              </a:lnSpc>
              <a:spcBef>
                <a:spcPts val="0"/>
              </a:spcBef>
              <a:spcAft>
                <a:spcPts val="1300"/>
              </a:spcAft>
            </a:pPr>
            <a:r>
              <a:rPr sz="2100" b="0" i="0">
                <a:solidFill>
                  <a:srgbClr val="1A1A1A"/>
                </a:solidFill>
                <a:latin typeface="Arial"/>
              </a:rPr>
              <a:t>Set up a volatility neutral chart for consistent viewing of price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From price to OHLC</a:t>
            </a:r>
          </a:p>
          <a:p>
            <a:pPr algn="l">
              <a:lnSpc>
                <a:spcPct val="118000"/>
              </a:lnSpc>
              <a:spcBef>
                <a:spcPts val="0"/>
              </a:spcBef>
              <a:spcAft>
                <a:spcPts val="1300"/>
              </a:spcAft>
            </a:pPr>
            <a:r>
              <a:rPr sz="2100" b="0" i="0">
                <a:solidFill>
                  <a:srgbClr val="1A1A1A"/>
                </a:solidFill>
                <a:latin typeface="Arial"/>
              </a:rPr>
              <a:t>Part 2  What the four prices mean, and four kinds of gap</a:t>
            </a:r>
          </a:p>
          <a:p>
            <a:pPr algn="l">
              <a:lnSpc>
                <a:spcPct val="118000"/>
              </a:lnSpc>
              <a:spcBef>
                <a:spcPts val="0"/>
              </a:spcBef>
              <a:spcAft>
                <a:spcPts val="1300"/>
              </a:spcAft>
            </a:pPr>
            <a:r>
              <a:rPr sz="2100" b="0" i="0">
                <a:solidFill>
                  <a:srgbClr val="1A1A1A"/>
                </a:solidFill>
                <a:latin typeface="Arial"/>
              </a:rPr>
              <a:t>Part 3  Five constant measures</a:t>
            </a:r>
          </a:p>
          <a:p>
            <a:pPr algn="l">
              <a:lnSpc>
                <a:spcPct val="118000"/>
              </a:lnSpc>
              <a:spcBef>
                <a:spcPts val="0"/>
              </a:spcBef>
              <a:spcAft>
                <a:spcPts val="1300"/>
              </a:spcAft>
            </a:pPr>
            <a:r>
              <a:rPr sz="2100" b="0" i="0">
                <a:solidFill>
                  <a:srgbClr val="1A1A1A"/>
                </a:solidFill>
                <a:latin typeface="Arial"/>
              </a:rPr>
              <a:t>Part 4  Chart scaling</a:t>
            </a:r>
          </a:p>
          <a:p>
            <a:pPr algn="l">
              <a:lnSpc>
                <a:spcPct val="118000"/>
              </a:lnSpc>
              <a:spcBef>
                <a:spcPts val="0"/>
              </a:spcBef>
              <a:spcAft>
                <a:spcPts val="1300"/>
              </a:spcAft>
            </a:pPr>
            <a:r>
              <a:rPr sz="2100" b="0" i="0">
                <a:solidFill>
                  <a:srgbClr val="1A1A1A"/>
                </a:solidFill>
                <a:latin typeface="Arial"/>
              </a:rPr>
              <a:t>Part 5  The bid-ask spread</a:t>
            </a:r>
          </a:p>
          <a:p>
            <a:pPr algn="l">
              <a:lnSpc>
                <a:spcPct val="118000"/>
              </a:lnSpc>
              <a:spcBef>
                <a:spcPts val="0"/>
              </a:spcBef>
              <a:spcAft>
                <a:spcPts val="1300"/>
              </a:spcAft>
            </a:pPr>
            <a:r>
              <a:rPr sz="2100" b="0" i="0">
                <a:solidFill>
                  <a:srgbClr val="1A1A1A"/>
                </a:solidFill>
                <a:latin typeface="Arial"/>
              </a:rPr>
              <a:t>Part 6  Futures contracts</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From Price to OHLC</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What a chart is for, who reads one, and the four families of data behind it.</a:t>
            </a:r>
          </a:p>
          <a:p>
            <a:pPr algn="l">
              <a:lnSpc>
                <a:spcPct val="115000"/>
              </a:lnSpc>
              <a:spcBef>
                <a:spcPts val="0"/>
              </a:spcBef>
              <a:spcAft>
                <a:spcPts val="1000"/>
              </a:spcAft>
            </a:pPr>
            <a:r>
              <a:rPr sz="1900" b="0" i="0">
                <a:solidFill>
                  <a:srgbClr val="FFFFFF"/>
                </a:solidFill>
                <a:latin typeface="Arial"/>
              </a:rPr>
              <a:t>How a stream of trades is filtered into four prices: open, high, low and close.</a:t>
            </a:r>
          </a:p>
          <a:p>
            <a:pPr algn="l">
              <a:lnSpc>
                <a:spcPct val="115000"/>
              </a:lnSpc>
              <a:spcBef>
                <a:spcPts val="0"/>
              </a:spcBef>
              <a:spcAft>
                <a:spcPts val="1000"/>
              </a:spcAft>
            </a:pPr>
            <a:r>
              <a:rPr sz="1900" b="0" i="0">
                <a:solidFill>
                  <a:srgbClr val="FFFFFF"/>
                </a:solidFill>
                <a:latin typeface="Arial"/>
              </a:rPr>
              <a:t>How long bars are built from short ones, and why auto-scaling misleads.</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is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Charting is a two dimensional matrix on which technical data is viewed.</a:t>
            </a:r>
          </a:p>
          <a:p>
            <a:pPr algn="l">
              <a:lnSpc>
                <a:spcPct val="118000"/>
              </a:lnSpc>
              <a:spcBef>
                <a:spcPts val="0"/>
              </a:spcBef>
              <a:spcAft>
                <a:spcPts val="1300"/>
              </a:spcAft>
            </a:pPr>
            <a:r>
              <a:rPr sz="2100" b="0" i="0">
                <a:solidFill>
                  <a:srgbClr val="1A1A1A"/>
                </a:solidFill>
                <a:latin typeface="Arial"/>
              </a:rPr>
              <a:t>It reveals repetitive price behaviour, volatility, price distortions and illiquidity.</a:t>
            </a:r>
          </a:p>
          <a:p>
            <a:pPr algn="l">
              <a:lnSpc>
                <a:spcPct val="118000"/>
              </a:lnSpc>
              <a:spcBef>
                <a:spcPts val="0"/>
              </a:spcBef>
              <a:spcAft>
                <a:spcPts val="1300"/>
              </a:spcAft>
            </a:pPr>
            <a:r>
              <a:rPr sz="2100" b="0" i="0">
                <a:solidFill>
                  <a:srgbClr val="1A1A1A"/>
                </a:solidFill>
                <a:latin typeface="Arial"/>
              </a:rPr>
              <a:t>It is where trendlines, channels, envelopes and chart patterns get drawn.</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Chapter 2 kept only the close. This chapter brings back the other three prices.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Chartist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Someone who studies the market by looking at charts of its data.</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Anyone in this room who opens a daily chart of a PSE listed share and reads its peaks and troughs is working as a chartist.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Analysts who use charts to study technical data are called chartists. They study classical chart patterns, trendlines, window oscillators, overlay indicators and other price formations.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2 of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ordinary chart: price up the side, time along the bottom.</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 a daily chart of a share, each step to the right is one more trading day and each step up is more pesos.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usual graphical form of technical data, where the vertical axis tracks the movement of price and the horizontal axis tracks the motion of time. The price axis may be scaled arithmetically (linear) or logarithmically (ratio).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3 of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time axis is only a counter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4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some charts the time axis is not plotted in equal units of time.</a:t>
            </a:r>
          </a:p>
          <a:p>
            <a:pPr algn="l">
              <a:lnSpc>
                <a:spcPct val="118000"/>
              </a:lnSpc>
              <a:spcBef>
                <a:spcPts val="0"/>
              </a:spcBef>
              <a:spcAft>
                <a:spcPts val="1300"/>
              </a:spcAft>
            </a:pPr>
            <a:r>
              <a:rPr sz="2100" b="0" i="0">
                <a:solidFill>
                  <a:srgbClr val="1A1A1A"/>
                </a:solidFill>
                <a:latin typeface="Arial"/>
              </a:rPr>
              <a:t>It acts as a counter for each new block of data instead.</a:t>
            </a:r>
          </a:p>
          <a:p>
            <a:pPr algn="l">
              <a:lnSpc>
                <a:spcPct val="118000"/>
              </a:lnSpc>
              <a:spcBef>
                <a:spcPts val="0"/>
              </a:spcBef>
              <a:spcAft>
                <a:spcPts val="1300"/>
              </a:spcAft>
            </a:pPr>
            <a:r>
              <a:rPr sz="2100" b="0" i="0">
                <a:solidFill>
                  <a:srgbClr val="1A1A1A"/>
                </a:solidFill>
                <a:latin typeface="Arial"/>
              </a:rPr>
              <a:t>On such charts, time is regarded as implicit along the x axis.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Hold this. Part 3 is full of charts that work this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families of technical data</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5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data: open, high, low and close.</a:t>
            </a:r>
          </a:p>
          <a:p>
            <a:pPr algn="l">
              <a:lnSpc>
                <a:spcPct val="118000"/>
              </a:lnSpc>
              <a:spcBef>
                <a:spcPts val="0"/>
              </a:spcBef>
              <a:spcAft>
                <a:spcPts val="1300"/>
              </a:spcAft>
            </a:pPr>
            <a:r>
              <a:rPr sz="2100" b="0" i="0">
                <a:solidFill>
                  <a:srgbClr val="1A1A1A"/>
                </a:solidFill>
                <a:latin typeface="Arial"/>
              </a:rPr>
              <a:t>Transaction related data: volume and open interest.</a:t>
            </a:r>
          </a:p>
          <a:p>
            <a:pPr algn="l">
              <a:lnSpc>
                <a:spcPct val="118000"/>
              </a:lnSpc>
              <a:spcBef>
                <a:spcPts val="0"/>
              </a:spcBef>
              <a:spcAft>
                <a:spcPts val="1300"/>
              </a:spcAft>
            </a:pPr>
            <a:r>
              <a:rPr sz="2100" b="0" i="0">
                <a:solidFill>
                  <a:srgbClr val="1A1A1A"/>
                </a:solidFill>
                <a:latin typeface="Arial"/>
              </a:rPr>
              <a:t>Market breadth data: advances, declines, new highs and new lows, and more.</a:t>
            </a:r>
          </a:p>
          <a:p>
            <a:pPr algn="l">
              <a:lnSpc>
                <a:spcPct val="118000"/>
              </a:lnSpc>
              <a:spcBef>
                <a:spcPts val="0"/>
              </a:spcBef>
              <a:spcAft>
                <a:spcPts val="1300"/>
              </a:spcAft>
            </a:pPr>
            <a:r>
              <a:rPr sz="2100" b="0" i="0">
                <a:solidFill>
                  <a:srgbClr val="1A1A1A"/>
                </a:solidFill>
                <a:latin typeface="Arial"/>
              </a:rPr>
              <a:t>Sentiment data: the put/call ratio, margin debt, implied volatility (VIX), and more.</a:t>
            </a:r>
          </a:p>
        </p:txBody>
      </p:sp>
      <p:sp>
        <p:nvSpPr>
          <p:cNvPr id="8" name="Rectangle 7"/>
          <p:cNvSpPr/>
          <p:nvPr/>
        </p:nvSpPr>
        <p:spPr>
          <a:xfrm>
            <a:off x="777240" y="458190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chapter lists all four families and works only with the first two.</a:t>
            </a:r>
          </a:p>
        </p:txBody>
      </p:sp>
      <p:sp>
        <p:nvSpPr>
          <p:cNvPr id="10" name="TextBox 9"/>
          <p:cNvSpPr txBox="1"/>
          <p:nvPr/>
        </p:nvSpPr>
        <p:spPr>
          <a:xfrm>
            <a:off x="777240" y="560857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names every breadth and sentiment item and defines none of them. Do not learn them from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Quantization of price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Cutting a stream of trades into equal slices of time, one bar per slice.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Take one trading morning and cut it into five minute slices: 9:30 to 9:35, 9:35 to 9:40, and so on. Each slice becomes one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create OHLC data, price activity is separated, or quantized, with respect to time, for each successive interval or period. An interval may be of any duration; the most popular are 1 minute, 5 minutes, 15 minutes, 1 hour, 4 hours, daily, weekly, monthly and yearly.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6 of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OHLC data</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 numbers left once a slice of trading has been summarised: where it started, its highest point, its lowest point, and where it finished.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In one five minute slice a share opens at 50.00 pesos, trades up to 50.80, down to 49.60, and ends at 50.40. Its OHLC is 50.00, 50.80, 49.60 and 50.40.</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price at the beginning and end of an interval is the opening (O) and closing (C) price; the highest and lowest prices within it are the high (H) and low (L). Price activity is summarized into these four pieces of information.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7 of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pieces of information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8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a:t>
            </a:r>
          </a:p>
          <a:p>
            <a:pPr algn="l">
              <a:lnSpc>
                <a:spcPct val="120000"/>
              </a:lnSpc>
              <a:spcBef>
                <a:spcPts val="0"/>
              </a:spcBef>
              <a:spcAft>
                <a:spcPts val="1800"/>
              </a:spcAft>
            </a:pPr>
            <a:r>
              <a:rPr sz="2200" b="0" i="0">
                <a:solidFill>
                  <a:srgbClr val="1A1A1A"/>
                </a:solidFill>
                <a:latin typeface="Palatino"/>
              </a:rPr>
              <a:t>One five minute interval of jagged price filtered into four prices and drawn three ways: a 5 minute bar, a 5 minute candlestick and a 5 minute Gann bar, with the range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3.1 - Lim, The Handbook of Technical Analysis (Wiley, 2016)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range, and where the next bar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9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range of a bar is the absolute difference between its high and low: range = |H - L|.</a:t>
            </a:r>
          </a:p>
          <a:p>
            <a:pPr algn="l">
              <a:lnSpc>
                <a:spcPct val="118000"/>
              </a:lnSpc>
              <a:spcBef>
                <a:spcPts val="0"/>
              </a:spcBef>
              <a:spcAft>
                <a:spcPts val="1300"/>
              </a:spcAft>
            </a:pPr>
            <a:r>
              <a:rPr sz="2100" b="0" i="0">
                <a:solidFill>
                  <a:srgbClr val="1A1A1A"/>
                </a:solidFill>
                <a:latin typeface="Arial"/>
              </a:rPr>
              <a:t>In most cases the close of one interval is also the open of the next, unless there is a gap.</a:t>
            </a:r>
          </a:p>
          <a:p>
            <a:pPr algn="l">
              <a:lnSpc>
                <a:spcPct val="118000"/>
              </a:lnSpc>
              <a:spcBef>
                <a:spcPts val="0"/>
              </a:spcBef>
              <a:spcAft>
                <a:spcPts val="1300"/>
              </a:spcAft>
            </a:pPr>
            <a:r>
              <a:rPr sz="2100" b="0" i="0">
                <a:solidFill>
                  <a:srgbClr val="1A1A1A"/>
                </a:solidFill>
                <a:latin typeface="Arial"/>
              </a:rPr>
              <a:t>OHLC data also builds bar charts, Gann bars and Japanese candlesticks.</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High 50.80 and low 49.60 give a range of 1.20 pesos.</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names Gann bars and draws one in Figure 3.1, but never says how to read one. Nothing is set on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Higher timeframe bar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longer bar built out of several shorter ones, by summarising them all at once.</a:t>
            </a:r>
          </a:p>
        </p:txBody>
      </p:sp>
      <p:sp>
        <p:nvSpPr>
          <p:cNvPr id="9" name="Rectangle 8"/>
          <p:cNvSpPr/>
          <p:nvPr/>
        </p:nvSpPr>
        <p:spPr>
          <a:xfrm>
            <a:off x="777240" y="3139567"/>
            <a:ext cx="64008" cy="108851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Three five minute bars. The first opens at 50.00, the highest high of the three is 50.90, the lowest low is 49.40, and the third closes at 50.30. The fifteen minute bar is 50.00, 50.90, 49.40, 50.30.</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create OHLC data over a longer period, take the opening price of the first period, the closing price of the last period, and the highest and lowest prices between them. Such composite bars are referred to as higher timeframe bars and candlesticks.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10 of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short bars make one long 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11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a:t>
            </a:r>
          </a:p>
          <a:p>
            <a:pPr algn="l">
              <a:lnSpc>
                <a:spcPct val="120000"/>
              </a:lnSpc>
              <a:spcBef>
                <a:spcPts val="0"/>
              </a:spcBef>
              <a:spcAft>
                <a:spcPts val="1800"/>
              </a:spcAft>
            </a:pPr>
            <a:r>
              <a:rPr sz="2200" b="0" i="0">
                <a:solidFill>
                  <a:srgbClr val="1A1A1A"/>
                </a:solidFill>
                <a:latin typeface="Palatino"/>
              </a:rPr>
              <a:t>Fifteen minutes of price, three five minute intervals, summarised as one 15 minute bar and one 15 minute candlestick carrying the first open, the last close, and the extreme high and low.</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3.2 - Lim, The Handbook of Technical Analysis (Wiley, 2016)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Quantization, bar by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12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a:t>
            </a:r>
          </a:p>
          <a:p>
            <a:pPr algn="l">
              <a:lnSpc>
                <a:spcPct val="120000"/>
              </a:lnSpc>
              <a:spcBef>
                <a:spcPts val="0"/>
              </a:spcBef>
              <a:spcAft>
                <a:spcPts val="1800"/>
              </a:spcAft>
            </a:pPr>
            <a:r>
              <a:rPr sz="2200" b="0" i="0">
                <a:solidFill>
                  <a:srgbClr val="1A1A1A"/>
                </a:solidFill>
                <a:latin typeface="Palatino"/>
              </a:rPr>
              <a:t>Eight successive five minute intervals of unfiltered price action, with the bar each interval produces drawn beneath it and the equivalent Japanese candlestick beneath that.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3.3 - Lim, The Handbook of Technical Analysis (Wiley,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Most charts start from OHLC</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13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3.4</a:t>
            </a:r>
          </a:p>
          <a:p>
            <a:pPr algn="l">
              <a:lnSpc>
                <a:spcPct val="120000"/>
              </a:lnSpc>
              <a:spcBef>
                <a:spcPts val="0"/>
              </a:spcBef>
              <a:spcAft>
                <a:spcPts val="1800"/>
              </a:spcAft>
            </a:pPr>
            <a:r>
              <a:rPr sz="2200" b="0" i="0">
                <a:solidFill>
                  <a:srgbClr val="1A1A1A"/>
                </a:solidFill>
                <a:latin typeface="Palatino"/>
              </a:rPr>
              <a:t>A family tree with OHLC data feeding the line, bar, candlestick, point and figure, three line break, Renko, Kagi and Gann swing charts, and a branch adding volume for the equivolume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3.4 - Lim, The Handbook of Technical Analysis (Wiley, 2016)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one chart that needs a fifth number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14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Most charts are created from OHLC data alone.</a:t>
            </a:r>
          </a:p>
          <a:p>
            <a:pPr algn="l">
              <a:lnSpc>
                <a:spcPct val="118000"/>
              </a:lnSpc>
              <a:spcBef>
                <a:spcPts val="0"/>
              </a:spcBef>
              <a:spcAft>
                <a:spcPts val="1300"/>
              </a:spcAft>
            </a:pPr>
            <a:r>
              <a:rPr sz="2100" b="0" i="0">
                <a:solidFill>
                  <a:srgbClr val="1A1A1A"/>
                </a:solidFill>
                <a:latin typeface="Arial"/>
              </a:rPr>
              <a:t>The equivolume chart also needs volume, so the book says it requires OHLCV data.</a:t>
            </a:r>
          </a:p>
          <a:p>
            <a:pPr algn="l">
              <a:lnSpc>
                <a:spcPct val="118000"/>
              </a:lnSpc>
              <a:spcBef>
                <a:spcPts val="0"/>
              </a:spcBef>
              <a:spcAft>
                <a:spcPts val="1300"/>
              </a:spcAft>
            </a:pPr>
            <a:r>
              <a:rPr sz="2100" b="0" i="0">
                <a:solidFill>
                  <a:srgbClr val="1A1A1A"/>
                </a:solidFill>
                <a:latin typeface="Arial"/>
              </a:rPr>
              <a:t>Kagi charts and Gann swing charts appear on the family tree and nowhere else in the chapter.</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OHLC plus V. That is the one exception.</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never explains Kagi or Gann swing charts. Nothing is set on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pictures of the same prices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15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3.5</a:t>
            </a:r>
          </a:p>
          <a:p>
            <a:pPr algn="l">
              <a:lnSpc>
                <a:spcPct val="120000"/>
              </a:lnSpc>
              <a:spcBef>
                <a:spcPts val="0"/>
              </a:spcBef>
              <a:spcAft>
                <a:spcPts val="1800"/>
              </a:spcAft>
            </a:pPr>
            <a:r>
              <a:rPr sz="2200" b="0" i="0">
                <a:solidFill>
                  <a:srgbClr val="1A1A1A"/>
                </a:solidFill>
                <a:latin typeface="Palatino"/>
              </a:rPr>
              <a:t>The same sequence of OHLC data drawn three ways: as a line chart, as a bar chart and as a candlestick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3.5 - Lim, The Handbook of Technical Analysis (Wiley, 2016)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Auto-scaling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chart setting that stretches or squeezes the price axis so that whatever is on the screen fills the screen.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Scroll a flat, quiet month into view and its bars suddenly look tall and wild. Scroll a strong trend into the same window and those same bars shrink.</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Auto-scaling attempts to fill the entire screen with price activity, so the heights of bars and candlesticks keep changing with whether price is ranging or trending. The vertical scaling is not preserved or constant, and volatility is misrepresented.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16 of 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says switch it off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17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When prices are flat, auto-scaling makes low volatility activity look more volatile.</a:t>
            </a:r>
          </a:p>
          <a:p>
            <a:pPr algn="l">
              <a:lnSpc>
                <a:spcPct val="118000"/>
              </a:lnSpc>
              <a:spcBef>
                <a:spcPts val="0"/>
              </a:spcBef>
              <a:spcAft>
                <a:spcPts val="1300"/>
              </a:spcAft>
            </a:pPr>
            <a:r>
              <a:rPr sz="2100" b="0" i="0">
                <a:solidFill>
                  <a:srgbClr val="1A1A1A"/>
                </a:solidFill>
                <a:latin typeface="Arial"/>
              </a:rPr>
              <a:t>When prices trend, it makes volatile activity look less volatile.</a:t>
            </a:r>
          </a:p>
          <a:p>
            <a:pPr algn="l">
              <a:lnSpc>
                <a:spcPct val="118000"/>
              </a:lnSpc>
              <a:spcBef>
                <a:spcPts val="0"/>
              </a:spcBef>
              <a:spcAft>
                <a:spcPts val="1300"/>
              </a:spcAft>
            </a:pPr>
            <a:r>
              <a:rPr sz="2100" b="0" i="0">
                <a:solidFill>
                  <a:srgbClr val="1A1A1A"/>
                </a:solidFill>
                <a:latin typeface="Arial"/>
              </a:rPr>
              <a:t>Switching it off normalizes volatility on the charts, for more accurate price visualization.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is always best to turn auto-scaling off. That is the book's instruction.</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learning objectives ask for a volatility neutral chart. The text never uses that phrase; this is the nearest it comes.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stretch of price, magnified and shrunk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18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3.6</a:t>
            </a:r>
          </a:p>
          <a:p>
            <a:pPr algn="l">
              <a:lnSpc>
                <a:spcPct val="120000"/>
              </a:lnSpc>
              <a:spcBef>
                <a:spcPts val="0"/>
              </a:spcBef>
              <a:spcAft>
                <a:spcPts val="1800"/>
              </a:spcAft>
            </a:pPr>
            <a:r>
              <a:rPr sz="2200" b="0" i="0">
                <a:solidFill>
                  <a:srgbClr val="1A1A1A"/>
                </a:solidFill>
                <a:latin typeface="Palatino"/>
              </a:rPr>
              <a:t>Four panels of the same prices: with auto-scaling on, an encircled quiet stretch looks volatile and then shrinks when a trend comes into view; with it off, the stretch keeps its true height.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3.6 - Lim, The Handbook of Technical Analysis (Wiley, 2016)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Chartists, and the price-time chart</a:t>
            </a:r>
          </a:p>
          <a:p>
            <a:pPr algn="l" marL="237744" indent="-237744">
              <a:lnSpc>
                <a:spcPct val="112000"/>
              </a:lnSpc>
              <a:spcBef>
                <a:spcPts val="0"/>
              </a:spcBef>
              <a:spcAft>
                <a:spcPts val="1200"/>
              </a:spcAft>
            </a:pPr>
            <a:r>
              <a:rPr sz="1800" b="0" i="0">
                <a:solidFill>
                  <a:srgbClr val="1A1A1A"/>
                </a:solidFill>
                <a:latin typeface="Arial"/>
              </a:rPr>
              <a:t>▪  A time axis that is only a counter</a:t>
            </a:r>
          </a:p>
          <a:p>
            <a:pPr algn="l" marL="237744" indent="-237744">
              <a:lnSpc>
                <a:spcPct val="112000"/>
              </a:lnSpc>
              <a:spcBef>
                <a:spcPts val="0"/>
              </a:spcBef>
              <a:spcAft>
                <a:spcPts val="1200"/>
              </a:spcAft>
            </a:pPr>
            <a:r>
              <a:rPr sz="1800" b="0" i="0">
                <a:solidFill>
                  <a:srgbClr val="1A1A1A"/>
                </a:solidFill>
                <a:latin typeface="Arial"/>
              </a:rPr>
              <a:t>▪  The four families of technical data</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Quantization, OHLC data and the range</a:t>
            </a:r>
          </a:p>
          <a:p>
            <a:pPr algn="l" marL="237744" indent="-237744">
              <a:lnSpc>
                <a:spcPct val="112000"/>
              </a:lnSpc>
              <a:spcBef>
                <a:spcPts val="0"/>
              </a:spcBef>
              <a:spcAft>
                <a:spcPts val="1200"/>
              </a:spcAft>
            </a:pPr>
            <a:r>
              <a:rPr sz="1800" b="0" i="0">
                <a:solidFill>
                  <a:srgbClr val="1A1A1A"/>
                </a:solidFill>
                <a:latin typeface="Arial"/>
              </a:rPr>
              <a:t>▪  Higher timeframe bars</a:t>
            </a:r>
          </a:p>
          <a:p>
            <a:pPr algn="l" marL="237744" indent="-237744">
              <a:lnSpc>
                <a:spcPct val="112000"/>
              </a:lnSpc>
              <a:spcBef>
                <a:spcPts val="0"/>
              </a:spcBef>
              <a:spcAft>
                <a:spcPts val="1200"/>
              </a:spcAft>
            </a:pPr>
            <a:r>
              <a:rPr sz="1800" b="0" i="0">
                <a:solidFill>
                  <a:srgbClr val="1A1A1A"/>
                </a:solidFill>
                <a:latin typeface="Arial"/>
              </a:rPr>
              <a:t>▪  Auto-scaling, and why to switch it off</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recap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What the Four Prices Mean, and Four Kinds of Gap</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the high and the low carry more weight than the open and the close.</a:t>
            </a:r>
          </a:p>
          <a:p>
            <a:pPr algn="l">
              <a:lnSpc>
                <a:spcPct val="115000"/>
              </a:lnSpc>
              <a:spcBef>
                <a:spcPts val="0"/>
              </a:spcBef>
              <a:spcAft>
                <a:spcPts val="1000"/>
              </a:spcAft>
            </a:pPr>
            <a:r>
              <a:rPr sz="1900" b="0" i="0">
                <a:solidFill>
                  <a:srgbClr val="FFFFFF"/>
                </a:solidFill>
                <a:latin typeface="Arial"/>
              </a:rPr>
              <a:t>The three conditions that make the open and the close matter more.</a:t>
            </a:r>
          </a:p>
          <a:p>
            <a:pPr algn="l">
              <a:lnSpc>
                <a:spcPct val="115000"/>
              </a:lnSpc>
              <a:spcBef>
                <a:spcPts val="0"/>
              </a:spcBef>
              <a:spcAft>
                <a:spcPts val="1000"/>
              </a:spcAft>
            </a:pPr>
            <a:r>
              <a:rPr sz="1900" b="0" i="0">
                <a:solidFill>
                  <a:srgbClr val="FFFFFF"/>
                </a:solidFill>
                <a:latin typeface="Arial"/>
              </a:rPr>
              <a:t>The four ways to measure a gap, and which ones need the next bar to close.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Not all four prices are equal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open and the close are merely a function of time stamping.</a:t>
            </a:r>
          </a:p>
          <a:p>
            <a:pPr algn="l">
              <a:lnSpc>
                <a:spcPct val="118000"/>
              </a:lnSpc>
              <a:spcBef>
                <a:spcPts val="0"/>
              </a:spcBef>
              <a:spcAft>
                <a:spcPts val="1300"/>
              </a:spcAft>
            </a:pPr>
            <a:r>
              <a:rPr sz="2100" b="0" i="0">
                <a:solidFill>
                  <a:srgbClr val="1A1A1A"/>
                </a:solidFill>
                <a:latin typeface="Arial"/>
              </a:rPr>
              <a:t>They mark where an arbitrary interval happened to start and stop.</a:t>
            </a:r>
          </a:p>
          <a:p>
            <a:pPr algn="l">
              <a:lnSpc>
                <a:spcPct val="118000"/>
              </a:lnSpc>
              <a:spcBef>
                <a:spcPts val="0"/>
              </a:spcBef>
              <a:spcAft>
                <a:spcPts val="1300"/>
              </a:spcAft>
            </a:pPr>
            <a:r>
              <a:rPr sz="2100" b="0" i="0">
                <a:solidFill>
                  <a:srgbClr val="1A1A1A"/>
                </a:solidFill>
                <a:latin typeface="Arial"/>
              </a:rPr>
              <a:t>The high and the low are created by actual market forces of supply and demand.</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of the four are set by the clock. Two are set by traders.</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figure labels the high a function of supply and the low a function of demand.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 rejection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high and low are where the market tried to go further and was pushed back.</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trades up to 52 pesos and sellers meet it there; it trades down to 49 and buyers meet it there. Both prices were set by people risking money, not by the clock.</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highs and lows represent areas of price rejection, caused by the responsive actions of market participants, who react to high and low prices by risking capital. This makes them more significant than the open and close, and the longer the interval, the more significant the high and low formed.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2 of 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sets each of the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3.7</a:t>
            </a:r>
          </a:p>
          <a:p>
            <a:pPr algn="l">
              <a:lnSpc>
                <a:spcPct val="120000"/>
              </a:lnSpc>
              <a:spcBef>
                <a:spcPts val="0"/>
              </a:spcBef>
              <a:spcAft>
                <a:spcPts val="1800"/>
              </a:spcAft>
            </a:pPr>
            <a:r>
              <a:rPr sz="2200" b="0" i="0">
                <a:solidFill>
                  <a:srgbClr val="1A1A1A"/>
                </a:solidFill>
                <a:latin typeface="Palatino"/>
              </a:rPr>
              <a:t>One period of price with the open and the close each labelled a function of an arbitrary time stamp, the high labelled a function of supply and the low a function of demand, both as market forces.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3.7 - Lim, The Handbook of Technical Analysis (Wiley, 2016)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open and the close gain importance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durations between active trading sessions are longer.</a:t>
            </a:r>
          </a:p>
          <a:p>
            <a:pPr algn="l">
              <a:lnSpc>
                <a:spcPct val="118000"/>
              </a:lnSpc>
              <a:spcBef>
                <a:spcPts val="0"/>
              </a:spcBef>
              <a:spcAft>
                <a:spcPts val="1300"/>
              </a:spcAft>
            </a:pPr>
            <a:r>
              <a:rPr sz="2100" b="0" i="0">
                <a:solidFill>
                  <a:srgbClr val="1A1A1A"/>
                </a:solidFill>
                <a:latin typeface="Arial"/>
              </a:rPr>
              <a:t>2.  The open and close belong to a higher timeframe bar or candlestick.</a:t>
            </a:r>
          </a:p>
          <a:p>
            <a:pPr algn="l">
              <a:lnSpc>
                <a:spcPct val="118000"/>
              </a:lnSpc>
              <a:spcBef>
                <a:spcPts val="0"/>
              </a:spcBef>
              <a:spcAft>
                <a:spcPts val="1300"/>
              </a:spcAft>
            </a:pPr>
            <a:r>
              <a:rPr sz="2100" b="0" i="0">
                <a:solidFill>
                  <a:srgbClr val="1A1A1A"/>
                </a:solidFill>
                <a:latin typeface="Arial"/>
              </a:rPr>
              <a:t>3.  There is a larger gap between the previous close and the new open.</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Any of the three makes the open and close more reliable and actionable.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Sessions separated by no trading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5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3.8</a:t>
            </a:r>
          </a:p>
          <a:p>
            <a:pPr algn="l">
              <a:lnSpc>
                <a:spcPct val="120000"/>
              </a:lnSpc>
              <a:spcBef>
                <a:spcPts val="0"/>
              </a:spcBef>
              <a:spcAft>
                <a:spcPts val="1800"/>
              </a:spcAft>
            </a:pPr>
            <a:r>
              <a:rPr sz="2200" b="0" i="0">
                <a:solidFill>
                  <a:srgbClr val="1A1A1A"/>
                </a:solidFill>
                <a:latin typeface="Palatino"/>
              </a:rPr>
              <a:t>Three trading sessions, each with its own open, high, low and close, separated by stretches of no trading, annotated that longer breaks raise the significance of the open and close.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3.8 - Lim, The Handbook of Technical Analysis (Wiley, 2016)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Daily against intraday, and markets that never close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6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daily open and close draw more interest than the opens and closes between morning and afternoon sessions.</a:t>
            </a:r>
          </a:p>
          <a:p>
            <a:pPr algn="l">
              <a:lnSpc>
                <a:spcPct val="118000"/>
              </a:lnSpc>
              <a:spcBef>
                <a:spcPts val="0"/>
              </a:spcBef>
              <a:spcAft>
                <a:spcPts val="1300"/>
              </a:spcAft>
            </a:pPr>
            <a:r>
              <a:rPr sz="2100" b="0" i="0">
                <a:solidFill>
                  <a:srgbClr val="1A1A1A"/>
                </a:solidFill>
                <a:latin typeface="Arial"/>
              </a:rPr>
              <a:t>The break overnight is longer than the break between the two sessions of one day.</a:t>
            </a:r>
          </a:p>
          <a:p>
            <a:pPr algn="l">
              <a:lnSpc>
                <a:spcPct val="118000"/>
              </a:lnSpc>
              <a:spcBef>
                <a:spcPts val="0"/>
              </a:spcBef>
              <a:spcAft>
                <a:spcPts val="1300"/>
              </a:spcAft>
            </a:pPr>
            <a:r>
              <a:rPr sz="2100" b="0" i="0">
                <a:solidFill>
                  <a:srgbClr val="1A1A1A"/>
                </a:solidFill>
                <a:latin typeface="Arial"/>
              </a:rPr>
              <a:t>In markets that trade continuously, such as spot foreign exchange, the open and close matter less than the high and low.</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longer the market has been shut, the more its opening price means.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Gap</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stretch of prices where nothing traded at all. Price jumped over it.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closes at 102 pesos and opens the next morning at 106. Nobody traded at 103, 104 or 105 in between.</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gap is represented by a range of prices where no trading activity takes place. There are essentially four ways to define one, Types 1 to 4.</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7 of 14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Type 1 and Type 2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Both are measured to the new bar's open, so both exist the moment it opens.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last bar had a high of 104 and closed at 102. The new bar opens at 106. The Type 1 gap, close to open, is 4 pesos. The Type 2 gap, high to open, is 2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Type 1 is measured from the close of the previous bar to the open of the next or current bar. Type 2 is measured from the high or low of the previous bar to the open of the next or current bar. Both are created instantaneously at the open, with no trading within that range.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8 of 14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Type 3 and Type 4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Both are measured to the new bar's high or low, so both wait for it to close.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new bar's low turns out to be 105.50. Type 3, high 104 to low 105.50, is 1.50 pesos. Type 4, close 102 to low 105.50, is 3.50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Type 3 is measured from the highs or lows of the previous bar to the highs or lows of the current bar, and is the gap usually called a window in candlestick and bar charts. Type 4 is measured from the close of the previous bar to the high or low of the next. Both are created only after the current bar has closed.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9 of 14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gaps, measured on one pair of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10 of 14</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a.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definitions of a gap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11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3.9</a:t>
            </a:r>
          </a:p>
          <a:p>
            <a:pPr algn="l">
              <a:lnSpc>
                <a:spcPct val="120000"/>
              </a:lnSpc>
              <a:spcBef>
                <a:spcPts val="0"/>
              </a:spcBef>
              <a:spcAft>
                <a:spcPts val="1800"/>
              </a:spcAft>
            </a:pPr>
            <a:r>
              <a:rPr sz="2200" b="0" i="0">
                <a:solidFill>
                  <a:srgbClr val="1A1A1A"/>
                </a:solidFill>
                <a:latin typeface="Palatino"/>
              </a:rPr>
              <a:t>Four schematic pairs of bars, Types 1 to 4, each gap marked by an arrow; Types 1 and 2 grouped as created when the next bar opens, Types 3 and 4 as needing the next bar to close.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3.9 - Lim, The Handbook of Technical Analysis (Wiley, 2016)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gap usually does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gap normally represents an area of support or resistance, depending on whether price is above or below it.</a:t>
            </a:r>
          </a:p>
          <a:p>
            <a:pPr algn="l">
              <a:lnSpc>
                <a:spcPct val="118000"/>
              </a:lnSpc>
              <a:spcBef>
                <a:spcPts val="0"/>
              </a:spcBef>
              <a:spcAft>
                <a:spcPts val="1300"/>
              </a:spcAft>
            </a:pPr>
            <a:r>
              <a:rPr sz="2100" b="0" i="0">
                <a:solidFill>
                  <a:srgbClr val="1A1A1A"/>
                </a:solidFill>
                <a:latin typeface="Arial"/>
              </a:rPr>
              <a:t>This is especially so for a Type 3 gap, and larger gaps are more significant.</a:t>
            </a:r>
          </a:p>
          <a:p>
            <a:pPr algn="l">
              <a:lnSpc>
                <a:spcPct val="118000"/>
              </a:lnSpc>
              <a:spcBef>
                <a:spcPts val="0"/>
              </a:spcBef>
              <a:spcAft>
                <a:spcPts val="1300"/>
              </a:spcAft>
            </a:pPr>
            <a:r>
              <a:rPr sz="2100" b="0" i="0">
                <a:solidFill>
                  <a:srgbClr val="1A1A1A"/>
                </a:solidFill>
                <a:latin typeface="Arial"/>
              </a:rPr>
              <a:t>Prices are generally expected to return and fill the gap later, although often they do not.</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Expected to fill, and often does not. The book says both.</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uses support and resistance without defining them. Chapter 5 is where the book defines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true range, and the Type 4 gap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13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notes that the average true range (ATR) is somewhat related to a Type 4 gap.</a:t>
            </a:r>
          </a:p>
          <a:p>
            <a:pPr algn="l">
              <a:lnSpc>
                <a:spcPct val="118000"/>
              </a:lnSpc>
              <a:spcBef>
                <a:spcPts val="0"/>
              </a:spcBef>
              <a:spcAft>
                <a:spcPts val="1300"/>
              </a:spcAft>
            </a:pPr>
            <a:r>
              <a:rPr sz="2100" b="0" i="0">
                <a:solidFill>
                  <a:srgbClr val="1A1A1A"/>
                </a:solidFill>
                <a:latin typeface="Arial"/>
              </a:rPr>
              <a:t>The true range is the greater of the new bar's range and the distance from the last close to its high or low.</a:t>
            </a:r>
          </a:p>
          <a:p>
            <a:pPr algn="l">
              <a:lnSpc>
                <a:spcPct val="118000"/>
              </a:lnSpc>
              <a:spcBef>
                <a:spcPts val="0"/>
              </a:spcBef>
              <a:spcAft>
                <a:spcPts val="1300"/>
              </a:spcAft>
            </a:pPr>
            <a:r>
              <a:rPr sz="2100" b="0" i="0">
                <a:solidFill>
                  <a:srgbClr val="1A1A1A"/>
                </a:solidFill>
                <a:latin typeface="Arial"/>
              </a:rPr>
              <a:t>In the example, last close 102 to new high 108 is 6 pesos, more than the new range of 2.50.</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chapter gives the true range, not the average. The averaging is taught in Chapter 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market gaps, named for later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Chapter 5 analyses gaps in relation to market phase.</a:t>
            </a:r>
          </a:p>
          <a:p>
            <a:pPr algn="l">
              <a:lnSpc>
                <a:spcPct val="118000"/>
              </a:lnSpc>
              <a:spcBef>
                <a:spcPts val="0"/>
              </a:spcBef>
              <a:spcAft>
                <a:spcPts val="1300"/>
              </a:spcAft>
            </a:pPr>
            <a:r>
              <a:rPr sz="2100" b="0" i="0">
                <a:solidFill>
                  <a:srgbClr val="1A1A1A"/>
                </a:solidFill>
                <a:latin typeface="Arial"/>
              </a:rPr>
              <a:t>The four it covers are common gaps, breakaway gaps, runaway gaps and exhaustion gaps.</a:t>
            </a:r>
          </a:p>
          <a:p>
            <a:pPr algn="l">
              <a:lnSpc>
                <a:spcPct val="118000"/>
              </a:lnSpc>
              <a:spcBef>
                <a:spcPts val="0"/>
              </a:spcBef>
              <a:spcAft>
                <a:spcPts val="1300"/>
              </a:spcAft>
            </a:pPr>
            <a:r>
              <a:rPr sz="2100" b="0" i="0">
                <a:solidFill>
                  <a:srgbClr val="1A1A1A"/>
                </a:solidFill>
                <a:latin typeface="Arial"/>
              </a:rPr>
              <a:t>Runaway gaps are also called continuation or midway gaps.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Names only today. Types 1 to 4 are ways to measure a gap, not kinds of gap.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open and close as time stamps, the high and low as price rejection</a:t>
            </a:r>
          </a:p>
          <a:p>
            <a:pPr algn="l" marL="237744" indent="-237744">
              <a:lnSpc>
                <a:spcPct val="112000"/>
              </a:lnSpc>
              <a:spcBef>
                <a:spcPts val="0"/>
              </a:spcBef>
              <a:spcAft>
                <a:spcPts val="1200"/>
              </a:spcAft>
            </a:pPr>
            <a:r>
              <a:rPr sz="1800" b="0" i="0">
                <a:solidFill>
                  <a:srgbClr val="1A1A1A"/>
                </a:solidFill>
                <a:latin typeface="Arial"/>
              </a:rPr>
              <a:t>▪  The three conditions that raise the open and close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Daily against intraday, and continuous markets</a:t>
            </a:r>
          </a:p>
          <a:p>
            <a:pPr algn="l" marL="237744" indent="-237744">
              <a:lnSpc>
                <a:spcPct val="112000"/>
              </a:lnSpc>
              <a:spcBef>
                <a:spcPts val="0"/>
              </a:spcBef>
              <a:spcAft>
                <a:spcPts val="1200"/>
              </a:spcAft>
            </a:pPr>
            <a:r>
              <a:rPr sz="1800" b="0" i="0">
                <a:solidFill>
                  <a:srgbClr val="1A1A1A"/>
                </a:solidFill>
                <a:latin typeface="Arial"/>
              </a:rPr>
              <a:t>▪  A gap, and Types 1 to 4</a:t>
            </a:r>
          </a:p>
          <a:p>
            <a:pPr algn="l" marL="237744" indent="-237744">
              <a:lnSpc>
                <a:spcPct val="112000"/>
              </a:lnSpc>
              <a:spcBef>
                <a:spcPts val="0"/>
              </a:spcBef>
              <a:spcAft>
                <a:spcPts val="1200"/>
              </a:spcAft>
            </a:pPr>
            <a:r>
              <a:rPr sz="1800" b="0" i="0">
                <a:solidFill>
                  <a:srgbClr val="1A1A1A"/>
                </a:solidFill>
                <a:latin typeface="Arial"/>
              </a:rPr>
              <a:t>▪  What a gap usually does afterwards, and the true range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recap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Five Constant Measures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five things that can decide when a bar is finished.</a:t>
            </a:r>
          </a:p>
          <a:p>
            <a:pPr algn="l">
              <a:lnSpc>
                <a:spcPct val="115000"/>
              </a:lnSpc>
              <a:spcBef>
                <a:spcPts val="0"/>
              </a:spcBef>
              <a:spcAft>
                <a:spcPts val="1000"/>
              </a:spcAft>
            </a:pPr>
            <a:r>
              <a:rPr sz="1900" b="0" i="0">
                <a:solidFill>
                  <a:srgbClr val="FFFFFF"/>
                </a:solidFill>
                <a:latin typeface="Arial"/>
              </a:rPr>
              <a:t>The four constant time charts, and what each one keeps or loses.</a:t>
            </a:r>
          </a:p>
          <a:p>
            <a:pPr algn="l">
              <a:lnSpc>
                <a:spcPct val="115000"/>
              </a:lnSpc>
              <a:spcBef>
                <a:spcPts val="0"/>
              </a:spcBef>
              <a:spcAft>
                <a:spcPts val="1000"/>
              </a:spcAft>
            </a:pPr>
            <a:r>
              <a:rPr sz="1900" b="0" i="0">
                <a:solidFill>
                  <a:srgbClr val="FFFFFF"/>
                </a:solidFill>
                <a:latin typeface="Arial"/>
              </a:rPr>
              <a:t>The charts that ignore the clock, and the one chart with no constant at all.</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40 minutes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five constant measures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Constant time: the bar closes when a set interval of time is met.</a:t>
            </a:r>
          </a:p>
          <a:p>
            <a:pPr algn="l">
              <a:lnSpc>
                <a:spcPct val="118000"/>
              </a:lnSpc>
              <a:spcBef>
                <a:spcPts val="0"/>
              </a:spcBef>
              <a:spcAft>
                <a:spcPts val="1300"/>
              </a:spcAft>
            </a:pPr>
            <a:r>
              <a:rPr sz="2100" b="0" i="0">
                <a:solidFill>
                  <a:srgbClr val="1A1A1A"/>
                </a:solidFill>
                <a:latin typeface="Arial"/>
              </a:rPr>
              <a:t>2.  Constant range: the bar closes when a set excursion in price is met.</a:t>
            </a:r>
          </a:p>
          <a:p>
            <a:pPr algn="l">
              <a:lnSpc>
                <a:spcPct val="118000"/>
              </a:lnSpc>
              <a:spcBef>
                <a:spcPts val="0"/>
              </a:spcBef>
              <a:spcAft>
                <a:spcPts val="1300"/>
              </a:spcAft>
            </a:pPr>
            <a:r>
              <a:rPr sz="2100" b="0" i="0">
                <a:solidFill>
                  <a:srgbClr val="1A1A1A"/>
                </a:solidFill>
                <a:latin typeface="Arial"/>
              </a:rPr>
              <a:t>3.  Constant volume: the bar closes when a set volume is met.</a:t>
            </a:r>
          </a:p>
          <a:p>
            <a:pPr algn="l">
              <a:lnSpc>
                <a:spcPct val="118000"/>
              </a:lnSpc>
              <a:spcBef>
                <a:spcPts val="0"/>
              </a:spcBef>
              <a:spcAft>
                <a:spcPts val="1300"/>
              </a:spcAft>
            </a:pPr>
            <a:r>
              <a:rPr sz="2100" b="0" i="0">
                <a:solidFill>
                  <a:srgbClr val="1A1A1A"/>
                </a:solidFill>
                <a:latin typeface="Arial"/>
              </a:rPr>
              <a:t>4.  Constant transaction, or tick: the bar closes when a set number of trades is met.</a:t>
            </a:r>
          </a:p>
          <a:p>
            <a:pPr algn="l">
              <a:lnSpc>
                <a:spcPct val="118000"/>
              </a:lnSpc>
              <a:spcBef>
                <a:spcPts val="0"/>
              </a:spcBef>
              <a:spcAft>
                <a:spcPts val="1300"/>
              </a:spcAft>
            </a:pPr>
            <a:r>
              <a:rPr sz="2100" b="0" i="0">
                <a:solidFill>
                  <a:srgbClr val="1A1A1A"/>
                </a:solidFill>
                <a:latin typeface="Arial"/>
              </a:rPr>
              <a:t>5.  Constant volatility: the bar closes when a set amount of standard deviation or ATR is met.</a:t>
            </a:r>
          </a:p>
        </p:txBody>
      </p:sp>
      <p:sp>
        <p:nvSpPr>
          <p:cNvPr id="8" name="TextBox 7"/>
          <p:cNvSpPr txBox="1"/>
          <p:nvPr/>
        </p:nvSpPr>
        <p:spPr>
          <a:xfrm>
            <a:off x="777240" y="539419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Every bar has a range, a duration, a volume, a number of transactions and a volatility. Each chart holds one of them constant.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Every bar covers the same length of time, whatever happened in it.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 a daily chart, a quiet day and a wild day each get exactly one bar, and each takes up the same width.</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Constant time charts quantize price activity into units of time, so each bar is complete once a specified amount of time has elapsed; they are also called interval charts. The bar duration is constant, and the range, volume, transactions per bar and volatility are variable.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 of 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constant time is the default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Constant time charts work with both numerically and geometrically based overlay indicators.</a:t>
            </a:r>
          </a:p>
          <a:p>
            <a:pPr algn="l">
              <a:lnSpc>
                <a:spcPct val="118000"/>
              </a:lnSpc>
              <a:spcBef>
                <a:spcPts val="0"/>
              </a:spcBef>
              <a:spcAft>
                <a:spcPts val="1300"/>
              </a:spcAft>
            </a:pPr>
            <a:r>
              <a:rPr sz="2100" b="0" i="0">
                <a:solidFill>
                  <a:srgbClr val="1A1A1A"/>
                </a:solidFill>
                <a:latin typeface="Arial"/>
              </a:rPr>
              <a:t>Charts that are not constant time should use numerical and horizontal overlays only.</a:t>
            </a:r>
          </a:p>
          <a:p>
            <a:pPr algn="l">
              <a:lnSpc>
                <a:spcPct val="118000"/>
              </a:lnSpc>
              <a:spcBef>
                <a:spcPts val="0"/>
              </a:spcBef>
              <a:spcAft>
                <a:spcPts val="1300"/>
              </a:spcAft>
            </a:pPr>
            <a:r>
              <a:rPr sz="2100" b="0" i="0">
                <a:solidFill>
                  <a:srgbClr val="1A1A1A"/>
                </a:solidFill>
                <a:latin typeface="Arial"/>
              </a:rPr>
              <a:t>Their time axis is not linear, which affects trendlines, channels and chart pattern analysis.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Constant time charts are the most popular form of chart construction.</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sorts overlays into numerical, geometrical and horizontal ones and treats them fully in Chapter 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Bar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Each interval drawn as one vertical line from high to low, with a small tick on the left for the open and on the right for the close.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day that opened at 50, ran up to 52, fell to 49 and closed at 51 is one line from 49 to 52, with a tick on the left at 50 and a tick on the right at 51.</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bar chart is created by the quantization of price into specified time intervals. Bar charts clearly depict levels of supply and demand in the market, but the open and close markers are hard to read from a distance when the chart holds many bars.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4 of 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Just the closing prices, joined up. Everything else in each bar is thrown away.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Five days closing at 50, 51, 50.50, 52 and 53 pesos are five dots joined by a line. The highs and lows of those days do not appear anywhere.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Line charts are created by connecting all of the closing prices. They give little information about levels of supply and demand, since they ignore the high and low prices, which are the true indicators of market force. They are used as a trend identifier or a simple summary of price activity.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5 of 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line chart keeps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6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b.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Japanese candlestick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bar with the stretch between the open and the close drawn as a box.</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Open 50, close 51: the box runs from 50 up to 51 and is hollow, or white. Open 51, close 50: the same box, filled, or black.</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Japanese candlesticks are created in essentially the same manner as price bars. The only difference is that the space between the opening and closing price is boxed up and referred to as the real body, which may be filled or hollow, black or white, depending on where the open lies relative to the close.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7 of 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bullish and a bearish candlestick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8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3.10</a:t>
            </a:r>
          </a:p>
          <a:p>
            <a:pPr algn="l">
              <a:lnSpc>
                <a:spcPct val="120000"/>
              </a:lnSpc>
              <a:spcBef>
                <a:spcPts val="0"/>
              </a:spcBef>
              <a:spcAft>
                <a:spcPts val="1800"/>
              </a:spcAft>
            </a:pPr>
            <a:r>
              <a:rPr sz="2200" b="0" i="0">
                <a:solidFill>
                  <a:srgbClr val="1A1A1A"/>
                </a:solidFill>
                <a:latin typeface="Palatino"/>
              </a:rPr>
              <a:t>A white bullish candlestick and a black bearish one labelled part by part: real body, open, close, and the upper and lower shadows, also called tails or wicks, running to the high and low.</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3.10 - Lim, The Handbook of Technical Analysis (Wiley, 2016)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Equivolume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Each bar's width shows how much traded: a busy day wide, a quiet day narrow.</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Two days with the same high and low. One traded 3 million shares and the other 1 million. The first is drawn as the wider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Equivolume charts are based on constant time bars, displaying volume over the interval as bar width rather than height. They are constructed using high and low prices, and open and close prices are disregarded. Larger volume results in a wider bar.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9 of 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Equivolume: constant time, non linear axis, two accounts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Every equivolume bar still covers one interval of time, so it is a constant time chart.</a:t>
            </a:r>
          </a:p>
          <a:p>
            <a:pPr algn="l">
              <a:lnSpc>
                <a:spcPct val="118000"/>
              </a:lnSpc>
              <a:spcBef>
                <a:spcPts val="0"/>
              </a:spcBef>
              <a:spcAft>
                <a:spcPts val="1300"/>
              </a:spcAft>
            </a:pPr>
            <a:r>
              <a:rPr sz="2100" b="0" i="0">
                <a:solidFill>
                  <a:srgbClr val="1A1A1A"/>
                </a:solidFill>
                <a:latin typeface="Arial"/>
              </a:rPr>
              <a:t>But because the widths vary, its time axis is not plotted in a linear fashion.</a:t>
            </a:r>
          </a:p>
          <a:p>
            <a:pPr algn="l">
              <a:lnSpc>
                <a:spcPct val="118000"/>
              </a:lnSpc>
              <a:spcBef>
                <a:spcPts val="0"/>
              </a:spcBef>
              <a:spcAft>
                <a:spcPts val="1300"/>
              </a:spcAft>
            </a:pPr>
            <a:r>
              <a:rPr sz="2100" b="0" i="0">
                <a:solidFill>
                  <a:srgbClr val="1A1A1A"/>
                </a:solidFill>
                <a:latin typeface="Arial"/>
              </a:rPr>
              <a:t>The book says equivolume needs OHLCV data, and also that its open and close are disregarded.</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the bar actually draws on is the high, the low and the volume.</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says both things about its data. Learn both, and know which prices the bar 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Candlestick and equivolume, same stock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11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3.11</a:t>
            </a:r>
          </a:p>
          <a:p>
            <a:pPr algn="l">
              <a:lnSpc>
                <a:spcPct val="120000"/>
              </a:lnSpc>
              <a:spcBef>
                <a:spcPts val="0"/>
              </a:spcBef>
              <a:spcAft>
                <a:spcPts val="1800"/>
              </a:spcAft>
            </a:pPr>
            <a:r>
              <a:rPr sz="2200" b="0" i="0">
                <a:solidFill>
                  <a:srgbClr val="1A1A1A"/>
                </a:solidFill>
                <a:latin typeface="Palatino"/>
              </a:rPr>
              <a:t>The same daily prices of Apple Inc. as a candlestick chart with a linear time axis and as an equivolume chart with a non linear one, the trendline on each ending at a different price.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3.11 - Lim, The Handbook of Technical Analysis (Wiley, 2016)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range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chart that draws a new bar only when price has moved a set amount, however long that takes.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the size at 1 peso. A share that drifts 40 centavos all week draws nothing. A share that moves 3 pesos in a morning draws three.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On constant range charts each bar, box or brick is complete once a specified excursion in price is met. The bar range and the bar volatility are constant; the duration, volume and transactions per bar are variable.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12 of 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Point and figure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Columns of X's while price rises and O's while it falls, one box per set move.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Box size 1 peso, reversal size 3 boxes. Price must move 1 peso to add a box, and at least 3 pesos against the column before a new column starts.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most popular form of constant range charting. A continuation box is the minimum excursion for a new box in the trend's direction; the reversal size is the number of boxes needed to plot a reversal. The box size is arbitrarily chosen, and closing prices are normally used, though many use the high and low.</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13 of 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Point and figure, one box at a time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14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c.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point and figure draws its lines at 45 degrees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As a constant range chart, point and figure has a non linear time axis.</a:t>
            </a:r>
          </a:p>
          <a:p>
            <a:pPr algn="l">
              <a:lnSpc>
                <a:spcPct val="118000"/>
              </a:lnSpc>
              <a:spcBef>
                <a:spcPts val="0"/>
              </a:spcBef>
              <a:spcAft>
                <a:spcPts val="1300"/>
              </a:spcAft>
            </a:pPr>
            <a:r>
              <a:rPr sz="2100" b="0" i="0">
                <a:solidFill>
                  <a:srgbClr val="1A1A1A"/>
                </a:solidFill>
                <a:latin typeface="Arial"/>
              </a:rPr>
              <a:t>So geometrically based overlays would give inconsistent readings on it.</a:t>
            </a:r>
          </a:p>
          <a:p>
            <a:pPr algn="l">
              <a:lnSpc>
                <a:spcPct val="118000"/>
              </a:lnSpc>
              <a:spcBef>
                <a:spcPts val="0"/>
              </a:spcBef>
              <a:spcAft>
                <a:spcPts val="1300"/>
              </a:spcAft>
            </a:pPr>
            <a:r>
              <a:rPr sz="2100" b="0" i="0">
                <a:solidFill>
                  <a:srgbClr val="1A1A1A"/>
                </a:solidFill>
                <a:latin typeface="Arial"/>
              </a:rPr>
              <a:t>Its trendlines need only one point, and rise and fall along 45 and minus 45 degree angles.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Point and figure uses bullish support and bearish resistance lines in place of conventional trendlines.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Point and figure on Google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3.12</a:t>
            </a:r>
          </a:p>
          <a:p>
            <a:pPr algn="l">
              <a:lnSpc>
                <a:spcPct val="120000"/>
              </a:lnSpc>
              <a:spcBef>
                <a:spcPts val="0"/>
              </a:spcBef>
              <a:spcAft>
                <a:spcPts val="1800"/>
              </a:spcAft>
            </a:pPr>
            <a:r>
              <a:rPr sz="2200" b="0" i="0">
                <a:solidFill>
                  <a:srgbClr val="1A1A1A"/>
                </a:solidFill>
                <a:latin typeface="Palatino"/>
              </a:rPr>
              <a:t>A point and figure chart of Google Inc. in columns of X's and O's, with a plus 45 degree line under the rise and a minus 45 degree line over the decline, and the note that the time axis is non linear.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3.12 - Lim, The Handbook of Technical Analysis (Wiley, 2016)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Renko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White bricks for each set rise, black for each set fall, one column per brick.</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Brick size 1 peso. From 50, a rise to 52.40 adds two white bricks. For a black brick, price must now move at least two bricks, 2 pesos, the other way.</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form of constant range charting whose bars are bricks, bullish white and bearish black, each plotted in a new column once the minimum price excursion is met. All reversals require price to move at least two bricks the other way, so Renko charts are essentially two brick reversal charts. Brick size is arbitrary.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17 of 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Renko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18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3.13</a:t>
            </a:r>
          </a:p>
          <a:p>
            <a:pPr algn="l">
              <a:lnSpc>
                <a:spcPct val="120000"/>
              </a:lnSpc>
              <a:spcBef>
                <a:spcPts val="0"/>
              </a:spcBef>
              <a:spcAft>
                <a:spcPts val="1800"/>
              </a:spcAft>
            </a:pPr>
            <a:r>
              <a:rPr sz="2200" b="0" i="0">
                <a:solidFill>
                  <a:srgbClr val="1A1A1A"/>
                </a:solidFill>
                <a:latin typeface="Palatino"/>
              </a:rPr>
              <a:t>A Renko chart of the iPath Dow Jones-AIG Coffee Total Return Sub-Index in white and black bricks, with the note that its time axis is non linear.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3.13 - Lim, The Handbook of Technical Analysis (Wiley, 2016)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volume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new bar every time a set number of shares has traded, however long that takes.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100,000 shares a bar. A busy morning might draw ten bars; a slow afternoon might draw one.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constant volume charts a new bar is plotted once the minimum volume traded is met. The bar volume is constant; the range, duration, transactions per bar and volatility are variable. Since a new bar is not time dependent, the time axis is plotted in a non linear fashion.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19 of 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a constant volume bar closes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20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d.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transaction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new bar after every set number of trades. Also called a tick chart.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50 trades a bar. Fifty trades of 100 shares and fifty trades of 10,000 shares each make exactly one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constant transaction or tick charts a new bar is plotted once the minimum number of transactions is met. Each transaction is represented by one tick, and the volume per transaction is unspecified. The transactions per bar are constant; everything else is variable, and the time axis is non linear.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21 of 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volatility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Like constant range, but volatility sets the size of move each bar needs.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each bar at 2 x ATR. If the ATR is 0.50 pesos a bar needs a 1 peso move; if the ATR widens to 1.50, it needs 3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new bar is plotted once a minimum price excursion determined by volatility is met, for example 2 x ATR. The bar volatility is constant; range, duration, volume and transactions are variable. It is objective, as volatility sets the size, and subjective in the choice of the ATR multiple.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22 of 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ATR box sizing against standard box sizing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23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3.14</a:t>
            </a:r>
          </a:p>
          <a:p>
            <a:pPr algn="l">
              <a:lnSpc>
                <a:spcPct val="120000"/>
              </a:lnSpc>
              <a:spcBef>
                <a:spcPts val="0"/>
              </a:spcBef>
              <a:spcAft>
                <a:spcPts val="1800"/>
              </a:spcAft>
            </a:pPr>
            <a:r>
              <a:rPr sz="2200" b="0" i="0">
                <a:solidFill>
                  <a:srgbClr val="1A1A1A"/>
                </a:solidFill>
                <a:latin typeface="Palatino"/>
              </a:rPr>
              <a:t>Two point and figure charts of one market: box size set to 1 x ATR on the left, less volatile and more directional; standard box sizing on the right, more volatile and less directional.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3.14 - Lim, The Handbook of Technical Analysis (Wiley, 2016)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Three line break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No fixed measure at all: a new line only when price closes beyond the last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After three white lines in a row, price has to fall to the low of those last three lines before a black line can be drawn.</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Three line break charts possess no measures of constancy. Once price closes above the previous high or below a previous low, a new line is created. After three successive lines, a reversal may only be plotted if price meets or exceeds the low, or in an upside reversal the high, of the last three.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24 of 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line break against Renko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25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3.15</a:t>
            </a:r>
          </a:p>
          <a:p>
            <a:pPr algn="l">
              <a:lnSpc>
                <a:spcPct val="120000"/>
              </a:lnSpc>
              <a:spcBef>
                <a:spcPts val="0"/>
              </a:spcBef>
              <a:spcAft>
                <a:spcPts val="1800"/>
              </a:spcAft>
            </a:pPr>
            <a:r>
              <a:rPr sz="2200" b="0" i="0">
                <a:solidFill>
                  <a:srgbClr val="1A1A1A"/>
                </a:solidFill>
                <a:latin typeface="Palatino"/>
              </a:rPr>
              <a:t>The same period of the Currency Shares Euro Trust drawn as a Renko chart and as a three line break chart side by side.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3.15 - Lim, The Handbook of Technical Analysis (Wiley, 2016)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one each chart holds constant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Constant time: the duration.</a:t>
            </a:r>
          </a:p>
          <a:p>
            <a:pPr algn="l">
              <a:lnSpc>
                <a:spcPct val="118000"/>
              </a:lnSpc>
              <a:spcBef>
                <a:spcPts val="0"/>
              </a:spcBef>
              <a:spcAft>
                <a:spcPts val="1300"/>
              </a:spcAft>
            </a:pPr>
            <a:r>
              <a:rPr sz="2100" b="0" i="0">
                <a:solidFill>
                  <a:srgbClr val="1A1A1A"/>
                </a:solidFill>
                <a:latin typeface="Arial"/>
              </a:rPr>
              <a:t>Constant range: the range, and the volatility.</a:t>
            </a:r>
          </a:p>
          <a:p>
            <a:pPr algn="l">
              <a:lnSpc>
                <a:spcPct val="118000"/>
              </a:lnSpc>
              <a:spcBef>
                <a:spcPts val="0"/>
              </a:spcBef>
              <a:spcAft>
                <a:spcPts val="1300"/>
              </a:spcAft>
            </a:pPr>
            <a:r>
              <a:rPr sz="2100" b="0" i="0">
                <a:solidFill>
                  <a:srgbClr val="1A1A1A"/>
                </a:solidFill>
                <a:latin typeface="Arial"/>
              </a:rPr>
              <a:t>Constant volume: the volume.</a:t>
            </a:r>
          </a:p>
          <a:p>
            <a:pPr algn="l">
              <a:lnSpc>
                <a:spcPct val="118000"/>
              </a:lnSpc>
              <a:spcBef>
                <a:spcPts val="0"/>
              </a:spcBef>
              <a:spcAft>
                <a:spcPts val="1300"/>
              </a:spcAft>
            </a:pPr>
            <a:r>
              <a:rPr sz="2100" b="0" i="0">
                <a:solidFill>
                  <a:srgbClr val="1A1A1A"/>
                </a:solidFill>
                <a:latin typeface="Arial"/>
              </a:rPr>
              <a:t>Constant transaction: the number of transactions per bar.</a:t>
            </a:r>
          </a:p>
          <a:p>
            <a:pPr algn="l">
              <a:lnSpc>
                <a:spcPct val="118000"/>
              </a:lnSpc>
              <a:spcBef>
                <a:spcPts val="0"/>
              </a:spcBef>
              <a:spcAft>
                <a:spcPts val="1300"/>
              </a:spcAft>
            </a:pPr>
            <a:r>
              <a:rPr sz="2100" b="0" i="0">
                <a:solidFill>
                  <a:srgbClr val="1A1A1A"/>
                </a:solidFill>
                <a:latin typeface="Arial"/>
              </a:rPr>
              <a:t>Constant volatility: the volatility.</a:t>
            </a:r>
          </a:p>
          <a:p>
            <a:pPr algn="l">
              <a:lnSpc>
                <a:spcPct val="118000"/>
              </a:lnSpc>
              <a:spcBef>
                <a:spcPts val="0"/>
              </a:spcBef>
              <a:spcAft>
                <a:spcPts val="1300"/>
              </a:spcAft>
            </a:pPr>
            <a:r>
              <a:rPr sz="2100" b="0" i="0">
                <a:solidFill>
                  <a:srgbClr val="1A1A1A"/>
                </a:solidFill>
                <a:latin typeface="Arial"/>
              </a:rPr>
              <a:t>Three line break: nothing at all.</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lists volatility as constant for both constant range and constant volatility charts. What separates them is how the size is set.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five constant measures</a:t>
            </a:r>
          </a:p>
          <a:p>
            <a:pPr algn="l" marL="237744" indent="-237744">
              <a:lnSpc>
                <a:spcPct val="112000"/>
              </a:lnSpc>
              <a:spcBef>
                <a:spcPts val="0"/>
              </a:spcBef>
              <a:spcAft>
                <a:spcPts val="1200"/>
              </a:spcAft>
            </a:pPr>
            <a:r>
              <a:rPr sz="1800" b="0" i="0">
                <a:solidFill>
                  <a:srgbClr val="1A1A1A"/>
                </a:solidFill>
                <a:latin typeface="Arial"/>
              </a:rPr>
              <a:t>▪  Constant time: bar, line, candlestick and equivolume charts</a:t>
            </a:r>
          </a:p>
          <a:p>
            <a:pPr algn="l" marL="237744" indent="-237744">
              <a:lnSpc>
                <a:spcPct val="112000"/>
              </a:lnSpc>
              <a:spcBef>
                <a:spcPts val="0"/>
              </a:spcBef>
              <a:spcAft>
                <a:spcPts val="1200"/>
              </a:spcAft>
            </a:pPr>
            <a:r>
              <a:rPr sz="1800" b="0" i="0">
                <a:solidFill>
                  <a:srgbClr val="1A1A1A"/>
                </a:solidFill>
                <a:latin typeface="Arial"/>
              </a:rPr>
              <a:t>▪  Constant range: point and figure and Renko</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Constant volume, constant transaction and constant volatility</a:t>
            </a:r>
          </a:p>
          <a:p>
            <a:pPr algn="l" marL="237744" indent="-237744">
              <a:lnSpc>
                <a:spcPct val="112000"/>
              </a:lnSpc>
              <a:spcBef>
                <a:spcPts val="0"/>
              </a:spcBef>
              <a:spcAft>
                <a:spcPts val="1200"/>
              </a:spcAft>
            </a:pPr>
            <a:r>
              <a:rPr sz="1800" b="0" i="0">
                <a:solidFill>
                  <a:srgbClr val="1A1A1A"/>
                </a:solidFill>
                <a:latin typeface="Arial"/>
              </a:rPr>
              <a:t>▪  Three line break, with nothing constant</a:t>
            </a:r>
          </a:p>
          <a:p>
            <a:pPr algn="l" marL="237744" indent="-237744">
              <a:lnSpc>
                <a:spcPct val="112000"/>
              </a:lnSpc>
              <a:spcBef>
                <a:spcPts val="0"/>
              </a:spcBef>
              <a:spcAft>
                <a:spcPts val="1200"/>
              </a:spcAft>
            </a:pPr>
            <a:r>
              <a:rPr sz="1800" b="0" i="0">
                <a:solidFill>
                  <a:srgbClr val="1A1A1A"/>
                </a:solidFill>
                <a:latin typeface="Arial"/>
              </a:rPr>
              <a:t>▪  Why a non linear time axis bends trendlines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recap</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Chart Scaling</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Three ways to scale a price axis, and what each one preserves.</a:t>
            </a:r>
          </a:p>
          <a:p>
            <a:pPr algn="l">
              <a:lnSpc>
                <a:spcPct val="115000"/>
              </a:lnSpc>
              <a:spcBef>
                <a:spcPts val="0"/>
              </a:spcBef>
              <a:spcAft>
                <a:spcPts val="1000"/>
              </a:spcAft>
            </a:pPr>
            <a:r>
              <a:rPr sz="1900" b="0" i="0">
                <a:solidFill>
                  <a:srgbClr val="FFFFFF"/>
                </a:solidFill>
                <a:latin typeface="Arial"/>
              </a:rPr>
              <a:t>Which overlays scaling changes, and which it leaves alone.</a:t>
            </a:r>
          </a:p>
          <a:p>
            <a:pPr algn="l">
              <a:lnSpc>
                <a:spcPct val="115000"/>
              </a:lnSpc>
              <a:spcBef>
                <a:spcPts val="0"/>
              </a:spcBef>
              <a:spcAft>
                <a:spcPts val="1000"/>
              </a:spcAft>
            </a:pPr>
            <a:r>
              <a:rPr sz="1900" b="0" i="0">
                <a:solidFill>
                  <a:srgbClr val="FFFFFF"/>
                </a:solidFill>
                <a:latin typeface="Arial"/>
              </a:rPr>
              <a:t>Why the same prices can look bullish on one scale and bearish on the other.</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ways to scale a price axis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Linear, or arithmetic, scale.</a:t>
            </a:r>
          </a:p>
          <a:p>
            <a:pPr algn="l">
              <a:lnSpc>
                <a:spcPct val="118000"/>
              </a:lnSpc>
              <a:spcBef>
                <a:spcPts val="0"/>
              </a:spcBef>
              <a:spcAft>
                <a:spcPts val="1300"/>
              </a:spcAft>
            </a:pPr>
            <a:r>
              <a:rPr sz="2100" b="0" i="0">
                <a:solidFill>
                  <a:srgbClr val="1A1A1A"/>
                </a:solidFill>
                <a:latin typeface="Arial"/>
              </a:rPr>
              <a:t>2.  Ratio, or logarithmic, scale.</a:t>
            </a:r>
          </a:p>
          <a:p>
            <a:pPr algn="l">
              <a:lnSpc>
                <a:spcPct val="118000"/>
              </a:lnSpc>
              <a:spcBef>
                <a:spcPts val="0"/>
              </a:spcBef>
              <a:spcAft>
                <a:spcPts val="1300"/>
              </a:spcAft>
            </a:pPr>
            <a:r>
              <a:rPr sz="2100" b="0" i="0">
                <a:solidFill>
                  <a:srgbClr val="1A1A1A"/>
                </a:solidFill>
                <a:latin typeface="Arial"/>
              </a:rPr>
              <a:t>3.  Square root scale.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Linear and ratio are the common two. Square root lies between them and is rarely offered.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Linear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Equal distances up the chart mean equal amounts of money.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rise from 10 to 20 pesos and a rise from 90 to 100 pesos are drawn the same height: 10 pesos each. But the first is a 100 percent rise and the second only 11.1 percent.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linear or arithmetic scaling, equal distances on the chart represent equal price changes: the change P(N) minus P(N-1) is constant for every equal distance moved on the chart. The percentage change is not preserved for equal units of price change.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2 of 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Ratio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Equal distances up the chart mean equal percentage moves.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rise from 10 to 20 pesos is 100 percent. On a ratio scale it is drawn the same height as a rise from 90 to 180 pesos, which is also 100 percent but a 90 peso move.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ratio or logarithmic scaling, equal distances on the chart represent equal percentage changes: (P(N) minus P(N-1)) divided by P(N-1) is constant for every equal distance moved, which is also what is called stock returns. The price change is not preserved per equal unit of percentage change.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3 of 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sentence in the book says the opposite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4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defines ratio scaling as equal distances for equal percentage changes.</a:t>
            </a:r>
          </a:p>
          <a:p>
            <a:pPr algn="l">
              <a:lnSpc>
                <a:spcPct val="118000"/>
              </a:lnSpc>
              <a:spcBef>
                <a:spcPts val="0"/>
              </a:spcBef>
              <a:spcAft>
                <a:spcPts val="1300"/>
              </a:spcAft>
            </a:pPr>
            <a:r>
              <a:rPr sz="2100" b="0" i="0">
                <a:solidFill>
                  <a:srgbClr val="1A1A1A"/>
                </a:solidFill>
                <a:latin typeface="Arial"/>
              </a:rPr>
              <a:t>Two sentences later it says equal distances on the chart do not equate to equal percentage changes.</a:t>
            </a:r>
          </a:p>
          <a:p>
            <a:pPr algn="l">
              <a:lnSpc>
                <a:spcPct val="118000"/>
              </a:lnSpc>
              <a:spcBef>
                <a:spcPts val="0"/>
              </a:spcBef>
              <a:spcAft>
                <a:spcPts val="1300"/>
              </a:spcAft>
            </a:pPr>
            <a:r>
              <a:rPr sz="2100" b="0" i="0">
                <a:solidFill>
                  <a:srgbClr val="1A1A1A"/>
                </a:solidFill>
                <a:latin typeface="Arial"/>
              </a:rPr>
              <a:t>That sentence contradicts the definition just given, which the book states twice and draws twice.</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Learn the definition. Equal distance on a ratio scale is equal percentage change.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price axis, three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5 of 19</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e.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Linear scaling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6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3.16</a:t>
            </a:r>
          </a:p>
          <a:p>
            <a:pPr algn="l">
              <a:lnSpc>
                <a:spcPct val="120000"/>
              </a:lnSpc>
              <a:spcBef>
                <a:spcPts val="0"/>
              </a:spcBef>
              <a:spcAft>
                <a:spcPts val="1800"/>
              </a:spcAft>
            </a:pPr>
            <a:r>
              <a:rPr sz="2200" b="0" i="0">
                <a:solidFill>
                  <a:srgbClr val="1A1A1A"/>
                </a:solidFill>
                <a:latin typeface="Palatino"/>
              </a:rPr>
              <a:t>A price axis from 0 to 6 dollars with each 1 dollar step the same height, annotated that the price changes are constant from level to level and are of equal distances on the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3.16 - Lim, The Handbook of Technical Analysis (Wiley, 2016)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Ratio scaling, and where the halfway point falls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7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3.17</a:t>
            </a:r>
          </a:p>
          <a:p>
            <a:pPr algn="l">
              <a:lnSpc>
                <a:spcPct val="120000"/>
              </a:lnSpc>
              <a:spcBef>
                <a:spcPts val="0"/>
              </a:spcBef>
              <a:spcAft>
                <a:spcPts val="1800"/>
              </a:spcAft>
            </a:pPr>
            <a:r>
              <a:rPr sz="2200" b="0" i="0">
                <a:solidFill>
                  <a:srgbClr val="1A1A1A"/>
                </a:solidFill>
                <a:latin typeface="Palatino"/>
              </a:rPr>
              <a:t>A ratio scaled axis from 10 to 100 with the log of each level beside it: 55, the arithmetic halfway point, sits well above the middle, and prices are compressed at the upper 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3.17 - Lim, The Handbook of Technical Analysis (Wiley, 2016)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Ratio scaling, in equal percentage steps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3.18</a:t>
            </a:r>
          </a:p>
          <a:p>
            <a:pPr algn="l">
              <a:lnSpc>
                <a:spcPct val="120000"/>
              </a:lnSpc>
              <a:spcBef>
                <a:spcPts val="0"/>
              </a:spcBef>
              <a:spcAft>
                <a:spcPts val="1800"/>
              </a:spcAft>
            </a:pPr>
            <a:r>
              <a:rPr sz="2200" b="0" i="0">
                <a:solidFill>
                  <a:srgbClr val="1A1A1A"/>
                </a:solidFill>
                <a:latin typeface="Palatino"/>
              </a:rPr>
              <a:t>A ratio scaled axis doubling from 1 to 64 dollars, every doubling the same height and 0.3 apart in logs, annotated that equal distances are equal percentage changes.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3.18 - Lim, The Handbook of Technical Analysis (Wiley, 2016)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Compressed at the top, expanded at the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9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ratio scale compresses price action at higher prices and expands it at lower prices.</a:t>
            </a:r>
          </a:p>
          <a:p>
            <a:pPr algn="l">
              <a:lnSpc>
                <a:spcPct val="118000"/>
              </a:lnSpc>
              <a:spcBef>
                <a:spcPts val="0"/>
              </a:spcBef>
              <a:spcAft>
                <a:spcPts val="1300"/>
              </a:spcAft>
            </a:pPr>
            <a:r>
              <a:rPr sz="2100" b="0" i="0">
                <a:solidFill>
                  <a:srgbClr val="1A1A1A"/>
                </a:solidFill>
                <a:latin typeface="Arial"/>
              </a:rPr>
              <a:t>Linear scaling represents price evenly across the whole range.</a:t>
            </a:r>
          </a:p>
          <a:p>
            <a:pPr algn="l">
              <a:lnSpc>
                <a:spcPct val="118000"/>
              </a:lnSpc>
              <a:spcBef>
                <a:spcPts val="0"/>
              </a:spcBef>
              <a:spcAft>
                <a:spcPts val="1300"/>
              </a:spcAft>
            </a:pPr>
            <a:r>
              <a:rPr sz="2100" b="0" i="0">
                <a:solidFill>
                  <a:srgbClr val="1A1A1A"/>
                </a:solidFill>
                <a:latin typeface="Arial"/>
              </a:rPr>
              <a:t>So linear gives better definition at the upper end, and ratio gives better definition at the lower end.</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Each scale is clear at one end and poor at the other.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scale to use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10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Use linear when the price range under observation is relatively small.</a:t>
            </a:r>
          </a:p>
          <a:p>
            <a:pPr algn="l">
              <a:lnSpc>
                <a:spcPct val="118000"/>
              </a:lnSpc>
              <a:spcBef>
                <a:spcPts val="0"/>
              </a:spcBef>
              <a:spcAft>
                <a:spcPts val="1300"/>
              </a:spcAft>
            </a:pPr>
            <a:r>
              <a:rPr sz="2100" b="0" i="0">
                <a:solidFill>
                  <a:srgbClr val="1A1A1A"/>
                </a:solidFill>
                <a:latin typeface="Arial"/>
              </a:rPr>
              <a:t>For stock price ranges exceeding 100 dollars ratio may be more appropriate, and it is best for very long term equity charts.</a:t>
            </a:r>
          </a:p>
          <a:p>
            <a:pPr algn="l">
              <a:lnSpc>
                <a:spcPct val="118000"/>
              </a:lnSpc>
              <a:spcBef>
                <a:spcPts val="0"/>
              </a:spcBef>
              <a:spcAft>
                <a:spcPts val="1300"/>
              </a:spcAft>
            </a:pPr>
            <a:r>
              <a:rPr sz="2100" b="0" i="0">
                <a:solidFill>
                  <a:srgbClr val="1A1A1A"/>
                </a:solidFill>
                <a:latin typeface="Arial"/>
              </a:rPr>
              <a:t>For futures, foreign exchange and anything traded on very low margin, use linear.</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Ratio would compress those highly leveraged markets too much at higher prices.</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gives the 100 dollar threshold without saying whether it means the price or the distance from low to high.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Square root scale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third way to scale the axis, lying between linear and ratio.</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Equal price steps get shorter as price rises, but not as much shorter as they do on a ratio scale.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square root scale lies somewhere between the linear and ratio scales with respect to its scale increments, and is not commonly used on most platforms. It indicates an uptrend line penetration later than ratio scaling but earlier than linear scaling.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11 of 19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scaling changes, and what it does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12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Geometric overlays are affected: trendlines, channels and chart patterns. Change the scale and every angle changes.</a:t>
            </a:r>
          </a:p>
          <a:p>
            <a:pPr algn="l">
              <a:lnSpc>
                <a:spcPct val="118000"/>
              </a:lnSpc>
              <a:spcBef>
                <a:spcPts val="0"/>
              </a:spcBef>
              <a:spcAft>
                <a:spcPts val="1300"/>
              </a:spcAft>
            </a:pPr>
            <a:r>
              <a:rPr sz="2100" b="0" i="0">
                <a:solidFill>
                  <a:srgbClr val="1A1A1A"/>
                </a:solidFill>
                <a:latin typeface="Arial"/>
              </a:rPr>
              <a:t>Numerical overlays are not affected: moving averages and price envelopes.</a:t>
            </a:r>
          </a:p>
          <a:p>
            <a:pPr algn="l">
              <a:lnSpc>
                <a:spcPct val="118000"/>
              </a:lnSpc>
              <a:spcBef>
                <a:spcPts val="0"/>
              </a:spcBef>
              <a:spcAft>
                <a:spcPts val="1300"/>
              </a:spcAft>
            </a:pPr>
            <a:r>
              <a:rPr sz="2100" b="0" i="0">
                <a:solidFill>
                  <a:srgbClr val="1A1A1A"/>
                </a:solidFill>
                <a:latin typeface="Arial"/>
              </a:rPr>
              <a:t>Horizontal overlays are not affected: prior support and resistance, Fibonacci levels, and Gann retracements and Square of Nine projections.</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Geometry moves with the scale. Computed values and horizontal levels do not.</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only names these overlays. Each one is taught later in the book.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Trendlines break at different times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13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ratio charts, uptrend lines are penetrated sooner and downtrend lines later.</a:t>
            </a:r>
          </a:p>
          <a:p>
            <a:pPr algn="l">
              <a:lnSpc>
                <a:spcPct val="118000"/>
              </a:lnSpc>
              <a:spcBef>
                <a:spcPts val="0"/>
              </a:spcBef>
              <a:spcAft>
                <a:spcPts val="1300"/>
              </a:spcAft>
            </a:pPr>
            <a:r>
              <a:rPr sz="2100" b="0" i="0">
                <a:solidFill>
                  <a:srgbClr val="1A1A1A"/>
                </a:solidFill>
                <a:latin typeface="Arial"/>
              </a:rPr>
              <a:t>On linear charts, uptrend lines are penetrated later and downtrend lines sooner.</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Chapter 2 gave you the uptrend half. This is the whole rule.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Uptrend lines on the two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14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3.19</a:t>
            </a:r>
          </a:p>
          <a:p>
            <a:pPr algn="l">
              <a:lnSpc>
                <a:spcPct val="120000"/>
              </a:lnSpc>
              <a:spcBef>
                <a:spcPts val="0"/>
              </a:spcBef>
              <a:spcAft>
                <a:spcPts val="1800"/>
              </a:spcAft>
            </a:pPr>
            <a:r>
              <a:rPr sz="2200" b="0" i="0">
                <a:solidFill>
                  <a:srgbClr val="1A1A1A"/>
                </a:solidFill>
                <a:latin typeface="Palatino"/>
              </a:rPr>
              <a:t>The SPDR Dow Jones Industrial Average on an arithmetic and on a logarithmic scale side by side, with the uptrend line penetrated later on the arithmetic chart and sooner on the logarithmic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3.19 - Lim, The Handbook of Technical Analysis (Wiley, 2016)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Downtrend lines on the two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15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3.20</a:t>
            </a:r>
          </a:p>
          <a:p>
            <a:pPr algn="l">
              <a:lnSpc>
                <a:spcPct val="120000"/>
              </a:lnSpc>
              <a:spcBef>
                <a:spcPts val="0"/>
              </a:spcBef>
              <a:spcAft>
                <a:spcPts val="1800"/>
              </a:spcAft>
            </a:pPr>
            <a:r>
              <a:rPr sz="2200" b="0" i="0">
                <a:solidFill>
                  <a:srgbClr val="1A1A1A"/>
                </a:solidFill>
                <a:latin typeface="Palatino"/>
              </a:rPr>
              <a:t>The U.S. Natural Gas Fund on an arithmetic and on a logarithmic scale side by side, with the downtrend line penetrated sooner on the arithmetic chart and later on the logarithmic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3.20 - Lim, The Handbook of Technical Analysis (Wiley, 2016)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prices can look bullish or bearish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16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Rising, ratio chart: decelerating, concave, a rounding top. Bearish.</a:t>
            </a:r>
          </a:p>
          <a:p>
            <a:pPr algn="l">
              <a:lnSpc>
                <a:spcPct val="118000"/>
              </a:lnSpc>
              <a:spcBef>
                <a:spcPts val="0"/>
              </a:spcBef>
              <a:spcAft>
                <a:spcPts val="1300"/>
              </a:spcAft>
            </a:pPr>
            <a:r>
              <a:rPr sz="2100" b="0" i="0">
                <a:solidFill>
                  <a:srgbClr val="1A1A1A"/>
                </a:solidFill>
                <a:latin typeface="Arial"/>
              </a:rPr>
              <a:t>Falling, ratio chart: accelerating, convex, a parabolic decline. Bearish.</a:t>
            </a:r>
          </a:p>
          <a:p>
            <a:pPr algn="l">
              <a:lnSpc>
                <a:spcPct val="118000"/>
              </a:lnSpc>
              <a:spcBef>
                <a:spcPts val="0"/>
              </a:spcBef>
              <a:spcAft>
                <a:spcPts val="1300"/>
              </a:spcAft>
            </a:pPr>
            <a:r>
              <a:rPr sz="2100" b="0" i="0">
                <a:solidFill>
                  <a:srgbClr val="1A1A1A"/>
                </a:solidFill>
                <a:latin typeface="Arial"/>
              </a:rPr>
              <a:t>Rising, linear chart: accelerating or even, convex, parabolic. Bullish.</a:t>
            </a:r>
          </a:p>
          <a:p>
            <a:pPr algn="l">
              <a:lnSpc>
                <a:spcPct val="118000"/>
              </a:lnSpc>
              <a:spcBef>
                <a:spcPts val="0"/>
              </a:spcBef>
              <a:spcAft>
                <a:spcPts val="1300"/>
              </a:spcAft>
            </a:pPr>
            <a:r>
              <a:rPr sz="2100" b="0" i="0">
                <a:solidFill>
                  <a:srgbClr val="1A1A1A"/>
                </a:solidFill>
                <a:latin typeface="Arial"/>
              </a:rPr>
              <a:t>Falling, linear chart: decelerating, concave, a rounding bottom. Bullish.</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Ratio makes both directions look bearish. Linear makes both look bullish.</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A123 Systems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17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3.21</a:t>
            </a:r>
          </a:p>
          <a:p>
            <a:pPr algn="l">
              <a:lnSpc>
                <a:spcPct val="120000"/>
              </a:lnSpc>
              <a:spcBef>
                <a:spcPts val="0"/>
              </a:spcBef>
              <a:spcAft>
                <a:spcPts val="1800"/>
              </a:spcAft>
            </a:pPr>
            <a:r>
              <a:rPr sz="2200" b="0" i="0">
                <a:solidFill>
                  <a:srgbClr val="1A1A1A"/>
                </a:solidFill>
                <a:latin typeface="Palatino"/>
              </a:rPr>
              <a:t>The same decline in A123 Systems Inc. on a semilog scale, where it takes a convex, parabolic and bearish appearance, and on a linear scale, where it takes a concave and more bullish appearance.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3.21 - Lim, The Handbook of Technical Analysis (Wiley, 2016)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Apple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3.22</a:t>
            </a:r>
          </a:p>
          <a:p>
            <a:pPr algn="l">
              <a:lnSpc>
                <a:spcPct val="120000"/>
              </a:lnSpc>
              <a:spcBef>
                <a:spcPts val="0"/>
              </a:spcBef>
              <a:spcAft>
                <a:spcPts val="1800"/>
              </a:spcAft>
            </a:pPr>
            <a:r>
              <a:rPr sz="2200" b="0" i="0">
                <a:solidFill>
                  <a:srgbClr val="1A1A1A"/>
                </a:solidFill>
                <a:latin typeface="Palatino"/>
              </a:rPr>
              <a:t>The same advance in Apple Inc. on a ratio chart, where it appears to flatten out with a bearish appearance, and on a linear chart, where it does not flatten and appears bullish.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3.22 - Lim, The Handbook of Technical Analysis (Wiley, 2016)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Channels drawn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19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3.23</a:t>
            </a:r>
          </a:p>
          <a:p>
            <a:pPr algn="l">
              <a:lnSpc>
                <a:spcPct val="120000"/>
              </a:lnSpc>
              <a:spcBef>
                <a:spcPts val="0"/>
              </a:spcBef>
              <a:spcAft>
                <a:spcPts val="1800"/>
              </a:spcAft>
            </a:pPr>
            <a:r>
              <a:rPr sz="2200" b="0" i="0">
                <a:solidFill>
                  <a:srgbClr val="1A1A1A"/>
                </a:solidFill>
                <a:latin typeface="Palatino"/>
              </a:rPr>
              <a:t>Energy Services of America Corp. on semilog and linear charts: channels drawn from the same inflection points land in different places, while the moving average reads the same on both.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3.23 - Lim, The Handbook of Technical Analysis (Wiley, 2016)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Linear, ratio and square root scaling</a:t>
            </a:r>
          </a:p>
          <a:p>
            <a:pPr algn="l" marL="237744" indent="-237744">
              <a:lnSpc>
                <a:spcPct val="112000"/>
              </a:lnSpc>
              <a:spcBef>
                <a:spcPts val="0"/>
              </a:spcBef>
              <a:spcAft>
                <a:spcPts val="1200"/>
              </a:spcAft>
            </a:pPr>
            <a:r>
              <a:rPr sz="1800" b="0" i="0">
                <a:solidFill>
                  <a:srgbClr val="1A1A1A"/>
                </a:solidFill>
                <a:latin typeface="Arial"/>
              </a:rPr>
              <a:t>▪  What each scale preserves, and where each is clearer</a:t>
            </a:r>
          </a:p>
          <a:p>
            <a:pPr algn="l" marL="237744" indent="-237744">
              <a:lnSpc>
                <a:spcPct val="112000"/>
              </a:lnSpc>
              <a:spcBef>
                <a:spcPts val="0"/>
              </a:spcBef>
              <a:spcAft>
                <a:spcPts val="1200"/>
              </a:spcAft>
            </a:pPr>
            <a:r>
              <a:rPr sz="1800" b="0" i="0">
                <a:solidFill>
                  <a:srgbClr val="1A1A1A"/>
                </a:solidFill>
                <a:latin typeface="Arial"/>
              </a:rPr>
              <a:t>▪  Which scale for which market</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Geometric overlays move with the scale; numerical and horizontal ones do not</a:t>
            </a:r>
          </a:p>
          <a:p>
            <a:pPr algn="l" marL="237744" indent="-237744">
              <a:lnSpc>
                <a:spcPct val="112000"/>
              </a:lnSpc>
              <a:spcBef>
                <a:spcPts val="0"/>
              </a:spcBef>
              <a:spcAft>
                <a:spcPts val="1200"/>
              </a:spcAft>
            </a:pPr>
            <a:r>
              <a:rPr sz="1800" b="0" i="0">
                <a:solidFill>
                  <a:srgbClr val="1A1A1A"/>
                </a:solidFill>
                <a:latin typeface="Arial"/>
              </a:rPr>
              <a:t>▪  Trendline penetration on each scale</a:t>
            </a:r>
          </a:p>
          <a:p>
            <a:pPr algn="l" marL="237744" indent="-237744">
              <a:lnSpc>
                <a:spcPct val="112000"/>
              </a:lnSpc>
              <a:spcBef>
                <a:spcPts val="0"/>
              </a:spcBef>
              <a:spcAft>
                <a:spcPts val="1200"/>
              </a:spcAft>
            </a:pPr>
            <a:r>
              <a:rPr sz="1800" b="0" i="0">
                <a:solidFill>
                  <a:srgbClr val="1A1A1A"/>
                </a:solidFill>
                <a:latin typeface="Arial"/>
              </a:rPr>
              <a:t>▪  Four appearances of the same prices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recap</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Bid-Ask Spread</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most charts are drawn on the bid, and what that does to a buyer.</a:t>
            </a:r>
          </a:p>
          <a:p>
            <a:pPr algn="l">
              <a:lnSpc>
                <a:spcPct val="115000"/>
              </a:lnSpc>
              <a:spcBef>
                <a:spcPts val="0"/>
              </a:spcBef>
              <a:spcAft>
                <a:spcPts val="1000"/>
              </a:spcAft>
            </a:pPr>
            <a:r>
              <a:rPr sz="1900" b="0" i="0">
                <a:solidFill>
                  <a:srgbClr val="FFFFFF"/>
                </a:solidFill>
                <a:latin typeface="Arial"/>
              </a:rPr>
              <a:t>Expensive longs, early longs and late longs.</a:t>
            </a:r>
          </a:p>
          <a:p>
            <a:pPr algn="l">
              <a:lnSpc>
                <a:spcPct val="115000"/>
              </a:lnSpc>
              <a:spcBef>
                <a:spcPts val="0"/>
              </a:spcBef>
              <a:spcAft>
                <a:spcPts val="1000"/>
              </a:spcAft>
            </a:pPr>
            <a:r>
              <a:rPr sz="1900" b="0" i="0">
                <a:solidFill>
                  <a:srgbClr val="FFFFFF"/>
                </a:solidFill>
                <a:latin typeface="Arial"/>
              </a:rPr>
              <a:t>How the spread bends the reward to risk ratio, and how to shrink its cost.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Bid-ask spread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gap between the price you can sell at, the bid, and the higher price you must pay to buy, the ask.</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Bid 10.00 pesos, ask 10.20 pesos. The spread is 20 centavos, and every trade that buys and then sells pays it.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bid-ask spread is the price difference between the bid and the ask price. A buy must accept the ask price and a sell is made at the bid. Since a trade consists of a buy and a sell, the bid-ask spread affects all trades.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 of 14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Charts are usually drawn on the bid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Charts are typically drawn on bid prices, though many platforms can also draw the ask or the mid price.</a:t>
            </a:r>
          </a:p>
          <a:p>
            <a:pPr algn="l">
              <a:lnSpc>
                <a:spcPct val="118000"/>
              </a:lnSpc>
              <a:spcBef>
                <a:spcPts val="0"/>
              </a:spcBef>
              <a:spcAft>
                <a:spcPts val="1300"/>
              </a:spcAft>
            </a:pPr>
            <a:r>
              <a:rPr sz="2100" b="0" i="0">
                <a:solidFill>
                  <a:srgbClr val="1A1A1A"/>
                </a:solidFill>
                <a:latin typeface="Arial"/>
              </a:rPr>
              <a:t>On a bid-based chart, performance is adversely affected when initiating long entries and executing long exits.</a:t>
            </a:r>
          </a:p>
          <a:p>
            <a:pPr algn="l">
              <a:lnSpc>
                <a:spcPct val="118000"/>
              </a:lnSpc>
              <a:spcBef>
                <a:spcPts val="0"/>
              </a:spcBef>
              <a:spcAft>
                <a:spcPts val="1300"/>
              </a:spcAft>
            </a:pPr>
            <a:r>
              <a:rPr sz="2100" b="0" i="0">
                <a:solidFill>
                  <a:srgbClr val="1A1A1A"/>
                </a:solidFill>
                <a:latin typeface="Arial"/>
              </a:rPr>
              <a:t>The book says it does not specifically affect short entries or short exits.</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Selling happens at the bid, which is the price the chart shows. Buying does not.</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defines shorting here as selling to open or close a position. Read long the same way, as any buy, or its rule contradicts its own example.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Shorting resistance at the bid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3.24</a:t>
            </a:r>
          </a:p>
          <a:p>
            <a:pPr algn="l">
              <a:lnSpc>
                <a:spcPct val="120000"/>
              </a:lnSpc>
              <a:spcBef>
                <a:spcPts val="0"/>
              </a:spcBef>
              <a:spcAft>
                <a:spcPts val="1800"/>
              </a:spcAft>
            </a:pPr>
            <a:r>
              <a:rPr sz="2200" b="0" i="0">
                <a:solidFill>
                  <a:srgbClr val="1A1A1A"/>
                </a:solidFill>
                <a:latin typeface="Palatino"/>
              </a:rPr>
              <a:t>A price rising to a 10.00 dollar resistance level on a bid-based chart, the ask 20 cents above at 10.20, and the short entered at the bid at exactly the level intended.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3.24 - Lim, The Handbook of Technical Analysis (Wiley, 2016)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Expensive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buy at exactly the right moment on the chart, and still pay more than the chart showed.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breakout level is 10.00 and you plan to buy at 10.05. Price touches 10.05 on the bid chart, you buy at market, and you are filled at the ask, 10.25.</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expensive longs: a long initiated with a market order at precisely the right time on a bid-priced chart is nevertheless bought at a higher price than intended, because a buy must accept the ask price.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4 of 14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at the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5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3.25</a:t>
            </a:r>
          </a:p>
          <a:p>
            <a:pPr algn="l">
              <a:lnSpc>
                <a:spcPct val="120000"/>
              </a:lnSpc>
              <a:spcBef>
                <a:spcPts val="0"/>
              </a:spcBef>
              <a:spcAft>
                <a:spcPts val="1800"/>
              </a:spcAft>
            </a:pPr>
            <a:r>
              <a:rPr sz="2200" b="0" i="0">
                <a:solidFill>
                  <a:srgbClr val="1A1A1A"/>
                </a:solidFill>
                <a:latin typeface="Palatino"/>
              </a:rPr>
              <a:t>A price breaking up through a 10.00 dollar resistance level, with the long entered as price reaches 10.05 on the bid chart and filled at the ask of 10.25, twenty cents above.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3.25 - Lim, The Handbook of Technical Analysis (Wiley, 2016)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Early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use a pending buy order so the price is exact, and it fills before the breakout has really happened on the chart.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buy stop at 10.05 fills at 10.05, which is the ask. At that moment the bid is 9.85, still below the 10.00 breakout level.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early longs: a buy stop entry order is filled at the intended price, the ask, while the bid is still below the breakout level, so the trader has bought into the position before the breakout on the bid-priced chart.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6 of 14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Late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try to buy at support with a pending order, and it fills only after the bid has already broken below support.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Support is at 10.00. A pending order to buy at 10.00 fills at the ask of 10.00, but the bid is then 9.80: support had already been breached.</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late longs: a pending order to buy at a support level is filled at the intended price, the ask, only when the bid is already below the support level on the bid-priced chart.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7 of 14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ways to buy support, and both cost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8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Buy at market as price tests support at 10.00, and you are filled at the ask, 10.20: expensive longs again.</a:t>
            </a:r>
          </a:p>
          <a:p>
            <a:pPr algn="l">
              <a:lnSpc>
                <a:spcPct val="118000"/>
              </a:lnSpc>
              <a:spcBef>
                <a:spcPts val="0"/>
              </a:spcBef>
              <a:spcAft>
                <a:spcPts val="1300"/>
              </a:spcAft>
            </a:pPr>
            <a:r>
              <a:rPr sz="2100" b="0" i="0">
                <a:solidFill>
                  <a:srgbClr val="1A1A1A"/>
                </a:solidFill>
                <a:latin typeface="Arial"/>
              </a:rPr>
              <a:t>Use a pending order instead, and you get 10.00, but only after support has broken on the bid chart: late longs.</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At a breakout the pending order is early. At support it is late.</a:t>
            </a:r>
          </a:p>
        </p:txBody>
      </p:sp>
      <p:sp>
        <p:nvSpPr>
          <p:cNvPr id="10" name="TextBox 9"/>
          <p:cNvSpPr txBox="1"/>
          <p:nvPr/>
        </p:nvSpPr>
        <p:spPr>
          <a:xfrm>
            <a:off x="777240" y="460679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Figure 3.26 labels its level a resistance level. Its own title and the text call it support. Read it as support.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at support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9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3.26</a:t>
            </a:r>
          </a:p>
          <a:p>
            <a:pPr algn="l">
              <a:lnSpc>
                <a:spcPct val="120000"/>
              </a:lnSpc>
              <a:spcBef>
                <a:spcPts val="0"/>
              </a:spcBef>
              <a:spcAft>
                <a:spcPts val="1800"/>
              </a:spcAft>
            </a:pPr>
            <a:r>
              <a:rPr sz="2200" b="0" i="0">
                <a:solidFill>
                  <a:srgbClr val="1A1A1A"/>
                </a:solidFill>
                <a:latin typeface="Palatino"/>
              </a:rPr>
              <a:t>Price falling back to a 10.00 dollar level, ask 10.00 and bid 9.80, the long filled at the ask by a pending order once the bid is below the level. The figure labels the level resistance.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3.26 - Lim, The Handbook of Technical Analysis (Wiley, 2016)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spread and the reward to risk ratio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10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spread increases the probability of exiting at the stop loss: loss promoting.</a:t>
            </a:r>
          </a:p>
          <a:p>
            <a:pPr algn="l">
              <a:lnSpc>
                <a:spcPct val="118000"/>
              </a:lnSpc>
              <a:spcBef>
                <a:spcPts val="0"/>
              </a:spcBef>
              <a:spcAft>
                <a:spcPts val="1300"/>
              </a:spcAft>
            </a:pPr>
            <a:r>
              <a:rPr sz="2100" b="0" i="0">
                <a:solidFill>
                  <a:srgbClr val="1A1A1A"/>
                </a:solidFill>
                <a:latin typeface="Arial"/>
              </a:rPr>
              <a:t>It reduces the probability of exiting at the profit target: profit restricting.</a:t>
            </a:r>
          </a:p>
          <a:p>
            <a:pPr algn="l">
              <a:lnSpc>
                <a:spcPct val="118000"/>
              </a:lnSpc>
              <a:spcBef>
                <a:spcPts val="0"/>
              </a:spcBef>
              <a:spcAft>
                <a:spcPts val="1300"/>
              </a:spcAft>
            </a:pPr>
            <a:r>
              <a:rPr sz="2100" b="0" i="0">
                <a:solidFill>
                  <a:srgbClr val="1A1A1A"/>
                </a:solidFill>
                <a:latin typeface="Arial"/>
              </a:rPr>
              <a:t>With a market order it is deducted from the profit and added to the loss, and shows in the account.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Bid 1.00, spread 0.20, bought at 1.20. Target 1.50 and stop 0.50 give 0.30 against 0.70: an R/r of 0.43, not 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 order long entries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11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3.27</a:t>
            </a:r>
          </a:p>
          <a:p>
            <a:pPr algn="l">
              <a:lnSpc>
                <a:spcPct val="120000"/>
              </a:lnSpc>
              <a:spcBef>
                <a:spcPts val="0"/>
              </a:spcBef>
              <a:spcAft>
                <a:spcPts val="1800"/>
              </a:spcAft>
            </a:pPr>
            <a:r>
              <a:rPr sz="2200" b="0" i="0">
                <a:solidFill>
                  <a:srgbClr val="1A1A1A"/>
                </a:solidFill>
                <a:latin typeface="Palatino"/>
              </a:rPr>
              <a:t>A long bought when the bid was 1.00 dollar and filled at the ask of 1.20, stop 0.50 and target 1.50: expected R/r of 0.50/0.50 = 1 against a spread adjusted 0.30/0.70 = 0.43.</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3.27 - Lim, The Handbook of Technical Analysis (Wiley, 2016)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With a pending order the cost is hidden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spread is not deducted from the profit or added to the loss, and does not show in the account.</a:t>
            </a:r>
          </a:p>
          <a:p>
            <a:pPr algn="l">
              <a:lnSpc>
                <a:spcPct val="118000"/>
              </a:lnSpc>
              <a:spcBef>
                <a:spcPts val="0"/>
              </a:spcBef>
              <a:spcAft>
                <a:spcPts val="1300"/>
              </a:spcAft>
            </a:pPr>
            <a:r>
              <a:rPr sz="2100" b="0" i="0">
                <a:solidFill>
                  <a:srgbClr val="1A1A1A"/>
                </a:solidFill>
                <a:latin typeface="Arial"/>
              </a:rPr>
              <a:t>Instead price has to travel further to reach the profit, and less far to reach the stop.</a:t>
            </a:r>
          </a:p>
          <a:p>
            <a:pPr algn="l">
              <a:lnSpc>
                <a:spcPct val="118000"/>
              </a:lnSpc>
              <a:spcBef>
                <a:spcPts val="0"/>
              </a:spcBef>
              <a:spcAft>
                <a:spcPts val="1300"/>
              </a:spcAft>
            </a:pPr>
            <a:r>
              <a:rPr sz="2100" b="0" i="0">
                <a:solidFill>
                  <a:srgbClr val="1A1A1A"/>
                </a:solidFill>
                <a:latin typeface="Arial"/>
              </a:rPr>
              <a:t>The expected R/r ratio is unchanged, but the probability of a winning trade falls.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ratio on paper. Worse odds in the market.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Pending order long entries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3.28</a:t>
            </a:r>
          </a:p>
          <a:p>
            <a:pPr algn="l">
              <a:lnSpc>
                <a:spcPct val="120000"/>
              </a:lnSpc>
              <a:spcBef>
                <a:spcPts val="0"/>
              </a:spcBef>
              <a:spcAft>
                <a:spcPts val="1800"/>
              </a:spcAft>
            </a:pPr>
            <a:r>
              <a:rPr sz="2200" b="0" i="0">
                <a:solidFill>
                  <a:srgbClr val="1A1A1A"/>
                </a:solidFill>
                <a:latin typeface="Palatino"/>
              </a:rPr>
              <a:t>A long bought at the ask of 1.00 dollar by pending order while the bid is 0.80, stop 0.50 and target 1.50: R/r stays 1, but price must rise 0.70 to win and fall only 0.30 to 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3.28 - Lim, The Handbook of Technical Analysis (Wiley, 2016)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 shrink the spread's cost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Increase the size of the target and the stop relative to the spread.</a:t>
            </a:r>
          </a:p>
          <a:p>
            <a:pPr algn="l">
              <a:lnSpc>
                <a:spcPct val="118000"/>
              </a:lnSpc>
              <a:spcBef>
                <a:spcPts val="0"/>
              </a:spcBef>
              <a:spcAft>
                <a:spcPts val="1300"/>
              </a:spcAft>
            </a:pPr>
            <a:r>
              <a:rPr sz="2100" b="0" i="0">
                <a:solidFill>
                  <a:srgbClr val="1A1A1A"/>
                </a:solidFill>
                <a:latin typeface="Arial"/>
              </a:rPr>
              <a:t>The obvious way is to trade a higher timeframe, or a larger wave cycle.</a:t>
            </a:r>
          </a:p>
          <a:p>
            <a:pPr algn="l">
              <a:lnSpc>
                <a:spcPct val="118000"/>
              </a:lnSpc>
              <a:spcBef>
                <a:spcPts val="0"/>
              </a:spcBef>
              <a:spcAft>
                <a:spcPts val="1300"/>
              </a:spcAft>
            </a:pPr>
            <a:r>
              <a:rPr sz="2100" b="0" i="0">
                <a:solidFill>
                  <a:srgbClr val="1A1A1A"/>
                </a:solidFill>
                <a:latin typeface="Arial"/>
              </a:rPr>
              <a:t>Scalpers need to buy at the bid and sell at the ask, which a standard level one (L1) platform will not allow.</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spread hurts the short term trader most, and the scalper above all.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bid-ask spread, and the bid-based chart</a:t>
            </a:r>
          </a:p>
          <a:p>
            <a:pPr algn="l" marL="237744" indent="-237744">
              <a:lnSpc>
                <a:spcPct val="112000"/>
              </a:lnSpc>
              <a:spcBef>
                <a:spcPts val="0"/>
              </a:spcBef>
              <a:spcAft>
                <a:spcPts val="1200"/>
              </a:spcAft>
            </a:pPr>
            <a:r>
              <a:rPr sz="1800" b="0" i="0">
                <a:solidFill>
                  <a:srgbClr val="1A1A1A"/>
                </a:solidFill>
                <a:latin typeface="Arial"/>
              </a:rPr>
              <a:t>▪  Expensive longs, early longs and late longs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Loss promoting and profit restricting</a:t>
            </a:r>
          </a:p>
          <a:p>
            <a:pPr algn="l" marL="237744" indent="-237744">
              <a:lnSpc>
                <a:spcPct val="112000"/>
              </a:lnSpc>
              <a:spcBef>
                <a:spcPts val="0"/>
              </a:spcBef>
              <a:spcAft>
                <a:spcPts val="1200"/>
              </a:spcAft>
            </a:pPr>
            <a:r>
              <a:rPr sz="1800" b="0" i="0">
                <a:solidFill>
                  <a:srgbClr val="1A1A1A"/>
                </a:solidFill>
                <a:latin typeface="Arial"/>
              </a:rPr>
              <a:t>▪  The spread adjusted R/r ratio, and the hidden cost of a pending order</a:t>
            </a:r>
          </a:p>
          <a:p>
            <a:pPr algn="l" marL="237744" indent="-237744">
              <a:lnSpc>
                <a:spcPct val="112000"/>
              </a:lnSpc>
              <a:spcBef>
                <a:spcPts val="0"/>
              </a:spcBef>
              <a:spcAft>
                <a:spcPts val="1200"/>
              </a:spcAft>
            </a:pPr>
            <a:r>
              <a:rPr sz="1800" b="0" i="0">
                <a:solidFill>
                  <a:srgbClr val="1A1A1A"/>
                </a:solidFill>
                <a:latin typeface="Arial"/>
              </a:rPr>
              <a:t>▪  Why the spread hurts the scalper most</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recap</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Futures Contracts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futures exist, why they expire, and which contract to trade.</a:t>
            </a:r>
          </a:p>
          <a:p>
            <a:pPr algn="l">
              <a:lnSpc>
                <a:spcPct val="115000"/>
              </a:lnSpc>
              <a:spcBef>
                <a:spcPts val="0"/>
              </a:spcBef>
              <a:spcAft>
                <a:spcPts val="1000"/>
              </a:spcAft>
            </a:pPr>
            <a:r>
              <a:rPr sz="1900" b="0" i="0">
                <a:solidFill>
                  <a:srgbClr val="FFFFFF"/>
                </a:solidFill>
                <a:latin typeface="Arial"/>
              </a:rPr>
              <a:t>Rolling over at a premium or a discount, contango and backwardation.</a:t>
            </a:r>
          </a:p>
          <a:p>
            <a:pPr algn="l">
              <a:lnSpc>
                <a:spcPct val="115000"/>
              </a:lnSpc>
              <a:spcBef>
                <a:spcPts val="0"/>
              </a:spcBef>
              <a:spcAft>
                <a:spcPts val="1000"/>
              </a:spcAft>
            </a:pPr>
            <a:r>
              <a:rPr sz="1900" b="0" i="0">
                <a:solidFill>
                  <a:srgbClr val="FFFFFF"/>
                </a:solidFill>
                <a:latin typeface="Arial"/>
              </a:rPr>
              <a:t>Three ways to chart a string of contracts, and what each one costs you.</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futures were created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Futures were originally created to let commodity producers hedge against falling prices.</a:t>
            </a:r>
          </a:p>
          <a:p>
            <a:pPr algn="l">
              <a:lnSpc>
                <a:spcPct val="118000"/>
              </a:lnSpc>
              <a:spcBef>
                <a:spcPts val="0"/>
              </a:spcBef>
              <a:spcAft>
                <a:spcPts val="1300"/>
              </a:spcAft>
            </a:pPr>
            <a:r>
              <a:rPr sz="2100" b="0" i="0">
                <a:solidFill>
                  <a:srgbClr val="1A1A1A"/>
                </a:solidFill>
                <a:latin typeface="Arial"/>
              </a:rPr>
              <a:t>By shorting an equal amount in the futures market, a producer locks in costs and profit before harvest.</a:t>
            </a:r>
          </a:p>
          <a:p>
            <a:pPr algn="l">
              <a:lnSpc>
                <a:spcPct val="118000"/>
              </a:lnSpc>
              <a:spcBef>
                <a:spcPts val="0"/>
              </a:spcBef>
              <a:spcAft>
                <a:spcPts val="1300"/>
              </a:spcAft>
            </a:pPr>
            <a:r>
              <a:rPr sz="2100" b="0" i="0">
                <a:solidFill>
                  <a:srgbClr val="1A1A1A"/>
                </a:solidFill>
                <a:latin typeface="Arial"/>
              </a:rPr>
              <a:t>So the book calls futures essentially a bearish mechanism.</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Unlike shares, every futures contract eventually expires.</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describes what futures are for and how they behave. It never defines a futures contract itself.</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Rollover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Swapping an expiring contract for a later one, so you can keep holding the position.</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hold the June contract. Before June expires you sell it and buy September.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Unlike the equity markets, all futures contracts eventually expire, requiring a trader who intends to hold a position to roll over into the next available contract. Expiration months are usually quarterly, in March, June, September and December, often extending beyond a year.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 of 31</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a contract is liquid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futures contract is normally fairly illiquid until the last three to six months before expiry.</a:t>
            </a:r>
          </a:p>
          <a:p>
            <a:pPr algn="l">
              <a:lnSpc>
                <a:spcPct val="118000"/>
              </a:lnSpc>
              <a:spcBef>
                <a:spcPts val="0"/>
              </a:spcBef>
              <a:spcAft>
                <a:spcPts val="1300"/>
              </a:spcAft>
            </a:pPr>
            <a:r>
              <a:rPr sz="2100" b="0" i="0">
                <a:solidFill>
                  <a:srgbClr val="1A1A1A"/>
                </a:solidFill>
                <a:latin typeface="Arial"/>
              </a:rPr>
              <a:t>Volume and open interest are greatest about two to three months before expiry.</a:t>
            </a:r>
          </a:p>
          <a:p>
            <a:pPr algn="l">
              <a:lnSpc>
                <a:spcPct val="118000"/>
              </a:lnSpc>
              <a:spcBef>
                <a:spcPts val="0"/>
              </a:spcBef>
              <a:spcAft>
                <a:spcPts val="1300"/>
              </a:spcAft>
            </a:pPr>
            <a:r>
              <a:rPr sz="2100" b="0" i="0">
                <a:solidFill>
                  <a:srgbClr val="1A1A1A"/>
                </a:solidFill>
                <a:latin typeface="Arial"/>
              </a:rPr>
              <a:t>As expiry approaches, volume subsides as traders roll into the next contract.</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Trade the contract with the largest volume and open interest. It may not be the nearby one.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two silver contracts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4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3.29</a:t>
            </a:r>
          </a:p>
          <a:p>
            <a:pPr algn="l">
              <a:lnSpc>
                <a:spcPct val="120000"/>
              </a:lnSpc>
              <a:spcBef>
                <a:spcPts val="0"/>
              </a:spcBef>
              <a:spcAft>
                <a:spcPts val="1800"/>
              </a:spcAft>
            </a:pPr>
            <a:r>
              <a:rPr sz="2200" b="0" i="0">
                <a:solidFill>
                  <a:srgbClr val="1A1A1A"/>
                </a:solidFill>
                <a:latin typeface="Palatino"/>
              </a:rPr>
              <a:t>Daily charts of the July and September 2011 silver futures side by side: volume contracting on the expiring July contract while it expands on the September contract, which has become the nearby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3.29 - Lim, The Handbook of Technical Analysis (Wiley, 2016)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 volume on a continuous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5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Falling volume toward expiry can lead an analyst to believe a trend is weak.</a:t>
            </a:r>
          </a:p>
          <a:p>
            <a:pPr algn="l">
              <a:lnSpc>
                <a:spcPct val="118000"/>
              </a:lnSpc>
              <a:spcBef>
                <a:spcPts val="0"/>
              </a:spcBef>
              <a:spcAft>
                <a:spcPts val="1300"/>
              </a:spcAft>
            </a:pPr>
            <a:r>
              <a:rPr sz="2100" b="0" i="0">
                <a:solidFill>
                  <a:srgbClr val="1A1A1A"/>
                </a:solidFill>
                <a:latin typeface="Arial"/>
              </a:rPr>
              <a:t>A quick look at the next contract will normally show volume rising over the same period.</a:t>
            </a:r>
          </a:p>
          <a:p>
            <a:pPr algn="l">
              <a:lnSpc>
                <a:spcPct val="118000"/>
              </a:lnSpc>
              <a:spcBef>
                <a:spcPts val="0"/>
              </a:spcBef>
              <a:spcAft>
                <a:spcPts val="1300"/>
              </a:spcAft>
            </a:pPr>
            <a:r>
              <a:rPr sz="2100" b="0" i="0">
                <a:solidFill>
                  <a:srgbClr val="1A1A1A"/>
                </a:solidFill>
                <a:latin typeface="Arial"/>
              </a:rPr>
              <a:t>To gauge true volume and open interest across rollover points, use a continuous chart.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Falling volume on an expiring contract is traders leaving, not the trend weakening.</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the continuous silver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6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3.30</a:t>
            </a:r>
          </a:p>
          <a:p>
            <a:pPr algn="l">
              <a:lnSpc>
                <a:spcPct val="120000"/>
              </a:lnSpc>
              <a:spcBef>
                <a:spcPts val="0"/>
              </a:spcBef>
              <a:spcAft>
                <a:spcPts val="1800"/>
              </a:spcAft>
            </a:pPr>
            <a:r>
              <a:rPr sz="2200" b="0" i="0">
                <a:solidFill>
                  <a:srgbClr val="1A1A1A"/>
                </a:solidFill>
                <a:latin typeface="Palatino"/>
              </a:rPr>
              <a:t>The continuous daily chart of silver with its volume, giving one balanced view of volume action across multiple contracts and marking a volume blow off.</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3.30 - Lim, The Handbook of Technical Analysis (Wiley, 2016)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Front month contract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contract that expires soonest. Also called the nearby or nearest contract.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It is March and the March contract has just expired. June is now the front month.</a:t>
            </a:r>
          </a:p>
        </p:txBody>
      </p:sp>
      <p:sp>
        <p:nvSpPr>
          <p:cNvPr id="11" name="Rectangle 10"/>
          <p:cNvSpPr/>
          <p:nvPr/>
        </p:nvSpPr>
        <p:spPr>
          <a:xfrm>
            <a:off x="777240" y="402056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contract with the closest expiry is the nearby, nearest or front month contract. It has the expiration date closest to the current date, the narrowest bid-ask spread, the narrowest spread with respect to the spot price, and it is the most liquid contract.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7 of 31</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Next month, back months, and the month codes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8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next contract is the second one out, with the expiry closest to the nearby contract.</a:t>
            </a:r>
          </a:p>
          <a:p>
            <a:pPr algn="l">
              <a:lnSpc>
                <a:spcPct val="118000"/>
              </a:lnSpc>
              <a:spcBef>
                <a:spcPts val="0"/>
              </a:spcBef>
              <a:spcAft>
                <a:spcPts val="1300"/>
              </a:spcAft>
            </a:pPr>
            <a:r>
              <a:rPr sz="2100" b="0" i="0">
                <a:solidFill>
                  <a:srgbClr val="1A1A1A"/>
                </a:solidFill>
                <a:latin typeface="Arial"/>
              </a:rPr>
              <a:t>Contracts further out than that are back month contracts.</a:t>
            </a:r>
          </a:p>
          <a:p>
            <a:pPr algn="l">
              <a:lnSpc>
                <a:spcPct val="118000"/>
              </a:lnSpc>
              <a:spcBef>
                <a:spcPts val="0"/>
              </a:spcBef>
              <a:spcAft>
                <a:spcPts val="1300"/>
              </a:spcAft>
            </a:pPr>
            <a:r>
              <a:rPr sz="2100" b="0" i="0">
                <a:solidFill>
                  <a:srgbClr val="1A1A1A"/>
                </a:solidFill>
                <a:latin typeface="Arial"/>
              </a:rPr>
              <a:t>Codes: F Jan, G Feb, H Mar, J Apr, K May, M Jun, N Jul, Q Aug, U Sep, V Oct, X Nov, Z Dec.</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quarterly four are H, M, U and Z.</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trader may also hold one contract closer and one further out at once. The book calls that a calendar spread.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Front, next and back months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3.31</a:t>
            </a:r>
          </a:p>
          <a:p>
            <a:pPr algn="l">
              <a:lnSpc>
                <a:spcPct val="120000"/>
              </a:lnSpc>
              <a:spcBef>
                <a:spcPts val="0"/>
              </a:spcBef>
              <a:spcAft>
                <a:spcPts val="1800"/>
              </a:spcAft>
            </a:pPr>
            <a:r>
              <a:rPr sz="2200" b="0" i="0">
                <a:solidFill>
                  <a:srgbClr val="1A1A1A"/>
                </a:solidFill>
                <a:latin typeface="Palatino"/>
              </a:rPr>
              <a:t>Quarterly contracts over twelve months, March to March, showing for each starting point which contract is the nearby or front month, which is the next month and which is the back month.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3.31 - Lim, The Handbook of Technical Analysis (Wiley, 2016)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Negative roll yield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loss from rolling into a new contract that costs more than the old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March at 11 pesos and must buy June at 12. You pay 1 peso to stay in the trade.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the new contract trades at a higher price, it is trading at a premium to the previous contract, and rolling over at a premium causes the trader to experience negative roll yields. It is possible to lose money being long in a rising or sideways market if the rollover premiums are large enough.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10 of 31</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Rolling over at a premium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11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3.32</a:t>
            </a:r>
          </a:p>
          <a:p>
            <a:pPr algn="l">
              <a:lnSpc>
                <a:spcPct val="120000"/>
              </a:lnSpc>
              <a:spcBef>
                <a:spcPts val="0"/>
              </a:spcBef>
              <a:spcAft>
                <a:spcPts val="1800"/>
              </a:spcAft>
            </a:pPr>
            <a:r>
              <a:rPr sz="2200" b="0" i="0">
                <a:solidFill>
                  <a:srgbClr val="1A1A1A"/>
                </a:solidFill>
                <a:latin typeface="Palatino"/>
              </a:rPr>
              <a:t>A long bought in March at 10 dollars and sold at 11 when March expires, then rolled into the June contract at 12, paying a 1 dollar premium: a negative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3.32 - Lim, The Handbook of Technical Analysis (Wiley, 2016)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Positive roll yield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gain from rolling into a new contract that costs less than the old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March at 12 pesos and buy June at 11. You collect 1 peso for staying in the trade.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the new contract trades at a lower price, it trades at a discount to the previous contract, and rolling over at a discount causes the trader to experience positive roll yields. It is possible to make a profit being long in a declining or sideways market if the rollover discounts are large enough.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12 of 31</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Rolling over at a discount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13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3.33</a:t>
            </a:r>
          </a:p>
          <a:p>
            <a:pPr algn="l">
              <a:lnSpc>
                <a:spcPct val="120000"/>
              </a:lnSpc>
              <a:spcBef>
                <a:spcPts val="0"/>
              </a:spcBef>
              <a:spcAft>
                <a:spcPts val="1800"/>
              </a:spcAft>
            </a:pPr>
            <a:r>
              <a:rPr sz="2200" b="0" i="0">
                <a:solidFill>
                  <a:srgbClr val="1A1A1A"/>
                </a:solidFill>
                <a:latin typeface="Palatino"/>
              </a:rPr>
              <a:t>A long bought in March at 10 dollars and sold at 12 when March expires, then rolled into the June contract at 11, collecting a 1 dollar discount: a positive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3.33 - Lim, The Handbook of Technical Analysis (Wiley, 2016)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Normal contango</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Contracts further out cost successively more than the price the market is expected to be at when they expire.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price is expected to be 100 at expiry, and the contracts further out trade at 101, 102, 103 and 104.</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further out contracts are trading at successively higher prices compared to the expected spot price at expiry, the market is in normal contango.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14 of 31</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Normal backwardation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mirror image: contracts further out cost successively less than the expected spot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price is expected to be 100 at expiry, and the contracts further out trade at 99, 98, 97 and 96.</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If further out contracts are trading at successively lower prices compared to the expected spot price at expiry, the market is in normal backwardation.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15 of 31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Contango without the word normal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16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Traders often drop the word normal and compare further out contracts with the nearby contract or the current spot price.</a:t>
            </a:r>
          </a:p>
          <a:p>
            <a:pPr algn="l">
              <a:lnSpc>
                <a:spcPct val="118000"/>
              </a:lnSpc>
              <a:spcBef>
                <a:spcPts val="0"/>
              </a:spcBef>
              <a:spcAft>
                <a:spcPts val="1300"/>
              </a:spcAft>
            </a:pPr>
            <a:r>
              <a:rPr sz="2100" b="0" i="0">
                <a:solidFill>
                  <a:srgbClr val="1A1A1A"/>
                </a:solidFill>
                <a:latin typeface="Arial"/>
              </a:rPr>
              <a:t>The book calls that an informal use of the terms, but common practice among futures traders.</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Simple contango can be read off a chart. Normal contango needs the expected spot price at expiry.</a:t>
            </a:r>
          </a:p>
        </p:txBody>
      </p:sp>
      <p:sp>
        <p:nvSpPr>
          <p:cNvPr id="10" name="TextBox 9"/>
          <p:cNvSpPr txBox="1"/>
          <p:nvPr/>
        </p:nvSpPr>
        <p:spPr>
          <a:xfrm>
            <a:off x="777240" y="492810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does not say how to estimate the expected spot price at expiry. It says only that you need some knowledge of it.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Gold in simple contango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17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3.34</a:t>
            </a:r>
          </a:p>
          <a:p>
            <a:pPr algn="l">
              <a:lnSpc>
                <a:spcPct val="120000"/>
              </a:lnSpc>
              <a:spcBef>
                <a:spcPts val="0"/>
              </a:spcBef>
              <a:spcAft>
                <a:spcPts val="1800"/>
              </a:spcAft>
            </a:pPr>
            <a:r>
              <a:rPr sz="2200" b="0" i="0">
                <a:solidFill>
                  <a:srgbClr val="1A1A1A"/>
                </a:solidFill>
                <a:latin typeface="Palatino"/>
              </a:rPr>
              <a:t>A daily chart of 2012 gold futures, with the further out contracts stacked beneath it trading at successively higher prices than the nearby December contract.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3.34 - Lim, The Handbook of Technical Analysis (Wiley, 2016)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Convergence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At expiry, the futures price and the spot price become the same price.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stays at 100. A contango contract at 104 has to fall to 100 by expiry; a backwardated one at 96 has to rise to 100.</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Futures prices always converge to the spot price at expiry. With the spot price constant, a contract in contango will eventually decline, experiencing negative yields, and a contract in backwardation will eventually rise, experiencing positive yields.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18 of 31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Futures and spot converge at expiry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3.35</a:t>
            </a:r>
          </a:p>
          <a:p>
            <a:pPr algn="l">
              <a:lnSpc>
                <a:spcPct val="120000"/>
              </a:lnSpc>
              <a:spcBef>
                <a:spcPts val="0"/>
              </a:spcBef>
              <a:spcAft>
                <a:spcPts val="1800"/>
              </a:spcAft>
            </a:pPr>
            <a:r>
              <a:rPr sz="2200" b="0" i="0">
                <a:solidFill>
                  <a:srgbClr val="1A1A1A"/>
                </a:solidFill>
                <a:latin typeface="Palatino"/>
              </a:rPr>
              <a:t>Contracts converging on a spot price assumed to stay at 100 dollars: backwardated prices of 99 to 96 rising to it with a positive yield, contango prices of 101 to 104 falling with a negative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3.35 - Lim, The Handbook of Technical Analysis (Wiley, 2016)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Rising gas, falling fund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20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Natural gas rallied strongly through 2009.</a:t>
            </a:r>
          </a:p>
          <a:p>
            <a:pPr algn="l">
              <a:lnSpc>
                <a:spcPct val="118000"/>
              </a:lnSpc>
              <a:spcBef>
                <a:spcPts val="0"/>
              </a:spcBef>
              <a:spcAft>
                <a:spcPts val="1300"/>
              </a:spcAft>
            </a:pPr>
            <a:r>
              <a:rPr sz="2100" b="0" i="0">
                <a:solidFill>
                  <a:srgbClr val="1A1A1A"/>
                </a:solidFill>
                <a:latin typeface="Arial"/>
              </a:rPr>
              <a:t>The U.S. Natural Gas Fund, which tracks gas through futures, rolled at large premiums and lost money.</a:t>
            </a:r>
          </a:p>
          <a:p>
            <a:pPr algn="l">
              <a:lnSpc>
                <a:spcPct val="118000"/>
              </a:lnSpc>
              <a:spcBef>
                <a:spcPts val="0"/>
              </a:spcBef>
              <a:spcAft>
                <a:spcPts val="1300"/>
              </a:spcAft>
            </a:pPr>
            <a:r>
              <a:rPr sz="2100" b="0" i="0">
                <a:solidFill>
                  <a:srgbClr val="1A1A1A"/>
                </a:solidFill>
                <a:latin typeface="Arial"/>
              </a:rPr>
              <a:t>Very short term traders who never roll are not affected by roll yields either way.</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Contango can take a whole rally away from a holder who has to roll.</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Natural gas against the fund that tracks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21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3.36</a:t>
            </a:r>
          </a:p>
          <a:p>
            <a:pPr algn="l">
              <a:lnSpc>
                <a:spcPct val="120000"/>
              </a:lnSpc>
              <a:spcBef>
                <a:spcPts val="0"/>
              </a:spcBef>
              <a:spcAft>
                <a:spcPts val="1800"/>
              </a:spcAft>
            </a:pPr>
            <a:r>
              <a:rPr sz="2200" b="0" i="0">
                <a:solidFill>
                  <a:srgbClr val="1A1A1A"/>
                </a:solidFill>
                <a:latin typeface="Palatino"/>
              </a:rPr>
              <a:t>The continuous daily chart of natural gas, in contango and rallying, beside the U.S. Natural Gas Fund over the same months.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3.36 - Lim, The Handbook of Technical Analysis (Wiley, 2016)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fund's underperformance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22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3.37</a:t>
            </a:r>
          </a:p>
          <a:p>
            <a:pPr algn="l">
              <a:lnSpc>
                <a:spcPct val="120000"/>
              </a:lnSpc>
              <a:spcBef>
                <a:spcPts val="0"/>
              </a:spcBef>
              <a:spcAft>
                <a:spcPts val="1800"/>
              </a:spcAft>
            </a:pPr>
            <a:r>
              <a:rPr sz="2200" b="0" i="0">
                <a:solidFill>
                  <a:srgbClr val="1A1A1A"/>
                </a:solidFill>
                <a:latin typeface="Palatino"/>
              </a:rPr>
              <a:t>A relative strength chart of the U.S. Natural Gas Fund against spot natural gas, falling steadily and labelled as the effect of negative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3.37 - Lim, The Handbook of Technical Analysis (Wiley, 2016)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Unadjusted nearest futures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Join the nearest contracts end to end and leave the jumps between them in.</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March expires at 110 and June is trading at 120. The chart simply jumps 10 at the roll.</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Connecting the nearest contracts without accounting for the spread between them. It preserves the actual sequence of nearby prices and is an accurate record of historical prices, but technical analysis cannot be applied to it meaningfully, and back and forward testing are impossible because of the gaps.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23 of 31</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unadjusted nearest futures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24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3.38</a:t>
            </a:r>
          </a:p>
          <a:p>
            <a:pPr algn="l">
              <a:lnSpc>
                <a:spcPct val="120000"/>
              </a:lnSpc>
              <a:spcBef>
                <a:spcPts val="0"/>
              </a:spcBef>
              <a:spcAft>
                <a:spcPts val="1800"/>
              </a:spcAft>
            </a:pPr>
            <a:r>
              <a:rPr sz="2200" b="0" i="0">
                <a:solidFill>
                  <a:srgbClr val="1A1A1A"/>
                </a:solidFill>
                <a:latin typeface="Palatino"/>
              </a:rPr>
              <a:t>A price series made of successive contracts joined end to end without adjustment, with a price gap distortion at every rollover.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3.38 - Lim, The Handbook of Technical Analysis (Wiley, 2016)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Back-adjusted continuous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Shift the old contract's history to meet the new contract's price.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March expires at 110 while June trades at 120. Every March price is raised by 10, so its troughs at 80 and 90 become 90 and 100.</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Back adjusting raises or lowers the previous contract price at expiry, or N days before, to match the new contract, removing the spread and creating a continuous flow of prices. It always displays the current market price and allows technical analysis and back and forward testing.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25 of 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back adjusting is done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26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3.40</a:t>
            </a:r>
          </a:p>
          <a:p>
            <a:pPr algn="l">
              <a:lnSpc>
                <a:spcPct val="120000"/>
              </a:lnSpc>
              <a:spcBef>
                <a:spcPts val="0"/>
              </a:spcBef>
              <a:spcAft>
                <a:spcPts val="1800"/>
              </a:spcAft>
            </a:pPr>
            <a:r>
              <a:rPr sz="2200" b="0" i="0">
                <a:solidFill>
                  <a:srgbClr val="1A1A1A"/>
                </a:solidFill>
                <a:latin typeface="Palatino"/>
              </a:rPr>
              <a:t>A March contract expiring at 110 dollars while June trades at 120; March prices are adjusted up by the 10 dollar spread, lifting its troughs at 80 and 90 to 90 and 100.</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3.40 - Lim, The Handbook of Technical Analysis (Wiley, 2016)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price of back adjusting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27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Past prices no longer reflect what the contracts actually traded at.</a:t>
            </a:r>
          </a:p>
          <a:p>
            <a:pPr algn="l">
              <a:lnSpc>
                <a:spcPct val="118000"/>
              </a:lnSpc>
              <a:spcBef>
                <a:spcPts val="0"/>
              </a:spcBef>
              <a:spcAft>
                <a:spcPts val="1300"/>
              </a:spcAft>
            </a:pPr>
            <a:r>
              <a:rPr sz="2100" b="0" i="0">
                <a:solidFill>
                  <a:srgbClr val="1A1A1A"/>
                </a:solidFill>
                <a:latin typeface="Arial"/>
              </a:rPr>
              <a:t>At every roll the history shifts again, so past peaks and troughs keep changing.</a:t>
            </a:r>
          </a:p>
          <a:p>
            <a:pPr algn="l">
              <a:lnSpc>
                <a:spcPct val="118000"/>
              </a:lnSpc>
              <a:spcBef>
                <a:spcPts val="0"/>
              </a:spcBef>
              <a:spcAft>
                <a:spcPts val="1300"/>
              </a:spcAft>
            </a:pPr>
            <a:r>
              <a:rPr sz="2100" b="0" i="0">
                <a:solidFill>
                  <a:srgbClr val="1A1A1A"/>
                </a:solidFill>
                <a:latin typeface="Arial"/>
              </a:rPr>
              <a:t>If newer contracts keep trading at a discount, past prices may even become negative.</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Historical prices end up adjusted to the net accumulated spread.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Back adjusting through several rolls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28 of 31</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f.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Continuous gold against the contract itself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3.39</a:t>
            </a:r>
          </a:p>
          <a:p>
            <a:pPr algn="l">
              <a:lnSpc>
                <a:spcPct val="120000"/>
              </a:lnSpc>
              <a:spcBef>
                <a:spcPts val="0"/>
              </a:spcBef>
              <a:spcAft>
                <a:spcPts val="1800"/>
              </a:spcAft>
            </a:pPr>
            <a:r>
              <a:rPr sz="2200" b="0" i="0">
                <a:solidFill>
                  <a:srgbClr val="1A1A1A"/>
                </a:solidFill>
                <a:latin typeface="Palatino"/>
              </a:rPr>
              <a:t>The continuous, spread adjusted daily chart of gold above the December 2013 gold contract over the same period, with the OHLC readings for 7 November 2011 boxed on each and differing between the two.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3.39 - Lim, The Handbook of Technical Analysis (Wiley, 2016)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Perpetual contract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It never rewrites history, and it shows an estimated price, not the real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Between two expiries, a perpetual series blends the nearby and further out contract prices by a weighting, so the value on the chart is not a price anyone traded at.</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Perpetual contracts are not back shifted with each new front month contract. They display an estimated price rather than the current market price, interpolated between expiration dates by a weighting factor. That makes them useless for trading, but useful as a basis for constructing relative strength charts.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30 of 31</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chart for which job</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31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Trading, and back or forward testing: the back-adjusted continuous chart.</a:t>
            </a:r>
          </a:p>
          <a:p>
            <a:pPr algn="l">
              <a:lnSpc>
                <a:spcPct val="118000"/>
              </a:lnSpc>
              <a:spcBef>
                <a:spcPts val="0"/>
              </a:spcBef>
              <a:spcAft>
                <a:spcPts val="1300"/>
              </a:spcAft>
            </a:pPr>
            <a:r>
              <a:rPr sz="2100" b="0" i="0">
                <a:solidFill>
                  <a:srgbClr val="1A1A1A"/>
                </a:solidFill>
                <a:latin typeface="Arial"/>
              </a:rPr>
              <a:t>An accurate record of what actually traded: the unadjusted nearest futures chart.</a:t>
            </a:r>
          </a:p>
          <a:p>
            <a:pPr algn="l">
              <a:lnSpc>
                <a:spcPct val="118000"/>
              </a:lnSpc>
              <a:spcBef>
                <a:spcPts val="0"/>
              </a:spcBef>
              <a:spcAft>
                <a:spcPts val="1300"/>
              </a:spcAft>
            </a:pPr>
            <a:r>
              <a:rPr sz="2100" b="0" i="0">
                <a:solidFill>
                  <a:srgbClr val="1A1A1A"/>
                </a:solidFill>
                <a:latin typeface="Arial"/>
              </a:rPr>
              <a:t>Relative strength charts: perpetual contracts, because back adjusting keeps shifting the ratio.</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None of the three does every job.</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Why futures exist and why they must be rolled</a:t>
            </a:r>
          </a:p>
          <a:p>
            <a:pPr algn="l" marL="237744" indent="-237744">
              <a:lnSpc>
                <a:spcPct val="112000"/>
              </a:lnSpc>
              <a:spcBef>
                <a:spcPts val="0"/>
              </a:spcBef>
              <a:spcAft>
                <a:spcPts val="1200"/>
              </a:spcAft>
            </a:pPr>
            <a:r>
              <a:rPr sz="1800" b="0" i="0">
                <a:solidFill>
                  <a:srgbClr val="1A1A1A"/>
                </a:solidFill>
                <a:latin typeface="Arial"/>
              </a:rPr>
              <a:t>▪  When a contract is liquid, and reading volume on a continuous chart</a:t>
            </a:r>
          </a:p>
          <a:p>
            <a:pPr algn="l" marL="237744" indent="-237744">
              <a:lnSpc>
                <a:spcPct val="112000"/>
              </a:lnSpc>
              <a:spcBef>
                <a:spcPts val="0"/>
              </a:spcBef>
              <a:spcAft>
                <a:spcPts val="1200"/>
              </a:spcAft>
            </a:pPr>
            <a:r>
              <a:rPr sz="1800" b="0" i="0">
                <a:solidFill>
                  <a:srgbClr val="1A1A1A"/>
                </a:solidFill>
                <a:latin typeface="Arial"/>
              </a:rPr>
              <a:t>▪  Front, next and back months, and the month codes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Negative and positive roll yields</a:t>
            </a:r>
          </a:p>
          <a:p>
            <a:pPr algn="l" marL="237744" indent="-237744">
              <a:lnSpc>
                <a:spcPct val="112000"/>
              </a:lnSpc>
              <a:spcBef>
                <a:spcPts val="0"/>
              </a:spcBef>
              <a:spcAft>
                <a:spcPts val="1200"/>
              </a:spcAft>
            </a:pPr>
            <a:r>
              <a:rPr sz="1800" b="0" i="0">
                <a:solidFill>
                  <a:srgbClr val="1A1A1A"/>
                </a:solidFill>
                <a:latin typeface="Arial"/>
              </a:rPr>
              <a:t>▪  Normal contango, normal backwardation and convergence</a:t>
            </a:r>
          </a:p>
          <a:p>
            <a:pPr algn="l" marL="237744" indent="-237744">
              <a:lnSpc>
                <a:spcPct val="112000"/>
              </a:lnSpc>
              <a:spcBef>
                <a:spcPts val="0"/>
              </a:spcBef>
              <a:spcAft>
                <a:spcPts val="1200"/>
              </a:spcAft>
            </a:pPr>
            <a:r>
              <a:rPr sz="1800" b="0" i="0">
                <a:solidFill>
                  <a:srgbClr val="1A1A1A"/>
                </a:solidFill>
                <a:latin typeface="Arial"/>
              </a:rPr>
              <a:t>▪  Unadjusted, back-adjusted and perpetual charts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recap</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3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chart filters each interval into four prices: open, high, low and close.</a:t>
            </a:r>
          </a:p>
          <a:p>
            <a:pPr algn="l">
              <a:lnSpc>
                <a:spcPct val="118000"/>
              </a:lnSpc>
              <a:spcBef>
                <a:spcPts val="0"/>
              </a:spcBef>
              <a:spcAft>
                <a:spcPts val="1300"/>
              </a:spcAft>
            </a:pPr>
            <a:r>
              <a:rPr sz="2100" b="0" i="0">
                <a:solidFill>
                  <a:srgbClr val="1A1A1A"/>
                </a:solidFill>
                <a:latin typeface="Arial"/>
              </a:rPr>
              <a:t>Supply and demand set the high and low; the clock sets the open and close.</a:t>
            </a:r>
          </a:p>
          <a:p>
            <a:pPr algn="l">
              <a:lnSpc>
                <a:spcPct val="118000"/>
              </a:lnSpc>
              <a:spcBef>
                <a:spcPts val="0"/>
              </a:spcBef>
              <a:spcAft>
                <a:spcPts val="1300"/>
              </a:spcAft>
            </a:pPr>
            <a:r>
              <a:rPr sz="2100" b="0" i="0">
                <a:solidFill>
                  <a:srgbClr val="1A1A1A"/>
                </a:solidFill>
                <a:latin typeface="Arial"/>
              </a:rPr>
              <a:t>A bar can close on time, range, volume, transactions or volatility.</a:t>
            </a:r>
          </a:p>
          <a:p>
            <a:pPr algn="l">
              <a:lnSpc>
                <a:spcPct val="118000"/>
              </a:lnSpc>
              <a:spcBef>
                <a:spcPts val="0"/>
              </a:spcBef>
              <a:spcAft>
                <a:spcPts val="1300"/>
              </a:spcAft>
            </a:pPr>
            <a:r>
              <a:rPr sz="2100" b="0" i="0">
                <a:solidFill>
                  <a:srgbClr val="1A1A1A"/>
                </a:solidFill>
                <a:latin typeface="Arial"/>
              </a:rPr>
              <a:t>Scaling moves every trendline, and the spread moves every entry.</a:t>
            </a:r>
          </a:p>
          <a:p>
            <a:pPr algn="l">
              <a:lnSpc>
                <a:spcPct val="118000"/>
              </a:lnSpc>
              <a:spcBef>
                <a:spcPts val="0"/>
              </a:spcBef>
              <a:spcAft>
                <a:spcPts val="1300"/>
              </a:spcAft>
            </a:pPr>
            <a:r>
              <a:rPr sz="2100" b="0" i="0">
                <a:solidFill>
                  <a:srgbClr val="1A1A1A"/>
                </a:solidFill>
                <a:latin typeface="Arial"/>
              </a:rPr>
              <a:t>Futures expire, each roll costs or pays, and no futures chart does every job.</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Say those five and you can answer most of this chapter.</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How is OHLC data derived, and what increases its significance?</a:t>
            </a:r>
          </a:p>
          <a:p>
            <a:pPr algn="l">
              <a:lnSpc>
                <a:spcPct val="118000"/>
              </a:lnSpc>
              <a:spcBef>
                <a:spcPts val="0"/>
              </a:spcBef>
              <a:spcAft>
                <a:spcPts val="1300"/>
              </a:spcAft>
            </a:pPr>
            <a:r>
              <a:rPr sz="2100" b="0" i="0">
                <a:solidFill>
                  <a:srgbClr val="1A1A1A"/>
                </a:solidFill>
                <a:latin typeface="Arial"/>
              </a:rPr>
              <a:t>Why should traders normalize their charts for volatility?</a:t>
            </a:r>
          </a:p>
          <a:p>
            <a:pPr algn="l">
              <a:lnSpc>
                <a:spcPct val="118000"/>
              </a:lnSpc>
              <a:spcBef>
                <a:spcPts val="0"/>
              </a:spcBef>
              <a:spcAft>
                <a:spcPts val="1300"/>
              </a:spcAft>
            </a:pPr>
            <a:r>
              <a:rPr sz="2100" b="0" i="0">
                <a:solidFill>
                  <a:srgbClr val="1A1A1A"/>
                </a:solidFill>
                <a:latin typeface="Arial"/>
              </a:rPr>
              <a:t>Describe the five measures of constancy in charting.</a:t>
            </a:r>
          </a:p>
          <a:p>
            <a:pPr algn="l">
              <a:lnSpc>
                <a:spcPct val="118000"/>
              </a:lnSpc>
              <a:spcBef>
                <a:spcPts val="0"/>
              </a:spcBef>
              <a:spcAft>
                <a:spcPts val="1300"/>
              </a:spcAft>
            </a:pPr>
            <a:r>
              <a:rPr sz="2100" b="0" i="0">
                <a:solidFill>
                  <a:srgbClr val="1A1A1A"/>
                </a:solidFill>
                <a:latin typeface="Arial"/>
              </a:rPr>
              <a:t>How does chart scaling affect the use of overlay indicators?</a:t>
            </a:r>
          </a:p>
          <a:p>
            <a:pPr algn="l">
              <a:lnSpc>
                <a:spcPct val="118000"/>
              </a:lnSpc>
              <a:spcBef>
                <a:spcPts val="0"/>
              </a:spcBef>
              <a:spcAft>
                <a:spcPts val="1300"/>
              </a:spcAft>
            </a:pPr>
            <a:r>
              <a:rPr sz="2100" b="0" i="0">
                <a:solidFill>
                  <a:srgbClr val="1A1A1A"/>
                </a:solidFill>
                <a:latin typeface="Arial"/>
              </a:rPr>
              <a:t>How does the bid-ask spread affect the reward to risk ratio?</a:t>
            </a:r>
          </a:p>
          <a:p>
            <a:pPr algn="l">
              <a:lnSpc>
                <a:spcPct val="118000"/>
              </a:lnSpc>
              <a:spcBef>
                <a:spcPts val="0"/>
              </a:spcBef>
              <a:spcAft>
                <a:spcPts val="1300"/>
              </a:spcAft>
            </a:pPr>
            <a:r>
              <a:rPr sz="2100" b="0" i="0">
                <a:solidFill>
                  <a:srgbClr val="1A1A1A"/>
                </a:solidFill>
                <a:latin typeface="Arial"/>
              </a:rPr>
              <a:t>Link contango to negative roll yields; describe back-adjusted charts.</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All eight of the book's questions, on six lines. Every one is answerable from this chapter.</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names and does not teach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Gann bars, Kagi charts and Gann swing charts.</a:t>
            </a:r>
          </a:p>
          <a:p>
            <a:pPr algn="l">
              <a:lnSpc>
                <a:spcPct val="118000"/>
              </a:lnSpc>
              <a:spcBef>
                <a:spcPts val="0"/>
              </a:spcBef>
              <a:spcAft>
                <a:spcPts val="1300"/>
              </a:spcAft>
            </a:pPr>
            <a:r>
              <a:rPr sz="2100" b="0" i="0">
                <a:solidFill>
                  <a:srgbClr val="1A1A1A"/>
                </a:solidFill>
                <a:latin typeface="Arial"/>
              </a:rPr>
              <a:t>The breadth and sentiment data items.</a:t>
            </a:r>
          </a:p>
          <a:p>
            <a:pPr algn="l">
              <a:lnSpc>
                <a:spcPct val="118000"/>
              </a:lnSpc>
              <a:spcBef>
                <a:spcPts val="0"/>
              </a:spcBef>
              <a:spcAft>
                <a:spcPts val="1300"/>
              </a:spcAft>
            </a:pPr>
            <a:r>
              <a:rPr sz="2100" b="0" i="0">
                <a:solidFill>
                  <a:srgbClr val="1A1A1A"/>
                </a:solidFill>
                <a:latin typeface="Arial"/>
              </a:rPr>
              <a:t>How the average true range is averaged, and how to estimate the expected spot price.</a:t>
            </a:r>
          </a:p>
          <a:p>
            <a:pPr algn="l">
              <a:lnSpc>
                <a:spcPct val="118000"/>
              </a:lnSpc>
              <a:spcBef>
                <a:spcPts val="0"/>
              </a:spcBef>
              <a:spcAft>
                <a:spcPts val="1300"/>
              </a:spcAft>
            </a:pPr>
            <a:r>
              <a:rPr sz="2100" b="0" i="0">
                <a:solidFill>
                  <a:srgbClr val="1A1A1A"/>
                </a:solidFill>
                <a:latin typeface="Arial"/>
              </a:rPr>
              <a:t>What a futures contract is, formally.</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Nothing on this slide is examinable from Chapter 3.</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these from outside the book. Where the book takes one up later, we will too.</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market phase analysis</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4 studies the structure and behaviour of the three market phases.</a:t>
            </a:r>
          </a:p>
          <a:p>
            <a:pPr algn="l">
              <a:lnSpc>
                <a:spcPct val="115000"/>
              </a:lnSpc>
              <a:spcBef>
                <a:spcPts val="0"/>
              </a:spcBef>
              <a:spcAft>
                <a:spcPts val="1200"/>
              </a:spcAft>
            </a:pPr>
            <a:r>
              <a:rPr sz="2000" b="0" i="0">
                <a:solidFill>
                  <a:srgbClr val="FFFFFF"/>
                </a:solidFill>
                <a:latin typeface="Arial"/>
              </a:rPr>
              <a:t>Its objectives include reading a potential change of market regime from volume.</a:t>
            </a:r>
          </a:p>
          <a:p>
            <a:pPr algn="l">
              <a:lnSpc>
                <a:spcPct val="115000"/>
              </a:lnSpc>
              <a:spcBef>
                <a:spcPts val="0"/>
              </a:spcBef>
              <a:spcAft>
                <a:spcPts val="1200"/>
              </a:spcAft>
            </a:pPr>
            <a:r>
              <a:rPr sz="2000" b="0" i="0">
                <a:solidFill>
                  <a:srgbClr val="FFFFFF"/>
                </a:solidFill>
                <a:latin typeface="Arial"/>
              </a:rPr>
              <a:t>Before then: switch one chart between linear and ratio scaling and see which trendline breaks first.</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3 - Mechanics and Dynamics of Charting</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